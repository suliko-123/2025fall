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6"/>
  </p:handoutMasterIdLst>
  <p:sldIdLst>
    <p:sldId id="258" r:id="rId3"/>
    <p:sldId id="301" r:id="rId5"/>
    <p:sldId id="259" r:id="rId6"/>
    <p:sldId id="260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302" r:id="rId15"/>
    <p:sldId id="271" r:id="rId16"/>
    <p:sldId id="272" r:id="rId17"/>
    <p:sldId id="273" r:id="rId18"/>
    <p:sldId id="275" r:id="rId19"/>
    <p:sldId id="274" r:id="rId20"/>
    <p:sldId id="277" r:id="rId21"/>
    <p:sldId id="369" r:id="rId22"/>
    <p:sldId id="276" r:id="rId23"/>
    <p:sldId id="279" r:id="rId24"/>
    <p:sldId id="278" r:id="rId25"/>
    <p:sldId id="281" r:id="rId26"/>
    <p:sldId id="306" r:id="rId27"/>
    <p:sldId id="308" r:id="rId28"/>
    <p:sldId id="348" r:id="rId29"/>
    <p:sldId id="349" r:id="rId30"/>
    <p:sldId id="350" r:id="rId31"/>
    <p:sldId id="351" r:id="rId32"/>
    <p:sldId id="352" r:id="rId33"/>
    <p:sldId id="353" r:id="rId34"/>
    <p:sldId id="354" r:id="rId35"/>
    <p:sldId id="355" r:id="rId36"/>
    <p:sldId id="356" r:id="rId37"/>
    <p:sldId id="357" r:id="rId38"/>
    <p:sldId id="358" r:id="rId39"/>
    <p:sldId id="359" r:id="rId40"/>
    <p:sldId id="360" r:id="rId41"/>
    <p:sldId id="361" r:id="rId42"/>
    <p:sldId id="362" r:id="rId43"/>
    <p:sldId id="364" r:id="rId44"/>
    <p:sldId id="368" r:id="rId45"/>
  </p:sldIdLst>
  <p:sldSz cx="9144000" cy="6858000" type="screen4x3"/>
  <p:notesSz cx="6858000" cy="9144000"/>
  <p:custDataLst>
    <p:tags r:id="rId5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ngyanxiu" initials="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0000"/>
    <a:srgbClr val="0066FF"/>
    <a:srgbClr val="808080"/>
    <a:srgbClr val="5F5F5F"/>
    <a:srgbClr val="996633"/>
    <a:srgbClr val="C7F9F1"/>
    <a:srgbClr val="2194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61"/>
    <p:restoredTop sz="94708"/>
  </p:normalViewPr>
  <p:slideViewPr>
    <p:cSldViewPr showGuides="1">
      <p:cViewPr>
        <p:scale>
          <a:sx n="95" d="100"/>
          <a:sy n="95" d="100"/>
        </p:scale>
        <p:origin x="66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gs" Target="tags/tag1.xml"/><Relationship Id="rId50" Type="http://schemas.openxmlformats.org/officeDocument/2006/relationships/commentAuthors" Target="commentAuthors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idx="786497536">
    <p:pos x="1638409" y="40566788"/>
    <p:text>或者是“生成子图”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idx="786497536">
    <p:pos x="1638409" y="40566788"/>
    <p:text>或者是“生成子图”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FF1F08-434D-644B-B46B-BA346C3325DB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BF6E62-A5ED-824B-B4BD-F1B11279BD74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C6418C-E0ED-AD42-BC50-82FC93FB56F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x-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给出例子（图），判断是否有哈密顿回路和哈密顿通路</a:t>
            </a:r>
            <a:endParaRPr lang="zh-CN" altLang="en-US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8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给出一些图，让学生判定是否是哈密顿图或半</a:t>
            </a:r>
            <a:r>
              <a:rPr lang="en-US" altLang="zh-CN"/>
              <a:t>H</a:t>
            </a:r>
            <a:r>
              <a:rPr lang="zh-CN" altLang="en-US"/>
              <a:t>图</a:t>
            </a:r>
            <a:endParaRPr lang="en-US" altLang="zh-CN"/>
          </a:p>
        </p:txBody>
      </p:sp>
      <p:sp>
        <p:nvSpPr>
          <p:cNvPr id="14339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0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对于二部图</a:t>
            </a:r>
            <a:r>
              <a:rPr lang="en-US" altLang="zh-CN"/>
              <a:t>Kn,m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zh-CN" altLang="en-US"/>
              <a:t>）当</a:t>
            </a:r>
            <a:r>
              <a:rPr lang="en-US" altLang="zh-CN"/>
              <a:t>n,m</a:t>
            </a:r>
            <a:r>
              <a:rPr lang="zh-CN" altLang="en-US"/>
              <a:t>满足什么条件是，</a:t>
            </a:r>
            <a:r>
              <a:rPr lang="en-US" altLang="zh-CN"/>
              <a:t>Kn,m</a:t>
            </a:r>
            <a:r>
              <a:rPr lang="zh-CN" altLang="en-US"/>
              <a:t>是哈密顿图；</a:t>
            </a:r>
            <a:r>
              <a:rPr lang="en-US" altLang="zh-CN"/>
              <a:t>2</a:t>
            </a:r>
            <a:r>
              <a:rPr lang="zh-CN" altLang="en-US"/>
              <a:t>）当</a:t>
            </a:r>
            <a:r>
              <a:rPr lang="en-US" altLang="zh-CN"/>
              <a:t>n,m</a:t>
            </a:r>
            <a:r>
              <a:rPr lang="zh-CN" altLang="en-US"/>
              <a:t>满足什么条件是，</a:t>
            </a:r>
            <a:r>
              <a:rPr lang="en-US" altLang="zh-CN"/>
              <a:t>Kn,m</a:t>
            </a:r>
            <a:r>
              <a:rPr lang="zh-CN" altLang="en-US"/>
              <a:t>是半哈密顿图；</a:t>
            </a:r>
            <a:endParaRPr lang="en-US" altLang="zh-CN"/>
          </a:p>
        </p:txBody>
      </p:sp>
      <p:sp>
        <p:nvSpPr>
          <p:cNvPr id="17411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定理</a:t>
            </a:r>
            <a:r>
              <a:rPr lang="en-US" altLang="zh-CN"/>
              <a:t>7</a:t>
            </a:r>
            <a:r>
              <a:rPr lang="zh-CN" altLang="en-US"/>
              <a:t>是无向半哈密顿图的充分条件，不是必要条件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反证法：假设</a:t>
            </a:r>
            <a:r>
              <a:rPr lang="en-US" altLang="zh-CN"/>
              <a:t>G</a:t>
            </a:r>
            <a:r>
              <a:rPr lang="zh-CN" altLang="en-US"/>
              <a:t>不连通，设</a:t>
            </a:r>
            <a:r>
              <a:rPr lang="en-US" altLang="zh-CN"/>
              <a:t>G</a:t>
            </a:r>
            <a:r>
              <a:rPr lang="zh-CN" altLang="en-US"/>
              <a:t>有</a:t>
            </a:r>
            <a:r>
              <a:rPr lang="en-US" altLang="zh-CN"/>
              <a:t>k</a:t>
            </a:r>
            <a:r>
              <a:rPr lang="zh-CN" altLang="en-US"/>
              <a:t>个</a:t>
            </a:r>
            <a:r>
              <a:rPr lang="zh-CN" altLang="en-US" sz="1600"/>
              <a:t>连通分支</a:t>
            </a:r>
            <a:r>
              <a:rPr lang="en-US" altLang="zh-CN"/>
              <a:t>G1,G2,…,Gk</a:t>
            </a:r>
            <a:r>
              <a:rPr lang="zh-CN" altLang="en-US"/>
              <a:t>，任意</a:t>
            </a:r>
            <a:r>
              <a:rPr lang="en-US" altLang="zh-CN"/>
              <a:t>v</a:t>
            </a:r>
            <a:r>
              <a:rPr lang="en-US" altLang="zh-CN" baseline="-25000"/>
              <a:t>ij</a:t>
            </a:r>
            <a:r>
              <a:rPr lang="en-US" altLang="zh-CN"/>
              <a:t>∈V(G</a:t>
            </a:r>
            <a:r>
              <a:rPr lang="en-US" altLang="zh-CN" baseline="-25000"/>
              <a:t>i</a:t>
            </a:r>
            <a:r>
              <a:rPr lang="en-US" altLang="zh-CN"/>
              <a:t>),d(v</a:t>
            </a:r>
            <a:r>
              <a:rPr lang="en-US" altLang="zh-CN" baseline="-25000"/>
              <a:t>i</a:t>
            </a:r>
            <a:r>
              <a:rPr lang="en-US" altLang="zh-CN"/>
              <a:t>) ≤ni-1,</a:t>
            </a:r>
            <a:r>
              <a:rPr lang="zh-CN" altLang="en-US"/>
              <a:t>所以任意</a:t>
            </a:r>
            <a:r>
              <a:rPr lang="en-US" altLang="zh-CN"/>
              <a:t>u,v∈V(G)</a:t>
            </a:r>
            <a:r>
              <a:rPr lang="zh-CN" altLang="en-US"/>
              <a:t>，有</a:t>
            </a:r>
            <a:r>
              <a:rPr lang="en-US" altLang="zh-CN"/>
              <a:t>d(u)+d(v) ≤n-2,</a:t>
            </a:r>
            <a:r>
              <a:rPr lang="zh-CN" altLang="en-US"/>
              <a:t>矛盾。</a:t>
            </a:r>
            <a:endParaRPr lang="zh-CN" altLang="en-US"/>
          </a:p>
        </p:txBody>
      </p:sp>
      <p:sp>
        <p:nvSpPr>
          <p:cNvPr id="2662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32770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图</a:t>
            </a:r>
            <a:r>
              <a:rPr lang="en-US" altLang="zh-CN"/>
              <a:t>G</a:t>
            </a:r>
            <a:r>
              <a:rPr lang="zh-CN" altLang="en-US"/>
              <a:t>的闭包</a:t>
            </a:r>
            <a:r>
              <a:rPr lang="en-US" altLang="zh-CN"/>
              <a:t>C(G)</a:t>
            </a:r>
            <a:r>
              <a:rPr lang="zh-CN" altLang="en-US"/>
              <a:t>：</a:t>
            </a:r>
            <a:r>
              <a:rPr lang="en-US" altLang="zh-CN"/>
              <a:t>C(G)=G</a:t>
            </a:r>
            <a:r>
              <a:rPr lang="en-US" altLang="zh-CN">
                <a:sym typeface="Symbol" panose="05050102010706020507" pitchFamily="18" charset="2"/>
              </a:rPr>
              <a:t>{(u,v)|u,v</a:t>
            </a:r>
            <a:r>
              <a:rPr lang="zh-CN" altLang="en-US">
                <a:sym typeface="Symbol" panose="05050102010706020507" pitchFamily="18" charset="2"/>
              </a:rPr>
              <a:t>不相邻</a:t>
            </a:r>
            <a:r>
              <a:rPr lang="en-US" altLang="zh-CN">
                <a:sym typeface="Symbol" panose="05050102010706020507" pitchFamily="18" charset="2"/>
              </a:rPr>
              <a:t>,d(u)+d(v)n}</a:t>
            </a:r>
            <a:endParaRPr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0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TW" altLang="en-US"/>
              <a:t>强连通充要条件是“存在经过每个点至少一次的回路”，与“</a:t>
            </a:r>
            <a:r>
              <a:rPr lang="en-US" altLang="zh-TW"/>
              <a:t>H</a:t>
            </a:r>
            <a:r>
              <a:rPr lang="zh-TW" altLang="en-US"/>
              <a:t>回路经过每个点一次且仅一次”有区</a:t>
            </a:r>
            <a:r>
              <a:rPr lang="zh-CN" altLang="en-US"/>
              <a:t>别</a:t>
            </a:r>
            <a:endParaRPr lang="en-US" altLang="zh-CN"/>
          </a:p>
        </p:txBody>
      </p:sp>
      <p:sp>
        <p:nvSpPr>
          <p:cNvPr id="48131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2875"/>
            <a:ext cx="4171950" cy="25511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6388"/>
            <a:ext cx="4171950" cy="25527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97B7A5-5455-9841-BC06-E20A0FB2F89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/>
              <a:t>8.2 </a:t>
            </a:r>
            <a:r>
              <a:rPr lang="zh-CN" altLang="en-US"/>
              <a:t>哈密顿图</a:t>
            </a:r>
            <a:endParaRPr lang="zh-CN" altLang="en-US"/>
          </a:p>
        </p:txBody>
      </p:sp>
      <p:sp>
        <p:nvSpPr>
          <p:cNvPr id="409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/>
              <a:t>1. </a:t>
            </a:r>
            <a:r>
              <a:rPr lang="zh-CN" altLang="en-US"/>
              <a:t>周游世界</a:t>
            </a:r>
            <a:r>
              <a:rPr lang="en-US" altLang="zh-CN"/>
              <a:t>,</a:t>
            </a:r>
            <a:r>
              <a:rPr lang="zh-CN" altLang="en-US"/>
              <a:t>哈密顿通</a:t>
            </a:r>
            <a:r>
              <a:rPr lang="en-US" altLang="zh-CN"/>
              <a:t>(</a:t>
            </a:r>
            <a:r>
              <a:rPr lang="zh-CN" altLang="en-US"/>
              <a:t>回</a:t>
            </a:r>
            <a:r>
              <a:rPr lang="en-US" altLang="zh-CN"/>
              <a:t>)</a:t>
            </a:r>
            <a:r>
              <a:rPr lang="zh-CN" altLang="en-US"/>
              <a:t>路</a:t>
            </a:r>
            <a:r>
              <a:rPr lang="en-US" altLang="zh-CN"/>
              <a:t>,</a:t>
            </a:r>
            <a:r>
              <a:rPr lang="zh-CN" altLang="en-US"/>
              <a:t>哈密顿图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判定哈密顿图的必要条件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判定哈密顿图的充分条件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边不重的哈密顿回路</a:t>
            </a:r>
            <a:endParaRPr lang="zh-CN" altLang="en-US"/>
          </a:p>
          <a:p>
            <a:r>
              <a:rPr lang="en-US" altLang="zh-CN"/>
              <a:t>5. </a:t>
            </a:r>
            <a:r>
              <a:rPr lang="zh-CN" altLang="en-US"/>
              <a:t>货郎问题</a:t>
            </a:r>
            <a:r>
              <a:rPr lang="en-US" altLang="zh-CN"/>
              <a:t>, </a:t>
            </a:r>
            <a:r>
              <a:rPr lang="zh-CN" altLang="en-US"/>
              <a:t>计算复杂性</a:t>
            </a:r>
            <a:endParaRPr lang="zh-CN" altLang="en-US"/>
          </a:p>
        </p:txBody>
      </p:sp>
      <p:sp>
        <p:nvSpPr>
          <p:cNvPr id="40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/>
              <a:t>Icosian Game</a:t>
            </a:r>
            <a:endParaRPr lang="zh-CN" altLang="en-US"/>
          </a:p>
        </p:txBody>
      </p:sp>
      <p:sp>
        <p:nvSpPr>
          <p:cNvPr id="61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hlink"/>
                </a:solidFill>
              </a:rPr>
              <a:t>环球旅行游戏</a:t>
            </a:r>
            <a:r>
              <a:rPr lang="en-US" altLang="zh-CN">
                <a:solidFill>
                  <a:schemeClr val="hlink"/>
                </a:solidFill>
              </a:rPr>
              <a:t>(Icosian Game)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它是由一个木制的正十二面体构成，在它的每个棱角处标有当时很有名的城市。游戏目的是“环球旅行”。为了容易记住被旅游过的城市 ，在每个棱角上放上一个钉子，再用一根线绕在那些旅游过的城市上</a:t>
            </a:r>
            <a:r>
              <a:rPr lang="en-US" altLang="zh-CN"/>
              <a:t>(</a:t>
            </a:r>
            <a:r>
              <a:rPr lang="zh-CN" altLang="en-US"/>
              <a:t>钉子</a:t>
            </a:r>
            <a:r>
              <a:rPr lang="en-US" altLang="zh-CN"/>
              <a:t>),</a:t>
            </a:r>
            <a:r>
              <a:rPr lang="zh-CN" altLang="en-US"/>
              <a:t>由此可以获得旅程的直观表示。 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哈密尔顿把该游戏以</a:t>
            </a:r>
            <a:r>
              <a:rPr lang="en-US" altLang="zh-CN"/>
              <a:t>25</a:t>
            </a:r>
            <a:r>
              <a:rPr lang="zh-CN" altLang="en-US"/>
              <a:t>英镑的价格买给了</a:t>
            </a:r>
            <a:r>
              <a:rPr lang="en-US" altLang="zh-CN"/>
              <a:t>J.Jacques and Sons</a:t>
            </a:r>
            <a:r>
              <a:rPr lang="zh-CN" altLang="en-US"/>
              <a:t>公司 ，</a:t>
            </a:r>
            <a:r>
              <a:rPr lang="en-US" altLang="zh-CN"/>
              <a:t>1859</a:t>
            </a:r>
            <a:r>
              <a:rPr lang="zh-CN" altLang="en-US"/>
              <a:t>年获得专利权。但商业运作失败了。 </a:t>
            </a:r>
            <a:endParaRPr lang="zh-CN" altLang="en-US"/>
          </a:p>
        </p:txBody>
      </p:sp>
      <p:sp>
        <p:nvSpPr>
          <p:cNvPr id="61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周游世界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323850" y="1404938"/>
            <a:ext cx="8496300" cy="5256212"/>
          </a:xfrm>
        </p:spPr>
        <p:txBody>
          <a:bodyPr vert="horz" wrap="square" lIns="91440" tIns="45720" rIns="91440" bIns="45720" anchor="t" anchorCtr="0"/>
          <a:p>
            <a:r>
              <a:rPr lang="en-US" altLang="zh-CN"/>
              <a:t>Sir William Rowan Hamilton, 1857,</a:t>
            </a:r>
            <a:endParaRPr lang="en-US" altLang="zh-CN"/>
          </a:p>
          <a:p>
            <a:pPr>
              <a:buNone/>
            </a:pPr>
            <a:r>
              <a:rPr lang="en-US" altLang="zh-CN"/>
              <a:t>     Icosian game:</a:t>
            </a:r>
            <a:endParaRPr lang="zh-CN" altLang="en-US"/>
          </a:p>
        </p:txBody>
      </p:sp>
      <p:grpSp>
        <p:nvGrpSpPr>
          <p:cNvPr id="7171" name="Group 89"/>
          <p:cNvGrpSpPr/>
          <p:nvPr/>
        </p:nvGrpSpPr>
        <p:grpSpPr>
          <a:xfrm>
            <a:off x="1258888" y="2925763"/>
            <a:ext cx="2736850" cy="2735262"/>
            <a:chOff x="158" y="1979"/>
            <a:chExt cx="1724" cy="1723"/>
          </a:xfrm>
        </p:grpSpPr>
        <p:sp>
          <p:nvSpPr>
            <p:cNvPr id="7172" name="Oval 6"/>
            <p:cNvSpPr/>
            <p:nvPr/>
          </p:nvSpPr>
          <p:spPr>
            <a:xfrm>
              <a:off x="204" y="3067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3" name="Oval 7"/>
            <p:cNvSpPr/>
            <p:nvPr/>
          </p:nvSpPr>
          <p:spPr>
            <a:xfrm>
              <a:off x="975" y="1979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4" name="Oval 9"/>
            <p:cNvSpPr/>
            <p:nvPr/>
          </p:nvSpPr>
          <p:spPr>
            <a:xfrm>
              <a:off x="966" y="3566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5" name="Oval 12"/>
            <p:cNvSpPr/>
            <p:nvPr/>
          </p:nvSpPr>
          <p:spPr>
            <a:xfrm>
              <a:off x="1519" y="2160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6" name="Oval 14"/>
            <p:cNvSpPr/>
            <p:nvPr/>
          </p:nvSpPr>
          <p:spPr>
            <a:xfrm>
              <a:off x="158" y="2568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7" name="Oval 15"/>
            <p:cNvSpPr/>
            <p:nvPr/>
          </p:nvSpPr>
          <p:spPr>
            <a:xfrm>
              <a:off x="385" y="2160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8" name="Oval 16"/>
            <p:cNvSpPr/>
            <p:nvPr/>
          </p:nvSpPr>
          <p:spPr>
            <a:xfrm>
              <a:off x="476" y="3430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9" name="Oval 22"/>
            <p:cNvSpPr/>
            <p:nvPr/>
          </p:nvSpPr>
          <p:spPr>
            <a:xfrm>
              <a:off x="1746" y="2568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0" name="Oval 23"/>
            <p:cNvSpPr/>
            <p:nvPr/>
          </p:nvSpPr>
          <p:spPr>
            <a:xfrm>
              <a:off x="1701" y="3022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1" name="Oval 24"/>
            <p:cNvSpPr/>
            <p:nvPr/>
          </p:nvSpPr>
          <p:spPr>
            <a:xfrm>
              <a:off x="1429" y="3430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2" name="Line 25"/>
            <p:cNvSpPr/>
            <p:nvPr/>
          </p:nvSpPr>
          <p:spPr>
            <a:xfrm flipV="1">
              <a:off x="521" y="2069"/>
              <a:ext cx="454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3" name="Line 26"/>
            <p:cNvSpPr/>
            <p:nvPr/>
          </p:nvSpPr>
          <p:spPr>
            <a:xfrm flipH="1">
              <a:off x="249" y="2296"/>
              <a:ext cx="182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4" name="Line 27"/>
            <p:cNvSpPr/>
            <p:nvPr/>
          </p:nvSpPr>
          <p:spPr>
            <a:xfrm>
              <a:off x="204" y="2704"/>
              <a:ext cx="45" cy="40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5" name="Line 28"/>
            <p:cNvSpPr/>
            <p:nvPr/>
          </p:nvSpPr>
          <p:spPr>
            <a:xfrm>
              <a:off x="295" y="3203"/>
              <a:ext cx="226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6" name="Line 29"/>
            <p:cNvSpPr/>
            <p:nvPr/>
          </p:nvSpPr>
          <p:spPr>
            <a:xfrm>
              <a:off x="612" y="3521"/>
              <a:ext cx="363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7" name="Line 30"/>
            <p:cNvSpPr/>
            <p:nvPr/>
          </p:nvSpPr>
          <p:spPr>
            <a:xfrm flipV="1">
              <a:off x="1111" y="3521"/>
              <a:ext cx="363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8" name="Line 31"/>
            <p:cNvSpPr/>
            <p:nvPr/>
          </p:nvSpPr>
          <p:spPr>
            <a:xfrm flipV="1">
              <a:off x="1565" y="3158"/>
              <a:ext cx="181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9" name="Line 32"/>
            <p:cNvSpPr/>
            <p:nvPr/>
          </p:nvSpPr>
          <p:spPr>
            <a:xfrm flipV="1">
              <a:off x="1791" y="2704"/>
              <a:ext cx="46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90" name="Line 33"/>
            <p:cNvSpPr/>
            <p:nvPr/>
          </p:nvSpPr>
          <p:spPr>
            <a:xfrm>
              <a:off x="1610" y="2296"/>
              <a:ext cx="181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91" name="Line 34"/>
            <p:cNvSpPr/>
            <p:nvPr/>
          </p:nvSpPr>
          <p:spPr>
            <a:xfrm>
              <a:off x="1111" y="2069"/>
              <a:ext cx="408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192" name="Group 78"/>
            <p:cNvGrpSpPr/>
            <p:nvPr/>
          </p:nvGrpSpPr>
          <p:grpSpPr>
            <a:xfrm>
              <a:off x="612" y="2296"/>
              <a:ext cx="816" cy="817"/>
              <a:chOff x="567" y="2341"/>
              <a:chExt cx="952" cy="953"/>
            </a:xfrm>
          </p:grpSpPr>
          <p:sp>
            <p:nvSpPr>
              <p:cNvPr id="7193" name="Oval 59"/>
              <p:cNvSpPr/>
              <p:nvPr/>
            </p:nvSpPr>
            <p:spPr>
              <a:xfrm>
                <a:off x="1247" y="3158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94" name="AutoShape 36"/>
              <p:cNvSpPr/>
              <p:nvPr/>
            </p:nvSpPr>
            <p:spPr>
              <a:xfrm>
                <a:off x="612" y="2429"/>
                <a:ext cx="862" cy="820"/>
              </a:xfrm>
              <a:prstGeom prst="pentagon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95" name="Oval 58"/>
              <p:cNvSpPr/>
              <p:nvPr/>
            </p:nvSpPr>
            <p:spPr>
              <a:xfrm>
                <a:off x="703" y="3158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96" name="Oval 60"/>
              <p:cNvSpPr/>
              <p:nvPr/>
            </p:nvSpPr>
            <p:spPr>
              <a:xfrm>
                <a:off x="1383" y="2704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97" name="Oval 61"/>
              <p:cNvSpPr/>
              <p:nvPr/>
            </p:nvSpPr>
            <p:spPr>
              <a:xfrm>
                <a:off x="567" y="2704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98" name="Oval 62"/>
              <p:cNvSpPr/>
              <p:nvPr/>
            </p:nvSpPr>
            <p:spPr>
              <a:xfrm>
                <a:off x="975" y="2341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199" name="Group 76"/>
            <p:cNvGrpSpPr/>
            <p:nvPr/>
          </p:nvGrpSpPr>
          <p:grpSpPr>
            <a:xfrm flipV="1">
              <a:off x="612" y="2614"/>
              <a:ext cx="771" cy="771"/>
              <a:chOff x="2399" y="2341"/>
              <a:chExt cx="952" cy="953"/>
            </a:xfrm>
          </p:grpSpPr>
          <p:sp>
            <p:nvSpPr>
              <p:cNvPr id="7200" name="AutoShape 69"/>
              <p:cNvSpPr/>
              <p:nvPr/>
            </p:nvSpPr>
            <p:spPr>
              <a:xfrm>
                <a:off x="2444" y="2429"/>
                <a:ext cx="862" cy="820"/>
              </a:xfrm>
              <a:prstGeom prst="pentagon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01" name="Oval 70"/>
              <p:cNvSpPr/>
              <p:nvPr/>
            </p:nvSpPr>
            <p:spPr>
              <a:xfrm>
                <a:off x="2535" y="3158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02" name="Oval 71"/>
              <p:cNvSpPr/>
              <p:nvPr/>
            </p:nvSpPr>
            <p:spPr>
              <a:xfrm>
                <a:off x="3079" y="3158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03" name="Oval 72"/>
              <p:cNvSpPr/>
              <p:nvPr/>
            </p:nvSpPr>
            <p:spPr>
              <a:xfrm>
                <a:off x="3215" y="2704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04" name="Oval 73"/>
              <p:cNvSpPr/>
              <p:nvPr/>
            </p:nvSpPr>
            <p:spPr>
              <a:xfrm>
                <a:off x="2399" y="2704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05" name="Oval 74"/>
              <p:cNvSpPr/>
              <p:nvPr/>
            </p:nvSpPr>
            <p:spPr>
              <a:xfrm>
                <a:off x="2807" y="2341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206" name="Line 79"/>
            <p:cNvSpPr/>
            <p:nvPr/>
          </p:nvSpPr>
          <p:spPr>
            <a:xfrm>
              <a:off x="1020" y="2115"/>
              <a:ext cx="0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07" name="Line 80"/>
            <p:cNvSpPr/>
            <p:nvPr/>
          </p:nvSpPr>
          <p:spPr>
            <a:xfrm flipH="1">
              <a:off x="1247" y="2296"/>
              <a:ext cx="318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208" name="Line 81"/>
            <p:cNvSpPr/>
            <p:nvPr/>
          </p:nvSpPr>
          <p:spPr>
            <a:xfrm flipV="1">
              <a:off x="1429" y="2614"/>
              <a:ext cx="362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09" name="Line 82"/>
            <p:cNvSpPr/>
            <p:nvPr/>
          </p:nvSpPr>
          <p:spPr>
            <a:xfrm>
              <a:off x="1247" y="3113"/>
              <a:ext cx="227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10" name="Line 83"/>
            <p:cNvSpPr/>
            <p:nvPr/>
          </p:nvSpPr>
          <p:spPr>
            <a:xfrm flipH="1">
              <a:off x="567" y="3113"/>
              <a:ext cx="226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11" name="Line 84"/>
            <p:cNvSpPr/>
            <p:nvPr/>
          </p:nvSpPr>
          <p:spPr>
            <a:xfrm>
              <a:off x="295" y="2659"/>
              <a:ext cx="3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12" name="Line 85"/>
            <p:cNvSpPr/>
            <p:nvPr/>
          </p:nvSpPr>
          <p:spPr>
            <a:xfrm>
              <a:off x="476" y="2251"/>
              <a:ext cx="272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213" name="Line 86"/>
            <p:cNvSpPr/>
            <p:nvPr/>
          </p:nvSpPr>
          <p:spPr>
            <a:xfrm flipV="1">
              <a:off x="340" y="3067"/>
              <a:ext cx="272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214" name="Line 87"/>
            <p:cNvSpPr/>
            <p:nvPr/>
          </p:nvSpPr>
          <p:spPr>
            <a:xfrm>
              <a:off x="1020" y="338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215" name="Line 88"/>
            <p:cNvSpPr/>
            <p:nvPr/>
          </p:nvSpPr>
          <p:spPr>
            <a:xfrm>
              <a:off x="1383" y="3067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7216" name="Group 168"/>
          <p:cNvGrpSpPr/>
          <p:nvPr/>
        </p:nvGrpSpPr>
        <p:grpSpPr>
          <a:xfrm>
            <a:off x="4859973" y="2461260"/>
            <a:ext cx="3386137" cy="3241675"/>
            <a:chOff x="2971" y="2069"/>
            <a:chExt cx="2133" cy="2042"/>
          </a:xfrm>
        </p:grpSpPr>
        <p:grpSp>
          <p:nvGrpSpPr>
            <p:cNvPr id="7217" name="Group 96"/>
            <p:cNvGrpSpPr/>
            <p:nvPr/>
          </p:nvGrpSpPr>
          <p:grpSpPr>
            <a:xfrm>
              <a:off x="2971" y="2069"/>
              <a:ext cx="2133" cy="2042"/>
              <a:chOff x="2971" y="2069"/>
              <a:chExt cx="2133" cy="2042"/>
            </a:xfrm>
          </p:grpSpPr>
          <p:sp>
            <p:nvSpPr>
              <p:cNvPr id="7218" name="AutoShape 90"/>
              <p:cNvSpPr/>
              <p:nvPr/>
            </p:nvSpPr>
            <p:spPr>
              <a:xfrm>
                <a:off x="3016" y="2115"/>
                <a:ext cx="2041" cy="1939"/>
              </a:xfrm>
              <a:prstGeom prst="pentagon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19" name="Oval 91"/>
              <p:cNvSpPr/>
              <p:nvPr/>
            </p:nvSpPr>
            <p:spPr>
              <a:xfrm>
                <a:off x="3334" y="3974"/>
                <a:ext cx="137" cy="137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20" name="Oval 92"/>
              <p:cNvSpPr/>
              <p:nvPr/>
            </p:nvSpPr>
            <p:spPr>
              <a:xfrm>
                <a:off x="4604" y="3974"/>
                <a:ext cx="137" cy="137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21" name="Oval 93"/>
              <p:cNvSpPr/>
              <p:nvPr/>
            </p:nvSpPr>
            <p:spPr>
              <a:xfrm>
                <a:off x="4967" y="2795"/>
                <a:ext cx="137" cy="137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22" name="Oval 94"/>
              <p:cNvSpPr/>
              <p:nvPr/>
            </p:nvSpPr>
            <p:spPr>
              <a:xfrm>
                <a:off x="3969" y="2069"/>
                <a:ext cx="137" cy="137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23" name="Oval 95"/>
              <p:cNvSpPr/>
              <p:nvPr/>
            </p:nvSpPr>
            <p:spPr>
              <a:xfrm>
                <a:off x="2971" y="2795"/>
                <a:ext cx="137" cy="137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224" name="Oval 100"/>
            <p:cNvSpPr/>
            <p:nvPr/>
          </p:nvSpPr>
          <p:spPr>
            <a:xfrm>
              <a:off x="4241" y="2704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25" name="Oval 101"/>
            <p:cNvSpPr/>
            <p:nvPr/>
          </p:nvSpPr>
          <p:spPr>
            <a:xfrm>
              <a:off x="3968" y="3611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26" name="Oval 97"/>
            <p:cNvSpPr/>
            <p:nvPr/>
          </p:nvSpPr>
          <p:spPr>
            <a:xfrm>
              <a:off x="3288" y="2886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27" name="Oval 98"/>
            <p:cNvSpPr/>
            <p:nvPr/>
          </p:nvSpPr>
          <p:spPr>
            <a:xfrm>
              <a:off x="3651" y="2704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28" name="Oval 99"/>
            <p:cNvSpPr/>
            <p:nvPr/>
          </p:nvSpPr>
          <p:spPr>
            <a:xfrm>
              <a:off x="3969" y="2432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29" name="Line 102"/>
            <p:cNvSpPr/>
            <p:nvPr/>
          </p:nvSpPr>
          <p:spPr>
            <a:xfrm>
              <a:off x="3107" y="2886"/>
              <a:ext cx="181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0" name="Line 103"/>
            <p:cNvSpPr/>
            <p:nvPr/>
          </p:nvSpPr>
          <p:spPr>
            <a:xfrm flipV="1">
              <a:off x="3424" y="2795"/>
              <a:ext cx="272" cy="13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1" name="Line 104"/>
            <p:cNvSpPr/>
            <p:nvPr/>
          </p:nvSpPr>
          <p:spPr>
            <a:xfrm flipV="1">
              <a:off x="3787" y="2568"/>
              <a:ext cx="227" cy="182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2" name="Line 105"/>
            <p:cNvSpPr/>
            <p:nvPr/>
          </p:nvSpPr>
          <p:spPr>
            <a:xfrm>
              <a:off x="4032" y="2205"/>
              <a:ext cx="0" cy="22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3" name="Oval 108"/>
            <p:cNvSpPr/>
            <p:nvPr/>
          </p:nvSpPr>
          <p:spPr>
            <a:xfrm rot="8507840">
              <a:off x="4649" y="2903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4" name="Oval 109"/>
            <p:cNvSpPr/>
            <p:nvPr/>
          </p:nvSpPr>
          <p:spPr>
            <a:xfrm rot="8507840">
              <a:off x="4467" y="3264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5" name="Oval 110"/>
            <p:cNvSpPr/>
            <p:nvPr/>
          </p:nvSpPr>
          <p:spPr>
            <a:xfrm rot="8507840">
              <a:off x="4393" y="3680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6" name="Line 111"/>
            <p:cNvSpPr/>
            <p:nvPr/>
          </p:nvSpPr>
          <p:spPr>
            <a:xfrm rot="8507840">
              <a:off x="4778" y="2886"/>
              <a:ext cx="181" cy="45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7" name="Line 112"/>
            <p:cNvSpPr/>
            <p:nvPr/>
          </p:nvSpPr>
          <p:spPr>
            <a:xfrm rot="8507840" flipV="1">
              <a:off x="4474" y="3100"/>
              <a:ext cx="272" cy="13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8" name="Line 113"/>
            <p:cNvSpPr/>
            <p:nvPr/>
          </p:nvSpPr>
          <p:spPr>
            <a:xfrm rot="8507840" flipV="1">
              <a:off x="4342" y="3406"/>
              <a:ext cx="256" cy="219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9" name="Line 114"/>
            <p:cNvSpPr/>
            <p:nvPr/>
          </p:nvSpPr>
          <p:spPr>
            <a:xfrm rot="8507840">
              <a:off x="4579" y="3774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40" name="Oval 116"/>
            <p:cNvSpPr/>
            <p:nvPr/>
          </p:nvSpPr>
          <p:spPr>
            <a:xfrm rot="-4576346">
              <a:off x="3536" y="3661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41" name="Oval 117"/>
            <p:cNvSpPr/>
            <p:nvPr/>
          </p:nvSpPr>
          <p:spPr>
            <a:xfrm rot="-4576346">
              <a:off x="3520" y="3203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42" name="Line 119"/>
            <p:cNvSpPr/>
            <p:nvPr/>
          </p:nvSpPr>
          <p:spPr>
            <a:xfrm rot="-4576346">
              <a:off x="3374" y="3855"/>
              <a:ext cx="243" cy="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43" name="Line 120"/>
            <p:cNvSpPr/>
            <p:nvPr/>
          </p:nvSpPr>
          <p:spPr>
            <a:xfrm rot="-4576346" flipV="1">
              <a:off x="3427" y="3441"/>
              <a:ext cx="318" cy="91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44" name="Line 121"/>
            <p:cNvSpPr/>
            <p:nvPr/>
          </p:nvSpPr>
          <p:spPr>
            <a:xfrm rot="-4576346" flipV="1">
              <a:off x="3379" y="2994"/>
              <a:ext cx="181" cy="22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45" name="Line 131"/>
            <p:cNvSpPr/>
            <p:nvPr/>
          </p:nvSpPr>
          <p:spPr>
            <a:xfrm>
              <a:off x="4078" y="2541"/>
              <a:ext cx="208" cy="20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46" name="Line 132"/>
            <p:cNvSpPr/>
            <p:nvPr/>
          </p:nvSpPr>
          <p:spPr>
            <a:xfrm>
              <a:off x="4332" y="2795"/>
              <a:ext cx="362" cy="13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47" name="Line 133"/>
            <p:cNvSpPr/>
            <p:nvPr/>
          </p:nvSpPr>
          <p:spPr>
            <a:xfrm flipV="1">
              <a:off x="3651" y="3657"/>
              <a:ext cx="318" cy="45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48" name="Line 134"/>
            <p:cNvSpPr/>
            <p:nvPr/>
          </p:nvSpPr>
          <p:spPr>
            <a:xfrm>
              <a:off x="4105" y="3657"/>
              <a:ext cx="317" cy="45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49" name="AutoShape 135"/>
            <p:cNvSpPr/>
            <p:nvPr/>
          </p:nvSpPr>
          <p:spPr>
            <a:xfrm flipV="1">
              <a:off x="3787" y="2952"/>
              <a:ext cx="499" cy="475"/>
            </a:xfrm>
            <a:prstGeom prst="pentagon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0" name="Oval 136"/>
            <p:cNvSpPr/>
            <p:nvPr/>
          </p:nvSpPr>
          <p:spPr>
            <a:xfrm>
              <a:off x="3742" y="3158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1" name="Oval 145"/>
            <p:cNvSpPr/>
            <p:nvPr/>
          </p:nvSpPr>
          <p:spPr>
            <a:xfrm>
              <a:off x="3950" y="3340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2" name="Oval 146"/>
            <p:cNvSpPr/>
            <p:nvPr/>
          </p:nvSpPr>
          <p:spPr>
            <a:xfrm>
              <a:off x="3833" y="2886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3" name="Oval 147"/>
            <p:cNvSpPr/>
            <p:nvPr/>
          </p:nvSpPr>
          <p:spPr>
            <a:xfrm>
              <a:off x="4196" y="3158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4" name="Oval 148"/>
            <p:cNvSpPr/>
            <p:nvPr/>
          </p:nvSpPr>
          <p:spPr>
            <a:xfrm>
              <a:off x="4105" y="2886"/>
              <a:ext cx="136" cy="13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5" name="Line 149"/>
            <p:cNvSpPr/>
            <p:nvPr/>
          </p:nvSpPr>
          <p:spPr>
            <a:xfrm>
              <a:off x="3787" y="2795"/>
              <a:ext cx="136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56" name="Line 150"/>
            <p:cNvSpPr/>
            <p:nvPr/>
          </p:nvSpPr>
          <p:spPr>
            <a:xfrm>
              <a:off x="3606" y="3249"/>
              <a:ext cx="1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57" name="Line 151"/>
            <p:cNvSpPr/>
            <p:nvPr/>
          </p:nvSpPr>
          <p:spPr>
            <a:xfrm flipH="1">
              <a:off x="4241" y="2840"/>
              <a:ext cx="45" cy="91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58" name="Line 152"/>
            <p:cNvSpPr/>
            <p:nvPr/>
          </p:nvSpPr>
          <p:spPr>
            <a:xfrm>
              <a:off x="4332" y="3249"/>
              <a:ext cx="181" cy="45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59" name="Line 153"/>
            <p:cNvSpPr/>
            <p:nvPr/>
          </p:nvSpPr>
          <p:spPr>
            <a:xfrm>
              <a:off x="4032" y="3475"/>
              <a:ext cx="0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60" name="Line 159"/>
            <p:cNvSpPr/>
            <p:nvPr/>
          </p:nvSpPr>
          <p:spPr>
            <a:xfrm flipH="1">
              <a:off x="3061" y="2160"/>
              <a:ext cx="908" cy="669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61" name="Line 160"/>
            <p:cNvSpPr/>
            <p:nvPr/>
          </p:nvSpPr>
          <p:spPr>
            <a:xfrm>
              <a:off x="3034" y="2931"/>
              <a:ext cx="363" cy="1043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62" name="Line 161"/>
            <p:cNvSpPr/>
            <p:nvPr/>
          </p:nvSpPr>
          <p:spPr>
            <a:xfrm flipH="1">
              <a:off x="3470" y="4056"/>
              <a:ext cx="1134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63" name="Line 162"/>
            <p:cNvSpPr/>
            <p:nvPr/>
          </p:nvSpPr>
          <p:spPr>
            <a:xfrm flipH="1">
              <a:off x="4676" y="2913"/>
              <a:ext cx="363" cy="1089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64" name="Line 164"/>
            <p:cNvSpPr/>
            <p:nvPr/>
          </p:nvSpPr>
          <p:spPr>
            <a:xfrm>
              <a:off x="3969" y="2949"/>
              <a:ext cx="136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65" name="Line 165"/>
            <p:cNvSpPr/>
            <p:nvPr/>
          </p:nvSpPr>
          <p:spPr>
            <a:xfrm flipH="1">
              <a:off x="3815" y="2976"/>
              <a:ext cx="63" cy="182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66" name="Line 166"/>
            <p:cNvSpPr/>
            <p:nvPr/>
          </p:nvSpPr>
          <p:spPr>
            <a:xfrm>
              <a:off x="3842" y="3285"/>
              <a:ext cx="136" cy="91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67" name="Line 167"/>
            <p:cNvSpPr/>
            <p:nvPr/>
          </p:nvSpPr>
          <p:spPr>
            <a:xfrm flipV="1">
              <a:off x="4059" y="3276"/>
              <a:ext cx="182" cy="13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26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/>
              <a:t>Willam Rowan Hamilton</a:t>
            </a:r>
            <a:endParaRPr lang="zh-CN" altLang="en-US"/>
          </a:p>
        </p:txBody>
      </p:sp>
      <p:sp>
        <p:nvSpPr>
          <p:cNvPr id="819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/>
              <a:t>Willam Rowan Hamilton(1805~1865):</a:t>
            </a:r>
            <a:endParaRPr lang="en-US" altLang="zh-CN"/>
          </a:p>
          <a:p>
            <a:r>
              <a:rPr lang="zh-CN" altLang="en-US"/>
              <a:t>爱尔兰神童</a:t>
            </a:r>
            <a:r>
              <a:rPr lang="en-US" altLang="zh-CN"/>
              <a:t>(child prodigy)</a:t>
            </a:r>
            <a:endParaRPr lang="en-US" altLang="zh-CN"/>
          </a:p>
          <a:p>
            <a:r>
              <a:rPr lang="en-US" altLang="zh-CN"/>
              <a:t> </a:t>
            </a:r>
            <a:r>
              <a:rPr lang="zh-CN" altLang="en-US"/>
              <a:t>三一学院</a:t>
            </a:r>
            <a:r>
              <a:rPr lang="en-US" altLang="zh-CN"/>
              <a:t>(Trinity College)</a:t>
            </a:r>
            <a:endParaRPr lang="en-US" altLang="zh-CN"/>
          </a:p>
          <a:p>
            <a:r>
              <a:rPr lang="zh-CN" altLang="en-US"/>
              <a:t>光学</a:t>
            </a:r>
            <a:r>
              <a:rPr lang="en-US" altLang="zh-CN"/>
              <a:t>(optics)</a:t>
            </a:r>
            <a:endParaRPr lang="en-US" altLang="zh-CN"/>
          </a:p>
          <a:p>
            <a:r>
              <a:rPr lang="en-US" altLang="zh-CN"/>
              <a:t>1827, Astronomer Royal of Ireland.</a:t>
            </a:r>
            <a:endParaRPr lang="en-US" altLang="zh-CN"/>
          </a:p>
          <a:p>
            <a:r>
              <a:rPr lang="en-US" altLang="zh-CN"/>
              <a:t>1837, </a:t>
            </a:r>
            <a:r>
              <a:rPr lang="zh-CN" altLang="en-US"/>
              <a:t>复数公理化</a:t>
            </a:r>
            <a:r>
              <a:rPr lang="en-US" altLang="zh-CN"/>
              <a:t>, a+bi, (a,b)</a:t>
            </a:r>
            <a:endParaRPr lang="en-US" altLang="zh-CN"/>
          </a:p>
          <a:p>
            <a:r>
              <a:rPr lang="zh-CN" altLang="en-US"/>
              <a:t>四元数</a:t>
            </a:r>
            <a:r>
              <a:rPr lang="en-US" altLang="zh-CN"/>
              <a:t>(quaternion): a+bi+cj+dk,</a:t>
            </a:r>
            <a:endParaRPr lang="en-US" altLang="zh-CN"/>
          </a:p>
          <a:p>
            <a:pPr>
              <a:buNone/>
            </a:pPr>
            <a:r>
              <a:rPr lang="en-US" altLang="zh-CN"/>
              <a:t>    </a:t>
            </a:r>
            <a:r>
              <a:rPr lang="zh-CN" altLang="en-US"/>
              <a:t>放弃乘法交换律</a:t>
            </a:r>
            <a:endParaRPr lang="en-US" altLang="zh-CN"/>
          </a:p>
        </p:txBody>
      </p:sp>
      <p:pic>
        <p:nvPicPr>
          <p:cNvPr id="819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8080" y="2493010"/>
            <a:ext cx="2766695" cy="33489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哈密顿图</a:t>
            </a:r>
            <a:r>
              <a:rPr lang="en-US" altLang="zh-CN"/>
              <a:t>(Hamilton)</a:t>
            </a:r>
            <a:endParaRPr lang="zh-CN" altLang="en-US"/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哈密顿回路</a:t>
            </a:r>
            <a:r>
              <a:rPr lang="en-US" altLang="zh-CN"/>
              <a:t>(Hamilton circuit/cycle): </a:t>
            </a:r>
            <a:r>
              <a:rPr lang="zh-CN" altLang="en-US"/>
              <a:t>经过图中所有顶点的初级回路（圈）</a:t>
            </a:r>
            <a:endParaRPr lang="zh-CN" altLang="en-US"/>
          </a:p>
          <a:p>
            <a:r>
              <a:rPr lang="zh-CN" altLang="en-US">
                <a:solidFill>
                  <a:schemeClr val="hlink"/>
                </a:solidFill>
                <a:sym typeface="+mn-ea"/>
              </a:rPr>
              <a:t>哈密顿通路</a:t>
            </a:r>
            <a:r>
              <a:rPr lang="en-US" altLang="zh-CN">
                <a:solidFill>
                  <a:schemeClr val="hlink"/>
                </a:solidFill>
                <a:sym typeface="+mn-ea"/>
              </a:rPr>
              <a:t>(Hamilton path):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经过图中所有顶点的初级通路（路径）</a:t>
            </a:r>
            <a:endParaRPr lang="zh-CN" altLang="en-US"/>
          </a:p>
          <a:p>
            <a:r>
              <a:rPr lang="zh-CN" altLang="en-US">
                <a:solidFill>
                  <a:schemeClr val="hlink"/>
                </a:solidFill>
              </a:rPr>
              <a:t>哈密顿图</a:t>
            </a:r>
            <a:r>
              <a:rPr lang="en-US" altLang="zh-CN"/>
              <a:t>(Hamiltonian): </a:t>
            </a:r>
            <a:r>
              <a:rPr lang="zh-CN" altLang="en-US"/>
              <a:t>有哈密顿回路的图</a:t>
            </a:r>
            <a:endParaRPr lang="zh-CN" altLang="en-US"/>
          </a:p>
          <a:p>
            <a:r>
              <a:rPr lang="zh-CN" altLang="en-US">
                <a:solidFill>
                  <a:schemeClr val="hlink"/>
                </a:solidFill>
              </a:rPr>
              <a:t>半哈密顿图</a:t>
            </a:r>
            <a:r>
              <a:rPr lang="en-US" altLang="zh-CN"/>
              <a:t>(semi- Hamiltonian): </a:t>
            </a:r>
            <a:r>
              <a:rPr lang="zh-CN" altLang="en-US"/>
              <a:t>没有哈密顿回路，但有哈密顿通路的图</a:t>
            </a:r>
            <a:endParaRPr lang="zh-CN" altLang="en-US"/>
          </a:p>
        </p:txBody>
      </p:sp>
      <p:sp>
        <p:nvSpPr>
          <p:cNvPr id="1126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无向哈密顿图的必要条件</a:t>
            </a:r>
            <a:endParaRPr lang="zh-CN" altLang="en-US"/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8.6: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G=&lt;V,E&gt;</a:t>
            </a:r>
            <a:r>
              <a:rPr lang="zh-CN" altLang="en-US"/>
              <a:t>是无向哈密顿图</a:t>
            </a:r>
            <a:r>
              <a:rPr lang="en-US" altLang="zh-CN"/>
              <a:t>,</a:t>
            </a:r>
            <a:r>
              <a:rPr lang="zh-CN" altLang="en-US"/>
              <a:t>则对</a:t>
            </a:r>
            <a:r>
              <a:rPr lang="en-US" altLang="zh-CN"/>
              <a:t>V</a:t>
            </a:r>
            <a:r>
              <a:rPr lang="zh-CN" altLang="en-US"/>
              <a:t>的任意非空真子集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en-US" altLang="zh-CN"/>
              <a:t> </a:t>
            </a:r>
            <a:r>
              <a:rPr lang="zh-CN" altLang="en-US"/>
              <a:t>有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10000"/>
              </a:spcBef>
              <a:buNone/>
            </a:pPr>
            <a:r>
              <a:rPr lang="en-US" altLang="zh-CN" i="1"/>
              <a:t>                      p</a:t>
            </a:r>
            <a:r>
              <a:rPr lang="en-US" altLang="zh-CN"/>
              <a:t>(G-V</a:t>
            </a:r>
            <a:r>
              <a:rPr lang="en-US" altLang="zh-CN" baseline="-25000"/>
              <a:t>1</a:t>
            </a:r>
            <a:r>
              <a:rPr lang="en-US" altLang="zh-CN"/>
              <a:t>)≤|V</a:t>
            </a:r>
            <a:r>
              <a:rPr lang="en-US" altLang="zh-CN" baseline="-25000"/>
              <a:t>1</a:t>
            </a:r>
            <a:r>
              <a:rPr lang="en-US" altLang="zh-CN"/>
              <a:t>|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1000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C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中任意哈密顿回路</a:t>
            </a:r>
            <a:r>
              <a:rPr lang="en-US" altLang="zh-CN"/>
              <a:t>, </a:t>
            </a:r>
            <a:r>
              <a:rPr lang="zh-CN" altLang="en-US"/>
              <a:t>当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zh-CN" altLang="en-US"/>
              <a:t>中顶点在</a:t>
            </a:r>
            <a:r>
              <a:rPr lang="en-US" altLang="zh-CN"/>
              <a:t>C</a:t>
            </a:r>
            <a:r>
              <a:rPr lang="zh-CN" altLang="en-US"/>
              <a:t>中都不相邻时</a:t>
            </a:r>
            <a:r>
              <a:rPr lang="en-US" altLang="zh-CN"/>
              <a:t>, </a:t>
            </a:r>
            <a:r>
              <a:rPr lang="en-US" altLang="zh-CN" i="1"/>
              <a:t>p</a:t>
            </a:r>
            <a:r>
              <a:rPr lang="en-US" altLang="zh-CN"/>
              <a:t>(C- V</a:t>
            </a:r>
            <a:r>
              <a:rPr lang="en-US" altLang="zh-CN" baseline="-25000"/>
              <a:t>1</a:t>
            </a:r>
            <a:r>
              <a:rPr lang="en-US" altLang="zh-CN"/>
              <a:t>)=| V</a:t>
            </a:r>
            <a:r>
              <a:rPr lang="en-US" altLang="zh-CN" baseline="-25000"/>
              <a:t>1</a:t>
            </a:r>
            <a:r>
              <a:rPr lang="en-US" altLang="zh-CN"/>
              <a:t> |</a:t>
            </a:r>
            <a:r>
              <a:rPr lang="zh-CN" altLang="en-US"/>
              <a:t>最大</a:t>
            </a:r>
            <a:r>
              <a:rPr lang="en-US" altLang="zh-CN"/>
              <a:t>;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10000"/>
              </a:spcBef>
              <a:buNone/>
            </a:pPr>
            <a:r>
              <a:rPr lang="zh-CN" altLang="en-US"/>
              <a:t>   否则</a:t>
            </a:r>
            <a:r>
              <a:rPr lang="en-US" altLang="zh-CN"/>
              <a:t>, 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C</a:t>
            </a:r>
            <a:r>
              <a:rPr lang="en-US" altLang="zh-CN"/>
              <a:t>- 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)&lt;| 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 |. </a:t>
            </a:r>
            <a:r>
              <a:rPr lang="en-US" altLang="zh-CN" i="1"/>
              <a:t>C</a:t>
            </a:r>
            <a:r>
              <a:rPr lang="zh-CN" altLang="en-US"/>
              <a:t>是</a:t>
            </a:r>
            <a:r>
              <a:rPr lang="en-US" altLang="zh-CN" i="1"/>
              <a:t>G</a:t>
            </a:r>
            <a:r>
              <a:rPr lang="zh-CN" altLang="en-US"/>
              <a:t>的生成子图</a:t>
            </a:r>
            <a:r>
              <a:rPr lang="en-US" altLang="zh-CN"/>
              <a:t>, 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10000"/>
              </a:spcBef>
              <a:buNone/>
            </a:pPr>
            <a:r>
              <a:rPr lang="zh-CN" altLang="en-US"/>
              <a:t>   所以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- 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)≤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C</a:t>
            </a:r>
            <a:r>
              <a:rPr lang="en-US" altLang="zh-CN"/>
              <a:t>- 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)≤| 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|. 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>
                <a:solidFill>
                  <a:srgbClr val="FF0000"/>
                </a:solidFill>
              </a:rPr>
              <a:t>注意：此定理经常被用来判定图不</a:t>
            </a:r>
            <a:r>
              <a:rPr lang="zh-CN" altLang="en-US">
                <a:solidFill>
                  <a:schemeClr val="hlink"/>
                </a:solidFill>
              </a:rPr>
              <a:t>是</a:t>
            </a:r>
            <a:r>
              <a:rPr lang="en-US" altLang="zh-CN">
                <a:solidFill>
                  <a:schemeClr val="hlink"/>
                </a:solidFill>
              </a:rPr>
              <a:t>H</a:t>
            </a:r>
            <a:r>
              <a:rPr lang="zh-CN" altLang="en-US">
                <a:solidFill>
                  <a:schemeClr val="hlink"/>
                </a:solidFill>
              </a:rPr>
              <a:t>图</a:t>
            </a:r>
            <a:r>
              <a:rPr lang="en-US" altLang="zh-CN">
                <a:solidFill>
                  <a:schemeClr val="hlink"/>
                </a:solidFill>
              </a:rPr>
              <a:t>.</a:t>
            </a:r>
            <a:endParaRPr lang="en-US" altLang="zh-CN">
              <a:solidFill>
                <a:schemeClr val="hlink"/>
              </a:solidFill>
            </a:endParaRPr>
          </a:p>
        </p:txBody>
      </p:sp>
      <p:grpSp>
        <p:nvGrpSpPr>
          <p:cNvPr id="13315" name="Group 14"/>
          <p:cNvGrpSpPr/>
          <p:nvPr/>
        </p:nvGrpSpPr>
        <p:grpSpPr>
          <a:xfrm>
            <a:off x="6948488" y="4437063"/>
            <a:ext cx="1944687" cy="1050925"/>
            <a:chOff x="3334" y="3521"/>
            <a:chExt cx="1225" cy="662"/>
          </a:xfrm>
        </p:grpSpPr>
        <p:sp>
          <p:nvSpPr>
            <p:cNvPr id="13316" name="Oval 4"/>
            <p:cNvSpPr/>
            <p:nvPr/>
          </p:nvSpPr>
          <p:spPr>
            <a:xfrm>
              <a:off x="3334" y="3566"/>
              <a:ext cx="1179" cy="5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17" name="Oval 5"/>
            <p:cNvSpPr/>
            <p:nvPr/>
          </p:nvSpPr>
          <p:spPr>
            <a:xfrm>
              <a:off x="4286" y="3612"/>
              <a:ext cx="91" cy="91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18" name="Oval 6"/>
            <p:cNvSpPr/>
            <p:nvPr/>
          </p:nvSpPr>
          <p:spPr>
            <a:xfrm>
              <a:off x="4195" y="4038"/>
              <a:ext cx="91" cy="91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19" name="Oval 7"/>
            <p:cNvSpPr/>
            <p:nvPr/>
          </p:nvSpPr>
          <p:spPr>
            <a:xfrm>
              <a:off x="3424" y="3612"/>
              <a:ext cx="91" cy="91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20" name="Oval 8"/>
            <p:cNvSpPr/>
            <p:nvPr/>
          </p:nvSpPr>
          <p:spPr>
            <a:xfrm>
              <a:off x="3787" y="3521"/>
              <a:ext cx="91" cy="91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21" name="Oval 9"/>
            <p:cNvSpPr/>
            <p:nvPr/>
          </p:nvSpPr>
          <p:spPr>
            <a:xfrm>
              <a:off x="3787" y="4092"/>
              <a:ext cx="91" cy="91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22" name="Oval 10"/>
            <p:cNvSpPr/>
            <p:nvPr/>
          </p:nvSpPr>
          <p:spPr>
            <a:xfrm>
              <a:off x="3379" y="3974"/>
              <a:ext cx="91" cy="91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23" name="Oval 11"/>
            <p:cNvSpPr/>
            <p:nvPr/>
          </p:nvSpPr>
          <p:spPr>
            <a:xfrm>
              <a:off x="4468" y="3838"/>
              <a:ext cx="91" cy="91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24" name="Line 12"/>
            <p:cNvSpPr/>
            <p:nvPr/>
          </p:nvSpPr>
          <p:spPr>
            <a:xfrm flipV="1">
              <a:off x="3470" y="3884"/>
              <a:ext cx="1043" cy="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325" name="Line 13"/>
            <p:cNvSpPr/>
            <p:nvPr/>
          </p:nvSpPr>
          <p:spPr>
            <a:xfrm>
              <a:off x="3833" y="3612"/>
              <a:ext cx="0" cy="4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sp>
        <p:nvSpPr>
          <p:cNvPr id="133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74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127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162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193" end="2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无向</a:t>
            </a:r>
            <a:r>
              <a:rPr lang="zh-CN" altLang="en-US">
                <a:solidFill>
                  <a:schemeClr val="hlink"/>
                </a:solidFill>
              </a:rPr>
              <a:t>半</a:t>
            </a:r>
            <a:r>
              <a:rPr lang="zh-CN" altLang="en-US"/>
              <a:t>哈密顿图的必要条件</a:t>
            </a:r>
            <a:endParaRPr lang="zh-CN" altLang="en-US"/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G=&lt;V,E&gt;</a:t>
            </a:r>
            <a:r>
              <a:rPr lang="zh-CN" altLang="en-US"/>
              <a:t>是无向</a:t>
            </a:r>
            <a:r>
              <a:rPr lang="zh-CN" altLang="en-US">
                <a:solidFill>
                  <a:srgbClr val="FF00FF"/>
                </a:solidFill>
              </a:rPr>
              <a:t>半</a:t>
            </a:r>
            <a:r>
              <a:rPr lang="zh-CN" altLang="en-US"/>
              <a:t>哈密顿图</a:t>
            </a:r>
            <a:r>
              <a:rPr lang="en-US" altLang="zh-CN"/>
              <a:t>,</a:t>
            </a:r>
            <a:r>
              <a:rPr lang="zh-CN" altLang="en-US"/>
              <a:t>则对</a:t>
            </a:r>
            <a:r>
              <a:rPr lang="en-US" altLang="zh-CN"/>
              <a:t>V</a:t>
            </a:r>
            <a:r>
              <a:rPr lang="zh-CN" altLang="en-US"/>
              <a:t>的任意非空真子集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zh-CN" altLang="en-US"/>
              <a:t>有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            </a:t>
            </a:r>
            <a:r>
              <a:rPr lang="en-US" altLang="zh-CN" i="1"/>
              <a:t>p</a:t>
            </a:r>
            <a:r>
              <a:rPr lang="en-US" altLang="zh-CN"/>
              <a:t>(G- V</a:t>
            </a:r>
            <a:r>
              <a:rPr lang="en-US" altLang="zh-CN" baseline="-25000"/>
              <a:t>1</a:t>
            </a:r>
            <a:r>
              <a:rPr lang="en-US" altLang="zh-CN"/>
              <a:t>)≤| V</a:t>
            </a:r>
            <a:r>
              <a:rPr lang="en-US" altLang="zh-CN" baseline="-25000"/>
              <a:t>1</a:t>
            </a:r>
            <a:r>
              <a:rPr lang="en-US" altLang="zh-CN"/>
              <a:t>|+1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证明  </a:t>
            </a:r>
            <a:r>
              <a:rPr lang="zh-CN" altLang="en-US"/>
              <a:t>设</a:t>
            </a:r>
            <a:r>
              <a:rPr lang="en-US" altLang="zh-CN"/>
              <a:t>P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中任意哈密顿通路</a:t>
            </a:r>
            <a:r>
              <a:rPr lang="en-US" altLang="zh-CN"/>
              <a:t>, </a:t>
            </a:r>
            <a:r>
              <a:rPr lang="zh-CN" altLang="en-US"/>
              <a:t>当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zh-CN" altLang="en-US"/>
              <a:t>中顶点都在</a:t>
            </a:r>
            <a:r>
              <a:rPr lang="en-US" altLang="zh-CN"/>
              <a:t>P</a:t>
            </a:r>
            <a:r>
              <a:rPr lang="zh-CN" altLang="en-US"/>
              <a:t>内部且都不相邻时</a:t>
            </a:r>
            <a:r>
              <a:rPr lang="en-US" altLang="zh-CN"/>
              <a:t>, </a:t>
            </a:r>
            <a:r>
              <a:rPr lang="en-US" altLang="zh-CN" i="1"/>
              <a:t>p</a:t>
            </a:r>
            <a:r>
              <a:rPr lang="en-US" altLang="zh-CN"/>
              <a:t>(P- V</a:t>
            </a:r>
            <a:r>
              <a:rPr lang="en-US" altLang="zh-CN" baseline="-25000"/>
              <a:t>1</a:t>
            </a:r>
            <a:r>
              <a:rPr lang="en-US" altLang="zh-CN"/>
              <a:t>)=| V</a:t>
            </a:r>
            <a:r>
              <a:rPr lang="en-US" altLang="zh-CN" baseline="-25000"/>
              <a:t>1</a:t>
            </a:r>
            <a:r>
              <a:rPr lang="en-US" altLang="zh-CN"/>
              <a:t> |+1</a:t>
            </a:r>
            <a:r>
              <a:rPr lang="zh-CN" altLang="en-US"/>
              <a:t>最大</a:t>
            </a:r>
            <a:r>
              <a:rPr lang="en-US" altLang="zh-CN"/>
              <a:t>; </a:t>
            </a:r>
            <a:r>
              <a:rPr lang="zh-CN" altLang="en-US"/>
              <a:t>否则</a:t>
            </a:r>
            <a:r>
              <a:rPr lang="en-US" altLang="zh-CN"/>
              <a:t>, </a:t>
            </a:r>
            <a:r>
              <a:rPr lang="en-US" altLang="zh-CN" i="1"/>
              <a:t>p</a:t>
            </a:r>
            <a:r>
              <a:rPr lang="en-US" altLang="zh-CN"/>
              <a:t>(P- V</a:t>
            </a:r>
            <a:r>
              <a:rPr lang="en-US" altLang="zh-CN" baseline="-25000"/>
              <a:t>1</a:t>
            </a:r>
            <a:r>
              <a:rPr lang="en-US" altLang="zh-CN"/>
              <a:t>)≤| V</a:t>
            </a:r>
            <a:r>
              <a:rPr lang="en-US" altLang="zh-CN" baseline="-25000"/>
              <a:t>1</a:t>
            </a:r>
            <a:r>
              <a:rPr lang="en-US" altLang="zh-CN"/>
              <a:t>|. P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的生成子图</a:t>
            </a:r>
            <a:r>
              <a:rPr lang="en-US" altLang="zh-CN"/>
              <a:t>, </a:t>
            </a:r>
            <a:r>
              <a:rPr lang="zh-CN" altLang="en-US"/>
              <a:t>所以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 </a:t>
            </a:r>
            <a:r>
              <a:rPr lang="en-US" altLang="zh-CN" i="1"/>
              <a:t>p</a:t>
            </a:r>
            <a:r>
              <a:rPr lang="en-US" altLang="zh-CN"/>
              <a:t>(G- V</a:t>
            </a:r>
            <a:r>
              <a:rPr lang="en-US" altLang="zh-CN" baseline="-25000"/>
              <a:t>1</a:t>
            </a:r>
            <a:r>
              <a:rPr lang="en-US" altLang="zh-CN"/>
              <a:t>)≤</a:t>
            </a:r>
            <a:r>
              <a:rPr lang="en-US" altLang="zh-CN" i="1"/>
              <a:t>p</a:t>
            </a:r>
            <a:r>
              <a:rPr lang="en-US" altLang="zh-CN"/>
              <a:t>(P- V</a:t>
            </a:r>
            <a:r>
              <a:rPr lang="en-US" altLang="zh-CN" baseline="-25000"/>
              <a:t>1</a:t>
            </a:r>
            <a:r>
              <a:rPr lang="en-US" altLang="zh-CN"/>
              <a:t>)≤| V</a:t>
            </a:r>
            <a:r>
              <a:rPr lang="en-US" altLang="zh-CN" baseline="-25000"/>
              <a:t>1</a:t>
            </a:r>
            <a:r>
              <a:rPr lang="en-US" altLang="zh-CN"/>
              <a:t>|+1.</a:t>
            </a:r>
            <a:endParaRPr lang="zh-CN" altLang="en-US"/>
          </a:p>
        </p:txBody>
      </p:sp>
      <p:grpSp>
        <p:nvGrpSpPr>
          <p:cNvPr id="2" name="Group 15"/>
          <p:cNvGrpSpPr/>
          <p:nvPr/>
        </p:nvGrpSpPr>
        <p:grpSpPr>
          <a:xfrm>
            <a:off x="1187450" y="5907088"/>
            <a:ext cx="5905500" cy="230187"/>
            <a:chOff x="748" y="3721"/>
            <a:chExt cx="3720" cy="145"/>
          </a:xfrm>
        </p:grpSpPr>
        <p:sp>
          <p:nvSpPr>
            <p:cNvPr id="15364" name="Line 4"/>
            <p:cNvSpPr/>
            <p:nvPr/>
          </p:nvSpPr>
          <p:spPr>
            <a:xfrm>
              <a:off x="839" y="3793"/>
              <a:ext cx="35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65" name="Oval 5"/>
            <p:cNvSpPr/>
            <p:nvPr/>
          </p:nvSpPr>
          <p:spPr>
            <a:xfrm>
              <a:off x="748" y="3721"/>
              <a:ext cx="136" cy="136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66" name="Oval 6"/>
            <p:cNvSpPr/>
            <p:nvPr/>
          </p:nvSpPr>
          <p:spPr>
            <a:xfrm>
              <a:off x="1610" y="3721"/>
              <a:ext cx="136" cy="136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67" name="Oval 7"/>
            <p:cNvSpPr/>
            <p:nvPr/>
          </p:nvSpPr>
          <p:spPr>
            <a:xfrm>
              <a:off x="2517" y="3721"/>
              <a:ext cx="136" cy="136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68" name="Oval 8"/>
            <p:cNvSpPr/>
            <p:nvPr/>
          </p:nvSpPr>
          <p:spPr>
            <a:xfrm>
              <a:off x="2880" y="3721"/>
              <a:ext cx="136" cy="136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69" name="Oval 9"/>
            <p:cNvSpPr/>
            <p:nvPr/>
          </p:nvSpPr>
          <p:spPr>
            <a:xfrm>
              <a:off x="3651" y="3729"/>
              <a:ext cx="136" cy="136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0" name="Oval 10"/>
            <p:cNvSpPr/>
            <p:nvPr/>
          </p:nvSpPr>
          <p:spPr>
            <a:xfrm>
              <a:off x="4332" y="3730"/>
              <a:ext cx="136" cy="136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1" name="Oval 11"/>
            <p:cNvSpPr/>
            <p:nvPr/>
          </p:nvSpPr>
          <p:spPr>
            <a:xfrm>
              <a:off x="1156" y="3729"/>
              <a:ext cx="136" cy="136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2" name="Oval 12"/>
            <p:cNvSpPr/>
            <p:nvPr/>
          </p:nvSpPr>
          <p:spPr>
            <a:xfrm>
              <a:off x="2018" y="3729"/>
              <a:ext cx="136" cy="136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3" name="Oval 13"/>
            <p:cNvSpPr/>
            <p:nvPr/>
          </p:nvSpPr>
          <p:spPr>
            <a:xfrm>
              <a:off x="3261" y="3721"/>
              <a:ext cx="136" cy="136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5374" name="AutoShape 14"/>
            <p:cNvCxnSpPr>
              <a:stCxn id="15366" idx="7"/>
              <a:endCxn id="15367" idx="0"/>
            </p:cNvCxnSpPr>
            <p:nvPr/>
          </p:nvCxnSpPr>
          <p:spPr>
            <a:xfrm rot="-5400000">
              <a:off x="2140" y="3296"/>
              <a:ext cx="20" cy="859"/>
            </a:xfrm>
            <a:prstGeom prst="curvedConnector3">
              <a:avLst>
                <a:gd name="adj1" fmla="val 820000"/>
              </a:avLst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53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66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157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推论的证明二</a:t>
            </a:r>
            <a:endParaRPr lang="en-US" altLang="zh-CN"/>
          </a:p>
        </p:txBody>
      </p:sp>
      <p:sp>
        <p:nvSpPr>
          <p:cNvPr id="1638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spcBef>
                <a:spcPct val="20000"/>
              </a:spcBef>
              <a:buNone/>
            </a:pPr>
            <a:r>
              <a:rPr lang="zh-CN" altLang="en-US"/>
              <a:t>证明 设</a:t>
            </a:r>
            <a:r>
              <a:rPr lang="en-US" altLang="zh-CN"/>
              <a:t>P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中任意哈密顿通路</a:t>
            </a:r>
            <a:r>
              <a:rPr lang="en-US" altLang="zh-CN"/>
              <a:t>,</a:t>
            </a:r>
            <a:r>
              <a:rPr lang="zh-CN" altLang="en-US"/>
              <a:t>两个端点是</a:t>
            </a:r>
            <a:r>
              <a:rPr lang="en-US" altLang="zh-CN" i="1"/>
              <a:t>u</a:t>
            </a:r>
            <a:r>
              <a:rPr lang="zh-CN" altLang="en-US"/>
              <a:t>与</a:t>
            </a:r>
            <a:r>
              <a:rPr lang="en-US" altLang="zh-CN" i="1"/>
              <a:t>v</a:t>
            </a:r>
            <a:r>
              <a:rPr lang="en-US" altLang="zh-CN"/>
              <a:t>.</a:t>
            </a:r>
            <a:r>
              <a:rPr lang="zh-CN" altLang="en-US"/>
              <a:t>令</a:t>
            </a:r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en-US" altLang="zh-CN"/>
              <a:t>=G∪</a:t>
            </a:r>
            <a:r>
              <a:rPr lang="en-US" altLang="zh-CN">
                <a:solidFill>
                  <a:srgbClr val="FF00FF"/>
                </a:solidFill>
              </a:rPr>
              <a:t>(</a:t>
            </a:r>
            <a:r>
              <a:rPr lang="en-US" altLang="zh-CN" i="1">
                <a:solidFill>
                  <a:srgbClr val="FF00FF"/>
                </a:solidFill>
              </a:rPr>
              <a:t>u</a:t>
            </a:r>
            <a:r>
              <a:rPr lang="en-US" altLang="zh-CN">
                <a:solidFill>
                  <a:srgbClr val="FF00FF"/>
                </a:solidFill>
              </a:rPr>
              <a:t>,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>
                <a:solidFill>
                  <a:srgbClr val="FF00FF"/>
                </a:solidFill>
              </a:rPr>
              <a:t>)</a:t>
            </a:r>
            <a:r>
              <a:rPr lang="en-US" altLang="zh-CN"/>
              <a:t>, </a:t>
            </a:r>
            <a:r>
              <a:rPr lang="zh-CN" altLang="en-US"/>
              <a:t>由定理</a:t>
            </a:r>
            <a:r>
              <a:rPr lang="en-US" altLang="zh-CN"/>
              <a:t>8.6</a:t>
            </a:r>
            <a:r>
              <a:rPr lang="zh-CN" altLang="en-US"/>
              <a:t>有</a:t>
            </a:r>
            <a:endParaRPr lang="zh-CN" altLang="en-US"/>
          </a:p>
          <a:p>
            <a:pPr marL="0" indent="0">
              <a:lnSpc>
                <a:spcPct val="120000"/>
              </a:lnSpc>
              <a:spcBef>
                <a:spcPct val="20000"/>
              </a:spcBef>
              <a:buNone/>
            </a:pPr>
            <a:r>
              <a:rPr lang="en-US" altLang="zh-CN" i="1"/>
              <a:t>    p</a:t>
            </a:r>
            <a:r>
              <a:rPr lang="en-US" altLang="zh-CN"/>
              <a:t>(G-V</a:t>
            </a:r>
            <a:r>
              <a:rPr lang="en-US" altLang="zh-CN" baseline="-25000"/>
              <a:t>1</a:t>
            </a:r>
            <a:r>
              <a:rPr lang="en-US" altLang="zh-CN"/>
              <a:t>) ≤ </a:t>
            </a:r>
            <a:r>
              <a:rPr lang="en-US" altLang="zh-CN" i="1"/>
              <a:t>p</a:t>
            </a:r>
            <a:r>
              <a:rPr lang="en-US" altLang="zh-CN"/>
              <a:t>(G</a:t>
            </a:r>
            <a:r>
              <a:rPr lang="en-US" altLang="zh-CN" baseline="-25000"/>
              <a:t>1</a:t>
            </a:r>
            <a:r>
              <a:rPr lang="en-US" altLang="zh-CN"/>
              <a:t>-V</a:t>
            </a:r>
            <a:r>
              <a:rPr lang="en-US" altLang="zh-CN" baseline="-25000"/>
              <a:t>1</a:t>
            </a:r>
            <a:r>
              <a:rPr lang="en-US" altLang="zh-CN"/>
              <a:t>)</a:t>
            </a:r>
            <a:r>
              <a:rPr lang="en-US" altLang="zh-CN">
                <a:solidFill>
                  <a:srgbClr val="FF00FF"/>
                </a:solidFill>
              </a:rPr>
              <a:t>+1</a:t>
            </a:r>
            <a:r>
              <a:rPr lang="en-US" altLang="zh-CN"/>
              <a:t> ≤ |V</a:t>
            </a:r>
            <a:r>
              <a:rPr lang="en-US" altLang="zh-CN" baseline="-25000"/>
              <a:t>1</a:t>
            </a:r>
            <a:r>
              <a:rPr lang="en-US" altLang="zh-CN"/>
              <a:t>|+1</a:t>
            </a:r>
            <a:endParaRPr lang="zh-CN" altLang="en-US"/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判定不是哈密顿图的举例</a:t>
            </a:r>
            <a:endParaRPr lang="zh-CN" altLang="en-US"/>
          </a:p>
        </p:txBody>
      </p:sp>
      <p:grpSp>
        <p:nvGrpSpPr>
          <p:cNvPr id="18435" name="Group 36"/>
          <p:cNvGrpSpPr/>
          <p:nvPr/>
        </p:nvGrpSpPr>
        <p:grpSpPr>
          <a:xfrm>
            <a:off x="395605" y="1412875"/>
            <a:ext cx="4897438" cy="3386138"/>
            <a:chOff x="1066" y="890"/>
            <a:chExt cx="3085" cy="2133"/>
          </a:xfrm>
        </p:grpSpPr>
        <p:sp>
          <p:nvSpPr>
            <p:cNvPr id="18436" name="Oval 4"/>
            <p:cNvSpPr/>
            <p:nvPr/>
          </p:nvSpPr>
          <p:spPr>
            <a:xfrm>
              <a:off x="2562" y="890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7" name="Oval 5"/>
            <p:cNvSpPr/>
            <p:nvPr/>
          </p:nvSpPr>
          <p:spPr>
            <a:xfrm>
              <a:off x="1066" y="1842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8" name="Oval 7"/>
            <p:cNvSpPr/>
            <p:nvPr/>
          </p:nvSpPr>
          <p:spPr>
            <a:xfrm>
              <a:off x="2562" y="2886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9" name="Oval 10"/>
            <p:cNvSpPr/>
            <p:nvPr/>
          </p:nvSpPr>
          <p:spPr>
            <a:xfrm>
              <a:off x="4014" y="1842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0" name="Line 11"/>
            <p:cNvSpPr/>
            <p:nvPr/>
          </p:nvSpPr>
          <p:spPr>
            <a:xfrm flipV="1">
              <a:off x="1156" y="981"/>
              <a:ext cx="1452" cy="86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1" name="Line 12"/>
            <p:cNvSpPr/>
            <p:nvPr/>
          </p:nvSpPr>
          <p:spPr>
            <a:xfrm>
              <a:off x="2699" y="981"/>
              <a:ext cx="1360" cy="90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2" name="Line 13"/>
            <p:cNvSpPr/>
            <p:nvPr/>
          </p:nvSpPr>
          <p:spPr>
            <a:xfrm>
              <a:off x="1156" y="1979"/>
              <a:ext cx="1452" cy="9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3" name="Line 14"/>
            <p:cNvSpPr/>
            <p:nvPr/>
          </p:nvSpPr>
          <p:spPr>
            <a:xfrm flipV="1">
              <a:off x="2699" y="1979"/>
              <a:ext cx="1360" cy="9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4" name="Oval 15"/>
            <p:cNvSpPr/>
            <p:nvPr/>
          </p:nvSpPr>
          <p:spPr>
            <a:xfrm>
              <a:off x="2562" y="1842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5" name="Oval 16"/>
            <p:cNvSpPr/>
            <p:nvPr/>
          </p:nvSpPr>
          <p:spPr>
            <a:xfrm>
              <a:off x="2200" y="1389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6" name="Oval 17"/>
            <p:cNvSpPr/>
            <p:nvPr/>
          </p:nvSpPr>
          <p:spPr>
            <a:xfrm>
              <a:off x="1565" y="1842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7" name="Oval 18"/>
            <p:cNvSpPr/>
            <p:nvPr/>
          </p:nvSpPr>
          <p:spPr>
            <a:xfrm>
              <a:off x="2109" y="2251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8" name="Oval 19"/>
            <p:cNvSpPr/>
            <p:nvPr/>
          </p:nvSpPr>
          <p:spPr>
            <a:xfrm>
              <a:off x="2971" y="2251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9" name="Oval 20"/>
            <p:cNvSpPr/>
            <p:nvPr/>
          </p:nvSpPr>
          <p:spPr>
            <a:xfrm>
              <a:off x="3470" y="1888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50" name="Oval 21"/>
            <p:cNvSpPr/>
            <p:nvPr/>
          </p:nvSpPr>
          <p:spPr>
            <a:xfrm>
              <a:off x="2880" y="1389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51" name="Line 22"/>
            <p:cNvSpPr/>
            <p:nvPr/>
          </p:nvSpPr>
          <p:spPr>
            <a:xfrm>
              <a:off x="1156" y="1888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2" name="Line 23"/>
            <p:cNvSpPr/>
            <p:nvPr/>
          </p:nvSpPr>
          <p:spPr>
            <a:xfrm>
              <a:off x="3606" y="1933"/>
              <a:ext cx="45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3" name="Line 24"/>
            <p:cNvSpPr/>
            <p:nvPr/>
          </p:nvSpPr>
          <p:spPr>
            <a:xfrm flipH="1">
              <a:off x="2290" y="1026"/>
              <a:ext cx="318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4" name="Line 25"/>
            <p:cNvSpPr/>
            <p:nvPr/>
          </p:nvSpPr>
          <p:spPr>
            <a:xfrm flipV="1">
              <a:off x="1701" y="1525"/>
              <a:ext cx="499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5" name="Line 26"/>
            <p:cNvSpPr/>
            <p:nvPr/>
          </p:nvSpPr>
          <p:spPr>
            <a:xfrm>
              <a:off x="1655" y="1933"/>
              <a:ext cx="499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6" name="Line 27"/>
            <p:cNvSpPr/>
            <p:nvPr/>
          </p:nvSpPr>
          <p:spPr>
            <a:xfrm flipV="1">
              <a:off x="2200" y="1933"/>
              <a:ext cx="408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7" name="Line 28"/>
            <p:cNvSpPr/>
            <p:nvPr/>
          </p:nvSpPr>
          <p:spPr>
            <a:xfrm>
              <a:off x="2290" y="1480"/>
              <a:ext cx="318" cy="3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8" name="Line 29"/>
            <p:cNvSpPr/>
            <p:nvPr/>
          </p:nvSpPr>
          <p:spPr>
            <a:xfrm flipV="1">
              <a:off x="2653" y="1525"/>
              <a:ext cx="272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9" name="Line 30"/>
            <p:cNvSpPr/>
            <p:nvPr/>
          </p:nvSpPr>
          <p:spPr>
            <a:xfrm>
              <a:off x="2653" y="1026"/>
              <a:ext cx="272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60" name="Line 31"/>
            <p:cNvSpPr/>
            <p:nvPr/>
          </p:nvSpPr>
          <p:spPr>
            <a:xfrm>
              <a:off x="2971" y="1480"/>
              <a:ext cx="589" cy="45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61" name="Line 32"/>
            <p:cNvSpPr/>
            <p:nvPr/>
          </p:nvSpPr>
          <p:spPr>
            <a:xfrm flipV="1">
              <a:off x="3061" y="1979"/>
              <a:ext cx="454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62" name="Line 33"/>
            <p:cNvSpPr/>
            <p:nvPr/>
          </p:nvSpPr>
          <p:spPr>
            <a:xfrm>
              <a:off x="2653" y="1979"/>
              <a:ext cx="363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63" name="Line 34"/>
            <p:cNvSpPr/>
            <p:nvPr/>
          </p:nvSpPr>
          <p:spPr>
            <a:xfrm>
              <a:off x="2200" y="2387"/>
              <a:ext cx="408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64" name="Line 35"/>
            <p:cNvSpPr/>
            <p:nvPr/>
          </p:nvSpPr>
          <p:spPr>
            <a:xfrm flipV="1">
              <a:off x="2653" y="2387"/>
              <a:ext cx="363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8465" name="Group 42"/>
          <p:cNvGrpSpPr/>
          <p:nvPr/>
        </p:nvGrpSpPr>
        <p:grpSpPr>
          <a:xfrm>
            <a:off x="934403" y="1051243"/>
            <a:ext cx="3744912" cy="4032250"/>
            <a:chOff x="1383" y="663"/>
            <a:chExt cx="2359" cy="2540"/>
          </a:xfrm>
        </p:grpSpPr>
        <p:sp>
          <p:nvSpPr>
            <p:cNvPr id="18466" name="Oval 37"/>
            <p:cNvSpPr/>
            <p:nvPr/>
          </p:nvSpPr>
          <p:spPr>
            <a:xfrm>
              <a:off x="2381" y="663"/>
              <a:ext cx="544" cy="544"/>
            </a:xfrm>
            <a:prstGeom prst="ellipse">
              <a:avLst/>
            </a:prstGeom>
            <a:noFill/>
            <a:ln w="2857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67" name="Oval 38"/>
            <p:cNvSpPr/>
            <p:nvPr/>
          </p:nvSpPr>
          <p:spPr>
            <a:xfrm>
              <a:off x="2381" y="2659"/>
              <a:ext cx="544" cy="544"/>
            </a:xfrm>
            <a:prstGeom prst="ellipse">
              <a:avLst/>
            </a:prstGeom>
            <a:noFill/>
            <a:ln w="2857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68" name="Oval 39"/>
            <p:cNvSpPr/>
            <p:nvPr/>
          </p:nvSpPr>
          <p:spPr>
            <a:xfrm>
              <a:off x="2336" y="1661"/>
              <a:ext cx="544" cy="544"/>
            </a:xfrm>
            <a:prstGeom prst="ellipse">
              <a:avLst/>
            </a:prstGeom>
            <a:noFill/>
            <a:ln w="2857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69" name="Oval 40"/>
            <p:cNvSpPr/>
            <p:nvPr/>
          </p:nvSpPr>
          <p:spPr>
            <a:xfrm>
              <a:off x="3198" y="1661"/>
              <a:ext cx="544" cy="544"/>
            </a:xfrm>
            <a:prstGeom prst="ellipse">
              <a:avLst/>
            </a:prstGeom>
            <a:noFill/>
            <a:ln w="2857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70" name="Oval 41"/>
            <p:cNvSpPr/>
            <p:nvPr/>
          </p:nvSpPr>
          <p:spPr>
            <a:xfrm>
              <a:off x="1383" y="1616"/>
              <a:ext cx="544" cy="544"/>
            </a:xfrm>
            <a:prstGeom prst="ellipse">
              <a:avLst/>
            </a:prstGeom>
            <a:noFill/>
            <a:ln w="2857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471" name="Group 77"/>
          <p:cNvGrpSpPr/>
          <p:nvPr/>
        </p:nvGrpSpPr>
        <p:grpSpPr>
          <a:xfrm>
            <a:off x="3923665" y="4364990"/>
            <a:ext cx="4897438" cy="1585913"/>
            <a:chOff x="2472" y="2296"/>
            <a:chExt cx="3085" cy="999"/>
          </a:xfrm>
        </p:grpSpPr>
        <p:sp>
          <p:nvSpPr>
            <p:cNvPr id="18472" name="Oval 49"/>
            <p:cNvSpPr/>
            <p:nvPr/>
          </p:nvSpPr>
          <p:spPr>
            <a:xfrm>
              <a:off x="2472" y="2749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73" name="Oval 51"/>
            <p:cNvSpPr/>
            <p:nvPr/>
          </p:nvSpPr>
          <p:spPr>
            <a:xfrm>
              <a:off x="5420" y="2749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74" name="Oval 57"/>
            <p:cNvSpPr/>
            <p:nvPr/>
          </p:nvSpPr>
          <p:spPr>
            <a:xfrm>
              <a:off x="3606" y="2296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75" name="Oval 59"/>
            <p:cNvSpPr/>
            <p:nvPr/>
          </p:nvSpPr>
          <p:spPr>
            <a:xfrm>
              <a:off x="3515" y="3158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76" name="Oval 60"/>
            <p:cNvSpPr/>
            <p:nvPr/>
          </p:nvSpPr>
          <p:spPr>
            <a:xfrm>
              <a:off x="4377" y="3158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77" name="Oval 62"/>
            <p:cNvSpPr/>
            <p:nvPr/>
          </p:nvSpPr>
          <p:spPr>
            <a:xfrm>
              <a:off x="4286" y="2296"/>
              <a:ext cx="137" cy="137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47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判定不是哈密顿图的举例</a:t>
            </a:r>
            <a:endParaRPr lang="zh-CN" altLang="en-US"/>
          </a:p>
        </p:txBody>
      </p:sp>
      <p:grpSp>
        <p:nvGrpSpPr>
          <p:cNvPr id="19459" name="Group 20"/>
          <p:cNvGrpSpPr/>
          <p:nvPr/>
        </p:nvGrpSpPr>
        <p:grpSpPr>
          <a:xfrm>
            <a:off x="826770" y="1906905"/>
            <a:ext cx="3516313" cy="2425700"/>
            <a:chOff x="340" y="1026"/>
            <a:chExt cx="2215" cy="1528"/>
          </a:xfrm>
        </p:grpSpPr>
        <p:grpSp>
          <p:nvGrpSpPr>
            <p:cNvPr id="19460" name="Group 4"/>
            <p:cNvGrpSpPr/>
            <p:nvPr/>
          </p:nvGrpSpPr>
          <p:grpSpPr>
            <a:xfrm>
              <a:off x="340" y="1071"/>
              <a:ext cx="1392" cy="1483"/>
              <a:chOff x="3243" y="1344"/>
              <a:chExt cx="1392" cy="1483"/>
            </a:xfrm>
          </p:grpSpPr>
          <p:sp>
            <p:nvSpPr>
              <p:cNvPr id="19461" name="Oval 5"/>
              <p:cNvSpPr/>
              <p:nvPr/>
            </p:nvSpPr>
            <p:spPr>
              <a:xfrm>
                <a:off x="3243" y="1344"/>
                <a:ext cx="576" cy="576"/>
              </a:xfrm>
              <a:prstGeom prst="ellipse">
                <a:avLst/>
              </a:prstGeom>
              <a:noFill/>
              <a:ln w="2857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62" name="Oval 6"/>
              <p:cNvSpPr/>
              <p:nvPr/>
            </p:nvSpPr>
            <p:spPr>
              <a:xfrm>
                <a:off x="4059" y="2251"/>
                <a:ext cx="576" cy="576"/>
              </a:xfrm>
              <a:prstGeom prst="ellipse">
                <a:avLst/>
              </a:prstGeom>
              <a:noFill/>
              <a:ln w="2857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9463" name="Picture 7" descr="图7-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31" y="1026"/>
              <a:ext cx="2124" cy="1464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9464" name="Group 19"/>
          <p:cNvGrpSpPr/>
          <p:nvPr/>
        </p:nvGrpSpPr>
        <p:grpSpPr>
          <a:xfrm>
            <a:off x="5220335" y="2276793"/>
            <a:ext cx="2663825" cy="1584325"/>
            <a:chOff x="2971" y="1797"/>
            <a:chExt cx="1678" cy="998"/>
          </a:xfrm>
        </p:grpSpPr>
        <p:sp>
          <p:nvSpPr>
            <p:cNvPr id="19465" name="Oval 12"/>
            <p:cNvSpPr/>
            <p:nvPr/>
          </p:nvSpPr>
          <p:spPr>
            <a:xfrm>
              <a:off x="2971" y="2659"/>
              <a:ext cx="136" cy="13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66" name="Oval 13"/>
            <p:cNvSpPr/>
            <p:nvPr/>
          </p:nvSpPr>
          <p:spPr>
            <a:xfrm>
              <a:off x="3243" y="2205"/>
              <a:ext cx="136" cy="13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9467" name="Group 18"/>
            <p:cNvGrpSpPr/>
            <p:nvPr/>
          </p:nvGrpSpPr>
          <p:grpSpPr>
            <a:xfrm>
              <a:off x="3606" y="1797"/>
              <a:ext cx="1043" cy="980"/>
              <a:chOff x="3606" y="1797"/>
              <a:chExt cx="1043" cy="980"/>
            </a:xfrm>
          </p:grpSpPr>
          <p:sp>
            <p:nvSpPr>
              <p:cNvPr id="19468" name="Oval 8"/>
              <p:cNvSpPr/>
              <p:nvPr/>
            </p:nvSpPr>
            <p:spPr>
              <a:xfrm>
                <a:off x="3606" y="1797"/>
                <a:ext cx="136" cy="13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69" name="Oval 9"/>
              <p:cNvSpPr/>
              <p:nvPr/>
            </p:nvSpPr>
            <p:spPr>
              <a:xfrm>
                <a:off x="4513" y="1797"/>
                <a:ext cx="136" cy="13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70" name="Oval 10"/>
              <p:cNvSpPr/>
              <p:nvPr/>
            </p:nvSpPr>
            <p:spPr>
              <a:xfrm>
                <a:off x="3969" y="2205"/>
                <a:ext cx="136" cy="13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71" name="Oval 11"/>
              <p:cNvSpPr/>
              <p:nvPr/>
            </p:nvSpPr>
            <p:spPr>
              <a:xfrm>
                <a:off x="4513" y="2641"/>
                <a:ext cx="136" cy="13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72" name="Line 14"/>
              <p:cNvSpPr/>
              <p:nvPr/>
            </p:nvSpPr>
            <p:spPr>
              <a:xfrm>
                <a:off x="3742" y="1842"/>
                <a:ext cx="77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473" name="Line 15"/>
              <p:cNvSpPr/>
              <p:nvPr/>
            </p:nvSpPr>
            <p:spPr>
              <a:xfrm>
                <a:off x="3742" y="1933"/>
                <a:ext cx="272" cy="27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474" name="Line 16"/>
              <p:cNvSpPr/>
              <p:nvPr/>
            </p:nvSpPr>
            <p:spPr>
              <a:xfrm>
                <a:off x="4105" y="2296"/>
                <a:ext cx="408" cy="36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475" name="Line 17"/>
              <p:cNvSpPr/>
              <p:nvPr/>
            </p:nvSpPr>
            <p:spPr>
              <a:xfrm>
                <a:off x="4604" y="1933"/>
                <a:ext cx="0" cy="7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1947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反例</a:t>
            </a:r>
            <a:r>
              <a:rPr lang="en-US" altLang="zh-CN"/>
              <a:t>: </a:t>
            </a:r>
            <a:r>
              <a:rPr lang="zh-CN" altLang="en-US"/>
              <a:t>非充分条件</a:t>
            </a:r>
            <a:endParaRPr lang="zh-CN" altLang="en-US"/>
          </a:p>
        </p:txBody>
      </p:sp>
      <p:sp>
        <p:nvSpPr>
          <p:cNvPr id="2048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/>
              <a:t>上述条件只是必要条件</a:t>
            </a:r>
            <a:r>
              <a:rPr lang="en-US" altLang="zh-CN"/>
              <a:t>,</a:t>
            </a:r>
            <a:r>
              <a:rPr lang="zh-CN" altLang="en-US"/>
              <a:t>而不是充分条件</a:t>
            </a:r>
            <a:endParaRPr lang="zh-CN" altLang="en-US"/>
          </a:p>
          <a:p>
            <a:r>
              <a:rPr lang="zh-CN" altLang="en-US"/>
              <a:t>反例</a:t>
            </a:r>
            <a:r>
              <a:rPr lang="en-US" altLang="zh-CN"/>
              <a:t>: Petersen</a:t>
            </a:r>
            <a:r>
              <a:rPr lang="zh-CN" altLang="en-US"/>
              <a:t>图</a:t>
            </a:r>
            <a:endParaRPr lang="zh-CN" altLang="en-US"/>
          </a:p>
          <a:p>
            <a:pPr lvl="1"/>
            <a:r>
              <a:rPr lang="en-US" altLang="zh-CN"/>
              <a:t>Petersen</a:t>
            </a:r>
            <a:r>
              <a:rPr lang="zh-CN" altLang="en-US"/>
              <a:t>图满足</a:t>
            </a:r>
            <a:r>
              <a:rPr lang="en-US" altLang="zh-CN"/>
              <a:t>: ∀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≠</a:t>
            </a:r>
            <a:r>
              <a:rPr lang="en-US" altLang="zh-CN">
                <a:sym typeface="Symbol" panose="05050102010706020507" pitchFamily="18" charset="2"/>
              </a:rPr>
              <a:t> </a:t>
            </a:r>
            <a:r>
              <a:rPr lang="en-US" altLang="zh-CN"/>
              <a:t>, 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- 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)≤|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|</a:t>
            </a:r>
            <a:endParaRPr lang="en-US" altLang="zh-CN"/>
          </a:p>
          <a:p>
            <a:pPr lvl="1"/>
            <a:r>
              <a:rPr lang="en-US" altLang="zh-CN"/>
              <a:t>Petersen</a:t>
            </a:r>
            <a:r>
              <a:rPr lang="zh-CN" altLang="en-US"/>
              <a:t>图不是哈密顿图</a:t>
            </a:r>
            <a:r>
              <a:rPr lang="en-US" altLang="zh-CN"/>
              <a:t>: </a:t>
            </a:r>
            <a:r>
              <a:rPr lang="zh-CN" altLang="en-US"/>
              <a:t>穷举</a:t>
            </a:r>
            <a:endParaRPr lang="zh-CN" altLang="en-US"/>
          </a:p>
          <a:p>
            <a:pPr lvl="1"/>
            <a:r>
              <a:rPr lang="en-US" altLang="zh-CN"/>
              <a:t>Petersen</a:t>
            </a:r>
            <a:r>
              <a:rPr lang="zh-CN" altLang="en-US"/>
              <a:t>图是</a:t>
            </a:r>
            <a:r>
              <a:rPr lang="zh-CN" altLang="en-US">
                <a:solidFill>
                  <a:srgbClr val="FF00FF"/>
                </a:solidFill>
              </a:rPr>
              <a:t>半</a:t>
            </a:r>
            <a:r>
              <a:rPr lang="zh-CN" altLang="en-US"/>
              <a:t>哈密顿图</a:t>
            </a:r>
            <a:endParaRPr lang="zh-CN" altLang="en-US"/>
          </a:p>
        </p:txBody>
      </p:sp>
      <p:grpSp>
        <p:nvGrpSpPr>
          <p:cNvPr id="20483" name="组合 85"/>
          <p:cNvGrpSpPr/>
          <p:nvPr/>
        </p:nvGrpSpPr>
        <p:grpSpPr>
          <a:xfrm>
            <a:off x="1620520" y="4293235"/>
            <a:ext cx="2447925" cy="2159000"/>
            <a:chOff x="2843808" y="1412776"/>
            <a:chExt cx="2448272" cy="2160240"/>
          </a:xfrm>
        </p:grpSpPr>
        <p:sp>
          <p:nvSpPr>
            <p:cNvPr id="2" name="椭圆 40"/>
            <p:cNvSpPr/>
            <p:nvPr/>
          </p:nvSpPr>
          <p:spPr bwMode="auto">
            <a:xfrm>
              <a:off x="3923928" y="1412776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" name="椭圆 41"/>
            <p:cNvSpPr/>
            <p:nvPr/>
          </p:nvSpPr>
          <p:spPr bwMode="auto">
            <a:xfrm>
              <a:off x="2843808" y="2060848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0486" name="直接连接符 43"/>
            <p:cNvCxnSpPr/>
            <p:nvPr/>
          </p:nvCxnSpPr>
          <p:spPr>
            <a:xfrm rot="-10800000" flipV="1">
              <a:off x="3028196" y="1520788"/>
              <a:ext cx="895732" cy="5716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" name="椭圆 44"/>
            <p:cNvSpPr/>
            <p:nvPr/>
          </p:nvSpPr>
          <p:spPr bwMode="auto">
            <a:xfrm>
              <a:off x="5076056" y="2060848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0488" name="直接连接符 46"/>
            <p:cNvCxnSpPr/>
            <p:nvPr/>
          </p:nvCxnSpPr>
          <p:spPr>
            <a:xfrm rot="-5400000" flipH="1">
              <a:off x="4360344" y="1345136"/>
              <a:ext cx="495320" cy="9993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89" name="直接连接符 48"/>
            <p:cNvCxnSpPr/>
            <p:nvPr/>
          </p:nvCxnSpPr>
          <p:spPr>
            <a:xfrm rot="-5400000" flipH="1">
              <a:off x="2519772" y="2672916"/>
              <a:ext cx="1080120" cy="2880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椭圆 49"/>
            <p:cNvSpPr/>
            <p:nvPr/>
          </p:nvSpPr>
          <p:spPr bwMode="auto">
            <a:xfrm>
              <a:off x="3131840" y="3356992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" name="椭圆 50"/>
            <p:cNvSpPr/>
            <p:nvPr/>
          </p:nvSpPr>
          <p:spPr bwMode="auto">
            <a:xfrm>
              <a:off x="4788024" y="3356992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0492" name="直接连接符 53"/>
            <p:cNvCxnSpPr/>
            <p:nvPr/>
          </p:nvCxnSpPr>
          <p:spPr>
            <a:xfrm rot="5400000">
              <a:off x="4445986" y="2695286"/>
              <a:ext cx="1111756" cy="2116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3" name="直接连接符 55"/>
            <p:cNvCxnSpPr/>
            <p:nvPr/>
          </p:nvCxnSpPr>
          <p:spPr>
            <a:xfrm>
              <a:off x="3316228" y="3429000"/>
              <a:ext cx="1471796" cy="360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椭圆 57"/>
            <p:cNvSpPr/>
            <p:nvPr/>
          </p:nvSpPr>
          <p:spPr bwMode="auto">
            <a:xfrm>
              <a:off x="3923928" y="2060848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椭圆 58"/>
            <p:cNvSpPr/>
            <p:nvPr/>
          </p:nvSpPr>
          <p:spPr bwMode="auto">
            <a:xfrm>
              <a:off x="3347864" y="2348880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椭圆 59"/>
            <p:cNvSpPr/>
            <p:nvPr/>
          </p:nvSpPr>
          <p:spPr bwMode="auto">
            <a:xfrm>
              <a:off x="4499992" y="2348880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椭圆 60"/>
            <p:cNvSpPr/>
            <p:nvPr/>
          </p:nvSpPr>
          <p:spPr bwMode="auto">
            <a:xfrm>
              <a:off x="3419872" y="2924944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椭圆 61"/>
            <p:cNvSpPr/>
            <p:nvPr/>
          </p:nvSpPr>
          <p:spPr bwMode="auto">
            <a:xfrm>
              <a:off x="4283968" y="2924944"/>
              <a:ext cx="216024" cy="21602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0499" name="直接连接符 63"/>
            <p:cNvCxnSpPr/>
            <p:nvPr/>
          </p:nvCxnSpPr>
          <p:spPr>
            <a:xfrm rot="5400000">
              <a:off x="3424240" y="2425256"/>
              <a:ext cx="711344" cy="3513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00" name="直接连接符 66"/>
            <p:cNvCxnSpPr/>
            <p:nvPr/>
          </p:nvCxnSpPr>
          <p:spPr>
            <a:xfrm rot="-5400000" flipH="1">
              <a:off x="3833918" y="2474894"/>
              <a:ext cx="679708" cy="2836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01" name="直接连接符 68"/>
            <p:cNvCxnSpPr/>
            <p:nvPr/>
          </p:nvCxnSpPr>
          <p:spPr>
            <a:xfrm>
              <a:off x="3563888" y="2492896"/>
              <a:ext cx="751716" cy="4636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02" name="直接连接符 70"/>
            <p:cNvCxnSpPr/>
            <p:nvPr/>
          </p:nvCxnSpPr>
          <p:spPr>
            <a:xfrm>
              <a:off x="3563888" y="2420888"/>
              <a:ext cx="936104" cy="360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03" name="直接连接符 72"/>
            <p:cNvCxnSpPr/>
            <p:nvPr/>
          </p:nvCxnSpPr>
          <p:spPr>
            <a:xfrm rot="5400000" flipH="1" flipV="1">
              <a:off x="3802282" y="2258870"/>
              <a:ext cx="499688" cy="8957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04" name="直接连接符 75"/>
            <p:cNvCxnSpPr/>
            <p:nvPr/>
          </p:nvCxnSpPr>
          <p:spPr>
            <a:xfrm rot="-5400000" flipH="1">
              <a:off x="3136208" y="2137224"/>
              <a:ext cx="135280" cy="3513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05" name="直接连接符 77"/>
            <p:cNvCxnSpPr/>
            <p:nvPr/>
          </p:nvCxnSpPr>
          <p:spPr>
            <a:xfrm rot="5400000">
              <a:off x="3815916" y="1844824"/>
              <a:ext cx="4320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06" name="直接连接符 79"/>
            <p:cNvCxnSpPr/>
            <p:nvPr/>
          </p:nvCxnSpPr>
          <p:spPr>
            <a:xfrm rot="5400000" flipH="1" flipV="1">
              <a:off x="4792392" y="2096852"/>
              <a:ext cx="175652" cy="3916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07" name="直接连接符 81"/>
            <p:cNvCxnSpPr/>
            <p:nvPr/>
          </p:nvCxnSpPr>
          <p:spPr>
            <a:xfrm rot="5400000" flipH="1" flipV="1">
              <a:off x="3221850" y="3127334"/>
              <a:ext cx="247660" cy="2116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08" name="直接连接符 83"/>
            <p:cNvCxnSpPr/>
            <p:nvPr/>
          </p:nvCxnSpPr>
          <p:spPr>
            <a:xfrm rot="-5400000" flipH="1">
              <a:off x="4504360" y="3073328"/>
              <a:ext cx="247660" cy="3196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509" name="Group 106"/>
          <p:cNvGrpSpPr/>
          <p:nvPr/>
        </p:nvGrpSpPr>
        <p:grpSpPr>
          <a:xfrm>
            <a:off x="4860608" y="4150360"/>
            <a:ext cx="2447925" cy="2159000"/>
            <a:chOff x="2653" y="2614"/>
            <a:chExt cx="1542" cy="1360"/>
          </a:xfrm>
        </p:grpSpPr>
        <p:grpSp>
          <p:nvGrpSpPr>
            <p:cNvPr id="20510" name="组合 85"/>
            <p:cNvGrpSpPr/>
            <p:nvPr/>
          </p:nvGrpSpPr>
          <p:grpSpPr>
            <a:xfrm>
              <a:off x="2653" y="2614"/>
              <a:ext cx="1542" cy="1360"/>
              <a:chOff x="2843808" y="1412776"/>
              <a:chExt cx="2448272" cy="2160240"/>
            </a:xfrm>
          </p:grpSpPr>
          <p:sp>
            <p:nvSpPr>
              <p:cNvPr id="41" name="椭圆 40"/>
              <p:cNvSpPr/>
              <p:nvPr/>
            </p:nvSpPr>
            <p:spPr bwMode="auto">
              <a:xfrm>
                <a:off x="3923928" y="1412776"/>
                <a:ext cx="216024" cy="216024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 bwMode="auto">
              <a:xfrm>
                <a:off x="2843808" y="2060848"/>
                <a:ext cx="216024" cy="216024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20513" name="直接连接符 43"/>
              <p:cNvCxnSpPr/>
              <p:nvPr/>
            </p:nvCxnSpPr>
            <p:spPr>
              <a:xfrm rot="-10800000" flipV="1">
                <a:off x="3028196" y="1520788"/>
                <a:ext cx="895732" cy="5716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" name="椭圆 44"/>
              <p:cNvSpPr/>
              <p:nvPr/>
            </p:nvSpPr>
            <p:spPr bwMode="auto">
              <a:xfrm>
                <a:off x="5076056" y="2060848"/>
                <a:ext cx="216024" cy="216024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20515" name="直接连接符 46"/>
              <p:cNvCxnSpPr/>
              <p:nvPr/>
            </p:nvCxnSpPr>
            <p:spPr>
              <a:xfrm rot="-5400000" flipH="1">
                <a:off x="4360344" y="1345136"/>
                <a:ext cx="495320" cy="9993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16" name="直接连接符 48"/>
              <p:cNvCxnSpPr/>
              <p:nvPr/>
            </p:nvCxnSpPr>
            <p:spPr>
              <a:xfrm rot="-5400000" flipH="1">
                <a:off x="2519772" y="2672916"/>
                <a:ext cx="1080120" cy="2880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0" name="椭圆 49"/>
              <p:cNvSpPr/>
              <p:nvPr/>
            </p:nvSpPr>
            <p:spPr bwMode="auto">
              <a:xfrm>
                <a:off x="3131840" y="3356992"/>
                <a:ext cx="216024" cy="216024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 bwMode="auto">
              <a:xfrm>
                <a:off x="4788024" y="3356992"/>
                <a:ext cx="216024" cy="216024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20519" name="直接连接符 53"/>
              <p:cNvCxnSpPr/>
              <p:nvPr/>
            </p:nvCxnSpPr>
            <p:spPr>
              <a:xfrm rot="5400000">
                <a:off x="4445986" y="2695286"/>
                <a:ext cx="1111756" cy="2116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0" name="直接连接符 55"/>
              <p:cNvCxnSpPr/>
              <p:nvPr/>
            </p:nvCxnSpPr>
            <p:spPr>
              <a:xfrm>
                <a:off x="3316228" y="3429000"/>
                <a:ext cx="1471796" cy="3600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8" name="椭圆 57"/>
              <p:cNvSpPr/>
              <p:nvPr/>
            </p:nvSpPr>
            <p:spPr bwMode="auto">
              <a:xfrm>
                <a:off x="3923928" y="2060848"/>
                <a:ext cx="216024" cy="216024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 bwMode="auto">
              <a:xfrm>
                <a:off x="3347864" y="2348880"/>
                <a:ext cx="216024" cy="216024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 bwMode="auto">
              <a:xfrm>
                <a:off x="4499992" y="2348880"/>
                <a:ext cx="216024" cy="216024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 bwMode="auto">
              <a:xfrm>
                <a:off x="3419872" y="2924944"/>
                <a:ext cx="216024" cy="216024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 bwMode="auto">
              <a:xfrm>
                <a:off x="4283968" y="2924944"/>
                <a:ext cx="216024" cy="216024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txBody>
              <a:bodyPr/>
              <a:lstStyle>
                <a:lvl1pPr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20526" name="直接连接符 63"/>
              <p:cNvCxnSpPr/>
              <p:nvPr/>
            </p:nvCxnSpPr>
            <p:spPr>
              <a:xfrm rot="5400000">
                <a:off x="3424240" y="2425256"/>
                <a:ext cx="711344" cy="35130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7" name="直接连接符 66"/>
              <p:cNvCxnSpPr/>
              <p:nvPr/>
            </p:nvCxnSpPr>
            <p:spPr>
              <a:xfrm rot="-5400000" flipH="1">
                <a:off x="3833918" y="2474894"/>
                <a:ext cx="679708" cy="28366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8" name="直接连接符 68"/>
              <p:cNvCxnSpPr/>
              <p:nvPr/>
            </p:nvCxnSpPr>
            <p:spPr>
              <a:xfrm>
                <a:off x="3563888" y="2492896"/>
                <a:ext cx="751716" cy="4636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9" name="直接连接符 70"/>
              <p:cNvCxnSpPr/>
              <p:nvPr/>
            </p:nvCxnSpPr>
            <p:spPr>
              <a:xfrm>
                <a:off x="3563888" y="2420888"/>
                <a:ext cx="936104" cy="3600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0" name="直接连接符 72"/>
              <p:cNvCxnSpPr/>
              <p:nvPr/>
            </p:nvCxnSpPr>
            <p:spPr>
              <a:xfrm rot="5400000" flipH="1" flipV="1">
                <a:off x="3802282" y="2258870"/>
                <a:ext cx="499688" cy="8957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1" name="直接连接符 75"/>
              <p:cNvCxnSpPr/>
              <p:nvPr/>
            </p:nvCxnSpPr>
            <p:spPr>
              <a:xfrm rot="-5400000" flipH="1">
                <a:off x="3136208" y="2137224"/>
                <a:ext cx="135280" cy="35130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2" name="直接连接符 77"/>
              <p:cNvCxnSpPr/>
              <p:nvPr/>
            </p:nvCxnSpPr>
            <p:spPr>
              <a:xfrm rot="5400000">
                <a:off x="3815916" y="1844824"/>
                <a:ext cx="43204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3" name="直接连接符 79"/>
              <p:cNvCxnSpPr/>
              <p:nvPr/>
            </p:nvCxnSpPr>
            <p:spPr>
              <a:xfrm rot="5400000" flipH="1" flipV="1">
                <a:off x="4792392" y="2096852"/>
                <a:ext cx="175652" cy="3916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4" name="直接连接符 81"/>
              <p:cNvCxnSpPr/>
              <p:nvPr/>
            </p:nvCxnSpPr>
            <p:spPr>
              <a:xfrm rot="5400000" flipH="1" flipV="1">
                <a:off x="3221850" y="3127334"/>
                <a:ext cx="247660" cy="2116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5" name="直接连接符 83"/>
              <p:cNvCxnSpPr/>
              <p:nvPr/>
            </p:nvCxnSpPr>
            <p:spPr>
              <a:xfrm rot="-5400000" flipH="1">
                <a:off x="4504360" y="3073328"/>
                <a:ext cx="247660" cy="3196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0536" name="Line 96"/>
            <p:cNvSpPr/>
            <p:nvPr/>
          </p:nvSpPr>
          <p:spPr>
            <a:xfrm flipH="1">
              <a:off x="2744" y="2659"/>
              <a:ext cx="590" cy="40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37" name="Line 97"/>
            <p:cNvSpPr/>
            <p:nvPr/>
          </p:nvSpPr>
          <p:spPr>
            <a:xfrm>
              <a:off x="2699" y="3158"/>
              <a:ext cx="181" cy="68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38" name="Line 98"/>
            <p:cNvSpPr/>
            <p:nvPr/>
          </p:nvSpPr>
          <p:spPr>
            <a:xfrm flipV="1">
              <a:off x="2971" y="3893"/>
              <a:ext cx="952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39" name="Line 99"/>
            <p:cNvSpPr/>
            <p:nvPr/>
          </p:nvSpPr>
          <p:spPr>
            <a:xfrm flipH="1" flipV="1">
              <a:off x="3651" y="3657"/>
              <a:ext cx="227" cy="181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40" name="Line 100"/>
            <p:cNvSpPr/>
            <p:nvPr/>
          </p:nvSpPr>
          <p:spPr>
            <a:xfrm flipH="1" flipV="1">
              <a:off x="3107" y="3294"/>
              <a:ext cx="463" cy="29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41" name="Line 101"/>
            <p:cNvSpPr/>
            <p:nvPr/>
          </p:nvSpPr>
          <p:spPr>
            <a:xfrm flipH="1" flipV="1">
              <a:off x="3061" y="3249"/>
              <a:ext cx="635" cy="4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42" name="Line 102"/>
            <p:cNvSpPr/>
            <p:nvPr/>
          </p:nvSpPr>
          <p:spPr>
            <a:xfrm flipH="1">
              <a:off x="3152" y="3294"/>
              <a:ext cx="544" cy="27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43" name="Line 103"/>
            <p:cNvSpPr/>
            <p:nvPr/>
          </p:nvSpPr>
          <p:spPr>
            <a:xfrm flipH="1">
              <a:off x="3134" y="3122"/>
              <a:ext cx="227" cy="45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44" name="Line 105"/>
            <p:cNvSpPr/>
            <p:nvPr/>
          </p:nvSpPr>
          <p:spPr>
            <a:xfrm flipH="1" flipV="1">
              <a:off x="3424" y="2704"/>
              <a:ext cx="681" cy="36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05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/>
              <a:t>Petersen</a:t>
            </a:r>
            <a:endParaRPr lang="zh-CN" altLang="en-US"/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>
          <a:xfrm>
            <a:off x="323850" y="1268413"/>
            <a:ext cx="8496300" cy="5256212"/>
          </a:xfrm>
        </p:spPr>
        <p:txBody>
          <a:bodyPr vert="horz" wrap="square" lIns="91440" tIns="45720" rIns="91440" bIns="45720" anchor="t" anchorCtr="0"/>
          <a:p>
            <a:pPr>
              <a:spcBef>
                <a:spcPct val="20000"/>
              </a:spcBef>
            </a:pPr>
            <a:r>
              <a:rPr lang="zh-CN" altLang="en-US" sz="2400"/>
              <a:t>彼得森</a:t>
            </a:r>
            <a:r>
              <a:rPr lang="en-US" altLang="zh-CN" sz="2400"/>
              <a:t>(1839----1910)</a:t>
            </a:r>
            <a:r>
              <a:rPr lang="zh-CN" altLang="en-US" sz="2400"/>
              <a:t>，丹麦哥本哈根大学数学教授。家境贫寒，因此而辍过学。但</a:t>
            </a:r>
            <a:r>
              <a:rPr lang="en-US" altLang="zh-CN" sz="2400"/>
              <a:t>19</a:t>
            </a:r>
            <a:r>
              <a:rPr lang="zh-CN" altLang="en-US" sz="2400"/>
              <a:t>岁就出版了关于对数的专著。他作过中学教师，</a:t>
            </a:r>
            <a:r>
              <a:rPr lang="en-US" altLang="zh-CN" sz="2400"/>
              <a:t>32</a:t>
            </a:r>
            <a:r>
              <a:rPr lang="zh-CN" altLang="en-US" sz="2400"/>
              <a:t>岁获哥本哈根大学数学博士学位，然后一直在该大学作数学教授。</a:t>
            </a:r>
            <a:endParaRPr lang="zh-CN" altLang="en-US" sz="2400"/>
          </a:p>
          <a:p>
            <a:pPr>
              <a:spcBef>
                <a:spcPct val="20000"/>
              </a:spcBef>
            </a:pPr>
            <a:r>
              <a:rPr lang="zh-CN" altLang="en-US" sz="2400"/>
              <a:t>彼得森是一位出色的名教师。他讲课遇到推理困难时，总是说：“这是显而易见的”，并让学生自己查阅他的著作。同时，他是一位有经验的作家，论述问题很形象，讲究形式的优雅。</a:t>
            </a:r>
            <a:endParaRPr lang="zh-CN" altLang="en-US" sz="2400"/>
          </a:p>
          <a:p>
            <a:pPr>
              <a:spcBef>
                <a:spcPct val="20000"/>
              </a:spcBef>
            </a:pPr>
            <a:r>
              <a:rPr lang="zh-CN" altLang="en-US" sz="2400"/>
              <a:t> </a:t>
            </a:r>
            <a:r>
              <a:rPr lang="en-US" altLang="zh-CN" sz="2400"/>
              <a:t>1891</a:t>
            </a:r>
            <a:r>
              <a:rPr lang="zh-CN" altLang="en-US" sz="2400"/>
              <a:t>年，彼得森发表了一篇奠定他图论历史地位的长达</a:t>
            </a:r>
            <a:r>
              <a:rPr lang="en-US" altLang="zh-CN" sz="2400"/>
              <a:t>28</a:t>
            </a:r>
            <a:r>
              <a:rPr lang="zh-CN" altLang="en-US" sz="2400"/>
              <a:t>页的论文。这篇文章被公认是第一篇包含图论基本结论的文章。同时也是第一次在文章中使用“图”术语。</a:t>
            </a:r>
            <a:endParaRPr lang="zh-CN" altLang="en-US" sz="2400"/>
          </a:p>
          <a:p>
            <a:pPr>
              <a:spcBef>
                <a:spcPct val="20000"/>
              </a:spcBef>
            </a:pPr>
            <a:r>
              <a:rPr lang="en-US" altLang="zh-CN" sz="2400"/>
              <a:t>1898</a:t>
            </a:r>
            <a:r>
              <a:rPr lang="zh-CN" altLang="en-US" sz="2400"/>
              <a:t>年，彼得森又发表了一篇只有</a:t>
            </a:r>
            <a:r>
              <a:rPr lang="en-US" altLang="zh-CN" sz="2400"/>
              <a:t>3</a:t>
            </a:r>
            <a:r>
              <a:rPr lang="zh-CN" altLang="en-US" sz="2400"/>
              <a:t>页的论文，在这篇文章中，为举反例构造了著名的彼得森图。</a:t>
            </a:r>
            <a:endParaRPr lang="zh-CN" altLang="en-US" sz="2400"/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endParaRPr lang="en-US" altLang="zh-CN"/>
          </a:p>
        </p:txBody>
      </p:sp>
      <p:sp>
        <p:nvSpPr>
          <p:cNvPr id="2253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zh-CN" altLang="en-US"/>
              <a:t>例  设</a:t>
            </a:r>
            <a:r>
              <a:rPr lang="en-US" altLang="zh-CN" i="1"/>
              <a:t>G</a:t>
            </a:r>
            <a:r>
              <a:rPr lang="zh-CN" altLang="en-US"/>
              <a:t>为</a:t>
            </a:r>
            <a:r>
              <a:rPr lang="en-US" altLang="zh-CN" i="1"/>
              <a:t>n</a:t>
            </a:r>
            <a:r>
              <a:rPr lang="zh-CN" altLang="en-US"/>
              <a:t>阶无向连通简单图</a:t>
            </a:r>
            <a:r>
              <a:rPr lang="en-US" altLang="zh-CN"/>
              <a:t>, </a:t>
            </a:r>
            <a:r>
              <a:rPr lang="zh-CN" altLang="en-US"/>
              <a:t>若</a:t>
            </a:r>
            <a:r>
              <a:rPr lang="en-US" altLang="zh-CN" i="1"/>
              <a:t>G</a:t>
            </a:r>
            <a:r>
              <a:rPr lang="zh-CN" altLang="en-US"/>
              <a:t>中有割点或桥</a:t>
            </a:r>
            <a:r>
              <a:rPr lang="en-US" altLang="zh-CN"/>
              <a:t>, </a:t>
            </a:r>
            <a:r>
              <a:rPr lang="zh-CN" altLang="en-US"/>
              <a:t>则</a:t>
            </a:r>
            <a:r>
              <a:rPr lang="en-US" altLang="zh-CN" i="1"/>
              <a:t>G</a:t>
            </a:r>
            <a:r>
              <a:rPr lang="zh-CN" altLang="en-US"/>
              <a:t>不是哈密顿图</a:t>
            </a:r>
            <a:r>
              <a:rPr lang="en-US" altLang="zh-CN"/>
              <a:t>.</a:t>
            </a:r>
            <a:endParaRPr lang="en-US" altLang="zh-CN"/>
          </a:p>
          <a:p>
            <a:pPr algn="just">
              <a:buNone/>
            </a:pPr>
            <a:r>
              <a:rPr lang="zh-CN" altLang="en-US">
                <a:solidFill>
                  <a:schemeClr val="tx2"/>
                </a:solidFill>
              </a:rPr>
              <a:t>证</a:t>
            </a:r>
            <a:r>
              <a:rPr lang="zh-CN" altLang="en-US">
                <a:solidFill>
                  <a:schemeClr val="folHlink"/>
                </a:solidFill>
              </a:rPr>
              <a:t>  </a:t>
            </a:r>
            <a:r>
              <a:rPr lang="en-US" altLang="zh-CN">
                <a:solidFill>
                  <a:schemeClr val="folHlink"/>
                </a:solidFill>
              </a:rPr>
              <a:t>(1) </a:t>
            </a:r>
            <a:r>
              <a:rPr lang="zh-CN" altLang="en-US">
                <a:solidFill>
                  <a:schemeClr val="folHlink"/>
                </a:solidFill>
              </a:rPr>
              <a:t>设</a:t>
            </a:r>
            <a:r>
              <a:rPr lang="en-US" altLang="zh-CN" i="1">
                <a:solidFill>
                  <a:schemeClr val="folHlink"/>
                </a:solidFill>
              </a:rPr>
              <a:t>v</a:t>
            </a:r>
            <a:r>
              <a:rPr lang="zh-CN" altLang="en-US">
                <a:solidFill>
                  <a:schemeClr val="folHlink"/>
                </a:solidFill>
              </a:rPr>
              <a:t>为割点</a:t>
            </a:r>
            <a:r>
              <a:rPr lang="en-US" altLang="zh-CN">
                <a:solidFill>
                  <a:schemeClr val="folHlink"/>
                </a:solidFill>
              </a:rPr>
              <a:t>, </a:t>
            </a:r>
            <a:r>
              <a:rPr lang="zh-CN" altLang="en-US">
                <a:solidFill>
                  <a:schemeClr val="folHlink"/>
                </a:solidFill>
              </a:rPr>
              <a:t>则</a:t>
            </a:r>
            <a:r>
              <a:rPr lang="en-US" altLang="zh-CN" i="1">
                <a:solidFill>
                  <a:schemeClr val="folHlink"/>
                </a:solidFill>
              </a:rPr>
              <a:t>p</a:t>
            </a:r>
            <a:r>
              <a:rPr lang="en-US" altLang="zh-CN">
                <a:solidFill>
                  <a:schemeClr val="folHlink"/>
                </a:solidFill>
              </a:rPr>
              <a:t>(</a:t>
            </a:r>
            <a:r>
              <a:rPr lang="en-US" altLang="zh-CN" i="1">
                <a:solidFill>
                  <a:schemeClr val="folHlink"/>
                </a:solidFill>
              </a:rPr>
              <a:t>G</a:t>
            </a:r>
            <a:r>
              <a:rPr lang="en-US" altLang="zh-CN">
                <a:solidFill>
                  <a:schemeClr val="folHlink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>
                <a:solidFill>
                  <a:schemeClr val="folHlink"/>
                </a:solidFill>
              </a:rPr>
              <a:t>v</a:t>
            </a:r>
            <a:r>
              <a:rPr lang="en-US" altLang="zh-CN">
                <a:solidFill>
                  <a:schemeClr val="folHlink"/>
                </a:solidFill>
              </a:rPr>
              <a:t>) </a:t>
            </a:r>
            <a:r>
              <a:rPr lang="en-US" altLang="zh-CN">
                <a:solidFill>
                  <a:schemeClr val="folHlink"/>
                </a:solidFill>
                <a:sym typeface="Symbol" panose="05050102010706020507" pitchFamily="18" charset="2"/>
              </a:rPr>
              <a:t></a:t>
            </a:r>
            <a:r>
              <a:rPr lang="en-US" altLang="zh-CN">
                <a:solidFill>
                  <a:schemeClr val="folHlink"/>
                </a:solidFill>
              </a:rPr>
              <a:t> 2&gt;|{</a:t>
            </a:r>
            <a:r>
              <a:rPr lang="en-US" altLang="zh-CN" i="1">
                <a:solidFill>
                  <a:schemeClr val="folHlink"/>
                </a:solidFill>
              </a:rPr>
              <a:t>v</a:t>
            </a:r>
            <a:r>
              <a:rPr lang="en-US" altLang="zh-CN">
                <a:solidFill>
                  <a:schemeClr val="folHlink"/>
                </a:solidFill>
              </a:rPr>
              <a:t>}|=1. </a:t>
            </a:r>
            <a:r>
              <a:rPr lang="zh-CN" altLang="en-US">
                <a:solidFill>
                  <a:schemeClr val="folHlink"/>
                </a:solidFill>
              </a:rPr>
              <a:t>根据定理</a:t>
            </a:r>
            <a:r>
              <a:rPr lang="en-US" altLang="zh-CN">
                <a:solidFill>
                  <a:schemeClr val="folHlink"/>
                </a:solidFill>
              </a:rPr>
              <a:t>8.6, </a:t>
            </a:r>
            <a:r>
              <a:rPr lang="en-US" altLang="zh-CN" i="1">
                <a:solidFill>
                  <a:schemeClr val="folHlink"/>
                </a:solidFill>
              </a:rPr>
              <a:t>G</a:t>
            </a:r>
            <a:r>
              <a:rPr lang="zh-CN" altLang="en-US">
                <a:solidFill>
                  <a:schemeClr val="folHlink"/>
                </a:solidFill>
              </a:rPr>
              <a:t>不是哈密顿图</a:t>
            </a:r>
            <a:r>
              <a:rPr lang="en-US" altLang="zh-CN">
                <a:solidFill>
                  <a:schemeClr val="folHlink"/>
                </a:solidFill>
              </a:rPr>
              <a:t>.</a:t>
            </a:r>
            <a:endParaRPr lang="en-US" altLang="zh-CN">
              <a:solidFill>
                <a:schemeClr val="folHlink"/>
              </a:solidFill>
            </a:endParaRPr>
          </a:p>
          <a:p>
            <a:pPr>
              <a:buNone/>
            </a:pPr>
            <a:r>
              <a:rPr lang="en-US" altLang="zh-CN" i="1">
                <a:solidFill>
                  <a:schemeClr val="folHlink"/>
                </a:solidFill>
              </a:rPr>
              <a:t>   </a:t>
            </a:r>
            <a:r>
              <a:rPr lang="en-US" altLang="zh-CN">
                <a:solidFill>
                  <a:schemeClr val="folHlink"/>
                </a:solidFill>
              </a:rPr>
              <a:t>(2) </a:t>
            </a:r>
            <a:r>
              <a:rPr lang="zh-CN" altLang="en-US">
                <a:solidFill>
                  <a:schemeClr val="folHlink"/>
                </a:solidFill>
              </a:rPr>
              <a:t>若</a:t>
            </a:r>
            <a:r>
              <a:rPr lang="en-US" altLang="zh-CN" i="1">
                <a:solidFill>
                  <a:schemeClr val="folHlink"/>
                </a:solidFill>
              </a:rPr>
              <a:t>G</a:t>
            </a:r>
            <a:r>
              <a:rPr lang="zh-CN" altLang="en-US">
                <a:solidFill>
                  <a:schemeClr val="folHlink"/>
                </a:solidFill>
              </a:rPr>
              <a:t>是</a:t>
            </a:r>
            <a:r>
              <a:rPr lang="en-US" altLang="zh-CN" i="1">
                <a:solidFill>
                  <a:schemeClr val="folHlink"/>
                </a:solidFill>
              </a:rPr>
              <a:t>K</a:t>
            </a:r>
            <a:r>
              <a:rPr lang="en-US" altLang="zh-CN" baseline="-30000">
                <a:solidFill>
                  <a:schemeClr val="folHlink"/>
                </a:solidFill>
              </a:rPr>
              <a:t>2</a:t>
            </a:r>
            <a:r>
              <a:rPr lang="en-US" altLang="zh-CN">
                <a:solidFill>
                  <a:schemeClr val="folHlink"/>
                </a:solidFill>
              </a:rPr>
              <a:t>(</a:t>
            </a:r>
            <a:r>
              <a:rPr lang="en-US" altLang="zh-CN" i="1">
                <a:solidFill>
                  <a:schemeClr val="folHlink"/>
                </a:solidFill>
              </a:rPr>
              <a:t>K</a:t>
            </a:r>
            <a:r>
              <a:rPr lang="en-US" altLang="zh-CN" baseline="-30000">
                <a:solidFill>
                  <a:schemeClr val="folHlink"/>
                </a:solidFill>
              </a:rPr>
              <a:t>2</a:t>
            </a:r>
            <a:r>
              <a:rPr lang="zh-CN" altLang="en-US">
                <a:solidFill>
                  <a:schemeClr val="folHlink"/>
                </a:solidFill>
              </a:rPr>
              <a:t>有桥</a:t>
            </a:r>
            <a:r>
              <a:rPr lang="en-US" altLang="zh-CN">
                <a:solidFill>
                  <a:schemeClr val="folHlink"/>
                </a:solidFill>
              </a:rPr>
              <a:t>), </a:t>
            </a:r>
            <a:r>
              <a:rPr lang="zh-CN" altLang="en-US">
                <a:solidFill>
                  <a:schemeClr val="folHlink"/>
                </a:solidFill>
              </a:rPr>
              <a:t>它显然不是哈密顿图</a:t>
            </a:r>
            <a:r>
              <a:rPr lang="en-US" altLang="zh-CN">
                <a:solidFill>
                  <a:schemeClr val="folHlink"/>
                </a:solidFill>
              </a:rPr>
              <a:t>. </a:t>
            </a:r>
            <a:r>
              <a:rPr lang="zh-CN" altLang="en-US">
                <a:solidFill>
                  <a:schemeClr val="folHlink"/>
                </a:solidFill>
              </a:rPr>
              <a:t>除</a:t>
            </a:r>
            <a:r>
              <a:rPr lang="en-US" altLang="zh-CN" i="1">
                <a:solidFill>
                  <a:schemeClr val="folHlink"/>
                </a:solidFill>
              </a:rPr>
              <a:t>K</a:t>
            </a:r>
            <a:r>
              <a:rPr lang="en-US" altLang="zh-CN" baseline="-30000">
                <a:solidFill>
                  <a:schemeClr val="folHlink"/>
                </a:solidFill>
              </a:rPr>
              <a:t>2</a:t>
            </a:r>
            <a:r>
              <a:rPr lang="zh-CN" altLang="en-US">
                <a:solidFill>
                  <a:schemeClr val="folHlink"/>
                </a:solidFill>
              </a:rPr>
              <a:t>外</a:t>
            </a:r>
            <a:r>
              <a:rPr lang="en-US" altLang="zh-CN">
                <a:solidFill>
                  <a:schemeClr val="folHlink"/>
                </a:solidFill>
              </a:rPr>
              <a:t>, </a:t>
            </a:r>
            <a:r>
              <a:rPr lang="zh-CN" altLang="en-US">
                <a:solidFill>
                  <a:schemeClr val="folHlink"/>
                </a:solidFill>
              </a:rPr>
              <a:t>其他的有桥连通图均有割点</a:t>
            </a:r>
            <a:r>
              <a:rPr lang="en-US" altLang="zh-CN">
                <a:solidFill>
                  <a:schemeClr val="folHlink"/>
                </a:solidFill>
              </a:rPr>
              <a:t>. </a:t>
            </a:r>
            <a:r>
              <a:rPr lang="zh-CN" altLang="en-US">
                <a:solidFill>
                  <a:schemeClr val="folHlink"/>
                </a:solidFill>
              </a:rPr>
              <a:t>由</a:t>
            </a:r>
            <a:r>
              <a:rPr lang="en-US" altLang="zh-CN">
                <a:solidFill>
                  <a:schemeClr val="folHlink"/>
                </a:solidFill>
              </a:rPr>
              <a:t>(1), </a:t>
            </a:r>
            <a:r>
              <a:rPr lang="zh-CN" altLang="en-US">
                <a:solidFill>
                  <a:schemeClr val="folHlink"/>
                </a:solidFill>
              </a:rPr>
              <a:t>得证</a:t>
            </a:r>
            <a:r>
              <a:rPr lang="en-US" altLang="zh-CN" i="1">
                <a:solidFill>
                  <a:schemeClr val="folHlink"/>
                </a:solidFill>
              </a:rPr>
              <a:t>G</a:t>
            </a:r>
            <a:r>
              <a:rPr lang="zh-CN" altLang="en-US">
                <a:solidFill>
                  <a:schemeClr val="folHlink"/>
                </a:solidFill>
              </a:rPr>
              <a:t>不是哈密顿图</a:t>
            </a:r>
            <a:r>
              <a:rPr lang="en-US" altLang="zh-CN">
                <a:solidFill>
                  <a:schemeClr val="folHlink"/>
                </a:solidFill>
              </a:rPr>
              <a:t>.</a:t>
            </a:r>
            <a:endParaRPr lang="zh-CN" altLang="en-US"/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37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90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无向</a:t>
            </a:r>
            <a:r>
              <a:rPr lang="zh-CN" altLang="en-US">
                <a:solidFill>
                  <a:srgbClr val="FF00FF"/>
                </a:solidFill>
              </a:rPr>
              <a:t>半</a:t>
            </a:r>
            <a:r>
              <a:rPr lang="zh-CN" altLang="en-US"/>
              <a:t>哈密顿图的充分条件</a:t>
            </a:r>
            <a:endParaRPr lang="zh-CN" altLang="en-US"/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8.7: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en-US" altLang="zh-CN" i="1"/>
              <a:t>n</a:t>
            </a:r>
            <a:r>
              <a:rPr lang="en-US" altLang="zh-CN"/>
              <a:t>(≥2)</a:t>
            </a:r>
            <a:r>
              <a:rPr lang="zh-CN" altLang="en-US"/>
              <a:t>阶无向简单图</a:t>
            </a:r>
            <a:r>
              <a:rPr lang="en-US" altLang="zh-CN"/>
              <a:t>,</a:t>
            </a:r>
            <a:r>
              <a:rPr lang="zh-CN" altLang="en-US"/>
              <a:t>若对</a:t>
            </a:r>
            <a:r>
              <a:rPr lang="en-US" altLang="zh-CN"/>
              <a:t>G</a:t>
            </a:r>
            <a:r>
              <a:rPr lang="zh-CN" altLang="en-US"/>
              <a:t>中任意不相邻顶点</a:t>
            </a:r>
            <a:r>
              <a:rPr lang="en-US" altLang="zh-CN" i="1"/>
              <a:t>u</a:t>
            </a:r>
            <a:r>
              <a:rPr lang="zh-CN" altLang="en-US"/>
              <a:t>与</a:t>
            </a:r>
            <a:r>
              <a:rPr lang="en-US" altLang="zh-CN" i="1"/>
              <a:t>v</a:t>
            </a:r>
            <a:r>
              <a:rPr lang="zh-CN" altLang="en-US"/>
              <a:t>有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                        d(</a:t>
            </a:r>
            <a:r>
              <a:rPr lang="en-US" altLang="zh-CN" i="1"/>
              <a:t>u</a:t>
            </a:r>
            <a:r>
              <a:rPr lang="en-US" altLang="zh-CN"/>
              <a:t>)+d(</a:t>
            </a:r>
            <a:r>
              <a:rPr lang="en-US" altLang="zh-CN" i="1"/>
              <a:t>v</a:t>
            </a:r>
            <a:r>
              <a:rPr lang="en-US" altLang="zh-CN"/>
              <a:t>)≥</a:t>
            </a:r>
            <a:r>
              <a:rPr lang="en-US" altLang="zh-CN" i="1"/>
              <a:t>n</a:t>
            </a:r>
            <a:r>
              <a:rPr lang="en-US" altLang="zh-CN"/>
              <a:t>-1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     则</a:t>
            </a:r>
            <a:r>
              <a:rPr lang="en-US" altLang="zh-CN"/>
              <a:t>G</a:t>
            </a:r>
            <a:r>
              <a:rPr lang="zh-CN" altLang="en-US"/>
              <a:t>中存在哈密顿通路</a:t>
            </a:r>
            <a:r>
              <a:rPr lang="en-US" altLang="zh-CN"/>
              <a:t>.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(1) G</a:t>
            </a:r>
            <a:r>
              <a:rPr lang="zh-CN" altLang="en-US"/>
              <a:t>连通</a:t>
            </a:r>
            <a:r>
              <a:rPr lang="en-US" altLang="zh-CN"/>
              <a:t>(</a:t>
            </a:r>
            <a:r>
              <a:rPr lang="zh-CN" altLang="en-US"/>
              <a:t>反证法）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(2) </a:t>
            </a:r>
            <a:r>
              <a:rPr lang="zh-CN" altLang="en-US"/>
              <a:t>由极大路径得圈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(3) </a:t>
            </a:r>
            <a:r>
              <a:rPr lang="zh-CN" altLang="en-US"/>
              <a:t>由圈得更长路径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   路径</a:t>
            </a:r>
            <a:r>
              <a:rPr lang="en-US" altLang="zh-CN"/>
              <a:t>--</a:t>
            </a:r>
            <a:r>
              <a:rPr lang="zh-CN" altLang="en-US"/>
              <a:t>极大路径</a:t>
            </a:r>
            <a:r>
              <a:rPr lang="en-US" altLang="zh-CN"/>
              <a:t>--</a:t>
            </a:r>
            <a:r>
              <a:rPr lang="zh-CN" altLang="en-US"/>
              <a:t>圈</a:t>
            </a:r>
            <a:r>
              <a:rPr lang="en-US" altLang="zh-CN"/>
              <a:t>--</a:t>
            </a:r>
            <a:r>
              <a:rPr lang="zh-CN" altLang="en-US"/>
              <a:t>更长路径</a:t>
            </a:r>
            <a:r>
              <a:rPr lang="en-US" altLang="zh-CN"/>
              <a:t>---</a:t>
            </a:r>
            <a:r>
              <a:rPr lang="zh-CN" altLang="en-US"/>
              <a:t>更长极大路径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  --</a:t>
            </a:r>
            <a:r>
              <a:rPr lang="zh-CN" altLang="en-US"/>
              <a:t>更长圈</a:t>
            </a:r>
            <a:r>
              <a:rPr lang="en-US" altLang="zh-CN"/>
              <a:t>--</a:t>
            </a:r>
            <a:r>
              <a:rPr lang="zh-CN" altLang="en-US"/>
              <a:t>更长路径</a:t>
            </a:r>
            <a:r>
              <a:rPr lang="en-US" altLang="zh-CN"/>
              <a:t>--……--</a:t>
            </a:r>
            <a:r>
              <a:rPr lang="zh-CN" altLang="en-US"/>
              <a:t>哈密顿通路</a:t>
            </a:r>
            <a:endParaRPr lang="zh-CN" altLang="en-US"/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charRg st="93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charRg st="110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charRg st="122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charRg st="134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charRg st="164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8.7</a:t>
            </a:r>
            <a:r>
              <a:rPr lang="zh-CN" altLang="en-US"/>
              <a:t>的证明</a:t>
            </a:r>
            <a:r>
              <a:rPr lang="en-US" altLang="zh-CN"/>
              <a:t>(1)</a:t>
            </a:r>
            <a:endParaRPr lang="en-US" altLang="zh-CN"/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223202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(1) </a:t>
            </a:r>
            <a:r>
              <a:rPr lang="zh-CN" altLang="en-US"/>
              <a:t>先证</a:t>
            </a:r>
            <a:r>
              <a:rPr lang="en-US" altLang="zh-CN"/>
              <a:t>G</a:t>
            </a:r>
            <a:r>
              <a:rPr lang="zh-CN" altLang="en-US"/>
              <a:t>连通</a:t>
            </a:r>
            <a:r>
              <a:rPr lang="en-US" altLang="zh-CN"/>
              <a:t>,</a:t>
            </a:r>
            <a:r>
              <a:rPr lang="zh-CN" altLang="en-US"/>
              <a:t>即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∀</a:t>
            </a:r>
            <a:r>
              <a:rPr lang="en-US" altLang="zh-CN" i="1"/>
              <a:t>u</a:t>
            </a:r>
            <a:r>
              <a:rPr lang="en-US" altLang="zh-CN"/>
              <a:t>∀</a:t>
            </a:r>
            <a:r>
              <a:rPr lang="en-US" altLang="zh-CN" i="1"/>
              <a:t>v</a:t>
            </a:r>
            <a:r>
              <a:rPr lang="en-US" altLang="zh-CN"/>
              <a:t>((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)∉</a:t>
            </a:r>
            <a:r>
              <a:rPr lang="en-US" altLang="zh-CN" i="1"/>
              <a:t>E</a:t>
            </a:r>
            <a:r>
              <a:rPr lang="en-US" altLang="zh-CN"/>
              <a:t>→∃</a:t>
            </a:r>
            <a:r>
              <a:rPr lang="en-US" altLang="zh-CN" i="1"/>
              <a:t>w</a:t>
            </a:r>
            <a:r>
              <a:rPr lang="en-US" altLang="zh-CN"/>
              <a:t>((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w</a:t>
            </a:r>
            <a:r>
              <a:rPr lang="en-US" altLang="zh-CN"/>
              <a:t>)∈E∧(</a:t>
            </a:r>
            <a:r>
              <a:rPr lang="en-US" altLang="zh-CN" i="1"/>
              <a:t>w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)∈E )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否则</a:t>
            </a:r>
            <a:r>
              <a:rPr lang="en-US" altLang="zh-CN"/>
              <a:t>,d(</a:t>
            </a:r>
            <a:r>
              <a:rPr lang="en-US" altLang="zh-CN" i="1"/>
              <a:t>u</a:t>
            </a:r>
            <a:r>
              <a:rPr lang="en-US" altLang="zh-CN"/>
              <a:t>)+d(</a:t>
            </a:r>
            <a:r>
              <a:rPr lang="en-US" altLang="zh-CN" i="1"/>
              <a:t>v</a:t>
            </a:r>
            <a:r>
              <a:rPr lang="en-US" altLang="zh-CN"/>
              <a:t>) </a:t>
            </a:r>
            <a:r>
              <a:rPr lang="en-US" altLang="ja-JP"/>
              <a:t>≤</a:t>
            </a:r>
            <a:r>
              <a:rPr lang="en-US" altLang="zh-CN" i="1"/>
              <a:t>n</a:t>
            </a:r>
            <a:r>
              <a:rPr lang="en-US" altLang="zh-CN"/>
              <a:t>-2,</a:t>
            </a:r>
            <a:r>
              <a:rPr lang="zh-CN" altLang="en-US"/>
              <a:t>矛盾</a:t>
            </a:r>
            <a:r>
              <a:rPr lang="en-US" altLang="zh-CN"/>
              <a:t>.</a:t>
            </a:r>
            <a:endParaRPr lang="en-US" altLang="zh-CN"/>
          </a:p>
        </p:txBody>
      </p:sp>
      <p:grpSp>
        <p:nvGrpSpPr>
          <p:cNvPr id="25603" name="组 3"/>
          <p:cNvGrpSpPr/>
          <p:nvPr/>
        </p:nvGrpSpPr>
        <p:grpSpPr>
          <a:xfrm>
            <a:off x="827088" y="3357563"/>
            <a:ext cx="3224212" cy="2303462"/>
            <a:chOff x="4546998" y="2852738"/>
            <a:chExt cx="3223684" cy="2303462"/>
          </a:xfrm>
        </p:grpSpPr>
        <p:grpSp>
          <p:nvGrpSpPr>
            <p:cNvPr id="25604" name="Group 24"/>
            <p:cNvGrpSpPr/>
            <p:nvPr/>
          </p:nvGrpSpPr>
          <p:grpSpPr>
            <a:xfrm>
              <a:off x="4932363" y="2852738"/>
              <a:ext cx="2447925" cy="2303462"/>
              <a:chOff x="3152" y="1525"/>
              <a:chExt cx="1542" cy="1451"/>
            </a:xfrm>
          </p:grpSpPr>
          <p:sp>
            <p:nvSpPr>
              <p:cNvPr id="25605" name="Oval 7"/>
              <p:cNvSpPr/>
              <p:nvPr/>
            </p:nvSpPr>
            <p:spPr>
              <a:xfrm>
                <a:off x="3152" y="2024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06" name="Oval 8"/>
              <p:cNvSpPr/>
              <p:nvPr/>
            </p:nvSpPr>
            <p:spPr>
              <a:xfrm>
                <a:off x="4558" y="2024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07" name="Oval 10"/>
              <p:cNvSpPr/>
              <p:nvPr/>
            </p:nvSpPr>
            <p:spPr>
              <a:xfrm>
                <a:off x="3833" y="1616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08" name="Oval 11"/>
              <p:cNvSpPr/>
              <p:nvPr/>
            </p:nvSpPr>
            <p:spPr>
              <a:xfrm>
                <a:off x="3833" y="1842"/>
                <a:ext cx="136" cy="136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09" name="Oval 12"/>
              <p:cNvSpPr/>
              <p:nvPr/>
            </p:nvSpPr>
            <p:spPr>
              <a:xfrm>
                <a:off x="3833" y="2115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10" name="Oval 13"/>
              <p:cNvSpPr/>
              <p:nvPr/>
            </p:nvSpPr>
            <p:spPr>
              <a:xfrm>
                <a:off x="3833" y="2704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11" name="Oval 14"/>
              <p:cNvSpPr/>
              <p:nvPr/>
            </p:nvSpPr>
            <p:spPr>
              <a:xfrm>
                <a:off x="3833" y="2477"/>
                <a:ext cx="136" cy="13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12" name="Text Box 16"/>
              <p:cNvSpPr txBox="1"/>
              <p:nvPr/>
            </p:nvSpPr>
            <p:spPr>
              <a:xfrm>
                <a:off x="3797" y="2242"/>
                <a:ext cx="34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latin typeface="Tahoma" panose="020B0604030504040204" pitchFamily="34" charset="0"/>
                    <a:ea typeface="宋体" panose="02010600030101010101" pitchFamily="2" charset="-122"/>
                  </a:rPr>
                  <a:t>…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13" name="Rectangle 17"/>
              <p:cNvSpPr/>
              <p:nvPr/>
            </p:nvSpPr>
            <p:spPr>
              <a:xfrm>
                <a:off x="3696" y="1525"/>
                <a:ext cx="409" cy="145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14" name="Line 18"/>
              <p:cNvSpPr/>
              <p:nvPr/>
            </p:nvSpPr>
            <p:spPr>
              <a:xfrm flipV="1">
                <a:off x="3243" y="1706"/>
                <a:ext cx="590" cy="36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5" name="Line 19"/>
              <p:cNvSpPr/>
              <p:nvPr/>
            </p:nvSpPr>
            <p:spPr>
              <a:xfrm flipV="1">
                <a:off x="3288" y="1933"/>
                <a:ext cx="545" cy="1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6" name="Line 20"/>
              <p:cNvSpPr/>
              <p:nvPr/>
            </p:nvSpPr>
            <p:spPr>
              <a:xfrm>
                <a:off x="3243" y="2115"/>
                <a:ext cx="590" cy="40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7" name="Line 22"/>
              <p:cNvSpPr/>
              <p:nvPr/>
            </p:nvSpPr>
            <p:spPr>
              <a:xfrm flipV="1">
                <a:off x="3969" y="2115"/>
                <a:ext cx="635" cy="4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8" name="Line 23"/>
              <p:cNvSpPr/>
              <p:nvPr/>
            </p:nvSpPr>
            <p:spPr>
              <a:xfrm flipV="1">
                <a:off x="3969" y="2160"/>
                <a:ext cx="635" cy="59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" name="矩形 2"/>
            <p:cNvSpPr/>
            <p:nvPr/>
          </p:nvSpPr>
          <p:spPr>
            <a:xfrm>
              <a:off x="4546998" y="3409950"/>
              <a:ext cx="385699" cy="5238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u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7427838" y="3500438"/>
              <a:ext cx="342844" cy="5238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v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6202489" y="2997200"/>
              <a:ext cx="423794" cy="5222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rPr>
                <a:t>w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5622" name="直线连接符 5"/>
          <p:cNvCxnSpPr>
            <a:stCxn id="25608" idx="6"/>
            <a:endCxn id="25606" idx="1"/>
          </p:cNvCxnSpPr>
          <p:nvPr/>
        </p:nvCxnSpPr>
        <p:spPr>
          <a:xfrm>
            <a:off x="2509838" y="3968750"/>
            <a:ext cx="966787" cy="212725"/>
          </a:xfrm>
          <a:prstGeom prst="line">
            <a:avLst/>
          </a:prstGeom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(2) </a:t>
            </a:r>
            <a:r>
              <a:rPr lang="zh-CN" altLang="en-US"/>
              <a:t>由极大路径得圈</a:t>
            </a:r>
            <a:r>
              <a:rPr lang="en-US" altLang="zh-CN"/>
              <a:t>. </a:t>
            </a:r>
            <a:r>
              <a:rPr lang="zh-CN" altLang="en-US"/>
              <a:t>设极大路径</a:t>
            </a:r>
            <a:r>
              <a:rPr lang="en-US" altLang="zh-CN"/>
              <a:t>Γ=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…</a:t>
            </a:r>
            <a:r>
              <a:rPr lang="en-US" altLang="zh-CN" i="1"/>
              <a:t>v</a:t>
            </a:r>
            <a:r>
              <a:rPr lang="en-US" altLang="zh-CN" i="1" baseline="-25000"/>
              <a:t>k</a:t>
            </a:r>
            <a:r>
              <a:rPr lang="en-US" altLang="zh-CN"/>
              <a:t>, </a:t>
            </a:r>
            <a:r>
              <a:rPr lang="en-US" altLang="zh-CN" i="1"/>
              <a:t>k</a:t>
            </a:r>
            <a:r>
              <a:rPr lang="en-US" altLang="zh-CN"/>
              <a:t>≤</a:t>
            </a:r>
            <a:r>
              <a:rPr lang="en-US" altLang="zh-CN" i="1"/>
              <a:t>n</a:t>
            </a:r>
            <a:r>
              <a:rPr lang="en-US" altLang="zh-CN"/>
              <a:t>-2.   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a)</a:t>
            </a:r>
            <a:r>
              <a:rPr lang="zh-CN" altLang="en-US"/>
              <a:t>若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i="1" baseline="-25000"/>
              <a:t>k</a:t>
            </a:r>
            <a:r>
              <a:rPr lang="en-US" altLang="zh-CN"/>
              <a:t>)∈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zh-CN" altLang="en-US"/>
              <a:t>则得圈</a:t>
            </a:r>
            <a:r>
              <a:rPr lang="en-US" altLang="zh-CN"/>
              <a:t>C=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…</a:t>
            </a:r>
            <a:r>
              <a:rPr lang="en-US" altLang="zh-CN" i="1"/>
              <a:t>v</a:t>
            </a:r>
            <a:r>
              <a:rPr lang="en-US" altLang="zh-CN" i="1" baseline="-25000"/>
              <a:t>k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. 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b)</a:t>
            </a:r>
            <a:r>
              <a:rPr lang="zh-CN" altLang="en-US"/>
              <a:t>若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i="1" baseline="-25000"/>
              <a:t>k</a:t>
            </a:r>
            <a:r>
              <a:rPr lang="en-US" altLang="zh-CN"/>
              <a:t>)∉E,</a:t>
            </a:r>
            <a:r>
              <a:rPr lang="zh-CN" altLang="en-US"/>
              <a:t>则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∃</a:t>
            </a:r>
            <a:r>
              <a:rPr lang="en-US" altLang="zh-CN" i="1"/>
              <a:t>i</a:t>
            </a:r>
            <a:r>
              <a:rPr lang="en-US" altLang="zh-CN"/>
              <a:t>( 1≤</a:t>
            </a:r>
            <a:r>
              <a:rPr lang="en-US" altLang="zh-CN" i="1"/>
              <a:t>i</a:t>
            </a:r>
            <a:r>
              <a:rPr lang="en-US" altLang="zh-CN"/>
              <a:t>≤</a:t>
            </a:r>
            <a:r>
              <a:rPr lang="en-US" altLang="zh-CN" i="1"/>
              <a:t>k</a:t>
            </a:r>
            <a:r>
              <a:rPr lang="en-US" altLang="zh-CN"/>
              <a:t>-1∧(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i="1" baseline="-25000"/>
              <a:t>k</a:t>
            </a:r>
            <a:r>
              <a:rPr lang="en-US" altLang="zh-CN"/>
              <a:t>)∈E∧(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+1</a:t>
            </a:r>
            <a:r>
              <a:rPr lang="en-US" altLang="zh-CN"/>
              <a:t>)∈E ),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否则</a:t>
            </a:r>
            <a:r>
              <a:rPr lang="en-US" altLang="zh-CN"/>
              <a:t>, d(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)+d(</a:t>
            </a:r>
            <a:r>
              <a:rPr lang="en-US" altLang="zh-CN" i="1"/>
              <a:t>v</a:t>
            </a:r>
            <a:r>
              <a:rPr lang="en-US" altLang="zh-CN" i="1" baseline="-25000"/>
              <a:t>k</a:t>
            </a:r>
            <a:r>
              <a:rPr lang="en-US" altLang="zh-CN"/>
              <a:t>)≤d(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)+</a:t>
            </a:r>
            <a:r>
              <a:rPr lang="en-US" altLang="zh-CN" i="1"/>
              <a:t>k</a:t>
            </a:r>
            <a:r>
              <a:rPr lang="en-US" altLang="zh-CN"/>
              <a:t>-1-(d(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)-1)=</a:t>
            </a:r>
            <a:r>
              <a:rPr lang="en-US" altLang="zh-CN" i="1"/>
              <a:t>k</a:t>
            </a:r>
            <a:r>
              <a:rPr lang="en-US" altLang="zh-CN"/>
              <a:t>≤</a:t>
            </a:r>
            <a:r>
              <a:rPr lang="en-US" altLang="zh-CN" i="1"/>
              <a:t>n</a:t>
            </a:r>
            <a:r>
              <a:rPr lang="en-US" altLang="zh-CN"/>
              <a:t>-2,</a:t>
            </a:r>
            <a:r>
              <a:rPr lang="zh-CN" altLang="en-US"/>
              <a:t>矛盾</a:t>
            </a:r>
            <a:r>
              <a:rPr lang="en-US" altLang="zh-CN"/>
              <a:t>. 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于是得圈</a:t>
            </a:r>
            <a:r>
              <a:rPr lang="en-US" altLang="zh-CN"/>
              <a:t>C=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…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i="1"/>
              <a:t>v</a:t>
            </a:r>
            <a:r>
              <a:rPr lang="en-US" altLang="zh-CN" i="1" baseline="-25000"/>
              <a:t>k</a:t>
            </a:r>
            <a:r>
              <a:rPr lang="en-US" altLang="zh-CN" i="1"/>
              <a:t>v</a:t>
            </a:r>
            <a:r>
              <a:rPr lang="en-US" altLang="zh-CN" i="1" baseline="-25000"/>
              <a:t>k</a:t>
            </a:r>
            <a:r>
              <a:rPr lang="en-US" altLang="zh-CN" baseline="-25000"/>
              <a:t>-1</a:t>
            </a:r>
            <a:r>
              <a:rPr lang="en-US" altLang="zh-CN"/>
              <a:t>…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+1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. </a:t>
            </a:r>
            <a:endParaRPr lang="zh-CN" altLang="en-US"/>
          </a:p>
        </p:txBody>
      </p:sp>
      <p:sp>
        <p:nvSpPr>
          <p:cNvPr id="27650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8.7</a:t>
            </a:r>
            <a:r>
              <a:rPr lang="zh-CN" altLang="en-US"/>
              <a:t>的证明</a:t>
            </a:r>
            <a:r>
              <a:rPr lang="en-US" altLang="zh-CN"/>
              <a:t>(2)</a:t>
            </a:r>
            <a:endParaRPr lang="en-US" altLang="zh-CN"/>
          </a:p>
        </p:txBody>
      </p:sp>
      <p:grpSp>
        <p:nvGrpSpPr>
          <p:cNvPr id="27651" name="Group 60"/>
          <p:cNvGrpSpPr/>
          <p:nvPr/>
        </p:nvGrpSpPr>
        <p:grpSpPr>
          <a:xfrm>
            <a:off x="838200" y="4699000"/>
            <a:ext cx="6170613" cy="601663"/>
            <a:chOff x="528" y="3158"/>
            <a:chExt cx="3887" cy="379"/>
          </a:xfrm>
        </p:grpSpPr>
        <p:sp>
          <p:nvSpPr>
            <p:cNvPr id="27652" name="Oval 7"/>
            <p:cNvSpPr/>
            <p:nvPr/>
          </p:nvSpPr>
          <p:spPr>
            <a:xfrm>
              <a:off x="657" y="344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3" name="Oval 8"/>
            <p:cNvSpPr/>
            <p:nvPr/>
          </p:nvSpPr>
          <p:spPr>
            <a:xfrm>
              <a:off x="975" y="344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4" name="Oval 9"/>
            <p:cNvSpPr/>
            <p:nvPr/>
          </p:nvSpPr>
          <p:spPr>
            <a:xfrm>
              <a:off x="1293" y="344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5" name="Oval 10"/>
            <p:cNvSpPr/>
            <p:nvPr/>
          </p:nvSpPr>
          <p:spPr>
            <a:xfrm>
              <a:off x="1610" y="344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6" name="Oval 11"/>
            <p:cNvSpPr/>
            <p:nvPr/>
          </p:nvSpPr>
          <p:spPr>
            <a:xfrm>
              <a:off x="1927" y="344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7" name="Oval 12"/>
            <p:cNvSpPr/>
            <p:nvPr/>
          </p:nvSpPr>
          <p:spPr>
            <a:xfrm>
              <a:off x="2245" y="344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8" name="Text Box 13"/>
            <p:cNvSpPr txBox="1"/>
            <p:nvPr/>
          </p:nvSpPr>
          <p:spPr>
            <a:xfrm>
              <a:off x="528" y="315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59" name="Text Box 14"/>
            <p:cNvSpPr txBox="1"/>
            <p:nvPr/>
          </p:nvSpPr>
          <p:spPr>
            <a:xfrm>
              <a:off x="846" y="315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60" name="Text Box 15"/>
            <p:cNvSpPr txBox="1"/>
            <p:nvPr/>
          </p:nvSpPr>
          <p:spPr>
            <a:xfrm>
              <a:off x="1202" y="317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61" name="Text Box 16"/>
            <p:cNvSpPr txBox="1"/>
            <p:nvPr/>
          </p:nvSpPr>
          <p:spPr>
            <a:xfrm>
              <a:off x="2053" y="3174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62" name="Oval 17"/>
            <p:cNvSpPr/>
            <p:nvPr/>
          </p:nvSpPr>
          <p:spPr>
            <a:xfrm>
              <a:off x="2562" y="344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3" name="Text Box 19"/>
            <p:cNvSpPr txBox="1"/>
            <p:nvPr/>
          </p:nvSpPr>
          <p:spPr>
            <a:xfrm>
              <a:off x="2491" y="3174"/>
              <a:ext cx="3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i+</a:t>
              </a:r>
              <a:r>
                <a:rPr lang="en-US" altLang="zh-CN" sz="2400" baseline="-2500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64" name="Oval 20"/>
            <p:cNvSpPr/>
            <p:nvPr/>
          </p:nvSpPr>
          <p:spPr>
            <a:xfrm>
              <a:off x="2925" y="344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5" name="Oval 21"/>
            <p:cNvSpPr/>
            <p:nvPr/>
          </p:nvSpPr>
          <p:spPr>
            <a:xfrm>
              <a:off x="3243" y="344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6" name="Oval 22"/>
            <p:cNvSpPr/>
            <p:nvPr/>
          </p:nvSpPr>
          <p:spPr>
            <a:xfrm>
              <a:off x="3561" y="344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7" name="Oval 23"/>
            <p:cNvSpPr/>
            <p:nvPr/>
          </p:nvSpPr>
          <p:spPr>
            <a:xfrm>
              <a:off x="3878" y="344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8" name="Oval 24"/>
            <p:cNvSpPr/>
            <p:nvPr/>
          </p:nvSpPr>
          <p:spPr>
            <a:xfrm>
              <a:off x="4195" y="344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9" name="Text Box 25"/>
            <p:cNvSpPr txBox="1"/>
            <p:nvPr/>
          </p:nvSpPr>
          <p:spPr>
            <a:xfrm>
              <a:off x="4150" y="317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70" name="Line 26"/>
            <p:cNvSpPr/>
            <p:nvPr/>
          </p:nvSpPr>
          <p:spPr>
            <a:xfrm>
              <a:off x="748" y="3491"/>
              <a:ext cx="149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71" name="Line 27"/>
            <p:cNvSpPr/>
            <p:nvPr/>
          </p:nvSpPr>
          <p:spPr>
            <a:xfrm>
              <a:off x="2336" y="3491"/>
              <a:ext cx="272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72" name="Line 28"/>
            <p:cNvSpPr/>
            <p:nvPr/>
          </p:nvSpPr>
          <p:spPr>
            <a:xfrm>
              <a:off x="2653" y="3491"/>
              <a:ext cx="15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27673" name="AutoShape 31"/>
            <p:cNvCxnSpPr>
              <a:stCxn id="27652" idx="5"/>
              <a:endCxn id="27662" idx="4"/>
            </p:cNvCxnSpPr>
            <p:nvPr/>
          </p:nvCxnSpPr>
          <p:spPr>
            <a:xfrm rot="-5400000" flipH="1">
              <a:off x="1660" y="2589"/>
              <a:ext cx="13" cy="1873"/>
            </a:xfrm>
            <a:prstGeom prst="curvedConnector3">
              <a:avLst>
                <a:gd name="adj1" fmla="val 1200000"/>
              </a:avLst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74" name="AutoShape 33"/>
            <p:cNvCxnSpPr>
              <a:stCxn id="27657" idx="3"/>
              <a:endCxn id="27669" idx="2"/>
            </p:cNvCxnSpPr>
            <p:nvPr/>
          </p:nvCxnSpPr>
          <p:spPr>
            <a:xfrm rot="5400000" flipH="1" flipV="1">
              <a:off x="3234" y="2475"/>
              <a:ext cx="62" cy="2025"/>
            </a:xfrm>
            <a:prstGeom prst="curvedConnector3">
              <a:avLst>
                <a:gd name="adj1" fmla="val 514514"/>
              </a:avLst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675" name="Group 59"/>
          <p:cNvGrpSpPr/>
          <p:nvPr/>
        </p:nvGrpSpPr>
        <p:grpSpPr>
          <a:xfrm>
            <a:off x="827088" y="5732463"/>
            <a:ext cx="6170612" cy="603250"/>
            <a:chOff x="521" y="3748"/>
            <a:chExt cx="3887" cy="379"/>
          </a:xfrm>
        </p:grpSpPr>
        <p:sp>
          <p:nvSpPr>
            <p:cNvPr id="27676" name="Oval 36"/>
            <p:cNvSpPr/>
            <p:nvPr/>
          </p:nvSpPr>
          <p:spPr>
            <a:xfrm>
              <a:off x="650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7" name="Oval 37"/>
            <p:cNvSpPr/>
            <p:nvPr/>
          </p:nvSpPr>
          <p:spPr>
            <a:xfrm>
              <a:off x="968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8" name="Oval 38"/>
            <p:cNvSpPr/>
            <p:nvPr/>
          </p:nvSpPr>
          <p:spPr>
            <a:xfrm>
              <a:off x="1286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9" name="Oval 39"/>
            <p:cNvSpPr/>
            <p:nvPr/>
          </p:nvSpPr>
          <p:spPr>
            <a:xfrm>
              <a:off x="1603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0" name="Oval 40"/>
            <p:cNvSpPr/>
            <p:nvPr/>
          </p:nvSpPr>
          <p:spPr>
            <a:xfrm>
              <a:off x="1920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1" name="Oval 41"/>
            <p:cNvSpPr/>
            <p:nvPr/>
          </p:nvSpPr>
          <p:spPr>
            <a:xfrm>
              <a:off x="2238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2" name="Text Box 42"/>
            <p:cNvSpPr txBox="1"/>
            <p:nvPr/>
          </p:nvSpPr>
          <p:spPr>
            <a:xfrm>
              <a:off x="521" y="374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83" name="Text Box 43"/>
            <p:cNvSpPr txBox="1"/>
            <p:nvPr/>
          </p:nvSpPr>
          <p:spPr>
            <a:xfrm>
              <a:off x="839" y="374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84" name="Text Box 44"/>
            <p:cNvSpPr txBox="1"/>
            <p:nvPr/>
          </p:nvSpPr>
          <p:spPr>
            <a:xfrm>
              <a:off x="1195" y="376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85" name="Text Box 45"/>
            <p:cNvSpPr txBox="1"/>
            <p:nvPr/>
          </p:nvSpPr>
          <p:spPr>
            <a:xfrm>
              <a:off x="1966" y="3764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86" name="Oval 46"/>
            <p:cNvSpPr/>
            <p:nvPr/>
          </p:nvSpPr>
          <p:spPr>
            <a:xfrm>
              <a:off x="2555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7" name="Text Box 47"/>
            <p:cNvSpPr txBox="1"/>
            <p:nvPr/>
          </p:nvSpPr>
          <p:spPr>
            <a:xfrm>
              <a:off x="2507" y="3777"/>
              <a:ext cx="3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i+</a:t>
              </a:r>
              <a:r>
                <a:rPr lang="en-US" altLang="zh-CN" sz="2400" baseline="-2500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88" name="Oval 48"/>
            <p:cNvSpPr/>
            <p:nvPr/>
          </p:nvSpPr>
          <p:spPr>
            <a:xfrm>
              <a:off x="2918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9" name="Oval 49"/>
            <p:cNvSpPr/>
            <p:nvPr/>
          </p:nvSpPr>
          <p:spPr>
            <a:xfrm>
              <a:off x="3236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0" name="Oval 50"/>
            <p:cNvSpPr/>
            <p:nvPr/>
          </p:nvSpPr>
          <p:spPr>
            <a:xfrm>
              <a:off x="3554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1" name="Oval 51"/>
            <p:cNvSpPr/>
            <p:nvPr/>
          </p:nvSpPr>
          <p:spPr>
            <a:xfrm>
              <a:off x="3871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2" name="Oval 52"/>
            <p:cNvSpPr/>
            <p:nvPr/>
          </p:nvSpPr>
          <p:spPr>
            <a:xfrm>
              <a:off x="4188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3" name="Text Box 53"/>
            <p:cNvSpPr txBox="1"/>
            <p:nvPr/>
          </p:nvSpPr>
          <p:spPr>
            <a:xfrm>
              <a:off x="4143" y="376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94" name="Line 54"/>
            <p:cNvSpPr/>
            <p:nvPr/>
          </p:nvSpPr>
          <p:spPr>
            <a:xfrm>
              <a:off x="741" y="4081"/>
              <a:ext cx="149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5" name="Line 56"/>
            <p:cNvSpPr/>
            <p:nvPr/>
          </p:nvSpPr>
          <p:spPr>
            <a:xfrm>
              <a:off x="2646" y="4081"/>
              <a:ext cx="15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27696" name="AutoShape 57"/>
            <p:cNvCxnSpPr>
              <a:stCxn id="27676" idx="5"/>
              <a:endCxn id="27686" idx="4"/>
            </p:cNvCxnSpPr>
            <p:nvPr/>
          </p:nvCxnSpPr>
          <p:spPr>
            <a:xfrm rot="-5400000" flipH="1">
              <a:off x="1653" y="3179"/>
              <a:ext cx="13" cy="1873"/>
            </a:xfrm>
            <a:prstGeom prst="curvedConnector3">
              <a:avLst>
                <a:gd name="adj1" fmla="val 1200000"/>
              </a:avLst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97" name="AutoShape 58"/>
            <p:cNvCxnSpPr>
              <a:stCxn id="27681" idx="3"/>
              <a:endCxn id="27693" idx="2"/>
            </p:cNvCxnSpPr>
            <p:nvPr/>
          </p:nvCxnSpPr>
          <p:spPr>
            <a:xfrm rot="5400000" flipH="1" flipV="1">
              <a:off x="3227" y="3065"/>
              <a:ext cx="62" cy="2025"/>
            </a:xfrm>
            <a:prstGeom prst="curvedConnector3">
              <a:avLst>
                <a:gd name="adj1" fmla="val 514514"/>
              </a:avLst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69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7(</a:t>
            </a:r>
            <a:r>
              <a:rPr lang="zh-CN" altLang="en-US"/>
              <a:t>证明</a:t>
            </a:r>
            <a:r>
              <a:rPr lang="en-US" altLang="zh-CN"/>
              <a:t>(3))</a:t>
            </a:r>
            <a:endParaRPr lang="zh-CN" altLang="en-US"/>
          </a:p>
        </p:txBody>
      </p:sp>
      <p:sp>
        <p:nvSpPr>
          <p:cNvPr id="2867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/>
              <a:t>(3) </a:t>
            </a:r>
            <a:r>
              <a:rPr lang="zh-CN" altLang="en-US"/>
              <a:t>由圈得更长路径</a:t>
            </a:r>
            <a:r>
              <a:rPr lang="en-US" altLang="zh-CN"/>
              <a:t>. </a:t>
            </a:r>
            <a:r>
              <a:rPr lang="zh-CN" altLang="en-US"/>
              <a:t>因为</a:t>
            </a:r>
            <a:r>
              <a:rPr lang="en-US" altLang="zh-CN"/>
              <a:t>G</a:t>
            </a:r>
            <a:r>
              <a:rPr lang="zh-CN" altLang="en-US"/>
              <a:t>连通</a:t>
            </a:r>
            <a:r>
              <a:rPr lang="en-US" altLang="zh-CN"/>
              <a:t>,</a:t>
            </a:r>
            <a:r>
              <a:rPr lang="zh-CN" altLang="en-US"/>
              <a:t>且</a:t>
            </a:r>
            <a:r>
              <a:rPr lang="en-US" altLang="zh-CN" i="1"/>
              <a:t>k</a:t>
            </a:r>
            <a:r>
              <a:rPr lang="en-US" altLang="zh-CN"/>
              <a:t>≤</a:t>
            </a:r>
            <a:r>
              <a:rPr lang="en-US" altLang="zh-CN" i="1"/>
              <a:t>n</a:t>
            </a:r>
            <a:r>
              <a:rPr lang="en-US" altLang="zh-CN"/>
              <a:t>-2,</a:t>
            </a:r>
            <a:r>
              <a:rPr lang="zh-CN" altLang="en-US"/>
              <a:t>一定存在</a:t>
            </a:r>
            <a:r>
              <a:rPr lang="en-US" altLang="zh-CN" i="1"/>
              <a:t>v</a:t>
            </a:r>
            <a:r>
              <a:rPr lang="en-US" altLang="zh-CN" i="1" baseline="-25000"/>
              <a:t>x</a:t>
            </a:r>
            <a:r>
              <a:rPr lang="zh-CN" altLang="en-US"/>
              <a:t>与</a:t>
            </a:r>
            <a:r>
              <a:rPr lang="en-US" altLang="zh-CN"/>
              <a:t>C</a:t>
            </a:r>
            <a:r>
              <a:rPr lang="zh-CN" altLang="en-US"/>
              <a:t>中的某点相邻</a:t>
            </a:r>
            <a:r>
              <a:rPr lang="en-US" altLang="zh-CN"/>
              <a:t>,</a:t>
            </a:r>
            <a:r>
              <a:rPr lang="zh-CN" altLang="en-US"/>
              <a:t>因此得到比原来路径长</a:t>
            </a:r>
            <a:r>
              <a:rPr lang="en-US" altLang="zh-CN"/>
              <a:t>1</a:t>
            </a:r>
            <a:r>
              <a:rPr lang="zh-CN" altLang="en-US"/>
              <a:t>的路径</a:t>
            </a:r>
            <a:r>
              <a:rPr lang="en-US" altLang="zh-CN"/>
              <a:t>.</a:t>
            </a:r>
            <a:endParaRPr lang="zh-CN" altLang="en-US"/>
          </a:p>
        </p:txBody>
      </p:sp>
      <p:grpSp>
        <p:nvGrpSpPr>
          <p:cNvPr id="28675" name="Group 6"/>
          <p:cNvGrpSpPr/>
          <p:nvPr/>
        </p:nvGrpSpPr>
        <p:grpSpPr>
          <a:xfrm>
            <a:off x="684213" y="2395538"/>
            <a:ext cx="6170612" cy="601662"/>
            <a:chOff x="521" y="3748"/>
            <a:chExt cx="3887" cy="379"/>
          </a:xfrm>
        </p:grpSpPr>
        <p:sp>
          <p:nvSpPr>
            <p:cNvPr id="28676" name="Oval 7"/>
            <p:cNvSpPr/>
            <p:nvPr/>
          </p:nvSpPr>
          <p:spPr>
            <a:xfrm>
              <a:off x="650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77" name="Oval 8"/>
            <p:cNvSpPr/>
            <p:nvPr/>
          </p:nvSpPr>
          <p:spPr>
            <a:xfrm>
              <a:off x="968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78" name="Oval 9"/>
            <p:cNvSpPr/>
            <p:nvPr/>
          </p:nvSpPr>
          <p:spPr>
            <a:xfrm>
              <a:off x="1286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79" name="Oval 10"/>
            <p:cNvSpPr/>
            <p:nvPr/>
          </p:nvSpPr>
          <p:spPr>
            <a:xfrm>
              <a:off x="1603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80" name="Oval 11"/>
            <p:cNvSpPr/>
            <p:nvPr/>
          </p:nvSpPr>
          <p:spPr>
            <a:xfrm>
              <a:off x="1920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81" name="Oval 12"/>
            <p:cNvSpPr/>
            <p:nvPr/>
          </p:nvSpPr>
          <p:spPr>
            <a:xfrm>
              <a:off x="2238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82" name="Text Box 13"/>
            <p:cNvSpPr txBox="1"/>
            <p:nvPr/>
          </p:nvSpPr>
          <p:spPr>
            <a:xfrm>
              <a:off x="521" y="374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3" name="Text Box 14"/>
            <p:cNvSpPr txBox="1"/>
            <p:nvPr/>
          </p:nvSpPr>
          <p:spPr>
            <a:xfrm>
              <a:off x="839" y="374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4" name="Text Box 15"/>
            <p:cNvSpPr txBox="1"/>
            <p:nvPr/>
          </p:nvSpPr>
          <p:spPr>
            <a:xfrm>
              <a:off x="1195" y="376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5" name="Text Box 16"/>
            <p:cNvSpPr txBox="1"/>
            <p:nvPr/>
          </p:nvSpPr>
          <p:spPr>
            <a:xfrm>
              <a:off x="1966" y="3764"/>
              <a:ext cx="3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-1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6" name="Oval 17"/>
            <p:cNvSpPr/>
            <p:nvPr/>
          </p:nvSpPr>
          <p:spPr>
            <a:xfrm>
              <a:off x="2555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87" name="Text Box 18"/>
            <p:cNvSpPr txBox="1"/>
            <p:nvPr/>
          </p:nvSpPr>
          <p:spPr>
            <a:xfrm>
              <a:off x="2507" y="3777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8" name="Oval 19"/>
            <p:cNvSpPr/>
            <p:nvPr/>
          </p:nvSpPr>
          <p:spPr>
            <a:xfrm>
              <a:off x="2918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89" name="Oval 20"/>
            <p:cNvSpPr/>
            <p:nvPr/>
          </p:nvSpPr>
          <p:spPr>
            <a:xfrm>
              <a:off x="3236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0" name="Oval 21"/>
            <p:cNvSpPr/>
            <p:nvPr/>
          </p:nvSpPr>
          <p:spPr>
            <a:xfrm>
              <a:off x="3554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1" name="Oval 22"/>
            <p:cNvSpPr/>
            <p:nvPr/>
          </p:nvSpPr>
          <p:spPr>
            <a:xfrm>
              <a:off x="3871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2" name="Oval 23"/>
            <p:cNvSpPr/>
            <p:nvPr/>
          </p:nvSpPr>
          <p:spPr>
            <a:xfrm>
              <a:off x="4188" y="4036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3" name="Text Box 24"/>
            <p:cNvSpPr txBox="1"/>
            <p:nvPr/>
          </p:nvSpPr>
          <p:spPr>
            <a:xfrm>
              <a:off x="4143" y="376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4" name="Line 25"/>
            <p:cNvSpPr/>
            <p:nvPr/>
          </p:nvSpPr>
          <p:spPr>
            <a:xfrm>
              <a:off x="741" y="4081"/>
              <a:ext cx="149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5" name="Line 26"/>
            <p:cNvSpPr/>
            <p:nvPr/>
          </p:nvSpPr>
          <p:spPr>
            <a:xfrm>
              <a:off x="2646" y="4081"/>
              <a:ext cx="15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28696" name="AutoShape 27"/>
            <p:cNvCxnSpPr>
              <a:stCxn id="28676" idx="5"/>
              <a:endCxn id="28686" idx="4"/>
            </p:cNvCxnSpPr>
            <p:nvPr/>
          </p:nvCxnSpPr>
          <p:spPr>
            <a:xfrm rot="-5400000" flipH="1">
              <a:off x="1653" y="3179"/>
              <a:ext cx="13" cy="1873"/>
            </a:xfrm>
            <a:prstGeom prst="curvedConnector3">
              <a:avLst>
                <a:gd name="adj1" fmla="val 1200000"/>
              </a:avLst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97" name="AutoShape 28"/>
            <p:cNvCxnSpPr>
              <a:stCxn id="28681" idx="3"/>
              <a:endCxn id="28693" idx="2"/>
            </p:cNvCxnSpPr>
            <p:nvPr/>
          </p:nvCxnSpPr>
          <p:spPr>
            <a:xfrm rot="5400000" flipH="1" flipV="1">
              <a:off x="3227" y="3065"/>
              <a:ext cx="62" cy="2025"/>
            </a:xfrm>
            <a:prstGeom prst="curvedConnector3">
              <a:avLst>
                <a:gd name="adj1" fmla="val 514514"/>
              </a:avLst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698" name="Group 55"/>
          <p:cNvGrpSpPr/>
          <p:nvPr/>
        </p:nvGrpSpPr>
        <p:grpSpPr>
          <a:xfrm>
            <a:off x="611188" y="3289300"/>
            <a:ext cx="6170612" cy="1219200"/>
            <a:chOff x="385" y="2024"/>
            <a:chExt cx="3887" cy="768"/>
          </a:xfrm>
        </p:grpSpPr>
        <p:grpSp>
          <p:nvGrpSpPr>
            <p:cNvPr id="28699" name="Group 29"/>
            <p:cNvGrpSpPr/>
            <p:nvPr/>
          </p:nvGrpSpPr>
          <p:grpSpPr>
            <a:xfrm>
              <a:off x="385" y="2413"/>
              <a:ext cx="3887" cy="379"/>
              <a:chOff x="521" y="3748"/>
              <a:chExt cx="3887" cy="379"/>
            </a:xfrm>
          </p:grpSpPr>
          <p:sp>
            <p:nvSpPr>
              <p:cNvPr id="28700" name="Oval 30"/>
              <p:cNvSpPr/>
              <p:nvPr/>
            </p:nvSpPr>
            <p:spPr>
              <a:xfrm>
                <a:off x="650" y="403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1" name="Oval 31"/>
              <p:cNvSpPr/>
              <p:nvPr/>
            </p:nvSpPr>
            <p:spPr>
              <a:xfrm>
                <a:off x="968" y="403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2" name="Oval 32"/>
              <p:cNvSpPr/>
              <p:nvPr/>
            </p:nvSpPr>
            <p:spPr>
              <a:xfrm>
                <a:off x="1286" y="403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3" name="Oval 33"/>
              <p:cNvSpPr/>
              <p:nvPr/>
            </p:nvSpPr>
            <p:spPr>
              <a:xfrm>
                <a:off x="1603" y="403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4" name="Oval 34"/>
              <p:cNvSpPr/>
              <p:nvPr/>
            </p:nvSpPr>
            <p:spPr>
              <a:xfrm>
                <a:off x="1920" y="403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5" name="Oval 35"/>
              <p:cNvSpPr/>
              <p:nvPr/>
            </p:nvSpPr>
            <p:spPr>
              <a:xfrm>
                <a:off x="2238" y="403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6" name="Text Box 36"/>
              <p:cNvSpPr txBox="1"/>
              <p:nvPr/>
            </p:nvSpPr>
            <p:spPr>
              <a:xfrm>
                <a:off x="521" y="374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0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7" name="Text Box 37"/>
              <p:cNvSpPr txBox="1"/>
              <p:nvPr/>
            </p:nvSpPr>
            <p:spPr>
              <a:xfrm>
                <a:off x="839" y="374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8" name="Text Box 38"/>
              <p:cNvSpPr txBox="1"/>
              <p:nvPr/>
            </p:nvSpPr>
            <p:spPr>
              <a:xfrm>
                <a:off x="1195" y="3764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9" name="Text Box 39"/>
              <p:cNvSpPr txBox="1"/>
              <p:nvPr/>
            </p:nvSpPr>
            <p:spPr>
              <a:xfrm>
                <a:off x="1966" y="3764"/>
                <a:ext cx="3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i="1" baseline="-25000">
                    <a:latin typeface="Times New Roman" panose="02020603050405020304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-1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0" name="Oval 40"/>
              <p:cNvSpPr/>
              <p:nvPr/>
            </p:nvSpPr>
            <p:spPr>
              <a:xfrm>
                <a:off x="2555" y="403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1" name="Text Box 41"/>
              <p:cNvSpPr txBox="1"/>
              <p:nvPr/>
            </p:nvSpPr>
            <p:spPr>
              <a:xfrm>
                <a:off x="2507" y="3777"/>
                <a:ext cx="23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solidFill>
                      <a:schemeClr val="hlink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i="1" baseline="-25000">
                    <a:solidFill>
                      <a:schemeClr val="hlink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i</a:t>
                </a:r>
                <a:endParaRPr lang="en-US" altLang="zh-CN" sz="2400" baseline="-2500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2" name="Oval 42"/>
              <p:cNvSpPr/>
              <p:nvPr/>
            </p:nvSpPr>
            <p:spPr>
              <a:xfrm>
                <a:off x="2918" y="403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3" name="Oval 43"/>
              <p:cNvSpPr/>
              <p:nvPr/>
            </p:nvSpPr>
            <p:spPr>
              <a:xfrm>
                <a:off x="3236" y="403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4" name="Oval 44"/>
              <p:cNvSpPr/>
              <p:nvPr/>
            </p:nvSpPr>
            <p:spPr>
              <a:xfrm>
                <a:off x="3554" y="403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5" name="Oval 45"/>
              <p:cNvSpPr/>
              <p:nvPr/>
            </p:nvSpPr>
            <p:spPr>
              <a:xfrm>
                <a:off x="3871" y="403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6" name="Oval 46"/>
              <p:cNvSpPr/>
              <p:nvPr/>
            </p:nvSpPr>
            <p:spPr>
              <a:xfrm>
                <a:off x="4188" y="4036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7" name="Text Box 47"/>
              <p:cNvSpPr txBox="1"/>
              <p:nvPr/>
            </p:nvSpPr>
            <p:spPr>
              <a:xfrm>
                <a:off x="4143" y="3764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i="1" baseline="-25000">
                    <a:latin typeface="Times New Roman" panose="02020603050405020304" charset="0"/>
                    <a:ea typeface="宋体" panose="02010600030101010101" pitchFamily="2" charset="-122"/>
                  </a:rPr>
                  <a:t>k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8" name="Line 48"/>
              <p:cNvSpPr/>
              <p:nvPr/>
            </p:nvSpPr>
            <p:spPr>
              <a:xfrm>
                <a:off x="741" y="4081"/>
                <a:ext cx="149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719" name="Line 49"/>
              <p:cNvSpPr/>
              <p:nvPr/>
            </p:nvSpPr>
            <p:spPr>
              <a:xfrm>
                <a:off x="2646" y="4081"/>
                <a:ext cx="15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cxnSp>
            <p:nvCxnSpPr>
              <p:cNvPr id="28720" name="AutoShape 50"/>
              <p:cNvCxnSpPr>
                <a:stCxn id="28700" idx="5"/>
                <a:endCxn id="28710" idx="4"/>
              </p:cNvCxnSpPr>
              <p:nvPr/>
            </p:nvCxnSpPr>
            <p:spPr>
              <a:xfrm rot="-5400000" flipH="1">
                <a:off x="1653" y="3179"/>
                <a:ext cx="13" cy="1873"/>
              </a:xfrm>
              <a:prstGeom prst="curvedConnector3">
                <a:avLst>
                  <a:gd name="adj1" fmla="val 1200000"/>
                </a:avLst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21" name="AutoShape 51"/>
              <p:cNvCxnSpPr>
                <a:stCxn id="28705" idx="3"/>
                <a:endCxn id="28717" idx="2"/>
              </p:cNvCxnSpPr>
              <p:nvPr/>
            </p:nvCxnSpPr>
            <p:spPr>
              <a:xfrm rot="5400000" flipH="1" flipV="1">
                <a:off x="3227" y="3065"/>
                <a:ext cx="62" cy="2025"/>
              </a:xfrm>
              <a:prstGeom prst="curvedConnector3">
                <a:avLst>
                  <a:gd name="adj1" fmla="val 514514"/>
                </a:avLst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8722" name="Oval 52"/>
            <p:cNvSpPr/>
            <p:nvPr/>
          </p:nvSpPr>
          <p:spPr>
            <a:xfrm>
              <a:off x="1475" y="2294"/>
              <a:ext cx="90" cy="90"/>
            </a:xfrm>
            <a:prstGeom prst="ellipse">
              <a:avLst/>
            </a:prstGeom>
            <a:solidFill>
              <a:srgbClr val="0066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23" name="Line 53"/>
            <p:cNvSpPr/>
            <p:nvPr/>
          </p:nvSpPr>
          <p:spPr>
            <a:xfrm>
              <a:off x="1519" y="2384"/>
              <a:ext cx="0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24" name="Rectangle 54"/>
            <p:cNvSpPr/>
            <p:nvPr/>
          </p:nvSpPr>
          <p:spPr>
            <a:xfrm>
              <a:off x="1429" y="202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x</a:t>
              </a:r>
              <a:endParaRPr lang="zh-CN" altLang="en-US" sz="2400" i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725" name="Group 84"/>
          <p:cNvGrpSpPr/>
          <p:nvPr/>
        </p:nvGrpSpPr>
        <p:grpSpPr>
          <a:xfrm>
            <a:off x="611188" y="4802188"/>
            <a:ext cx="6170612" cy="1219200"/>
            <a:chOff x="385" y="3025"/>
            <a:chExt cx="3887" cy="768"/>
          </a:xfrm>
        </p:grpSpPr>
        <p:sp>
          <p:nvSpPr>
            <p:cNvPr id="28726" name="Oval 58"/>
            <p:cNvSpPr/>
            <p:nvPr/>
          </p:nvSpPr>
          <p:spPr>
            <a:xfrm>
              <a:off x="514" y="3702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27" name="Oval 59"/>
            <p:cNvSpPr/>
            <p:nvPr/>
          </p:nvSpPr>
          <p:spPr>
            <a:xfrm>
              <a:off x="832" y="3702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28" name="Oval 60"/>
            <p:cNvSpPr/>
            <p:nvPr/>
          </p:nvSpPr>
          <p:spPr>
            <a:xfrm>
              <a:off x="1150" y="3702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29" name="Oval 61"/>
            <p:cNvSpPr/>
            <p:nvPr/>
          </p:nvSpPr>
          <p:spPr>
            <a:xfrm>
              <a:off x="1467" y="3702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30" name="Oval 62"/>
            <p:cNvSpPr/>
            <p:nvPr/>
          </p:nvSpPr>
          <p:spPr>
            <a:xfrm>
              <a:off x="1784" y="3702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31" name="Oval 63"/>
            <p:cNvSpPr/>
            <p:nvPr/>
          </p:nvSpPr>
          <p:spPr>
            <a:xfrm>
              <a:off x="2102" y="3702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32" name="Text Box 64"/>
            <p:cNvSpPr txBox="1"/>
            <p:nvPr/>
          </p:nvSpPr>
          <p:spPr>
            <a:xfrm>
              <a:off x="385" y="341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33" name="Text Box 65"/>
            <p:cNvSpPr txBox="1"/>
            <p:nvPr/>
          </p:nvSpPr>
          <p:spPr>
            <a:xfrm>
              <a:off x="703" y="341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34" name="Text Box 66"/>
            <p:cNvSpPr txBox="1"/>
            <p:nvPr/>
          </p:nvSpPr>
          <p:spPr>
            <a:xfrm>
              <a:off x="1059" y="3430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35" name="Text Box 67"/>
            <p:cNvSpPr txBox="1"/>
            <p:nvPr/>
          </p:nvSpPr>
          <p:spPr>
            <a:xfrm>
              <a:off x="1830" y="3430"/>
              <a:ext cx="3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-1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36" name="Oval 68"/>
            <p:cNvSpPr/>
            <p:nvPr/>
          </p:nvSpPr>
          <p:spPr>
            <a:xfrm>
              <a:off x="2419" y="3702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37" name="Text Box 69"/>
            <p:cNvSpPr txBox="1"/>
            <p:nvPr/>
          </p:nvSpPr>
          <p:spPr>
            <a:xfrm>
              <a:off x="2371" y="3443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solidFill>
                    <a:schemeClr val="hlink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>
                <a:solidFill>
                  <a:schemeClr val="hlink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38" name="Oval 70"/>
            <p:cNvSpPr/>
            <p:nvPr/>
          </p:nvSpPr>
          <p:spPr>
            <a:xfrm>
              <a:off x="2782" y="3702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39" name="Oval 71"/>
            <p:cNvSpPr/>
            <p:nvPr/>
          </p:nvSpPr>
          <p:spPr>
            <a:xfrm>
              <a:off x="3100" y="3702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40" name="Oval 72"/>
            <p:cNvSpPr/>
            <p:nvPr/>
          </p:nvSpPr>
          <p:spPr>
            <a:xfrm>
              <a:off x="3418" y="3702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41" name="Oval 73"/>
            <p:cNvSpPr/>
            <p:nvPr/>
          </p:nvSpPr>
          <p:spPr>
            <a:xfrm>
              <a:off x="3735" y="3702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42" name="Oval 74"/>
            <p:cNvSpPr/>
            <p:nvPr/>
          </p:nvSpPr>
          <p:spPr>
            <a:xfrm>
              <a:off x="4052" y="3702"/>
              <a:ext cx="91" cy="9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43" name="Text Box 75"/>
            <p:cNvSpPr txBox="1"/>
            <p:nvPr/>
          </p:nvSpPr>
          <p:spPr>
            <a:xfrm>
              <a:off x="4007" y="3430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44" name="Line 76"/>
            <p:cNvSpPr/>
            <p:nvPr/>
          </p:nvSpPr>
          <p:spPr>
            <a:xfrm>
              <a:off x="605" y="3747"/>
              <a:ext cx="86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45" name="Line 77"/>
            <p:cNvSpPr/>
            <p:nvPr/>
          </p:nvSpPr>
          <p:spPr>
            <a:xfrm>
              <a:off x="2510" y="3747"/>
              <a:ext cx="15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28746" name="AutoShape 78"/>
            <p:cNvCxnSpPr>
              <a:stCxn id="28726" idx="5"/>
              <a:endCxn id="28736" idx="4"/>
            </p:cNvCxnSpPr>
            <p:nvPr/>
          </p:nvCxnSpPr>
          <p:spPr>
            <a:xfrm rot="-5400000" flipH="1">
              <a:off x="1517" y="2845"/>
              <a:ext cx="13" cy="1873"/>
            </a:xfrm>
            <a:prstGeom prst="curvedConnector3">
              <a:avLst>
                <a:gd name="adj1" fmla="val 1200000"/>
              </a:avLst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47" name="AutoShape 79"/>
            <p:cNvCxnSpPr>
              <a:stCxn id="28731" idx="3"/>
              <a:endCxn id="28743" idx="2"/>
            </p:cNvCxnSpPr>
            <p:nvPr/>
          </p:nvCxnSpPr>
          <p:spPr>
            <a:xfrm rot="5400000" flipH="1" flipV="1">
              <a:off x="3091" y="2731"/>
              <a:ext cx="62" cy="2025"/>
            </a:xfrm>
            <a:prstGeom prst="curvedConnector3">
              <a:avLst>
                <a:gd name="adj1" fmla="val 529028"/>
              </a:avLst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748" name="Oval 80"/>
            <p:cNvSpPr/>
            <p:nvPr/>
          </p:nvSpPr>
          <p:spPr>
            <a:xfrm>
              <a:off x="1475" y="3295"/>
              <a:ext cx="90" cy="90"/>
            </a:xfrm>
            <a:prstGeom prst="ellipse">
              <a:avLst/>
            </a:prstGeom>
            <a:solidFill>
              <a:srgbClr val="0066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49" name="Line 81"/>
            <p:cNvSpPr/>
            <p:nvPr/>
          </p:nvSpPr>
          <p:spPr>
            <a:xfrm>
              <a:off x="1519" y="3385"/>
              <a:ext cx="0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50" name="Rectangle 82"/>
            <p:cNvSpPr/>
            <p:nvPr/>
          </p:nvSpPr>
          <p:spPr>
            <a:xfrm>
              <a:off x="1429" y="3025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x</a:t>
              </a:r>
              <a:endParaRPr lang="zh-CN" altLang="en-US" sz="2400" i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51" name="Line 83"/>
            <p:cNvSpPr/>
            <p:nvPr/>
          </p:nvSpPr>
          <p:spPr>
            <a:xfrm>
              <a:off x="1882" y="3748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875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反例 </a:t>
            </a:r>
            <a:r>
              <a:rPr lang="en-US" altLang="zh-CN"/>
              <a:t>(</a:t>
            </a:r>
            <a:r>
              <a:rPr lang="zh-CN" altLang="en-US"/>
              <a:t>充分条件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/>
              <a:t>定理</a:t>
            </a:r>
            <a:r>
              <a:rPr lang="en-US" altLang="zh-CN"/>
              <a:t>7</a:t>
            </a:r>
            <a:r>
              <a:rPr lang="zh-CN" altLang="en-US"/>
              <a:t>是无向半哈密顿图的</a:t>
            </a:r>
            <a:r>
              <a:rPr lang="zh-CN" altLang="en-US">
                <a:solidFill>
                  <a:srgbClr val="FF00FF"/>
                </a:solidFill>
              </a:rPr>
              <a:t>充分条件</a:t>
            </a:r>
            <a:r>
              <a:rPr lang="en-US" altLang="zh-CN"/>
              <a:t>,</a:t>
            </a:r>
            <a:r>
              <a:rPr lang="zh-CN" altLang="en-US"/>
              <a:t>不是</a:t>
            </a:r>
            <a:r>
              <a:rPr lang="zh-CN" altLang="en-US">
                <a:solidFill>
                  <a:srgbClr val="FF00FF"/>
                </a:solidFill>
              </a:rPr>
              <a:t>必要条件</a:t>
            </a:r>
            <a:r>
              <a:rPr lang="en-US" altLang="zh-CN">
                <a:solidFill>
                  <a:srgbClr val="FF00FF"/>
                </a:solidFill>
              </a:rPr>
              <a:t>.</a:t>
            </a:r>
            <a:endParaRPr lang="en-US" altLang="zh-CN">
              <a:solidFill>
                <a:srgbClr val="FF00FF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755650" y="2781300"/>
            <a:ext cx="1727200" cy="2519363"/>
            <a:chOff x="431" y="2251"/>
            <a:chExt cx="1451" cy="1859"/>
          </a:xfrm>
        </p:grpSpPr>
        <p:sp>
          <p:nvSpPr>
            <p:cNvPr id="31748" name="Oval 5"/>
            <p:cNvSpPr/>
            <p:nvPr/>
          </p:nvSpPr>
          <p:spPr>
            <a:xfrm>
              <a:off x="1020" y="3928"/>
              <a:ext cx="182" cy="18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49" name="Oval 6"/>
            <p:cNvSpPr/>
            <p:nvPr/>
          </p:nvSpPr>
          <p:spPr>
            <a:xfrm>
              <a:off x="431" y="3475"/>
              <a:ext cx="182" cy="18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0" name="Oval 7"/>
            <p:cNvSpPr/>
            <p:nvPr/>
          </p:nvSpPr>
          <p:spPr>
            <a:xfrm>
              <a:off x="1700" y="3475"/>
              <a:ext cx="182" cy="18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1" name="Oval 8"/>
            <p:cNvSpPr/>
            <p:nvPr/>
          </p:nvSpPr>
          <p:spPr>
            <a:xfrm>
              <a:off x="1020" y="2251"/>
              <a:ext cx="182" cy="18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2" name="Oval 9"/>
            <p:cNvSpPr/>
            <p:nvPr/>
          </p:nvSpPr>
          <p:spPr>
            <a:xfrm>
              <a:off x="431" y="2704"/>
              <a:ext cx="182" cy="18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3" name="Oval 10"/>
            <p:cNvSpPr/>
            <p:nvPr/>
          </p:nvSpPr>
          <p:spPr>
            <a:xfrm>
              <a:off x="1700" y="2704"/>
              <a:ext cx="182" cy="18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4" name="Line 11"/>
            <p:cNvSpPr/>
            <p:nvPr/>
          </p:nvSpPr>
          <p:spPr>
            <a:xfrm flipH="1" flipV="1">
              <a:off x="567" y="3612"/>
              <a:ext cx="453" cy="36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55" name="Line 12"/>
            <p:cNvSpPr/>
            <p:nvPr/>
          </p:nvSpPr>
          <p:spPr>
            <a:xfrm flipV="1">
              <a:off x="1202" y="3612"/>
              <a:ext cx="544" cy="36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56" name="Line 13"/>
            <p:cNvSpPr/>
            <p:nvPr/>
          </p:nvSpPr>
          <p:spPr>
            <a:xfrm>
              <a:off x="521" y="2886"/>
              <a:ext cx="0" cy="5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57" name="Line 14"/>
            <p:cNvSpPr/>
            <p:nvPr/>
          </p:nvSpPr>
          <p:spPr>
            <a:xfrm>
              <a:off x="1791" y="2886"/>
              <a:ext cx="0" cy="5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58" name="Line 15"/>
            <p:cNvSpPr/>
            <p:nvPr/>
          </p:nvSpPr>
          <p:spPr>
            <a:xfrm flipV="1">
              <a:off x="567" y="2387"/>
              <a:ext cx="453" cy="31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59" name="Line 16"/>
            <p:cNvSpPr/>
            <p:nvPr/>
          </p:nvSpPr>
          <p:spPr>
            <a:xfrm>
              <a:off x="1156" y="2387"/>
              <a:ext cx="59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24945" name="Rectangle 17"/>
          <p:cNvSpPr/>
          <p:nvPr/>
        </p:nvSpPr>
        <p:spPr>
          <a:xfrm>
            <a:off x="2916238" y="3141663"/>
            <a:ext cx="5184775" cy="1295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algn="just" eaLnBrk="0" hangingPunct="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任何两个结点度之和是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4&lt;6-1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，</a:t>
            </a:r>
            <a:endParaRPr lang="zh-CN" altLang="en-US" sz="2800">
              <a:solidFill>
                <a:schemeClr val="folHlink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  <a:p>
            <a:pPr marL="342900" indent="-342900" algn="just" eaLnBrk="0" hangingPunct="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但在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G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中有一条哈密顿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通路。</a:t>
            </a:r>
            <a:endParaRPr lang="zh-CN" altLang="en-US" sz="2800">
              <a:solidFill>
                <a:schemeClr val="folHlink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317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494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>
                                            <p:txEl>
                                              <p:charRg st="17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4945">
                                            <p:txEl>
                                              <p:charRg st="17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4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8.8</a:t>
            </a:r>
            <a:endParaRPr lang="zh-CN" altLang="en-US"/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8.8 </a:t>
            </a:r>
            <a:r>
              <a:rPr lang="zh-CN" altLang="en-US"/>
              <a:t>设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zh-CN" altLang="en-US"/>
              <a:t>是无向</a:t>
            </a:r>
            <a:r>
              <a:rPr lang="en-US" altLang="zh-CN" i="1"/>
              <a:t>n</a:t>
            </a:r>
            <a:r>
              <a:rPr lang="zh-CN" altLang="en-US"/>
              <a:t>阶简单图</a:t>
            </a:r>
            <a:r>
              <a:rPr lang="en-US" altLang="zh-CN"/>
              <a:t>G</a:t>
            </a:r>
            <a:r>
              <a:rPr lang="zh-CN" altLang="en-US"/>
              <a:t>中两个不相邻顶点</a:t>
            </a:r>
            <a:r>
              <a:rPr lang="en-US" altLang="zh-CN"/>
              <a:t>,</a:t>
            </a:r>
            <a:r>
              <a:rPr lang="zh-CN" altLang="en-US"/>
              <a:t>且</a:t>
            </a:r>
            <a:r>
              <a:rPr lang="en-US" altLang="zh-CN"/>
              <a:t>d(</a:t>
            </a:r>
            <a:r>
              <a:rPr lang="en-US" altLang="zh-CN" i="1"/>
              <a:t>u</a:t>
            </a:r>
            <a:r>
              <a:rPr lang="en-US" altLang="zh-CN"/>
              <a:t>)+d(</a:t>
            </a:r>
            <a:r>
              <a:rPr lang="en-US" altLang="zh-CN" i="1"/>
              <a:t>v</a:t>
            </a:r>
            <a:r>
              <a:rPr lang="en-US" altLang="zh-CN"/>
              <a:t>)≥</a:t>
            </a:r>
            <a:r>
              <a:rPr lang="en-US" altLang="zh-CN" i="1"/>
              <a:t>n</a:t>
            </a:r>
            <a:r>
              <a:rPr lang="en-US" altLang="zh-CN"/>
              <a:t>, </a:t>
            </a:r>
            <a:r>
              <a:rPr lang="zh-CN" altLang="en-US"/>
              <a:t>则</a:t>
            </a:r>
            <a:endParaRPr lang="zh-CN" altLang="en-US"/>
          </a:p>
          <a:p>
            <a:pPr>
              <a:buNone/>
            </a:pPr>
            <a:r>
              <a:rPr lang="en-US" altLang="zh-CN"/>
              <a:t>     G</a:t>
            </a:r>
            <a:r>
              <a:rPr lang="zh-CN" altLang="en-US"/>
              <a:t>是哈密顿图⇔ </a:t>
            </a:r>
            <a:r>
              <a:rPr lang="en-US" altLang="zh-CN"/>
              <a:t>G∪(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</a:t>
            </a:r>
            <a:r>
              <a:rPr lang="zh-CN" altLang="en-US"/>
              <a:t>是哈密顿图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>
                <a:solidFill>
                  <a:schemeClr val="hlink"/>
                </a:solidFill>
              </a:rPr>
              <a:t>(⇒)</a:t>
            </a:r>
            <a:r>
              <a:rPr lang="zh-CN" altLang="en-US"/>
              <a:t>显然</a:t>
            </a:r>
            <a:endParaRPr lang="zh-CN" altLang="en-US"/>
          </a:p>
          <a:p>
            <a:pPr>
              <a:buNone/>
            </a:pPr>
            <a:r>
              <a:rPr lang="en-US" altLang="zh-CN"/>
              <a:t>    (</a:t>
            </a:r>
            <a:r>
              <a:rPr lang="en-US" altLang="zh-CN">
                <a:solidFill>
                  <a:schemeClr val="hlink"/>
                </a:solidFill>
              </a:rPr>
              <a:t>⇐</a:t>
            </a:r>
            <a:r>
              <a:rPr lang="en-US" altLang="zh-CN"/>
              <a:t>) </a:t>
            </a:r>
            <a:r>
              <a:rPr lang="zh-CN" altLang="en-US"/>
              <a:t>设</a:t>
            </a:r>
            <a:r>
              <a:rPr lang="en-US" altLang="zh-CN"/>
              <a:t>C</a:t>
            </a:r>
            <a:r>
              <a:rPr lang="zh-CN" altLang="en-US"/>
              <a:t>是</a:t>
            </a:r>
            <a:r>
              <a:rPr lang="en-US" altLang="zh-CN"/>
              <a:t>G∪(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</a:t>
            </a:r>
            <a:r>
              <a:rPr lang="zh-CN" altLang="en-US"/>
              <a:t>中的哈密顿回路</a:t>
            </a:r>
            <a:r>
              <a:rPr lang="en-US" altLang="zh-CN"/>
              <a:t>.</a:t>
            </a:r>
            <a:endParaRPr lang="en-US" altLang="zh-CN"/>
          </a:p>
          <a:p>
            <a:pPr>
              <a:buNone/>
            </a:pPr>
            <a:r>
              <a:rPr lang="en-US" altLang="zh-CN"/>
              <a:t>   (1) C</a:t>
            </a:r>
            <a:r>
              <a:rPr lang="zh-CN" altLang="en-US"/>
              <a:t>不经过</a:t>
            </a:r>
            <a:r>
              <a:rPr lang="en-US" altLang="zh-CN"/>
              <a:t>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): C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中哈密顿回路</a:t>
            </a:r>
            <a:r>
              <a:rPr lang="en-US" altLang="zh-CN"/>
              <a:t>.</a:t>
            </a:r>
            <a:endParaRPr lang="en-US" altLang="zh-CN"/>
          </a:p>
          <a:p>
            <a:pPr>
              <a:buNone/>
            </a:pPr>
            <a:r>
              <a:rPr lang="en-US" altLang="zh-CN"/>
              <a:t>   (2) C</a:t>
            </a:r>
            <a:r>
              <a:rPr lang="zh-CN" altLang="en-US"/>
              <a:t>经过</a:t>
            </a:r>
            <a:r>
              <a:rPr lang="en-US" altLang="zh-CN"/>
              <a:t>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): C-(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中哈密顿通路</a:t>
            </a:r>
            <a:r>
              <a:rPr lang="en-US" altLang="zh-CN"/>
              <a:t>,</a:t>
            </a:r>
            <a:endParaRPr lang="en-US" altLang="zh-CN"/>
          </a:p>
          <a:p>
            <a:pPr>
              <a:buNone/>
            </a:pPr>
            <a:r>
              <a:rPr lang="zh-CN" altLang="en-US"/>
              <a:t>    与定理</a:t>
            </a:r>
            <a:r>
              <a:rPr lang="en-US" altLang="zh-CN"/>
              <a:t>8.7</a:t>
            </a:r>
            <a:r>
              <a:rPr lang="zh-CN" altLang="en-US"/>
              <a:t>证明</a:t>
            </a:r>
            <a:r>
              <a:rPr lang="en-US" altLang="zh-CN"/>
              <a:t>(b) (ppt18</a:t>
            </a:r>
            <a:r>
              <a:rPr lang="zh-CN" altLang="en-US"/>
              <a:t>页</a:t>
            </a:r>
            <a:r>
              <a:rPr lang="en-US" altLang="zh-CN"/>
              <a:t>)</a:t>
            </a:r>
            <a:r>
              <a:rPr lang="zh-CN" altLang="en-US"/>
              <a:t>类似</a:t>
            </a:r>
            <a:r>
              <a:rPr lang="en-US" altLang="zh-CN"/>
              <a:t>, G</a:t>
            </a:r>
            <a:r>
              <a:rPr lang="zh-CN" altLang="en-US"/>
              <a:t>中有哈密顿回路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charRg st="7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charRg st="81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charRg st="108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charRg st="137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charRg st="171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无向哈密顿图的充分条件</a:t>
            </a:r>
            <a:endParaRPr lang="zh-CN" altLang="en-US"/>
          </a:p>
        </p:txBody>
      </p:sp>
      <p:sp>
        <p:nvSpPr>
          <p:cNvPr id="3277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zh-CN" altLang="en-US">
                <a:solidFill>
                  <a:schemeClr val="hlink"/>
                </a:solidFill>
              </a:rPr>
              <a:t>（</a:t>
            </a:r>
            <a:r>
              <a:rPr lang="en-US" altLang="zh-CN">
                <a:solidFill>
                  <a:schemeClr val="hlink"/>
                </a:solidFill>
              </a:rPr>
              <a:t>Ore</a:t>
            </a:r>
            <a:r>
              <a:rPr lang="zh-CN" altLang="en-US">
                <a:solidFill>
                  <a:schemeClr val="hlink"/>
                </a:solidFill>
              </a:rPr>
              <a:t>定理）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en-US" altLang="zh-CN" i="1"/>
              <a:t>n</a:t>
            </a:r>
            <a:r>
              <a:rPr lang="en-US" altLang="zh-CN"/>
              <a:t>(≥3)</a:t>
            </a:r>
            <a:r>
              <a:rPr lang="zh-CN" altLang="en-US"/>
              <a:t>阶无向简单图</a:t>
            </a:r>
            <a:r>
              <a:rPr lang="en-US" altLang="zh-CN"/>
              <a:t>,</a:t>
            </a:r>
            <a:r>
              <a:rPr lang="zh-CN" altLang="en-US"/>
              <a:t>若对</a:t>
            </a:r>
            <a:r>
              <a:rPr lang="en-US" altLang="zh-CN"/>
              <a:t>G</a:t>
            </a:r>
            <a:r>
              <a:rPr lang="zh-CN" altLang="en-US"/>
              <a:t>中任意不相邻顶点</a:t>
            </a:r>
            <a:r>
              <a:rPr lang="en-US" altLang="zh-CN" i="1"/>
              <a:t>u</a:t>
            </a:r>
            <a:r>
              <a:rPr lang="zh-CN" altLang="en-US"/>
              <a:t>与</a:t>
            </a:r>
            <a:r>
              <a:rPr lang="en-US" altLang="zh-CN" i="1"/>
              <a:t>v</a:t>
            </a:r>
            <a:r>
              <a:rPr lang="zh-CN" altLang="en-US"/>
              <a:t>有</a:t>
            </a:r>
            <a:endParaRPr lang="zh-CN" altLang="en-US"/>
          </a:p>
          <a:p>
            <a:pPr>
              <a:buNone/>
            </a:pPr>
            <a:r>
              <a:rPr lang="en-US" altLang="zh-CN"/>
              <a:t>                      d(</a:t>
            </a:r>
            <a:r>
              <a:rPr lang="en-US" altLang="zh-CN" i="1"/>
              <a:t>u</a:t>
            </a:r>
            <a:r>
              <a:rPr lang="en-US" altLang="zh-CN"/>
              <a:t>)+d(</a:t>
            </a:r>
            <a:r>
              <a:rPr lang="en-US" altLang="zh-CN" i="1"/>
              <a:t>v</a:t>
            </a:r>
            <a:r>
              <a:rPr lang="en-US" altLang="zh-CN"/>
              <a:t>)≥</a:t>
            </a:r>
            <a:r>
              <a:rPr lang="en-US" altLang="zh-CN" i="1"/>
              <a:t>n</a:t>
            </a:r>
            <a:endParaRPr lang="en-US" altLang="zh-CN" i="1"/>
          </a:p>
          <a:p>
            <a:pPr>
              <a:buNone/>
            </a:pPr>
            <a:r>
              <a:rPr lang="zh-CN" altLang="en-US"/>
              <a:t>    则</a:t>
            </a:r>
            <a:r>
              <a:rPr lang="en-US" altLang="zh-CN"/>
              <a:t>G</a:t>
            </a:r>
            <a:r>
              <a:rPr lang="zh-CN" altLang="en-US"/>
              <a:t>是哈密顿图</a:t>
            </a:r>
            <a:r>
              <a:rPr lang="en-US" altLang="zh-CN"/>
              <a:t>.</a:t>
            </a:r>
            <a:endParaRPr lang="en-US" altLang="zh-CN"/>
          </a:p>
          <a:p>
            <a:pPr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由定理</a:t>
            </a:r>
            <a:r>
              <a:rPr lang="en-US" altLang="zh-CN"/>
              <a:t>8.7</a:t>
            </a:r>
            <a:r>
              <a:rPr lang="zh-CN" altLang="en-US"/>
              <a:t>知</a:t>
            </a:r>
            <a:r>
              <a:rPr lang="en-US" altLang="zh-CN"/>
              <a:t>G</a:t>
            </a:r>
            <a:r>
              <a:rPr lang="zh-CN" altLang="en-US"/>
              <a:t>连通且有哈密顿通路</a:t>
            </a:r>
            <a:r>
              <a:rPr lang="en-US" altLang="zh-CN"/>
              <a:t>Γ=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…</a:t>
            </a:r>
            <a:r>
              <a:rPr lang="en-US" altLang="zh-CN" i="1"/>
              <a:t>v</a:t>
            </a:r>
            <a:r>
              <a:rPr lang="en-US" altLang="zh-CN" i="1" baseline="-25000"/>
              <a:t>n</a:t>
            </a:r>
            <a:r>
              <a:rPr lang="en-US" altLang="zh-CN" baseline="-25000"/>
              <a:t>-1</a:t>
            </a:r>
            <a:r>
              <a:rPr lang="en-US" altLang="zh-CN"/>
              <a:t>. (1) </a:t>
            </a:r>
            <a:r>
              <a:rPr lang="zh-CN" altLang="en-US"/>
              <a:t>若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i="1" baseline="-25000"/>
              <a:t>n</a:t>
            </a:r>
            <a:r>
              <a:rPr lang="en-US" altLang="zh-CN" baseline="-25000"/>
              <a:t>-1</a:t>
            </a:r>
            <a:r>
              <a:rPr lang="en-US" altLang="zh-CN"/>
              <a:t>)∈E,</a:t>
            </a:r>
            <a:r>
              <a:rPr lang="zh-CN" altLang="en-US"/>
              <a:t>则得哈密顿回路</a:t>
            </a:r>
            <a:r>
              <a:rPr lang="en-US" altLang="zh-CN"/>
              <a:t>C=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…</a:t>
            </a:r>
            <a:r>
              <a:rPr lang="en-US" altLang="zh-CN" i="1"/>
              <a:t>v</a:t>
            </a:r>
            <a:r>
              <a:rPr lang="en-US" altLang="zh-CN" i="1" baseline="-25000"/>
              <a:t>n</a:t>
            </a:r>
            <a:r>
              <a:rPr lang="en-US" altLang="zh-CN" baseline="-25000"/>
              <a:t>-1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. </a:t>
            </a:r>
            <a:endParaRPr lang="en-US" altLang="zh-CN"/>
          </a:p>
          <a:p>
            <a:pPr>
              <a:buNone/>
            </a:pPr>
            <a:r>
              <a:rPr lang="en-US" altLang="zh-CN"/>
              <a:t>(2) </a:t>
            </a:r>
            <a:r>
              <a:rPr lang="zh-CN" altLang="en-US"/>
              <a:t>若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i="1" baseline="-25000"/>
              <a:t>n</a:t>
            </a:r>
            <a:r>
              <a:rPr lang="en-US" altLang="zh-CN" baseline="-25000"/>
              <a:t>-1</a:t>
            </a:r>
            <a:r>
              <a:rPr lang="en-US" altLang="zh-CN"/>
              <a:t>) ∉E,</a:t>
            </a:r>
            <a:r>
              <a:rPr lang="zh-CN" altLang="en-US"/>
              <a:t>则与定理</a:t>
            </a:r>
            <a:r>
              <a:rPr lang="en-US" altLang="zh-CN"/>
              <a:t>8.7</a:t>
            </a:r>
            <a:r>
              <a:rPr lang="zh-CN" altLang="en-US"/>
              <a:t>证明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/>
              <a:t>)(ppt18</a:t>
            </a:r>
            <a:r>
              <a:rPr lang="zh-CN" altLang="en-US"/>
              <a:t>页</a:t>
            </a:r>
            <a:r>
              <a:rPr lang="en-US" altLang="zh-CN"/>
              <a:t>)</a:t>
            </a:r>
            <a:r>
              <a:rPr lang="zh-CN" altLang="en-US"/>
              <a:t>类似</a:t>
            </a:r>
            <a:r>
              <a:rPr lang="en-US" altLang="zh-CN"/>
              <a:t>,</a:t>
            </a:r>
            <a:r>
              <a:rPr lang="zh-CN" altLang="en-US"/>
              <a:t>一定存在包含</a:t>
            </a:r>
            <a:r>
              <a:rPr lang="en-US" altLang="zh-CN"/>
              <a:t>Γ</a:t>
            </a:r>
            <a:r>
              <a:rPr lang="zh-CN" altLang="en-US"/>
              <a:t>中所有顶点的圈</a:t>
            </a:r>
            <a:r>
              <a:rPr lang="en-US" altLang="zh-CN"/>
              <a:t>,</a:t>
            </a:r>
            <a:r>
              <a:rPr lang="zh-CN" altLang="en-US"/>
              <a:t>即哈密顿回路</a:t>
            </a:r>
            <a:r>
              <a:rPr lang="en-US" altLang="zh-CN"/>
              <a:t>. </a:t>
            </a:r>
            <a:endParaRPr lang="en-US" altLang="zh-CN"/>
          </a:p>
          <a:p>
            <a:endParaRPr lang="zh-CN" altLang="en-US"/>
          </a:p>
        </p:txBody>
      </p:sp>
      <p:sp>
        <p:nvSpPr>
          <p:cNvPr id="337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90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165" end="2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无向哈密顿图的充分条件</a:t>
            </a:r>
            <a:endParaRPr lang="zh-CN" altLang="en-US"/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>
                <a:solidFill>
                  <a:schemeClr val="hlink"/>
                </a:solidFill>
              </a:rPr>
              <a:t>2</a:t>
            </a:r>
            <a:r>
              <a:rPr lang="zh-CN" altLang="en-US">
                <a:solidFill>
                  <a:schemeClr val="hlink"/>
                </a:solidFill>
              </a:rPr>
              <a:t>（</a:t>
            </a:r>
            <a:r>
              <a:rPr lang="en-US" altLang="zh-CN">
                <a:solidFill>
                  <a:schemeClr val="hlink"/>
                </a:solidFill>
              </a:rPr>
              <a:t>Dirac</a:t>
            </a:r>
            <a:r>
              <a:rPr lang="zh-CN" altLang="en-US">
                <a:solidFill>
                  <a:schemeClr val="hlink"/>
                </a:solidFill>
              </a:rPr>
              <a:t>定理）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en-US" altLang="zh-CN" i="1"/>
              <a:t>n</a:t>
            </a:r>
            <a:r>
              <a:rPr lang="en-US" altLang="zh-CN"/>
              <a:t>(≥3)</a:t>
            </a:r>
            <a:r>
              <a:rPr lang="zh-CN" altLang="en-US"/>
              <a:t>阶无向简单图</a:t>
            </a:r>
            <a:r>
              <a:rPr lang="en-US" altLang="zh-CN"/>
              <a:t>,</a:t>
            </a:r>
            <a:r>
              <a:rPr lang="zh-CN" altLang="en-US"/>
              <a:t>若对</a:t>
            </a:r>
            <a:r>
              <a:rPr lang="en-US" altLang="zh-CN"/>
              <a:t>G</a:t>
            </a:r>
            <a:r>
              <a:rPr lang="zh-CN" altLang="en-US"/>
              <a:t>中任意顶点</a:t>
            </a:r>
            <a:r>
              <a:rPr lang="en-US" altLang="zh-CN" i="1"/>
              <a:t>u</a:t>
            </a:r>
            <a:r>
              <a:rPr lang="zh-CN" altLang="en-US"/>
              <a:t>有</a:t>
            </a:r>
            <a:r>
              <a:rPr lang="en-US" altLang="zh-CN"/>
              <a:t>d(</a:t>
            </a:r>
            <a:r>
              <a:rPr lang="en-US" altLang="zh-CN" i="1"/>
              <a:t>u</a:t>
            </a:r>
            <a:r>
              <a:rPr lang="en-US" altLang="zh-CN"/>
              <a:t>)≥</a:t>
            </a:r>
            <a:r>
              <a:rPr lang="en-US" altLang="zh-CN" i="1"/>
              <a:t>n</a:t>
            </a:r>
            <a:r>
              <a:rPr lang="en-US" altLang="zh-CN"/>
              <a:t>/2,</a:t>
            </a:r>
            <a:r>
              <a:rPr lang="zh-CN" altLang="en-US"/>
              <a:t>则</a:t>
            </a:r>
            <a:r>
              <a:rPr lang="en-US" altLang="zh-CN"/>
              <a:t>G</a:t>
            </a:r>
            <a:r>
              <a:rPr lang="zh-CN" altLang="en-US"/>
              <a:t>是哈密顿图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由推论</a:t>
            </a:r>
            <a:r>
              <a:rPr lang="en-US" altLang="zh-CN"/>
              <a:t>1. </a:t>
            </a:r>
            <a:endParaRPr lang="zh-CN" altLang="en-US"/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sz="4000">
                <a:solidFill>
                  <a:srgbClr val="FF0000"/>
                </a:solidFill>
              </a:rPr>
              <a:t>课堂测试一：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54451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例 考虑在七天内安排七门课程的考试，使得同一位教师所任的两门课程考试不排在接连的两天中，试证如果没有教师担任多于四门课程，则符合上述要求的考试安排总是可能的。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证  设</a:t>
            </a:r>
            <a:r>
              <a:rPr lang="en-US" altLang="zh-CN"/>
              <a:t>G=&lt;V,E&gt;,V={</a:t>
            </a:r>
            <a:r>
              <a:rPr lang="en-US" altLang="zh-CN" i="1"/>
              <a:t>v</a:t>
            </a:r>
            <a:r>
              <a:rPr lang="en-US" altLang="zh-CN"/>
              <a:t>|</a:t>
            </a:r>
            <a:r>
              <a:rPr lang="en-US" altLang="zh-CN" i="1"/>
              <a:t>v</a:t>
            </a:r>
            <a:r>
              <a:rPr lang="zh-CN" altLang="en-US"/>
              <a:t>是某门课程考试</a:t>
            </a:r>
            <a:r>
              <a:rPr lang="en-US" altLang="zh-CN"/>
              <a:t>},E={(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)|</a:t>
            </a:r>
            <a:r>
              <a:rPr lang="en-US" altLang="zh-CN" i="1"/>
              <a:t>u</a:t>
            </a:r>
            <a:r>
              <a:rPr lang="zh-CN" altLang="en-US"/>
              <a:t>与</a:t>
            </a:r>
            <a:r>
              <a:rPr lang="en-US" altLang="zh-CN" i="1"/>
              <a:t>v</a:t>
            </a:r>
            <a:endParaRPr lang="en-US" altLang="zh-CN" i="1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由不同的教师担任</a:t>
            </a:r>
            <a:r>
              <a:rPr lang="en-US" altLang="zh-CN"/>
              <a:t>}.</a:t>
            </a:r>
            <a:r>
              <a:rPr lang="zh-CN" altLang="en-US"/>
              <a:t>由于每个教师担任不多于四门课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程</a:t>
            </a:r>
            <a:r>
              <a:rPr lang="en-US" altLang="zh-CN"/>
              <a:t>, </a:t>
            </a:r>
            <a:r>
              <a:rPr lang="zh-CN" altLang="en-US"/>
              <a:t>因此</a:t>
            </a:r>
            <a:r>
              <a:rPr lang="en-US" altLang="zh-CN">
                <a:solidFill>
                  <a:srgbClr val="FF0000"/>
                </a:solidFill>
              </a:rPr>
              <a:t>∀</a:t>
            </a:r>
            <a:r>
              <a:rPr lang="en-US" altLang="zh-CN" i="1">
                <a:solidFill>
                  <a:srgbClr val="FF0000"/>
                </a:solidFill>
              </a:rPr>
              <a:t>u</a:t>
            </a:r>
            <a:r>
              <a:rPr lang="en-US" altLang="zh-CN">
                <a:solidFill>
                  <a:srgbClr val="FF0000"/>
                </a:solidFill>
              </a:rPr>
              <a:t>∈V,d(u)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3.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</a:rPr>
              <a:t>∀</a:t>
            </a:r>
            <a:r>
              <a:rPr lang="en-US" altLang="zh-CN" i="1">
                <a:solidFill>
                  <a:srgbClr val="FF0000"/>
                </a:solidFill>
              </a:rPr>
              <a:t>u</a:t>
            </a:r>
            <a:r>
              <a:rPr lang="en-US" altLang="zh-CN">
                <a:solidFill>
                  <a:srgbClr val="FF0000"/>
                </a:solidFill>
              </a:rPr>
              <a:t>,</a:t>
            </a:r>
            <a:r>
              <a:rPr lang="en-US" altLang="zh-CN" i="1">
                <a:solidFill>
                  <a:srgbClr val="FF0000"/>
                </a:solidFill>
              </a:rPr>
              <a:t>v</a:t>
            </a:r>
            <a:r>
              <a:rPr lang="en-US" altLang="zh-CN">
                <a:solidFill>
                  <a:srgbClr val="FF0000"/>
                </a:solidFill>
              </a:rPr>
              <a:t>∈V, d(</a:t>
            </a:r>
            <a:r>
              <a:rPr lang="en-US" altLang="zh-CN" i="1">
                <a:solidFill>
                  <a:srgbClr val="FF0000"/>
                </a:solidFill>
              </a:rPr>
              <a:t>u</a:t>
            </a:r>
            <a:r>
              <a:rPr lang="en-US" altLang="zh-CN">
                <a:solidFill>
                  <a:srgbClr val="FF0000"/>
                </a:solidFill>
              </a:rPr>
              <a:t>)+d(</a:t>
            </a:r>
            <a:r>
              <a:rPr lang="en-US" altLang="zh-CN" i="1">
                <a:solidFill>
                  <a:srgbClr val="FF0000"/>
                </a:solidFill>
              </a:rPr>
              <a:t>v</a:t>
            </a:r>
            <a:r>
              <a:rPr lang="en-US" altLang="zh-CN">
                <a:solidFill>
                  <a:srgbClr val="FF0000"/>
                </a:solidFill>
              </a:rPr>
              <a:t>)≥6=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-1</a:t>
            </a:r>
            <a:endParaRPr lang="en-US" altLang="zh-CN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故</a:t>
            </a:r>
            <a:r>
              <a:rPr lang="en-US" altLang="zh-CN"/>
              <a:t>G</a:t>
            </a:r>
            <a:r>
              <a:rPr lang="zh-CN" altLang="en-US"/>
              <a:t>中存在哈密顿路</a:t>
            </a:r>
            <a:r>
              <a:rPr lang="en-US" altLang="zh-CN"/>
              <a:t>,</a:t>
            </a:r>
            <a:r>
              <a:rPr lang="zh-CN" altLang="en-US"/>
              <a:t>任何一条哈密顿回路对应一个</a:t>
            </a:r>
            <a:r>
              <a:rPr lang="en-US" altLang="zh-CN"/>
              <a:t>7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门课程的考试安排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80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120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145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187" end="2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212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sz="3600">
                <a:solidFill>
                  <a:srgbClr val="FF0000"/>
                </a:solidFill>
              </a:rPr>
              <a:t>课后作业</a:t>
            </a:r>
            <a:r>
              <a:rPr lang="zh-CN" altLang="en-US" sz="3600">
                <a:solidFill>
                  <a:srgbClr val="FF0000"/>
                </a:solidFill>
              </a:rPr>
              <a:t>一：</a:t>
            </a:r>
            <a:endParaRPr lang="zh-CN" altLang="en-US" sz="3600">
              <a:solidFill>
                <a:srgbClr val="FF0000"/>
              </a:solidFill>
            </a:endParaRPr>
          </a:p>
        </p:txBody>
      </p:sp>
      <p:sp>
        <p:nvSpPr>
          <p:cNvPr id="37890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640763" cy="5040313"/>
          </a:xfrm>
        </p:spPr>
        <p:txBody>
          <a:bodyPr vert="horz" wrap="square" lIns="91440" tIns="45720" rIns="91440" bIns="45720" anchor="t" anchorCtr="0"/>
          <a:p>
            <a:pPr algn="just">
              <a:spcBef>
                <a:spcPct val="10000"/>
              </a:spcBef>
              <a:buNone/>
            </a:pPr>
            <a:r>
              <a:rPr lang="zh-CN" altLang="en-US"/>
              <a:t>例 某次国际会议</a:t>
            </a:r>
            <a:r>
              <a:rPr lang="en-US" altLang="zh-CN"/>
              <a:t>8</a:t>
            </a:r>
            <a:r>
              <a:rPr lang="zh-CN" altLang="en-US"/>
              <a:t>人参加，已知每人至少与其余</a:t>
            </a:r>
            <a:r>
              <a:rPr lang="en-US" altLang="zh-CN"/>
              <a:t>7</a:t>
            </a:r>
            <a:r>
              <a:rPr lang="zh-CN" altLang="en-US"/>
              <a:t>人中的</a:t>
            </a:r>
            <a:r>
              <a:rPr lang="en-US" altLang="zh-CN"/>
              <a:t>4</a:t>
            </a:r>
            <a:r>
              <a:rPr lang="zh-CN" altLang="en-US"/>
              <a:t>人有共同语言，问服务员能否将他们安排在同一张圆桌就座，使得每个人都能与两边的人交谈？</a:t>
            </a:r>
            <a:endParaRPr lang="zh-CN" altLang="en-US"/>
          </a:p>
          <a:p>
            <a:pPr algn="just">
              <a:spcBef>
                <a:spcPct val="10000"/>
              </a:spcBef>
              <a:buNone/>
            </a:pPr>
            <a:endParaRPr lang="en-US" altLang="zh-CN"/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title"/>
          </p:nvPr>
        </p:nvSpPr>
        <p:spPr>
          <a:xfrm>
            <a:off x="974725" y="692468"/>
            <a:ext cx="7972425" cy="982662"/>
          </a:xfrm>
        </p:spPr>
        <p:txBody>
          <a:bodyPr vert="horz" wrap="square" lIns="91440" tIns="45720" rIns="91440" bIns="45720" anchor="b" anchorCtr="0"/>
          <a:p>
            <a:r>
              <a:rPr lang="zh-CN" altLang="en-US" sz="2800"/>
              <a:t>下列图中</a:t>
            </a:r>
            <a:r>
              <a:rPr lang="en-US" altLang="zh-CN" sz="2800"/>
              <a:t>,</a:t>
            </a:r>
            <a:r>
              <a:rPr lang="zh-CN" altLang="en-US" sz="2800"/>
              <a:t>哪些是哈密顿图？哪些是半哈密顿图？</a:t>
            </a:r>
            <a:endParaRPr lang="zh-CN" altLang="en-US" sz="2800"/>
          </a:p>
        </p:txBody>
      </p:sp>
      <p:grpSp>
        <p:nvGrpSpPr>
          <p:cNvPr id="39938" name="组 83"/>
          <p:cNvGrpSpPr/>
          <p:nvPr/>
        </p:nvGrpSpPr>
        <p:grpSpPr>
          <a:xfrm>
            <a:off x="1898015" y="1640523"/>
            <a:ext cx="2016125" cy="2753361"/>
            <a:chOff x="323528" y="1412542"/>
            <a:chExt cx="2016228" cy="2754098"/>
          </a:xfrm>
        </p:grpSpPr>
        <p:grpSp>
          <p:nvGrpSpPr>
            <p:cNvPr id="39939" name="组 27"/>
            <p:cNvGrpSpPr/>
            <p:nvPr/>
          </p:nvGrpSpPr>
          <p:grpSpPr>
            <a:xfrm>
              <a:off x="323528" y="1412542"/>
              <a:ext cx="2016228" cy="2304490"/>
              <a:chOff x="611561" y="1412542"/>
              <a:chExt cx="2016228" cy="2304490"/>
            </a:xfrm>
          </p:grpSpPr>
          <p:grpSp>
            <p:nvGrpSpPr>
              <p:cNvPr id="39940" name="组合 50"/>
              <p:cNvGrpSpPr/>
              <p:nvPr/>
            </p:nvGrpSpPr>
            <p:grpSpPr>
              <a:xfrm>
                <a:off x="611561" y="1412542"/>
                <a:ext cx="2016228" cy="2304490"/>
                <a:chOff x="539548" y="2204629"/>
                <a:chExt cx="2016296" cy="2305810"/>
              </a:xfrm>
            </p:grpSpPr>
            <p:grpSp>
              <p:nvGrpSpPr>
                <p:cNvPr id="39941" name="组合 43"/>
                <p:cNvGrpSpPr/>
                <p:nvPr/>
              </p:nvGrpSpPr>
              <p:grpSpPr>
                <a:xfrm>
                  <a:off x="899592" y="2571600"/>
                  <a:ext cx="1336337" cy="1145432"/>
                  <a:chOff x="971600" y="2420888"/>
                  <a:chExt cx="1008112" cy="864096"/>
                </a:xfrm>
              </p:grpSpPr>
              <p:sp>
                <p:nvSpPr>
                  <p:cNvPr id="39942" name="椭圆 29"/>
                  <p:cNvSpPr/>
                  <p:nvPr/>
                </p:nvSpPr>
                <p:spPr>
                  <a:xfrm>
                    <a:off x="1835696" y="2420888"/>
                    <a:ext cx="144016" cy="144016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 anchorCtr="0"/>
                  <a:p>
                    <a:pPr>
                      <a:buSzTx/>
                    </a:pPr>
                    <a:endParaRPr lang="zh-CN" altLang="en-US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943" name="椭圆 28"/>
                  <p:cNvSpPr/>
                  <p:nvPr/>
                </p:nvSpPr>
                <p:spPr>
                  <a:xfrm>
                    <a:off x="971600" y="2420888"/>
                    <a:ext cx="144016" cy="144016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 anchorCtr="0"/>
                  <a:p>
                    <a:pPr>
                      <a:buSzTx/>
                    </a:pPr>
                    <a:endParaRPr lang="zh-CN" altLang="en-US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944" name="椭圆 30"/>
                  <p:cNvSpPr/>
                  <p:nvPr/>
                </p:nvSpPr>
                <p:spPr>
                  <a:xfrm>
                    <a:off x="971600" y="3140968"/>
                    <a:ext cx="144016" cy="144016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 anchorCtr="0"/>
                  <a:p>
                    <a:pPr>
                      <a:buSzTx/>
                    </a:pPr>
                    <a:endParaRPr lang="zh-CN" altLang="en-US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945" name="椭圆 31"/>
                  <p:cNvSpPr/>
                  <p:nvPr/>
                </p:nvSpPr>
                <p:spPr>
                  <a:xfrm>
                    <a:off x="1835696" y="3140968"/>
                    <a:ext cx="144016" cy="144016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 anchorCtr="0"/>
                  <a:p>
                    <a:pPr>
                      <a:buSzTx/>
                    </a:pPr>
                    <a:endParaRPr lang="zh-CN" altLang="en-US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39946" name="直接连接符 33"/>
                  <p:cNvCxnSpPr/>
                  <p:nvPr/>
                </p:nvCxnSpPr>
                <p:spPr>
                  <a:xfrm>
                    <a:off x="1115616" y="2492896"/>
                    <a:ext cx="720080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9947" name="直接连接符 35"/>
                  <p:cNvCxnSpPr/>
                  <p:nvPr/>
                </p:nvCxnSpPr>
                <p:spPr>
                  <a:xfrm>
                    <a:off x="1043608" y="2564904"/>
                    <a:ext cx="0" cy="576064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9948" name="直接连接符 37"/>
                  <p:cNvCxnSpPr/>
                  <p:nvPr/>
                </p:nvCxnSpPr>
                <p:spPr>
                  <a:xfrm>
                    <a:off x="1907704" y="2564904"/>
                    <a:ext cx="0" cy="576064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9949" name="直接连接符 39"/>
                  <p:cNvCxnSpPr/>
                  <p:nvPr/>
                </p:nvCxnSpPr>
                <p:spPr>
                  <a:xfrm>
                    <a:off x="1115616" y="3212976"/>
                    <a:ext cx="720080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39950" name="TextBox 45"/>
                <p:cNvSpPr txBox="1"/>
                <p:nvPr/>
              </p:nvSpPr>
              <p:spPr>
                <a:xfrm>
                  <a:off x="851724" y="2204629"/>
                  <a:ext cx="338566" cy="46193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a</a:t>
                  </a:r>
                  <a:endParaRPr lang="zh-CN" altLang="en-US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51" name="TextBox 46"/>
                <p:cNvSpPr txBox="1"/>
                <p:nvPr/>
              </p:nvSpPr>
              <p:spPr>
                <a:xfrm>
                  <a:off x="1137120" y="4048509"/>
                  <a:ext cx="338566" cy="46193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d</a:t>
                  </a:r>
                  <a:endParaRPr lang="zh-CN" altLang="en-US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52" name="TextBox 47"/>
                <p:cNvSpPr txBox="1"/>
                <p:nvPr/>
              </p:nvSpPr>
              <p:spPr>
                <a:xfrm>
                  <a:off x="539548" y="3328017"/>
                  <a:ext cx="320933" cy="4619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e</a:t>
                  </a:r>
                  <a:endParaRPr lang="zh-CN" altLang="en-US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53" name="TextBox 48"/>
                <p:cNvSpPr txBox="1"/>
                <p:nvPr/>
              </p:nvSpPr>
              <p:spPr>
                <a:xfrm>
                  <a:off x="2234911" y="3328019"/>
                  <a:ext cx="320933" cy="46193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c</a:t>
                  </a:r>
                  <a:endParaRPr lang="zh-CN" altLang="en-US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54" name="TextBox 49"/>
                <p:cNvSpPr txBox="1"/>
                <p:nvPr/>
              </p:nvSpPr>
              <p:spPr>
                <a:xfrm>
                  <a:off x="2140542" y="2265432"/>
                  <a:ext cx="338566" cy="46193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b</a:t>
                  </a:r>
                  <a:endParaRPr lang="zh-CN" altLang="en-US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9955" name="椭圆 31"/>
              <p:cNvSpPr/>
              <p:nvPr/>
            </p:nvSpPr>
            <p:spPr>
              <a:xfrm>
                <a:off x="1572789" y="3454228"/>
                <a:ext cx="190899" cy="190796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" name="直线连接符 2"/>
              <p:cNvCxnSpPr>
                <a:stCxn id="39944" idx="4"/>
                <a:endCxn id="39955" idx="1"/>
              </p:cNvCxnSpPr>
              <p:nvPr/>
            </p:nvCxnSpPr>
            <p:spPr bwMode="auto">
              <a:xfrm>
                <a:off x="1067197" y="2923929"/>
                <a:ext cx="533427" cy="557362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线连接符 22"/>
              <p:cNvCxnSpPr>
                <a:stCxn id="39955" idx="7"/>
                <a:endCxn id="39945" idx="3"/>
              </p:cNvCxnSpPr>
              <p:nvPr/>
            </p:nvCxnSpPr>
            <p:spPr bwMode="auto">
              <a:xfrm flipV="1">
                <a:off x="1735568" y="2895346"/>
                <a:ext cx="409596" cy="585945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直线连接符 24"/>
              <p:cNvCxnSpPr>
                <a:stCxn id="39943" idx="5"/>
                <a:endCxn id="39945" idx="1"/>
              </p:cNvCxnSpPr>
              <p:nvPr/>
            </p:nvCxnSpPr>
            <p:spPr bwMode="auto">
              <a:xfrm>
                <a:off x="1133876" y="1942591"/>
                <a:ext cx="1011289" cy="817782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线连接符 26"/>
              <p:cNvCxnSpPr>
                <a:stCxn id="39944" idx="7"/>
                <a:endCxn id="39942" idx="3"/>
              </p:cNvCxnSpPr>
              <p:nvPr/>
            </p:nvCxnSpPr>
            <p:spPr bwMode="auto">
              <a:xfrm flipV="1">
                <a:off x="1133876" y="1942591"/>
                <a:ext cx="1011289" cy="817782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9960" name="TextBox 46"/>
            <p:cNvSpPr txBox="1"/>
            <p:nvPr/>
          </p:nvSpPr>
          <p:spPr>
            <a:xfrm>
              <a:off x="1098228" y="3643420"/>
              <a:ext cx="56457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800" i="1"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r>
                <a:rPr lang="en-US" altLang="zh-CN" sz="28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8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9978" name="组 91"/>
          <p:cNvGrpSpPr/>
          <p:nvPr/>
        </p:nvGrpSpPr>
        <p:grpSpPr>
          <a:xfrm>
            <a:off x="2664143" y="4399915"/>
            <a:ext cx="4392612" cy="2343150"/>
            <a:chOff x="2807814" y="4019476"/>
            <a:chExt cx="4392488" cy="2343632"/>
          </a:xfrm>
        </p:grpSpPr>
        <p:grpSp>
          <p:nvGrpSpPr>
            <p:cNvPr id="39979" name="组 82"/>
            <p:cNvGrpSpPr/>
            <p:nvPr/>
          </p:nvGrpSpPr>
          <p:grpSpPr>
            <a:xfrm>
              <a:off x="2807814" y="4019476"/>
              <a:ext cx="4392488" cy="2044976"/>
              <a:chOff x="2267744" y="3527943"/>
              <a:chExt cx="4392488" cy="2044976"/>
            </a:xfrm>
          </p:grpSpPr>
          <p:grpSp>
            <p:nvGrpSpPr>
              <p:cNvPr id="39980" name="组 51"/>
              <p:cNvGrpSpPr/>
              <p:nvPr/>
            </p:nvGrpSpPr>
            <p:grpSpPr>
              <a:xfrm>
                <a:off x="2267744" y="3527943"/>
                <a:ext cx="4201589" cy="1989289"/>
                <a:chOff x="732150" y="1340768"/>
                <a:chExt cx="4201589" cy="1989289"/>
              </a:xfrm>
            </p:grpSpPr>
            <p:grpSp>
              <p:nvGrpSpPr>
                <p:cNvPr id="39981" name="组合 50"/>
                <p:cNvGrpSpPr/>
                <p:nvPr/>
              </p:nvGrpSpPr>
              <p:grpSpPr>
                <a:xfrm>
                  <a:off x="732150" y="1340768"/>
                  <a:ext cx="2880320" cy="1989289"/>
                  <a:chOff x="660141" y="2132814"/>
                  <a:chExt cx="2880411" cy="1990429"/>
                </a:xfrm>
              </p:grpSpPr>
              <p:grpSp>
                <p:nvGrpSpPr>
                  <p:cNvPr id="39982" name="组合 43"/>
                  <p:cNvGrpSpPr/>
                  <p:nvPr/>
                </p:nvGrpSpPr>
                <p:grpSpPr>
                  <a:xfrm>
                    <a:off x="899592" y="2571600"/>
                    <a:ext cx="1336337" cy="1145432"/>
                    <a:chOff x="971600" y="2420888"/>
                    <a:chExt cx="1008112" cy="864096"/>
                  </a:xfrm>
                </p:grpSpPr>
                <p:sp>
                  <p:nvSpPr>
                    <p:cNvPr id="39983" name="椭圆 29"/>
                    <p:cNvSpPr/>
                    <p:nvPr/>
                  </p:nvSpPr>
                  <p:spPr>
                    <a:xfrm>
                      <a:off x="1835696" y="2420888"/>
                      <a:ext cx="144016" cy="14401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anchor="t" anchorCtr="0"/>
                    <a:p>
                      <a:pPr>
                        <a:buSzTx/>
                      </a:pPr>
                      <a:endParaRPr lang="zh-CN" altLang="en-US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9984" name="椭圆 28"/>
                    <p:cNvSpPr/>
                    <p:nvPr/>
                  </p:nvSpPr>
                  <p:spPr>
                    <a:xfrm>
                      <a:off x="971600" y="2420888"/>
                      <a:ext cx="144016" cy="144016"/>
                    </a:xfrm>
                    <a:prstGeom prst="ellipse">
                      <a:avLst/>
                    </a:pr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anchor="t" anchorCtr="0"/>
                    <a:p>
                      <a:pPr>
                        <a:buSzTx/>
                      </a:pPr>
                      <a:endParaRPr lang="zh-CN" altLang="en-US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9985" name="椭圆 30"/>
                    <p:cNvSpPr/>
                    <p:nvPr/>
                  </p:nvSpPr>
                  <p:spPr>
                    <a:xfrm>
                      <a:off x="971600" y="3140968"/>
                      <a:ext cx="144016" cy="144016"/>
                    </a:xfrm>
                    <a:prstGeom prst="ellipse">
                      <a:avLst/>
                    </a:pr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anchor="t" anchorCtr="0"/>
                    <a:p>
                      <a:pPr>
                        <a:buSzTx/>
                      </a:pPr>
                      <a:endParaRPr lang="zh-CN" altLang="en-US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9986" name="椭圆 31"/>
                    <p:cNvSpPr/>
                    <p:nvPr/>
                  </p:nvSpPr>
                  <p:spPr>
                    <a:xfrm>
                      <a:off x="1835696" y="3140968"/>
                      <a:ext cx="144016" cy="144016"/>
                    </a:xfrm>
                    <a:prstGeom prst="ellipse">
                      <a:avLst/>
                    </a:pr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anchor="t" anchorCtr="0"/>
                    <a:p>
                      <a:pPr>
                        <a:buSzTx/>
                      </a:pPr>
                      <a:endParaRPr lang="zh-CN" altLang="en-US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cxnSp>
                  <p:nvCxnSpPr>
                    <p:cNvPr id="39987" name="直接连接符 33"/>
                    <p:cNvCxnSpPr>
                      <a:stCxn id="39965" idx="7"/>
                      <a:endCxn id="39974" idx="3"/>
                    </p:cNvCxnSpPr>
                    <p:nvPr/>
                  </p:nvCxnSpPr>
                  <p:spPr>
                    <a:xfrm>
                      <a:off x="1115616" y="2492896"/>
                      <a:ext cx="720080" cy="0"/>
                    </a:xfrm>
                    <a:prstGeom prst="line">
                      <a:avLst/>
                    </a:prstGeom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9988" name="直接连接符 35"/>
                    <p:cNvCxnSpPr>
                      <a:stCxn id="39965" idx="7"/>
                      <a:endCxn id="39974" idx="3"/>
                    </p:cNvCxnSpPr>
                    <p:nvPr/>
                  </p:nvCxnSpPr>
                  <p:spPr>
                    <a:xfrm>
                      <a:off x="1043608" y="2564904"/>
                      <a:ext cx="0" cy="576064"/>
                    </a:xfrm>
                    <a:prstGeom prst="line">
                      <a:avLst/>
                    </a:prstGeom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9989" name="直接连接符 37"/>
                    <p:cNvCxnSpPr>
                      <a:stCxn id="39965" idx="7"/>
                      <a:endCxn id="39974" idx="3"/>
                    </p:cNvCxnSpPr>
                    <p:nvPr/>
                  </p:nvCxnSpPr>
                  <p:spPr>
                    <a:xfrm>
                      <a:off x="1907704" y="2564904"/>
                      <a:ext cx="0" cy="576064"/>
                    </a:xfrm>
                    <a:prstGeom prst="line">
                      <a:avLst/>
                    </a:prstGeom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9990" name="直接连接符 39"/>
                    <p:cNvCxnSpPr>
                      <a:stCxn id="39965" idx="7"/>
                      <a:endCxn id="39974" idx="3"/>
                    </p:cNvCxnSpPr>
                    <p:nvPr/>
                  </p:nvCxnSpPr>
                  <p:spPr>
                    <a:xfrm>
                      <a:off x="1115616" y="3212976"/>
                      <a:ext cx="720080" cy="0"/>
                    </a:xfrm>
                    <a:prstGeom prst="line">
                      <a:avLst/>
                    </a:prstGeom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39991" name="TextBox 45"/>
                  <p:cNvSpPr txBox="1"/>
                  <p:nvPr/>
                </p:nvSpPr>
                <p:spPr>
                  <a:xfrm>
                    <a:off x="827592" y="2132814"/>
                    <a:ext cx="338566" cy="46193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>
                      <a:buSzTx/>
                    </a:pPr>
                    <a:r>
                      <a:rPr lang="en-US" altLang="zh-CN" sz="2400" i="1">
                        <a:latin typeface="Times New Roman" panose="02020603050405020304" charset="0"/>
                        <a:ea typeface="宋体" panose="02010600030101010101" pitchFamily="2" charset="-122"/>
                      </a:rPr>
                      <a:t>a</a:t>
                    </a:r>
                    <a:endParaRPr lang="zh-CN" altLang="en-US" sz="2400" baseline="-25000">
                      <a:latin typeface="Times New Roman" panose="020206030504050203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992" name="TextBox 46"/>
                  <p:cNvSpPr txBox="1"/>
                  <p:nvPr/>
                </p:nvSpPr>
                <p:spPr>
                  <a:xfrm>
                    <a:off x="660141" y="3618898"/>
                    <a:ext cx="338566" cy="46193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>
                      <a:buSzTx/>
                    </a:pPr>
                    <a:r>
                      <a:rPr lang="en-US" altLang="zh-CN" sz="2400" i="1">
                        <a:latin typeface="Times New Roman" panose="02020603050405020304" charset="0"/>
                        <a:ea typeface="宋体" panose="02010600030101010101" pitchFamily="2" charset="-122"/>
                      </a:rPr>
                      <a:t>d</a:t>
                    </a:r>
                    <a:endParaRPr lang="zh-CN" altLang="en-US" sz="2400" baseline="-25000">
                      <a:latin typeface="Times New Roman" panose="020206030504050203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993" name="TextBox 47"/>
                  <p:cNvSpPr txBox="1"/>
                  <p:nvPr/>
                </p:nvSpPr>
                <p:spPr>
                  <a:xfrm>
                    <a:off x="3219619" y="3661314"/>
                    <a:ext cx="320933" cy="46192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>
                      <a:buSzTx/>
                    </a:pPr>
                    <a:r>
                      <a:rPr lang="en-US" altLang="zh-CN" sz="2400" i="1">
                        <a:latin typeface="Times New Roman" panose="02020603050405020304" charset="0"/>
                        <a:ea typeface="宋体" panose="02010600030101010101" pitchFamily="2" charset="-122"/>
                      </a:rPr>
                      <a:t>e</a:t>
                    </a:r>
                    <a:endParaRPr lang="zh-CN" altLang="en-US" sz="2400" baseline="-25000">
                      <a:latin typeface="Times New Roman" panose="020206030504050203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994" name="TextBox 48"/>
                  <p:cNvSpPr txBox="1"/>
                  <p:nvPr/>
                </p:nvSpPr>
                <p:spPr>
                  <a:xfrm>
                    <a:off x="2028339" y="3589263"/>
                    <a:ext cx="320933" cy="46193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>
                      <a:buSzTx/>
                    </a:pPr>
                    <a:r>
                      <a:rPr lang="en-US" altLang="zh-CN" sz="2400" i="1">
                        <a:latin typeface="Times New Roman" panose="02020603050405020304" charset="0"/>
                        <a:ea typeface="宋体" panose="02010600030101010101" pitchFamily="2" charset="-122"/>
                      </a:rPr>
                      <a:t>c</a:t>
                    </a:r>
                    <a:endParaRPr lang="zh-CN" altLang="en-US" sz="2400" baseline="-25000">
                      <a:latin typeface="Times New Roman" panose="020206030504050203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995" name="TextBox 49"/>
                  <p:cNvSpPr txBox="1"/>
                  <p:nvPr/>
                </p:nvSpPr>
                <p:spPr>
                  <a:xfrm>
                    <a:off x="2195792" y="2276872"/>
                    <a:ext cx="338566" cy="46193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>
                      <a:buSzTx/>
                    </a:pPr>
                    <a:r>
                      <a:rPr lang="en-US" altLang="zh-CN" sz="2400" i="1">
                        <a:latin typeface="Times New Roman" panose="02020603050405020304" charset="0"/>
                        <a:ea typeface="宋体" panose="02010600030101010101" pitchFamily="2" charset="-122"/>
                      </a:rPr>
                      <a:t>b</a:t>
                    </a:r>
                    <a:endParaRPr lang="zh-CN" altLang="en-US" sz="2400" baseline="-25000">
                      <a:latin typeface="Times New Roman" panose="0202060305040502030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39996" name="椭圆 31"/>
                <p:cNvSpPr/>
                <p:nvPr/>
              </p:nvSpPr>
              <p:spPr>
                <a:xfrm>
                  <a:off x="3349563" y="1771109"/>
                  <a:ext cx="190899" cy="190796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55" name="直线连接符 54"/>
                <p:cNvCxnSpPr>
                  <a:stCxn id="40001" idx="0"/>
                  <a:endCxn id="39996" idx="4"/>
                </p:cNvCxnSpPr>
                <p:nvPr/>
              </p:nvCxnSpPr>
              <p:spPr bwMode="auto">
                <a:xfrm flipV="1">
                  <a:off x="3445110" y="1961609"/>
                  <a:ext cx="0" cy="79232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线连接符 55"/>
                <p:cNvCxnSpPr>
                  <a:stCxn id="40002" idx="2"/>
                  <a:endCxn id="40001" idx="6"/>
                </p:cNvCxnSpPr>
                <p:nvPr/>
              </p:nvCxnSpPr>
              <p:spPr bwMode="auto">
                <a:xfrm flipH="1" flipV="1">
                  <a:off x="3540357" y="2849204"/>
                  <a:ext cx="1393786" cy="2540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线连接符 56"/>
                <p:cNvCxnSpPr>
                  <a:stCxn id="40001" idx="2"/>
                  <a:endCxn id="39986" idx="6"/>
                </p:cNvCxnSpPr>
                <p:nvPr/>
              </p:nvCxnSpPr>
              <p:spPr bwMode="auto">
                <a:xfrm flipH="1" flipV="1">
                  <a:off x="2308492" y="2828563"/>
                  <a:ext cx="1041371" cy="20641"/>
                </a:xfrm>
                <a:prstGeom prst="line">
                  <a:avLst/>
                </a:prstGeom>
                <a:ln w="19050"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线连接符 57"/>
                <p:cNvCxnSpPr>
                  <a:stCxn id="40001" idx="2"/>
                  <a:endCxn id="39986" idx="6"/>
                </p:cNvCxnSpPr>
                <p:nvPr/>
              </p:nvCxnSpPr>
              <p:spPr bwMode="auto">
                <a:xfrm flipV="1">
                  <a:off x="2279918" y="1882218"/>
                  <a:ext cx="1098519" cy="7939"/>
                </a:xfrm>
                <a:prstGeom prst="line">
                  <a:avLst/>
                </a:prstGeom>
                <a:ln w="19050"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001" name="椭圆 31"/>
              <p:cNvSpPr/>
              <p:nvPr/>
            </p:nvSpPr>
            <p:spPr>
              <a:xfrm>
                <a:off x="4885157" y="4941168"/>
                <a:ext cx="190899" cy="190796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002" name="椭圆 31"/>
              <p:cNvSpPr/>
              <p:nvPr/>
            </p:nvSpPr>
            <p:spPr>
              <a:xfrm>
                <a:off x="6469333" y="4966396"/>
                <a:ext cx="190899" cy="190796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003" name="TextBox 46"/>
              <p:cNvSpPr txBox="1"/>
              <p:nvPr/>
            </p:nvSpPr>
            <p:spPr>
              <a:xfrm>
                <a:off x="6321677" y="5111254"/>
                <a:ext cx="287258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f</a:t>
                </a:r>
                <a:endParaRPr lang="zh-CN" altLang="en-US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004" name="TextBox 46"/>
              <p:cNvSpPr txBox="1"/>
              <p:nvPr/>
            </p:nvSpPr>
            <p:spPr>
              <a:xfrm>
                <a:off x="5047456" y="3769345"/>
                <a:ext cx="338555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g</a:t>
                </a:r>
                <a:endParaRPr lang="zh-CN" altLang="en-US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0005" name="TextBox 46"/>
            <p:cNvSpPr txBox="1"/>
            <p:nvPr/>
          </p:nvSpPr>
          <p:spPr>
            <a:xfrm>
              <a:off x="4377255" y="5839888"/>
              <a:ext cx="56457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800" i="1"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r>
                <a:rPr lang="en-US" altLang="zh-CN" sz="28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8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00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>
                <a:solidFill>
                  <a:srgbClr val="FF0000"/>
                </a:solidFill>
              </a:rPr>
              <a:t>课后作业</a:t>
            </a:r>
            <a:r>
              <a:rPr lang="zh-CN" altLang="en-US" sz="3600">
                <a:solidFill>
                  <a:srgbClr val="FF0000"/>
                </a:solidFill>
              </a:rPr>
              <a:t>二：</a:t>
            </a:r>
            <a:endParaRPr lang="zh-CN" altLang="en-US" sz="3600">
              <a:solidFill>
                <a:srgbClr val="FF0000"/>
              </a:solidFill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3845" y="1936750"/>
            <a:ext cx="1949450" cy="21145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3"/>
          <p:cNvSpPr>
            <a:spLocks noGrp="1"/>
          </p:cNvSpPr>
          <p:nvPr>
            <p:ph idx="1"/>
          </p:nvPr>
        </p:nvSpPr>
        <p:spPr>
          <a:xfrm>
            <a:off x="297180" y="1557655"/>
            <a:ext cx="8839200" cy="4103370"/>
          </a:xfrm>
        </p:spPr>
        <p:txBody>
          <a:bodyPr vert="horz" wrap="square" lIns="91440" tIns="45720" rIns="91440" bIns="45720" anchor="t" anchorCtr="0"/>
          <a:p>
            <a:pPr algn="just">
              <a:spcBef>
                <a:spcPct val="10000"/>
              </a:spcBef>
            </a:pPr>
            <a:r>
              <a:rPr lang="en-US" altLang="zh-CN"/>
              <a:t>r,s</a:t>
            </a:r>
            <a:r>
              <a:rPr lang="zh-CN" altLang="en-US"/>
              <a:t>满足什么条件时</a:t>
            </a:r>
            <a:r>
              <a:rPr lang="en-US" altLang="zh-CN"/>
              <a:t>,K</a:t>
            </a:r>
            <a:r>
              <a:rPr lang="en-US" altLang="zh-CN" baseline="-25000"/>
              <a:t>r,s</a:t>
            </a:r>
            <a:r>
              <a:rPr lang="zh-CN" altLang="en-US"/>
              <a:t>是欧拉图？</a:t>
            </a:r>
            <a:endParaRPr lang="en-US" altLang="zh-CN"/>
          </a:p>
          <a:p>
            <a:pPr algn="just">
              <a:spcBef>
                <a:spcPct val="10000"/>
              </a:spcBef>
            </a:pPr>
            <a:r>
              <a:rPr lang="en-US" altLang="zh-CN"/>
              <a:t>r,s</a:t>
            </a:r>
            <a:r>
              <a:rPr lang="zh-CN" altLang="en-US"/>
              <a:t>满足什么条件时</a:t>
            </a:r>
            <a:r>
              <a:rPr lang="en-US" altLang="zh-CN"/>
              <a:t>,K</a:t>
            </a:r>
            <a:r>
              <a:rPr lang="en-US" altLang="zh-CN" baseline="-25000"/>
              <a:t>r,s</a:t>
            </a:r>
            <a:r>
              <a:rPr lang="zh-CN" altLang="en-US"/>
              <a:t>有欧拉通路</a:t>
            </a:r>
            <a:r>
              <a:rPr lang="en-US" altLang="zh-CN"/>
              <a:t>,</a:t>
            </a:r>
            <a:r>
              <a:rPr lang="zh-CN" altLang="en-US"/>
              <a:t>但没有欧拉回路？</a:t>
            </a:r>
            <a:endParaRPr lang="en-US" altLang="zh-CN"/>
          </a:p>
          <a:p>
            <a:pPr algn="just">
              <a:spcBef>
                <a:spcPct val="10000"/>
              </a:spcBef>
            </a:pPr>
            <a:r>
              <a:rPr lang="en-US" altLang="zh-CN"/>
              <a:t>r,s</a:t>
            </a:r>
            <a:r>
              <a:rPr lang="zh-CN" altLang="en-US"/>
              <a:t>满足什么条件时</a:t>
            </a:r>
            <a:r>
              <a:rPr lang="en-US" altLang="zh-CN"/>
              <a:t>,K</a:t>
            </a:r>
            <a:r>
              <a:rPr lang="en-US" altLang="zh-CN" baseline="-25000"/>
              <a:t>r,s</a:t>
            </a:r>
            <a:r>
              <a:rPr lang="zh-CN" altLang="en-US"/>
              <a:t>是哈密顿图？</a:t>
            </a:r>
            <a:endParaRPr lang="en-US" altLang="zh-CN"/>
          </a:p>
          <a:p>
            <a:pPr algn="just">
              <a:spcBef>
                <a:spcPct val="10000"/>
              </a:spcBef>
            </a:pPr>
            <a:r>
              <a:rPr lang="en-US" altLang="zh-CN"/>
              <a:t>r,s</a:t>
            </a:r>
            <a:r>
              <a:rPr lang="zh-CN" altLang="en-US"/>
              <a:t>满足什么条件时</a:t>
            </a:r>
            <a:r>
              <a:rPr lang="en-US" altLang="zh-CN"/>
              <a:t>,K</a:t>
            </a:r>
            <a:r>
              <a:rPr lang="en-US" altLang="zh-CN" baseline="-25000"/>
              <a:t>r,s</a:t>
            </a:r>
            <a:r>
              <a:rPr lang="zh-CN" altLang="en-US"/>
              <a:t>含有哈密顿通路</a:t>
            </a:r>
            <a:r>
              <a:rPr lang="en-US" altLang="zh-CN"/>
              <a:t>,</a:t>
            </a:r>
            <a:r>
              <a:rPr lang="zh-CN" altLang="en-US"/>
              <a:t>没有哈密顿回路？</a:t>
            </a:r>
            <a:endParaRPr lang="en-US" altLang="zh-CN"/>
          </a:p>
          <a:p>
            <a:pPr algn="just">
              <a:spcBef>
                <a:spcPct val="10000"/>
              </a:spcBef>
              <a:buNone/>
            </a:pPr>
            <a:endParaRPr lang="en-US" altLang="zh-CN"/>
          </a:p>
        </p:txBody>
      </p:sp>
      <p:sp>
        <p:nvSpPr>
          <p:cNvPr id="4198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>
                <a:solidFill>
                  <a:srgbClr val="FF0000"/>
                </a:solidFill>
              </a:rPr>
              <a:t>课后作业</a:t>
            </a:r>
            <a:r>
              <a:rPr lang="zh-CN" altLang="en-US" sz="3600">
                <a:solidFill>
                  <a:srgbClr val="FF0000"/>
                </a:solidFill>
              </a:rPr>
              <a:t>三：</a:t>
            </a:r>
            <a:endParaRPr lang="zh-CN" altLang="en-US" sz="3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文本框 3"/>
          <p:cNvSpPr txBox="1"/>
          <p:nvPr/>
        </p:nvSpPr>
        <p:spPr>
          <a:xfrm>
            <a:off x="755650" y="1484630"/>
            <a:ext cx="7297738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书后习题：</a:t>
            </a:r>
            <a:endParaRPr lang="zh-CN" altLang="en-US" sz="280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endParaRPr lang="zh-CN" altLang="en-US" sz="280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P143 </a:t>
            </a:r>
            <a:r>
              <a:rPr lang="zh-CN" altLang="en-US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习题八：</a:t>
            </a:r>
            <a:r>
              <a:rPr lang="en-US" altLang="zh-CN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9</a:t>
            </a:r>
            <a:r>
              <a:rPr lang="zh-CN" altLang="en-US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12</a:t>
            </a:r>
            <a:r>
              <a:rPr lang="zh-CN" altLang="en-US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13</a:t>
            </a:r>
            <a:endParaRPr lang="en-US" altLang="zh-CN" sz="280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>
                <a:solidFill>
                  <a:srgbClr val="FF0000"/>
                </a:solidFill>
              </a:rPr>
              <a:t>课后作业</a:t>
            </a:r>
            <a:r>
              <a:rPr lang="zh-CN" altLang="en-US" sz="3600">
                <a:solidFill>
                  <a:srgbClr val="FF0000"/>
                </a:solidFill>
              </a:rPr>
              <a:t>四：</a:t>
            </a:r>
            <a:endParaRPr lang="zh-CN" altLang="en-US" sz="3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有向半哈密顿图的充分条件</a:t>
            </a:r>
            <a:endParaRPr lang="zh-CN" altLang="en-US"/>
          </a:p>
        </p:txBody>
      </p:sp>
      <p:sp>
        <p:nvSpPr>
          <p:cNvPr id="43010" name="Rectangle 3"/>
          <p:cNvSpPr>
            <a:spLocks noGrp="1"/>
          </p:cNvSpPr>
          <p:nvPr>
            <p:ph idx="1"/>
          </p:nvPr>
        </p:nvSpPr>
        <p:spPr>
          <a:ln w="19050"/>
        </p:spPr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8.9: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D</a:t>
            </a:r>
            <a:r>
              <a:rPr lang="zh-CN" altLang="en-US"/>
              <a:t>是</a:t>
            </a:r>
            <a:r>
              <a:rPr lang="en-US" altLang="zh-CN" i="1"/>
              <a:t>n</a:t>
            </a:r>
            <a:r>
              <a:rPr lang="en-US" altLang="zh-CN"/>
              <a:t>(≥2)</a:t>
            </a:r>
            <a:r>
              <a:rPr lang="zh-CN" altLang="en-US"/>
              <a:t>阶竞赛图</a:t>
            </a:r>
            <a:r>
              <a:rPr lang="en-US" altLang="zh-CN"/>
              <a:t>, </a:t>
            </a:r>
            <a:r>
              <a:rPr lang="zh-CN" altLang="en-US"/>
              <a:t>则</a:t>
            </a:r>
            <a:r>
              <a:rPr lang="en-US" altLang="zh-CN"/>
              <a:t>D</a:t>
            </a:r>
            <a:r>
              <a:rPr lang="zh-CN" altLang="en-US"/>
              <a:t>是半哈密顿图</a:t>
            </a:r>
            <a:r>
              <a:rPr lang="en-US" altLang="zh-CN"/>
              <a:t>. 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zh-CN" altLang="en-US"/>
              <a:t>设</a:t>
            </a:r>
            <a:r>
              <a:rPr lang="en-US" altLang="zh-CN"/>
              <a:t>D</a:t>
            </a:r>
            <a:r>
              <a:rPr lang="zh-CN" altLang="en-US"/>
              <a:t>是</a:t>
            </a:r>
            <a:r>
              <a:rPr lang="en-US" altLang="zh-CN" i="1"/>
              <a:t>n</a:t>
            </a:r>
            <a:r>
              <a:rPr lang="zh-CN" altLang="en-US"/>
              <a:t>阶有向图</a:t>
            </a:r>
            <a:r>
              <a:rPr lang="en-US" altLang="zh-CN"/>
              <a:t>, </a:t>
            </a:r>
            <a:r>
              <a:rPr lang="zh-CN" altLang="en-US"/>
              <a:t>若</a:t>
            </a:r>
            <a:r>
              <a:rPr lang="en-US" altLang="zh-CN"/>
              <a:t>D</a:t>
            </a:r>
            <a:r>
              <a:rPr lang="zh-CN" altLang="en-US"/>
              <a:t>含</a:t>
            </a:r>
            <a:r>
              <a:rPr lang="en-US" altLang="zh-CN" i="1"/>
              <a:t>n</a:t>
            </a:r>
            <a:r>
              <a:rPr lang="zh-CN" altLang="en-US"/>
              <a:t>阶竞赛图作为子图</a:t>
            </a:r>
            <a:r>
              <a:rPr lang="en-US" altLang="zh-CN"/>
              <a:t>, </a:t>
            </a:r>
            <a:r>
              <a:rPr lang="zh-CN" altLang="en-US"/>
              <a:t>则</a:t>
            </a:r>
            <a:r>
              <a:rPr lang="en-US" altLang="zh-CN"/>
              <a:t>D</a:t>
            </a:r>
            <a:r>
              <a:rPr lang="zh-CN" altLang="en-US"/>
              <a:t>是半哈密顿图</a:t>
            </a:r>
            <a:r>
              <a:rPr lang="en-US" altLang="zh-CN"/>
              <a:t>. </a:t>
            </a:r>
            <a:endParaRPr lang="en-US" altLang="zh-CN"/>
          </a:p>
          <a:p>
            <a:r>
              <a:rPr lang="zh-CN" altLang="en-US"/>
              <a:t>证明方法：对顶点</a:t>
            </a:r>
            <a:r>
              <a:rPr lang="en-US" altLang="zh-CN" i="1"/>
              <a:t>n</a:t>
            </a:r>
            <a:r>
              <a:rPr lang="zh-CN" altLang="en-US"/>
              <a:t>作归纳</a:t>
            </a:r>
            <a:endParaRPr lang="en-US" altLang="zh-CN"/>
          </a:p>
          <a:p>
            <a:pPr>
              <a:buNone/>
            </a:pPr>
            <a:r>
              <a:rPr lang="zh-CN" altLang="en-US"/>
              <a:t>当</a:t>
            </a:r>
            <a:r>
              <a:rPr lang="en-US" altLang="zh-CN" i="1"/>
              <a:t>n</a:t>
            </a:r>
            <a:r>
              <a:rPr lang="en-US" altLang="zh-CN"/>
              <a:t>=2</a:t>
            </a:r>
            <a:r>
              <a:rPr lang="zh-CN" altLang="en-US"/>
              <a:t>时</a:t>
            </a:r>
            <a:r>
              <a:rPr lang="en-US" altLang="zh-CN"/>
              <a:t>,D</a:t>
            </a:r>
            <a:r>
              <a:rPr lang="zh-CN" altLang="en-US"/>
              <a:t>的基图是</a:t>
            </a:r>
            <a:r>
              <a:rPr lang="en-US" altLang="zh-CN"/>
              <a:t>K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zh-CN" altLang="en-US"/>
              <a:t>显然</a:t>
            </a:r>
            <a:r>
              <a:rPr lang="en-US" altLang="zh-CN"/>
              <a:t>D</a:t>
            </a:r>
            <a:r>
              <a:rPr lang="zh-CN" altLang="en-US"/>
              <a:t>是半哈密顿图</a:t>
            </a:r>
            <a:r>
              <a:rPr lang="en-US" altLang="zh-CN"/>
              <a:t>.</a:t>
            </a:r>
            <a:endParaRPr lang="en-US" altLang="zh-CN"/>
          </a:p>
          <a:p>
            <a:pPr>
              <a:buNone/>
            </a:pPr>
            <a:r>
              <a:rPr lang="zh-CN" altLang="en-US"/>
              <a:t>设</a:t>
            </a:r>
            <a:r>
              <a:rPr lang="en-US" altLang="zh-CN"/>
              <a:t>n=</a:t>
            </a:r>
            <a:r>
              <a:rPr lang="en-US" altLang="zh-CN" i="1"/>
              <a:t>k</a:t>
            </a:r>
            <a:r>
              <a:rPr lang="zh-CN" altLang="en-US"/>
              <a:t>时</a:t>
            </a:r>
            <a:r>
              <a:rPr lang="en-US" altLang="zh-CN"/>
              <a:t>, D</a:t>
            </a:r>
            <a:r>
              <a:rPr lang="zh-CN" altLang="en-US"/>
              <a:t>是半哈密顿图</a:t>
            </a:r>
            <a:r>
              <a:rPr lang="en-US" altLang="zh-CN"/>
              <a:t>,</a:t>
            </a:r>
            <a:r>
              <a:rPr lang="zh-CN" altLang="en-US"/>
              <a:t>下面证明</a:t>
            </a:r>
            <a:r>
              <a:rPr lang="en-US" altLang="zh-CN" i="1"/>
              <a:t>n</a:t>
            </a:r>
            <a:r>
              <a:rPr lang="en-US" altLang="zh-CN"/>
              <a:t>=</a:t>
            </a:r>
            <a:r>
              <a:rPr lang="en-US" altLang="zh-CN" i="1"/>
              <a:t>k</a:t>
            </a:r>
            <a:r>
              <a:rPr lang="en-US" altLang="zh-CN"/>
              <a:t>+1</a:t>
            </a:r>
            <a:r>
              <a:rPr lang="zh-CN" altLang="en-US"/>
              <a:t>时</a:t>
            </a:r>
            <a:r>
              <a:rPr lang="en-US" altLang="zh-CN"/>
              <a:t>, D</a:t>
            </a:r>
            <a:r>
              <a:rPr lang="zh-CN" altLang="en-US"/>
              <a:t>是半哈密顿图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charRg st="32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charRg st="7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charRg st="83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charRg st="108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有向半哈密顿图的充分条件</a:t>
            </a:r>
            <a:endParaRPr lang="zh-CN" altLang="en-US"/>
          </a:p>
        </p:txBody>
      </p:sp>
      <p:grpSp>
        <p:nvGrpSpPr>
          <p:cNvPr id="46083" name="组 3"/>
          <p:cNvGrpSpPr/>
          <p:nvPr/>
        </p:nvGrpSpPr>
        <p:grpSpPr>
          <a:xfrm>
            <a:off x="827088" y="1557338"/>
            <a:ext cx="7189787" cy="2209800"/>
            <a:chOff x="827088" y="1556792"/>
            <a:chExt cx="7189787" cy="2211065"/>
          </a:xfrm>
        </p:grpSpPr>
        <p:sp>
          <p:nvSpPr>
            <p:cNvPr id="46084" name="Freeform 2"/>
            <p:cNvSpPr/>
            <p:nvPr/>
          </p:nvSpPr>
          <p:spPr>
            <a:xfrm>
              <a:off x="2386013" y="2508647"/>
              <a:ext cx="288925" cy="307975"/>
            </a:xfrm>
            <a:custGeom>
              <a:avLst/>
              <a:gdLst/>
              <a:ahLst/>
              <a:cxnLst>
                <a:cxn ang="0">
                  <a:pos x="0" y="57802"/>
                </a:cxn>
                <a:cxn ang="0">
                  <a:pos x="96735" y="38533"/>
                </a:cxn>
                <a:cxn ang="0">
                  <a:pos x="154776" y="19269"/>
                </a:cxn>
                <a:cxn ang="0">
                  <a:pos x="270857" y="0"/>
                </a:cxn>
                <a:cxn ang="0">
                  <a:pos x="290204" y="57802"/>
                </a:cxn>
                <a:cxn ang="0">
                  <a:pos x="193470" y="231206"/>
                </a:cxn>
                <a:cxn ang="0">
                  <a:pos x="154776" y="308271"/>
                </a:cxn>
              </a:cxnLst>
              <a:pathLst>
                <a:path w="288606" h="307901">
                  <a:moveTo>
                    <a:pt x="0" y="57732"/>
                  </a:moveTo>
                  <a:cubicBezTo>
                    <a:pt x="32067" y="51317"/>
                    <a:pt x="64476" y="46421"/>
                    <a:pt x="96202" y="38488"/>
                  </a:cubicBezTo>
                  <a:cubicBezTo>
                    <a:pt x="115878" y="33568"/>
                    <a:pt x="134125" y="23644"/>
                    <a:pt x="153923" y="19244"/>
                  </a:cubicBezTo>
                  <a:cubicBezTo>
                    <a:pt x="192005" y="10780"/>
                    <a:pt x="230884" y="6415"/>
                    <a:pt x="269365" y="0"/>
                  </a:cubicBezTo>
                  <a:cubicBezTo>
                    <a:pt x="275779" y="19244"/>
                    <a:pt x="288606" y="37447"/>
                    <a:pt x="288606" y="57732"/>
                  </a:cubicBezTo>
                  <a:cubicBezTo>
                    <a:pt x="288606" y="108535"/>
                    <a:pt x="203392" y="214441"/>
                    <a:pt x="192404" y="230926"/>
                  </a:cubicBezTo>
                  <a:cubicBezTo>
                    <a:pt x="150365" y="293996"/>
                    <a:pt x="153923" y="265530"/>
                    <a:pt x="153923" y="307901"/>
                  </a:cubicBezTo>
                </a:path>
              </a:pathLst>
            </a:cu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085" name="Freeform 3"/>
            <p:cNvSpPr/>
            <p:nvPr/>
          </p:nvSpPr>
          <p:spPr>
            <a:xfrm>
              <a:off x="5445125" y="2276872"/>
              <a:ext cx="346075" cy="425450"/>
            </a:xfrm>
            <a:custGeom>
              <a:avLst/>
              <a:gdLst/>
              <a:ahLst/>
              <a:cxnLst>
                <a:cxn ang="0">
                  <a:pos x="134193" y="0"/>
                </a:cxn>
                <a:cxn ang="0">
                  <a:pos x="230045" y="135790"/>
                </a:cxn>
                <a:cxn ang="0">
                  <a:pos x="306728" y="252181"/>
                </a:cxn>
                <a:cxn ang="0">
                  <a:pos x="345069" y="310376"/>
                </a:cxn>
                <a:cxn ang="0">
                  <a:pos x="287557" y="368572"/>
                </a:cxn>
                <a:cxn ang="0">
                  <a:pos x="210875" y="387971"/>
                </a:cxn>
                <a:cxn ang="0">
                  <a:pos x="115023" y="407369"/>
                </a:cxn>
                <a:cxn ang="0">
                  <a:pos x="57511" y="426768"/>
                </a:cxn>
                <a:cxn ang="0">
                  <a:pos x="0" y="426768"/>
                </a:cxn>
              </a:cxnLst>
              <a:pathLst>
                <a:path w="346327" h="424769">
                  <a:moveTo>
                    <a:pt x="134683" y="0"/>
                  </a:moveTo>
                  <a:cubicBezTo>
                    <a:pt x="227065" y="230996"/>
                    <a:pt x="114088" y="1202"/>
                    <a:pt x="230885" y="134707"/>
                  </a:cubicBezTo>
                  <a:cubicBezTo>
                    <a:pt x="261340" y="169519"/>
                    <a:pt x="282193" y="211682"/>
                    <a:pt x="307847" y="250169"/>
                  </a:cubicBezTo>
                  <a:lnTo>
                    <a:pt x="346327" y="307900"/>
                  </a:lnTo>
                  <a:cubicBezTo>
                    <a:pt x="327087" y="327144"/>
                    <a:pt x="312232" y="352129"/>
                    <a:pt x="288606" y="365632"/>
                  </a:cubicBezTo>
                  <a:cubicBezTo>
                    <a:pt x="265648" y="378754"/>
                    <a:pt x="237459" y="379139"/>
                    <a:pt x="211645" y="384876"/>
                  </a:cubicBezTo>
                  <a:cubicBezTo>
                    <a:pt x="179721" y="391971"/>
                    <a:pt x="147169" y="396186"/>
                    <a:pt x="115443" y="404119"/>
                  </a:cubicBezTo>
                  <a:cubicBezTo>
                    <a:pt x="95767" y="409039"/>
                    <a:pt x="77727" y="420028"/>
                    <a:pt x="57721" y="423363"/>
                  </a:cubicBezTo>
                  <a:cubicBezTo>
                    <a:pt x="38743" y="426527"/>
                    <a:pt x="19240" y="423363"/>
                    <a:pt x="0" y="423363"/>
                  </a:cubicBezTo>
                </a:path>
              </a:pathLst>
            </a:cu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6086" name="组 2"/>
            <p:cNvGrpSpPr/>
            <p:nvPr/>
          </p:nvGrpSpPr>
          <p:grpSpPr>
            <a:xfrm>
              <a:off x="827088" y="1556792"/>
              <a:ext cx="7189787" cy="2211065"/>
              <a:chOff x="827088" y="3429000"/>
              <a:chExt cx="7189787" cy="2211065"/>
            </a:xfrm>
          </p:grpSpPr>
          <p:grpSp>
            <p:nvGrpSpPr>
              <p:cNvPr id="46087" name="Group 44"/>
              <p:cNvGrpSpPr/>
              <p:nvPr/>
            </p:nvGrpSpPr>
            <p:grpSpPr>
              <a:xfrm>
                <a:off x="827088" y="3789040"/>
                <a:ext cx="7189787" cy="1851025"/>
                <a:chOff x="521" y="2387"/>
                <a:chExt cx="4529" cy="1166"/>
              </a:xfrm>
            </p:grpSpPr>
            <p:sp>
              <p:nvSpPr>
                <p:cNvPr id="46088" name="Line 23"/>
                <p:cNvSpPr/>
                <p:nvPr/>
              </p:nvSpPr>
              <p:spPr>
                <a:xfrm>
                  <a:off x="741" y="3267"/>
                  <a:ext cx="4089" cy="0"/>
                </a:xfrm>
                <a:prstGeom prst="line">
                  <a:avLst/>
                </a:prstGeom>
                <a:ln w="28575" cap="flat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6089" name="Oval 5"/>
                <p:cNvSpPr/>
                <p:nvPr/>
              </p:nvSpPr>
              <p:spPr>
                <a:xfrm>
                  <a:off x="650" y="3219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0" name="Oval 6"/>
                <p:cNvSpPr/>
                <p:nvPr/>
              </p:nvSpPr>
              <p:spPr>
                <a:xfrm>
                  <a:off x="1073" y="3219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1" name="Oval 7"/>
                <p:cNvSpPr/>
                <p:nvPr/>
              </p:nvSpPr>
              <p:spPr>
                <a:xfrm>
                  <a:off x="1520" y="3219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2" name="Oval 8"/>
                <p:cNvSpPr/>
                <p:nvPr/>
              </p:nvSpPr>
              <p:spPr>
                <a:xfrm>
                  <a:off x="1928" y="3219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3" name="Oval 9"/>
                <p:cNvSpPr/>
                <p:nvPr/>
              </p:nvSpPr>
              <p:spPr>
                <a:xfrm>
                  <a:off x="2381" y="3219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4" name="Text Box 11"/>
                <p:cNvSpPr txBox="1"/>
                <p:nvPr/>
              </p:nvSpPr>
              <p:spPr>
                <a:xfrm>
                  <a:off x="521" y="3249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5" name="Text Box 12"/>
                <p:cNvSpPr txBox="1"/>
                <p:nvPr/>
              </p:nvSpPr>
              <p:spPr>
                <a:xfrm>
                  <a:off x="982" y="3249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6" name="Text Box 13"/>
                <p:cNvSpPr txBox="1"/>
                <p:nvPr/>
              </p:nvSpPr>
              <p:spPr>
                <a:xfrm>
                  <a:off x="1436" y="3265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7" name="Oval 17"/>
                <p:cNvSpPr/>
                <p:nvPr/>
              </p:nvSpPr>
              <p:spPr>
                <a:xfrm>
                  <a:off x="2834" y="3228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8" name="Oval 18"/>
                <p:cNvSpPr/>
                <p:nvPr/>
              </p:nvSpPr>
              <p:spPr>
                <a:xfrm>
                  <a:off x="3289" y="3228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9" name="Oval 19"/>
                <p:cNvSpPr/>
                <p:nvPr/>
              </p:nvSpPr>
              <p:spPr>
                <a:xfrm>
                  <a:off x="3742" y="3228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0" name="Oval 20"/>
                <p:cNvSpPr/>
                <p:nvPr/>
              </p:nvSpPr>
              <p:spPr>
                <a:xfrm>
                  <a:off x="4241" y="3228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1" name="Oval 21"/>
                <p:cNvSpPr/>
                <p:nvPr/>
              </p:nvSpPr>
              <p:spPr>
                <a:xfrm>
                  <a:off x="4785" y="3228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2" name="Text Box 22"/>
                <p:cNvSpPr txBox="1"/>
                <p:nvPr/>
              </p:nvSpPr>
              <p:spPr>
                <a:xfrm>
                  <a:off x="4785" y="3203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i="1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k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3" name="AutoShape 27"/>
                <p:cNvSpPr/>
                <p:nvPr/>
              </p:nvSpPr>
              <p:spPr>
                <a:xfrm rot="5400000">
                  <a:off x="836" y="3218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4" name="AutoShape 28"/>
                <p:cNvSpPr/>
                <p:nvPr/>
              </p:nvSpPr>
              <p:spPr>
                <a:xfrm rot="5400000">
                  <a:off x="1289" y="3218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5" name="AutoShape 29"/>
                <p:cNvSpPr/>
                <p:nvPr/>
              </p:nvSpPr>
              <p:spPr>
                <a:xfrm rot="5400000">
                  <a:off x="1725" y="3219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6" name="AutoShape 30"/>
                <p:cNvSpPr/>
                <p:nvPr/>
              </p:nvSpPr>
              <p:spPr>
                <a:xfrm rot="5400000">
                  <a:off x="2142" y="3218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7" name="AutoShape 31"/>
                <p:cNvSpPr/>
                <p:nvPr/>
              </p:nvSpPr>
              <p:spPr>
                <a:xfrm rot="5400000">
                  <a:off x="2605" y="3218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8" name="AutoShape 32"/>
                <p:cNvSpPr/>
                <p:nvPr/>
              </p:nvSpPr>
              <p:spPr>
                <a:xfrm rot="5400000">
                  <a:off x="3031" y="3218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9" name="AutoShape 33"/>
                <p:cNvSpPr/>
                <p:nvPr/>
              </p:nvSpPr>
              <p:spPr>
                <a:xfrm rot="5400000">
                  <a:off x="3512" y="3219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10" name="AutoShape 34"/>
                <p:cNvSpPr/>
                <p:nvPr/>
              </p:nvSpPr>
              <p:spPr>
                <a:xfrm rot="5400000">
                  <a:off x="3965" y="3219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11" name="AutoShape 35"/>
                <p:cNvSpPr/>
                <p:nvPr/>
              </p:nvSpPr>
              <p:spPr>
                <a:xfrm rot="5400000">
                  <a:off x="4510" y="3218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12" name="Oval 36"/>
                <p:cNvSpPr/>
                <p:nvPr/>
              </p:nvSpPr>
              <p:spPr>
                <a:xfrm>
                  <a:off x="2517" y="2387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13" name="Line 37"/>
                <p:cNvSpPr/>
                <p:nvPr/>
              </p:nvSpPr>
              <p:spPr>
                <a:xfrm flipH="1">
                  <a:off x="703" y="2432"/>
                  <a:ext cx="1814" cy="81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sp>
            <p:sp>
              <p:nvSpPr>
                <p:cNvPr id="46114" name="Line 38"/>
                <p:cNvSpPr/>
                <p:nvPr/>
              </p:nvSpPr>
              <p:spPr>
                <a:xfrm flipV="1">
                  <a:off x="1565" y="2432"/>
                  <a:ext cx="997" cy="817"/>
                </a:xfrm>
                <a:prstGeom prst="line">
                  <a:avLst/>
                </a:prstGeom>
                <a:ln w="28575" cap="flat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2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1973" y="2478"/>
                  <a:ext cx="589" cy="7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1" i="0" u="none" strike="noStrike" kern="1200" cap="none" spc="0" normalizeH="0" baseline="0" noProof="0">
                    <a:ln w="12700" cmpd="sng"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46116" name="Line 40"/>
                <p:cNvSpPr/>
                <p:nvPr/>
              </p:nvSpPr>
              <p:spPr>
                <a:xfrm>
                  <a:off x="2562" y="2432"/>
                  <a:ext cx="2268" cy="817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46117" name="Text Box 22"/>
              <p:cNvSpPr txBox="1"/>
              <p:nvPr/>
            </p:nvSpPr>
            <p:spPr>
              <a:xfrm>
                <a:off x="4067944" y="3429000"/>
                <a:ext cx="643125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i="1" baseline="-25000">
                    <a:latin typeface="Times New Roman" panose="02020603050405020304" charset="0"/>
                    <a:ea typeface="宋体" panose="02010600030101010101" pitchFamily="2" charset="-122"/>
                  </a:rPr>
                  <a:t>k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+1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6118" name="组 12"/>
          <p:cNvGrpSpPr/>
          <p:nvPr/>
        </p:nvGrpSpPr>
        <p:grpSpPr>
          <a:xfrm>
            <a:off x="2887663" y="2738438"/>
            <a:ext cx="244475" cy="219075"/>
            <a:chOff x="2887365" y="2737816"/>
            <a:chExt cx="244773" cy="220417"/>
          </a:xfrm>
        </p:grpSpPr>
        <p:cxnSp>
          <p:nvCxnSpPr>
            <p:cNvPr id="46119" name="直线连接符 6"/>
            <p:cNvCxnSpPr/>
            <p:nvPr/>
          </p:nvCxnSpPr>
          <p:spPr>
            <a:xfrm flipV="1">
              <a:off x="2887365" y="2737816"/>
              <a:ext cx="244475" cy="43112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120" name="直线连接符 9"/>
            <p:cNvCxnSpPr/>
            <p:nvPr/>
          </p:nvCxnSpPr>
          <p:spPr>
            <a:xfrm flipH="1">
              <a:off x="3060700" y="2745434"/>
              <a:ext cx="71438" cy="212799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121" name="组 18"/>
          <p:cNvGrpSpPr/>
          <p:nvPr/>
        </p:nvGrpSpPr>
        <p:grpSpPr>
          <a:xfrm>
            <a:off x="3492500" y="2508250"/>
            <a:ext cx="230188" cy="273050"/>
            <a:chOff x="3549651" y="2508647"/>
            <a:chExt cx="230187" cy="272281"/>
          </a:xfrm>
        </p:grpSpPr>
        <p:cxnSp>
          <p:nvCxnSpPr>
            <p:cNvPr id="46122" name="直线连接符 14"/>
            <p:cNvCxnSpPr/>
            <p:nvPr/>
          </p:nvCxnSpPr>
          <p:spPr>
            <a:xfrm>
              <a:off x="3549651" y="2508647"/>
              <a:ext cx="0" cy="236787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123" name="直线连接符 16"/>
            <p:cNvCxnSpPr/>
            <p:nvPr/>
          </p:nvCxnSpPr>
          <p:spPr>
            <a:xfrm flipV="1">
              <a:off x="3549651" y="2702322"/>
              <a:ext cx="230187" cy="78606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124" name="组 19"/>
          <p:cNvGrpSpPr/>
          <p:nvPr/>
        </p:nvGrpSpPr>
        <p:grpSpPr>
          <a:xfrm>
            <a:off x="827088" y="3933825"/>
            <a:ext cx="7189787" cy="2209800"/>
            <a:chOff x="827584" y="3882231"/>
            <a:chExt cx="7189787" cy="2211065"/>
          </a:xfrm>
        </p:grpSpPr>
        <p:sp>
          <p:nvSpPr>
            <p:cNvPr id="46125" name="Line 23"/>
            <p:cNvSpPr/>
            <p:nvPr/>
          </p:nvSpPr>
          <p:spPr>
            <a:xfrm flipV="1">
              <a:off x="1175942" y="5652000"/>
              <a:ext cx="1266130" cy="292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26" name="Freeform 2"/>
            <p:cNvSpPr/>
            <p:nvPr/>
          </p:nvSpPr>
          <p:spPr>
            <a:xfrm>
              <a:off x="2386509" y="4834086"/>
              <a:ext cx="288925" cy="307975"/>
            </a:xfrm>
            <a:custGeom>
              <a:avLst/>
              <a:gdLst/>
              <a:ahLst/>
              <a:cxnLst>
                <a:cxn ang="0">
                  <a:pos x="0" y="57802"/>
                </a:cxn>
                <a:cxn ang="0">
                  <a:pos x="96735" y="38533"/>
                </a:cxn>
                <a:cxn ang="0">
                  <a:pos x="154776" y="19269"/>
                </a:cxn>
                <a:cxn ang="0">
                  <a:pos x="270857" y="0"/>
                </a:cxn>
                <a:cxn ang="0">
                  <a:pos x="290204" y="57802"/>
                </a:cxn>
                <a:cxn ang="0">
                  <a:pos x="193470" y="231206"/>
                </a:cxn>
                <a:cxn ang="0">
                  <a:pos x="154776" y="308271"/>
                </a:cxn>
              </a:cxnLst>
              <a:pathLst>
                <a:path w="288606" h="307901">
                  <a:moveTo>
                    <a:pt x="0" y="57732"/>
                  </a:moveTo>
                  <a:cubicBezTo>
                    <a:pt x="32067" y="51317"/>
                    <a:pt x="64476" y="46421"/>
                    <a:pt x="96202" y="38488"/>
                  </a:cubicBezTo>
                  <a:cubicBezTo>
                    <a:pt x="115878" y="33568"/>
                    <a:pt x="134125" y="23644"/>
                    <a:pt x="153923" y="19244"/>
                  </a:cubicBezTo>
                  <a:cubicBezTo>
                    <a:pt x="192005" y="10780"/>
                    <a:pt x="230884" y="6415"/>
                    <a:pt x="269365" y="0"/>
                  </a:cubicBezTo>
                  <a:cubicBezTo>
                    <a:pt x="275779" y="19244"/>
                    <a:pt x="288606" y="37447"/>
                    <a:pt x="288606" y="57732"/>
                  </a:cubicBezTo>
                  <a:cubicBezTo>
                    <a:pt x="288606" y="108535"/>
                    <a:pt x="203392" y="214441"/>
                    <a:pt x="192404" y="230926"/>
                  </a:cubicBezTo>
                  <a:cubicBezTo>
                    <a:pt x="150365" y="293996"/>
                    <a:pt x="153923" y="265530"/>
                    <a:pt x="153923" y="307901"/>
                  </a:cubicBezTo>
                </a:path>
              </a:pathLst>
            </a:cu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27" name="Freeform 3"/>
            <p:cNvSpPr/>
            <p:nvPr/>
          </p:nvSpPr>
          <p:spPr>
            <a:xfrm>
              <a:off x="5445621" y="4602311"/>
              <a:ext cx="346075" cy="425450"/>
            </a:xfrm>
            <a:custGeom>
              <a:avLst/>
              <a:gdLst/>
              <a:ahLst/>
              <a:cxnLst>
                <a:cxn ang="0">
                  <a:pos x="134193" y="0"/>
                </a:cxn>
                <a:cxn ang="0">
                  <a:pos x="230045" y="135790"/>
                </a:cxn>
                <a:cxn ang="0">
                  <a:pos x="306728" y="252181"/>
                </a:cxn>
                <a:cxn ang="0">
                  <a:pos x="345069" y="310376"/>
                </a:cxn>
                <a:cxn ang="0">
                  <a:pos x="287557" y="368572"/>
                </a:cxn>
                <a:cxn ang="0">
                  <a:pos x="210875" y="387971"/>
                </a:cxn>
                <a:cxn ang="0">
                  <a:pos x="115023" y="407369"/>
                </a:cxn>
                <a:cxn ang="0">
                  <a:pos x="57511" y="426768"/>
                </a:cxn>
                <a:cxn ang="0">
                  <a:pos x="0" y="426768"/>
                </a:cxn>
              </a:cxnLst>
              <a:pathLst>
                <a:path w="346327" h="424769">
                  <a:moveTo>
                    <a:pt x="134683" y="0"/>
                  </a:moveTo>
                  <a:cubicBezTo>
                    <a:pt x="227065" y="230996"/>
                    <a:pt x="114088" y="1202"/>
                    <a:pt x="230885" y="134707"/>
                  </a:cubicBezTo>
                  <a:cubicBezTo>
                    <a:pt x="261340" y="169519"/>
                    <a:pt x="282193" y="211682"/>
                    <a:pt x="307847" y="250169"/>
                  </a:cubicBezTo>
                  <a:lnTo>
                    <a:pt x="346327" y="307900"/>
                  </a:lnTo>
                  <a:cubicBezTo>
                    <a:pt x="327087" y="327144"/>
                    <a:pt x="312232" y="352129"/>
                    <a:pt x="288606" y="365632"/>
                  </a:cubicBezTo>
                  <a:cubicBezTo>
                    <a:pt x="265648" y="378754"/>
                    <a:pt x="237459" y="379139"/>
                    <a:pt x="211645" y="384876"/>
                  </a:cubicBezTo>
                  <a:cubicBezTo>
                    <a:pt x="179721" y="391971"/>
                    <a:pt x="147169" y="396186"/>
                    <a:pt x="115443" y="404119"/>
                  </a:cubicBezTo>
                  <a:cubicBezTo>
                    <a:pt x="95767" y="409039"/>
                    <a:pt x="77727" y="420028"/>
                    <a:pt x="57721" y="423363"/>
                  </a:cubicBezTo>
                  <a:cubicBezTo>
                    <a:pt x="38743" y="426527"/>
                    <a:pt x="19240" y="423363"/>
                    <a:pt x="0" y="423363"/>
                  </a:cubicBezTo>
                </a:path>
              </a:pathLst>
            </a:cu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6128" name="组 40"/>
            <p:cNvGrpSpPr/>
            <p:nvPr/>
          </p:nvGrpSpPr>
          <p:grpSpPr>
            <a:xfrm>
              <a:off x="827584" y="3882231"/>
              <a:ext cx="7189787" cy="2211065"/>
              <a:chOff x="827088" y="3429000"/>
              <a:chExt cx="7189787" cy="2211065"/>
            </a:xfrm>
          </p:grpSpPr>
          <p:grpSp>
            <p:nvGrpSpPr>
              <p:cNvPr id="46129" name="Group 44"/>
              <p:cNvGrpSpPr/>
              <p:nvPr/>
            </p:nvGrpSpPr>
            <p:grpSpPr>
              <a:xfrm>
                <a:off x="827088" y="3789040"/>
                <a:ext cx="7189787" cy="1851025"/>
                <a:chOff x="521" y="2387"/>
                <a:chExt cx="4529" cy="1166"/>
              </a:xfrm>
            </p:grpSpPr>
            <p:sp>
              <p:nvSpPr>
                <p:cNvPr id="46130" name="Line 23"/>
                <p:cNvSpPr/>
                <p:nvPr/>
              </p:nvSpPr>
              <p:spPr>
                <a:xfrm flipV="1">
                  <a:off x="1965" y="3267"/>
                  <a:ext cx="2865" cy="7"/>
                </a:xfrm>
                <a:prstGeom prst="line">
                  <a:avLst/>
                </a:prstGeom>
                <a:ln w="28575" cap="flat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6131" name="Oval 5"/>
                <p:cNvSpPr/>
                <p:nvPr/>
              </p:nvSpPr>
              <p:spPr>
                <a:xfrm>
                  <a:off x="650" y="3219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32" name="Oval 6"/>
                <p:cNvSpPr/>
                <p:nvPr/>
              </p:nvSpPr>
              <p:spPr>
                <a:xfrm>
                  <a:off x="1073" y="3219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33" name="Oval 7"/>
                <p:cNvSpPr/>
                <p:nvPr/>
              </p:nvSpPr>
              <p:spPr>
                <a:xfrm>
                  <a:off x="1520" y="3219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34" name="Oval 8"/>
                <p:cNvSpPr/>
                <p:nvPr/>
              </p:nvSpPr>
              <p:spPr>
                <a:xfrm>
                  <a:off x="1928" y="3219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35" name="Oval 9"/>
                <p:cNvSpPr/>
                <p:nvPr/>
              </p:nvSpPr>
              <p:spPr>
                <a:xfrm>
                  <a:off x="2381" y="3219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36" name="Text Box 11"/>
                <p:cNvSpPr txBox="1"/>
                <p:nvPr/>
              </p:nvSpPr>
              <p:spPr>
                <a:xfrm>
                  <a:off x="521" y="3249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37" name="Text Box 12"/>
                <p:cNvSpPr txBox="1"/>
                <p:nvPr/>
              </p:nvSpPr>
              <p:spPr>
                <a:xfrm>
                  <a:off x="982" y="3249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38" name="Text Box 13"/>
                <p:cNvSpPr txBox="1"/>
                <p:nvPr/>
              </p:nvSpPr>
              <p:spPr>
                <a:xfrm>
                  <a:off x="1435" y="3265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39" name="Oval 17"/>
                <p:cNvSpPr/>
                <p:nvPr/>
              </p:nvSpPr>
              <p:spPr>
                <a:xfrm>
                  <a:off x="2834" y="3228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40" name="Oval 18"/>
                <p:cNvSpPr/>
                <p:nvPr/>
              </p:nvSpPr>
              <p:spPr>
                <a:xfrm>
                  <a:off x="3289" y="3228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41" name="Oval 19"/>
                <p:cNvSpPr/>
                <p:nvPr/>
              </p:nvSpPr>
              <p:spPr>
                <a:xfrm>
                  <a:off x="3742" y="3228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42" name="Oval 20"/>
                <p:cNvSpPr/>
                <p:nvPr/>
              </p:nvSpPr>
              <p:spPr>
                <a:xfrm>
                  <a:off x="4241" y="3228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43" name="Oval 21"/>
                <p:cNvSpPr/>
                <p:nvPr/>
              </p:nvSpPr>
              <p:spPr>
                <a:xfrm>
                  <a:off x="4785" y="3228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44" name="Text Box 22"/>
                <p:cNvSpPr txBox="1"/>
                <p:nvPr/>
              </p:nvSpPr>
              <p:spPr>
                <a:xfrm>
                  <a:off x="4785" y="3203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i="1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k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45" name="AutoShape 27"/>
                <p:cNvSpPr/>
                <p:nvPr/>
              </p:nvSpPr>
              <p:spPr>
                <a:xfrm rot="5400000">
                  <a:off x="836" y="3218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46" name="AutoShape 28"/>
                <p:cNvSpPr/>
                <p:nvPr/>
              </p:nvSpPr>
              <p:spPr>
                <a:xfrm rot="5400000">
                  <a:off x="1289" y="3218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47" name="AutoShape 30"/>
                <p:cNvSpPr/>
                <p:nvPr/>
              </p:nvSpPr>
              <p:spPr>
                <a:xfrm rot="5400000">
                  <a:off x="2142" y="3218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48" name="AutoShape 31"/>
                <p:cNvSpPr/>
                <p:nvPr/>
              </p:nvSpPr>
              <p:spPr>
                <a:xfrm rot="5400000">
                  <a:off x="2605" y="3218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49" name="AutoShape 32"/>
                <p:cNvSpPr/>
                <p:nvPr/>
              </p:nvSpPr>
              <p:spPr>
                <a:xfrm rot="5400000">
                  <a:off x="3031" y="3218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50" name="AutoShape 33"/>
                <p:cNvSpPr/>
                <p:nvPr/>
              </p:nvSpPr>
              <p:spPr>
                <a:xfrm rot="5400000">
                  <a:off x="3512" y="3219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51" name="AutoShape 34"/>
                <p:cNvSpPr/>
                <p:nvPr/>
              </p:nvSpPr>
              <p:spPr>
                <a:xfrm rot="5400000">
                  <a:off x="3965" y="3219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52" name="AutoShape 35"/>
                <p:cNvSpPr/>
                <p:nvPr/>
              </p:nvSpPr>
              <p:spPr>
                <a:xfrm rot="5400000">
                  <a:off x="4510" y="3218"/>
                  <a:ext cx="91" cy="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53" name="Oval 36"/>
                <p:cNvSpPr/>
                <p:nvPr/>
              </p:nvSpPr>
              <p:spPr>
                <a:xfrm>
                  <a:off x="2517" y="2387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54" name="Line 37"/>
                <p:cNvSpPr/>
                <p:nvPr/>
              </p:nvSpPr>
              <p:spPr>
                <a:xfrm flipH="1">
                  <a:off x="703" y="2432"/>
                  <a:ext cx="1814" cy="81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sp>
            <p:sp>
              <p:nvSpPr>
                <p:cNvPr id="46155" name="Line 38"/>
                <p:cNvSpPr/>
                <p:nvPr/>
              </p:nvSpPr>
              <p:spPr>
                <a:xfrm flipV="1">
                  <a:off x="1565" y="2432"/>
                  <a:ext cx="997" cy="817"/>
                </a:xfrm>
                <a:prstGeom prst="line">
                  <a:avLst/>
                </a:prstGeom>
                <a:ln w="28575" cap="flat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71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1973" y="2478"/>
                  <a:ext cx="589" cy="7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1" i="0" u="none" strike="noStrike" kern="1200" cap="none" spc="0" normalizeH="0" baseline="0" noProof="0">
                    <a:ln w="12700" cmpd="sng"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46157" name="Line 40"/>
                <p:cNvSpPr/>
                <p:nvPr/>
              </p:nvSpPr>
              <p:spPr>
                <a:xfrm>
                  <a:off x="2562" y="2432"/>
                  <a:ext cx="2268" cy="817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46158" name="Text Box 22"/>
              <p:cNvSpPr txBox="1"/>
              <p:nvPr/>
            </p:nvSpPr>
            <p:spPr>
              <a:xfrm>
                <a:off x="4067944" y="3429000"/>
                <a:ext cx="643125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i="1" baseline="-25000">
                    <a:latin typeface="Times New Roman" panose="02020603050405020304" charset="0"/>
                    <a:ea typeface="宋体" panose="02010600030101010101" pitchFamily="2" charset="-122"/>
                  </a:rPr>
                  <a:t>k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+1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6159" name="组 88"/>
            <p:cNvGrpSpPr/>
            <p:nvPr/>
          </p:nvGrpSpPr>
          <p:grpSpPr>
            <a:xfrm>
              <a:off x="2843808" y="5098329"/>
              <a:ext cx="244773" cy="220417"/>
              <a:chOff x="2887365" y="2737816"/>
              <a:chExt cx="244773" cy="220417"/>
            </a:xfrm>
          </p:grpSpPr>
          <p:cxnSp>
            <p:nvCxnSpPr>
              <p:cNvPr id="46160" name="直线连接符 89"/>
              <p:cNvCxnSpPr/>
              <p:nvPr/>
            </p:nvCxnSpPr>
            <p:spPr>
              <a:xfrm flipV="1">
                <a:off x="2887365" y="2737816"/>
                <a:ext cx="244475" cy="43112"/>
              </a:xfrm>
              <a:prstGeom prst="line">
                <a:avLst/>
              </a:prstGeom>
              <a:ln w="222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161" name="直线连接符 90"/>
              <p:cNvCxnSpPr/>
              <p:nvPr/>
            </p:nvCxnSpPr>
            <p:spPr>
              <a:xfrm flipH="1">
                <a:off x="3060700" y="2745434"/>
                <a:ext cx="71438" cy="212799"/>
              </a:xfrm>
              <a:prstGeom prst="line">
                <a:avLst/>
              </a:prstGeom>
              <a:ln w="222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6162" name="组 91"/>
            <p:cNvGrpSpPr/>
            <p:nvPr/>
          </p:nvGrpSpPr>
          <p:grpSpPr>
            <a:xfrm>
              <a:off x="3477717" y="4884911"/>
              <a:ext cx="230187" cy="272281"/>
              <a:chOff x="3549651" y="2508647"/>
              <a:chExt cx="230187" cy="272281"/>
            </a:xfrm>
          </p:grpSpPr>
          <p:cxnSp>
            <p:nvCxnSpPr>
              <p:cNvPr id="46163" name="直线连接符 92"/>
              <p:cNvCxnSpPr/>
              <p:nvPr/>
            </p:nvCxnSpPr>
            <p:spPr>
              <a:xfrm>
                <a:off x="3549651" y="2508647"/>
                <a:ext cx="0" cy="236787"/>
              </a:xfrm>
              <a:prstGeom prst="line">
                <a:avLst/>
              </a:prstGeom>
              <a:ln w="222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164" name="直线连接符 93"/>
              <p:cNvCxnSpPr/>
              <p:nvPr/>
            </p:nvCxnSpPr>
            <p:spPr>
              <a:xfrm flipV="1">
                <a:off x="3549651" y="2702322"/>
                <a:ext cx="230187" cy="78606"/>
              </a:xfrm>
              <a:prstGeom prst="line">
                <a:avLst/>
              </a:prstGeom>
              <a:ln w="222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61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有向哈密顿图的充分条件</a:t>
            </a:r>
            <a:endParaRPr lang="zh-CN" altLang="en-US"/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8.10:</a:t>
            </a:r>
            <a:r>
              <a:rPr lang="en-US" altLang="zh-CN"/>
              <a:t> </a:t>
            </a:r>
            <a:r>
              <a:rPr lang="zh-CN" altLang="en-US"/>
              <a:t>强连通的竞赛图是哈密顿图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 i="1"/>
              <a:t>n</a:t>
            </a:r>
            <a:r>
              <a:rPr lang="en-US" altLang="zh-CN"/>
              <a:t>=1</a:t>
            </a:r>
            <a:r>
              <a:rPr lang="zh-CN" altLang="en-US"/>
              <a:t>时</a:t>
            </a:r>
            <a:r>
              <a:rPr lang="en-US" altLang="zh-CN"/>
              <a:t>,</a:t>
            </a:r>
            <a:r>
              <a:rPr lang="zh-CN" altLang="en-US"/>
              <a:t>平凡图是哈密顿图</a:t>
            </a:r>
            <a:r>
              <a:rPr lang="en-US" altLang="zh-CN"/>
              <a:t>.</a:t>
            </a:r>
            <a:endParaRPr lang="en-US" altLang="zh-CN"/>
          </a:p>
          <a:p>
            <a:pPr>
              <a:buNone/>
            </a:pPr>
            <a:r>
              <a:rPr lang="en-US" altLang="zh-CN"/>
              <a:t>     </a:t>
            </a:r>
            <a:r>
              <a:rPr lang="en-US" altLang="zh-CN" i="1"/>
              <a:t>n</a:t>
            </a:r>
            <a:r>
              <a:rPr lang="en-US" altLang="zh-CN"/>
              <a:t>=2</a:t>
            </a:r>
            <a:r>
              <a:rPr lang="zh-CN" altLang="en-US"/>
              <a:t>时</a:t>
            </a:r>
            <a:r>
              <a:rPr lang="en-US" altLang="zh-CN"/>
              <a:t>,</a:t>
            </a:r>
            <a:r>
              <a:rPr lang="zh-CN" altLang="en-US"/>
              <a:t>不可能强连通</a:t>
            </a:r>
            <a:r>
              <a:rPr lang="en-US" altLang="zh-CN"/>
              <a:t>. </a:t>
            </a:r>
            <a:r>
              <a:rPr lang="zh-CN" altLang="en-US"/>
              <a:t>下面设</a:t>
            </a:r>
            <a:r>
              <a:rPr lang="en-US" altLang="zh-CN" i="1"/>
              <a:t>n</a:t>
            </a:r>
            <a:r>
              <a:rPr lang="en-US" altLang="zh-CN"/>
              <a:t>≥3.</a:t>
            </a:r>
            <a:endParaRPr lang="en-US" altLang="zh-CN"/>
          </a:p>
          <a:p>
            <a:pPr>
              <a:buNone/>
            </a:pPr>
            <a:r>
              <a:rPr lang="en-US" altLang="zh-CN"/>
              <a:t>    </a:t>
            </a:r>
            <a:r>
              <a:rPr lang="zh-CN" altLang="en-US"/>
              <a:t>下面证明</a:t>
            </a:r>
            <a:endParaRPr lang="en-US" altLang="zh-CN"/>
          </a:p>
          <a:p>
            <a:pPr>
              <a:buNone/>
            </a:pPr>
            <a:r>
              <a:rPr lang="en-US" altLang="zh-CN"/>
              <a:t>    (1) D</a:t>
            </a:r>
            <a:r>
              <a:rPr lang="zh-CN" altLang="en-US"/>
              <a:t>中存在长度为</a:t>
            </a:r>
            <a:r>
              <a:rPr lang="en-US" altLang="zh-CN"/>
              <a:t>3</a:t>
            </a:r>
            <a:r>
              <a:rPr lang="zh-CN" altLang="en-US"/>
              <a:t>的圈</a:t>
            </a:r>
            <a:r>
              <a:rPr lang="en-US" altLang="zh-CN"/>
              <a:t>.</a:t>
            </a:r>
            <a:endParaRPr lang="en-US" altLang="zh-CN"/>
          </a:p>
          <a:p>
            <a:pPr>
              <a:buNone/>
            </a:pPr>
            <a:r>
              <a:rPr lang="en-US" altLang="zh-CN"/>
              <a:t>    (2) D</a:t>
            </a:r>
            <a:r>
              <a:rPr lang="zh-CN" altLang="en-US"/>
              <a:t>中存在长度为</a:t>
            </a:r>
            <a:r>
              <a:rPr lang="en-US" altLang="zh-CN" i="1">
                <a:solidFill>
                  <a:srgbClr val="FF00FF"/>
                </a:solidFill>
              </a:rPr>
              <a:t>k</a:t>
            </a:r>
            <a:r>
              <a:rPr lang="zh-CN" altLang="en-US"/>
              <a:t>的圈⇒ </a:t>
            </a:r>
            <a:r>
              <a:rPr lang="en-US" altLang="zh-CN"/>
              <a:t>D</a:t>
            </a:r>
            <a:r>
              <a:rPr lang="zh-CN" altLang="en-US"/>
              <a:t>中存在长度为</a:t>
            </a:r>
            <a:r>
              <a:rPr lang="en-US" altLang="zh-CN" i="1">
                <a:solidFill>
                  <a:srgbClr val="FF00FF"/>
                </a:solidFill>
              </a:rPr>
              <a:t>k</a:t>
            </a:r>
            <a:r>
              <a:rPr lang="en-US" altLang="zh-CN">
                <a:solidFill>
                  <a:srgbClr val="FF00FF"/>
                </a:solidFill>
              </a:rPr>
              <a:t>+1</a:t>
            </a:r>
            <a:r>
              <a:rPr lang="zh-CN" altLang="en-US"/>
              <a:t>的圈</a:t>
            </a:r>
            <a:endParaRPr lang="zh-CN" altLang="en-US"/>
          </a:p>
        </p:txBody>
      </p:sp>
      <p:sp>
        <p:nvSpPr>
          <p:cNvPr id="47107" name="Oval 4"/>
          <p:cNvSpPr/>
          <p:nvPr/>
        </p:nvSpPr>
        <p:spPr>
          <a:xfrm>
            <a:off x="7164388" y="2060575"/>
            <a:ext cx="217487" cy="217488"/>
          </a:xfrm>
          <a:prstGeom prst="ellipse">
            <a:avLst/>
          </a:prstGeom>
          <a:solidFill>
            <a:srgbClr val="0066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SzTx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7108" name="Group 8"/>
          <p:cNvGrpSpPr/>
          <p:nvPr/>
        </p:nvGrpSpPr>
        <p:grpSpPr>
          <a:xfrm>
            <a:off x="6588125" y="2665413"/>
            <a:ext cx="1514475" cy="260350"/>
            <a:chOff x="4150" y="1679"/>
            <a:chExt cx="954" cy="164"/>
          </a:xfrm>
        </p:grpSpPr>
        <p:sp>
          <p:nvSpPr>
            <p:cNvPr id="47109" name="Oval 5"/>
            <p:cNvSpPr/>
            <p:nvPr/>
          </p:nvSpPr>
          <p:spPr>
            <a:xfrm>
              <a:off x="4150" y="1706"/>
              <a:ext cx="137" cy="137"/>
            </a:xfrm>
            <a:prstGeom prst="ellipse">
              <a:avLst/>
            </a:prstGeom>
            <a:solidFill>
              <a:srgbClr val="0066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10" name="Oval 6"/>
            <p:cNvSpPr/>
            <p:nvPr/>
          </p:nvSpPr>
          <p:spPr>
            <a:xfrm>
              <a:off x="4967" y="1679"/>
              <a:ext cx="137" cy="137"/>
            </a:xfrm>
            <a:prstGeom prst="ellipse">
              <a:avLst/>
            </a:prstGeom>
            <a:solidFill>
              <a:srgbClr val="0066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11" name="Line 7"/>
            <p:cNvSpPr/>
            <p:nvPr/>
          </p:nvSpPr>
          <p:spPr>
            <a:xfrm>
              <a:off x="4286" y="1752"/>
              <a:ext cx="6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</p:grpSp>
      <p:sp>
        <p:nvSpPr>
          <p:cNvPr id="471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22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4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67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76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96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10</a:t>
            </a:r>
            <a:r>
              <a:rPr lang="zh-CN" altLang="en-US"/>
              <a:t>的证明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91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(1)</a:t>
            </a:r>
            <a:r>
              <a:rPr lang="zh-CN" altLang="en-US"/>
              <a:t>证明</a:t>
            </a:r>
            <a:r>
              <a:rPr lang="en-US" altLang="zh-CN"/>
              <a:t>D</a:t>
            </a:r>
            <a:r>
              <a:rPr lang="zh-CN" altLang="en-US"/>
              <a:t>中存在长度为</a:t>
            </a:r>
            <a:r>
              <a:rPr lang="en-US" altLang="zh-CN"/>
              <a:t>3</a:t>
            </a:r>
            <a:r>
              <a:rPr lang="zh-CN" altLang="en-US"/>
              <a:t>的圈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   ∀</a:t>
            </a:r>
            <a:r>
              <a:rPr lang="en-US" altLang="zh-CN" i="1"/>
              <a:t>v</a:t>
            </a:r>
            <a:r>
              <a:rPr lang="en-US" altLang="zh-CN"/>
              <a:t>∈V(D), </a:t>
            </a:r>
            <a:r>
              <a:rPr lang="zh-CN" altLang="en-US"/>
              <a:t>考虑</a:t>
            </a:r>
            <a:r>
              <a:rPr lang="en-US" altLang="zh-CN" i="1"/>
              <a:t>v</a:t>
            </a:r>
            <a:r>
              <a:rPr lang="zh-CN" altLang="en-US"/>
              <a:t>的前驱集</a:t>
            </a:r>
            <a:endParaRPr lang="zh-CN" altLang="en-US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   Γ</a:t>
            </a:r>
            <a:r>
              <a:rPr lang="en-US" altLang="zh-CN" baseline="-25000"/>
              <a:t>D</a:t>
            </a:r>
            <a:r>
              <a:rPr lang="en-US" altLang="zh-CN" baseline="30000"/>
              <a:t>-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 = {</a:t>
            </a:r>
            <a:r>
              <a:rPr lang="en-US" altLang="zh-CN" i="1"/>
              <a:t> u</a:t>
            </a:r>
            <a:r>
              <a:rPr lang="en-US" altLang="zh-CN"/>
              <a:t>∈V(D) | &lt;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&gt;∈E(D) }</a:t>
            </a:r>
            <a:r>
              <a:rPr lang="zh-CN" altLang="en-US"/>
              <a:t>与后继集</a:t>
            </a:r>
            <a:endParaRPr lang="zh-CN" altLang="en-US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   Γ</a:t>
            </a:r>
            <a:r>
              <a:rPr lang="en-US" altLang="zh-CN" baseline="-25000"/>
              <a:t>D</a:t>
            </a:r>
            <a:r>
              <a:rPr lang="en-US" altLang="zh-CN" baseline="30000"/>
              <a:t>+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 ={</a:t>
            </a:r>
            <a:r>
              <a:rPr lang="en-US" altLang="zh-CN" i="1"/>
              <a:t>u</a:t>
            </a:r>
            <a:r>
              <a:rPr lang="en-US" altLang="zh-CN"/>
              <a:t>∈V(D) | &lt;</a:t>
            </a:r>
            <a:r>
              <a:rPr lang="en-US" altLang="zh-CN" i="1"/>
              <a:t>v</a:t>
            </a:r>
            <a:r>
              <a:rPr lang="en-US" altLang="zh-CN"/>
              <a:t>,</a:t>
            </a:r>
            <a:r>
              <a:rPr lang="en-US" altLang="zh-CN" i="1"/>
              <a:t>u</a:t>
            </a:r>
            <a:r>
              <a:rPr lang="en-US" altLang="zh-CN"/>
              <a:t>&gt;∈E(D)}.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   D</a:t>
            </a:r>
            <a:r>
              <a:rPr lang="zh-CN" altLang="en-US"/>
              <a:t>强连通竞赛图</a:t>
            </a:r>
            <a:r>
              <a:rPr lang="en-US" altLang="zh-CN"/>
              <a:t>, </a:t>
            </a:r>
            <a:r>
              <a:rPr lang="zh-CN" altLang="en-US"/>
              <a:t>所以</a:t>
            </a:r>
            <a:r>
              <a:rPr lang="en-US" altLang="zh-CN"/>
              <a:t>Γ</a:t>
            </a:r>
            <a:r>
              <a:rPr lang="en-US" altLang="zh-CN" baseline="-25000"/>
              <a:t>D</a:t>
            </a:r>
            <a:r>
              <a:rPr lang="en-US" altLang="zh-CN" baseline="30000"/>
              <a:t>-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)≠∅,Γ</a:t>
            </a:r>
            <a:r>
              <a:rPr lang="en-US" altLang="zh-CN" baseline="-25000"/>
              <a:t>D</a:t>
            </a:r>
            <a:r>
              <a:rPr lang="en-US" altLang="zh-CN" baseline="30000"/>
              <a:t>+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)≠∅,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  Γ</a:t>
            </a:r>
            <a:r>
              <a:rPr lang="en-US" altLang="zh-CN" baseline="-25000"/>
              <a:t>D</a:t>
            </a:r>
            <a:r>
              <a:rPr lang="en-US" altLang="zh-CN" baseline="30000"/>
              <a:t>-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 ∪Γ</a:t>
            </a:r>
            <a:r>
              <a:rPr lang="en-US" altLang="zh-CN" baseline="-25000"/>
              <a:t>D</a:t>
            </a:r>
            <a:r>
              <a:rPr lang="en-US" altLang="zh-CN" baseline="30000"/>
              <a:t>+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 =V(D)-{</a:t>
            </a:r>
            <a:r>
              <a:rPr lang="en-US" altLang="zh-CN" i="1"/>
              <a:t>v</a:t>
            </a:r>
            <a:r>
              <a:rPr lang="en-US" altLang="zh-CN"/>
              <a:t>},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   ∃s∈Γ</a:t>
            </a:r>
            <a:r>
              <a:rPr lang="en-US" altLang="zh-CN" baseline="-25000"/>
              <a:t>D</a:t>
            </a:r>
            <a:r>
              <a:rPr lang="en-US" altLang="zh-CN" baseline="30000"/>
              <a:t>+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), ∃t∈ Γ</a:t>
            </a:r>
            <a:r>
              <a:rPr lang="en-US" altLang="zh-CN" baseline="-25000"/>
              <a:t>D</a:t>
            </a:r>
            <a:r>
              <a:rPr lang="en-US" altLang="zh-CN" baseline="30000"/>
              <a:t>-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), &lt;</a:t>
            </a:r>
            <a:r>
              <a:rPr lang="en-US" altLang="zh-CN" i="1"/>
              <a:t>s</a:t>
            </a:r>
            <a:r>
              <a:rPr lang="en-US" altLang="zh-CN"/>
              <a:t>,</a:t>
            </a:r>
            <a:r>
              <a:rPr lang="en-US" altLang="zh-CN" i="1"/>
              <a:t>t</a:t>
            </a:r>
            <a:r>
              <a:rPr lang="en-US" altLang="zh-CN"/>
              <a:t>&gt;∈E(D).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    于是</a:t>
            </a:r>
            <a:r>
              <a:rPr lang="en-US" altLang="zh-CN"/>
              <a:t>C=</a:t>
            </a:r>
            <a:r>
              <a:rPr lang="en-US" altLang="zh-CN" i="1"/>
              <a:t>vstv</a:t>
            </a:r>
            <a:r>
              <a:rPr lang="zh-CN" altLang="en-US"/>
              <a:t>是长度为</a:t>
            </a:r>
            <a:r>
              <a:rPr lang="en-US" altLang="zh-CN"/>
              <a:t>3</a:t>
            </a:r>
            <a:r>
              <a:rPr lang="zh-CN" altLang="en-US"/>
              <a:t>的圈</a:t>
            </a:r>
            <a:endParaRPr lang="zh-CN" altLang="en-US"/>
          </a:p>
        </p:txBody>
      </p:sp>
      <p:grpSp>
        <p:nvGrpSpPr>
          <p:cNvPr id="49155" name="组合 25"/>
          <p:cNvGrpSpPr/>
          <p:nvPr/>
        </p:nvGrpSpPr>
        <p:grpSpPr>
          <a:xfrm>
            <a:off x="6108700" y="4051300"/>
            <a:ext cx="2784475" cy="2643188"/>
            <a:chOff x="6108466" y="4051300"/>
            <a:chExt cx="2784709" cy="2643188"/>
          </a:xfrm>
        </p:grpSpPr>
        <p:grpSp>
          <p:nvGrpSpPr>
            <p:cNvPr id="49156" name="Group 24"/>
            <p:cNvGrpSpPr/>
            <p:nvPr/>
          </p:nvGrpSpPr>
          <p:grpSpPr>
            <a:xfrm>
              <a:off x="6443663" y="4051300"/>
              <a:ext cx="2449512" cy="2643188"/>
              <a:chOff x="4059" y="2552"/>
              <a:chExt cx="1543" cy="1665"/>
            </a:xfrm>
          </p:grpSpPr>
          <p:sp>
            <p:nvSpPr>
              <p:cNvPr id="49157" name="Oval 4"/>
              <p:cNvSpPr/>
              <p:nvPr/>
            </p:nvSpPr>
            <p:spPr>
              <a:xfrm>
                <a:off x="4649" y="3063"/>
                <a:ext cx="136" cy="136"/>
              </a:xfrm>
              <a:prstGeom prst="ellipse">
                <a:avLst/>
              </a:prstGeom>
              <a:solidFill>
                <a:srgbClr val="0066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58" name="Oval 5"/>
              <p:cNvSpPr/>
              <p:nvPr/>
            </p:nvSpPr>
            <p:spPr>
              <a:xfrm>
                <a:off x="4921" y="3063"/>
                <a:ext cx="136" cy="136"/>
              </a:xfrm>
              <a:prstGeom prst="ellipse">
                <a:avLst/>
              </a:prstGeom>
              <a:solidFill>
                <a:srgbClr val="0066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59" name="Oval 6"/>
              <p:cNvSpPr/>
              <p:nvPr/>
            </p:nvSpPr>
            <p:spPr>
              <a:xfrm>
                <a:off x="5239" y="3063"/>
                <a:ext cx="136" cy="136"/>
              </a:xfrm>
              <a:prstGeom prst="ellipse">
                <a:avLst/>
              </a:prstGeom>
              <a:solidFill>
                <a:srgbClr val="0066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60" name="Oval 7"/>
              <p:cNvSpPr/>
              <p:nvPr/>
            </p:nvSpPr>
            <p:spPr>
              <a:xfrm>
                <a:off x="4649" y="3699"/>
                <a:ext cx="136" cy="136"/>
              </a:xfrm>
              <a:prstGeom prst="ellipse">
                <a:avLst/>
              </a:prstGeom>
              <a:solidFill>
                <a:srgbClr val="0066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61" name="Oval 8"/>
              <p:cNvSpPr/>
              <p:nvPr/>
            </p:nvSpPr>
            <p:spPr>
              <a:xfrm>
                <a:off x="4921" y="3699"/>
                <a:ext cx="136" cy="136"/>
              </a:xfrm>
              <a:prstGeom prst="ellipse">
                <a:avLst/>
              </a:prstGeom>
              <a:solidFill>
                <a:srgbClr val="0066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62" name="Oval 9"/>
              <p:cNvSpPr/>
              <p:nvPr/>
            </p:nvSpPr>
            <p:spPr>
              <a:xfrm>
                <a:off x="5239" y="3699"/>
                <a:ext cx="136" cy="136"/>
              </a:xfrm>
              <a:prstGeom prst="ellipse">
                <a:avLst/>
              </a:prstGeom>
              <a:solidFill>
                <a:srgbClr val="0066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63" name="Oval 10"/>
              <p:cNvSpPr/>
              <p:nvPr/>
            </p:nvSpPr>
            <p:spPr>
              <a:xfrm>
                <a:off x="4059" y="3382"/>
                <a:ext cx="136" cy="136"/>
              </a:xfrm>
              <a:prstGeom prst="ellipse">
                <a:avLst/>
              </a:prstGeom>
              <a:solidFill>
                <a:srgbClr val="0066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64" name="Oval 11"/>
              <p:cNvSpPr/>
              <p:nvPr/>
            </p:nvSpPr>
            <p:spPr>
              <a:xfrm>
                <a:off x="4422" y="2883"/>
                <a:ext cx="1180" cy="453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65" name="Oval 12"/>
              <p:cNvSpPr/>
              <p:nvPr/>
            </p:nvSpPr>
            <p:spPr>
              <a:xfrm>
                <a:off x="4422" y="3518"/>
                <a:ext cx="1180" cy="453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66" name="Line 13"/>
              <p:cNvSpPr/>
              <p:nvPr/>
            </p:nvSpPr>
            <p:spPr>
              <a:xfrm flipH="1">
                <a:off x="4150" y="3155"/>
                <a:ext cx="499" cy="22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49167" name="Line 14"/>
              <p:cNvSpPr/>
              <p:nvPr/>
            </p:nvSpPr>
            <p:spPr>
              <a:xfrm flipH="1">
                <a:off x="4150" y="3155"/>
                <a:ext cx="771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49168" name="Line 15"/>
              <p:cNvSpPr/>
              <p:nvPr/>
            </p:nvSpPr>
            <p:spPr>
              <a:xfrm flipH="1">
                <a:off x="4195" y="3200"/>
                <a:ext cx="1089" cy="2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49169" name="Line 16"/>
              <p:cNvSpPr/>
              <p:nvPr/>
            </p:nvSpPr>
            <p:spPr>
              <a:xfrm>
                <a:off x="4150" y="3518"/>
                <a:ext cx="499" cy="2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49170" name="Line 17"/>
              <p:cNvSpPr/>
              <p:nvPr/>
            </p:nvSpPr>
            <p:spPr>
              <a:xfrm>
                <a:off x="4150" y="3472"/>
                <a:ext cx="817" cy="22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49171" name="Line 18"/>
              <p:cNvSpPr/>
              <p:nvPr/>
            </p:nvSpPr>
            <p:spPr>
              <a:xfrm>
                <a:off x="4195" y="3472"/>
                <a:ext cx="1089" cy="22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  <p:sp>
            <p:nvSpPr>
              <p:cNvPr id="49172" name="Rectangle 19"/>
              <p:cNvSpPr/>
              <p:nvPr/>
            </p:nvSpPr>
            <p:spPr>
              <a:xfrm>
                <a:off x="4740" y="2552"/>
                <a:ext cx="65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latin typeface="Times New Roman" panose="02020603050405020304" charset="0"/>
                    <a:ea typeface="宋体" panose="02010600030101010101" pitchFamily="2" charset="-122"/>
                  </a:rPr>
                  <a:t>Γ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30000">
                    <a:latin typeface="Times New Roman" panose="02020603050405020304" charset="0"/>
                    <a:ea typeface="宋体" panose="02010600030101010101" pitchFamily="2" charset="-122"/>
                  </a:rPr>
                  <a:t>-</a:t>
                </a:r>
                <a:r>
                  <a:rPr lang="en-US" altLang="zh-CN" sz="2400">
                    <a:latin typeface="Times New Roman" panose="02020603050405020304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>
                    <a:latin typeface="Times New Roman" panose="02020603050405020304" charset="0"/>
                    <a:ea typeface="宋体" panose="02010600030101010101" pitchFamily="2" charset="-122"/>
                  </a:rPr>
                  <a:t>)</a:t>
                </a:r>
                <a:endParaRPr lang="zh-CN" altLang="en-US" sz="24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73" name="Rectangle 20"/>
              <p:cNvSpPr/>
              <p:nvPr/>
            </p:nvSpPr>
            <p:spPr>
              <a:xfrm>
                <a:off x="4649" y="3929"/>
                <a:ext cx="68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latin typeface="Times New Roman" panose="02020603050405020304" charset="0"/>
                    <a:ea typeface="宋体" panose="02010600030101010101" pitchFamily="2" charset="-122"/>
                  </a:rPr>
                  <a:t>Γ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30000">
                    <a:latin typeface="Times New Roman" panose="02020603050405020304" charset="0"/>
                    <a:ea typeface="宋体" panose="02010600030101010101" pitchFamily="2" charset="-122"/>
                  </a:rPr>
                  <a:t>+</a:t>
                </a:r>
                <a:r>
                  <a:rPr lang="en-US" altLang="zh-CN" sz="2400">
                    <a:latin typeface="Times New Roman" panose="02020603050405020304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>
                    <a:latin typeface="Times New Roman" panose="02020603050405020304" charset="0"/>
                    <a:ea typeface="宋体" panose="02010600030101010101" pitchFamily="2" charset="-122"/>
                  </a:rPr>
                  <a:t>)</a:t>
                </a:r>
                <a:endParaRPr lang="zh-CN" altLang="en-US" sz="24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74" name="Rectangle 21"/>
              <p:cNvSpPr/>
              <p:nvPr/>
            </p:nvSpPr>
            <p:spPr>
              <a:xfrm>
                <a:off x="5193" y="2825"/>
                <a:ext cx="16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t</a:t>
                </a:r>
                <a:endParaRPr lang="zh-CN" altLang="en-US" sz="24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75" name="Rectangle 22"/>
              <p:cNvSpPr/>
              <p:nvPr/>
            </p:nvSpPr>
            <p:spPr>
              <a:xfrm>
                <a:off x="5320" y="3686"/>
                <a:ext cx="19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s</a:t>
                </a:r>
                <a:endParaRPr lang="zh-CN" altLang="en-US" sz="24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76" name="Line 23"/>
              <p:cNvSpPr/>
              <p:nvPr/>
            </p:nvSpPr>
            <p:spPr>
              <a:xfrm flipV="1">
                <a:off x="5329" y="3158"/>
                <a:ext cx="0" cy="544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sp>
        </p:grpSp>
        <p:sp>
          <p:nvSpPr>
            <p:cNvPr id="49177" name="Rectangle 19"/>
            <p:cNvSpPr/>
            <p:nvPr/>
          </p:nvSpPr>
          <p:spPr>
            <a:xfrm>
              <a:off x="6108466" y="5357826"/>
              <a:ext cx="32092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zh-CN" altLang="en-US" sz="24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917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10</a:t>
            </a:r>
            <a:r>
              <a:rPr lang="zh-CN" altLang="en-US"/>
              <a:t>的证明</a:t>
            </a:r>
            <a:r>
              <a:rPr lang="en-US" altLang="zh-CN"/>
              <a:t>(2)</a:t>
            </a:r>
            <a:endParaRPr lang="zh-CN" altLang="en-US"/>
          </a:p>
        </p:txBody>
      </p:sp>
      <p:sp>
        <p:nvSpPr>
          <p:cNvPr id="5017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/>
              <a:t>(2) </a:t>
            </a:r>
            <a:r>
              <a:rPr lang="zh-CN" altLang="en-US" sz="2600"/>
              <a:t>证明如果</a:t>
            </a:r>
            <a:r>
              <a:rPr lang="en-US" altLang="zh-CN" sz="2600"/>
              <a:t>D</a:t>
            </a:r>
            <a:r>
              <a:rPr lang="zh-CN" altLang="en-US" sz="2600"/>
              <a:t>中存在长度为</a:t>
            </a:r>
            <a:r>
              <a:rPr lang="en-US" altLang="zh-CN" sz="2600" i="1">
                <a:solidFill>
                  <a:srgbClr val="FF00FF"/>
                </a:solidFill>
              </a:rPr>
              <a:t>k</a:t>
            </a:r>
            <a:r>
              <a:rPr lang="zh-CN" altLang="en-US" sz="2600"/>
              <a:t>的圈</a:t>
            </a:r>
            <a:r>
              <a:rPr lang="en-US" altLang="zh-CN" sz="2600"/>
              <a:t>,</a:t>
            </a:r>
            <a:r>
              <a:rPr lang="zh-CN" altLang="en-US" sz="2600"/>
              <a:t>那么</a:t>
            </a:r>
            <a:r>
              <a:rPr lang="en-US" altLang="zh-CN" sz="2600"/>
              <a:t>D</a:t>
            </a:r>
            <a:r>
              <a:rPr lang="zh-CN" altLang="en-US" sz="2600"/>
              <a:t>中存在长度为</a:t>
            </a:r>
            <a:r>
              <a:rPr lang="en-US" altLang="zh-CN" sz="2600" i="1">
                <a:solidFill>
                  <a:srgbClr val="FF00FF"/>
                </a:solidFill>
              </a:rPr>
              <a:t>k</a:t>
            </a:r>
            <a:r>
              <a:rPr lang="en-US" altLang="zh-CN" sz="2600">
                <a:solidFill>
                  <a:srgbClr val="FF00FF"/>
                </a:solidFill>
              </a:rPr>
              <a:t>+1</a:t>
            </a:r>
            <a:r>
              <a:rPr lang="zh-CN" altLang="en-US" sz="2600"/>
              <a:t>的圈</a:t>
            </a:r>
            <a:r>
              <a:rPr lang="en-US" altLang="zh-CN" sz="2600"/>
              <a:t>: </a:t>
            </a:r>
            <a:endParaRPr lang="en-US" altLang="zh-CN" sz="260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/>
              <a:t>设</a:t>
            </a:r>
            <a:r>
              <a:rPr lang="en-US" altLang="zh-CN" sz="2600"/>
              <a:t>D</a:t>
            </a:r>
            <a:r>
              <a:rPr lang="zh-CN" altLang="en-US" sz="2600"/>
              <a:t>中长度为</a:t>
            </a:r>
            <a:r>
              <a:rPr lang="en-US" altLang="zh-CN" sz="2600" i="1"/>
              <a:t>k</a:t>
            </a:r>
            <a:r>
              <a:rPr lang="en-US" altLang="zh-CN" sz="2600"/>
              <a:t>(3≤k</a:t>
            </a:r>
            <a:r>
              <a:rPr lang="en-US" altLang="zh-CN" sz="2600">
                <a:solidFill>
                  <a:srgbClr val="FF0000"/>
                </a:solidFill>
              </a:rPr>
              <a:t>&lt;</a:t>
            </a:r>
            <a:r>
              <a:rPr lang="en-US" altLang="zh-CN" sz="2600" i="1">
                <a:solidFill>
                  <a:srgbClr val="FF0000"/>
                </a:solidFill>
              </a:rPr>
              <a:t>n</a:t>
            </a:r>
            <a:r>
              <a:rPr lang="en-US" altLang="zh-CN" sz="2600"/>
              <a:t>) </a:t>
            </a:r>
            <a:r>
              <a:rPr lang="zh-CN" altLang="en-US" sz="2600"/>
              <a:t>的圈</a:t>
            </a:r>
            <a:r>
              <a:rPr lang="en-US" altLang="zh-CN" sz="2600"/>
              <a:t>C=</a:t>
            </a:r>
            <a:r>
              <a:rPr lang="en-US" altLang="zh-CN" sz="2600" i="1"/>
              <a:t>v</a:t>
            </a:r>
            <a:r>
              <a:rPr lang="en-US" altLang="zh-CN" sz="2600" baseline="-25000"/>
              <a:t>1</a:t>
            </a:r>
            <a:r>
              <a:rPr lang="en-US" altLang="zh-CN" sz="2600" i="1"/>
              <a:t>v</a:t>
            </a:r>
            <a:r>
              <a:rPr lang="en-US" altLang="zh-CN" sz="2600" baseline="-25000"/>
              <a:t>2</a:t>
            </a:r>
            <a:r>
              <a:rPr lang="en-US" altLang="zh-CN" sz="2600"/>
              <a:t>…</a:t>
            </a:r>
            <a:r>
              <a:rPr lang="en-US" altLang="zh-CN" sz="2600" i="1"/>
              <a:t>v</a:t>
            </a:r>
            <a:r>
              <a:rPr lang="en-US" altLang="zh-CN" sz="2600" i="1" baseline="-25000"/>
              <a:t>k</a:t>
            </a:r>
            <a:r>
              <a:rPr lang="en-US" altLang="zh-CN" sz="2600" i="1"/>
              <a:t>v</a:t>
            </a:r>
            <a:r>
              <a:rPr lang="en-US" altLang="zh-CN" sz="2600" baseline="-25000"/>
              <a:t>1</a:t>
            </a:r>
            <a:r>
              <a:rPr lang="en-US" altLang="zh-CN" sz="2600"/>
              <a:t>.</a:t>
            </a:r>
            <a:endParaRPr lang="en-US" altLang="zh-CN" sz="260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/>
              <a:t>(</a:t>
            </a:r>
            <a:r>
              <a:rPr lang="en-US" altLang="zh-CN" sz="2600" i="1"/>
              <a:t>a</a:t>
            </a:r>
            <a:r>
              <a:rPr lang="en-US" altLang="zh-CN" sz="2600"/>
              <a:t>) </a:t>
            </a:r>
            <a:r>
              <a:rPr lang="zh-CN" altLang="en-US" sz="2600"/>
              <a:t>若</a:t>
            </a:r>
            <a:r>
              <a:rPr lang="en-US" altLang="zh-CN" sz="2600"/>
              <a:t>∃</a:t>
            </a:r>
            <a:r>
              <a:rPr lang="en-US" altLang="zh-CN" sz="2600" i="1"/>
              <a:t>v</a:t>
            </a:r>
            <a:r>
              <a:rPr lang="en-US" altLang="zh-CN" sz="2600"/>
              <a:t>∈V(D-C), ∃</a:t>
            </a:r>
            <a:r>
              <a:rPr lang="en-US" altLang="zh-CN" sz="2600" i="1"/>
              <a:t>v</a:t>
            </a:r>
            <a:r>
              <a:rPr lang="en-US" altLang="zh-CN" sz="2600" baseline="-25000"/>
              <a:t>s</a:t>
            </a:r>
            <a:r>
              <a:rPr lang="en-US" altLang="zh-CN" sz="2600"/>
              <a:t>∈V(C), ∃</a:t>
            </a:r>
            <a:r>
              <a:rPr lang="en-US" altLang="zh-CN" sz="2600" i="1"/>
              <a:t>v</a:t>
            </a:r>
            <a:r>
              <a:rPr lang="en-US" altLang="zh-CN" sz="2600" baseline="-25000"/>
              <a:t>t</a:t>
            </a:r>
            <a:r>
              <a:rPr lang="en-US" altLang="zh-CN" sz="2600"/>
              <a:t>∈V(C),</a:t>
            </a:r>
            <a:r>
              <a:rPr lang="en-US" altLang="zh-CN" sz="2600">
                <a:solidFill>
                  <a:srgbClr val="FF00FF"/>
                </a:solidFill>
              </a:rPr>
              <a:t>&lt;</a:t>
            </a:r>
            <a:r>
              <a:rPr lang="en-US" altLang="zh-CN" sz="2600" i="1">
                <a:solidFill>
                  <a:srgbClr val="FF00FF"/>
                </a:solidFill>
              </a:rPr>
              <a:t>v</a:t>
            </a:r>
            <a:r>
              <a:rPr lang="en-US" altLang="zh-CN" sz="2600" baseline="-25000">
                <a:solidFill>
                  <a:srgbClr val="FF00FF"/>
                </a:solidFill>
              </a:rPr>
              <a:t>s</a:t>
            </a:r>
            <a:r>
              <a:rPr lang="en-US" altLang="zh-CN" sz="2600">
                <a:solidFill>
                  <a:srgbClr val="FF00FF"/>
                </a:solidFill>
              </a:rPr>
              <a:t>,</a:t>
            </a:r>
            <a:r>
              <a:rPr lang="en-US" altLang="zh-CN" sz="2600" i="1">
                <a:solidFill>
                  <a:srgbClr val="FF00FF"/>
                </a:solidFill>
              </a:rPr>
              <a:t>v</a:t>
            </a:r>
            <a:r>
              <a:rPr lang="en-US" altLang="zh-CN" sz="2600">
                <a:solidFill>
                  <a:srgbClr val="FF00FF"/>
                </a:solidFill>
              </a:rPr>
              <a:t>&gt;</a:t>
            </a:r>
            <a:r>
              <a:rPr lang="en-US" altLang="zh-CN" sz="2600"/>
              <a:t>∈E(D),</a:t>
            </a:r>
            <a:endParaRPr lang="en-US" altLang="zh-CN" sz="260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>
                <a:solidFill>
                  <a:srgbClr val="FF00FF"/>
                </a:solidFill>
              </a:rPr>
              <a:t>&lt;</a:t>
            </a:r>
            <a:r>
              <a:rPr lang="en-US" altLang="zh-CN" sz="2600" i="1">
                <a:solidFill>
                  <a:srgbClr val="FF00FF"/>
                </a:solidFill>
              </a:rPr>
              <a:t>v</a:t>
            </a:r>
            <a:r>
              <a:rPr lang="en-US" altLang="zh-CN" sz="2600">
                <a:solidFill>
                  <a:srgbClr val="FF00FF"/>
                </a:solidFill>
              </a:rPr>
              <a:t>,</a:t>
            </a:r>
            <a:r>
              <a:rPr lang="en-US" altLang="zh-CN" sz="2600" i="1">
                <a:solidFill>
                  <a:srgbClr val="FF00FF"/>
                </a:solidFill>
              </a:rPr>
              <a:t>v</a:t>
            </a:r>
            <a:r>
              <a:rPr lang="en-US" altLang="zh-CN" sz="2600" i="1" baseline="-25000">
                <a:solidFill>
                  <a:srgbClr val="FF00FF"/>
                </a:solidFill>
              </a:rPr>
              <a:t>t</a:t>
            </a:r>
            <a:r>
              <a:rPr lang="en-US" altLang="zh-CN" sz="2600">
                <a:solidFill>
                  <a:srgbClr val="FF00FF"/>
                </a:solidFill>
              </a:rPr>
              <a:t>&gt;</a:t>
            </a:r>
            <a:r>
              <a:rPr lang="en-US" altLang="zh-CN" sz="2600"/>
              <a:t>∈E(D), </a:t>
            </a:r>
            <a:r>
              <a:rPr lang="zh-CN" altLang="en-US" sz="2600"/>
              <a:t>则∃</a:t>
            </a:r>
            <a:r>
              <a:rPr lang="en-US" altLang="zh-CN" sz="2600" i="1"/>
              <a:t>v</a:t>
            </a:r>
            <a:r>
              <a:rPr lang="en-US" altLang="zh-CN" sz="2600" i="1" baseline="-25000"/>
              <a:t>i</a:t>
            </a:r>
            <a:r>
              <a:rPr lang="en-US" altLang="zh-CN" sz="2600" baseline="-25000"/>
              <a:t>-1</a:t>
            </a:r>
            <a:r>
              <a:rPr lang="en-US" altLang="zh-CN" sz="2600"/>
              <a:t>∈V(C),∃</a:t>
            </a:r>
            <a:r>
              <a:rPr lang="en-US" altLang="zh-CN" sz="2600" i="1"/>
              <a:t>v</a:t>
            </a:r>
            <a:r>
              <a:rPr lang="en-US" altLang="zh-CN" sz="2600" i="1" baseline="-25000"/>
              <a:t>i</a:t>
            </a:r>
            <a:r>
              <a:rPr lang="en-US" altLang="zh-CN" sz="2600"/>
              <a:t>∈V(C), &lt;</a:t>
            </a:r>
            <a:r>
              <a:rPr lang="en-US" altLang="zh-CN" sz="2600" i="1"/>
              <a:t>v</a:t>
            </a:r>
            <a:r>
              <a:rPr lang="en-US" altLang="zh-CN" sz="2600" i="1" baseline="-25000"/>
              <a:t>i</a:t>
            </a:r>
            <a:r>
              <a:rPr lang="en-US" altLang="zh-CN" sz="2600" baseline="-25000"/>
              <a:t>-1</a:t>
            </a:r>
            <a:r>
              <a:rPr lang="en-US" altLang="zh-CN" sz="2600"/>
              <a:t>,</a:t>
            </a:r>
            <a:r>
              <a:rPr lang="en-US" altLang="zh-CN" sz="2600" i="1"/>
              <a:t>v</a:t>
            </a:r>
            <a:r>
              <a:rPr lang="en-US" altLang="zh-CN" sz="2600"/>
              <a:t>&gt;∈E(D),</a:t>
            </a:r>
            <a:endParaRPr lang="en-US" altLang="zh-CN" sz="260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/>
              <a:t>&lt;</a:t>
            </a:r>
            <a:r>
              <a:rPr lang="en-US" altLang="zh-CN" sz="2600" i="1"/>
              <a:t>v</a:t>
            </a:r>
            <a:r>
              <a:rPr lang="en-US" altLang="zh-CN" sz="2600"/>
              <a:t>,</a:t>
            </a:r>
            <a:r>
              <a:rPr lang="en-US" altLang="zh-CN" sz="2600" i="1"/>
              <a:t>v</a:t>
            </a:r>
            <a:r>
              <a:rPr lang="en-US" altLang="zh-CN" sz="2600" i="1" baseline="-25000"/>
              <a:t>i</a:t>
            </a:r>
            <a:r>
              <a:rPr lang="en-US" altLang="zh-CN" sz="2600"/>
              <a:t>&gt;∈E(D).</a:t>
            </a:r>
            <a:r>
              <a:rPr lang="zh-CN" altLang="en-US" sz="2600"/>
              <a:t> </a:t>
            </a:r>
            <a:r>
              <a:rPr lang="en-US" altLang="zh-CN" sz="2600"/>
              <a:t>C</a:t>
            </a:r>
            <a:r>
              <a:rPr lang="en-US" altLang="zh-CN" sz="2600">
                <a:latin typeface="Tahoma" panose="020B0604030504040204" pitchFamily="34" charset="0"/>
              </a:rPr>
              <a:t>’</a:t>
            </a:r>
            <a:r>
              <a:rPr lang="en-US" altLang="zh-CN" sz="2600"/>
              <a:t>=</a:t>
            </a:r>
            <a:r>
              <a:rPr lang="en-US" altLang="zh-CN" sz="2600" i="1"/>
              <a:t>v</a:t>
            </a:r>
            <a:r>
              <a:rPr lang="en-US" altLang="zh-CN" sz="2600" baseline="-25000"/>
              <a:t>1</a:t>
            </a:r>
            <a:r>
              <a:rPr lang="en-US" altLang="zh-CN" sz="2600" i="1"/>
              <a:t>v</a:t>
            </a:r>
            <a:r>
              <a:rPr lang="en-US" altLang="zh-CN" sz="2600" baseline="-25000"/>
              <a:t>2</a:t>
            </a:r>
            <a:r>
              <a:rPr lang="en-US" altLang="zh-CN" sz="2600"/>
              <a:t>… </a:t>
            </a:r>
            <a:r>
              <a:rPr lang="en-US" altLang="zh-CN" sz="2600" i="1"/>
              <a:t>v</a:t>
            </a:r>
            <a:r>
              <a:rPr lang="en-US" altLang="zh-CN" sz="2600" i="1" baseline="-25000"/>
              <a:t>i</a:t>
            </a:r>
            <a:r>
              <a:rPr lang="en-US" altLang="zh-CN" sz="2600" baseline="-25000"/>
              <a:t>-1</a:t>
            </a:r>
            <a:r>
              <a:rPr lang="en-US" altLang="zh-CN" sz="2600" i="1"/>
              <a:t>v v</a:t>
            </a:r>
            <a:r>
              <a:rPr lang="en-US" altLang="zh-CN" sz="2600" i="1" baseline="-25000"/>
              <a:t>i</a:t>
            </a:r>
            <a:r>
              <a:rPr lang="en-US" altLang="zh-CN" sz="2600"/>
              <a:t>…</a:t>
            </a:r>
            <a:r>
              <a:rPr lang="en-US" altLang="zh-CN" sz="2600" i="1"/>
              <a:t>v</a:t>
            </a:r>
            <a:r>
              <a:rPr lang="en-US" altLang="zh-CN" sz="2600" i="1" baseline="-25000"/>
              <a:t>k</a:t>
            </a:r>
            <a:r>
              <a:rPr lang="en-US" altLang="zh-CN" sz="2600" i="1"/>
              <a:t>v</a:t>
            </a:r>
            <a:r>
              <a:rPr lang="en-US" altLang="zh-CN" sz="2600" baseline="-25000"/>
              <a:t>1</a:t>
            </a:r>
            <a:r>
              <a:rPr lang="zh-CN" altLang="en-US" sz="2600"/>
              <a:t>是长度为</a:t>
            </a:r>
            <a:r>
              <a:rPr lang="en-US" altLang="zh-CN" sz="2600" i="1"/>
              <a:t>k</a:t>
            </a:r>
            <a:r>
              <a:rPr lang="en-US" altLang="zh-CN" sz="2600"/>
              <a:t>+1</a:t>
            </a:r>
            <a:r>
              <a:rPr lang="zh-CN" altLang="en-US" sz="2600"/>
              <a:t>的圈</a:t>
            </a:r>
            <a:r>
              <a:rPr lang="en-US" altLang="zh-CN" sz="2600"/>
              <a:t>.</a:t>
            </a:r>
            <a:endParaRPr lang="zh-CN" altLang="en-US" sz="2600"/>
          </a:p>
        </p:txBody>
      </p:sp>
      <p:grpSp>
        <p:nvGrpSpPr>
          <p:cNvPr id="50179" name="Group 28"/>
          <p:cNvGrpSpPr/>
          <p:nvPr/>
        </p:nvGrpSpPr>
        <p:grpSpPr>
          <a:xfrm>
            <a:off x="468313" y="4292600"/>
            <a:ext cx="2230437" cy="2185988"/>
            <a:chOff x="204" y="2840"/>
            <a:chExt cx="1405" cy="1377"/>
          </a:xfrm>
        </p:grpSpPr>
        <p:sp>
          <p:nvSpPr>
            <p:cNvPr id="50180" name="Oval 4"/>
            <p:cNvSpPr/>
            <p:nvPr/>
          </p:nvSpPr>
          <p:spPr>
            <a:xfrm>
              <a:off x="567" y="3113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181" name="Oval 5"/>
            <p:cNvSpPr/>
            <p:nvPr/>
          </p:nvSpPr>
          <p:spPr>
            <a:xfrm>
              <a:off x="1111" y="3113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182" name="Oval 6"/>
            <p:cNvSpPr/>
            <p:nvPr/>
          </p:nvSpPr>
          <p:spPr>
            <a:xfrm>
              <a:off x="204" y="3567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183" name="Oval 7"/>
            <p:cNvSpPr/>
            <p:nvPr/>
          </p:nvSpPr>
          <p:spPr>
            <a:xfrm>
              <a:off x="1519" y="3567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184" name="Oval 8"/>
            <p:cNvSpPr/>
            <p:nvPr/>
          </p:nvSpPr>
          <p:spPr>
            <a:xfrm>
              <a:off x="567" y="3975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185" name="Oval 9"/>
            <p:cNvSpPr/>
            <p:nvPr/>
          </p:nvSpPr>
          <p:spPr>
            <a:xfrm>
              <a:off x="1112" y="3974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186" name="Line 10"/>
            <p:cNvSpPr/>
            <p:nvPr/>
          </p:nvSpPr>
          <p:spPr>
            <a:xfrm>
              <a:off x="657" y="3158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187" name="Line 11"/>
            <p:cNvSpPr/>
            <p:nvPr/>
          </p:nvSpPr>
          <p:spPr>
            <a:xfrm>
              <a:off x="1174" y="3176"/>
              <a:ext cx="363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188" name="Line 12"/>
            <p:cNvSpPr/>
            <p:nvPr/>
          </p:nvSpPr>
          <p:spPr>
            <a:xfrm flipH="1">
              <a:off x="1202" y="3657"/>
              <a:ext cx="363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189" name="Line 13"/>
            <p:cNvSpPr/>
            <p:nvPr/>
          </p:nvSpPr>
          <p:spPr>
            <a:xfrm flipH="1">
              <a:off x="657" y="4020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190" name="Line 14"/>
            <p:cNvSpPr/>
            <p:nvPr/>
          </p:nvSpPr>
          <p:spPr>
            <a:xfrm flipH="1" flipV="1">
              <a:off x="295" y="3657"/>
              <a:ext cx="272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191" name="Line 15"/>
            <p:cNvSpPr/>
            <p:nvPr/>
          </p:nvSpPr>
          <p:spPr>
            <a:xfrm flipV="1">
              <a:off x="249" y="3203"/>
              <a:ext cx="318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192" name="Oval 16"/>
            <p:cNvSpPr/>
            <p:nvPr/>
          </p:nvSpPr>
          <p:spPr>
            <a:xfrm>
              <a:off x="839" y="3521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193" name="Line 17"/>
            <p:cNvSpPr/>
            <p:nvPr/>
          </p:nvSpPr>
          <p:spPr>
            <a:xfrm>
              <a:off x="612" y="3203"/>
              <a:ext cx="227" cy="31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194" name="Line 18"/>
            <p:cNvSpPr/>
            <p:nvPr/>
          </p:nvSpPr>
          <p:spPr>
            <a:xfrm>
              <a:off x="930" y="3612"/>
              <a:ext cx="226" cy="36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195" name="Text Box 19"/>
            <p:cNvSpPr txBox="1"/>
            <p:nvPr/>
          </p:nvSpPr>
          <p:spPr>
            <a:xfrm>
              <a:off x="690" y="3488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en-US" altLang="zh-CN" sz="2400" i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196" name="Text Box 20"/>
            <p:cNvSpPr txBox="1"/>
            <p:nvPr/>
          </p:nvSpPr>
          <p:spPr>
            <a:xfrm>
              <a:off x="385" y="2840"/>
              <a:ext cx="2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s</a:t>
              </a:r>
              <a:endParaRPr lang="en-US" altLang="zh-CN" sz="2400" i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197" name="Text Box 21"/>
            <p:cNvSpPr txBox="1"/>
            <p:nvPr/>
          </p:nvSpPr>
          <p:spPr>
            <a:xfrm>
              <a:off x="1156" y="3929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endParaRPr lang="en-US" altLang="zh-CN" sz="2400" i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198" name="Line 24"/>
            <p:cNvSpPr/>
            <p:nvPr/>
          </p:nvSpPr>
          <p:spPr>
            <a:xfrm flipH="1">
              <a:off x="930" y="3203"/>
              <a:ext cx="226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0199" name="Line 25"/>
            <p:cNvSpPr/>
            <p:nvPr/>
          </p:nvSpPr>
          <p:spPr>
            <a:xfrm>
              <a:off x="930" y="3566"/>
              <a:ext cx="589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0200" name="Line 26"/>
            <p:cNvSpPr/>
            <p:nvPr/>
          </p:nvSpPr>
          <p:spPr>
            <a:xfrm flipV="1">
              <a:off x="249" y="3566"/>
              <a:ext cx="590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0201" name="Line 27"/>
            <p:cNvSpPr/>
            <p:nvPr/>
          </p:nvSpPr>
          <p:spPr>
            <a:xfrm flipV="1">
              <a:off x="612" y="3612"/>
              <a:ext cx="272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50202" name="Group 53"/>
          <p:cNvGrpSpPr/>
          <p:nvPr/>
        </p:nvGrpSpPr>
        <p:grpSpPr>
          <a:xfrm>
            <a:off x="3187700" y="4294188"/>
            <a:ext cx="2536825" cy="1871662"/>
            <a:chOff x="2779" y="2886"/>
            <a:chExt cx="1598" cy="1179"/>
          </a:xfrm>
        </p:grpSpPr>
        <p:sp>
          <p:nvSpPr>
            <p:cNvPr id="50203" name="Oval 29"/>
            <p:cNvSpPr/>
            <p:nvPr/>
          </p:nvSpPr>
          <p:spPr>
            <a:xfrm>
              <a:off x="3142" y="3113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04" name="Oval 30"/>
            <p:cNvSpPr/>
            <p:nvPr/>
          </p:nvSpPr>
          <p:spPr>
            <a:xfrm>
              <a:off x="3686" y="3113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05" name="Oval 31"/>
            <p:cNvSpPr/>
            <p:nvPr/>
          </p:nvSpPr>
          <p:spPr>
            <a:xfrm>
              <a:off x="2779" y="3567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06" name="Oval 32"/>
            <p:cNvSpPr/>
            <p:nvPr/>
          </p:nvSpPr>
          <p:spPr>
            <a:xfrm>
              <a:off x="4094" y="3567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07" name="Oval 33"/>
            <p:cNvSpPr/>
            <p:nvPr/>
          </p:nvSpPr>
          <p:spPr>
            <a:xfrm>
              <a:off x="3142" y="3975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08" name="Oval 34"/>
            <p:cNvSpPr/>
            <p:nvPr/>
          </p:nvSpPr>
          <p:spPr>
            <a:xfrm>
              <a:off x="3687" y="3974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09" name="Line 35"/>
            <p:cNvSpPr/>
            <p:nvPr/>
          </p:nvSpPr>
          <p:spPr>
            <a:xfrm>
              <a:off x="3232" y="3158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210" name="Line 36"/>
            <p:cNvSpPr/>
            <p:nvPr/>
          </p:nvSpPr>
          <p:spPr>
            <a:xfrm>
              <a:off x="3749" y="3176"/>
              <a:ext cx="363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211" name="Line 37"/>
            <p:cNvSpPr/>
            <p:nvPr/>
          </p:nvSpPr>
          <p:spPr>
            <a:xfrm flipH="1">
              <a:off x="3777" y="3657"/>
              <a:ext cx="363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212" name="Line 38"/>
            <p:cNvSpPr/>
            <p:nvPr/>
          </p:nvSpPr>
          <p:spPr>
            <a:xfrm flipH="1">
              <a:off x="3232" y="4020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213" name="Line 39"/>
            <p:cNvSpPr/>
            <p:nvPr/>
          </p:nvSpPr>
          <p:spPr>
            <a:xfrm flipH="1" flipV="1">
              <a:off x="2870" y="3657"/>
              <a:ext cx="272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214" name="Line 40"/>
            <p:cNvSpPr/>
            <p:nvPr/>
          </p:nvSpPr>
          <p:spPr>
            <a:xfrm flipV="1">
              <a:off x="2824" y="3203"/>
              <a:ext cx="318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215" name="Oval 41"/>
            <p:cNvSpPr/>
            <p:nvPr/>
          </p:nvSpPr>
          <p:spPr>
            <a:xfrm>
              <a:off x="3414" y="3521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16" name="Text Box 44"/>
            <p:cNvSpPr txBox="1"/>
            <p:nvPr/>
          </p:nvSpPr>
          <p:spPr>
            <a:xfrm>
              <a:off x="3265" y="3488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en-US" altLang="zh-CN" sz="2400" i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17" name="Text Box 47"/>
            <p:cNvSpPr txBox="1"/>
            <p:nvPr/>
          </p:nvSpPr>
          <p:spPr>
            <a:xfrm>
              <a:off x="3731" y="2886"/>
              <a:ext cx="3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-1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18" name="Text Box 48"/>
            <p:cNvSpPr txBox="1"/>
            <p:nvPr/>
          </p:nvSpPr>
          <p:spPr>
            <a:xfrm>
              <a:off x="4140" y="3430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19" name="Line 49"/>
            <p:cNvSpPr/>
            <p:nvPr/>
          </p:nvSpPr>
          <p:spPr>
            <a:xfrm flipH="1">
              <a:off x="3505" y="3203"/>
              <a:ext cx="226" cy="31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dash"/>
              <a:round/>
              <a:headEnd type="none" w="med" len="med"/>
              <a:tailEnd type="triangle" w="lg" len="lg"/>
            </a:ln>
          </p:spPr>
        </p:sp>
        <p:sp>
          <p:nvSpPr>
            <p:cNvPr id="50220" name="Line 50"/>
            <p:cNvSpPr/>
            <p:nvPr/>
          </p:nvSpPr>
          <p:spPr>
            <a:xfrm>
              <a:off x="3505" y="3566"/>
              <a:ext cx="589" cy="46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dash"/>
              <a:round/>
              <a:headEnd type="none" w="med" len="med"/>
              <a:tailEnd type="triangle" w="lg" len="lg"/>
            </a:ln>
          </p:spPr>
        </p:sp>
      </p:grpSp>
      <p:grpSp>
        <p:nvGrpSpPr>
          <p:cNvPr id="50221" name="Group 42"/>
          <p:cNvGrpSpPr/>
          <p:nvPr/>
        </p:nvGrpSpPr>
        <p:grpSpPr>
          <a:xfrm>
            <a:off x="6211888" y="4221163"/>
            <a:ext cx="2536825" cy="1871662"/>
            <a:chOff x="2870" y="2205"/>
            <a:chExt cx="1598" cy="1179"/>
          </a:xfrm>
        </p:grpSpPr>
        <p:sp>
          <p:nvSpPr>
            <p:cNvPr id="50222" name="Oval 24"/>
            <p:cNvSpPr/>
            <p:nvPr/>
          </p:nvSpPr>
          <p:spPr>
            <a:xfrm>
              <a:off x="3233" y="2432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23" name="Oval 25"/>
            <p:cNvSpPr/>
            <p:nvPr/>
          </p:nvSpPr>
          <p:spPr>
            <a:xfrm>
              <a:off x="3777" y="2432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24" name="Oval 26"/>
            <p:cNvSpPr/>
            <p:nvPr/>
          </p:nvSpPr>
          <p:spPr>
            <a:xfrm>
              <a:off x="2870" y="2886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25" name="Oval 27"/>
            <p:cNvSpPr/>
            <p:nvPr/>
          </p:nvSpPr>
          <p:spPr>
            <a:xfrm>
              <a:off x="4185" y="2886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26" name="Oval 28"/>
            <p:cNvSpPr/>
            <p:nvPr/>
          </p:nvSpPr>
          <p:spPr>
            <a:xfrm>
              <a:off x="3233" y="3294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27" name="Oval 29"/>
            <p:cNvSpPr/>
            <p:nvPr/>
          </p:nvSpPr>
          <p:spPr>
            <a:xfrm>
              <a:off x="3778" y="3293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28" name="Line 30"/>
            <p:cNvSpPr/>
            <p:nvPr/>
          </p:nvSpPr>
          <p:spPr>
            <a:xfrm>
              <a:off x="3323" y="2477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229" name="Line 32"/>
            <p:cNvSpPr/>
            <p:nvPr/>
          </p:nvSpPr>
          <p:spPr>
            <a:xfrm flipH="1">
              <a:off x="3868" y="2976"/>
              <a:ext cx="363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230" name="Line 33"/>
            <p:cNvSpPr/>
            <p:nvPr/>
          </p:nvSpPr>
          <p:spPr>
            <a:xfrm flipH="1">
              <a:off x="3323" y="3339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231" name="Line 34"/>
            <p:cNvSpPr/>
            <p:nvPr/>
          </p:nvSpPr>
          <p:spPr>
            <a:xfrm flipH="1" flipV="1">
              <a:off x="2961" y="2976"/>
              <a:ext cx="272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232" name="Line 35"/>
            <p:cNvSpPr/>
            <p:nvPr/>
          </p:nvSpPr>
          <p:spPr>
            <a:xfrm flipV="1">
              <a:off x="2915" y="2522"/>
              <a:ext cx="318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0233" name="Oval 36"/>
            <p:cNvSpPr/>
            <p:nvPr/>
          </p:nvSpPr>
          <p:spPr>
            <a:xfrm>
              <a:off x="3505" y="2840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234" name="Text Box 37"/>
            <p:cNvSpPr txBox="1"/>
            <p:nvPr/>
          </p:nvSpPr>
          <p:spPr>
            <a:xfrm>
              <a:off x="3356" y="2807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en-US" altLang="zh-CN" sz="2400" i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35" name="Text Box 38"/>
            <p:cNvSpPr txBox="1"/>
            <p:nvPr/>
          </p:nvSpPr>
          <p:spPr>
            <a:xfrm>
              <a:off x="3822" y="2205"/>
              <a:ext cx="3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-1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36" name="Text Box 39"/>
            <p:cNvSpPr txBox="1"/>
            <p:nvPr/>
          </p:nvSpPr>
          <p:spPr>
            <a:xfrm>
              <a:off x="4231" y="2749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0237" name="Line 40"/>
            <p:cNvSpPr/>
            <p:nvPr/>
          </p:nvSpPr>
          <p:spPr>
            <a:xfrm flipH="1">
              <a:off x="3596" y="2522"/>
              <a:ext cx="226" cy="31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dash"/>
              <a:round/>
              <a:headEnd type="none" w="med" len="med"/>
              <a:tailEnd type="triangle" w="lg" len="lg"/>
            </a:ln>
          </p:spPr>
        </p:sp>
        <p:sp>
          <p:nvSpPr>
            <p:cNvPr id="50238" name="Line 41"/>
            <p:cNvSpPr/>
            <p:nvPr/>
          </p:nvSpPr>
          <p:spPr>
            <a:xfrm>
              <a:off x="3596" y="2885"/>
              <a:ext cx="589" cy="46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dash"/>
              <a:round/>
              <a:headEnd type="none" w="med" len="med"/>
              <a:tailEnd type="triangle" w="lg" len="lg"/>
            </a:ln>
          </p:spPr>
        </p:sp>
      </p:grpSp>
      <p:sp>
        <p:nvSpPr>
          <p:cNvPr id="502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10</a:t>
            </a:r>
            <a:r>
              <a:rPr lang="zh-CN" altLang="en-US"/>
              <a:t>的证明</a:t>
            </a:r>
            <a:r>
              <a:rPr lang="en-US" altLang="zh-CN"/>
              <a:t>(3)</a:t>
            </a:r>
            <a:endParaRPr lang="zh-CN" altLang="en-US"/>
          </a:p>
        </p:txBody>
      </p:sp>
      <p:sp>
        <p:nvSpPr>
          <p:cNvPr id="51202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820150" cy="5256213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/>
              <a:t> (</a:t>
            </a:r>
            <a:r>
              <a:rPr lang="en-US" altLang="zh-CN" sz="2600" i="1"/>
              <a:t>b</a:t>
            </a:r>
            <a:r>
              <a:rPr lang="en-US" altLang="zh-CN" sz="2600"/>
              <a:t>) </a:t>
            </a:r>
            <a:r>
              <a:rPr lang="zh-CN" altLang="en-US" sz="2600"/>
              <a:t>若</a:t>
            </a:r>
            <a:r>
              <a:rPr lang="en-US" altLang="zh-CN" sz="2600"/>
              <a:t>∀</a:t>
            </a:r>
            <a:r>
              <a:rPr lang="en-US" altLang="zh-CN" sz="2600" i="1"/>
              <a:t>v</a:t>
            </a:r>
            <a:r>
              <a:rPr lang="en-US" altLang="zh-CN" sz="2600"/>
              <a:t>∈V(D-C),</a:t>
            </a:r>
            <a:r>
              <a:rPr lang="zh-CN" altLang="en-US" sz="2600"/>
              <a:t> </a:t>
            </a:r>
            <a:r>
              <a:rPr lang="en-US" altLang="zh-CN" sz="2600"/>
              <a:t>∀</a:t>
            </a:r>
            <a:r>
              <a:rPr lang="en-US" altLang="zh-CN" sz="2600" i="1"/>
              <a:t>u</a:t>
            </a:r>
            <a:r>
              <a:rPr lang="en-US" altLang="zh-CN" sz="2600"/>
              <a:t>∈V(C), &lt;</a:t>
            </a:r>
            <a:r>
              <a:rPr lang="en-US" altLang="zh-CN" sz="2600" i="1"/>
              <a:t>u</a:t>
            </a:r>
            <a:r>
              <a:rPr lang="en-US" altLang="zh-CN" sz="2600"/>
              <a:t>,</a:t>
            </a:r>
            <a:r>
              <a:rPr lang="en-US" altLang="zh-CN" sz="2600" i="1"/>
              <a:t>v</a:t>
            </a:r>
            <a:r>
              <a:rPr lang="en-US" altLang="zh-CN" sz="2600"/>
              <a:t>&gt;∈E(D)</a:t>
            </a:r>
            <a:r>
              <a:rPr lang="en-US" altLang="zh-CN" sz="2400">
                <a:sym typeface="Symbol" panose="05050102010706020507" pitchFamily="18" charset="2"/>
              </a:rPr>
              <a:t> </a:t>
            </a:r>
            <a:r>
              <a:rPr lang="en-US" altLang="zh-CN" sz="2600"/>
              <a:t>&lt;</a:t>
            </a:r>
            <a:r>
              <a:rPr lang="en-US" altLang="zh-CN" sz="2600" i="1"/>
              <a:t>v</a:t>
            </a:r>
            <a:r>
              <a:rPr lang="en-US" altLang="zh-CN" sz="2600"/>
              <a:t>,</a:t>
            </a:r>
            <a:r>
              <a:rPr lang="en-US" altLang="zh-CN" sz="2600" i="1"/>
              <a:t>u</a:t>
            </a:r>
            <a:r>
              <a:rPr lang="en-US" altLang="zh-CN" sz="2600"/>
              <a:t>&gt;∈E(D) ,</a:t>
            </a:r>
            <a:r>
              <a:rPr lang="zh-CN" altLang="en-US" sz="2600"/>
              <a:t>则令</a:t>
            </a:r>
            <a:r>
              <a:rPr lang="en-US" altLang="zh-CN" sz="2600"/>
              <a:t>V</a:t>
            </a:r>
            <a:r>
              <a:rPr lang="en-US" altLang="zh-CN" sz="2600" baseline="-25000"/>
              <a:t>1</a:t>
            </a:r>
            <a:r>
              <a:rPr lang="en-US" altLang="zh-CN" sz="2600"/>
              <a:t>={</a:t>
            </a:r>
            <a:r>
              <a:rPr lang="en-US" altLang="zh-CN" sz="2600" i="1"/>
              <a:t>v</a:t>
            </a:r>
            <a:r>
              <a:rPr lang="en-US" altLang="zh-CN" sz="2600"/>
              <a:t>∈V(D-C) | ∀</a:t>
            </a:r>
            <a:r>
              <a:rPr lang="en-US" altLang="zh-CN" sz="2600" i="1"/>
              <a:t>u</a:t>
            </a:r>
            <a:r>
              <a:rPr lang="en-US" altLang="zh-CN" sz="2600"/>
              <a:t>∈V(C), &lt;</a:t>
            </a:r>
            <a:r>
              <a:rPr lang="en-US" altLang="zh-CN" sz="2600" i="1"/>
              <a:t>u</a:t>
            </a:r>
            <a:r>
              <a:rPr lang="en-US" altLang="zh-CN" sz="2600"/>
              <a:t>,</a:t>
            </a:r>
            <a:r>
              <a:rPr lang="en-US" altLang="zh-CN" sz="2600" i="1"/>
              <a:t>v</a:t>
            </a:r>
            <a:r>
              <a:rPr lang="en-US" altLang="zh-CN" sz="2600"/>
              <a:t>&gt;∈E(D)}</a:t>
            </a:r>
            <a:endParaRPr lang="en-US" altLang="zh-CN" sz="260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/>
              <a:t>    V</a:t>
            </a:r>
            <a:r>
              <a:rPr lang="en-US" altLang="zh-CN" sz="2600" baseline="-25000"/>
              <a:t>2</a:t>
            </a:r>
            <a:r>
              <a:rPr lang="en-US" altLang="zh-CN" sz="2600"/>
              <a:t>={</a:t>
            </a:r>
            <a:r>
              <a:rPr lang="en-US" altLang="zh-CN" sz="2600" i="1"/>
              <a:t>v</a:t>
            </a:r>
            <a:r>
              <a:rPr lang="en-US" altLang="zh-CN" sz="2600"/>
              <a:t>∈V(D-C) | ∀</a:t>
            </a:r>
            <a:r>
              <a:rPr lang="en-US" altLang="zh-CN" sz="2600" i="1"/>
              <a:t>u</a:t>
            </a:r>
            <a:r>
              <a:rPr lang="en-US" altLang="zh-CN" sz="2600"/>
              <a:t>∈V(C), &lt;</a:t>
            </a:r>
            <a:r>
              <a:rPr lang="en-US" altLang="zh-CN" sz="2600" i="1"/>
              <a:t>v</a:t>
            </a:r>
            <a:r>
              <a:rPr lang="en-US" altLang="zh-CN" sz="2600"/>
              <a:t>,</a:t>
            </a:r>
            <a:r>
              <a:rPr lang="en-US" altLang="zh-CN" sz="2600" i="1"/>
              <a:t>u</a:t>
            </a:r>
            <a:r>
              <a:rPr lang="en-US" altLang="zh-CN" sz="2600"/>
              <a:t>&gt;∈E(D) }</a:t>
            </a:r>
            <a:endParaRPr lang="en-US" altLang="zh-CN" sz="260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/>
              <a:t>则</a:t>
            </a:r>
            <a:r>
              <a:rPr lang="en-US" altLang="zh-CN" sz="2600"/>
              <a:t>V</a:t>
            </a:r>
            <a:r>
              <a:rPr lang="en-US" altLang="zh-CN" sz="2600" baseline="-25000"/>
              <a:t>1</a:t>
            </a:r>
            <a:r>
              <a:rPr lang="en-US" altLang="zh-CN" sz="2600"/>
              <a:t>≠</a:t>
            </a:r>
            <a:r>
              <a:rPr lang="en-US" altLang="zh-CN" sz="2400">
                <a:sym typeface="Symbol" panose="05050102010706020507" pitchFamily="18" charset="2"/>
              </a:rPr>
              <a:t> </a:t>
            </a:r>
            <a:r>
              <a:rPr lang="en-US" altLang="zh-CN" sz="2600"/>
              <a:t>, V</a:t>
            </a:r>
            <a:r>
              <a:rPr lang="en-US" altLang="zh-CN" sz="2600" baseline="-25000"/>
              <a:t>2</a:t>
            </a:r>
            <a:r>
              <a:rPr lang="en-US" altLang="zh-CN" sz="2600"/>
              <a:t>≠</a:t>
            </a:r>
            <a:r>
              <a:rPr lang="en-US" altLang="zh-CN" sz="2400">
                <a:sym typeface="Symbol" panose="05050102010706020507" pitchFamily="18" charset="2"/>
              </a:rPr>
              <a:t> </a:t>
            </a:r>
            <a:r>
              <a:rPr lang="en-US" altLang="zh-CN" sz="2600"/>
              <a:t>, V</a:t>
            </a:r>
            <a:r>
              <a:rPr lang="en-US" altLang="zh-CN" sz="2600" baseline="-25000"/>
              <a:t>1</a:t>
            </a:r>
            <a:r>
              <a:rPr lang="en-US" altLang="zh-CN" sz="2600"/>
              <a:t>∩V</a:t>
            </a:r>
            <a:r>
              <a:rPr lang="en-US" altLang="zh-CN" sz="2600" baseline="-25000"/>
              <a:t>2</a:t>
            </a:r>
            <a:r>
              <a:rPr lang="en-US" altLang="zh-CN" sz="2600"/>
              <a:t>= </a:t>
            </a:r>
            <a:r>
              <a:rPr lang="en-US" altLang="zh-CN" sz="2400">
                <a:sym typeface="Symbol" panose="05050102010706020507" pitchFamily="18" charset="2"/>
              </a:rPr>
              <a:t></a:t>
            </a:r>
            <a:r>
              <a:rPr lang="zh-CN" altLang="zh-CN" sz="2400"/>
              <a:t> </a:t>
            </a:r>
            <a:r>
              <a:rPr lang="en-US" altLang="zh-CN" sz="2600"/>
              <a:t>.</a:t>
            </a:r>
            <a:endParaRPr lang="zh-CN" altLang="en-US" sz="2600"/>
          </a:p>
        </p:txBody>
      </p:sp>
      <p:grpSp>
        <p:nvGrpSpPr>
          <p:cNvPr id="51203" name="Group 49"/>
          <p:cNvGrpSpPr/>
          <p:nvPr/>
        </p:nvGrpSpPr>
        <p:grpSpPr>
          <a:xfrm>
            <a:off x="1403350" y="3644900"/>
            <a:ext cx="4840288" cy="2233613"/>
            <a:chOff x="2280" y="2795"/>
            <a:chExt cx="3049" cy="1407"/>
          </a:xfrm>
        </p:grpSpPr>
        <p:sp>
          <p:nvSpPr>
            <p:cNvPr id="51204" name="Oval 4"/>
            <p:cNvSpPr/>
            <p:nvPr/>
          </p:nvSpPr>
          <p:spPr>
            <a:xfrm>
              <a:off x="4150" y="2795"/>
              <a:ext cx="1179" cy="54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05" name="Oval 5"/>
            <p:cNvSpPr/>
            <p:nvPr/>
          </p:nvSpPr>
          <p:spPr>
            <a:xfrm>
              <a:off x="4150" y="3657"/>
              <a:ext cx="1179" cy="54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06" name="Oval 6"/>
            <p:cNvSpPr/>
            <p:nvPr/>
          </p:nvSpPr>
          <p:spPr>
            <a:xfrm>
              <a:off x="4604" y="2840"/>
              <a:ext cx="90" cy="90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07" name="Oval 7"/>
            <p:cNvSpPr/>
            <p:nvPr/>
          </p:nvSpPr>
          <p:spPr>
            <a:xfrm>
              <a:off x="4377" y="3022"/>
              <a:ext cx="90" cy="90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08" name="Oval 9"/>
            <p:cNvSpPr/>
            <p:nvPr/>
          </p:nvSpPr>
          <p:spPr>
            <a:xfrm>
              <a:off x="4695" y="4020"/>
              <a:ext cx="90" cy="90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09" name="Oval 10"/>
            <p:cNvSpPr/>
            <p:nvPr/>
          </p:nvSpPr>
          <p:spPr>
            <a:xfrm>
              <a:off x="4378" y="3838"/>
              <a:ext cx="90" cy="90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0" name="Text Box 11"/>
            <p:cNvSpPr txBox="1"/>
            <p:nvPr/>
          </p:nvSpPr>
          <p:spPr>
            <a:xfrm>
              <a:off x="4772" y="2899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1211" name="Text Box 12"/>
            <p:cNvSpPr txBox="1"/>
            <p:nvPr/>
          </p:nvSpPr>
          <p:spPr>
            <a:xfrm>
              <a:off x="4785" y="3748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1212" name="Oval 14"/>
            <p:cNvSpPr/>
            <p:nvPr/>
          </p:nvSpPr>
          <p:spPr>
            <a:xfrm>
              <a:off x="2643" y="3022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3" name="Oval 15"/>
            <p:cNvSpPr/>
            <p:nvPr/>
          </p:nvSpPr>
          <p:spPr>
            <a:xfrm>
              <a:off x="3187" y="3022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4" name="Oval 16"/>
            <p:cNvSpPr/>
            <p:nvPr/>
          </p:nvSpPr>
          <p:spPr>
            <a:xfrm>
              <a:off x="2280" y="3476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5" name="Oval 17"/>
            <p:cNvSpPr/>
            <p:nvPr/>
          </p:nvSpPr>
          <p:spPr>
            <a:xfrm>
              <a:off x="3595" y="3476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6" name="Oval 18"/>
            <p:cNvSpPr/>
            <p:nvPr/>
          </p:nvSpPr>
          <p:spPr>
            <a:xfrm>
              <a:off x="2643" y="3884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7" name="Oval 19"/>
            <p:cNvSpPr/>
            <p:nvPr/>
          </p:nvSpPr>
          <p:spPr>
            <a:xfrm>
              <a:off x="3188" y="3883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8" name="Line 20"/>
            <p:cNvSpPr/>
            <p:nvPr/>
          </p:nvSpPr>
          <p:spPr>
            <a:xfrm>
              <a:off x="2733" y="3067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1219" name="Line 21"/>
            <p:cNvSpPr/>
            <p:nvPr/>
          </p:nvSpPr>
          <p:spPr>
            <a:xfrm>
              <a:off x="3250" y="3085"/>
              <a:ext cx="363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1220" name="Line 22"/>
            <p:cNvSpPr/>
            <p:nvPr/>
          </p:nvSpPr>
          <p:spPr>
            <a:xfrm flipH="1">
              <a:off x="3278" y="3566"/>
              <a:ext cx="363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1221" name="Line 23"/>
            <p:cNvSpPr/>
            <p:nvPr/>
          </p:nvSpPr>
          <p:spPr>
            <a:xfrm flipH="1">
              <a:off x="2733" y="3929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1222" name="Line 24"/>
            <p:cNvSpPr/>
            <p:nvPr/>
          </p:nvSpPr>
          <p:spPr>
            <a:xfrm flipH="1" flipV="1">
              <a:off x="2371" y="3566"/>
              <a:ext cx="272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1223" name="Line 25"/>
            <p:cNvSpPr/>
            <p:nvPr/>
          </p:nvSpPr>
          <p:spPr>
            <a:xfrm flipV="1">
              <a:off x="2325" y="3112"/>
              <a:ext cx="318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1224" name="Text Box 32"/>
            <p:cNvSpPr txBox="1"/>
            <p:nvPr/>
          </p:nvSpPr>
          <p:spPr>
            <a:xfrm>
              <a:off x="2822" y="3261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4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1225" name="Line 33"/>
            <p:cNvSpPr/>
            <p:nvPr/>
          </p:nvSpPr>
          <p:spPr>
            <a:xfrm flipV="1">
              <a:off x="3243" y="2886"/>
              <a:ext cx="1361" cy="18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51226" name="Line 34"/>
            <p:cNvSpPr/>
            <p:nvPr/>
          </p:nvSpPr>
          <p:spPr>
            <a:xfrm>
              <a:off x="3243" y="3067"/>
              <a:ext cx="1179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51227" name="Line 37"/>
            <p:cNvSpPr/>
            <p:nvPr/>
          </p:nvSpPr>
          <p:spPr>
            <a:xfrm flipV="1">
              <a:off x="2295" y="2880"/>
              <a:ext cx="2268" cy="63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51228" name="Line 38"/>
            <p:cNvSpPr/>
            <p:nvPr/>
          </p:nvSpPr>
          <p:spPr>
            <a:xfrm flipV="1">
              <a:off x="3696" y="3067"/>
              <a:ext cx="726" cy="45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51229" name="Line 39"/>
            <p:cNvSpPr/>
            <p:nvPr/>
          </p:nvSpPr>
          <p:spPr>
            <a:xfrm flipV="1">
              <a:off x="2744" y="3067"/>
              <a:ext cx="1633" cy="81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51230" name="Line 40"/>
            <p:cNvSpPr/>
            <p:nvPr/>
          </p:nvSpPr>
          <p:spPr>
            <a:xfrm>
              <a:off x="3690" y="3555"/>
              <a:ext cx="732" cy="329"/>
            </a:xfrm>
            <a:prstGeom prst="line">
              <a:avLst/>
            </a:prstGeom>
            <a:ln w="28575" cap="flat" cmpd="sng">
              <a:solidFill>
                <a:srgbClr val="0070C0"/>
              </a:solidFill>
              <a:prstDash val="dash"/>
              <a:round/>
              <a:headEnd type="triangle" w="med" len="med"/>
              <a:tailEnd type="none" w="med" len="med"/>
            </a:ln>
          </p:spPr>
        </p:sp>
        <p:sp>
          <p:nvSpPr>
            <p:cNvPr id="51231" name="Freeform 44"/>
            <p:cNvSpPr/>
            <p:nvPr/>
          </p:nvSpPr>
          <p:spPr>
            <a:xfrm>
              <a:off x="2699" y="3113"/>
              <a:ext cx="1678" cy="7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25" y="453"/>
                </a:cxn>
                <a:cxn ang="0">
                  <a:pos x="1678" y="771"/>
                </a:cxn>
              </a:cxnLst>
              <a:pathLst>
                <a:path w="1678" h="771">
                  <a:moveTo>
                    <a:pt x="0" y="0"/>
                  </a:moveTo>
                  <a:cubicBezTo>
                    <a:pt x="222" y="162"/>
                    <a:pt x="445" y="325"/>
                    <a:pt x="725" y="453"/>
                  </a:cubicBezTo>
                  <a:cubicBezTo>
                    <a:pt x="1005" y="581"/>
                    <a:pt x="1341" y="676"/>
                    <a:pt x="1678" y="771"/>
                  </a:cubicBezTo>
                </a:path>
              </a:pathLst>
            </a:custGeom>
            <a:noFill/>
            <a:ln w="28575" cap="flat" cmpd="sng">
              <a:solidFill>
                <a:srgbClr val="0070C0"/>
              </a:solidFill>
              <a:prstDash val="dash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32" name="Line 45"/>
            <p:cNvSpPr/>
            <p:nvPr/>
          </p:nvSpPr>
          <p:spPr>
            <a:xfrm flipH="1" flipV="1">
              <a:off x="2381" y="3521"/>
              <a:ext cx="1996" cy="363"/>
            </a:xfrm>
            <a:prstGeom prst="line">
              <a:avLst/>
            </a:prstGeom>
            <a:ln w="28575" cap="flat" cmpd="sng">
              <a:solidFill>
                <a:srgbClr val="0070C0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51233" name="Line 46"/>
            <p:cNvSpPr/>
            <p:nvPr/>
          </p:nvSpPr>
          <p:spPr>
            <a:xfrm flipH="1">
              <a:off x="3330" y="3884"/>
              <a:ext cx="1047" cy="31"/>
            </a:xfrm>
            <a:prstGeom prst="line">
              <a:avLst/>
            </a:prstGeom>
            <a:ln w="28575" cap="flat" cmpd="sng">
              <a:solidFill>
                <a:srgbClr val="0070C0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51234" name="Freeform 48"/>
            <p:cNvSpPr/>
            <p:nvPr/>
          </p:nvSpPr>
          <p:spPr>
            <a:xfrm>
              <a:off x="2699" y="3974"/>
              <a:ext cx="1995" cy="159"/>
            </a:xfrm>
            <a:custGeom>
              <a:avLst/>
              <a:gdLst/>
              <a:ahLst/>
              <a:cxnLst>
                <a:cxn ang="0">
                  <a:pos x="1995" y="136"/>
                </a:cxn>
                <a:cxn ang="0">
                  <a:pos x="1179" y="136"/>
                </a:cxn>
                <a:cxn ang="0">
                  <a:pos x="0" y="0"/>
                </a:cxn>
              </a:cxnLst>
              <a:pathLst>
                <a:path w="1995" h="159">
                  <a:moveTo>
                    <a:pt x="1995" y="136"/>
                  </a:moveTo>
                  <a:cubicBezTo>
                    <a:pt x="1753" y="147"/>
                    <a:pt x="1511" y="159"/>
                    <a:pt x="1179" y="136"/>
                  </a:cubicBezTo>
                  <a:cubicBezTo>
                    <a:pt x="847" y="113"/>
                    <a:pt x="197" y="23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0070C0"/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123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10</a:t>
            </a:r>
            <a:r>
              <a:rPr lang="zh-CN" altLang="en-US"/>
              <a:t>的证明</a:t>
            </a:r>
            <a:r>
              <a:rPr lang="en-US" altLang="zh-CN"/>
              <a:t>(4)</a:t>
            </a:r>
            <a:r>
              <a:rPr lang="en-US" altLang="zh-CN">
                <a:sym typeface="Symbol" panose="05050102010706020507" pitchFamily="18" charset="2"/>
              </a:rPr>
              <a:t>  </a:t>
            </a:r>
            <a:endParaRPr lang="zh-CN" altLang="en-US"/>
          </a:p>
        </p:txBody>
      </p:sp>
      <p:sp>
        <p:nvSpPr>
          <p:cNvPr id="522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/>
              <a:t>于是∃</a:t>
            </a:r>
            <a:r>
              <a:rPr lang="en-US" altLang="zh-CN" i="1"/>
              <a:t>s</a:t>
            </a:r>
            <a:r>
              <a:rPr lang="en-US" altLang="zh-CN"/>
              <a:t>∈V</a:t>
            </a:r>
            <a:r>
              <a:rPr lang="en-US" altLang="zh-CN" baseline="-25000"/>
              <a:t>1</a:t>
            </a:r>
            <a:r>
              <a:rPr lang="en-US" altLang="zh-CN"/>
              <a:t>, ∃</a:t>
            </a:r>
            <a:r>
              <a:rPr lang="en-US" altLang="zh-CN" i="1"/>
              <a:t>t</a:t>
            </a:r>
            <a:r>
              <a:rPr lang="en-US" altLang="zh-CN"/>
              <a:t>∈ V</a:t>
            </a:r>
            <a:r>
              <a:rPr lang="en-US" altLang="zh-CN" baseline="-25000"/>
              <a:t>2</a:t>
            </a:r>
            <a:r>
              <a:rPr lang="en-US" altLang="zh-CN"/>
              <a:t>,&lt;</a:t>
            </a:r>
            <a:r>
              <a:rPr lang="en-US" altLang="zh-CN" i="1"/>
              <a:t>s</a:t>
            </a:r>
            <a:r>
              <a:rPr lang="en-US" altLang="zh-CN"/>
              <a:t>,</a:t>
            </a:r>
            <a:r>
              <a:rPr lang="en-US" altLang="zh-CN" i="1"/>
              <a:t>t</a:t>
            </a:r>
            <a:r>
              <a:rPr lang="en-US" altLang="zh-CN"/>
              <a:t>&gt;∈E(D). </a:t>
            </a:r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上任取相邻</a:t>
            </a:r>
            <a:r>
              <a:rPr lang="en-US" altLang="zh-CN"/>
              <a:t>3</a:t>
            </a:r>
            <a:r>
              <a:rPr lang="zh-CN" altLang="en-US"/>
              <a:t>点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-1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+1</a:t>
            </a:r>
            <a:r>
              <a:rPr lang="en-US" altLang="zh-CN"/>
              <a:t>, </a:t>
            </a:r>
            <a:r>
              <a:rPr lang="zh-CN" altLang="en-US"/>
              <a:t>则</a:t>
            </a:r>
            <a:r>
              <a:rPr lang="en-US" altLang="zh-CN"/>
              <a:t>C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/>
              <a:t>= 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…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-1</a:t>
            </a:r>
            <a:r>
              <a:rPr lang="en-US" altLang="zh-CN" i="1">
                <a:solidFill>
                  <a:srgbClr val="FF00FF"/>
                </a:solidFill>
              </a:rPr>
              <a:t>st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+1</a:t>
            </a:r>
            <a:r>
              <a:rPr lang="en-US" altLang="zh-CN"/>
              <a:t>…</a:t>
            </a:r>
            <a:r>
              <a:rPr lang="en-US" altLang="zh-CN" i="1"/>
              <a:t>v</a:t>
            </a:r>
            <a:r>
              <a:rPr lang="en-US" altLang="zh-CN" i="1" baseline="-25000"/>
              <a:t>k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 </a:t>
            </a:r>
            <a:r>
              <a:rPr lang="zh-CN" altLang="en-US"/>
              <a:t>是长度为</a:t>
            </a:r>
            <a:r>
              <a:rPr lang="en-US" altLang="zh-CN" i="1"/>
              <a:t>k</a:t>
            </a:r>
            <a:r>
              <a:rPr lang="en-US" altLang="zh-CN"/>
              <a:t>+1</a:t>
            </a:r>
            <a:r>
              <a:rPr lang="zh-CN" altLang="en-US"/>
              <a:t>的圈</a:t>
            </a:r>
            <a:r>
              <a:rPr lang="en-US" altLang="zh-CN"/>
              <a:t>. </a:t>
            </a:r>
            <a:endParaRPr lang="zh-CN" altLang="en-US"/>
          </a:p>
        </p:txBody>
      </p:sp>
      <p:grpSp>
        <p:nvGrpSpPr>
          <p:cNvPr id="52227" name="Group 64"/>
          <p:cNvGrpSpPr/>
          <p:nvPr/>
        </p:nvGrpSpPr>
        <p:grpSpPr>
          <a:xfrm>
            <a:off x="1331913" y="2636838"/>
            <a:ext cx="4840287" cy="2357437"/>
            <a:chOff x="2280" y="2717"/>
            <a:chExt cx="3049" cy="1485"/>
          </a:xfrm>
        </p:grpSpPr>
        <p:sp>
          <p:nvSpPr>
            <p:cNvPr id="52228" name="Oval 24"/>
            <p:cNvSpPr/>
            <p:nvPr/>
          </p:nvSpPr>
          <p:spPr>
            <a:xfrm>
              <a:off x="4150" y="2795"/>
              <a:ext cx="1179" cy="54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29" name="Oval 25"/>
            <p:cNvSpPr/>
            <p:nvPr/>
          </p:nvSpPr>
          <p:spPr>
            <a:xfrm>
              <a:off x="4150" y="3657"/>
              <a:ext cx="1179" cy="54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30" name="Oval 27"/>
            <p:cNvSpPr/>
            <p:nvPr/>
          </p:nvSpPr>
          <p:spPr>
            <a:xfrm>
              <a:off x="4468" y="3022"/>
              <a:ext cx="90" cy="90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31" name="Oval 29"/>
            <p:cNvSpPr/>
            <p:nvPr/>
          </p:nvSpPr>
          <p:spPr>
            <a:xfrm>
              <a:off x="4468" y="3838"/>
              <a:ext cx="90" cy="90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32" name="Text Box 30"/>
            <p:cNvSpPr txBox="1"/>
            <p:nvPr/>
          </p:nvSpPr>
          <p:spPr>
            <a:xfrm>
              <a:off x="4772" y="2899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33" name="Text Box 31"/>
            <p:cNvSpPr txBox="1"/>
            <p:nvPr/>
          </p:nvSpPr>
          <p:spPr>
            <a:xfrm>
              <a:off x="4785" y="3748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34" name="Oval 32"/>
            <p:cNvSpPr/>
            <p:nvPr/>
          </p:nvSpPr>
          <p:spPr>
            <a:xfrm>
              <a:off x="2643" y="3022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35" name="Oval 33"/>
            <p:cNvSpPr/>
            <p:nvPr/>
          </p:nvSpPr>
          <p:spPr>
            <a:xfrm>
              <a:off x="3187" y="3022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36" name="Oval 34"/>
            <p:cNvSpPr/>
            <p:nvPr/>
          </p:nvSpPr>
          <p:spPr>
            <a:xfrm>
              <a:off x="2280" y="3476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37" name="Oval 35"/>
            <p:cNvSpPr/>
            <p:nvPr/>
          </p:nvSpPr>
          <p:spPr>
            <a:xfrm>
              <a:off x="3595" y="3476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38" name="Oval 36"/>
            <p:cNvSpPr/>
            <p:nvPr/>
          </p:nvSpPr>
          <p:spPr>
            <a:xfrm>
              <a:off x="2643" y="3884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39" name="Oval 37"/>
            <p:cNvSpPr/>
            <p:nvPr/>
          </p:nvSpPr>
          <p:spPr>
            <a:xfrm>
              <a:off x="3188" y="3883"/>
              <a:ext cx="90" cy="90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40" name="Line 38"/>
            <p:cNvSpPr/>
            <p:nvPr/>
          </p:nvSpPr>
          <p:spPr>
            <a:xfrm>
              <a:off x="2733" y="3067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2241" name="Line 39"/>
            <p:cNvSpPr/>
            <p:nvPr/>
          </p:nvSpPr>
          <p:spPr>
            <a:xfrm>
              <a:off x="3250" y="3085"/>
              <a:ext cx="363" cy="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triangle" w="lg" len="lg"/>
            </a:ln>
          </p:spPr>
        </p:sp>
        <p:sp>
          <p:nvSpPr>
            <p:cNvPr id="52242" name="Line 40"/>
            <p:cNvSpPr/>
            <p:nvPr/>
          </p:nvSpPr>
          <p:spPr>
            <a:xfrm flipH="1">
              <a:off x="3278" y="3566"/>
              <a:ext cx="363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triangle" w="lg" len="lg"/>
            </a:ln>
          </p:spPr>
        </p:sp>
        <p:sp>
          <p:nvSpPr>
            <p:cNvPr id="52243" name="Line 41"/>
            <p:cNvSpPr/>
            <p:nvPr/>
          </p:nvSpPr>
          <p:spPr>
            <a:xfrm flipH="1">
              <a:off x="2733" y="3929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2244" name="Line 42"/>
            <p:cNvSpPr/>
            <p:nvPr/>
          </p:nvSpPr>
          <p:spPr>
            <a:xfrm flipH="1" flipV="1">
              <a:off x="2371" y="3566"/>
              <a:ext cx="272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2245" name="Line 43"/>
            <p:cNvSpPr/>
            <p:nvPr/>
          </p:nvSpPr>
          <p:spPr>
            <a:xfrm flipV="1">
              <a:off x="2325" y="3112"/>
              <a:ext cx="318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52246" name="Text Box 44"/>
            <p:cNvSpPr txBox="1"/>
            <p:nvPr/>
          </p:nvSpPr>
          <p:spPr>
            <a:xfrm>
              <a:off x="2822" y="3261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4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47" name="Text Box 56"/>
            <p:cNvSpPr txBox="1"/>
            <p:nvPr/>
          </p:nvSpPr>
          <p:spPr>
            <a:xfrm>
              <a:off x="4546" y="2808"/>
              <a:ext cx="1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s</a:t>
              </a:r>
              <a:endParaRPr lang="en-US" altLang="zh-CN" sz="240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48" name="Text Box 57"/>
            <p:cNvSpPr txBox="1"/>
            <p:nvPr/>
          </p:nvSpPr>
          <p:spPr>
            <a:xfrm>
              <a:off x="4558" y="3641"/>
              <a:ext cx="1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endParaRPr lang="en-US" altLang="zh-CN" sz="240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49" name="Line 58"/>
            <p:cNvSpPr/>
            <p:nvPr/>
          </p:nvSpPr>
          <p:spPr>
            <a:xfrm>
              <a:off x="4513" y="3113"/>
              <a:ext cx="0" cy="72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50" name="Line 59"/>
            <p:cNvSpPr/>
            <p:nvPr/>
          </p:nvSpPr>
          <p:spPr>
            <a:xfrm flipH="1">
              <a:off x="3243" y="3067"/>
              <a:ext cx="1225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52251" name="Line 60"/>
            <p:cNvSpPr/>
            <p:nvPr/>
          </p:nvSpPr>
          <p:spPr>
            <a:xfrm flipV="1">
              <a:off x="3243" y="3884"/>
              <a:ext cx="1225" cy="4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52252" name="Text Box 61"/>
            <p:cNvSpPr txBox="1"/>
            <p:nvPr/>
          </p:nvSpPr>
          <p:spPr>
            <a:xfrm>
              <a:off x="3094" y="2717"/>
              <a:ext cx="3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-1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53" name="Text Box 62"/>
            <p:cNvSpPr txBox="1"/>
            <p:nvPr/>
          </p:nvSpPr>
          <p:spPr>
            <a:xfrm>
              <a:off x="3625" y="3324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54" name="Text Box 63"/>
            <p:cNvSpPr txBox="1"/>
            <p:nvPr/>
          </p:nvSpPr>
          <p:spPr>
            <a:xfrm>
              <a:off x="3243" y="3868"/>
              <a:ext cx="3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>
                  <a:latin typeface="Times New Roman" panose="02020603050405020304" charset="0"/>
                  <a:ea typeface="宋体" panose="02010600030101010101" pitchFamily="2" charset="-122"/>
                </a:rPr>
                <a:t>i+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2255" name="Rectangle 3"/>
          <p:cNvSpPr txBox="1"/>
          <p:nvPr/>
        </p:nvSpPr>
        <p:spPr>
          <a:xfrm>
            <a:off x="557213" y="5373688"/>
            <a:ext cx="8496300" cy="11509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800">
                <a:solidFill>
                  <a:schemeClr val="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推论</a:t>
            </a:r>
            <a:r>
              <a:rPr lang="en-US" altLang="zh-CN" sz="2800">
                <a:solidFill>
                  <a:schemeClr val="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:</a:t>
            </a:r>
            <a:r>
              <a:rPr lang="en-US" altLang="zh-CN" sz="2800">
                <a:latin typeface="Times New Roman" panose="02020603050405020304" charset="0"/>
                <a:ea typeface="黑体" panose="02010609060101010101" pitchFamily="49" charset="-122"/>
              </a:rPr>
              <a:t> </a:t>
            </a:r>
            <a:r>
              <a:rPr lang="zh-CN" altLang="en-US" sz="2800">
                <a:latin typeface="Times New Roman" panose="02020603050405020304" charset="0"/>
                <a:ea typeface="黑体" panose="02010609060101010101" pitchFamily="49" charset="-122"/>
              </a:rPr>
              <a:t>设</a:t>
            </a:r>
            <a:r>
              <a:rPr lang="en-US" altLang="zh-CN" sz="2800">
                <a:latin typeface="Times New Roman" panose="02020603050405020304" charset="0"/>
                <a:ea typeface="黑体" panose="02010609060101010101" pitchFamily="49" charset="-122"/>
              </a:rPr>
              <a:t>D</a:t>
            </a:r>
            <a:r>
              <a:rPr lang="zh-CN" altLang="en-US" sz="2800">
                <a:latin typeface="Times New Roman" panose="02020603050405020304" charset="0"/>
                <a:ea typeface="黑体" panose="02010609060101010101" pitchFamily="49" charset="-122"/>
              </a:rPr>
              <a:t>是</a:t>
            </a:r>
            <a:r>
              <a:rPr lang="en-US" altLang="zh-CN" sz="2800" i="1">
                <a:latin typeface="Times New Roman" panose="02020603050405020304" charset="0"/>
                <a:ea typeface="黑体" panose="02010609060101010101" pitchFamily="49" charset="-122"/>
              </a:rPr>
              <a:t>n</a:t>
            </a:r>
            <a:r>
              <a:rPr lang="zh-CN" altLang="en-US" sz="2800">
                <a:latin typeface="Times New Roman" panose="02020603050405020304" charset="0"/>
                <a:ea typeface="黑体" panose="02010609060101010101" pitchFamily="49" charset="-122"/>
              </a:rPr>
              <a:t>阶有向图</a:t>
            </a:r>
            <a:r>
              <a:rPr lang="en-US" altLang="zh-CN" sz="2800">
                <a:latin typeface="Times New Roman" panose="02020603050405020304" charset="0"/>
                <a:ea typeface="黑体" panose="02010609060101010101" pitchFamily="49" charset="-122"/>
              </a:rPr>
              <a:t>, </a:t>
            </a:r>
            <a:r>
              <a:rPr lang="zh-CN" altLang="en-US" sz="2800">
                <a:latin typeface="Times New Roman" panose="02020603050405020304" charset="0"/>
                <a:ea typeface="黑体" panose="02010609060101010101" pitchFamily="49" charset="-122"/>
              </a:rPr>
              <a:t>若</a:t>
            </a:r>
            <a:r>
              <a:rPr lang="en-US" altLang="zh-CN" sz="2800">
                <a:latin typeface="Times New Roman" panose="02020603050405020304" charset="0"/>
                <a:ea typeface="黑体" panose="02010609060101010101" pitchFamily="49" charset="-122"/>
              </a:rPr>
              <a:t>D</a:t>
            </a:r>
            <a:r>
              <a:rPr lang="zh-CN" altLang="en-US" sz="2800">
                <a:latin typeface="Times New Roman" panose="02020603050405020304" charset="0"/>
                <a:ea typeface="黑体" panose="02010609060101010101" pitchFamily="49" charset="-122"/>
              </a:rPr>
              <a:t>含</a:t>
            </a:r>
            <a:r>
              <a:rPr lang="en-US" altLang="zh-CN" sz="2800" i="1">
                <a:latin typeface="Times New Roman" panose="02020603050405020304" charset="0"/>
                <a:ea typeface="黑体" panose="02010609060101010101" pitchFamily="49" charset="-122"/>
              </a:rPr>
              <a:t>n</a:t>
            </a:r>
            <a:r>
              <a:rPr lang="zh-CN" altLang="en-US" sz="2800">
                <a:latin typeface="Times New Roman" panose="02020603050405020304" charset="0"/>
                <a:ea typeface="黑体" panose="02010609060101010101" pitchFamily="49" charset="-122"/>
              </a:rPr>
              <a:t>阶强连通竞赛图作为子图</a:t>
            </a:r>
            <a:r>
              <a:rPr lang="en-US" altLang="zh-CN" sz="2800">
                <a:latin typeface="Times New Roman" panose="02020603050405020304" charset="0"/>
                <a:ea typeface="黑体" panose="02010609060101010101" pitchFamily="49" charset="-122"/>
              </a:rPr>
              <a:t>, </a:t>
            </a:r>
            <a:r>
              <a:rPr lang="zh-CN" altLang="en-US" sz="2800">
                <a:latin typeface="Times New Roman" panose="02020603050405020304" charset="0"/>
                <a:ea typeface="黑体" panose="02010609060101010101" pitchFamily="49" charset="-122"/>
              </a:rPr>
              <a:t>则</a:t>
            </a:r>
            <a:r>
              <a:rPr lang="en-US" altLang="zh-CN" sz="2800">
                <a:latin typeface="Times New Roman" panose="02020603050405020304" charset="0"/>
                <a:ea typeface="黑体" panose="02010609060101010101" pitchFamily="49" charset="-122"/>
              </a:rPr>
              <a:t>D</a:t>
            </a:r>
            <a:r>
              <a:rPr lang="zh-CN" altLang="en-US" sz="2800">
                <a:latin typeface="Times New Roman" panose="02020603050405020304" charset="0"/>
                <a:ea typeface="黑体" panose="02010609060101010101" pitchFamily="49" charset="-122"/>
              </a:rPr>
              <a:t>是哈密顿图</a:t>
            </a:r>
            <a:r>
              <a:rPr lang="en-US" altLang="zh-CN" sz="2800">
                <a:latin typeface="Times New Roman" panose="02020603050405020304" charset="0"/>
                <a:ea typeface="黑体" panose="02010609060101010101" pitchFamily="49" charset="-122"/>
              </a:rPr>
              <a:t>. </a:t>
            </a:r>
            <a:endParaRPr lang="zh-CN" altLang="en-US" sz="2800"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5225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边不重的哈密顿回路</a:t>
            </a:r>
            <a:endParaRPr lang="zh-CN" altLang="en-US"/>
          </a:p>
        </p:txBody>
      </p:sp>
      <p:grpSp>
        <p:nvGrpSpPr>
          <p:cNvPr id="53251" name="Group 62"/>
          <p:cNvGrpSpPr/>
          <p:nvPr/>
        </p:nvGrpSpPr>
        <p:grpSpPr>
          <a:xfrm>
            <a:off x="801053" y="3983038"/>
            <a:ext cx="2493962" cy="2201862"/>
            <a:chOff x="867" y="2463"/>
            <a:chExt cx="1571" cy="1387"/>
          </a:xfrm>
        </p:grpSpPr>
        <p:sp>
          <p:nvSpPr>
            <p:cNvPr id="41" name="椭圆 40"/>
            <p:cNvSpPr/>
            <p:nvPr/>
          </p:nvSpPr>
          <p:spPr bwMode="auto">
            <a:xfrm>
              <a:off x="1565" y="2478"/>
              <a:ext cx="135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" name="椭圆 41"/>
            <p:cNvSpPr/>
            <p:nvPr/>
          </p:nvSpPr>
          <p:spPr bwMode="auto">
            <a:xfrm>
              <a:off x="884" y="2886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3254" name="直接连接符 43"/>
            <p:cNvCxnSpPr/>
            <p:nvPr/>
          </p:nvCxnSpPr>
          <p:spPr>
            <a:xfrm rot="-10800000" flipV="1">
              <a:off x="1000" y="2546"/>
              <a:ext cx="564" cy="36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" name="椭圆 44"/>
            <p:cNvSpPr/>
            <p:nvPr/>
          </p:nvSpPr>
          <p:spPr bwMode="auto">
            <a:xfrm>
              <a:off x="2290" y="2886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3256" name="直接连接符 46"/>
            <p:cNvCxnSpPr/>
            <p:nvPr/>
          </p:nvCxnSpPr>
          <p:spPr>
            <a:xfrm rot="-5400000" flipH="1">
              <a:off x="1839" y="2435"/>
              <a:ext cx="312" cy="63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57" name="直接连接符 48"/>
            <p:cNvCxnSpPr/>
            <p:nvPr/>
          </p:nvCxnSpPr>
          <p:spPr>
            <a:xfrm rot="-5400000" flipH="1">
              <a:off x="680" y="3271"/>
              <a:ext cx="680" cy="18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" name="椭圆 49"/>
            <p:cNvSpPr/>
            <p:nvPr/>
          </p:nvSpPr>
          <p:spPr bwMode="auto">
            <a:xfrm>
              <a:off x="1065" y="3702"/>
              <a:ext cx="137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" name="椭圆 50"/>
            <p:cNvSpPr/>
            <p:nvPr/>
          </p:nvSpPr>
          <p:spPr bwMode="auto">
            <a:xfrm>
              <a:off x="2108" y="3702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3260" name="直接连接符 53"/>
            <p:cNvCxnSpPr/>
            <p:nvPr/>
          </p:nvCxnSpPr>
          <p:spPr>
            <a:xfrm rot="5400000">
              <a:off x="1890" y="3282"/>
              <a:ext cx="700" cy="13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61" name="直接连接符 55"/>
            <p:cNvCxnSpPr/>
            <p:nvPr/>
          </p:nvCxnSpPr>
          <p:spPr>
            <a:xfrm>
              <a:off x="1182" y="3747"/>
              <a:ext cx="927" cy="2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62" name="直接连接符 75"/>
            <p:cNvCxnSpPr/>
            <p:nvPr/>
          </p:nvCxnSpPr>
          <p:spPr>
            <a:xfrm rot="-5400000" flipH="1">
              <a:off x="1204" y="2798"/>
              <a:ext cx="746" cy="11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63" name="直接连接符 79"/>
            <p:cNvCxnSpPr/>
            <p:nvPr/>
          </p:nvCxnSpPr>
          <p:spPr>
            <a:xfrm rot="5400000" flipH="1" flipV="1">
              <a:off x="1380" y="2792"/>
              <a:ext cx="725" cy="10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64" name="直接连接符 81"/>
            <p:cNvCxnSpPr/>
            <p:nvPr/>
          </p:nvCxnSpPr>
          <p:spPr>
            <a:xfrm rot="5400000" flipH="1" flipV="1">
              <a:off x="801" y="2893"/>
              <a:ext cx="1134" cy="47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3265" name="Line 60"/>
            <p:cNvSpPr/>
            <p:nvPr/>
          </p:nvSpPr>
          <p:spPr>
            <a:xfrm flipV="1">
              <a:off x="1020" y="2931"/>
              <a:ext cx="1270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66" name="Line 61"/>
            <p:cNvSpPr/>
            <p:nvPr/>
          </p:nvSpPr>
          <p:spPr>
            <a:xfrm>
              <a:off x="1610" y="2614"/>
              <a:ext cx="544" cy="11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53267" name="Group 96"/>
          <p:cNvGrpSpPr/>
          <p:nvPr/>
        </p:nvGrpSpPr>
        <p:grpSpPr>
          <a:xfrm>
            <a:off x="4151948" y="4616768"/>
            <a:ext cx="1992312" cy="1555750"/>
            <a:chOff x="2851" y="2885"/>
            <a:chExt cx="1255" cy="980"/>
          </a:xfrm>
        </p:grpSpPr>
        <p:sp>
          <p:nvSpPr>
            <p:cNvPr id="42" name="椭圆 41"/>
            <p:cNvSpPr/>
            <p:nvPr/>
          </p:nvSpPr>
          <p:spPr bwMode="auto">
            <a:xfrm>
              <a:off x="2868" y="2901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" name="椭圆 44"/>
            <p:cNvSpPr/>
            <p:nvPr/>
          </p:nvSpPr>
          <p:spPr bwMode="auto">
            <a:xfrm>
              <a:off x="3958" y="2901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3270" name="直接连接符 48"/>
            <p:cNvCxnSpPr/>
            <p:nvPr/>
          </p:nvCxnSpPr>
          <p:spPr>
            <a:xfrm rot="-5400000" flipH="1">
              <a:off x="2574" y="3366"/>
              <a:ext cx="695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椭圆 49"/>
            <p:cNvSpPr/>
            <p:nvPr/>
          </p:nvSpPr>
          <p:spPr bwMode="auto">
            <a:xfrm>
              <a:off x="2868" y="3717"/>
              <a:ext cx="137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1" name="椭圆 50"/>
            <p:cNvSpPr/>
            <p:nvPr/>
          </p:nvSpPr>
          <p:spPr bwMode="auto">
            <a:xfrm>
              <a:off x="3911" y="3717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3273" name="直接连接符 53"/>
            <p:cNvCxnSpPr/>
            <p:nvPr/>
          </p:nvCxnSpPr>
          <p:spPr>
            <a:xfrm rot="5400000">
              <a:off x="3645" y="3350"/>
              <a:ext cx="695" cy="3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74" name="直接连接符 55"/>
            <p:cNvCxnSpPr/>
            <p:nvPr/>
          </p:nvCxnSpPr>
          <p:spPr>
            <a:xfrm>
              <a:off x="2985" y="3762"/>
              <a:ext cx="927" cy="2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3275" name="Line 90"/>
            <p:cNvSpPr/>
            <p:nvPr/>
          </p:nvSpPr>
          <p:spPr>
            <a:xfrm>
              <a:off x="3016" y="2976"/>
              <a:ext cx="953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6" name="Line 91"/>
            <p:cNvSpPr/>
            <p:nvPr/>
          </p:nvSpPr>
          <p:spPr>
            <a:xfrm>
              <a:off x="2971" y="3022"/>
              <a:ext cx="998" cy="7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7" name="Line 92"/>
            <p:cNvSpPr/>
            <p:nvPr/>
          </p:nvSpPr>
          <p:spPr>
            <a:xfrm flipV="1">
              <a:off x="2971" y="3022"/>
              <a:ext cx="998" cy="7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53278" name="Group 106"/>
          <p:cNvGrpSpPr/>
          <p:nvPr/>
        </p:nvGrpSpPr>
        <p:grpSpPr>
          <a:xfrm>
            <a:off x="6851015" y="4510088"/>
            <a:ext cx="1701800" cy="1558925"/>
            <a:chOff x="4468" y="2795"/>
            <a:chExt cx="1072" cy="982"/>
          </a:xfrm>
        </p:grpSpPr>
        <p:sp>
          <p:nvSpPr>
            <p:cNvPr id="45" name="椭圆 44"/>
            <p:cNvSpPr/>
            <p:nvPr/>
          </p:nvSpPr>
          <p:spPr bwMode="auto">
            <a:xfrm>
              <a:off x="4938" y="2811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" name="椭圆 44"/>
            <p:cNvSpPr/>
            <p:nvPr/>
          </p:nvSpPr>
          <p:spPr bwMode="auto">
            <a:xfrm>
              <a:off x="4485" y="3582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椭圆 44"/>
            <p:cNvSpPr/>
            <p:nvPr/>
          </p:nvSpPr>
          <p:spPr bwMode="auto">
            <a:xfrm>
              <a:off x="5392" y="3628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3282" name="Line 103"/>
            <p:cNvSpPr/>
            <p:nvPr/>
          </p:nvSpPr>
          <p:spPr>
            <a:xfrm flipH="1">
              <a:off x="4558" y="2931"/>
              <a:ext cx="409" cy="635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83" name="Line 104"/>
            <p:cNvSpPr/>
            <p:nvPr/>
          </p:nvSpPr>
          <p:spPr>
            <a:xfrm>
              <a:off x="5057" y="2931"/>
              <a:ext cx="408" cy="726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84" name="Line 105"/>
            <p:cNvSpPr/>
            <p:nvPr/>
          </p:nvSpPr>
          <p:spPr>
            <a:xfrm>
              <a:off x="4604" y="3657"/>
              <a:ext cx="816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32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  <p:sp>
        <p:nvSpPr>
          <p:cNvPr id="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边不重的哈密顿回路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C</a:t>
            </a:r>
            <a:r>
              <a:rPr lang="en-US" altLang="zh-CN" baseline="-25000"/>
              <a:t>1</a:t>
            </a:r>
            <a:r>
              <a:rPr lang="zh-CN" altLang="en-US"/>
              <a:t>与</a:t>
            </a:r>
            <a:r>
              <a:rPr lang="en-US" altLang="zh-CN"/>
              <a:t>C</a:t>
            </a:r>
            <a:r>
              <a:rPr lang="en-US" altLang="zh-CN" baseline="-25000"/>
              <a:t>2</a:t>
            </a:r>
            <a:r>
              <a:rPr lang="zh-CN" altLang="en-US"/>
              <a:t>都是图</a:t>
            </a:r>
            <a:r>
              <a:rPr lang="en-US" altLang="zh-CN"/>
              <a:t>G</a:t>
            </a:r>
            <a:r>
              <a:rPr lang="zh-CN" altLang="en-US"/>
              <a:t>的哈密顿回路</a:t>
            </a:r>
            <a:r>
              <a:rPr lang="en-US" altLang="zh-CN"/>
              <a:t>, </a:t>
            </a:r>
            <a:r>
              <a:rPr lang="zh-CN" altLang="en-US"/>
              <a:t>若</a:t>
            </a:r>
            <a:r>
              <a:rPr lang="en-US" altLang="zh-CN"/>
              <a:t>E(C</a:t>
            </a:r>
            <a:r>
              <a:rPr lang="en-US" altLang="zh-CN" baseline="-25000"/>
              <a:t>1</a:t>
            </a:r>
            <a:r>
              <a:rPr lang="en-US" altLang="zh-CN"/>
              <a:t>)∩E(C</a:t>
            </a:r>
            <a:r>
              <a:rPr lang="en-US" altLang="zh-CN" baseline="-25000"/>
              <a:t>2</a:t>
            </a:r>
            <a:r>
              <a:rPr lang="en-US" altLang="zh-CN"/>
              <a:t>)=</a:t>
            </a:r>
            <a:r>
              <a:rPr lang="en-US" altLang="zh-CN">
                <a:sym typeface="Symbol" panose="05050102010706020507" pitchFamily="18" charset="2"/>
              </a:rPr>
              <a:t> </a:t>
            </a:r>
            <a:r>
              <a:rPr lang="en-US" altLang="zh-CN"/>
              <a:t>, </a:t>
            </a:r>
            <a:r>
              <a:rPr lang="zh-CN" altLang="en-US"/>
              <a:t>则称它们为边不重的哈密顿回路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</a:rPr>
              <a:t>问题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 i="1"/>
              <a:t>K</a:t>
            </a:r>
            <a:r>
              <a:rPr lang="en-US" altLang="zh-CN" i="1" baseline="-25000"/>
              <a:t>n</a:t>
            </a:r>
            <a:r>
              <a:rPr lang="en-US" altLang="zh-CN"/>
              <a:t>(≥3)</a:t>
            </a:r>
            <a:r>
              <a:rPr lang="zh-CN" altLang="en-US"/>
              <a:t>中同时存在多少条边不重的哈密顿回路</a:t>
            </a:r>
            <a:r>
              <a:rPr lang="en-US" altLang="zh-CN"/>
              <a:t>?</a:t>
            </a:r>
            <a:endParaRPr lang="zh-CN" altLang="en-US"/>
          </a:p>
        </p:txBody>
      </p:sp>
    </p:spTree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8.11</a:t>
            </a:r>
            <a:endParaRPr lang="zh-CN" altLang="en-US"/>
          </a:p>
        </p:txBody>
      </p:sp>
      <p:sp>
        <p:nvSpPr>
          <p:cNvPr id="5427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8.11:</a:t>
            </a:r>
            <a:r>
              <a:rPr lang="en-US" altLang="zh-CN"/>
              <a:t> </a:t>
            </a:r>
            <a:r>
              <a:rPr lang="zh-CN" altLang="en-US"/>
              <a:t>完全图</a:t>
            </a:r>
            <a:r>
              <a:rPr lang="en-US" altLang="zh-CN">
                <a:solidFill>
                  <a:srgbClr val="FF00FF"/>
                </a:solidFill>
              </a:rPr>
              <a:t>K</a:t>
            </a:r>
            <a:r>
              <a:rPr lang="en-US" altLang="zh-CN" baseline="-25000">
                <a:solidFill>
                  <a:srgbClr val="FF00FF"/>
                </a:solidFill>
              </a:rPr>
              <a:t>2</a:t>
            </a:r>
            <a:r>
              <a:rPr lang="en-US" altLang="zh-CN" i="1" baseline="-25000">
                <a:solidFill>
                  <a:srgbClr val="FF00FF"/>
                </a:solidFill>
              </a:rPr>
              <a:t>k</a:t>
            </a:r>
            <a:r>
              <a:rPr lang="en-US" altLang="zh-CN" baseline="-25000">
                <a:solidFill>
                  <a:srgbClr val="FF00FF"/>
                </a:solidFill>
              </a:rPr>
              <a:t>+1</a:t>
            </a:r>
            <a:r>
              <a:rPr lang="en-US" altLang="zh-CN"/>
              <a:t>(k≥1)</a:t>
            </a:r>
            <a:r>
              <a:rPr lang="zh-CN" altLang="en-US"/>
              <a:t>中同时有</a:t>
            </a:r>
            <a:r>
              <a:rPr lang="en-US" altLang="zh-CN" i="1">
                <a:solidFill>
                  <a:srgbClr val="FF00FF"/>
                </a:solidFill>
              </a:rPr>
              <a:t>k</a:t>
            </a:r>
            <a:r>
              <a:rPr lang="zh-CN" altLang="en-US"/>
              <a:t>条边不重的哈密顿回路</a:t>
            </a:r>
            <a:r>
              <a:rPr lang="en-US" altLang="zh-CN"/>
              <a:t>,</a:t>
            </a:r>
            <a:r>
              <a:rPr lang="zh-CN" altLang="en-US"/>
              <a:t>且这</a:t>
            </a:r>
            <a:r>
              <a:rPr lang="en-US" altLang="zh-CN" i="1"/>
              <a:t>k</a:t>
            </a:r>
            <a:r>
              <a:rPr lang="zh-CN" altLang="en-US"/>
              <a:t>条边不重的哈密顿回路含</a:t>
            </a:r>
            <a:r>
              <a:rPr lang="en-US" altLang="zh-CN"/>
              <a:t>K</a:t>
            </a:r>
            <a:r>
              <a:rPr lang="en-US" altLang="zh-CN" baseline="-25000"/>
              <a:t>2</a:t>
            </a:r>
            <a:r>
              <a:rPr lang="en-US" altLang="zh-CN" i="1" baseline="-25000"/>
              <a:t>k</a:t>
            </a:r>
            <a:r>
              <a:rPr lang="en-US" altLang="zh-CN" baseline="-25000"/>
              <a:t>+1</a:t>
            </a:r>
            <a:r>
              <a:rPr lang="zh-CN" altLang="en-US"/>
              <a:t>中所有边</a:t>
            </a:r>
            <a:r>
              <a:rPr lang="en-US" altLang="zh-CN"/>
              <a:t>.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完全图</a:t>
            </a:r>
            <a:r>
              <a:rPr lang="en-US" altLang="zh-CN">
                <a:solidFill>
                  <a:srgbClr val="FF00FF"/>
                </a:solidFill>
              </a:rPr>
              <a:t>K</a:t>
            </a:r>
            <a:r>
              <a:rPr lang="en-US" altLang="zh-CN" baseline="-25000">
                <a:solidFill>
                  <a:srgbClr val="FF00FF"/>
                </a:solidFill>
              </a:rPr>
              <a:t>2</a:t>
            </a:r>
            <a:r>
              <a:rPr lang="en-US" altLang="zh-CN" i="1" baseline="-25000">
                <a:solidFill>
                  <a:srgbClr val="FF00FF"/>
                </a:solidFill>
              </a:rPr>
              <a:t>k</a:t>
            </a:r>
            <a:r>
              <a:rPr lang="en-US" altLang="zh-CN"/>
              <a:t>(k≥2)</a:t>
            </a:r>
            <a:r>
              <a:rPr lang="zh-CN" altLang="en-US"/>
              <a:t>中同时有</a:t>
            </a:r>
            <a:r>
              <a:rPr lang="en-US" altLang="zh-CN" i="1">
                <a:solidFill>
                  <a:srgbClr val="FF00FF"/>
                </a:solidFill>
              </a:rPr>
              <a:t>k</a:t>
            </a:r>
            <a:r>
              <a:rPr lang="en-US" altLang="zh-CN">
                <a:solidFill>
                  <a:srgbClr val="FF00FF"/>
                </a:solidFill>
              </a:rPr>
              <a:t>-1</a:t>
            </a:r>
            <a:r>
              <a:rPr lang="zh-CN" altLang="en-US"/>
              <a:t>条边不重的哈密顿回路</a:t>
            </a:r>
            <a:r>
              <a:rPr lang="en-US" altLang="zh-CN"/>
              <a:t>,</a:t>
            </a:r>
            <a:r>
              <a:rPr lang="zh-CN" altLang="en-US"/>
              <a:t>并且删除这</a:t>
            </a:r>
            <a:r>
              <a:rPr lang="en-US" altLang="zh-CN" i="1">
                <a:solidFill>
                  <a:srgbClr val="FF00FF"/>
                </a:solidFill>
              </a:rPr>
              <a:t>k</a:t>
            </a:r>
            <a:r>
              <a:rPr lang="en-US" altLang="zh-CN">
                <a:solidFill>
                  <a:srgbClr val="FF00FF"/>
                </a:solidFill>
              </a:rPr>
              <a:t>-1</a:t>
            </a:r>
            <a:r>
              <a:rPr lang="zh-CN" altLang="en-US"/>
              <a:t>条哈密顿回路上所有边后</a:t>
            </a:r>
            <a:r>
              <a:rPr lang="en-US" altLang="zh-CN"/>
              <a:t>, </a:t>
            </a:r>
            <a:r>
              <a:rPr lang="zh-CN" altLang="en-US"/>
              <a:t>剩下的是</a:t>
            </a:r>
            <a:r>
              <a:rPr lang="en-US" altLang="zh-CN" i="1">
                <a:solidFill>
                  <a:srgbClr val="FF00FF"/>
                </a:solidFill>
              </a:rPr>
              <a:t>k</a:t>
            </a:r>
            <a:r>
              <a:rPr lang="zh-CN" altLang="en-US"/>
              <a:t>条彼此不相邻的边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542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8.11</a:t>
            </a:r>
            <a:r>
              <a:rPr lang="zh-CN" altLang="en-US"/>
              <a:t>的证明</a:t>
            </a:r>
            <a:endParaRPr lang="zh-CN" altLang="en-US"/>
          </a:p>
        </p:txBody>
      </p:sp>
      <p:sp>
        <p:nvSpPr>
          <p:cNvPr id="5529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1.</a:t>
            </a:r>
            <a:r>
              <a:rPr lang="zh-CN" altLang="en-US"/>
              <a:t>先构造</a:t>
            </a:r>
            <a:r>
              <a:rPr lang="en-US" altLang="zh-CN" i="1"/>
              <a:t>k</a:t>
            </a:r>
            <a:r>
              <a:rPr lang="zh-CN" altLang="en-US"/>
              <a:t>条长度为</a:t>
            </a:r>
            <a:r>
              <a:rPr lang="en-US" altLang="zh-CN"/>
              <a:t>2</a:t>
            </a:r>
            <a:r>
              <a:rPr lang="en-US" altLang="zh-CN" i="1"/>
              <a:t>k</a:t>
            </a:r>
            <a:r>
              <a:rPr lang="zh-CN" altLang="en-US"/>
              <a:t>的路径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设</a:t>
            </a:r>
            <a:r>
              <a:rPr lang="en-US" altLang="zh-CN"/>
              <a:t>V(K</a:t>
            </a:r>
            <a:r>
              <a:rPr lang="en-US" altLang="zh-CN" baseline="-25000"/>
              <a:t>2</a:t>
            </a:r>
            <a:r>
              <a:rPr lang="en-US" altLang="zh-CN" i="1" baseline="-25000"/>
              <a:t>k</a:t>
            </a:r>
            <a:r>
              <a:rPr lang="en-US" altLang="zh-CN" baseline="-25000"/>
              <a:t>+1</a:t>
            </a:r>
            <a:r>
              <a:rPr lang="en-US" altLang="zh-CN"/>
              <a:t>)={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,…, </a:t>
            </a:r>
            <a:r>
              <a:rPr lang="en-US" altLang="zh-CN" i="1"/>
              <a:t>v</a:t>
            </a:r>
            <a:r>
              <a:rPr lang="en-US" altLang="zh-CN" i="1" baseline="-25000"/>
              <a:t>2k+</a:t>
            </a:r>
            <a:r>
              <a:rPr lang="en-US" altLang="zh-CN" baseline="-25000"/>
              <a:t>1</a:t>
            </a:r>
            <a:r>
              <a:rPr lang="en-US" altLang="zh-CN"/>
              <a:t>}, </a:t>
            </a:r>
            <a:r>
              <a:rPr lang="zh-CN" altLang="en-US"/>
              <a:t>对</a:t>
            </a:r>
            <a:r>
              <a:rPr lang="en-US" altLang="zh-CN" i="1"/>
              <a:t>i</a:t>
            </a:r>
            <a:r>
              <a:rPr lang="en-US" altLang="zh-CN"/>
              <a:t>=1,2,…,</a:t>
            </a:r>
            <a:r>
              <a:rPr lang="en-US" altLang="zh-CN" i="1"/>
              <a:t>k</a:t>
            </a:r>
            <a:r>
              <a:rPr lang="en-US" altLang="zh-CN"/>
              <a:t>, </a:t>
            </a:r>
            <a:r>
              <a:rPr lang="zh-CN" altLang="en-US"/>
              <a:t>令</a:t>
            </a:r>
            <a:r>
              <a:rPr lang="en-US" altLang="zh-CN"/>
              <a:t>P</a:t>
            </a:r>
            <a:r>
              <a:rPr lang="en-US" altLang="zh-CN" i="1" baseline="-25000"/>
              <a:t>i</a:t>
            </a:r>
            <a:r>
              <a:rPr lang="en-US" altLang="zh-CN"/>
              <a:t>=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-1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+1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-2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+2</a:t>
            </a:r>
            <a:r>
              <a:rPr lang="en-US" altLang="zh-CN"/>
              <a:t>…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-(</a:t>
            </a:r>
            <a:r>
              <a:rPr lang="en-US" altLang="zh-CN" i="1" baseline="-25000"/>
              <a:t>k</a:t>
            </a:r>
            <a:r>
              <a:rPr lang="en-US" altLang="zh-CN" baseline="-25000"/>
              <a:t>-1)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+(</a:t>
            </a:r>
            <a:r>
              <a:rPr lang="en-US" altLang="zh-CN" i="1" baseline="-25000"/>
              <a:t>k</a:t>
            </a:r>
            <a:r>
              <a:rPr lang="en-US" altLang="zh-CN" baseline="-25000"/>
              <a:t>-1)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en-US" altLang="zh-CN" baseline="-25000"/>
              <a:t>-</a:t>
            </a:r>
            <a:r>
              <a:rPr lang="en-US" altLang="zh-CN" i="1" baseline="-25000"/>
              <a:t>k</a:t>
            </a:r>
            <a:r>
              <a:rPr lang="en-US" altLang="zh-CN"/>
              <a:t>, P</a:t>
            </a:r>
            <a:r>
              <a:rPr lang="en-US" altLang="zh-CN" i="1" baseline="-25000"/>
              <a:t>i</a:t>
            </a:r>
            <a:r>
              <a:rPr lang="zh-CN" altLang="en-US"/>
              <a:t>的长度为</a:t>
            </a:r>
            <a:r>
              <a:rPr lang="en-US" altLang="zh-CN"/>
              <a:t>2(</a:t>
            </a:r>
            <a:r>
              <a:rPr lang="en-US" altLang="zh-CN" i="1"/>
              <a:t>k</a:t>
            </a:r>
            <a:r>
              <a:rPr lang="en-US" altLang="zh-CN"/>
              <a:t>-1)+2=2</a:t>
            </a:r>
            <a:r>
              <a:rPr lang="en-US" altLang="zh-CN" i="1"/>
              <a:t>k</a:t>
            </a:r>
            <a:r>
              <a:rPr lang="en-US" altLang="zh-CN"/>
              <a:t>.</a:t>
            </a:r>
            <a:r>
              <a:rPr lang="zh-CN" altLang="en-US"/>
              <a:t>把下标按</a:t>
            </a:r>
            <a:r>
              <a:rPr lang="en-US" altLang="zh-CN"/>
              <a:t>mod(2k)</a:t>
            </a:r>
            <a:r>
              <a:rPr lang="zh-CN" altLang="en-US"/>
              <a:t>转换到</a:t>
            </a:r>
            <a:r>
              <a:rPr lang="en-US" altLang="zh-CN"/>
              <a:t>{1,2,…,2</a:t>
            </a:r>
            <a:r>
              <a:rPr lang="en-US" altLang="zh-CN" i="1"/>
              <a:t>k</a:t>
            </a:r>
            <a:r>
              <a:rPr lang="en-US" altLang="zh-CN"/>
              <a:t>}</a:t>
            </a:r>
            <a:r>
              <a:rPr lang="zh-CN" altLang="en-US"/>
              <a:t>中</a:t>
            </a:r>
            <a:r>
              <a:rPr lang="en-US" altLang="zh-CN"/>
              <a:t>,0</a:t>
            </a:r>
            <a:r>
              <a:rPr lang="zh-CN" altLang="en-US"/>
              <a:t>转换成</a:t>
            </a:r>
            <a:r>
              <a:rPr lang="en-US" altLang="zh-CN"/>
              <a:t>2</a:t>
            </a:r>
            <a:r>
              <a:rPr lang="en-US" altLang="zh-CN" i="1"/>
              <a:t>k</a:t>
            </a:r>
            <a:r>
              <a:rPr lang="en-US" altLang="zh-CN"/>
              <a:t>, P</a:t>
            </a:r>
            <a:r>
              <a:rPr lang="en-US" altLang="zh-CN" i="1" baseline="-25000"/>
              <a:t>i</a:t>
            </a:r>
            <a:r>
              <a:rPr lang="zh-CN" altLang="en-US"/>
              <a:t>中第</a:t>
            </a:r>
            <a:r>
              <a:rPr lang="en-US" altLang="zh-CN" i="1"/>
              <a:t>j</a:t>
            </a:r>
            <a:r>
              <a:rPr lang="zh-CN" altLang="en-US"/>
              <a:t>个结点的下标是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r>
              <a:rPr lang="en-US" altLang="zh-CN">
                <a:solidFill>
                  <a:srgbClr val="FF0000"/>
                </a:solidFill>
              </a:rPr>
              <a:t>+(-1)</a:t>
            </a:r>
            <a:r>
              <a:rPr lang="en-US" altLang="zh-CN" i="1" baseline="30000">
                <a:solidFill>
                  <a:srgbClr val="FF0000"/>
                </a:solidFill>
              </a:rPr>
              <a:t>j</a:t>
            </a:r>
            <a:r>
              <a:rPr lang="en-US" altLang="zh-CN" baseline="30000">
                <a:solidFill>
                  <a:srgbClr val="FF0000"/>
                </a:solidFill>
              </a:rPr>
              <a:t>+1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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j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/2</a:t>
            </a:r>
            <a:endParaRPr lang="en-US" altLang="zh-CN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/>
              <a:t>2.</a:t>
            </a:r>
            <a:r>
              <a:rPr lang="zh-CN" altLang="en-US"/>
              <a:t>构造圈：令</a:t>
            </a:r>
            <a:r>
              <a:rPr lang="en-US" altLang="zh-CN"/>
              <a:t>C</a:t>
            </a:r>
            <a:r>
              <a:rPr lang="en-US" altLang="zh-CN" i="1" baseline="-25000"/>
              <a:t>i</a:t>
            </a:r>
            <a:r>
              <a:rPr lang="en-US" altLang="zh-CN"/>
              <a:t>=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 i="1" baseline="-25000"/>
              <a:t>k</a:t>
            </a:r>
            <a:r>
              <a:rPr lang="en-US" altLang="zh-CN" baseline="-25000"/>
              <a:t>+1</a:t>
            </a:r>
            <a:r>
              <a:rPr lang="en-US" altLang="zh-CN" i="1"/>
              <a:t>P</a:t>
            </a:r>
            <a:r>
              <a:rPr lang="en-US" altLang="zh-CN" i="1" baseline="-25000"/>
              <a:t>i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 i="1" baseline="-25000"/>
              <a:t>k</a:t>
            </a:r>
            <a:r>
              <a:rPr lang="en-US" altLang="zh-CN" baseline="-25000"/>
              <a:t>+1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   可以证明</a:t>
            </a:r>
            <a:r>
              <a:rPr lang="en-US" altLang="zh-CN"/>
              <a:t>: C</a:t>
            </a:r>
            <a:r>
              <a:rPr lang="en-US" altLang="zh-CN" i="1" baseline="-25000"/>
              <a:t>i</a:t>
            </a:r>
            <a:r>
              <a:rPr lang="zh-CN" altLang="en-US"/>
              <a:t>都是哈密顿回路</a:t>
            </a:r>
            <a:r>
              <a:rPr lang="en-US" altLang="zh-CN"/>
              <a:t>;E(C</a:t>
            </a:r>
            <a:r>
              <a:rPr lang="en-US" altLang="zh-CN" i="1" baseline="-25000"/>
              <a:t>i</a:t>
            </a:r>
            <a:r>
              <a:rPr lang="en-US" altLang="zh-CN"/>
              <a:t>)∩E(C</a:t>
            </a:r>
            <a:r>
              <a:rPr lang="en-US" altLang="zh-CN" i="1" baseline="-25000"/>
              <a:t>j</a:t>
            </a:r>
            <a:r>
              <a:rPr lang="en-US" altLang="zh-CN"/>
              <a:t>)=</a:t>
            </a:r>
            <a:r>
              <a:rPr lang="en-US" altLang="zh-CN">
                <a:sym typeface="Symbol" panose="05050102010706020507" pitchFamily="18" charset="2"/>
              </a:rPr>
              <a:t> </a:t>
            </a:r>
            <a:r>
              <a:rPr lang="en-US" altLang="zh-CN"/>
              <a:t> (</a:t>
            </a:r>
            <a:r>
              <a:rPr lang="en-US" altLang="zh-CN" i="1"/>
              <a:t>i</a:t>
            </a:r>
            <a:r>
              <a:rPr lang="en-US" altLang="zh-CN"/>
              <a:t>≠</a:t>
            </a:r>
            <a:r>
              <a:rPr lang="en-US" altLang="zh-CN" i="1"/>
              <a:t>j</a:t>
            </a:r>
            <a:r>
              <a:rPr lang="en-US" altLang="zh-CN"/>
              <a:t>);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         </a:t>
            </a:r>
            <a:r>
              <a:rPr lang="zh-CN" altLang="en-US"/>
              <a:t>        </a:t>
            </a:r>
            <a:r>
              <a:rPr lang="en-US" altLang="zh-CN"/>
              <a:t>U</a:t>
            </a:r>
            <a:r>
              <a:rPr lang="en-US" altLang="zh-CN" i="1" baseline="-25000"/>
              <a:t>i</a:t>
            </a:r>
            <a:r>
              <a:rPr lang="en-US" altLang="zh-CN" baseline="-25000"/>
              <a:t>=1</a:t>
            </a:r>
            <a:r>
              <a:rPr lang="en-US" altLang="zh-CN" i="1" baseline="30000"/>
              <a:t>n</a:t>
            </a:r>
            <a:r>
              <a:rPr lang="en-US" altLang="zh-CN"/>
              <a:t>E(</a:t>
            </a:r>
            <a:r>
              <a:rPr lang="en-US" altLang="zh-CN" i="1"/>
              <a:t>C</a:t>
            </a:r>
            <a:r>
              <a:rPr lang="en-US" altLang="zh-CN" i="1" baseline="-25000"/>
              <a:t>i</a:t>
            </a:r>
            <a:r>
              <a:rPr lang="en-US" altLang="zh-CN"/>
              <a:t>)=E(K</a:t>
            </a:r>
            <a:r>
              <a:rPr lang="en-US" altLang="zh-CN" baseline="-25000"/>
              <a:t>2</a:t>
            </a:r>
            <a:r>
              <a:rPr lang="en-US" altLang="zh-CN" i="1" baseline="-25000"/>
              <a:t>k</a:t>
            </a:r>
            <a:r>
              <a:rPr lang="en-US" altLang="zh-CN" baseline="-25000"/>
              <a:t>+1</a:t>
            </a:r>
            <a:r>
              <a:rPr lang="en-US" altLang="zh-CN"/>
              <a:t>). </a:t>
            </a:r>
            <a:endParaRPr lang="zh-CN" altLang="en-US"/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8.11</a:t>
            </a:r>
            <a:r>
              <a:rPr lang="zh-CN" altLang="en-US"/>
              <a:t> 举例</a:t>
            </a:r>
            <a:endParaRPr lang="zh-CN" altLang="en-US"/>
          </a:p>
        </p:txBody>
      </p:sp>
      <p:sp>
        <p:nvSpPr>
          <p:cNvPr id="5632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None/>
            </a:pPr>
            <a:r>
              <a:rPr lang="zh-CN" altLang="en-US"/>
              <a:t>求</a:t>
            </a:r>
            <a:r>
              <a:rPr lang="en-US" altLang="zh-CN"/>
              <a:t>K</a:t>
            </a:r>
            <a:r>
              <a:rPr lang="en-US" altLang="zh-CN" baseline="-25000"/>
              <a:t>7</a:t>
            </a:r>
            <a:r>
              <a:rPr lang="zh-CN" altLang="en-US"/>
              <a:t>中所有边不重复的哈密顿回路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spcBef>
                <a:spcPct val="0"/>
              </a:spcBef>
              <a:buNone/>
            </a:pPr>
            <a:r>
              <a:rPr lang="zh-CN" altLang="en-US"/>
              <a:t>解 </a:t>
            </a:r>
            <a:r>
              <a:rPr lang="en-US" altLang="zh-CN"/>
              <a:t>V(K</a:t>
            </a:r>
            <a:r>
              <a:rPr lang="en-US" altLang="zh-CN" baseline="-25000"/>
              <a:t>7</a:t>
            </a:r>
            <a:r>
              <a:rPr lang="en-US" altLang="zh-CN"/>
              <a:t>)={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,…, </a:t>
            </a:r>
            <a:r>
              <a:rPr lang="en-US" altLang="zh-CN" i="1"/>
              <a:t>v</a:t>
            </a:r>
            <a:r>
              <a:rPr lang="en-US" altLang="zh-CN" baseline="-25000"/>
              <a:t>7</a:t>
            </a:r>
            <a:r>
              <a:rPr lang="en-US" altLang="zh-CN"/>
              <a:t>}, </a:t>
            </a:r>
            <a:r>
              <a:rPr lang="zh-CN" altLang="en-US"/>
              <a:t>显然</a:t>
            </a:r>
            <a:r>
              <a:rPr lang="en-US" altLang="zh-CN" i="1"/>
              <a:t>k</a:t>
            </a:r>
            <a:r>
              <a:rPr lang="en-US" altLang="zh-CN"/>
              <a:t>=3</a:t>
            </a:r>
            <a:endParaRPr lang="en-US" altLang="zh-CN"/>
          </a:p>
          <a:p>
            <a:pPr marL="0" indent="0">
              <a:spcBef>
                <a:spcPct val="0"/>
              </a:spcBef>
              <a:buNone/>
            </a:pPr>
            <a:r>
              <a:rPr lang="en-US" altLang="zh-CN"/>
              <a:t>     P</a:t>
            </a:r>
            <a:r>
              <a:rPr lang="en-US" altLang="zh-CN" baseline="-25000"/>
              <a:t>1</a:t>
            </a:r>
            <a:r>
              <a:rPr lang="en-US" altLang="zh-CN"/>
              <a:t>=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0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-1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-2</a:t>
            </a:r>
            <a:r>
              <a:rPr lang="en-US" altLang="zh-CN"/>
              <a:t>=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6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5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4</a:t>
            </a:r>
            <a:r>
              <a:rPr lang="en-US" altLang="zh-CN"/>
              <a:t>,</a:t>
            </a:r>
            <a:endParaRPr lang="en-US" altLang="zh-CN"/>
          </a:p>
          <a:p>
            <a:pPr marL="0" indent="0">
              <a:spcBef>
                <a:spcPct val="0"/>
              </a:spcBef>
              <a:buNone/>
            </a:pPr>
            <a:r>
              <a:rPr lang="en-US" altLang="zh-CN"/>
              <a:t>     P</a:t>
            </a:r>
            <a:r>
              <a:rPr lang="en-US" altLang="zh-CN" baseline="-25000"/>
              <a:t>2</a:t>
            </a:r>
            <a:r>
              <a:rPr lang="en-US" altLang="zh-CN"/>
              <a:t>=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0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-1</a:t>
            </a:r>
            <a:r>
              <a:rPr lang="en-US" altLang="zh-CN"/>
              <a:t>=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6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5</a:t>
            </a:r>
            <a:r>
              <a:rPr lang="en-US" altLang="zh-CN"/>
              <a:t>,</a:t>
            </a:r>
            <a:endParaRPr lang="en-US" altLang="zh-CN"/>
          </a:p>
          <a:p>
            <a:pPr marL="0" indent="0">
              <a:spcBef>
                <a:spcPct val="0"/>
              </a:spcBef>
              <a:buNone/>
            </a:pPr>
            <a:r>
              <a:rPr lang="en-US" altLang="zh-CN"/>
              <a:t>     P</a:t>
            </a:r>
            <a:r>
              <a:rPr lang="en-US" altLang="zh-CN" baseline="-25000"/>
              <a:t>3</a:t>
            </a:r>
            <a:r>
              <a:rPr lang="en-US" altLang="zh-CN"/>
              <a:t>=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 i="1"/>
              <a:t>v</a:t>
            </a:r>
            <a:r>
              <a:rPr lang="en-US" altLang="zh-CN" baseline="-25000"/>
              <a:t>5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0</a:t>
            </a:r>
            <a:r>
              <a:rPr lang="en-US" altLang="zh-CN"/>
              <a:t>=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 i="1"/>
              <a:t>v</a:t>
            </a:r>
            <a:r>
              <a:rPr lang="en-US" altLang="zh-CN" baseline="-25000"/>
              <a:t>5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6</a:t>
            </a:r>
            <a:r>
              <a:rPr lang="en-US" altLang="zh-CN"/>
              <a:t>,</a:t>
            </a:r>
            <a:endParaRPr lang="en-US" altLang="zh-CN"/>
          </a:p>
        </p:txBody>
      </p:sp>
      <p:grpSp>
        <p:nvGrpSpPr>
          <p:cNvPr id="56323" name="Group 26"/>
          <p:cNvGrpSpPr/>
          <p:nvPr/>
        </p:nvGrpSpPr>
        <p:grpSpPr>
          <a:xfrm>
            <a:off x="34925" y="3665538"/>
            <a:ext cx="2940050" cy="3100387"/>
            <a:chOff x="340" y="2309"/>
            <a:chExt cx="1852" cy="1953"/>
          </a:xfrm>
        </p:grpSpPr>
        <p:sp>
          <p:nvSpPr>
            <p:cNvPr id="56324" name="Oval 4"/>
            <p:cNvSpPr/>
            <p:nvPr/>
          </p:nvSpPr>
          <p:spPr>
            <a:xfrm>
              <a:off x="567" y="2659"/>
              <a:ext cx="1360" cy="136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25" name="Oval 5"/>
            <p:cNvSpPr/>
            <p:nvPr/>
          </p:nvSpPr>
          <p:spPr>
            <a:xfrm>
              <a:off x="1147" y="2587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26" name="Oval 6"/>
            <p:cNvSpPr/>
            <p:nvPr/>
          </p:nvSpPr>
          <p:spPr>
            <a:xfrm>
              <a:off x="1701" y="2840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27" name="Oval 7"/>
            <p:cNvSpPr/>
            <p:nvPr/>
          </p:nvSpPr>
          <p:spPr>
            <a:xfrm>
              <a:off x="1837" y="3385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28" name="Oval 8"/>
            <p:cNvSpPr/>
            <p:nvPr/>
          </p:nvSpPr>
          <p:spPr>
            <a:xfrm>
              <a:off x="1565" y="3838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29" name="Oval 9"/>
            <p:cNvSpPr/>
            <p:nvPr/>
          </p:nvSpPr>
          <p:spPr>
            <a:xfrm>
              <a:off x="930" y="3929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30" name="Oval 10"/>
            <p:cNvSpPr/>
            <p:nvPr/>
          </p:nvSpPr>
          <p:spPr>
            <a:xfrm>
              <a:off x="521" y="3475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31" name="Oval 11"/>
            <p:cNvSpPr/>
            <p:nvPr/>
          </p:nvSpPr>
          <p:spPr>
            <a:xfrm>
              <a:off x="567" y="2931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32" name="Text Box 12"/>
            <p:cNvSpPr txBox="1"/>
            <p:nvPr/>
          </p:nvSpPr>
          <p:spPr>
            <a:xfrm>
              <a:off x="1098" y="230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33" name="Text Box 13"/>
            <p:cNvSpPr txBox="1"/>
            <p:nvPr/>
          </p:nvSpPr>
          <p:spPr>
            <a:xfrm>
              <a:off x="1791" y="261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34" name="Text Box 14"/>
            <p:cNvSpPr txBox="1"/>
            <p:nvPr/>
          </p:nvSpPr>
          <p:spPr>
            <a:xfrm>
              <a:off x="1927" y="324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35" name="Text Box 15"/>
            <p:cNvSpPr txBox="1"/>
            <p:nvPr/>
          </p:nvSpPr>
          <p:spPr>
            <a:xfrm>
              <a:off x="1655" y="379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36" name="Text Box 16"/>
            <p:cNvSpPr txBox="1"/>
            <p:nvPr/>
          </p:nvSpPr>
          <p:spPr>
            <a:xfrm>
              <a:off x="930" y="397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37" name="Text Box 17"/>
            <p:cNvSpPr txBox="1"/>
            <p:nvPr/>
          </p:nvSpPr>
          <p:spPr>
            <a:xfrm>
              <a:off x="340" y="3521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38" name="Text Box 18"/>
            <p:cNvSpPr txBox="1"/>
            <p:nvPr/>
          </p:nvSpPr>
          <p:spPr>
            <a:xfrm>
              <a:off x="340" y="2795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3553" name="Line 19"/>
            <p:cNvSpPr>
              <a:spLocks noChangeShapeType="1"/>
            </p:cNvSpPr>
            <p:nvPr/>
          </p:nvSpPr>
          <p:spPr bwMode="auto">
            <a:xfrm flipH="1">
              <a:off x="612" y="2704"/>
              <a:ext cx="590" cy="817"/>
            </a:xfrm>
            <a:prstGeom prst="line">
              <a:avLst/>
            </a:prstGeom>
            <a:noFill/>
            <a:ln w="28575">
              <a:solidFill>
                <a:schemeClr val="accent5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54" name="Line 20"/>
            <p:cNvSpPr>
              <a:spLocks noChangeShapeType="1"/>
            </p:cNvSpPr>
            <p:nvPr/>
          </p:nvSpPr>
          <p:spPr bwMode="auto">
            <a:xfrm flipV="1">
              <a:off x="612" y="2931"/>
              <a:ext cx="1134" cy="590"/>
            </a:xfrm>
            <a:prstGeom prst="line">
              <a:avLst/>
            </a:prstGeom>
            <a:noFill/>
            <a:ln w="28575">
              <a:solidFill>
                <a:schemeClr val="accent5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55" name="Line 21"/>
            <p:cNvSpPr>
              <a:spLocks noChangeShapeType="1"/>
            </p:cNvSpPr>
            <p:nvPr/>
          </p:nvSpPr>
          <p:spPr bwMode="auto">
            <a:xfrm flipH="1">
              <a:off x="1020" y="2976"/>
              <a:ext cx="726" cy="998"/>
            </a:xfrm>
            <a:prstGeom prst="line">
              <a:avLst/>
            </a:prstGeom>
            <a:noFill/>
            <a:ln w="28575">
              <a:solidFill>
                <a:schemeClr val="accent5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56" name="Line 22"/>
            <p:cNvSpPr>
              <a:spLocks noChangeShapeType="1"/>
            </p:cNvSpPr>
            <p:nvPr/>
          </p:nvSpPr>
          <p:spPr bwMode="auto">
            <a:xfrm flipV="1">
              <a:off x="1020" y="3475"/>
              <a:ext cx="817" cy="499"/>
            </a:xfrm>
            <a:prstGeom prst="line">
              <a:avLst/>
            </a:prstGeom>
            <a:noFill/>
            <a:ln w="28575">
              <a:solidFill>
                <a:schemeClr val="accent5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57" name="Line 23"/>
            <p:cNvSpPr>
              <a:spLocks noChangeShapeType="1"/>
            </p:cNvSpPr>
            <p:nvPr/>
          </p:nvSpPr>
          <p:spPr bwMode="auto">
            <a:xfrm flipH="1">
              <a:off x="1655" y="3521"/>
              <a:ext cx="227" cy="317"/>
            </a:xfrm>
            <a:prstGeom prst="line">
              <a:avLst/>
            </a:prstGeom>
            <a:noFill/>
            <a:ln w="28575">
              <a:solidFill>
                <a:schemeClr val="accent5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44" name="Line 24"/>
            <p:cNvSpPr/>
            <p:nvPr/>
          </p:nvSpPr>
          <p:spPr>
            <a:xfrm flipH="1">
              <a:off x="703" y="2704"/>
              <a:ext cx="453" cy="272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45" name="Line 25"/>
            <p:cNvSpPr/>
            <p:nvPr/>
          </p:nvSpPr>
          <p:spPr>
            <a:xfrm>
              <a:off x="703" y="2976"/>
              <a:ext cx="862" cy="862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56346" name="Group 58"/>
          <p:cNvGrpSpPr/>
          <p:nvPr/>
        </p:nvGrpSpPr>
        <p:grpSpPr>
          <a:xfrm>
            <a:off x="3059113" y="3713163"/>
            <a:ext cx="2940050" cy="3100387"/>
            <a:chOff x="1973" y="2339"/>
            <a:chExt cx="1852" cy="1953"/>
          </a:xfrm>
        </p:grpSpPr>
        <p:sp>
          <p:nvSpPr>
            <p:cNvPr id="56347" name="Oval 28"/>
            <p:cNvSpPr/>
            <p:nvPr/>
          </p:nvSpPr>
          <p:spPr>
            <a:xfrm>
              <a:off x="2200" y="2689"/>
              <a:ext cx="1360" cy="136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48" name="Oval 29"/>
            <p:cNvSpPr/>
            <p:nvPr/>
          </p:nvSpPr>
          <p:spPr>
            <a:xfrm>
              <a:off x="2780" y="2617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49" name="Oval 30"/>
            <p:cNvSpPr/>
            <p:nvPr/>
          </p:nvSpPr>
          <p:spPr>
            <a:xfrm>
              <a:off x="3334" y="2870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50" name="Oval 31"/>
            <p:cNvSpPr/>
            <p:nvPr/>
          </p:nvSpPr>
          <p:spPr>
            <a:xfrm>
              <a:off x="3470" y="3415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51" name="Oval 32"/>
            <p:cNvSpPr/>
            <p:nvPr/>
          </p:nvSpPr>
          <p:spPr>
            <a:xfrm>
              <a:off x="3198" y="3868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52" name="Oval 33"/>
            <p:cNvSpPr/>
            <p:nvPr/>
          </p:nvSpPr>
          <p:spPr>
            <a:xfrm>
              <a:off x="2563" y="3959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53" name="Oval 34"/>
            <p:cNvSpPr/>
            <p:nvPr/>
          </p:nvSpPr>
          <p:spPr>
            <a:xfrm>
              <a:off x="2154" y="3505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54" name="Oval 35"/>
            <p:cNvSpPr/>
            <p:nvPr/>
          </p:nvSpPr>
          <p:spPr>
            <a:xfrm>
              <a:off x="2200" y="2961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55" name="Text Box 36"/>
            <p:cNvSpPr txBox="1"/>
            <p:nvPr/>
          </p:nvSpPr>
          <p:spPr>
            <a:xfrm>
              <a:off x="2731" y="233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56" name="Text Box 37"/>
            <p:cNvSpPr txBox="1"/>
            <p:nvPr/>
          </p:nvSpPr>
          <p:spPr>
            <a:xfrm>
              <a:off x="3424" y="264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57" name="Text Box 38"/>
            <p:cNvSpPr txBox="1"/>
            <p:nvPr/>
          </p:nvSpPr>
          <p:spPr>
            <a:xfrm>
              <a:off x="3560" y="327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58" name="Text Box 39"/>
            <p:cNvSpPr txBox="1"/>
            <p:nvPr/>
          </p:nvSpPr>
          <p:spPr>
            <a:xfrm>
              <a:off x="3288" y="38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59" name="Text Box 40"/>
            <p:cNvSpPr txBox="1"/>
            <p:nvPr/>
          </p:nvSpPr>
          <p:spPr>
            <a:xfrm>
              <a:off x="2563" y="400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60" name="Text Box 41"/>
            <p:cNvSpPr txBox="1"/>
            <p:nvPr/>
          </p:nvSpPr>
          <p:spPr>
            <a:xfrm>
              <a:off x="1973" y="3551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61" name="Text Box 42"/>
            <p:cNvSpPr txBox="1"/>
            <p:nvPr/>
          </p:nvSpPr>
          <p:spPr>
            <a:xfrm>
              <a:off x="1973" y="2825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62" name="Line 50"/>
            <p:cNvSpPr/>
            <p:nvPr/>
          </p:nvSpPr>
          <p:spPr>
            <a:xfrm>
              <a:off x="2925" y="2704"/>
              <a:ext cx="454" cy="227"/>
            </a:xfrm>
            <a:prstGeom prst="line">
              <a:avLst/>
            </a:prstGeom>
            <a:ln w="28575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63" name="Line 52"/>
            <p:cNvSpPr/>
            <p:nvPr/>
          </p:nvSpPr>
          <p:spPr>
            <a:xfrm>
              <a:off x="2835" y="2750"/>
              <a:ext cx="680" cy="725"/>
            </a:xfrm>
            <a:prstGeom prst="line">
              <a:avLst/>
            </a:prstGeom>
            <a:ln w="28575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64" name="Line 53"/>
            <p:cNvSpPr/>
            <p:nvPr/>
          </p:nvSpPr>
          <p:spPr>
            <a:xfrm flipH="1">
              <a:off x="2290" y="3521"/>
              <a:ext cx="1225" cy="45"/>
            </a:xfrm>
            <a:prstGeom prst="line">
              <a:avLst/>
            </a:prstGeom>
            <a:ln w="28575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65" name="Line 54"/>
            <p:cNvSpPr/>
            <p:nvPr/>
          </p:nvSpPr>
          <p:spPr>
            <a:xfrm>
              <a:off x="2290" y="3612"/>
              <a:ext cx="953" cy="317"/>
            </a:xfrm>
            <a:prstGeom prst="line">
              <a:avLst/>
            </a:prstGeom>
            <a:ln w="28575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66" name="Line 55"/>
            <p:cNvSpPr/>
            <p:nvPr/>
          </p:nvSpPr>
          <p:spPr>
            <a:xfrm flipV="1">
              <a:off x="2699" y="3929"/>
              <a:ext cx="499" cy="45"/>
            </a:xfrm>
            <a:prstGeom prst="line">
              <a:avLst/>
            </a:prstGeom>
            <a:ln w="28575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67" name="Line 56"/>
            <p:cNvSpPr/>
            <p:nvPr/>
          </p:nvSpPr>
          <p:spPr>
            <a:xfrm>
              <a:off x="2290" y="3067"/>
              <a:ext cx="318" cy="90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68" name="Line 57"/>
            <p:cNvSpPr/>
            <p:nvPr/>
          </p:nvSpPr>
          <p:spPr>
            <a:xfrm flipV="1">
              <a:off x="2336" y="2931"/>
              <a:ext cx="998" cy="13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6369" name="Text Box 69"/>
          <p:cNvSpPr txBox="1"/>
          <p:nvPr/>
        </p:nvSpPr>
        <p:spPr>
          <a:xfrm>
            <a:off x="8688388" y="5205413"/>
            <a:ext cx="4206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4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endParaRPr lang="en-US" altLang="zh-CN" sz="2400" baseline="-250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56370" name="Group 88"/>
          <p:cNvGrpSpPr/>
          <p:nvPr/>
        </p:nvGrpSpPr>
        <p:grpSpPr>
          <a:xfrm>
            <a:off x="6169025" y="3713163"/>
            <a:ext cx="2724150" cy="3100387"/>
            <a:chOff x="3886" y="2339"/>
            <a:chExt cx="1716" cy="1953"/>
          </a:xfrm>
        </p:grpSpPr>
        <p:sp>
          <p:nvSpPr>
            <p:cNvPr id="56371" name="Oval 59"/>
            <p:cNvSpPr/>
            <p:nvPr/>
          </p:nvSpPr>
          <p:spPr>
            <a:xfrm>
              <a:off x="4113" y="2689"/>
              <a:ext cx="1360" cy="136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72" name="Oval 60"/>
            <p:cNvSpPr/>
            <p:nvPr/>
          </p:nvSpPr>
          <p:spPr>
            <a:xfrm>
              <a:off x="4693" y="2617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73" name="Oval 61"/>
            <p:cNvSpPr/>
            <p:nvPr/>
          </p:nvSpPr>
          <p:spPr>
            <a:xfrm>
              <a:off x="5247" y="2870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74" name="Oval 62"/>
            <p:cNvSpPr/>
            <p:nvPr/>
          </p:nvSpPr>
          <p:spPr>
            <a:xfrm>
              <a:off x="5383" y="3415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75" name="Oval 63"/>
            <p:cNvSpPr/>
            <p:nvPr/>
          </p:nvSpPr>
          <p:spPr>
            <a:xfrm>
              <a:off x="5111" y="3868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76" name="Oval 64"/>
            <p:cNvSpPr/>
            <p:nvPr/>
          </p:nvSpPr>
          <p:spPr>
            <a:xfrm>
              <a:off x="4476" y="3959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77" name="Oval 65"/>
            <p:cNvSpPr/>
            <p:nvPr/>
          </p:nvSpPr>
          <p:spPr>
            <a:xfrm>
              <a:off x="4067" y="3505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78" name="Oval 66"/>
            <p:cNvSpPr/>
            <p:nvPr/>
          </p:nvSpPr>
          <p:spPr>
            <a:xfrm>
              <a:off x="4113" y="2961"/>
              <a:ext cx="136" cy="136"/>
            </a:xfrm>
            <a:prstGeom prst="ellipse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79" name="Text Box 67"/>
            <p:cNvSpPr txBox="1"/>
            <p:nvPr/>
          </p:nvSpPr>
          <p:spPr>
            <a:xfrm>
              <a:off x="4644" y="233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80" name="Text Box 68"/>
            <p:cNvSpPr txBox="1"/>
            <p:nvPr/>
          </p:nvSpPr>
          <p:spPr>
            <a:xfrm>
              <a:off x="5337" y="264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81" name="Text Box 70"/>
            <p:cNvSpPr txBox="1"/>
            <p:nvPr/>
          </p:nvSpPr>
          <p:spPr>
            <a:xfrm>
              <a:off x="5201" y="382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82" name="Text Box 71"/>
            <p:cNvSpPr txBox="1"/>
            <p:nvPr/>
          </p:nvSpPr>
          <p:spPr>
            <a:xfrm>
              <a:off x="4476" y="400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83" name="Text Box 72"/>
            <p:cNvSpPr txBox="1"/>
            <p:nvPr/>
          </p:nvSpPr>
          <p:spPr>
            <a:xfrm>
              <a:off x="3886" y="3551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84" name="Text Box 73"/>
            <p:cNvSpPr txBox="1"/>
            <p:nvPr/>
          </p:nvSpPr>
          <p:spPr>
            <a:xfrm>
              <a:off x="3886" y="2825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85" name="Line 81"/>
            <p:cNvSpPr/>
            <p:nvPr/>
          </p:nvSpPr>
          <p:spPr>
            <a:xfrm flipH="1" flipV="1">
              <a:off x="5329" y="2976"/>
              <a:ext cx="91" cy="454"/>
            </a:xfrm>
            <a:prstGeom prst="line">
              <a:avLst/>
            </a:prstGeom>
            <a:ln w="28575" cap="flat" cmpd="sng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86" name="Line 82"/>
            <p:cNvSpPr/>
            <p:nvPr/>
          </p:nvSpPr>
          <p:spPr>
            <a:xfrm flipH="1">
              <a:off x="5193" y="2976"/>
              <a:ext cx="91" cy="908"/>
            </a:xfrm>
            <a:prstGeom prst="line">
              <a:avLst/>
            </a:prstGeom>
            <a:ln w="28575" cap="flat" cmpd="sng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87" name="Line 83"/>
            <p:cNvSpPr/>
            <p:nvPr/>
          </p:nvSpPr>
          <p:spPr>
            <a:xfrm flipH="1" flipV="1">
              <a:off x="4785" y="2750"/>
              <a:ext cx="363" cy="1134"/>
            </a:xfrm>
            <a:prstGeom prst="line">
              <a:avLst/>
            </a:prstGeom>
            <a:ln w="28575" cap="flat" cmpd="sng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88" name="Line 84"/>
            <p:cNvSpPr/>
            <p:nvPr/>
          </p:nvSpPr>
          <p:spPr>
            <a:xfrm flipH="1">
              <a:off x="4558" y="2750"/>
              <a:ext cx="182" cy="1224"/>
            </a:xfrm>
            <a:prstGeom prst="line">
              <a:avLst/>
            </a:prstGeom>
            <a:ln w="28575" cap="flat" cmpd="sng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89" name="Line 85"/>
            <p:cNvSpPr/>
            <p:nvPr/>
          </p:nvSpPr>
          <p:spPr>
            <a:xfrm flipH="1" flipV="1">
              <a:off x="4195" y="3612"/>
              <a:ext cx="318" cy="362"/>
            </a:xfrm>
            <a:prstGeom prst="line">
              <a:avLst/>
            </a:prstGeom>
            <a:ln w="28575" cap="flat" cmpd="sng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90" name="Line 86"/>
            <p:cNvSpPr/>
            <p:nvPr/>
          </p:nvSpPr>
          <p:spPr>
            <a:xfrm>
              <a:off x="4241" y="3022"/>
              <a:ext cx="1179" cy="453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91" name="Line 87"/>
            <p:cNvSpPr/>
            <p:nvPr/>
          </p:nvSpPr>
          <p:spPr>
            <a:xfrm flipH="1">
              <a:off x="4150" y="3067"/>
              <a:ext cx="45" cy="454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639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8.11</a:t>
            </a:r>
            <a:r>
              <a:rPr lang="zh-CN" altLang="en-US"/>
              <a:t>推论的证明</a:t>
            </a:r>
            <a:endParaRPr lang="zh-CN" altLang="en-US"/>
          </a:p>
        </p:txBody>
      </p:sp>
      <p:sp>
        <p:nvSpPr>
          <p:cNvPr id="573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>
                <a:solidFill>
                  <a:schemeClr val="hlink"/>
                </a:solidFill>
              </a:rPr>
              <a:t>证明 </a:t>
            </a:r>
            <a:r>
              <a:rPr lang="en-US" altLang="zh-CN"/>
              <a:t> </a:t>
            </a:r>
            <a:r>
              <a:rPr lang="en-US" altLang="zh-CN" i="1"/>
              <a:t>k</a:t>
            </a:r>
            <a:r>
              <a:rPr lang="en-US" altLang="zh-CN"/>
              <a:t>=2</a:t>
            </a:r>
            <a:r>
              <a:rPr lang="zh-CN" altLang="en-US"/>
              <a:t>时</a:t>
            </a:r>
            <a:r>
              <a:rPr lang="en-US" altLang="zh-CN"/>
              <a:t>, K</a:t>
            </a:r>
            <a:r>
              <a:rPr lang="en-US" altLang="zh-CN" baseline="-25000"/>
              <a:t>4</a:t>
            </a:r>
            <a:r>
              <a:rPr lang="zh-CN" altLang="en-US"/>
              <a:t>显然</a:t>
            </a:r>
            <a:r>
              <a:rPr lang="en-US" altLang="zh-CN"/>
              <a:t>. </a:t>
            </a:r>
            <a:r>
              <a:rPr lang="zh-CN" altLang="en-US"/>
              <a:t>下面设</a:t>
            </a:r>
            <a:r>
              <a:rPr lang="en-US" altLang="zh-CN"/>
              <a:t>k≥3.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   K</a:t>
            </a:r>
            <a:r>
              <a:rPr lang="en-US" altLang="zh-CN" baseline="-25000"/>
              <a:t>2</a:t>
            </a:r>
            <a:r>
              <a:rPr lang="en-US" altLang="zh-CN" i="1" baseline="-25000"/>
              <a:t>k</a:t>
            </a:r>
            <a:r>
              <a:rPr lang="en-US" altLang="zh-CN"/>
              <a:t> = K</a:t>
            </a:r>
            <a:r>
              <a:rPr lang="en-US" altLang="zh-CN" baseline="-25000"/>
              <a:t>2(</a:t>
            </a:r>
            <a:r>
              <a:rPr lang="en-US" altLang="zh-CN" i="1" baseline="-25000"/>
              <a:t>k</a:t>
            </a:r>
            <a:r>
              <a:rPr lang="en-US" altLang="zh-CN" baseline="-25000"/>
              <a:t>-1)+1</a:t>
            </a:r>
            <a:r>
              <a:rPr lang="en-US" altLang="zh-CN"/>
              <a:t> + K</a:t>
            </a:r>
            <a:r>
              <a:rPr lang="en-US" altLang="zh-CN" baseline="-25000"/>
              <a:t>1</a:t>
            </a:r>
            <a:r>
              <a:rPr lang="en-US" altLang="zh-CN"/>
              <a:t> (</a:t>
            </a:r>
            <a:r>
              <a:rPr lang="zh-CN" altLang="en-US"/>
              <a:t>联图</a:t>
            </a:r>
            <a:r>
              <a:rPr lang="en-US" altLang="zh-CN"/>
              <a:t>)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   设</a:t>
            </a:r>
            <a:r>
              <a:rPr lang="en-US" altLang="zh-CN"/>
              <a:t>V(K</a:t>
            </a:r>
            <a:r>
              <a:rPr lang="en-US" altLang="zh-CN" baseline="-25000"/>
              <a:t>2(</a:t>
            </a:r>
            <a:r>
              <a:rPr lang="en-US" altLang="zh-CN" i="1" baseline="-25000"/>
              <a:t>k</a:t>
            </a:r>
            <a:r>
              <a:rPr lang="en-US" altLang="zh-CN" baseline="-25000"/>
              <a:t>-1)+1</a:t>
            </a:r>
            <a:r>
              <a:rPr lang="en-US" altLang="zh-CN"/>
              <a:t>)={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 i="1" baseline="-25000"/>
              <a:t>k</a:t>
            </a:r>
            <a:r>
              <a:rPr lang="en-US" altLang="zh-CN" baseline="-25000"/>
              <a:t>-1</a:t>
            </a:r>
            <a:r>
              <a:rPr lang="en-US" altLang="zh-CN"/>
              <a:t>}, V(K</a:t>
            </a:r>
            <a:r>
              <a:rPr lang="en-US" altLang="zh-CN" baseline="-25000"/>
              <a:t>1</a:t>
            </a:r>
            <a:r>
              <a:rPr lang="en-US" altLang="zh-CN"/>
              <a:t> )={v</a:t>
            </a:r>
            <a:r>
              <a:rPr lang="en-US" altLang="zh-CN" baseline="-25000"/>
              <a:t>2</a:t>
            </a:r>
            <a:r>
              <a:rPr lang="en-US" altLang="zh-CN" i="1" baseline="-25000"/>
              <a:t>k</a:t>
            </a:r>
            <a:r>
              <a:rPr lang="en-US" altLang="zh-CN"/>
              <a:t>},</a:t>
            </a:r>
            <a:endParaRPr lang="zh-CN" altLang="en-US"/>
          </a:p>
        </p:txBody>
      </p:sp>
      <p:grpSp>
        <p:nvGrpSpPr>
          <p:cNvPr id="57347" name="Group 38"/>
          <p:cNvGrpSpPr/>
          <p:nvPr/>
        </p:nvGrpSpPr>
        <p:grpSpPr>
          <a:xfrm>
            <a:off x="1042988" y="3910013"/>
            <a:ext cx="4222750" cy="2201862"/>
            <a:chOff x="657" y="2463"/>
            <a:chExt cx="2660" cy="1387"/>
          </a:xfrm>
        </p:grpSpPr>
        <p:sp>
          <p:nvSpPr>
            <p:cNvPr id="41" name="椭圆 40"/>
            <p:cNvSpPr/>
            <p:nvPr/>
          </p:nvSpPr>
          <p:spPr bwMode="auto">
            <a:xfrm>
              <a:off x="1355" y="2478"/>
              <a:ext cx="135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2" name="椭圆 41"/>
            <p:cNvSpPr/>
            <p:nvPr/>
          </p:nvSpPr>
          <p:spPr bwMode="auto">
            <a:xfrm>
              <a:off x="674" y="2886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7350" name="直接连接符 43"/>
            <p:cNvCxnSpPr/>
            <p:nvPr/>
          </p:nvCxnSpPr>
          <p:spPr>
            <a:xfrm rot="-10800000" flipV="1">
              <a:off x="790" y="2546"/>
              <a:ext cx="564" cy="3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" name="椭圆 44"/>
            <p:cNvSpPr/>
            <p:nvPr/>
          </p:nvSpPr>
          <p:spPr bwMode="auto">
            <a:xfrm>
              <a:off x="2080" y="2886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7352" name="直接连接符 46"/>
            <p:cNvCxnSpPr/>
            <p:nvPr/>
          </p:nvCxnSpPr>
          <p:spPr>
            <a:xfrm rot="-5400000" flipH="1">
              <a:off x="1629" y="2435"/>
              <a:ext cx="312" cy="63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53" name="直接连接符 48"/>
            <p:cNvCxnSpPr/>
            <p:nvPr/>
          </p:nvCxnSpPr>
          <p:spPr>
            <a:xfrm rot="-5400000" flipH="1">
              <a:off x="470" y="3271"/>
              <a:ext cx="680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椭圆 49"/>
            <p:cNvSpPr/>
            <p:nvPr/>
          </p:nvSpPr>
          <p:spPr bwMode="auto">
            <a:xfrm>
              <a:off x="855" y="3702"/>
              <a:ext cx="137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1" name="椭圆 50"/>
            <p:cNvSpPr/>
            <p:nvPr/>
          </p:nvSpPr>
          <p:spPr bwMode="auto">
            <a:xfrm>
              <a:off x="1898" y="3702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7356" name="直接连接符 53"/>
            <p:cNvCxnSpPr/>
            <p:nvPr/>
          </p:nvCxnSpPr>
          <p:spPr>
            <a:xfrm rot="5400000">
              <a:off x="1680" y="3282"/>
              <a:ext cx="700" cy="1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57" name="直接连接符 55"/>
            <p:cNvCxnSpPr/>
            <p:nvPr/>
          </p:nvCxnSpPr>
          <p:spPr>
            <a:xfrm>
              <a:off x="972" y="3747"/>
              <a:ext cx="927" cy="2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58" name="直接连接符 75"/>
            <p:cNvCxnSpPr/>
            <p:nvPr/>
          </p:nvCxnSpPr>
          <p:spPr>
            <a:xfrm rot="-5400000" flipH="1">
              <a:off x="994" y="2798"/>
              <a:ext cx="746" cy="11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59" name="直接连接符 79"/>
            <p:cNvCxnSpPr/>
            <p:nvPr/>
          </p:nvCxnSpPr>
          <p:spPr>
            <a:xfrm rot="5400000" flipH="1" flipV="1">
              <a:off x="1170" y="2792"/>
              <a:ext cx="725" cy="10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60" name="直接连接符 81"/>
            <p:cNvCxnSpPr/>
            <p:nvPr/>
          </p:nvCxnSpPr>
          <p:spPr>
            <a:xfrm rot="5400000" flipH="1" flipV="1">
              <a:off x="591" y="2893"/>
              <a:ext cx="1134" cy="47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361" name="Line 28"/>
            <p:cNvSpPr/>
            <p:nvPr/>
          </p:nvSpPr>
          <p:spPr>
            <a:xfrm flipV="1">
              <a:off x="810" y="2931"/>
              <a:ext cx="1270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62" name="Line 29"/>
            <p:cNvSpPr/>
            <p:nvPr/>
          </p:nvSpPr>
          <p:spPr>
            <a:xfrm>
              <a:off x="1400" y="2614"/>
              <a:ext cx="544" cy="11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" name="椭圆 50"/>
            <p:cNvSpPr/>
            <p:nvPr/>
          </p:nvSpPr>
          <p:spPr bwMode="auto">
            <a:xfrm>
              <a:off x="3168" y="3081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7364" name="Line 33"/>
            <p:cNvSpPr/>
            <p:nvPr/>
          </p:nvSpPr>
          <p:spPr>
            <a:xfrm>
              <a:off x="2200" y="2976"/>
              <a:ext cx="998" cy="182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65" name="Line 34"/>
            <p:cNvSpPr/>
            <p:nvPr/>
          </p:nvSpPr>
          <p:spPr>
            <a:xfrm>
              <a:off x="1474" y="2523"/>
              <a:ext cx="1724" cy="59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66" name="Line 35"/>
            <p:cNvSpPr/>
            <p:nvPr/>
          </p:nvSpPr>
          <p:spPr>
            <a:xfrm flipV="1">
              <a:off x="2018" y="3203"/>
              <a:ext cx="1180" cy="545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57367" name="AutoShape 36"/>
            <p:cNvCxnSpPr/>
            <p:nvPr/>
          </p:nvCxnSpPr>
          <p:spPr>
            <a:xfrm rot="5400000" flipV="1">
              <a:off x="1905" y="1737"/>
              <a:ext cx="161" cy="2493"/>
            </a:xfrm>
            <a:prstGeom prst="curvedConnector3">
              <a:avLst>
                <a:gd name="adj1" fmla="val -378264"/>
              </a:avLst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68" name="AutoShape 37"/>
            <p:cNvCxnSpPr>
              <a:endCxn id="57366" idx="1"/>
            </p:cNvCxnSpPr>
            <p:nvPr/>
          </p:nvCxnSpPr>
          <p:spPr>
            <a:xfrm rot="5400000" flipH="1" flipV="1">
              <a:off x="1754" y="2374"/>
              <a:ext cx="614" cy="2274"/>
            </a:xfrm>
            <a:prstGeom prst="curvedConnector5">
              <a:avLst>
                <a:gd name="adj1" fmla="val -21991"/>
                <a:gd name="adj2" fmla="val 27218"/>
                <a:gd name="adj3" fmla="val -23616"/>
              </a:avLst>
            </a:prstGeom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36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推论</a:t>
            </a:r>
            <a:r>
              <a:rPr lang="en-US" altLang="zh-CN"/>
              <a:t>(</a:t>
            </a:r>
            <a:r>
              <a:rPr lang="zh-CN" altLang="en-US"/>
              <a:t>证明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58370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144462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/>
              <a:t> </a:t>
            </a:r>
            <a:r>
              <a:rPr lang="zh-CN" altLang="en-US"/>
              <a:t>由定理</a:t>
            </a:r>
            <a:r>
              <a:rPr lang="en-US" altLang="zh-CN"/>
              <a:t>8.11, K</a:t>
            </a:r>
            <a:r>
              <a:rPr lang="en-US" altLang="zh-CN" baseline="-25000"/>
              <a:t>2(k-1)+1</a:t>
            </a:r>
            <a:r>
              <a:rPr lang="zh-CN" altLang="en-US"/>
              <a:t>中有</a:t>
            </a:r>
            <a:r>
              <a:rPr lang="en-US" altLang="zh-CN" i="1"/>
              <a:t>k</a:t>
            </a:r>
            <a:r>
              <a:rPr lang="en-US" altLang="zh-CN"/>
              <a:t>-1</a:t>
            </a:r>
            <a:r>
              <a:rPr lang="zh-CN" altLang="en-US"/>
              <a:t>条边不重的哈密顿回路</a:t>
            </a:r>
            <a:r>
              <a:rPr lang="en-US" altLang="zh-CN"/>
              <a:t>,</a:t>
            </a:r>
            <a:r>
              <a:rPr lang="zh-CN" altLang="en-US"/>
              <a:t>设为</a:t>
            </a:r>
            <a:r>
              <a:rPr lang="en-US" altLang="zh-CN"/>
              <a:t>C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 baseline="-25000"/>
              <a:t>1</a:t>
            </a:r>
            <a:r>
              <a:rPr lang="en-US" altLang="zh-CN"/>
              <a:t>,C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 baseline="-25000"/>
              <a:t>2</a:t>
            </a:r>
            <a:r>
              <a:rPr lang="en-US" altLang="zh-CN"/>
              <a:t>,…,C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 i="1" baseline="-25000"/>
              <a:t>k</a:t>
            </a:r>
            <a:r>
              <a:rPr lang="en-US" altLang="zh-CN" baseline="-25000"/>
              <a:t>-1</a:t>
            </a:r>
            <a:r>
              <a:rPr lang="en-US" altLang="zh-CN"/>
              <a:t>, </a:t>
            </a:r>
            <a:r>
              <a:rPr lang="zh-CN" altLang="en-US"/>
              <a:t>依次把</a:t>
            </a:r>
            <a:r>
              <a:rPr lang="en-US" altLang="zh-CN"/>
              <a:t>v</a:t>
            </a:r>
            <a:r>
              <a:rPr lang="en-US" altLang="zh-CN" baseline="-25000"/>
              <a:t>2</a:t>
            </a:r>
            <a:r>
              <a:rPr lang="en-US" altLang="zh-CN" i="1" baseline="-25000"/>
              <a:t>k</a:t>
            </a:r>
            <a:r>
              <a:rPr lang="en-US" altLang="zh-CN"/>
              <a:t>“</a:t>
            </a:r>
            <a:r>
              <a:rPr lang="zh-CN" altLang="en-US"/>
              <a:t>加入”</a:t>
            </a:r>
            <a:r>
              <a:rPr lang="en-US" altLang="zh-CN"/>
              <a:t>C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 i="1" baseline="-25000"/>
              <a:t>i</a:t>
            </a:r>
            <a:r>
              <a:rPr lang="en-US" altLang="zh-CN"/>
              <a:t>,</a:t>
            </a:r>
            <a:r>
              <a:rPr lang="zh-CN" altLang="en-US"/>
              <a:t>得到满足要求的</a:t>
            </a:r>
            <a:r>
              <a:rPr lang="en-US" altLang="zh-CN"/>
              <a:t>C</a:t>
            </a:r>
            <a:r>
              <a:rPr lang="en-US" altLang="zh-CN" i="1" baseline="-25000"/>
              <a:t>i</a:t>
            </a:r>
            <a:r>
              <a:rPr lang="en-US" altLang="zh-CN"/>
              <a:t>. </a:t>
            </a:r>
            <a:endParaRPr lang="zh-CN" altLang="en-US"/>
          </a:p>
        </p:txBody>
      </p:sp>
      <p:grpSp>
        <p:nvGrpSpPr>
          <p:cNvPr id="58371" name="组合 33"/>
          <p:cNvGrpSpPr/>
          <p:nvPr/>
        </p:nvGrpSpPr>
        <p:grpSpPr>
          <a:xfrm>
            <a:off x="79375" y="2857500"/>
            <a:ext cx="4778375" cy="2886075"/>
            <a:chOff x="71406" y="2857496"/>
            <a:chExt cx="4778406" cy="2886092"/>
          </a:xfrm>
        </p:grpSpPr>
        <p:grpSp>
          <p:nvGrpSpPr>
            <p:cNvPr id="58372" name="组合 30"/>
            <p:cNvGrpSpPr/>
            <p:nvPr/>
          </p:nvGrpSpPr>
          <p:grpSpPr>
            <a:xfrm>
              <a:off x="71406" y="2857496"/>
              <a:ext cx="4551390" cy="2886092"/>
              <a:chOff x="714348" y="3429000"/>
              <a:chExt cx="4551390" cy="2886092"/>
            </a:xfrm>
          </p:grpSpPr>
          <p:grpSp>
            <p:nvGrpSpPr>
              <p:cNvPr id="58373" name="Group 39"/>
              <p:cNvGrpSpPr/>
              <p:nvPr/>
            </p:nvGrpSpPr>
            <p:grpSpPr>
              <a:xfrm>
                <a:off x="1042988" y="3910013"/>
                <a:ext cx="4222750" cy="2201862"/>
                <a:chOff x="657" y="2463"/>
                <a:chExt cx="2660" cy="1387"/>
              </a:xfrm>
            </p:grpSpPr>
            <p:sp>
              <p:nvSpPr>
                <p:cNvPr id="41" name="椭圆 40"/>
                <p:cNvSpPr/>
                <p:nvPr/>
              </p:nvSpPr>
              <p:spPr bwMode="auto">
                <a:xfrm>
                  <a:off x="1355" y="2478"/>
                  <a:ext cx="135" cy="136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  <a:bevelB/>
                </a:sp3d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 bwMode="auto">
                <a:xfrm>
                  <a:off x="674" y="2886"/>
                  <a:ext cx="136" cy="136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  <a:bevelB/>
                </a:sp3d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cxnSp>
              <p:nvCxnSpPr>
                <p:cNvPr id="58376" name="直接连接符 43"/>
                <p:cNvCxnSpPr/>
                <p:nvPr/>
              </p:nvCxnSpPr>
              <p:spPr>
                <a:xfrm rot="-10800000" flipV="1">
                  <a:off x="790" y="2546"/>
                  <a:ext cx="564" cy="360"/>
                </a:xfrm>
                <a:prstGeom prst="line">
                  <a:avLst/>
                </a:prstGeom>
                <a:ln w="28575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5" name="椭圆 44"/>
                <p:cNvSpPr/>
                <p:nvPr/>
              </p:nvSpPr>
              <p:spPr bwMode="auto">
                <a:xfrm>
                  <a:off x="2080" y="2886"/>
                  <a:ext cx="136" cy="136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  <a:bevelB/>
                </a:sp3d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cxnSp>
              <p:nvCxnSpPr>
                <p:cNvPr id="58378" name="直接连接符 46"/>
                <p:cNvCxnSpPr/>
                <p:nvPr/>
              </p:nvCxnSpPr>
              <p:spPr>
                <a:xfrm rot="-5400000" flipH="1">
                  <a:off x="1629" y="2435"/>
                  <a:ext cx="312" cy="630"/>
                </a:xfrm>
                <a:prstGeom prst="line">
                  <a:avLst/>
                </a:prstGeom>
                <a:ln w="28575" cap="flat" cmpd="sng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379" name="直接连接符 48"/>
                <p:cNvCxnSpPr/>
                <p:nvPr/>
              </p:nvCxnSpPr>
              <p:spPr>
                <a:xfrm rot="-5400000" flipH="1">
                  <a:off x="470" y="3271"/>
                  <a:ext cx="680" cy="182"/>
                </a:xfrm>
                <a:prstGeom prst="line">
                  <a:avLst/>
                </a:prstGeom>
                <a:ln w="28575" cap="flat" cmpd="sng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0" name="椭圆 49"/>
                <p:cNvSpPr/>
                <p:nvPr/>
              </p:nvSpPr>
              <p:spPr bwMode="auto">
                <a:xfrm>
                  <a:off x="855" y="3702"/>
                  <a:ext cx="137" cy="136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  <a:bevelB/>
                </a:sp3d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 bwMode="auto">
                <a:xfrm>
                  <a:off x="1898" y="3702"/>
                  <a:ext cx="136" cy="136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  <a:bevelB/>
                </a:sp3d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cxnSp>
              <p:nvCxnSpPr>
                <p:cNvPr id="58382" name="直接连接符 53"/>
                <p:cNvCxnSpPr/>
                <p:nvPr/>
              </p:nvCxnSpPr>
              <p:spPr>
                <a:xfrm rot="5400000">
                  <a:off x="1680" y="3282"/>
                  <a:ext cx="700" cy="133"/>
                </a:xfrm>
                <a:prstGeom prst="line">
                  <a:avLst/>
                </a:prstGeom>
                <a:ln w="28575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383" name="直接连接符 55"/>
                <p:cNvCxnSpPr/>
                <p:nvPr/>
              </p:nvCxnSpPr>
              <p:spPr>
                <a:xfrm>
                  <a:off x="972" y="3747"/>
                  <a:ext cx="927" cy="23"/>
                </a:xfrm>
                <a:prstGeom prst="line">
                  <a:avLst/>
                </a:prstGeom>
                <a:ln w="28575" cap="flat" cmpd="sng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384" name="直接连接符 75"/>
                <p:cNvCxnSpPr/>
                <p:nvPr/>
              </p:nvCxnSpPr>
              <p:spPr>
                <a:xfrm rot="-5400000" flipH="1">
                  <a:off x="994" y="2798"/>
                  <a:ext cx="746" cy="1154"/>
                </a:xfrm>
                <a:prstGeom prst="line">
                  <a:avLst/>
                </a:prstGeom>
                <a:ln w="28575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385" name="直接连接符 79"/>
                <p:cNvCxnSpPr/>
                <p:nvPr/>
              </p:nvCxnSpPr>
              <p:spPr>
                <a:xfrm rot="5400000" flipH="1" flipV="1">
                  <a:off x="1170" y="2792"/>
                  <a:ext cx="725" cy="1088"/>
                </a:xfrm>
                <a:prstGeom prst="line">
                  <a:avLst/>
                </a:prstGeom>
                <a:ln w="28575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386" name="直接连接符 81"/>
                <p:cNvCxnSpPr/>
                <p:nvPr/>
              </p:nvCxnSpPr>
              <p:spPr>
                <a:xfrm rot="5400000" flipH="1" flipV="1">
                  <a:off x="591" y="2893"/>
                  <a:ext cx="1134" cy="477"/>
                </a:xfrm>
                <a:prstGeom prst="line">
                  <a:avLst/>
                </a:prstGeom>
                <a:ln w="28575" cap="flat" cmpd="sng">
                  <a:solidFill>
                    <a:srgbClr val="FF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8387" name="Line 28"/>
                <p:cNvSpPr/>
                <p:nvPr/>
              </p:nvSpPr>
              <p:spPr>
                <a:xfrm flipV="1">
                  <a:off x="810" y="2931"/>
                  <a:ext cx="1270" cy="45"/>
                </a:xfrm>
                <a:prstGeom prst="line">
                  <a:avLst/>
                </a:prstGeom>
                <a:ln w="28575" cap="flat" cmpd="sng">
                  <a:solidFill>
                    <a:srgbClr val="0070C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8388" name="Line 29"/>
                <p:cNvSpPr/>
                <p:nvPr/>
              </p:nvSpPr>
              <p:spPr>
                <a:xfrm>
                  <a:off x="1400" y="2614"/>
                  <a:ext cx="544" cy="1134"/>
                </a:xfrm>
                <a:prstGeom prst="line">
                  <a:avLst/>
                </a:prstGeom>
                <a:ln w="28575" cap="flat" cmpd="sng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" name="椭圆 50"/>
                <p:cNvSpPr/>
                <p:nvPr/>
              </p:nvSpPr>
              <p:spPr bwMode="auto">
                <a:xfrm>
                  <a:off x="3168" y="3081"/>
                  <a:ext cx="136" cy="136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  <a:bevelB/>
                </a:sp3d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58390" name="Line 33"/>
                <p:cNvSpPr/>
                <p:nvPr/>
              </p:nvSpPr>
              <p:spPr>
                <a:xfrm>
                  <a:off x="2200" y="2976"/>
                  <a:ext cx="998" cy="182"/>
                </a:xfrm>
                <a:prstGeom prst="line">
                  <a:avLst/>
                </a:prstGeom>
                <a:ln w="28575" cap="flat" cmpd="sng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8391" name="Line 34"/>
                <p:cNvSpPr/>
                <p:nvPr/>
              </p:nvSpPr>
              <p:spPr>
                <a:xfrm>
                  <a:off x="1474" y="2523"/>
                  <a:ext cx="1724" cy="590"/>
                </a:xfrm>
                <a:prstGeom prst="line">
                  <a:avLst/>
                </a:prstGeom>
                <a:ln w="28575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8392" name="Line 35"/>
                <p:cNvSpPr/>
                <p:nvPr/>
              </p:nvSpPr>
              <p:spPr>
                <a:xfrm flipV="1">
                  <a:off x="2018" y="3203"/>
                  <a:ext cx="1180" cy="545"/>
                </a:xfrm>
                <a:prstGeom prst="line">
                  <a:avLst/>
                </a:prstGeom>
                <a:ln w="28575" cap="flat" cmpd="sng">
                  <a:solidFill>
                    <a:schemeClr val="bg2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cxnSp>
              <p:nvCxnSpPr>
                <p:cNvPr id="58393" name="AutoShape 36"/>
                <p:cNvCxnSpPr/>
                <p:nvPr/>
              </p:nvCxnSpPr>
              <p:spPr>
                <a:xfrm rot="5400000" flipV="1">
                  <a:off x="1905" y="1737"/>
                  <a:ext cx="161" cy="2493"/>
                </a:xfrm>
                <a:prstGeom prst="curvedConnector3">
                  <a:avLst>
                    <a:gd name="adj1" fmla="val -378264"/>
                  </a:avLst>
                </a:prstGeom>
                <a:ln w="28575" cap="flat" cmpd="sng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394" name="AutoShape 37"/>
                <p:cNvCxnSpPr>
                  <a:endCxn id="58392" idx="1"/>
                </p:cNvCxnSpPr>
                <p:nvPr/>
              </p:nvCxnSpPr>
              <p:spPr>
                <a:xfrm rot="5400000" flipH="1" flipV="1">
                  <a:off x="1754" y="2374"/>
                  <a:ext cx="614" cy="2274"/>
                </a:xfrm>
                <a:prstGeom prst="curvedConnector5">
                  <a:avLst>
                    <a:gd name="adj1" fmla="val -21991"/>
                    <a:gd name="adj2" fmla="val 27218"/>
                    <a:gd name="adj3" fmla="val -23616"/>
                  </a:avLst>
                </a:prstGeom>
                <a:ln w="28575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8395" name="Text Box 12"/>
              <p:cNvSpPr txBox="1"/>
              <p:nvPr/>
            </p:nvSpPr>
            <p:spPr>
              <a:xfrm>
                <a:off x="1928794" y="3429000"/>
                <a:ext cx="420688" cy="4572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396" name="Text Box 12"/>
              <p:cNvSpPr txBox="1"/>
              <p:nvPr/>
            </p:nvSpPr>
            <p:spPr>
              <a:xfrm>
                <a:off x="3286116" y="4714884"/>
                <a:ext cx="420688" cy="4572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397" name="Text Box 12"/>
              <p:cNvSpPr txBox="1"/>
              <p:nvPr/>
            </p:nvSpPr>
            <p:spPr>
              <a:xfrm>
                <a:off x="3143240" y="5857892"/>
                <a:ext cx="420688" cy="4572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398" name="Text Box 12"/>
              <p:cNvSpPr txBox="1"/>
              <p:nvPr/>
            </p:nvSpPr>
            <p:spPr>
              <a:xfrm>
                <a:off x="1000100" y="5857892"/>
                <a:ext cx="420688" cy="4572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399" name="Text Box 12"/>
              <p:cNvSpPr txBox="1"/>
              <p:nvPr/>
            </p:nvSpPr>
            <p:spPr>
              <a:xfrm>
                <a:off x="714348" y="4500570"/>
                <a:ext cx="420688" cy="4572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8400" name="Text Box 12"/>
            <p:cNvSpPr txBox="1"/>
            <p:nvPr/>
          </p:nvSpPr>
          <p:spPr>
            <a:xfrm>
              <a:off x="4429124" y="4500570"/>
              <a:ext cx="420688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8401" name="矩形 33"/>
          <p:cNvSpPr/>
          <p:nvPr/>
        </p:nvSpPr>
        <p:spPr>
          <a:xfrm>
            <a:off x="3571875" y="2786063"/>
            <a:ext cx="5438775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</a:rPr>
              <a:t>      C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endParaRPr lang="en-US" altLang="zh-CN" sz="2800" baseline="-250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8402" name="矩形 34"/>
          <p:cNvSpPr/>
          <p:nvPr/>
        </p:nvSpPr>
        <p:spPr>
          <a:xfrm>
            <a:off x="4286250" y="3500438"/>
            <a:ext cx="49212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</a:rPr>
              <a:t>=(C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</a:rPr>
              <a:t>-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{(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),(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)}</a:t>
            </a:r>
            <a:endParaRPr lang="zh-CN" altLang="en-US" sz="28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8403" name="矩形 35"/>
          <p:cNvSpPr/>
          <p:nvPr/>
        </p:nvSpPr>
        <p:spPr>
          <a:xfrm>
            <a:off x="4143375" y="5143500"/>
            <a:ext cx="5100638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=(C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){(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 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),(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i="1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 v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)}</a:t>
            </a:r>
            <a:endParaRPr lang="en-US" altLang="zh-CN" sz="28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8404" name="矩形 36"/>
          <p:cNvSpPr/>
          <p:nvPr/>
        </p:nvSpPr>
        <p:spPr>
          <a:xfrm>
            <a:off x="107950" y="5805488"/>
            <a:ext cx="8567738" cy="954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注意：选取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中要删除的边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21</a:t>
            </a:r>
            <a:r>
              <a:rPr lang="en-US" altLang="zh-CN" sz="28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 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22</a:t>
            </a:r>
            <a:r>
              <a:rPr lang="en-US" altLang="zh-CN" sz="28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满足</a:t>
            </a:r>
            <a:endParaRPr lang="en-US" altLang="zh-CN" sz="280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SzTx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21</a:t>
            </a:r>
            <a:r>
              <a:rPr lang="en-US" altLang="zh-CN" sz="28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22</a:t>
            </a:r>
            <a:r>
              <a:rPr lang="en-US" altLang="zh-CN" sz="28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}{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11</a:t>
            </a:r>
            <a:r>
              <a:rPr lang="en-US" altLang="zh-CN" sz="28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 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12</a:t>
            </a:r>
            <a:r>
              <a:rPr lang="en-US" altLang="zh-CN" sz="28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}=,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如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}{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rPr>
              <a:t>}=</a:t>
            </a:r>
            <a:endParaRPr lang="en-US" altLang="zh-CN" sz="280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840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推论</a:t>
            </a:r>
            <a:r>
              <a:rPr lang="en-US" altLang="zh-CN"/>
              <a:t>(</a:t>
            </a:r>
            <a:r>
              <a:rPr lang="zh-CN" altLang="en-US"/>
              <a:t>证明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5939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/>
              <a:t>将</a:t>
            </a:r>
            <a:r>
              <a:rPr lang="en-US" altLang="zh-CN"/>
              <a:t>K</a:t>
            </a:r>
            <a:r>
              <a:rPr lang="en-US" altLang="zh-CN" baseline="-25000"/>
              <a:t>6</a:t>
            </a:r>
            <a:r>
              <a:rPr lang="zh-CN" altLang="en-US"/>
              <a:t>表示成</a:t>
            </a:r>
            <a:r>
              <a:rPr lang="en-US" altLang="zh-CN"/>
              <a:t>K</a:t>
            </a:r>
            <a:r>
              <a:rPr lang="en-US" altLang="zh-CN" baseline="-25000"/>
              <a:t>5</a:t>
            </a:r>
            <a:r>
              <a:rPr lang="en-US" altLang="zh-CN"/>
              <a:t>+K</a:t>
            </a:r>
            <a:r>
              <a:rPr lang="en-US" altLang="zh-CN" baseline="-25000"/>
              <a:t>1</a:t>
            </a:r>
            <a:r>
              <a:rPr lang="zh-CN" altLang="en-US"/>
              <a:t>的形式，</a:t>
            </a:r>
            <a:r>
              <a:rPr lang="en-US" altLang="zh-CN"/>
              <a:t>K</a:t>
            </a:r>
            <a:r>
              <a:rPr lang="en-US" altLang="zh-CN" baseline="-25000"/>
              <a:t>5</a:t>
            </a:r>
            <a:r>
              <a:rPr lang="zh-CN" altLang="en-US"/>
              <a:t>中有</a:t>
            </a:r>
            <a:r>
              <a:rPr lang="en-US" altLang="zh-CN"/>
              <a:t>2</a:t>
            </a:r>
            <a:r>
              <a:rPr lang="zh-CN" altLang="en-US"/>
              <a:t>条边不交的圈</a:t>
            </a:r>
            <a:r>
              <a:rPr lang="en-US" altLang="zh-CN"/>
              <a:t>C</a:t>
            </a:r>
            <a:r>
              <a:rPr lang="en-US" altLang="zh-CN" baseline="-25000"/>
              <a:t>1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zh-CN" altLang="en-US"/>
              <a:t>和</a:t>
            </a:r>
            <a:r>
              <a:rPr lang="en-US" altLang="zh-CN"/>
              <a:t>C</a:t>
            </a:r>
            <a:r>
              <a:rPr lang="en-US" altLang="zh-CN" baseline="-25000"/>
              <a:t>2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/>
              <a:t>,</a:t>
            </a:r>
            <a:r>
              <a:rPr lang="zh-CN" altLang="en-US"/>
              <a:t>如下：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C</a:t>
            </a:r>
            <a:r>
              <a:rPr lang="en-US" altLang="zh-CN" baseline="-25000"/>
              <a:t>1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/>
              <a:t>=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 i="1"/>
              <a:t>v</a:t>
            </a:r>
            <a:r>
              <a:rPr lang="en-US" altLang="zh-CN" baseline="-25000"/>
              <a:t>5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      C</a:t>
            </a:r>
            <a:r>
              <a:rPr lang="en-US" altLang="zh-CN" baseline="-25000"/>
              <a:t>2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/>
              <a:t>=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 i="1"/>
              <a:t>v</a:t>
            </a:r>
            <a:r>
              <a:rPr lang="en-US" altLang="zh-CN" baseline="-25000"/>
              <a:t>5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  <a:p>
            <a:pPr marL="0" indent="0">
              <a:buNone/>
            </a:pPr>
            <a:r>
              <a:rPr lang="zh-CN" altLang="en-US"/>
              <a:t>那么</a:t>
            </a:r>
            <a:r>
              <a:rPr lang="en-US" altLang="zh-CN"/>
              <a:t>C</a:t>
            </a:r>
            <a:r>
              <a:rPr lang="en-US" altLang="zh-CN" baseline="-25000"/>
              <a:t>1</a:t>
            </a:r>
            <a:r>
              <a:rPr lang="en-US" altLang="zh-CN"/>
              <a:t>=(C</a:t>
            </a:r>
            <a:r>
              <a:rPr lang="en-US" altLang="zh-CN" baseline="-25000"/>
              <a:t>1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/>
              <a:t>-(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/>
              <a:t>))</a:t>
            </a:r>
            <a:r>
              <a:rPr lang="en-US" altLang="zh-CN">
                <a:sym typeface="Symbol" panose="05050102010706020507" pitchFamily="18" charset="2"/>
              </a:rPr>
              <a:t>{(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ym typeface="Symbol" panose="05050102010706020507" pitchFamily="18" charset="2"/>
              </a:rPr>
              <a:t>6</a:t>
            </a:r>
            <a:r>
              <a:rPr lang="en-US" altLang="zh-CN">
                <a:sym typeface="Symbol" panose="05050102010706020507" pitchFamily="18" charset="2"/>
              </a:rPr>
              <a:t>),(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ym typeface="Symbol" panose="05050102010706020507" pitchFamily="18" charset="2"/>
              </a:rPr>
              <a:t>6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ym typeface="Symbol" panose="05050102010706020507" pitchFamily="18" charset="2"/>
              </a:rPr>
              <a:t>4</a:t>
            </a:r>
            <a:r>
              <a:rPr lang="en-US" altLang="zh-CN">
                <a:sym typeface="Symbol" panose="05050102010706020507" pitchFamily="18" charset="2"/>
              </a:rPr>
              <a:t>)}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选取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中要删除的边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olidFill>
                  <a:srgbClr val="FF0000"/>
                </a:solidFill>
                <a:sym typeface="Symbol" panose="05050102010706020507" pitchFamily="18" charset="2"/>
              </a:rPr>
              <a:t>21</a:t>
            </a:r>
            <a:r>
              <a:rPr lang="en-US" altLang="zh-CN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 v</a:t>
            </a:r>
            <a:r>
              <a:rPr lang="en-US" altLang="zh-CN" baseline="-25000">
                <a:solidFill>
                  <a:srgbClr val="FF0000"/>
                </a:solidFill>
                <a:sym typeface="Symbol" panose="05050102010706020507" pitchFamily="18" charset="2"/>
              </a:rPr>
              <a:t>22</a:t>
            </a:r>
            <a:r>
              <a:rPr lang="en-US" altLang="zh-CN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时，满足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{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olidFill>
                  <a:srgbClr val="FF0000"/>
                </a:solidFill>
                <a:sym typeface="Symbol" panose="05050102010706020507" pitchFamily="18" charset="2"/>
              </a:rPr>
              <a:t>21</a:t>
            </a:r>
            <a:r>
              <a:rPr lang="en-US" altLang="zh-CN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olidFill>
                  <a:srgbClr val="FF0000"/>
                </a:solidFill>
                <a:sym typeface="Symbol" panose="05050102010706020507" pitchFamily="18" charset="2"/>
              </a:rPr>
              <a:t>22</a:t>
            </a:r>
            <a:r>
              <a:rPr lang="en-US" altLang="zh-CN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}{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olidFill>
                  <a:srgbClr val="FF0000"/>
                </a:solidFill>
                <a:sym typeface="Symbol" panose="05050102010706020507" pitchFamily="18" charset="2"/>
              </a:rPr>
              <a:t>11</a:t>
            </a:r>
            <a:r>
              <a:rPr lang="en-US" altLang="zh-CN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 v</a:t>
            </a:r>
            <a:r>
              <a:rPr lang="en-US" altLang="zh-CN" baseline="-25000">
                <a:solidFill>
                  <a:srgbClr val="FF0000"/>
                </a:solidFill>
                <a:sym typeface="Symbol" panose="05050102010706020507" pitchFamily="18" charset="2"/>
              </a:rPr>
              <a:t>12</a:t>
            </a:r>
            <a:r>
              <a:rPr lang="en-US" altLang="zh-CN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}=,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即不能选择与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和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olidFill>
                  <a:srgbClr val="FF0000"/>
                </a:solidFill>
                <a:sym typeface="Symbol" panose="05050102010706020507" pitchFamily="18" charset="2"/>
              </a:rPr>
              <a:t>4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关联的边，因此只能选择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olidFill>
                  <a:srgbClr val="FF0000"/>
                </a:solidFill>
                <a:sym typeface="Symbol" panose="05050102010706020507" pitchFamily="18" charset="2"/>
              </a:rPr>
              <a:t>2,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 v</a:t>
            </a:r>
            <a:r>
              <a:rPr lang="en-US" altLang="zh-CN" baseline="-25000">
                <a:solidFill>
                  <a:srgbClr val="FF0000"/>
                </a:solidFill>
                <a:sym typeface="Symbol" panose="05050102010706020507" pitchFamily="18" charset="2"/>
              </a:rPr>
              <a:t>5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),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所以</a:t>
            </a:r>
            <a:endParaRPr lang="en-US" altLang="zh-CN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=(C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ym typeface="Symbol" panose="05050102010706020507" pitchFamily="18" charset="2"/>
              </a:rPr>
              <a:t>-(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ym typeface="Symbol" panose="05050102010706020507" pitchFamily="18" charset="2"/>
              </a:rPr>
              <a:t>5</a:t>
            </a:r>
            <a:r>
              <a:rPr lang="en-US" altLang="zh-CN">
                <a:sym typeface="Symbol" panose="05050102010706020507" pitchFamily="18" charset="2"/>
              </a:rPr>
              <a:t>)){(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 v</a:t>
            </a:r>
            <a:r>
              <a:rPr lang="en-US" altLang="zh-CN" baseline="-25000">
                <a:sym typeface="Symbol" panose="05050102010706020507" pitchFamily="18" charset="2"/>
              </a:rPr>
              <a:t>6</a:t>
            </a:r>
            <a:r>
              <a:rPr lang="en-US" altLang="zh-CN">
                <a:sym typeface="Symbol" panose="05050102010706020507" pitchFamily="18" charset="2"/>
              </a:rPr>
              <a:t>),(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ym typeface="Symbol" panose="05050102010706020507" pitchFamily="18" charset="2"/>
              </a:rPr>
              <a:t>6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 v</a:t>
            </a:r>
            <a:r>
              <a:rPr lang="en-US" altLang="zh-CN" baseline="-25000">
                <a:sym typeface="Symbol" panose="05050102010706020507" pitchFamily="18" charset="2"/>
              </a:rPr>
              <a:t>5</a:t>
            </a:r>
            <a:r>
              <a:rPr lang="en-US" altLang="zh-CN">
                <a:sym typeface="Symbol" panose="05050102010706020507" pitchFamily="18" charset="2"/>
              </a:rPr>
              <a:t>)}</a:t>
            </a:r>
            <a:endParaRPr lang="en-US" altLang="zh-CN"/>
          </a:p>
          <a:p>
            <a:pPr marL="0" indent="0"/>
            <a:endParaRPr lang="zh-CN" altLang="en-US"/>
          </a:p>
        </p:txBody>
      </p:sp>
      <p:sp>
        <p:nvSpPr>
          <p:cNvPr id="593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货郎问题</a:t>
            </a:r>
            <a:r>
              <a:rPr lang="en-US" altLang="zh-CN"/>
              <a:t>(TSP)</a:t>
            </a:r>
            <a:endParaRPr lang="zh-CN" altLang="en-US"/>
          </a:p>
        </p:txBody>
      </p:sp>
      <p:sp>
        <p:nvSpPr>
          <p:cNvPr id="6144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货郎问题</a:t>
            </a:r>
            <a:r>
              <a:rPr lang="en-US" altLang="zh-CN"/>
              <a:t>(Travling Salesman Problem):</a:t>
            </a:r>
            <a:r>
              <a:rPr lang="zh-CN" altLang="en-US"/>
              <a:t>给定</a:t>
            </a:r>
            <a:r>
              <a:rPr lang="en-US" altLang="zh-CN" i="1"/>
              <a:t>n</a:t>
            </a:r>
            <a:r>
              <a:rPr lang="zh-CN" altLang="en-US"/>
              <a:t>个城市之间的所有距离</a:t>
            </a:r>
            <a:r>
              <a:rPr lang="en-US" altLang="zh-CN"/>
              <a:t>, </a:t>
            </a:r>
            <a:r>
              <a:rPr lang="zh-CN" altLang="en-US"/>
              <a:t>求推销员走遍所有城市的最短路线</a:t>
            </a:r>
            <a:endParaRPr lang="zh-CN" altLang="en-US"/>
          </a:p>
          <a:p>
            <a:r>
              <a:rPr lang="zh-CN" altLang="en-US"/>
              <a:t>又名</a:t>
            </a:r>
            <a:r>
              <a:rPr lang="zh-CN" altLang="en-US">
                <a:solidFill>
                  <a:schemeClr val="hlink"/>
                </a:solidFill>
              </a:rPr>
              <a:t>旅行商问题</a:t>
            </a:r>
            <a:r>
              <a:rPr lang="en-US" altLang="zh-CN"/>
              <a:t>,</a:t>
            </a:r>
            <a:r>
              <a:rPr lang="zh-CN" altLang="en-US">
                <a:solidFill>
                  <a:schemeClr val="hlink"/>
                </a:solidFill>
              </a:rPr>
              <a:t>巡回售货员问题</a:t>
            </a:r>
            <a:r>
              <a:rPr lang="en-US" altLang="zh-CN">
                <a:solidFill>
                  <a:schemeClr val="hlink"/>
                </a:solidFill>
              </a:rPr>
              <a:t>,TSP</a:t>
            </a:r>
            <a:endParaRPr lang="en-US" altLang="zh-CN">
              <a:solidFill>
                <a:schemeClr val="hlink"/>
              </a:solidFill>
            </a:endParaRPr>
          </a:p>
          <a:p>
            <a:r>
              <a:rPr lang="en-US" altLang="zh-CN">
                <a:solidFill>
                  <a:schemeClr val="hlink"/>
                </a:solidFill>
              </a:rPr>
              <a:t>TSP</a:t>
            </a:r>
            <a:r>
              <a:rPr lang="en-US" altLang="zh-CN"/>
              <a:t>: </a:t>
            </a:r>
            <a:r>
              <a:rPr lang="zh-CN" altLang="en-US"/>
              <a:t>给定带权完全图</a:t>
            </a:r>
            <a:r>
              <a:rPr lang="en-US" altLang="zh-CN"/>
              <a:t>G=&lt;V,E,W&gt;,</a:t>
            </a:r>
            <a:r>
              <a:rPr lang="zh-CN" altLang="en-US"/>
              <a:t>求最短哈密顿回路</a:t>
            </a:r>
            <a:r>
              <a:rPr lang="en-US" altLang="zh-CN"/>
              <a:t>.</a:t>
            </a:r>
            <a:endParaRPr lang="en-US" altLang="zh-CN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书</a:t>
            </a:r>
            <a:r>
              <a:rPr lang="en-US" altLang="zh-CN">
                <a:solidFill>
                  <a:srgbClr val="FF0000"/>
                </a:solidFill>
              </a:rPr>
              <a:t>P216 14.6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总结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349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周游世界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,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哈密顿通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(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回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)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路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,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哈密顿图</a:t>
            </a:r>
            <a:endParaRPr kumimoji="0" lang="zh-CN" altLang="en-US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判定哈密顿图的必要条件</a:t>
            </a:r>
            <a:endParaRPr kumimoji="0" lang="zh-CN" altLang="en-US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判定哈密顿图的充分条件</a:t>
            </a:r>
            <a:endParaRPr kumimoji="0" lang="zh-CN" altLang="en-US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边不重的哈密顿回路</a:t>
            </a:r>
            <a:endParaRPr kumimoji="0" lang="zh-CN" altLang="en-US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货郎问题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, 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计算复杂性</a:t>
            </a:r>
            <a:endParaRPr kumimoji="0" lang="zh-CN" altLang="en-US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endParaRPr kumimoji="0" lang="en-US" altLang="zh-CN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655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PP_MARK_KEY" val="2656645d-c942-4c6d-9c19-eb372273ce53"/>
  <p:tag name="COMMONDATA" val="eyJoZGlkIjoiY2FjYjUwYzFhN2VkM2YwN2YyYmE3ZGUyNDQzZTVlNzE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6234</Words>
  <Application>WPS 演示</Application>
  <PresentationFormat>全屏显示(4:3)</PresentationFormat>
  <Paragraphs>604</Paragraphs>
  <Slides>42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2" baseType="lpstr">
      <vt:lpstr>Arial</vt:lpstr>
      <vt:lpstr>宋体</vt:lpstr>
      <vt:lpstr>Wingdings</vt:lpstr>
      <vt:lpstr>Tahoma</vt:lpstr>
      <vt:lpstr>黑体</vt:lpstr>
      <vt:lpstr>Times New Roman</vt:lpstr>
      <vt:lpstr>微软雅黑</vt:lpstr>
      <vt:lpstr>Arial Unicode MS</vt:lpstr>
      <vt:lpstr>Symbol</vt:lpstr>
      <vt:lpstr>Blends</vt:lpstr>
      <vt:lpstr>8.2 哈密顿图</vt:lpstr>
      <vt:lpstr>Icosian Game</vt:lpstr>
      <vt:lpstr>周游世界</vt:lpstr>
      <vt:lpstr>Willam Rowan Hamilton</vt:lpstr>
      <vt:lpstr>哈密顿图(Hamilton)</vt:lpstr>
      <vt:lpstr>无向哈密顿图的必要条件</vt:lpstr>
      <vt:lpstr>无向半哈密顿图的必要条件</vt:lpstr>
      <vt:lpstr>推论的证明二</vt:lpstr>
      <vt:lpstr>判定不是哈密顿图的举例</vt:lpstr>
      <vt:lpstr>判定不是哈密顿图的举例</vt:lpstr>
      <vt:lpstr>反例: 非充分条件</vt:lpstr>
      <vt:lpstr>Petersen</vt:lpstr>
      <vt:lpstr>举例</vt:lpstr>
      <vt:lpstr>无向半哈密顿图的充分条件</vt:lpstr>
      <vt:lpstr>定理8.7的证明(1)</vt:lpstr>
      <vt:lpstr>定理8.7的证明(2)</vt:lpstr>
      <vt:lpstr>定理7(证明(3))</vt:lpstr>
      <vt:lpstr>反例 (充分条件)</vt:lpstr>
      <vt:lpstr>定理8.8</vt:lpstr>
      <vt:lpstr>无向哈密顿图的充分条件</vt:lpstr>
      <vt:lpstr>无向哈密顿图的充分条件</vt:lpstr>
      <vt:lpstr>课堂测试一：</vt:lpstr>
      <vt:lpstr>课后作业一：</vt:lpstr>
      <vt:lpstr>下列图中,哪些是哈密顿图？哪些是半哈密顿图？</vt:lpstr>
      <vt:lpstr>PowerPoint 演示文稿</vt:lpstr>
      <vt:lpstr>PowerPoint 演示文稿</vt:lpstr>
      <vt:lpstr>有向半哈密顿图的充分条件</vt:lpstr>
      <vt:lpstr>有向半哈密顿图的充分条件</vt:lpstr>
      <vt:lpstr>有向哈密顿图的充分条件</vt:lpstr>
      <vt:lpstr>定理10的证明(1)</vt:lpstr>
      <vt:lpstr>定理10的证明(2)</vt:lpstr>
      <vt:lpstr>定理10的证明(3)</vt:lpstr>
      <vt:lpstr>定理10的证明(4)  </vt:lpstr>
      <vt:lpstr>边不重的哈密顿回路</vt:lpstr>
      <vt:lpstr>定理8.11</vt:lpstr>
      <vt:lpstr>定理8.11的证明</vt:lpstr>
      <vt:lpstr>定理8.11 举例</vt:lpstr>
      <vt:lpstr>定理8.11推论的证明</vt:lpstr>
      <vt:lpstr>推论(证明)</vt:lpstr>
      <vt:lpstr>推论(证明)</vt:lpstr>
      <vt:lpstr>货郎问题(TSP)</vt:lpstr>
      <vt:lpstr>总结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WPS_1709687041</cp:lastModifiedBy>
  <cp:revision>885</cp:revision>
  <cp:lastPrinted>2018-04-08T23:34:00Z</cp:lastPrinted>
  <dcterms:created xsi:type="dcterms:W3CDTF">2008-01-04T07:39:00Z</dcterms:created>
  <dcterms:modified xsi:type="dcterms:W3CDTF">2025-10-20T01:04:08Z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82A947AB60B54EF2AD70EDC734938AB3</vt:lpwstr>
  </property>
</Properties>
</file>