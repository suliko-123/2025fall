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6"/>
  </p:handoutMasterIdLst>
  <p:sldIdLst>
    <p:sldId id="382" r:id="rId4"/>
    <p:sldId id="381" r:id="rId6"/>
    <p:sldId id="258" r:id="rId7"/>
    <p:sldId id="358" r:id="rId8"/>
    <p:sldId id="359" r:id="rId9"/>
    <p:sldId id="364" r:id="rId10"/>
    <p:sldId id="365" r:id="rId11"/>
    <p:sldId id="360" r:id="rId12"/>
    <p:sldId id="366" r:id="rId13"/>
    <p:sldId id="361" r:id="rId14"/>
    <p:sldId id="367" r:id="rId15"/>
    <p:sldId id="362" r:id="rId16"/>
    <p:sldId id="350" r:id="rId17"/>
    <p:sldId id="351" r:id="rId18"/>
    <p:sldId id="352" r:id="rId19"/>
    <p:sldId id="354" r:id="rId20"/>
    <p:sldId id="355" r:id="rId21"/>
    <p:sldId id="356" r:id="rId22"/>
    <p:sldId id="368" r:id="rId23"/>
    <p:sldId id="404" r:id="rId24"/>
    <p:sldId id="363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0066FF"/>
    <a:srgbClr val="808080"/>
    <a:srgbClr val="5F5F5F"/>
    <a:srgbClr val="996633"/>
    <a:srgbClr val="C7F9F1"/>
    <a:srgbClr val="219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0"/>
    <p:restoredTop sz="94708"/>
  </p:normalViewPr>
  <p:slideViewPr>
    <p:cSldViewPr showGuides="1">
      <p:cViewPr>
        <p:scale>
          <a:sx n="95" d="100"/>
          <a:sy n="95" d="100"/>
        </p:scale>
        <p:origin x="1872" y="-72"/>
      </p:cViewPr>
      <p:guideLst>
        <p:guide orient="horz" pos="21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A0468E-EDE1-D041-B6F8-93666E1EA99C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B9E809-0CA9-984F-BE13-7813D8E7A576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00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25CEE1-5EE6-9643-8BC2-57A99D5AD5B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给定一个图，让学生找出子图、生成子图、真子图、导出子图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92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x-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8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8603B-095A-E44A-8737-B69194FA1D3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eaLnBrk="1" hangingPunct="1"/>
            <a:r>
              <a:rPr lang="zh-CN" altLang="en-US" sz="4000"/>
              <a:t>子图</a:t>
            </a:r>
            <a:endParaRPr lang="zh-CN" altLang="en-US" sz="4000"/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250825" y="1411288"/>
            <a:ext cx="8458200" cy="5113337"/>
          </a:xfrm>
        </p:spPr>
        <p:txBody>
          <a:bodyPr anchor="t" anchorCtr="0"/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设图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&gt;, </a:t>
            </a:r>
            <a:r>
              <a:rPr lang="zh-CN" altLang="en-US" dirty="0"/>
              <a:t>图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=&lt;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(1)</a:t>
            </a:r>
            <a:r>
              <a:rPr lang="zh-CN" altLang="en-US" dirty="0">
                <a:solidFill>
                  <a:srgbClr val="FF0000"/>
                </a:solidFill>
              </a:rPr>
              <a:t>子图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sym typeface="Symbol" panose="05050102010706020507" pitchFamily="18" charset="2"/>
              </a:rPr>
              <a:t>E,</a:t>
            </a:r>
            <a:r>
              <a:rPr lang="en-US" altLang="zh-CN" dirty="0"/>
              <a:t>  </a:t>
            </a:r>
            <a:r>
              <a:rPr lang="en-US" altLang="zh-CN" i="1" dirty="0"/>
              <a:t>G</a:t>
            </a:r>
            <a:r>
              <a:rPr lang="zh-CN" altLang="en-US" dirty="0"/>
              <a:t>为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母图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子图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/>
              <a:t>记作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G</a:t>
            </a:r>
            <a:r>
              <a:rPr lang="zh-CN" altLang="en-US" i="1" dirty="0"/>
              <a:t>。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(2)</a:t>
            </a:r>
            <a:r>
              <a:rPr lang="en-US" altLang="zh-CN" i="1" dirty="0"/>
              <a:t> 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真子图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i="1" dirty="0"/>
              <a:t>V </a:t>
            </a:r>
            <a:r>
              <a:rPr lang="zh-CN" altLang="en-US" dirty="0"/>
              <a:t>或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i="1" dirty="0"/>
              <a:t>E</a:t>
            </a:r>
            <a:r>
              <a:rPr lang="en-US" altLang="zh-CN" dirty="0"/>
              <a:t>.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(3) 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生成子图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若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G </a:t>
            </a:r>
            <a:r>
              <a:rPr lang="zh-CN" altLang="en-US" dirty="0"/>
              <a:t>且</a:t>
            </a:r>
            <a:r>
              <a:rPr lang="en-US" altLang="zh-CN" i="1" dirty="0">
                <a:solidFill>
                  <a:srgbClr val="FF0000"/>
                </a:solidFill>
              </a:rPr>
              <a:t>V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V.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(4) G</a:t>
            </a:r>
            <a:r>
              <a:rPr lang="zh-CN" altLang="en-US" dirty="0"/>
              <a:t>的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导出子图</a:t>
            </a:r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]: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/>
              </a:rPr>
              <a:t></a:t>
            </a:r>
            <a:r>
              <a:rPr lang="en-US" altLang="zh-CN" i="1" dirty="0"/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,</a:t>
            </a:r>
            <a:r>
              <a:rPr lang="en-US" altLang="zh-CN" dirty="0"/>
              <a:t> </a:t>
            </a:r>
            <a:r>
              <a:rPr lang="zh-CN" altLang="en-US" dirty="0"/>
              <a:t>以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为顶点集</a:t>
            </a:r>
            <a:r>
              <a:rPr lang="en-US" altLang="zh-CN" dirty="0"/>
              <a:t>, </a:t>
            </a:r>
            <a:r>
              <a:rPr lang="zh-CN" altLang="en-US" dirty="0"/>
              <a:t>以两端点都在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中的边组成边集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zh-CN" altLang="en-US" dirty="0"/>
              <a:t>的图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(5) </a:t>
            </a:r>
            <a:r>
              <a:rPr lang="en-US" altLang="zh-CN" u="sng" dirty="0"/>
              <a:t>G</a:t>
            </a:r>
            <a:r>
              <a:rPr lang="zh-CN" altLang="en-US" u="sng" dirty="0"/>
              <a:t>的</a:t>
            </a:r>
            <a:r>
              <a:rPr lang="en-US" altLang="zh-CN" i="1" u="sng" dirty="0">
                <a:solidFill>
                  <a:srgbClr val="FF0000"/>
                </a:solidFill>
              </a:rPr>
              <a:t>E</a:t>
            </a:r>
            <a:r>
              <a:rPr lang="en-US" altLang="zh-CN" u="sng" baseline="-25000" dirty="0">
                <a:solidFill>
                  <a:srgbClr val="FF0000"/>
                </a:solidFill>
              </a:rPr>
              <a:t>1</a:t>
            </a:r>
            <a:r>
              <a:rPr lang="zh-CN" altLang="en-US" u="sng" dirty="0">
                <a:solidFill>
                  <a:srgbClr val="FF0000"/>
                </a:solidFill>
              </a:rPr>
              <a:t>导出子图</a:t>
            </a:r>
            <a:r>
              <a:rPr lang="en-US" altLang="zh-CN" i="1" u="sng" dirty="0">
                <a:solidFill>
                  <a:srgbClr val="FF0000"/>
                </a:solidFill>
              </a:rPr>
              <a:t>G</a:t>
            </a:r>
            <a:r>
              <a:rPr lang="en-US" altLang="zh-CN" u="sng" dirty="0">
                <a:solidFill>
                  <a:srgbClr val="FF0000"/>
                </a:solidFill>
              </a:rPr>
              <a:t>[</a:t>
            </a:r>
            <a:r>
              <a:rPr lang="en-US" altLang="zh-CN" i="1" u="sng" dirty="0">
                <a:solidFill>
                  <a:srgbClr val="FF0000"/>
                </a:solidFill>
              </a:rPr>
              <a:t>E</a:t>
            </a:r>
            <a:r>
              <a:rPr lang="en-US" altLang="zh-CN" u="sng" baseline="-25000" dirty="0">
                <a:solidFill>
                  <a:srgbClr val="FF0000"/>
                </a:solidFill>
              </a:rPr>
              <a:t>1</a:t>
            </a:r>
            <a:r>
              <a:rPr lang="en-US" altLang="zh-CN" u="sng" dirty="0">
                <a:solidFill>
                  <a:srgbClr val="FF0000"/>
                </a:solidFill>
              </a:rPr>
              <a:t>] : </a:t>
            </a:r>
            <a:r>
              <a:rPr lang="en-US" altLang="zh-CN" i="1" u="sng" dirty="0"/>
              <a:t>E</a:t>
            </a:r>
            <a:r>
              <a:rPr lang="en-US" altLang="zh-CN" u="sng" baseline="-25000" dirty="0"/>
              <a:t>1</a:t>
            </a:r>
            <a:r>
              <a:rPr lang="en-US" altLang="zh-CN" u="sng" dirty="0">
                <a:sym typeface="Symbol" panose="05050102010706020507"/>
              </a:rPr>
              <a:t></a:t>
            </a:r>
            <a:r>
              <a:rPr lang="en-US" altLang="zh-CN" i="1" u="sng" dirty="0"/>
              <a:t>E</a:t>
            </a:r>
            <a:r>
              <a:rPr lang="zh-CN" altLang="en-US" u="sng" dirty="0"/>
              <a:t>且</a:t>
            </a:r>
            <a:r>
              <a:rPr lang="en-US" altLang="zh-CN" i="1" u="sng" dirty="0"/>
              <a:t>E</a:t>
            </a:r>
            <a:r>
              <a:rPr lang="en-US" altLang="zh-CN" u="sng" baseline="-25000" dirty="0"/>
              <a:t>1</a:t>
            </a:r>
            <a:r>
              <a:rPr lang="en-US" altLang="zh-CN" u="sng" dirty="0">
                <a:sym typeface="Symbol" panose="05050102010706020507" pitchFamily="18" charset="2"/>
              </a:rPr>
              <a:t>,</a:t>
            </a:r>
            <a:r>
              <a:rPr lang="en-US" altLang="zh-CN" u="sng" dirty="0"/>
              <a:t> </a:t>
            </a:r>
            <a:r>
              <a:rPr lang="zh-CN" altLang="en-US" u="sng" dirty="0"/>
              <a:t>以</a:t>
            </a:r>
            <a:r>
              <a:rPr lang="en-US" altLang="zh-CN" i="1" u="sng" dirty="0"/>
              <a:t>E</a:t>
            </a:r>
            <a:r>
              <a:rPr lang="en-US" altLang="zh-CN" u="sng" baseline="-25000" dirty="0"/>
              <a:t>1</a:t>
            </a:r>
            <a:r>
              <a:rPr lang="zh-CN" altLang="en-US" u="sng" dirty="0"/>
              <a:t>为边集</a:t>
            </a:r>
            <a:r>
              <a:rPr lang="en-US" altLang="zh-CN" u="sng" dirty="0"/>
              <a:t>, </a:t>
            </a:r>
            <a:r>
              <a:rPr lang="zh-CN" altLang="en-US" u="sng" dirty="0"/>
              <a:t>以</a:t>
            </a:r>
            <a:r>
              <a:rPr lang="en-US" altLang="zh-CN" i="1" u="sng" dirty="0"/>
              <a:t>E</a:t>
            </a:r>
            <a:r>
              <a:rPr lang="en-US" altLang="zh-CN" u="sng" baseline="-25000" dirty="0"/>
              <a:t>1</a:t>
            </a:r>
            <a:r>
              <a:rPr lang="zh-CN" altLang="en-US" u="sng" dirty="0"/>
              <a:t>中的边关联的顶点为顶点集的图</a:t>
            </a:r>
            <a:r>
              <a:rPr lang="en-US" altLang="zh-CN" u="sng" dirty="0"/>
              <a:t>.</a:t>
            </a:r>
            <a:endParaRPr lang="zh-CN" altLang="en-US" u="sng" dirty="0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9374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图运算</a:t>
            </a:r>
            <a:r>
              <a:rPr lang="en-US" altLang="zh-CN" dirty="0"/>
              <a:t>II</a:t>
            </a:r>
            <a:endParaRPr lang="zh-CN" altLang="en-US" dirty="0"/>
          </a:p>
        </p:txBody>
      </p:sp>
      <p:sp>
        <p:nvSpPr>
          <p:cNvPr id="7170" name="内容占位符 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buNone/>
            </a:pPr>
            <a:r>
              <a:rPr lang="en-US" altLang="zh-CN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=&lt;V</a:t>
            </a:r>
            <a:r>
              <a:rPr lang="en-US" altLang="zh-CN" baseline="-25000" dirty="0"/>
              <a:t>1</a:t>
            </a:r>
            <a:r>
              <a:rPr lang="en-US" altLang="zh-CN" dirty="0"/>
              <a:t>,E</a:t>
            </a:r>
            <a:r>
              <a:rPr lang="en-US" altLang="zh-CN" baseline="-25000" dirty="0"/>
              <a:t>1</a:t>
            </a:r>
            <a:r>
              <a:rPr lang="en-US" altLang="zh-CN" dirty="0"/>
              <a:t>&gt;, G</a:t>
            </a:r>
            <a:r>
              <a:rPr lang="en-US" altLang="zh-CN" baseline="-25000" dirty="0"/>
              <a:t>2</a:t>
            </a:r>
            <a:r>
              <a:rPr lang="en-US" altLang="zh-CN" dirty="0"/>
              <a:t>=&lt;V</a:t>
            </a:r>
            <a:r>
              <a:rPr lang="en-US" altLang="zh-CN" baseline="-25000" dirty="0"/>
              <a:t>2</a:t>
            </a:r>
            <a:r>
              <a:rPr lang="en-US" altLang="zh-CN" dirty="0"/>
              <a:t>,E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zh-CN" altLang="en-US" dirty="0"/>
              <a:t>均为</a:t>
            </a:r>
            <a:r>
              <a:rPr lang="zh-CN" altLang="en-US" dirty="0">
                <a:solidFill>
                  <a:srgbClr val="FF0000"/>
                </a:solidFill>
              </a:rPr>
              <a:t>无孤立结点</a:t>
            </a:r>
            <a:r>
              <a:rPr lang="zh-CN" altLang="en-US" dirty="0"/>
              <a:t>的图，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并图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∪G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∪E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∪E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中边关联的顶点组成的集合为顶点集的图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交图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∩G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∩E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∩E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差图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-G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-E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-E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zh-CN" altLang="en-US" u="sng" dirty="0">
                <a:solidFill>
                  <a:srgbClr val="FF0000"/>
                </a:solidFill>
              </a:rPr>
              <a:t>环和</a:t>
            </a:r>
            <a:r>
              <a:rPr lang="en-US" altLang="zh-CN" u="sng" dirty="0">
                <a:solidFill>
                  <a:srgbClr val="FF0000"/>
                </a:solidFill>
              </a:rPr>
              <a:t>G</a:t>
            </a:r>
            <a:r>
              <a:rPr lang="en-US" altLang="zh-CN" u="sng" baseline="-25000" dirty="0">
                <a:solidFill>
                  <a:srgbClr val="FF0000"/>
                </a:solidFill>
              </a:rPr>
              <a:t>1</a:t>
            </a:r>
            <a:r>
              <a:rPr lang="en-US" altLang="zh-CN" u="sng" dirty="0">
                <a:solidFill>
                  <a:srgbClr val="FF0000"/>
                </a:solidFill>
                <a:sym typeface="Symbol" panose="05050102010706020507"/>
              </a:rPr>
              <a:t></a:t>
            </a:r>
            <a:r>
              <a:rPr lang="en-US" altLang="zh-CN" u="sng" dirty="0">
                <a:solidFill>
                  <a:srgbClr val="FF0000"/>
                </a:solidFill>
              </a:rPr>
              <a:t>G</a:t>
            </a:r>
            <a:r>
              <a:rPr lang="en-US" altLang="zh-CN" u="sng" baseline="-25000" dirty="0">
                <a:solidFill>
                  <a:srgbClr val="FF0000"/>
                </a:solidFill>
              </a:rPr>
              <a:t>2</a:t>
            </a:r>
            <a:r>
              <a:rPr lang="en-US" altLang="zh-CN" u="sng" dirty="0">
                <a:solidFill>
                  <a:srgbClr val="FF0000"/>
                </a:solidFill>
              </a:rPr>
              <a:t>:</a:t>
            </a:r>
            <a:r>
              <a:rPr lang="zh-CN" altLang="en-US" u="sng" dirty="0"/>
              <a:t>以</a:t>
            </a:r>
            <a:r>
              <a:rPr lang="en-US" altLang="zh-CN" u="sng" dirty="0"/>
              <a:t>E</a:t>
            </a:r>
            <a:r>
              <a:rPr lang="en-US" altLang="zh-CN" u="sng" baseline="-25000" dirty="0"/>
              <a:t>1</a:t>
            </a:r>
            <a:r>
              <a:rPr lang="en-US" altLang="zh-CN" u="sng" dirty="0">
                <a:sym typeface="Symbol" panose="05050102010706020507"/>
              </a:rPr>
              <a:t></a:t>
            </a:r>
            <a:r>
              <a:rPr lang="en-US" altLang="zh-CN" u="sng" dirty="0"/>
              <a:t>E</a:t>
            </a:r>
            <a:r>
              <a:rPr lang="en-US" altLang="zh-CN" u="sng" baseline="-25000" dirty="0"/>
              <a:t>2</a:t>
            </a:r>
            <a:r>
              <a:rPr lang="zh-CN" altLang="en-US" u="sng" dirty="0"/>
              <a:t>为边集</a:t>
            </a:r>
            <a:r>
              <a:rPr lang="en-US" altLang="zh-CN" u="sng" dirty="0"/>
              <a:t>, </a:t>
            </a:r>
            <a:r>
              <a:rPr lang="zh-CN" altLang="en-US" u="sng" dirty="0"/>
              <a:t>以</a:t>
            </a:r>
            <a:r>
              <a:rPr lang="en-US" altLang="zh-CN" u="sng" dirty="0"/>
              <a:t>E</a:t>
            </a:r>
            <a:r>
              <a:rPr lang="en-US" altLang="zh-CN" u="sng" baseline="-25000" dirty="0"/>
              <a:t>1</a:t>
            </a:r>
            <a:r>
              <a:rPr lang="en-US" altLang="zh-CN" u="sng" dirty="0">
                <a:sym typeface="Symbol" panose="05050102010706020507"/>
              </a:rPr>
              <a:t></a:t>
            </a:r>
            <a:r>
              <a:rPr lang="en-US" altLang="zh-CN" u="sng" dirty="0"/>
              <a:t>E</a:t>
            </a:r>
            <a:r>
              <a:rPr lang="en-US" altLang="zh-CN" u="sng" baseline="-25000" dirty="0"/>
              <a:t>2</a:t>
            </a:r>
            <a:r>
              <a:rPr lang="zh-CN" altLang="en-US" u="sng" dirty="0"/>
              <a:t>中边关联的顶点组成的集合为顶点集</a:t>
            </a:r>
            <a:r>
              <a:rPr lang="en-US" altLang="zh-CN" u="sng" dirty="0"/>
              <a:t>.</a:t>
            </a:r>
            <a:endParaRPr lang="en-US" altLang="zh-CN" u="sng" dirty="0"/>
          </a:p>
        </p:txBody>
      </p:sp>
      <p:sp>
        <p:nvSpPr>
          <p:cNvPr id="7171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环路空间和断集空间</a:t>
            </a:r>
            <a:endParaRPr lang="zh-CN" altLang="en-US"/>
          </a:p>
        </p:txBody>
      </p:sp>
      <p:sp>
        <p:nvSpPr>
          <p:cNvPr id="4098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620125" cy="5256213"/>
          </a:xfrm>
        </p:spPr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设无向</a:t>
            </a:r>
            <a:r>
              <a:rPr kumimoji="0" lang="zh-CN" altLang="en-US" sz="2800" b="1" i="0" u="none" strike="noStrike" kern="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标定图</a:t>
            </a:r>
            <a:r>
              <a:rPr kumimoji="0" lang="en-US" altLang="zh-CN" sz="28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G=&lt;V,E&gt;</a:t>
            </a:r>
            <a:r>
              <a:rPr kumimoji="0" lang="zh-CN" altLang="en-US" sz="2800" b="1" i="0" u="none" strike="noStrike" kern="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无孤立顶点</a:t>
            </a:r>
            <a:r>
              <a:rPr kumimoji="0" lang="zh-CN" altLang="en-US" sz="28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。若将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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也看成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G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的边导出子图，则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G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共有2</a:t>
            </a:r>
            <a:r>
              <a:rPr kumimoji="0" lang="en-US" altLang="zh-CN" sz="2800" b="1" i="0" u="none" strike="noStrike" kern="0" cap="none" spc="0" normalizeH="0" baseline="30000" noProof="1">
                <a:solidFill>
                  <a:schemeClr val="tx1"/>
                </a:solidFill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个不同的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边导出子图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，记：</a:t>
            </a:r>
            <a:endParaRPr kumimoji="0" lang="en-US" altLang="zh-CN" sz="28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en-US" altLang="zh-CN" sz="2800" b="1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={G</a:t>
            </a:r>
            <a:r>
              <a:rPr kumimoji="0" lang="en-US" altLang="zh-CN" sz="2800" b="1" i="0" u="none" strike="noStrike" kern="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, G</a:t>
            </a:r>
            <a:r>
              <a:rPr kumimoji="0" lang="en-US" altLang="zh-CN" sz="2800" b="1" i="0" u="none" strike="noStrike" kern="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,…, G</a:t>
            </a:r>
            <a:r>
              <a:rPr kumimoji="0" lang="en-US" altLang="zh-CN" sz="2800" b="1" i="0" u="none" strike="noStrike" kern="0" cap="none" spc="0" normalizeH="0" baseline="-3500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0" lang="en-US" altLang="zh-CN" sz="2800" b="1" i="0" u="none" strike="noStrike" kern="0" cap="none" spc="0" normalizeH="0" baseline="-1500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},</a:t>
            </a:r>
            <a:r>
              <a:rPr kumimoji="0" lang="en-US" altLang="zh-CN" sz="2800" b="1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=|E(G)|</a:t>
            </a: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1. 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环路空间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2. 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断集空间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81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/>
              <a:t>9.3 </a:t>
            </a:r>
            <a:r>
              <a:rPr lang="zh-CN" altLang="en-US"/>
              <a:t>环路空间</a:t>
            </a:r>
            <a:endParaRPr lang="zh-CN" altLang="en-US"/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环路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G</a:t>
            </a:r>
            <a:r>
              <a:rPr lang="zh-CN" altLang="en-US"/>
              <a:t>中圈或若干个边不重的圈的并</a:t>
            </a:r>
            <a:endParaRPr lang="zh-CN" altLang="en-US"/>
          </a:p>
          <a:p>
            <a:r>
              <a:rPr lang="zh-CN" altLang="en-US"/>
              <a:t>规定</a:t>
            </a:r>
            <a:r>
              <a:rPr lang="en-US" altLang="zh-CN"/>
              <a:t>: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zh-CN" altLang="en-US">
                <a:sym typeface="Symbol" panose="05050102010706020507" pitchFamily="18" charset="2"/>
              </a:rPr>
              <a:t>是环路</a:t>
            </a:r>
            <a:endParaRPr lang="zh-CN" altLang="en-US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回路都是环路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但环路不一定是回路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zh-CN" altLang="en-US" baseline="-25000">
                <a:sym typeface="Symbol" panose="05050102010706020507" pitchFamily="18" charset="2"/>
              </a:rPr>
              <a:t>环</a:t>
            </a:r>
            <a:r>
              <a:rPr lang="en-US" altLang="zh-CN">
                <a:sym typeface="Symbol" panose="05050102010706020507" pitchFamily="18" charset="2"/>
              </a:rPr>
              <a:t>:G</a:t>
            </a:r>
            <a:r>
              <a:rPr lang="zh-CN" altLang="en-US">
                <a:sym typeface="Symbol" panose="05050102010706020507" pitchFamily="18" charset="2"/>
              </a:rPr>
              <a:t>中所有环路的集合</a:t>
            </a:r>
            <a:endParaRPr lang="zh-CN" altLang="en-US">
              <a:sym typeface="Symbol" panose="05050102010706020507" pitchFamily="18" charset="2"/>
            </a:endParaRPr>
          </a:p>
          <a:p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9.10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9.9</a:t>
            </a:r>
            <a:r>
              <a:rPr lang="en-US" altLang="zh-CN"/>
              <a:t>    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</a:t>
            </a:r>
            <a:r>
              <a:rPr lang="en-US" altLang="zh-CN" i="1">
                <a:sym typeface="Symbol" panose="05050102010706020507" pitchFamily="18" charset="2"/>
              </a:rPr>
              <a:t>m</a:t>
            </a:r>
            <a:r>
              <a:rPr lang="zh-CN" altLang="en-US">
                <a:sym typeface="Symbol" panose="05050102010706020507" pitchFamily="18" charset="2"/>
              </a:rPr>
              <a:t>条边的无向连通图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的生成树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C</a:t>
            </a:r>
            <a:r>
              <a:rPr lang="zh-CN" altLang="en-US" baseline="-25000">
                <a:solidFill>
                  <a:srgbClr val="FF00FF"/>
                </a:solidFill>
                <a:sym typeface="Symbol" panose="05050102010706020507" pitchFamily="18" charset="2"/>
              </a:rPr>
              <a:t>基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对应的基本回路系统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则对于任意的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m-n+1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zh-CN" altLang="en-US" baseline="-25000">
                <a:sym typeface="Symbol" panose="05050102010706020507" pitchFamily="18" charset="2"/>
              </a:rPr>
              <a:t>基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必有它们对应的弦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,… ,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r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m-n+1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zh-CN" altLang="en-US">
                <a:sym typeface="Symbol" panose="05050102010706020507" pitchFamily="18" charset="2"/>
              </a:rPr>
              <a:t>均在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2000">
                <a:sym typeface="Symbol" panose="05050102010706020507" pitchFamily="18" charset="2"/>
              </a:rPr>
              <a:t>1</a:t>
            </a:r>
            <a:r>
              <a:rPr lang="en-US" altLang="zh-CN" baseline="-50000"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 …  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m-n+1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其中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zh-CN" altLang="en-US">
                <a:sym typeface="Symbol" panose="05050102010706020507" pitchFamily="18" charset="2"/>
              </a:rPr>
              <a:t>为图之间的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环和</a:t>
            </a:r>
            <a:r>
              <a:rPr lang="zh-CN" altLang="en-US">
                <a:sym typeface="Symbol" panose="05050102010706020507" pitchFamily="18" charset="2"/>
              </a:rPr>
              <a:t>运算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9.10</a:t>
            </a:r>
            <a:r>
              <a:rPr lang="en-US" altLang="zh-CN">
                <a:sym typeface="Symbol" panose="05050102010706020507" pitchFamily="18" charset="2"/>
              </a:rPr>
              <a:t>  </a:t>
            </a:r>
            <a:r>
              <a:rPr lang="zh-CN" altLang="en-US">
                <a:sym typeface="Symbol" panose="05050102010706020507" pitchFamily="18" charset="2"/>
              </a:rPr>
              <a:t>设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 baseline="-25000"/>
              <a:t>2</a:t>
            </a:r>
            <a:r>
              <a:rPr lang="zh-CN" altLang="en-US"/>
              <a:t>为无向图</a:t>
            </a:r>
            <a:r>
              <a:rPr lang="en-US" altLang="zh-CN"/>
              <a:t>G</a:t>
            </a:r>
            <a:r>
              <a:rPr lang="zh-CN" altLang="en-US"/>
              <a:t>的任意</a:t>
            </a:r>
            <a:r>
              <a:rPr lang="zh-CN" altLang="en-US">
                <a:solidFill>
                  <a:srgbClr val="FF00FF"/>
                </a:solidFill>
              </a:rPr>
              <a:t>两个回路</a:t>
            </a:r>
            <a:r>
              <a:rPr lang="en-US" altLang="zh-CN"/>
              <a:t>,</a:t>
            </a:r>
            <a:r>
              <a:rPr lang="zh-CN" altLang="en-US"/>
              <a:t>则环和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中环路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推论</a:t>
            </a:r>
            <a:r>
              <a:rPr lang="zh-CN" altLang="en-US">
                <a:sym typeface="Symbol" panose="05050102010706020507" pitchFamily="18" charset="2"/>
              </a:rPr>
              <a:t>  设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 baseline="-25000"/>
              <a:t>2</a:t>
            </a:r>
            <a:r>
              <a:rPr lang="zh-CN" altLang="en-US"/>
              <a:t>为无向图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两个环路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中环路</a:t>
            </a:r>
            <a:r>
              <a:rPr lang="en-US" altLang="zh-CN">
                <a:sym typeface="Symbol" panose="05050102010706020507" pitchFamily="18" charset="2"/>
              </a:rPr>
              <a:t>.(</a:t>
            </a:r>
            <a:r>
              <a:rPr lang="zh-CN" altLang="en-US">
                <a:sym typeface="Symbol" panose="05050102010706020507" pitchFamily="18" charset="2"/>
              </a:rPr>
              <a:t>环路对环和运算时封闭的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endParaRPr lang="zh-CN" altLang="en-US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9.10</a:t>
            </a:r>
            <a:r>
              <a:rPr lang="zh-CN" altLang="en-US"/>
              <a:t>的证明</a:t>
            </a:r>
            <a:endParaRPr lang="en-US" altLang="zh-CN"/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证 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/>
              <a:t>=C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=, </a:t>
            </a:r>
            <a:r>
              <a:rPr lang="zh-CN" altLang="en-US">
                <a:sym typeface="Symbol" panose="05050102010706020507" pitchFamily="18" charset="2"/>
              </a:rPr>
              <a:t>是环路</a:t>
            </a:r>
            <a:r>
              <a:rPr lang="en-US" altLang="zh-CN">
                <a:sym typeface="Symbol" panose="05050102010706020507" pitchFamily="18" charset="2"/>
              </a:rPr>
              <a:t>;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zh-CN" altLang="en-US"/>
              <a:t>显然</a:t>
            </a:r>
            <a:r>
              <a:rPr lang="en-US" altLang="zh-CN"/>
              <a:t>E(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E(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  ,</a:t>
            </a:r>
            <a:r>
              <a:rPr lang="zh-CN" altLang="en-US">
                <a:sym typeface="Symbol" panose="05050102010706020507" pitchFamily="18" charset="2"/>
              </a:rPr>
              <a:t>从而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  ,</a:t>
            </a:r>
            <a:r>
              <a:rPr lang="zh-CN" altLang="en-US">
                <a:sym typeface="Symbol" panose="05050102010706020507" pitchFamily="18" charset="2"/>
              </a:rPr>
              <a:t>下面证明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中的各连通分支都是欧拉图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即只需证明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>
                <a:sym typeface="Symbol" panose="05050102010706020507" pitchFamily="18" charset="2"/>
              </a:rPr>
              <a:t>V(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),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d</a:t>
            </a:r>
            <a:r>
              <a:rPr lang="en-US" altLang="zh-CN" i="1" baseline="-15000"/>
              <a:t>C</a:t>
            </a:r>
            <a:r>
              <a:rPr lang="en-US" altLang="zh-CN" baseline="-30000"/>
              <a:t>1</a:t>
            </a:r>
            <a:r>
              <a:rPr lang="en-US" altLang="zh-CN" baseline="-15000">
                <a:sym typeface="Symbol" panose="05050102010706020507" pitchFamily="18" charset="2"/>
              </a:rPr>
              <a:t></a:t>
            </a:r>
            <a:r>
              <a:rPr lang="en-US" altLang="zh-CN" i="1" baseline="-15000">
                <a:sym typeface="Symbol" panose="05050102010706020507" pitchFamily="18" charset="2"/>
              </a:rPr>
              <a:t>C</a:t>
            </a:r>
            <a:r>
              <a:rPr lang="en-US" altLang="zh-CN" baseline="-3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为非零偶数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V(</a:t>
            </a:r>
            <a:r>
              <a:rPr lang="en-US" altLang="zh-CN" i="1">
                <a:solidFill>
                  <a:srgbClr val="FF0000"/>
                </a:solidFill>
              </a:rPr>
              <a:t>C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)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 v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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V(</a:t>
            </a:r>
            <a:r>
              <a:rPr lang="en-US" altLang="zh-CN" i="1">
                <a:solidFill>
                  <a:srgbClr val="FF0000"/>
                </a:solidFill>
              </a:rPr>
              <a:t>C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或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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V(</a:t>
            </a:r>
            <a:r>
              <a:rPr lang="en-US" altLang="zh-CN" i="1">
                <a:solidFill>
                  <a:srgbClr val="FF0000"/>
                </a:solidFill>
              </a:rPr>
              <a:t>C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)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V(</a:t>
            </a:r>
            <a:r>
              <a:rPr lang="en-US" altLang="zh-CN" i="1">
                <a:solidFill>
                  <a:srgbClr val="FF0000"/>
                </a:solidFill>
              </a:rPr>
              <a:t>C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显</a:t>
            </a:r>
            <a:r>
              <a:rPr lang="en-US" altLang="zh-CN">
                <a:sym typeface="Symbol" panose="05050102010706020507" pitchFamily="18" charset="2"/>
              </a:rPr>
              <a:t>d</a:t>
            </a:r>
            <a:r>
              <a:rPr lang="en-US" altLang="zh-CN" i="1" baseline="-15000"/>
              <a:t>C</a:t>
            </a:r>
            <a:r>
              <a:rPr lang="en-US" altLang="zh-CN" baseline="-30000"/>
              <a:t>1</a:t>
            </a:r>
            <a:r>
              <a:rPr lang="en-US" altLang="zh-CN" baseline="-15000">
                <a:sym typeface="Symbol" panose="05050102010706020507" pitchFamily="18" charset="2"/>
              </a:rPr>
              <a:t></a:t>
            </a:r>
            <a:r>
              <a:rPr lang="en-US" altLang="zh-CN" i="1" baseline="-15000">
                <a:sym typeface="Symbol" panose="05050102010706020507" pitchFamily="18" charset="2"/>
              </a:rPr>
              <a:t>C</a:t>
            </a:r>
            <a:r>
              <a:rPr lang="en-US" altLang="zh-CN" baseline="-3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为非零偶数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/>
              <a:t>若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V(</a:t>
            </a:r>
            <a:r>
              <a:rPr lang="en-US" altLang="zh-CN" i="1">
                <a:solidFill>
                  <a:srgbClr val="FF0000"/>
                </a:solidFill>
              </a:rPr>
              <a:t>C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)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V(</a:t>
            </a:r>
            <a:r>
              <a:rPr lang="en-US" altLang="zh-CN" i="1">
                <a:solidFill>
                  <a:srgbClr val="FF0000"/>
                </a:solidFill>
              </a:rPr>
              <a:t>C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如果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zh-CN" altLang="en-US">
                <a:sym typeface="Symbol" panose="05050102010706020507" pitchFamily="18" charset="2"/>
              </a:rPr>
              <a:t>关联的边中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有环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只在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中或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作为圈在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en-US" altLang="zh-CN">
                <a:sym typeface="Symbol" panose="05050102010706020507" pitchFamily="18" charset="2"/>
              </a:rPr>
              <a:t>;</a:t>
            </a:r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既在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中也在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>
                <a:sym typeface="Symbol" panose="05050102010706020507" pitchFamily="18" charset="2"/>
              </a:rPr>
              <a:t>e 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所以不影响</a:t>
            </a:r>
            <a:r>
              <a:rPr lang="en-US" altLang="zh-CN">
                <a:sym typeface="Symbol" panose="05050102010706020507" pitchFamily="18" charset="2"/>
              </a:rPr>
              <a:t>d</a:t>
            </a:r>
            <a:r>
              <a:rPr lang="en-US" altLang="zh-CN" i="1" baseline="-15000"/>
              <a:t>C</a:t>
            </a:r>
            <a:r>
              <a:rPr lang="en-US" altLang="zh-CN" baseline="-30000"/>
              <a:t>1</a:t>
            </a:r>
            <a:r>
              <a:rPr lang="en-US" altLang="zh-CN" baseline="-15000">
                <a:sym typeface="Symbol" panose="05050102010706020507" pitchFamily="18" charset="2"/>
              </a:rPr>
              <a:t></a:t>
            </a:r>
            <a:r>
              <a:rPr lang="en-US" altLang="zh-CN" i="1" baseline="-15000">
                <a:sym typeface="Symbol" panose="05050102010706020507" pitchFamily="18" charset="2"/>
              </a:rPr>
              <a:t>C</a:t>
            </a:r>
            <a:r>
              <a:rPr lang="en-US" altLang="zh-CN" baseline="-3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的奇偶性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zh-CN" altLang="en-US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9.10</a:t>
            </a:r>
            <a:r>
              <a:rPr lang="zh-CN" altLang="en-US"/>
              <a:t>的证明</a:t>
            </a:r>
            <a:endParaRPr lang="en-US" altLang="zh-CN"/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证 </a:t>
            </a:r>
            <a:r>
              <a:rPr lang="zh-CN" altLang="en-US">
                <a:sym typeface="Symbol" panose="05050102010706020507" pitchFamily="18" charset="2"/>
              </a:rPr>
              <a:t>如果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zh-CN" altLang="en-US">
                <a:sym typeface="Symbol" panose="05050102010706020507" pitchFamily="18" charset="2"/>
              </a:rPr>
              <a:t>关联的边中无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环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设 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中有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条边与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zh-CN" altLang="en-US">
                <a:sym typeface="Symbol" panose="05050102010706020507" pitchFamily="18" charset="2"/>
              </a:rPr>
              <a:t>关联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中有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zh-CN" altLang="en-US">
                <a:sym typeface="Symbol" panose="05050102010706020507" pitchFamily="18" charset="2"/>
              </a:rPr>
              <a:t>条边与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zh-CN" altLang="en-US">
                <a:sym typeface="Symbol" panose="05050102010706020507" pitchFamily="18" charset="2"/>
              </a:rPr>
              <a:t>关联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其中有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条边既在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中也在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zh-CN" altLang="en-US">
                <a:sym typeface="Symbol" panose="05050102010706020507" pitchFamily="18" charset="2"/>
              </a:rPr>
              <a:t>都是偶数且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ym typeface="Symbol" panose="05050102010706020507" pitchFamily="18" charset="2"/>
              </a:rPr>
              <a:t> 2,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min{</a:t>
            </a:r>
            <a:r>
              <a:rPr lang="en-US" altLang="zh-CN" i="1"/>
              <a:t>r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},</a:t>
            </a:r>
            <a:r>
              <a:rPr lang="zh-CN" altLang="en-US"/>
              <a:t>则</a:t>
            </a:r>
            <a:r>
              <a:rPr lang="en-US" altLang="zh-CN">
                <a:sym typeface="Symbol" panose="05050102010706020507" pitchFamily="18" charset="2"/>
              </a:rPr>
              <a:t>d</a:t>
            </a:r>
            <a:r>
              <a:rPr lang="en-US" altLang="zh-CN" i="1" baseline="-15000"/>
              <a:t>C</a:t>
            </a:r>
            <a:r>
              <a:rPr lang="en-US" altLang="zh-CN" baseline="-30000"/>
              <a:t>1</a:t>
            </a:r>
            <a:r>
              <a:rPr lang="en-US" altLang="zh-CN" baseline="-15000">
                <a:sym typeface="Symbol" panose="05050102010706020507" pitchFamily="18" charset="2"/>
              </a:rPr>
              <a:t></a:t>
            </a:r>
            <a:r>
              <a:rPr lang="en-US" altLang="zh-CN" i="1" baseline="-15000">
                <a:sym typeface="Symbol" panose="05050102010706020507" pitchFamily="18" charset="2"/>
              </a:rPr>
              <a:t>C</a:t>
            </a:r>
            <a:r>
              <a:rPr lang="en-US" altLang="zh-CN" baseline="-3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>
                <a:sym typeface="Symbol" panose="05050102010706020507" pitchFamily="18" charset="2"/>
              </a:rPr>
              <a:t>) =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ym typeface="Symbol" panose="05050102010706020507" pitchFamily="18" charset="2"/>
              </a:rPr>
              <a:t>-2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&gt;0</a:t>
            </a:r>
            <a:r>
              <a:rPr lang="zh-CN" altLang="en-US">
                <a:sym typeface="Symbol" panose="05050102010706020507" pitchFamily="18" charset="2"/>
              </a:rPr>
              <a:t>且为偶数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所以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中各连通分支都是欧拉图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即各连通分支都是若干个边不重的圈的并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因此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也是若干个边不重的圈的并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即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为环路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9.11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为无向连通图</a:t>
            </a:r>
            <a:r>
              <a:rPr lang="en-US" altLang="zh-CN"/>
              <a:t>,</a:t>
            </a:r>
            <a:r>
              <a:rPr lang="en-US" altLang="zh-CN">
                <a:solidFill>
                  <a:srgbClr val="FF00FF"/>
                </a:solidFill>
              </a:rPr>
              <a:t>T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的任意一棵生成树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</a:t>
            </a:r>
            <a:r>
              <a:rPr lang="zh-CN" altLang="en-US">
                <a:solidFill>
                  <a:srgbClr val="FF00FF"/>
                </a:solidFill>
              </a:rPr>
              <a:t>任一回路</a:t>
            </a:r>
            <a:r>
              <a:rPr lang="zh-CN" altLang="en-US"/>
              <a:t>或为</a:t>
            </a:r>
            <a:r>
              <a:rPr lang="en-US" altLang="zh-CN"/>
              <a:t>T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基本回路</a:t>
            </a:r>
            <a:r>
              <a:rPr lang="zh-CN" altLang="en-US"/>
              <a:t>或为</a:t>
            </a:r>
            <a:r>
              <a:rPr lang="zh-CN" altLang="en-US">
                <a:solidFill>
                  <a:srgbClr val="FF00FF"/>
                </a:solidFill>
              </a:rPr>
              <a:t>若干个基本回路的环和</a:t>
            </a:r>
            <a:r>
              <a:rPr lang="en-US" altLang="zh-CN">
                <a:solidFill>
                  <a:srgbClr val="FF00FF"/>
                </a:solidFill>
              </a:rPr>
              <a:t>.</a:t>
            </a:r>
            <a:endParaRPr lang="en-US" altLang="zh-CN">
              <a:solidFill>
                <a:srgbClr val="FF00FF"/>
              </a:solidFill>
            </a:endParaRPr>
          </a:p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en-US" altLang="zh-CN"/>
              <a:t>  </a:t>
            </a:r>
            <a:r>
              <a:rPr lang="zh-CN" altLang="en-US"/>
              <a:t>无向连通图</a:t>
            </a:r>
            <a:r>
              <a:rPr lang="en-US" altLang="zh-CN"/>
              <a:t>G</a:t>
            </a:r>
            <a:r>
              <a:rPr lang="zh-CN" altLang="en-US"/>
              <a:t>中</a:t>
            </a:r>
            <a:r>
              <a:rPr lang="zh-CN" altLang="en-US">
                <a:solidFill>
                  <a:srgbClr val="FF00FF"/>
                </a:solidFill>
              </a:rPr>
              <a:t>任一环路</a:t>
            </a:r>
            <a:r>
              <a:rPr lang="zh-CN" altLang="en-US"/>
              <a:t>或为某棵生成树的基本回路或为若干个基本回路的环和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 i="1"/>
              <a:t>m</a:t>
            </a:r>
            <a:r>
              <a:rPr lang="zh-CN" altLang="en-US"/>
              <a:t>条边的无向连通图</a:t>
            </a:r>
            <a:r>
              <a:rPr lang="en-US" altLang="zh-CN"/>
              <a:t>,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中有</a:t>
            </a:r>
            <a:r>
              <a:rPr lang="en-US" altLang="zh-CN"/>
              <a:t>s</a:t>
            </a:r>
            <a:r>
              <a:rPr lang="zh-CN" altLang="en-US"/>
              <a:t>个回路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m</a:t>
            </a:r>
            <a:r>
              <a:rPr lang="en-US" altLang="zh-CN"/>
              <a:t>-</a:t>
            </a:r>
            <a:r>
              <a:rPr lang="en-US" altLang="zh-CN" i="1"/>
              <a:t>n</a:t>
            </a:r>
            <a:r>
              <a:rPr lang="en-US" altLang="zh-CN"/>
              <a:t>+1</a:t>
            </a:r>
            <a:r>
              <a:rPr lang="en-US" altLang="zh-CN">
                <a:sym typeface="Symbol" panose="05050102010706020507" pitchFamily="18" charset="2"/>
              </a:rPr>
              <a:t>s 2</a:t>
            </a:r>
            <a:r>
              <a:rPr lang="en-US" altLang="zh-CN" i="1" baseline="30000">
                <a:sym typeface="Symbol" panose="05050102010706020507" pitchFamily="18" charset="2"/>
              </a:rPr>
              <a:t>m</a:t>
            </a:r>
            <a:r>
              <a:rPr lang="en-US" altLang="zh-CN" baseline="30000">
                <a:sym typeface="Symbol" panose="05050102010706020507" pitchFamily="18" charset="2"/>
              </a:rPr>
              <a:t>-</a:t>
            </a:r>
            <a:r>
              <a:rPr lang="en-US" altLang="zh-CN" i="1" baseline="30000">
                <a:sym typeface="Symbol" panose="05050102010706020507" pitchFamily="18" charset="2"/>
              </a:rPr>
              <a:t>n</a:t>
            </a:r>
            <a:r>
              <a:rPr lang="en-US" altLang="zh-CN" baseline="30000">
                <a:sym typeface="Symbol" panose="05050102010706020507" pitchFamily="18" charset="2"/>
              </a:rPr>
              <a:t>+1</a:t>
            </a:r>
            <a:r>
              <a:rPr lang="en-US" altLang="zh-CN">
                <a:sym typeface="Symbol" panose="05050102010706020507" pitchFamily="18" charset="2"/>
              </a:rPr>
              <a:t>-1.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推论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 i="1"/>
              <a:t>m</a:t>
            </a:r>
            <a:r>
              <a:rPr lang="zh-CN" altLang="en-US"/>
              <a:t>条边的无向连通图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中环路总数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s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2</a:t>
            </a:r>
            <a:r>
              <a:rPr lang="en-US" altLang="zh-CN" i="1" baseline="30000">
                <a:sym typeface="Symbol" panose="05050102010706020507" pitchFamily="18" charset="2"/>
              </a:rPr>
              <a:t>m</a:t>
            </a:r>
            <a:r>
              <a:rPr lang="en-US" altLang="zh-CN" baseline="30000">
                <a:sym typeface="Symbol" panose="05050102010706020507" pitchFamily="18" charset="2"/>
              </a:rPr>
              <a:t>-</a:t>
            </a:r>
            <a:r>
              <a:rPr lang="en-US" altLang="zh-CN" i="1" baseline="30000">
                <a:sym typeface="Symbol" panose="05050102010706020507" pitchFamily="18" charset="2"/>
              </a:rPr>
              <a:t>n</a:t>
            </a:r>
            <a:r>
              <a:rPr lang="en-US" altLang="zh-CN" baseline="30000">
                <a:sym typeface="Symbol" panose="05050102010706020507" pitchFamily="18" charset="2"/>
              </a:rPr>
              <a:t>+1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charRg st="10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9.11</a:t>
            </a:r>
            <a:r>
              <a:rPr lang="zh-CN" altLang="en-US"/>
              <a:t>的证明</a:t>
            </a:r>
            <a:endParaRPr lang="en-US" altLang="zh-CN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>
              <a:spcBef>
                <a:spcPts val="415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为无向连通图</a:t>
            </a:r>
            <a:r>
              <a:rPr lang="en-US" altLang="zh-CN"/>
              <a:t>,</a:t>
            </a:r>
            <a:r>
              <a:rPr lang="en-US" altLang="zh-CN">
                <a:solidFill>
                  <a:srgbClr val="FF00FF"/>
                </a:solidFill>
              </a:rPr>
              <a:t>T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的任意一棵生成树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</a:t>
            </a:r>
            <a:r>
              <a:rPr lang="zh-CN" altLang="en-US">
                <a:solidFill>
                  <a:srgbClr val="FF00FF"/>
                </a:solidFill>
              </a:rPr>
              <a:t>任一回路</a:t>
            </a:r>
            <a:r>
              <a:rPr lang="zh-CN" altLang="en-US"/>
              <a:t>或为</a:t>
            </a:r>
            <a:r>
              <a:rPr lang="en-US" altLang="zh-CN"/>
              <a:t>T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基本回路</a:t>
            </a:r>
            <a:r>
              <a:rPr lang="zh-CN" altLang="en-US"/>
              <a:t>或为</a:t>
            </a:r>
            <a:r>
              <a:rPr lang="zh-CN" altLang="en-US">
                <a:solidFill>
                  <a:srgbClr val="FF00FF"/>
                </a:solidFill>
              </a:rPr>
              <a:t>若干个基本回路的环和</a:t>
            </a:r>
            <a:r>
              <a:rPr lang="en-US" altLang="zh-CN">
                <a:solidFill>
                  <a:srgbClr val="FF00FF"/>
                </a:solidFill>
              </a:rPr>
              <a:t>.</a:t>
            </a:r>
            <a:endParaRPr lang="en-US" altLang="zh-CN">
              <a:solidFill>
                <a:srgbClr val="FF00FF"/>
              </a:solidFill>
            </a:endParaRPr>
          </a:p>
          <a:p>
            <a:pPr marL="0">
              <a:spcBef>
                <a:spcPts val="415"/>
              </a:spcBef>
              <a:buNone/>
            </a:pPr>
            <a:r>
              <a:rPr lang="zh-CN" altLang="en-US"/>
              <a:t>证 设</a:t>
            </a:r>
            <a:r>
              <a:rPr lang="en-US" altLang="zh-CN"/>
              <a:t>C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中的一个回路</a:t>
            </a:r>
            <a:r>
              <a:rPr lang="en-US" altLang="zh-CN"/>
              <a:t>,</a:t>
            </a:r>
            <a:r>
              <a:rPr lang="zh-CN" altLang="en-US"/>
              <a:t>如果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>
                <a:solidFill>
                  <a:srgbClr val="FF0000"/>
                </a:solidFill>
              </a:rPr>
              <a:t>只含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zh-CN" altLang="en-US">
                <a:solidFill>
                  <a:srgbClr val="FF0000"/>
                </a:solidFill>
              </a:rPr>
              <a:t>的一条弦</a:t>
            </a:r>
            <a:r>
              <a:rPr lang="en-US" altLang="zh-CN">
                <a:solidFill>
                  <a:srgbClr val="FF0000"/>
                </a:solidFill>
              </a:rPr>
              <a:t>,</a:t>
            </a:r>
            <a:r>
              <a:rPr lang="zh-CN" altLang="en-US"/>
              <a:t>则</a:t>
            </a:r>
            <a:r>
              <a:rPr lang="en-US" altLang="zh-CN"/>
              <a:t>C</a:t>
            </a:r>
            <a:r>
              <a:rPr lang="zh-CN" altLang="en-US"/>
              <a:t>是</a:t>
            </a:r>
            <a:r>
              <a:rPr lang="en-US" altLang="zh-CN"/>
              <a:t>T</a:t>
            </a:r>
            <a:r>
              <a:rPr lang="zh-CN" altLang="en-US"/>
              <a:t>的一个基本回路</a:t>
            </a:r>
            <a:r>
              <a:rPr lang="en-US" altLang="zh-CN"/>
              <a:t>;</a:t>
            </a:r>
            <a:endParaRPr lang="en-US" altLang="zh-CN"/>
          </a:p>
          <a:p>
            <a:pPr marL="0">
              <a:spcBef>
                <a:spcPts val="415"/>
              </a:spcBef>
              <a:buNone/>
            </a:pPr>
            <a:r>
              <a:rPr lang="zh-CN" altLang="en-US"/>
              <a:t>如果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>
                <a:solidFill>
                  <a:srgbClr val="FF0000"/>
                </a:solidFill>
              </a:rPr>
              <a:t>含有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 i="1">
                <a:solidFill>
                  <a:srgbClr val="FF0000"/>
                </a:solidFill>
              </a:rPr>
              <a:t>l</a:t>
            </a:r>
            <a:r>
              <a:rPr lang="zh-CN" altLang="en-US">
                <a:solidFill>
                  <a:srgbClr val="FF0000"/>
                </a:solidFill>
              </a:rPr>
              <a:t>条弦</a:t>
            </a:r>
            <a:r>
              <a:rPr lang="en-US" altLang="zh-CN"/>
              <a:t>,</a:t>
            </a:r>
            <a:r>
              <a:rPr lang="zh-CN" altLang="en-US"/>
              <a:t>分别为</a:t>
            </a:r>
            <a:r>
              <a:rPr lang="en-US" altLang="zh-CN" i="1"/>
              <a:t>e</a:t>
            </a:r>
            <a:r>
              <a:rPr lang="en-US" altLang="zh-CN" i="1" baseline="-15000"/>
              <a:t>i</a:t>
            </a:r>
            <a:r>
              <a:rPr lang="en-US" altLang="zh-CN" baseline="-30000"/>
              <a:t>1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i="1" baseline="-15000"/>
              <a:t>i</a:t>
            </a:r>
            <a:r>
              <a:rPr lang="en-US" altLang="zh-CN" baseline="-30000"/>
              <a:t>2</a:t>
            </a:r>
            <a:r>
              <a:rPr lang="en-US" altLang="zh-CN"/>
              <a:t>,</a:t>
            </a:r>
            <a:r>
              <a:rPr lang="en-US" altLang="zh-CN"/>
              <a:t>…</a:t>
            </a:r>
            <a:r>
              <a:rPr lang="en-US" altLang="zh-CN"/>
              <a:t>,</a:t>
            </a:r>
            <a:r>
              <a:rPr lang="en-US" altLang="zh-CN" i="1"/>
              <a:t> e</a:t>
            </a:r>
            <a:r>
              <a:rPr lang="en-US" altLang="zh-CN" i="1" baseline="-15000"/>
              <a:t>i</a:t>
            </a:r>
            <a:r>
              <a:rPr lang="en-US" altLang="zh-CN" i="1" baseline="-30000"/>
              <a:t>l </a:t>
            </a:r>
            <a:r>
              <a:rPr lang="en-US" altLang="zh-CN"/>
              <a:t>,</a:t>
            </a:r>
            <a:r>
              <a:rPr lang="zh-CN" altLang="en-US"/>
              <a:t>由定理</a:t>
            </a:r>
            <a:r>
              <a:rPr lang="en-US" altLang="zh-CN"/>
              <a:t>9.9</a:t>
            </a:r>
            <a:r>
              <a:rPr lang="zh-CN" altLang="en-US"/>
              <a:t>可知</a:t>
            </a:r>
            <a:r>
              <a:rPr lang="en-US" altLang="zh-CN"/>
              <a:t>,</a:t>
            </a:r>
            <a:r>
              <a:rPr lang="zh-CN" altLang="en-US"/>
              <a:t>这</a:t>
            </a:r>
            <a:r>
              <a:rPr lang="en-US" altLang="zh-CN" i="1"/>
              <a:t>l</a:t>
            </a:r>
            <a:r>
              <a:rPr lang="zh-CN" altLang="en-US"/>
              <a:t>条弦全部在</a:t>
            </a:r>
            <a:r>
              <a:rPr lang="en-US" altLang="zh-CN"/>
              <a:t>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/>
              <a:t>=</a:t>
            </a:r>
            <a:r>
              <a:rPr lang="en-US" altLang="zh-CN" i="1"/>
              <a:t>C</a:t>
            </a:r>
            <a:r>
              <a:rPr lang="en-US" altLang="zh-CN" i="1" baseline="-15000"/>
              <a:t>i</a:t>
            </a:r>
            <a:r>
              <a:rPr lang="en-US" altLang="zh-CN" baseline="-30000"/>
              <a:t>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C</a:t>
            </a:r>
            <a:r>
              <a:rPr lang="en-US" altLang="zh-CN" i="1" baseline="-15000"/>
              <a:t>i</a:t>
            </a:r>
            <a:r>
              <a:rPr lang="en-US" altLang="zh-CN" baseline="-30000"/>
              <a:t>2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…</a:t>
            </a:r>
            <a:r>
              <a:rPr lang="en-US" altLang="zh-CN">
                <a:sym typeface="Symbol" panose="05050102010706020507" pitchFamily="18" charset="2"/>
              </a:rPr>
              <a:t> </a:t>
            </a:r>
            <a:r>
              <a:rPr lang="en-US" altLang="zh-CN" i="1"/>
              <a:t>C</a:t>
            </a:r>
            <a:r>
              <a:rPr lang="en-US" altLang="zh-CN" i="1" baseline="-15000"/>
              <a:t>i</a:t>
            </a:r>
            <a:r>
              <a:rPr lang="en-US" altLang="zh-CN" i="1" baseline="-30000"/>
              <a:t>l </a:t>
            </a:r>
            <a:r>
              <a:rPr lang="zh-CN" altLang="en-US"/>
              <a:t>中</a:t>
            </a:r>
            <a:r>
              <a:rPr lang="en-US" altLang="zh-CN"/>
              <a:t>,</a:t>
            </a:r>
            <a:r>
              <a:rPr lang="zh-CN" altLang="en-US"/>
              <a:t>其中</a:t>
            </a:r>
            <a:r>
              <a:rPr lang="en-US" altLang="zh-CN" i="1"/>
              <a:t>C</a:t>
            </a:r>
            <a:r>
              <a:rPr lang="en-US" altLang="zh-CN" i="1" baseline="-15000"/>
              <a:t>i</a:t>
            </a:r>
            <a:r>
              <a:rPr lang="en-US" altLang="zh-CN" i="1" baseline="-30000"/>
              <a:t>j</a:t>
            </a:r>
            <a:r>
              <a:rPr lang="zh-CN" altLang="en-US"/>
              <a:t>为</a:t>
            </a:r>
            <a:r>
              <a:rPr lang="en-US" altLang="zh-CN" i="1"/>
              <a:t>e</a:t>
            </a:r>
            <a:r>
              <a:rPr lang="en-US" altLang="zh-CN" i="1" baseline="-15000"/>
              <a:t>i</a:t>
            </a:r>
            <a:r>
              <a:rPr lang="en-US" altLang="zh-CN" i="1" baseline="-30000"/>
              <a:t>j</a:t>
            </a:r>
            <a:r>
              <a:rPr lang="zh-CN" altLang="en-US"/>
              <a:t>对应的基本回路</a:t>
            </a:r>
            <a:r>
              <a:rPr lang="en-US" altLang="zh-CN"/>
              <a:t>.</a:t>
            </a:r>
            <a:r>
              <a:rPr lang="zh-CN" altLang="en-US"/>
              <a:t>由定理</a:t>
            </a:r>
            <a:r>
              <a:rPr lang="en-US" altLang="zh-CN"/>
              <a:t>9.10</a:t>
            </a:r>
            <a:r>
              <a:rPr lang="zh-CN" altLang="en-US"/>
              <a:t>可知</a:t>
            </a:r>
            <a:r>
              <a:rPr lang="en-US" altLang="zh-CN"/>
              <a:t>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zh-CN" altLang="en-US"/>
              <a:t>是环路</a:t>
            </a:r>
            <a:r>
              <a:rPr lang="en-US" altLang="zh-CN"/>
              <a:t>,</a:t>
            </a:r>
            <a:r>
              <a:rPr lang="zh-CN" altLang="en-US"/>
              <a:t>并且</a:t>
            </a:r>
            <a:r>
              <a:rPr lang="en-US" altLang="zh-CN"/>
              <a:t>C’</a:t>
            </a:r>
            <a:r>
              <a:rPr lang="zh-CN" altLang="en-US"/>
              <a:t>中除了弦</a:t>
            </a:r>
            <a:r>
              <a:rPr lang="en-US" altLang="zh-CN" i="1"/>
              <a:t>e</a:t>
            </a:r>
            <a:r>
              <a:rPr lang="en-US" altLang="zh-CN" i="1" baseline="-15000"/>
              <a:t>i</a:t>
            </a:r>
            <a:r>
              <a:rPr lang="en-US" altLang="zh-CN" baseline="-30000"/>
              <a:t>1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i="1" baseline="-15000"/>
              <a:t>i</a:t>
            </a:r>
            <a:r>
              <a:rPr lang="en-US" altLang="zh-CN" baseline="-30000"/>
              <a:t>2</a:t>
            </a:r>
            <a:r>
              <a:rPr lang="en-US" altLang="zh-CN"/>
              <a:t>,</a:t>
            </a:r>
            <a:r>
              <a:rPr lang="en-US" altLang="zh-CN"/>
              <a:t>…</a:t>
            </a:r>
            <a:r>
              <a:rPr lang="en-US" altLang="zh-CN"/>
              <a:t>,</a:t>
            </a:r>
            <a:r>
              <a:rPr lang="en-US" altLang="zh-CN" i="1"/>
              <a:t> e</a:t>
            </a:r>
            <a:r>
              <a:rPr lang="en-US" altLang="zh-CN" i="1" baseline="-15000"/>
              <a:t>i</a:t>
            </a:r>
            <a:r>
              <a:rPr lang="en-US" altLang="zh-CN" i="1" baseline="-30000"/>
              <a:t>l </a:t>
            </a:r>
            <a:r>
              <a:rPr lang="zh-CN" altLang="en-US"/>
              <a:t>外其余的全是树枝</a:t>
            </a:r>
            <a:r>
              <a:rPr lang="en-US" altLang="zh-CN"/>
              <a:t>.</a:t>
            </a:r>
            <a:endParaRPr lang="en-US" altLang="zh-CN"/>
          </a:p>
          <a:p>
            <a:pPr marL="0">
              <a:spcBef>
                <a:spcPts val="415"/>
              </a:spcBef>
              <a:buNone/>
            </a:pPr>
            <a:r>
              <a:rPr lang="zh-CN" altLang="en-US"/>
              <a:t>若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C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,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C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zh-CN" altLang="en-US">
                <a:sym typeface="Symbol" panose="05050102010706020507" pitchFamily="18" charset="2"/>
              </a:rPr>
              <a:t>中全是树枝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显然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C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zh-CN" altLang="en-US">
                <a:sym typeface="Symbol" panose="05050102010706020507" pitchFamily="18" charset="2"/>
              </a:rPr>
              <a:t>不可能是环路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与定理</a:t>
            </a:r>
            <a:r>
              <a:rPr lang="en-US" altLang="zh-CN">
                <a:sym typeface="Symbol" panose="05050102010706020507" pitchFamily="18" charset="2"/>
              </a:rPr>
              <a:t>9.10</a:t>
            </a:r>
            <a:r>
              <a:rPr lang="zh-CN" altLang="en-US">
                <a:sym typeface="Symbol" panose="05050102010706020507" pitchFamily="18" charset="2"/>
              </a:rPr>
              <a:t>矛盾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因此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C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=,</a:t>
            </a:r>
            <a:r>
              <a:rPr lang="zh-CN" altLang="en-US">
                <a:sym typeface="Symbol" panose="05050102010706020507" pitchFamily="18" charset="2"/>
              </a:rPr>
              <a:t>即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C=C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证得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9.12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>
              <a:spcBef>
                <a:spcPct val="0"/>
              </a:spcBef>
            </a:pPr>
            <a:r>
              <a:rPr lang="zh-CN" altLang="en-US"/>
              <a:t>定理</a:t>
            </a:r>
            <a:r>
              <a:rPr lang="en-US" altLang="zh-CN"/>
              <a:t>9.12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 i="1"/>
              <a:t>m</a:t>
            </a:r>
            <a:r>
              <a:rPr lang="zh-CN" altLang="en-US"/>
              <a:t>条边的无向连通图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C</a:t>
            </a:r>
            <a:r>
              <a:rPr lang="zh-CN" altLang="en-US" baseline="-25000"/>
              <a:t>环</a:t>
            </a:r>
            <a:r>
              <a:rPr lang="zh-CN" altLang="en-US"/>
              <a:t>是</a:t>
            </a:r>
            <a:r>
              <a:rPr lang="en-US" altLang="zh-CN" i="1">
                <a:sym typeface="Symbol" panose="05050102010706020507" pitchFamily="18" charset="2"/>
              </a:rPr>
              <a:t></a:t>
            </a:r>
            <a:r>
              <a:rPr lang="zh-CN" altLang="en-US">
                <a:sym typeface="Symbol" panose="05050102010706020507" pitchFamily="18" charset="2"/>
              </a:rPr>
              <a:t>的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+1</a:t>
            </a:r>
            <a:r>
              <a:rPr lang="zh-CN" altLang="en-US">
                <a:sym typeface="Symbol" panose="05050102010706020507" pitchFamily="18" charset="2"/>
              </a:rPr>
              <a:t>维的子空间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>
              <a:spcBef>
                <a:spcPct val="0"/>
              </a:spcBef>
            </a:pPr>
            <a:r>
              <a:rPr lang="zh-CN" altLang="en-US">
                <a:sym typeface="Symbol" panose="05050102010706020507" pitchFamily="18" charset="2"/>
              </a:rPr>
              <a:t>注： </a:t>
            </a:r>
            <a:r>
              <a:rPr lang="en-US" altLang="zh-CN">
                <a:sym typeface="Symbol" panose="05050102010706020507" pitchFamily="18" charset="2"/>
              </a:rPr>
              <a:t>|</a:t>
            </a:r>
            <a:r>
              <a:rPr lang="en-US" altLang="zh-CN" i="1">
                <a:sym typeface="Symbol" panose="05050102010706020507" pitchFamily="18" charset="2"/>
              </a:rPr>
              <a:t>|=</a:t>
            </a:r>
            <a:r>
              <a:rPr lang="en-US" altLang="zh-CN">
                <a:sym typeface="Symbol" panose="05050102010706020507" pitchFamily="18" charset="2"/>
              </a:rPr>
              <a:t>2</a:t>
            </a:r>
            <a:r>
              <a:rPr lang="en-US" altLang="zh-CN" i="1" baseline="30000">
                <a:sym typeface="Symbol" panose="05050102010706020507" pitchFamily="18" charset="2"/>
              </a:rPr>
              <a:t>m</a:t>
            </a:r>
            <a:endParaRPr lang="en-US" altLang="zh-CN" i="1" baseline="30000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证 只需证明两点：</a:t>
            </a:r>
            <a:endParaRPr lang="en-US" altLang="zh-CN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ym typeface="Symbol" panose="05050102010706020507" pitchFamily="18" charset="2"/>
              </a:rPr>
              <a:t>(1)</a:t>
            </a:r>
            <a:r>
              <a:rPr lang="zh-CN" altLang="en-US">
                <a:sym typeface="Symbol" panose="05050102010706020507" pitchFamily="18" charset="2"/>
              </a:rPr>
              <a:t>证明环路对环和运算是封闭的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由定理</a:t>
            </a:r>
            <a:r>
              <a:rPr lang="en-US" altLang="zh-CN">
                <a:sym typeface="Symbol" panose="05050102010706020507" pitchFamily="18" charset="2"/>
              </a:rPr>
              <a:t>9.10</a:t>
            </a:r>
            <a:r>
              <a:rPr lang="zh-CN" altLang="en-US">
                <a:sym typeface="Symbol" panose="05050102010706020507" pitchFamily="18" charset="2"/>
              </a:rPr>
              <a:t>推论可知</a:t>
            </a:r>
            <a:endParaRPr lang="en-US" altLang="zh-CN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ym typeface="Symbol" panose="05050102010706020507" pitchFamily="18" charset="2"/>
              </a:rPr>
              <a:t>(2) </a:t>
            </a:r>
            <a:r>
              <a:rPr lang="zh-CN" altLang="en-US">
                <a:sym typeface="Symbol" panose="05050102010706020507" pitchFamily="18" charset="2"/>
              </a:rPr>
              <a:t>设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中任意一个生成树</a:t>
            </a:r>
            <a:r>
              <a:rPr lang="en-US" altLang="zh-CN">
                <a:sym typeface="Symbol" panose="05050102010706020507" pitchFamily="18" charset="2"/>
              </a:rPr>
              <a:t>,C</a:t>
            </a:r>
            <a:r>
              <a:rPr lang="zh-CN" altLang="en-US" baseline="-25000">
                <a:sym typeface="Symbol" panose="05050102010706020507" pitchFamily="18" charset="2"/>
              </a:rPr>
              <a:t>基</a:t>
            </a:r>
            <a:r>
              <a:rPr lang="en-US" altLang="zh-CN">
                <a:sym typeface="Symbol" panose="05050102010706020507" pitchFamily="18" charset="2"/>
              </a:rPr>
              <a:t>={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ym typeface="Symbol" panose="05050102010706020507" pitchFamily="18" charset="2"/>
              </a:rPr>
              <a:t>…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sym typeface="Symbol" panose="05050102010706020507" pitchFamily="18" charset="2"/>
              </a:rPr>
              <a:t>m</a:t>
            </a:r>
            <a:r>
              <a:rPr lang="en-US" altLang="zh-CN" baseline="-25000">
                <a:sym typeface="Symbol" panose="05050102010706020507" pitchFamily="18" charset="2"/>
              </a:rPr>
              <a:t>-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+1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对应的基本回路系统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证明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zh-CN" altLang="en-US" baseline="-25000">
                <a:sym typeface="Symbol" panose="05050102010706020507" pitchFamily="18" charset="2"/>
              </a:rPr>
              <a:t>基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zh-CN" altLang="en-US" baseline="-25000">
                <a:sym typeface="Symbol" panose="05050102010706020507" pitchFamily="18" charset="2"/>
              </a:rPr>
              <a:t>环</a:t>
            </a:r>
            <a:r>
              <a:rPr lang="zh-CN" altLang="en-US">
                <a:sym typeface="Symbol" panose="05050102010706020507" pitchFamily="18" charset="2"/>
              </a:rPr>
              <a:t>的基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ym typeface="Symbol" panose="05050102010706020507" pitchFamily="18" charset="2"/>
              </a:rPr>
              <a:t>i)</a:t>
            </a:r>
            <a:r>
              <a:rPr lang="zh-CN" altLang="en-US">
                <a:sym typeface="Symbol" panose="05050102010706020507" pitchFamily="18" charset="2"/>
              </a:rPr>
              <a:t>任意的</a:t>
            </a:r>
            <a:r>
              <a:rPr lang="en-US" altLang="zh-CN">
                <a:sym typeface="Symbol" panose="05050102010706020507" pitchFamily="18" charset="2"/>
              </a:rPr>
              <a:t>CC</a:t>
            </a:r>
            <a:r>
              <a:rPr lang="zh-CN" altLang="en-US" baseline="-25000">
                <a:sym typeface="Symbol" panose="05050102010706020507" pitchFamily="18" charset="2"/>
              </a:rPr>
              <a:t>环</a:t>
            </a:r>
            <a:r>
              <a:rPr lang="en-US" altLang="zh-CN">
                <a:sym typeface="Symbol" panose="05050102010706020507" pitchFamily="18" charset="2"/>
              </a:rPr>
              <a:t>,C</a:t>
            </a:r>
            <a:r>
              <a:rPr lang="zh-CN" altLang="en-US">
                <a:sym typeface="Symbol" panose="05050102010706020507" pitchFamily="18" charset="2"/>
              </a:rPr>
              <a:t>可由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zh-CN" altLang="en-US">
                <a:sym typeface="Symbol" panose="05050102010706020507" pitchFamily="18" charset="2"/>
              </a:rPr>
              <a:t>基中元素生成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zh-CN" altLang="en-US">
                <a:sym typeface="Symbol" panose="05050102010706020507" pitchFamily="18" charset="2"/>
              </a:rPr>
              <a:t>由定理</a:t>
            </a:r>
            <a:r>
              <a:rPr lang="en-US" altLang="zh-CN">
                <a:sym typeface="Symbol" panose="05050102010706020507" pitchFamily="18" charset="2"/>
              </a:rPr>
              <a:t>9.11</a:t>
            </a:r>
            <a:r>
              <a:rPr lang="zh-CN" altLang="en-US">
                <a:sym typeface="Symbol" panose="05050102010706020507" pitchFamily="18" charset="2"/>
              </a:rPr>
              <a:t>推论）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9.12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ii) </a:t>
            </a:r>
            <a:r>
              <a:rPr lang="zh-CN" altLang="en-US" sz="2600">
                <a:sym typeface="Symbol" panose="05050102010706020507" pitchFamily="18" charset="2"/>
              </a:rPr>
              <a:t>证</a:t>
            </a:r>
            <a:r>
              <a:rPr lang="en-US" altLang="zh-CN" sz="2600">
                <a:sym typeface="Symbol" panose="05050102010706020507" pitchFamily="18" charset="2"/>
              </a:rPr>
              <a:t>C</a:t>
            </a:r>
            <a:r>
              <a:rPr lang="zh-CN" altLang="en-US" sz="2600" baseline="-25000">
                <a:sym typeface="Symbol" panose="05050102010706020507" pitchFamily="18" charset="2"/>
              </a:rPr>
              <a:t>基</a:t>
            </a:r>
            <a:r>
              <a:rPr lang="zh-CN" altLang="en-US" sz="2600">
                <a:sym typeface="Symbol" panose="05050102010706020507" pitchFamily="18" charset="2"/>
              </a:rPr>
              <a:t>中元素线性无关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若存在不全为</a:t>
            </a:r>
            <a:r>
              <a:rPr lang="en-US" altLang="zh-CN" sz="2600">
                <a:sym typeface="Symbol" panose="05050102010706020507" pitchFamily="18" charset="2"/>
              </a:rPr>
              <a:t>0</a:t>
            </a:r>
            <a:r>
              <a:rPr lang="zh-CN" altLang="en-US" sz="2600">
                <a:sym typeface="Symbol" panose="05050102010706020507" pitchFamily="18" charset="2"/>
              </a:rPr>
              <a:t>的</a:t>
            </a:r>
            <a:r>
              <a:rPr lang="en-US" altLang="zh-CN" sz="2600" i="1">
                <a:sym typeface="Symbol" panose="05050102010706020507" pitchFamily="18" charset="2"/>
              </a:rPr>
              <a:t>a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F={0,1},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=1,2,</a:t>
            </a:r>
            <a:r>
              <a:rPr lang="en-US" altLang="zh-CN" sz="2400">
                <a:sym typeface="Symbol" panose="05050102010706020507" pitchFamily="18" charset="2"/>
              </a:rPr>
              <a:t>…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>
                <a:sym typeface="Symbol" panose="05050102010706020507" pitchFamily="18" charset="2"/>
              </a:rPr>
              <a:t>-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>
                <a:sym typeface="Symbol" panose="05050102010706020507" pitchFamily="18" charset="2"/>
              </a:rPr>
              <a:t>+1,</a:t>
            </a:r>
            <a:r>
              <a:rPr lang="zh-CN" altLang="en-US" sz="2400">
                <a:sym typeface="Symbol" panose="05050102010706020507" pitchFamily="18" charset="2"/>
              </a:rPr>
              <a:t>使得</a:t>
            </a:r>
            <a:endParaRPr lang="en-US" altLang="zh-CN" sz="2400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i="1">
                <a:sym typeface="Symbol" panose="05050102010706020507" pitchFamily="18" charset="2"/>
              </a:rPr>
              <a:t>a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 i="1">
                <a:sym typeface="Symbol" panose="05050102010706020507" pitchFamily="18" charset="2"/>
              </a:rPr>
              <a:t>C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</a:t>
            </a:r>
            <a:r>
              <a:rPr lang="en-US" altLang="zh-CN" sz="2400" i="1">
                <a:sym typeface="Symbol" panose="05050102010706020507" pitchFamily="18" charset="2"/>
              </a:rPr>
              <a:t> a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 i="1">
                <a:sym typeface="Symbol" panose="05050102010706020507" pitchFamily="18" charset="2"/>
              </a:rPr>
              <a:t>C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</a:t>
            </a:r>
            <a:r>
              <a:rPr lang="en-US" altLang="zh-CN" sz="2400">
                <a:sym typeface="Symbol" panose="05050102010706020507" pitchFamily="18" charset="2"/>
              </a:rPr>
              <a:t>…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</a:t>
            </a:r>
            <a:r>
              <a:rPr lang="zh-CN" altLang="zh-CN" sz="2400"/>
              <a:t> </a:t>
            </a:r>
            <a:r>
              <a:rPr lang="en-US" altLang="zh-CN" sz="2400" i="1">
                <a:sym typeface="Symbol" panose="05050102010706020507" pitchFamily="18" charset="2"/>
              </a:rPr>
              <a:t>a</a:t>
            </a:r>
            <a:r>
              <a:rPr lang="en-US" altLang="zh-CN" sz="2400" i="1" baseline="-25000">
                <a:sym typeface="Symbol" panose="05050102010706020507" pitchFamily="18" charset="2"/>
              </a:rPr>
              <a:t>m</a:t>
            </a:r>
            <a:r>
              <a:rPr lang="en-US" altLang="zh-CN" sz="2400" baseline="-25000">
                <a:sym typeface="Symbol" panose="05050102010706020507" pitchFamily="18" charset="2"/>
              </a:rPr>
              <a:t>-</a:t>
            </a:r>
            <a:r>
              <a:rPr lang="en-US" altLang="zh-CN" sz="2400" i="1" baseline="-25000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+1</a:t>
            </a:r>
            <a:r>
              <a:rPr lang="en-US" altLang="zh-CN" sz="2400" i="1">
                <a:sym typeface="Symbol" panose="05050102010706020507" pitchFamily="18" charset="2"/>
              </a:rPr>
              <a:t>C</a:t>
            </a:r>
            <a:r>
              <a:rPr lang="en-US" altLang="zh-CN" sz="2400" i="1" baseline="-25000">
                <a:sym typeface="Symbol" panose="05050102010706020507" pitchFamily="18" charset="2"/>
              </a:rPr>
              <a:t>m</a:t>
            </a:r>
            <a:r>
              <a:rPr lang="en-US" altLang="zh-CN" sz="2400" baseline="-25000">
                <a:sym typeface="Symbol" panose="05050102010706020507" pitchFamily="18" charset="2"/>
              </a:rPr>
              <a:t>-</a:t>
            </a:r>
            <a:r>
              <a:rPr lang="en-US" altLang="zh-CN" sz="2400" i="1" baseline="-25000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+1</a:t>
            </a:r>
            <a:r>
              <a:rPr lang="en-US" altLang="zh-CN" sz="2400">
                <a:sym typeface="Symbol" panose="05050102010706020507" pitchFamily="18" charset="2"/>
              </a:rPr>
              <a:t>=</a:t>
            </a:r>
            <a:r>
              <a:rPr lang="en-US" altLang="zh-CN" sz="2400"/>
              <a:t>.</a:t>
            </a:r>
            <a:endParaRPr lang="en-US" altLang="zh-CN" sz="24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ym typeface="Symbol" panose="05050102010706020507" pitchFamily="18" charset="2"/>
              </a:rPr>
              <a:t>不妨设</a:t>
            </a:r>
            <a:r>
              <a:rPr lang="en-US" altLang="zh-CN" sz="2400" i="1">
                <a:sym typeface="Symbol" panose="05050102010706020507" pitchFamily="18" charset="2"/>
              </a:rPr>
              <a:t>a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=1,</a:t>
            </a:r>
            <a:r>
              <a:rPr lang="zh-CN" altLang="en-US" sz="2400">
                <a:sym typeface="Symbol" panose="05050102010706020507" pitchFamily="18" charset="2"/>
              </a:rPr>
              <a:t>设弦</a:t>
            </a:r>
            <a:r>
              <a:rPr lang="en-US" altLang="zh-CN" sz="2400" i="1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zh-CN" altLang="en-US" sz="2400">
                <a:sym typeface="Symbol" panose="05050102010706020507" pitchFamily="18" charset="2"/>
              </a:rPr>
              <a:t>在</a:t>
            </a:r>
            <a:r>
              <a:rPr lang="en-US" altLang="zh-CN" sz="2400" i="1">
                <a:sym typeface="Symbol" panose="05050102010706020507" pitchFamily="18" charset="2"/>
              </a:rPr>
              <a:t>C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zh-CN" altLang="en-US" sz="2400">
                <a:sym typeface="Symbol" panose="05050102010706020507" pitchFamily="18" charset="2"/>
              </a:rPr>
              <a:t>则</a:t>
            </a:r>
            <a:r>
              <a:rPr lang="en-US" altLang="zh-CN" sz="2400" i="1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E(C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)(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 2),</a:t>
            </a:r>
            <a:r>
              <a:rPr lang="zh-CN" altLang="en-US" sz="2400">
                <a:sym typeface="Symbol" panose="05050102010706020507" pitchFamily="18" charset="2"/>
              </a:rPr>
              <a:t>上式左端含</a:t>
            </a:r>
            <a:r>
              <a:rPr lang="en-US" altLang="zh-CN" sz="2400" i="1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zh-CN" altLang="en-US" sz="2400">
                <a:sym typeface="Symbol" panose="05050102010706020507" pitchFamily="18" charset="2"/>
              </a:rPr>
              <a:t>右端为空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zh-CN" altLang="en-US" sz="2400">
                <a:sym typeface="Symbol" panose="05050102010706020507" pitchFamily="18" charset="2"/>
              </a:rPr>
              <a:t>矛盾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zh-CN" altLang="en-US" sz="2400">
                <a:sym typeface="Symbol" panose="05050102010706020507" pitchFamily="18" charset="2"/>
              </a:rPr>
              <a:t>因此</a:t>
            </a:r>
            <a:r>
              <a:rPr lang="en-US" altLang="zh-CN" sz="2600" i="1">
                <a:sym typeface="Symbol" panose="05050102010706020507" pitchFamily="18" charset="2"/>
              </a:rPr>
              <a:t>C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C</a:t>
            </a:r>
            <a:r>
              <a:rPr lang="en-US" altLang="zh-CN" sz="2600" baseline="-25000">
                <a:sym typeface="Symbol" panose="05050102010706020507" pitchFamily="18" charset="2"/>
              </a:rPr>
              <a:t>2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>
                <a:sym typeface="Symbol" panose="05050102010706020507" pitchFamily="18" charset="2"/>
              </a:rPr>
              <a:t>…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C</a:t>
            </a:r>
            <a:r>
              <a:rPr lang="en-US" altLang="zh-CN" sz="2600" i="1" baseline="-25000">
                <a:sym typeface="Symbol" panose="05050102010706020507" pitchFamily="18" charset="2"/>
              </a:rPr>
              <a:t>m</a:t>
            </a:r>
            <a:r>
              <a:rPr lang="en-US" altLang="zh-CN" sz="2600" baseline="-25000">
                <a:sym typeface="Symbol" panose="05050102010706020507" pitchFamily="18" charset="2"/>
              </a:rPr>
              <a:t>-</a:t>
            </a:r>
            <a:r>
              <a:rPr lang="en-US" altLang="zh-CN" sz="2600" i="1" baseline="-25000">
                <a:sym typeface="Symbol" panose="05050102010706020507" pitchFamily="18" charset="2"/>
              </a:rPr>
              <a:t>n</a:t>
            </a:r>
            <a:r>
              <a:rPr lang="en-US" altLang="zh-CN" sz="2600" baseline="-25000">
                <a:sym typeface="Symbol" panose="05050102010706020507" pitchFamily="18" charset="2"/>
              </a:rPr>
              <a:t>+1</a:t>
            </a:r>
            <a:r>
              <a:rPr lang="zh-CN" altLang="en-US" sz="2600">
                <a:sym typeface="Symbol" panose="05050102010706020507" pitchFamily="18" charset="2"/>
              </a:rPr>
              <a:t>线性无关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143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9.5</a:t>
            </a:r>
            <a:r>
              <a:rPr lang="en-US" altLang="zh-CN"/>
              <a:t>  </a:t>
            </a:r>
            <a:r>
              <a:rPr lang="zh-CN" altLang="en-US"/>
              <a:t>求</a:t>
            </a:r>
            <a:r>
              <a:rPr lang="en-US" altLang="zh-CN"/>
              <a:t>G</a:t>
            </a:r>
            <a:r>
              <a:rPr lang="zh-CN" altLang="en-US"/>
              <a:t>的环路空间</a:t>
            </a:r>
            <a:r>
              <a:rPr lang="en-US" altLang="zh-CN"/>
              <a:t>C</a:t>
            </a:r>
            <a:r>
              <a:rPr lang="zh-CN" altLang="en-US" baseline="-25000"/>
              <a:t>环</a:t>
            </a:r>
            <a:r>
              <a:rPr lang="en-US" altLang="zh-CN"/>
              <a:t>,</a:t>
            </a:r>
            <a:r>
              <a:rPr lang="zh-CN" altLang="en-US"/>
              <a:t>并指出其中的回路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/>
              <a:t>解  </a:t>
            </a:r>
            <a:r>
              <a:rPr lang="en-US" altLang="zh-CN"/>
              <a:t>T={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h</a:t>
            </a:r>
            <a:r>
              <a:rPr lang="en-US" altLang="zh-CN"/>
              <a:t>,</a:t>
            </a:r>
            <a:r>
              <a:rPr lang="en-US" altLang="zh-CN" i="1"/>
              <a:t>g</a:t>
            </a:r>
            <a:r>
              <a:rPr lang="en-US" altLang="zh-CN"/>
              <a:t>},</a:t>
            </a:r>
            <a:r>
              <a:rPr lang="zh-CN" altLang="en-US"/>
              <a:t>基本回路</a:t>
            </a:r>
            <a:r>
              <a:rPr lang="en-US" altLang="zh-CN"/>
              <a:t>C</a:t>
            </a:r>
            <a:r>
              <a:rPr lang="zh-CN" altLang="en-US" baseline="-25000"/>
              <a:t>基</a:t>
            </a:r>
            <a:r>
              <a:rPr lang="zh-CN" altLang="en-US"/>
              <a:t>为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    </a:t>
            </a:r>
            <a:r>
              <a:rPr lang="en-US" altLang="zh-CN"/>
              <a:t>    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 i="1">
                <a:solidFill>
                  <a:srgbClr val="FF0000"/>
                </a:solidFill>
              </a:rPr>
              <a:t>b</a:t>
            </a:r>
            <a:r>
              <a:rPr lang="en-US" altLang="zh-CN" i="1"/>
              <a:t>c</a:t>
            </a:r>
            <a:endParaRPr lang="en-US" altLang="zh-CN" i="1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i="1"/>
              <a:t>          C</a:t>
            </a:r>
            <a:r>
              <a:rPr lang="en-US" altLang="zh-CN" i="1" baseline="-25000"/>
              <a:t>f</a:t>
            </a:r>
            <a:r>
              <a:rPr lang="en-US" altLang="zh-CN"/>
              <a:t>=</a:t>
            </a:r>
            <a:r>
              <a:rPr lang="en-US" altLang="zh-CN" i="1"/>
              <a:t>e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 i="1"/>
              <a:t>hg</a:t>
            </a:r>
            <a:r>
              <a:rPr lang="en-US" altLang="zh-CN"/>
              <a:t>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     </a:t>
            </a:r>
            <a:r>
              <a:rPr lang="en-US" altLang="zh-CN" i="1"/>
              <a:t>C</a:t>
            </a:r>
            <a:r>
              <a:rPr lang="en-US" altLang="zh-CN" i="1" baseline="-25000"/>
              <a:t>i</a:t>
            </a:r>
            <a:r>
              <a:rPr lang="en-US" altLang="zh-CN"/>
              <a:t>=</a:t>
            </a:r>
            <a:r>
              <a:rPr lang="en-US" altLang="zh-CN" i="1"/>
              <a:t>hg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endParaRPr lang="en-US" altLang="zh-CN" i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i="1"/>
              <a:t>          C</a:t>
            </a:r>
            <a:r>
              <a:rPr lang="en-US" altLang="zh-CN" i="1" baseline="-25000"/>
              <a:t>b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 i="1"/>
              <a:t>C</a:t>
            </a:r>
            <a:r>
              <a:rPr lang="en-US" altLang="zh-CN" i="1" baseline="-25000"/>
              <a:t>f</a:t>
            </a:r>
            <a:r>
              <a:rPr lang="en-US" altLang="zh-CN"/>
              <a:t>=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 i="1" baseline="-25000"/>
              <a:t>f   </a:t>
            </a:r>
            <a:r>
              <a:rPr lang="en-US" altLang="zh-CN" i="1"/>
              <a:t>   C</a:t>
            </a:r>
            <a:r>
              <a:rPr lang="en-US" altLang="zh-CN" i="1" baseline="-25000"/>
              <a:t>b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 i="1"/>
              <a:t>C</a:t>
            </a:r>
            <a:r>
              <a:rPr lang="en-US" altLang="zh-CN" i="1" baseline="-25000"/>
              <a:t>i</a:t>
            </a:r>
            <a:r>
              <a:rPr lang="en-US" altLang="zh-CN"/>
              <a:t>=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 i="1" baseline="-25000"/>
              <a:t>i</a:t>
            </a:r>
            <a:endParaRPr lang="en-US" altLang="zh-CN" i="1" baseline="-2500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i="1"/>
              <a:t>          C</a:t>
            </a:r>
            <a:r>
              <a:rPr lang="en-US" altLang="zh-CN" i="1" baseline="-25000"/>
              <a:t>i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 i="1"/>
              <a:t>C</a:t>
            </a:r>
            <a:r>
              <a:rPr lang="en-US" altLang="zh-CN" i="1" baseline="-25000"/>
              <a:t>f</a:t>
            </a:r>
            <a:r>
              <a:rPr lang="en-US" altLang="zh-CN"/>
              <a:t>= </a:t>
            </a:r>
            <a:r>
              <a:rPr lang="en-US" altLang="zh-CN" i="1"/>
              <a:t>fie             C</a:t>
            </a:r>
            <a:r>
              <a:rPr lang="en-US" altLang="zh-CN" i="1" baseline="-25000"/>
              <a:t>b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 i="1"/>
              <a:t>C</a:t>
            </a:r>
            <a:r>
              <a:rPr lang="en-US" altLang="zh-CN" i="1" baseline="-25000"/>
              <a:t>f 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 i="1"/>
              <a:t>C</a:t>
            </a:r>
            <a:r>
              <a:rPr lang="en-US" altLang="zh-CN" i="1" baseline="-25000"/>
              <a:t>i </a:t>
            </a:r>
            <a:r>
              <a:rPr lang="en-US" altLang="zh-CN"/>
              <a:t>=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∪ </a:t>
            </a:r>
            <a:r>
              <a:rPr lang="en-US" altLang="zh-CN" i="1"/>
              <a:t>fie</a:t>
            </a:r>
            <a:endParaRPr lang="en-US" altLang="zh-CN" i="1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C</a:t>
            </a:r>
            <a:r>
              <a:rPr lang="zh-CN" altLang="en-US" baseline="-25000"/>
              <a:t>环</a:t>
            </a:r>
            <a:r>
              <a:rPr lang="en-US" altLang="zh-CN"/>
              <a:t>={</a:t>
            </a:r>
            <a:r>
              <a:rPr lang="en-US" altLang="zh-CN">
                <a:sym typeface="Symbol" panose="05050102010706020507" pitchFamily="18" charset="2"/>
              </a:rPr>
              <a:t>,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f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i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 i="1" baseline="-25000"/>
              <a:t>f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 i="1" baseline="-25000"/>
              <a:t>i </a:t>
            </a:r>
            <a:r>
              <a:rPr lang="en-US" altLang="zh-CN"/>
              <a:t>, </a:t>
            </a:r>
            <a:r>
              <a:rPr lang="en-US" altLang="zh-CN" i="1"/>
              <a:t>fie,</a:t>
            </a:r>
            <a:r>
              <a:rPr lang="en-US" altLang="zh-CN"/>
              <a:t> 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∪ </a:t>
            </a:r>
            <a:r>
              <a:rPr lang="en-US" altLang="zh-CN" i="1"/>
              <a:t>fie</a:t>
            </a:r>
            <a:r>
              <a:rPr lang="en-US" altLang="zh-CN"/>
              <a:t> }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其中的回路为</a:t>
            </a:r>
            <a:r>
              <a:rPr lang="en-US" altLang="zh-CN" i="1"/>
              <a:t>C</a:t>
            </a:r>
            <a:r>
              <a:rPr lang="en-US" altLang="zh-CN" i="1" baseline="-25000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f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i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fie</a:t>
            </a:r>
            <a:endParaRPr lang="en-US" altLang="zh-CN" i="1">
              <a:sym typeface="Symbol" panose="05050102010706020507" pitchFamily="18" charset="2"/>
            </a:endParaRPr>
          </a:p>
        </p:txBody>
      </p:sp>
      <p:grpSp>
        <p:nvGrpSpPr>
          <p:cNvPr id="18435" name="Group 30"/>
          <p:cNvGrpSpPr/>
          <p:nvPr/>
        </p:nvGrpSpPr>
        <p:grpSpPr>
          <a:xfrm>
            <a:off x="4643438" y="2636838"/>
            <a:ext cx="3889375" cy="1512887"/>
            <a:chOff x="2925" y="1661"/>
            <a:chExt cx="2450" cy="953"/>
          </a:xfrm>
        </p:grpSpPr>
        <p:sp>
          <p:nvSpPr>
            <p:cNvPr id="18436" name="Oval 4"/>
            <p:cNvSpPr/>
            <p:nvPr/>
          </p:nvSpPr>
          <p:spPr>
            <a:xfrm>
              <a:off x="4694" y="1706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Oval 5"/>
            <p:cNvSpPr/>
            <p:nvPr/>
          </p:nvSpPr>
          <p:spPr>
            <a:xfrm>
              <a:off x="4694" y="2478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Oval 6"/>
            <p:cNvSpPr/>
            <p:nvPr/>
          </p:nvSpPr>
          <p:spPr>
            <a:xfrm>
              <a:off x="4195" y="2115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9" name="Oval 7"/>
            <p:cNvSpPr/>
            <p:nvPr/>
          </p:nvSpPr>
          <p:spPr>
            <a:xfrm>
              <a:off x="5239" y="2115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0" name="Oval 8"/>
            <p:cNvSpPr/>
            <p:nvPr/>
          </p:nvSpPr>
          <p:spPr>
            <a:xfrm>
              <a:off x="3198" y="1661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1" name="Oval 9"/>
            <p:cNvSpPr/>
            <p:nvPr/>
          </p:nvSpPr>
          <p:spPr>
            <a:xfrm>
              <a:off x="3560" y="2115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2" name="Oval 10"/>
            <p:cNvSpPr/>
            <p:nvPr/>
          </p:nvSpPr>
          <p:spPr>
            <a:xfrm>
              <a:off x="3016" y="2387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3" name="Line 11"/>
            <p:cNvSpPr/>
            <p:nvPr/>
          </p:nvSpPr>
          <p:spPr>
            <a:xfrm>
              <a:off x="4767" y="1842"/>
              <a:ext cx="0" cy="6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4" name="Line 13"/>
            <p:cNvSpPr/>
            <p:nvPr/>
          </p:nvSpPr>
          <p:spPr>
            <a:xfrm flipH="1">
              <a:off x="4286" y="1797"/>
              <a:ext cx="40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5" name="Line 14"/>
            <p:cNvSpPr/>
            <p:nvPr/>
          </p:nvSpPr>
          <p:spPr>
            <a:xfrm>
              <a:off x="4830" y="1797"/>
              <a:ext cx="45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6" name="Line 15"/>
            <p:cNvSpPr/>
            <p:nvPr/>
          </p:nvSpPr>
          <p:spPr>
            <a:xfrm>
              <a:off x="4286" y="2205"/>
              <a:ext cx="454" cy="31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7" name="Line 16"/>
            <p:cNvSpPr/>
            <p:nvPr/>
          </p:nvSpPr>
          <p:spPr>
            <a:xfrm flipV="1">
              <a:off x="4830" y="2251"/>
              <a:ext cx="454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8" name="Line 17"/>
            <p:cNvSpPr/>
            <p:nvPr/>
          </p:nvSpPr>
          <p:spPr>
            <a:xfrm>
              <a:off x="3696" y="2205"/>
              <a:ext cx="5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9" name="Line 18"/>
            <p:cNvSpPr/>
            <p:nvPr/>
          </p:nvSpPr>
          <p:spPr>
            <a:xfrm>
              <a:off x="3288" y="1752"/>
              <a:ext cx="31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0" name="Line 19"/>
            <p:cNvSpPr/>
            <p:nvPr/>
          </p:nvSpPr>
          <p:spPr>
            <a:xfrm flipV="1">
              <a:off x="3107" y="2205"/>
              <a:ext cx="499" cy="22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1" name="Line 20"/>
            <p:cNvSpPr/>
            <p:nvPr/>
          </p:nvSpPr>
          <p:spPr>
            <a:xfrm flipH="1">
              <a:off x="3061" y="1797"/>
              <a:ext cx="182" cy="59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2" name="Text Box 21"/>
            <p:cNvSpPr txBox="1"/>
            <p:nvPr/>
          </p:nvSpPr>
          <p:spPr>
            <a:xfrm>
              <a:off x="3412" y="171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3" name="Text Box 22"/>
            <p:cNvSpPr txBox="1"/>
            <p:nvPr/>
          </p:nvSpPr>
          <p:spPr>
            <a:xfrm>
              <a:off x="2925" y="18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4" name="Text Box 23"/>
            <p:cNvSpPr txBox="1"/>
            <p:nvPr/>
          </p:nvSpPr>
          <p:spPr>
            <a:xfrm>
              <a:off x="3243" y="2251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5" name="Text Box 24"/>
            <p:cNvSpPr txBox="1"/>
            <p:nvPr/>
          </p:nvSpPr>
          <p:spPr>
            <a:xfrm>
              <a:off x="3833" y="193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6" name="Text Box 25"/>
            <p:cNvSpPr txBox="1"/>
            <p:nvPr/>
          </p:nvSpPr>
          <p:spPr>
            <a:xfrm>
              <a:off x="4377" y="1706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7" name="Text Box 26"/>
            <p:cNvSpPr txBox="1"/>
            <p:nvPr/>
          </p:nvSpPr>
          <p:spPr>
            <a:xfrm>
              <a:off x="4332" y="2326"/>
              <a:ext cx="1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8" name="Text Box 27"/>
            <p:cNvSpPr txBox="1"/>
            <p:nvPr/>
          </p:nvSpPr>
          <p:spPr>
            <a:xfrm>
              <a:off x="4967" y="1706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9" name="Text Box 28"/>
            <p:cNvSpPr txBox="1"/>
            <p:nvPr/>
          </p:nvSpPr>
          <p:spPr>
            <a:xfrm>
              <a:off x="5012" y="22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60" name="Text Box 29"/>
            <p:cNvSpPr txBox="1"/>
            <p:nvPr/>
          </p:nvSpPr>
          <p:spPr>
            <a:xfrm>
              <a:off x="4740" y="2024"/>
              <a:ext cx="1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6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5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65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8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101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144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00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48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/>
              <a:t>9.4 </a:t>
            </a:r>
            <a:r>
              <a:rPr lang="zh-CN" altLang="en-US"/>
              <a:t>断集空间</a:t>
            </a:r>
            <a:endParaRPr lang="zh-CN" altLang="en-US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断集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G=&lt;V,E&gt;</a:t>
            </a:r>
            <a:r>
              <a:rPr lang="zh-CN" altLang="en-US"/>
              <a:t>为无向图</a:t>
            </a:r>
            <a:r>
              <a:rPr lang="en-US" altLang="zh-CN"/>
              <a:t>,V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V</a:t>
            </a:r>
            <a:r>
              <a:rPr lang="zh-CN" altLang="en-US">
                <a:sym typeface="Symbol" panose="05050102010706020507" pitchFamily="18" charset="2"/>
              </a:rPr>
              <a:t>且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,</a:t>
            </a:r>
            <a:r>
              <a:rPr lang="zh-CN" altLang="en-US">
                <a:sym typeface="Symbol" panose="05050102010706020507" pitchFamily="18" charset="2"/>
              </a:rPr>
              <a:t>记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=V-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ym typeface="Symbol" panose="05050102010706020507" pitchFamily="18" charset="2"/>
              </a:rPr>
              <a:t>   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{(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u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)|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u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</a:t>
            </a:r>
            <a:r>
              <a:rPr lang="en-US" altLang="zh-CN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 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</a:t>
            </a:r>
            <a:r>
              <a:rPr lang="en-US" altLang="zh-CN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中的一个断集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>
                <a:sym typeface="Symbol" panose="05050102010706020507" pitchFamily="18" charset="2"/>
              </a:rPr>
              <a:t>   记作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E(</a:t>
            </a:r>
            <a:r>
              <a:rPr lang="en-US" altLang="zh-CN">
                <a:solidFill>
                  <a:schemeClr val="hlink"/>
                </a:solidFill>
              </a:rPr>
              <a:t>V</a:t>
            </a:r>
            <a:r>
              <a:rPr lang="en-US" altLang="zh-CN" baseline="-25000">
                <a:solidFill>
                  <a:schemeClr val="hlink"/>
                </a:solidFill>
              </a:rPr>
              <a:t>1</a:t>
            </a:r>
            <a:r>
              <a:rPr lang="en-US" altLang="ja-JP">
                <a:solidFill>
                  <a:schemeClr val="hlink"/>
                </a:solidFill>
                <a:sym typeface="Symbol" panose="05050102010706020507" pitchFamily="18" charset="2"/>
              </a:rPr>
              <a:t>×</a:t>
            </a:r>
            <a:r>
              <a:rPr lang="en-US" altLang="zh-CN">
                <a:solidFill>
                  <a:schemeClr val="hlink"/>
                </a:solidFill>
              </a:rPr>
              <a:t>V</a:t>
            </a:r>
            <a:r>
              <a:rPr lang="en-US" altLang="zh-CN" baseline="-25000">
                <a:solidFill>
                  <a:schemeClr val="hlink"/>
                </a:solidFill>
              </a:rPr>
              <a:t>1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),</a:t>
            </a:r>
            <a:r>
              <a:rPr lang="zh-CN" altLang="en-US">
                <a:sym typeface="Symbol" panose="05050102010706020507" pitchFamily="18" charset="2"/>
              </a:rPr>
              <a:t>简记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).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ym typeface="Symbol" panose="05050102010706020507" pitchFamily="18" charset="2"/>
              </a:rPr>
              <a:t>割集是断集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断集不一定是割集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（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为什么？</a:t>
            </a:r>
            <a:r>
              <a:rPr lang="zh-CN" altLang="en-US">
                <a:sym typeface="Symbol" panose="05050102010706020507" pitchFamily="18" charset="2"/>
              </a:rPr>
              <a:t>）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19459" name="Line 4"/>
          <p:cNvSpPr/>
          <p:nvPr/>
        </p:nvSpPr>
        <p:spPr>
          <a:xfrm>
            <a:off x="7235825" y="1543050"/>
            <a:ext cx="2889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60" name="Line 5"/>
          <p:cNvSpPr/>
          <p:nvPr/>
        </p:nvSpPr>
        <p:spPr>
          <a:xfrm>
            <a:off x="3116263" y="2133600"/>
            <a:ext cx="303212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61" name="Line 6"/>
          <p:cNvSpPr/>
          <p:nvPr/>
        </p:nvSpPr>
        <p:spPr>
          <a:xfrm>
            <a:off x="2484438" y="2708275"/>
            <a:ext cx="303212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62" name="Line 7"/>
          <p:cNvSpPr/>
          <p:nvPr/>
        </p:nvSpPr>
        <p:spPr>
          <a:xfrm>
            <a:off x="4356100" y="2708275"/>
            <a:ext cx="3032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2376488"/>
          </a:xfrm>
        </p:spPr>
        <p:txBody>
          <a:bodyPr vert="horz" wrap="square" lIns="91440" tIns="45720" rIns="91440" bIns="45720" anchor="t" anchorCtr="0"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/>
              <a:t>={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},</a:t>
            </a:r>
            <a:r>
              <a:rPr lang="zh-CN" altLang="en-US"/>
              <a:t>则</a:t>
            </a:r>
            <a:r>
              <a:rPr lang="en-US" altLang="zh-CN"/>
              <a:t>(V</a:t>
            </a:r>
            <a:r>
              <a:rPr lang="en-US" altLang="zh-CN" baseline="-25000"/>
              <a:t>1</a:t>
            </a:r>
            <a:r>
              <a:rPr lang="en-US" altLang="zh-CN"/>
              <a:t>, V</a:t>
            </a:r>
            <a:r>
              <a:rPr lang="en-US" altLang="zh-CN" baseline="-25000"/>
              <a:t>1</a:t>
            </a:r>
            <a:r>
              <a:rPr lang="en-US" altLang="zh-CN"/>
              <a:t>)={e</a:t>
            </a:r>
            <a:r>
              <a:rPr lang="en-US" altLang="zh-CN" baseline="-25000"/>
              <a:t>1</a:t>
            </a:r>
            <a:r>
              <a:rPr lang="en-US" altLang="zh-CN"/>
              <a:t>,e</a:t>
            </a:r>
            <a:r>
              <a:rPr lang="en-US" altLang="zh-CN" baseline="-25000"/>
              <a:t>2</a:t>
            </a:r>
            <a:r>
              <a:rPr lang="en-US" altLang="zh-CN"/>
              <a:t>},</a:t>
            </a:r>
            <a:r>
              <a:rPr lang="zh-CN" altLang="en-US"/>
              <a:t>是割集</a:t>
            </a:r>
            <a:endParaRPr lang="zh-CN" altLang="en-US"/>
          </a:p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r>
              <a:rPr lang="en-US" altLang="zh-CN"/>
              <a:t>={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7</a:t>
            </a:r>
            <a:r>
              <a:rPr lang="en-US" altLang="zh-CN"/>
              <a:t>},</a:t>
            </a:r>
            <a:r>
              <a:rPr lang="zh-CN" altLang="en-US"/>
              <a:t>则</a:t>
            </a:r>
            <a:r>
              <a:rPr lang="en-US" altLang="zh-CN"/>
              <a:t>(V</a:t>
            </a:r>
            <a:r>
              <a:rPr lang="en-US" altLang="zh-CN" baseline="-25000"/>
              <a:t>2</a:t>
            </a:r>
            <a:r>
              <a:rPr lang="en-US" altLang="zh-CN"/>
              <a:t>, V</a:t>
            </a:r>
            <a:r>
              <a:rPr lang="en-US" altLang="zh-CN" baseline="-25000"/>
              <a:t>2</a:t>
            </a:r>
            <a:r>
              <a:rPr lang="en-US" altLang="zh-CN"/>
              <a:t>)={e</a:t>
            </a:r>
            <a:r>
              <a:rPr lang="en-US" altLang="zh-CN" baseline="-25000"/>
              <a:t>3</a:t>
            </a:r>
            <a:r>
              <a:rPr lang="en-US" altLang="zh-CN"/>
              <a:t>,e</a:t>
            </a:r>
            <a:r>
              <a:rPr lang="en-US" altLang="zh-CN" baseline="-25000"/>
              <a:t>4 </a:t>
            </a:r>
            <a:r>
              <a:rPr lang="en-US" altLang="zh-CN"/>
              <a:t>,e</a:t>
            </a:r>
            <a:r>
              <a:rPr lang="en-US" altLang="zh-CN" baseline="-25000"/>
              <a:t>8</a:t>
            </a:r>
            <a:r>
              <a:rPr lang="en-US" altLang="zh-CN"/>
              <a:t>,e</a:t>
            </a:r>
            <a:r>
              <a:rPr lang="en-US" altLang="zh-CN" baseline="-25000"/>
              <a:t>9</a:t>
            </a:r>
            <a:r>
              <a:rPr lang="en-US" altLang="zh-CN"/>
              <a:t>},</a:t>
            </a:r>
            <a:r>
              <a:rPr lang="zh-CN" altLang="en-US"/>
              <a:t>是割集</a:t>
            </a:r>
            <a:endParaRPr lang="zh-CN" altLang="en-US"/>
          </a:p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r>
              <a:rPr lang="en-US" altLang="zh-CN"/>
              <a:t>={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},</a:t>
            </a:r>
            <a:r>
              <a:rPr lang="zh-CN" altLang="en-US"/>
              <a:t>则</a:t>
            </a:r>
            <a:r>
              <a:rPr lang="en-US" altLang="zh-CN"/>
              <a:t>(V</a:t>
            </a:r>
            <a:r>
              <a:rPr lang="en-US" altLang="zh-CN" baseline="-25000"/>
              <a:t>3</a:t>
            </a:r>
            <a:r>
              <a:rPr lang="en-US" altLang="zh-CN"/>
              <a:t>, V</a:t>
            </a:r>
            <a:r>
              <a:rPr lang="en-US" altLang="zh-CN" baseline="-25000"/>
              <a:t>3</a:t>
            </a:r>
            <a:r>
              <a:rPr lang="en-US" altLang="zh-CN"/>
              <a:t>)={e</a:t>
            </a:r>
            <a:r>
              <a:rPr lang="en-US" altLang="zh-CN" baseline="-25000"/>
              <a:t>1</a:t>
            </a:r>
            <a:r>
              <a:rPr lang="en-US" altLang="zh-CN"/>
              <a:t>,e</a:t>
            </a:r>
            <a:r>
              <a:rPr lang="en-US" altLang="zh-CN" baseline="-25000"/>
              <a:t>3 </a:t>
            </a:r>
            <a:r>
              <a:rPr lang="en-US" altLang="zh-CN"/>
              <a:t>,e</a:t>
            </a:r>
            <a:r>
              <a:rPr lang="en-US" altLang="zh-CN" baseline="-25000"/>
              <a:t>5</a:t>
            </a:r>
            <a:r>
              <a:rPr lang="en-US" altLang="zh-CN"/>
              <a:t>,e</a:t>
            </a:r>
            <a:r>
              <a:rPr lang="en-US" altLang="zh-CN" baseline="-25000"/>
              <a:t>9</a:t>
            </a:r>
            <a:r>
              <a:rPr lang="en-US" altLang="zh-CN"/>
              <a:t>,e</a:t>
            </a:r>
            <a:r>
              <a:rPr lang="en-US" altLang="zh-CN" baseline="-25000"/>
              <a:t>6</a:t>
            </a:r>
            <a:r>
              <a:rPr lang="en-US" altLang="zh-CN"/>
              <a:t>,e</a:t>
            </a:r>
            <a:r>
              <a:rPr lang="en-US" altLang="zh-CN" baseline="-25000"/>
              <a:t>8</a:t>
            </a:r>
            <a:r>
              <a:rPr lang="en-US" altLang="zh-CN"/>
              <a:t>},</a:t>
            </a:r>
            <a:r>
              <a:rPr lang="zh-CN" altLang="en-US"/>
              <a:t>不是割集</a:t>
            </a:r>
            <a:endParaRPr lang="zh-CN" altLang="en-US"/>
          </a:p>
        </p:txBody>
      </p:sp>
      <p:grpSp>
        <p:nvGrpSpPr>
          <p:cNvPr id="20483" name="Group 4"/>
          <p:cNvGrpSpPr/>
          <p:nvPr/>
        </p:nvGrpSpPr>
        <p:grpSpPr>
          <a:xfrm>
            <a:off x="468313" y="3284538"/>
            <a:ext cx="2879725" cy="2952750"/>
            <a:chOff x="295" y="2387"/>
            <a:chExt cx="1814" cy="1860"/>
          </a:xfrm>
        </p:grpSpPr>
        <p:grpSp>
          <p:nvGrpSpPr>
            <p:cNvPr id="20484" name="Group 5"/>
            <p:cNvGrpSpPr/>
            <p:nvPr/>
          </p:nvGrpSpPr>
          <p:grpSpPr>
            <a:xfrm>
              <a:off x="539" y="2632"/>
              <a:ext cx="1316" cy="1415"/>
              <a:chOff x="539" y="2632"/>
              <a:chExt cx="1316" cy="1415"/>
            </a:xfrm>
          </p:grpSpPr>
          <p:sp>
            <p:nvSpPr>
              <p:cNvPr id="20485" name="Rectangle 6"/>
              <p:cNvSpPr/>
              <p:nvPr/>
            </p:nvSpPr>
            <p:spPr>
              <a:xfrm>
                <a:off x="612" y="3249"/>
                <a:ext cx="1179" cy="72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6" name="Oval 7"/>
              <p:cNvSpPr/>
              <p:nvPr/>
            </p:nvSpPr>
            <p:spPr>
              <a:xfrm>
                <a:off x="549" y="3185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7" name="Oval 8"/>
              <p:cNvSpPr/>
              <p:nvPr/>
            </p:nvSpPr>
            <p:spPr>
              <a:xfrm>
                <a:off x="539" y="3893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8" name="Oval 9"/>
              <p:cNvSpPr/>
              <p:nvPr/>
            </p:nvSpPr>
            <p:spPr>
              <a:xfrm>
                <a:off x="1710" y="3176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9" name="Oval 10"/>
              <p:cNvSpPr/>
              <p:nvPr/>
            </p:nvSpPr>
            <p:spPr>
              <a:xfrm>
                <a:off x="1719" y="3911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0" name="Line 11"/>
              <p:cNvSpPr/>
              <p:nvPr/>
            </p:nvSpPr>
            <p:spPr>
              <a:xfrm>
                <a:off x="1156" y="3249"/>
                <a:ext cx="0" cy="72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1" name="Oval 12"/>
              <p:cNvSpPr/>
              <p:nvPr/>
            </p:nvSpPr>
            <p:spPr>
              <a:xfrm>
                <a:off x="1084" y="3167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2" name="Oval 13"/>
              <p:cNvSpPr/>
              <p:nvPr/>
            </p:nvSpPr>
            <p:spPr>
              <a:xfrm>
                <a:off x="1094" y="3893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3" name="Oval 14"/>
              <p:cNvSpPr/>
              <p:nvPr/>
            </p:nvSpPr>
            <p:spPr>
              <a:xfrm>
                <a:off x="1111" y="2632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4" name="Line 15"/>
              <p:cNvSpPr/>
              <p:nvPr/>
            </p:nvSpPr>
            <p:spPr>
              <a:xfrm flipV="1">
                <a:off x="657" y="2750"/>
                <a:ext cx="499" cy="45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5" name="Line 16"/>
              <p:cNvSpPr/>
              <p:nvPr/>
            </p:nvSpPr>
            <p:spPr>
              <a:xfrm>
                <a:off x="1202" y="2750"/>
                <a:ext cx="544" cy="45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0496" name="Text Box 17"/>
            <p:cNvSpPr txBox="1"/>
            <p:nvPr/>
          </p:nvSpPr>
          <p:spPr>
            <a:xfrm>
              <a:off x="891" y="238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7" name="Text Box 18"/>
            <p:cNvSpPr txBox="1"/>
            <p:nvPr/>
          </p:nvSpPr>
          <p:spPr>
            <a:xfrm>
              <a:off x="340" y="302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8" name="Text Box 19"/>
            <p:cNvSpPr txBox="1"/>
            <p:nvPr/>
          </p:nvSpPr>
          <p:spPr>
            <a:xfrm>
              <a:off x="295" y="379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9" name="Text Box 20"/>
            <p:cNvSpPr txBox="1"/>
            <p:nvPr/>
          </p:nvSpPr>
          <p:spPr>
            <a:xfrm>
              <a:off x="1066" y="395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0" name="Text Box 21"/>
            <p:cNvSpPr txBox="1"/>
            <p:nvPr/>
          </p:nvSpPr>
          <p:spPr>
            <a:xfrm>
              <a:off x="1844" y="383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1" name="Text Box 22"/>
            <p:cNvSpPr txBox="1"/>
            <p:nvPr/>
          </p:nvSpPr>
          <p:spPr>
            <a:xfrm>
              <a:off x="1799" y="306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2" name="Text Box 23"/>
            <p:cNvSpPr txBox="1"/>
            <p:nvPr/>
          </p:nvSpPr>
          <p:spPr>
            <a:xfrm>
              <a:off x="1020" y="288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3" name="Text Box 24"/>
            <p:cNvSpPr txBox="1"/>
            <p:nvPr/>
          </p:nvSpPr>
          <p:spPr>
            <a:xfrm>
              <a:off x="703" y="270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4" name="Text Box 25"/>
            <p:cNvSpPr txBox="1"/>
            <p:nvPr/>
          </p:nvSpPr>
          <p:spPr>
            <a:xfrm>
              <a:off x="1474" y="275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5" name="Text Box 26"/>
            <p:cNvSpPr txBox="1"/>
            <p:nvPr/>
          </p:nvSpPr>
          <p:spPr>
            <a:xfrm>
              <a:off x="748" y="315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6" name="Text Box 27"/>
            <p:cNvSpPr txBox="1"/>
            <p:nvPr/>
          </p:nvSpPr>
          <p:spPr>
            <a:xfrm>
              <a:off x="1292" y="315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7" name="Text Box 28"/>
            <p:cNvSpPr txBox="1"/>
            <p:nvPr/>
          </p:nvSpPr>
          <p:spPr>
            <a:xfrm>
              <a:off x="385" y="352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8" name="Text Box 29"/>
            <p:cNvSpPr txBox="1"/>
            <p:nvPr/>
          </p:nvSpPr>
          <p:spPr>
            <a:xfrm>
              <a:off x="930" y="347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9" name="Text Box 30"/>
            <p:cNvSpPr txBox="1"/>
            <p:nvPr/>
          </p:nvSpPr>
          <p:spPr>
            <a:xfrm>
              <a:off x="1746" y="343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0" name="Text Box 31"/>
            <p:cNvSpPr txBox="1"/>
            <p:nvPr/>
          </p:nvSpPr>
          <p:spPr>
            <a:xfrm>
              <a:off x="748" y="388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1" name="Text Box 32"/>
            <p:cNvSpPr txBox="1"/>
            <p:nvPr/>
          </p:nvSpPr>
          <p:spPr>
            <a:xfrm>
              <a:off x="1383" y="388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Line 33"/>
          <p:cNvSpPr/>
          <p:nvPr/>
        </p:nvSpPr>
        <p:spPr>
          <a:xfrm>
            <a:off x="2916238" y="1484313"/>
            <a:ext cx="3603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13" name="Line 34"/>
          <p:cNvSpPr/>
          <p:nvPr/>
        </p:nvSpPr>
        <p:spPr>
          <a:xfrm>
            <a:off x="3348038" y="2133600"/>
            <a:ext cx="3603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14" name="Line 35"/>
          <p:cNvSpPr/>
          <p:nvPr/>
        </p:nvSpPr>
        <p:spPr>
          <a:xfrm>
            <a:off x="3348038" y="2708275"/>
            <a:ext cx="3603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9.13</a:t>
            </a:r>
            <a:endParaRPr kumimoji="0" lang="en-US" altLang="zh-CN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>
                <a:solidFill>
                  <a:schemeClr val="hlink"/>
                </a:solidFill>
              </a:rPr>
              <a:t>S</a:t>
            </a:r>
            <a:r>
              <a:rPr lang="zh-CN" altLang="en-US" baseline="-25000">
                <a:solidFill>
                  <a:schemeClr val="hlink"/>
                </a:solidFill>
              </a:rPr>
              <a:t>断</a:t>
            </a:r>
            <a:r>
              <a:rPr lang="en-US" altLang="zh-CN"/>
              <a:t>:G</a:t>
            </a:r>
            <a:r>
              <a:rPr lang="zh-CN" altLang="en-US"/>
              <a:t>中所有断集的导出子图和</a:t>
            </a:r>
            <a:r>
              <a:rPr lang="zh-CN" altLang="en-US">
                <a:sym typeface="Symbol" panose="05050102010706020507" pitchFamily="18" charset="2"/>
              </a:rPr>
              <a:t>组成的集合</a:t>
            </a:r>
            <a:r>
              <a:rPr lang="en-US" altLang="zh-CN">
                <a:sym typeface="Symbol" panose="05050102010706020507" pitchFamily="18" charset="2"/>
              </a:rPr>
              <a:t>;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9.13</a:t>
            </a:r>
            <a:r>
              <a:rPr lang="en-US" altLang="zh-CN"/>
              <a:t>   </a:t>
            </a:r>
            <a:r>
              <a:rPr lang="zh-CN" altLang="en-US"/>
              <a:t>连通图</a:t>
            </a:r>
            <a:r>
              <a:rPr lang="en-US" altLang="zh-CN"/>
              <a:t>G</a:t>
            </a:r>
            <a:r>
              <a:rPr lang="zh-CN" altLang="en-US"/>
              <a:t>中每个割集至少包含</a:t>
            </a:r>
            <a:r>
              <a:rPr lang="en-US" altLang="zh-CN"/>
              <a:t>G</a:t>
            </a:r>
            <a:r>
              <a:rPr lang="zh-CN" altLang="en-US"/>
              <a:t>的每棵生成树的一个树枝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zh-CN" altLang="en-US">
                <a:solidFill>
                  <a:srgbClr val="FF00FF"/>
                </a:solidFill>
              </a:rPr>
              <a:t>反证法</a:t>
            </a:r>
            <a:r>
              <a:rPr lang="en-US" altLang="zh-CN"/>
              <a:t>)</a:t>
            </a:r>
            <a:r>
              <a:rPr lang="zh-CN" altLang="en-US"/>
              <a:t>假设存在一个割集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zh-CN" altLang="en-US"/>
              <a:t>不包含一棵树</a:t>
            </a:r>
            <a:r>
              <a:rPr lang="en-US" altLang="zh-CN"/>
              <a:t>T</a:t>
            </a:r>
            <a:r>
              <a:rPr lang="zh-CN" altLang="en-US"/>
              <a:t>中的任何树枝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G-E</a:t>
            </a:r>
            <a:r>
              <a:rPr lang="en-US" altLang="zh-CN" baseline="-25000"/>
              <a:t>1</a:t>
            </a:r>
            <a:r>
              <a:rPr lang="zh-CN" altLang="en-US"/>
              <a:t>中仍然包含</a:t>
            </a:r>
            <a:r>
              <a:rPr lang="en-US" altLang="zh-CN"/>
              <a:t>T,</a:t>
            </a:r>
            <a:r>
              <a:rPr lang="zh-CN" altLang="en-US"/>
              <a:t>那么</a:t>
            </a:r>
            <a:r>
              <a:rPr lang="en-US" altLang="zh-CN"/>
              <a:t>G-E</a:t>
            </a:r>
            <a:r>
              <a:rPr lang="en-US" altLang="zh-CN" baseline="-25000"/>
              <a:t>1</a:t>
            </a:r>
            <a:r>
              <a:rPr lang="zh-CN" altLang="en-US"/>
              <a:t>连通</a:t>
            </a:r>
            <a:r>
              <a:rPr lang="en-US" altLang="zh-CN"/>
              <a:t>,</a:t>
            </a:r>
            <a:r>
              <a:rPr lang="zh-CN" altLang="en-US"/>
              <a:t>与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zh-CN" altLang="en-US"/>
              <a:t>是割集矛盾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59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9.14/9.15</a:t>
            </a:r>
            <a:endParaRPr kumimoji="0" lang="en-US" altLang="zh-CN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9.14</a:t>
            </a:r>
            <a:r>
              <a:rPr lang="en-US" altLang="zh-CN"/>
              <a:t>    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</a:t>
            </a:r>
            <a:r>
              <a:rPr lang="en-US" altLang="zh-CN" i="1">
                <a:sym typeface="Symbol" panose="05050102010706020507" pitchFamily="18" charset="2"/>
              </a:rPr>
              <a:t>m</a:t>
            </a:r>
            <a:r>
              <a:rPr lang="zh-CN" altLang="en-US">
                <a:sym typeface="Symbol" panose="05050102010706020507" pitchFamily="18" charset="2"/>
              </a:rPr>
              <a:t>条边的无向连通图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的生成树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zh-CN" altLang="en-US" baseline="-25000">
                <a:solidFill>
                  <a:srgbClr val="FF0000"/>
                </a:solidFill>
                <a:sym typeface="Symbol" panose="05050102010706020507" pitchFamily="18" charset="2"/>
              </a:rPr>
              <a:t>基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对应的基本割集系统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则对于任意的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 S</a:t>
            </a:r>
            <a:r>
              <a:rPr lang="zh-CN" altLang="en-US" baseline="-25000">
                <a:sym typeface="Symbol" panose="05050102010706020507" pitchFamily="18" charset="2"/>
              </a:rPr>
              <a:t>基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必有它们对应的树枝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k</a:t>
            </a:r>
            <a:r>
              <a:rPr lang="zh-CN" altLang="en-US">
                <a:sym typeface="Symbol" panose="05050102010706020507" pitchFamily="18" charset="2"/>
              </a:rPr>
              <a:t>均在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 …  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k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其中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zh-CN" altLang="en-US">
                <a:sym typeface="Symbol" panose="05050102010706020507" pitchFamily="18" charset="2"/>
              </a:rPr>
              <a:t>为对称差运算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证明</a:t>
            </a:r>
            <a:r>
              <a:rPr lang="zh-CN" altLang="en-US">
                <a:sym typeface="Symbol" panose="05050102010706020507" pitchFamily="18" charset="2"/>
              </a:rPr>
              <a:t>  不同的基本割集对应的树枝边不同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得证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9.15</a:t>
            </a:r>
            <a:r>
              <a:rPr lang="en-US" altLang="zh-CN"/>
              <a:t>   </a:t>
            </a:r>
            <a:r>
              <a:rPr lang="zh-CN" altLang="en-US"/>
              <a:t>设</a:t>
            </a:r>
            <a:r>
              <a:rPr lang="en-US" altLang="zh-CN" i="1"/>
              <a:t>S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zh-CN" altLang="en-US"/>
              <a:t>为无向图</a:t>
            </a:r>
            <a:r>
              <a:rPr lang="en-US" altLang="zh-CN"/>
              <a:t>G</a:t>
            </a:r>
            <a:r>
              <a:rPr lang="zh-CN" altLang="en-US"/>
              <a:t>的两个断集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S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S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中断集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其中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zh-CN" altLang="en-US">
                <a:sym typeface="Symbol" panose="05050102010706020507" pitchFamily="18" charset="2"/>
              </a:rPr>
              <a:t>为对称差运算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olidFill>
                  <a:schemeClr val="hlink"/>
                </a:solidFill>
              </a:rPr>
              <a:t>   </a:t>
            </a: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zh-CN" altLang="en-US"/>
              <a:t> </a:t>
            </a:r>
            <a:r>
              <a:rPr lang="zh-CN" altLang="en-US">
                <a:solidFill>
                  <a:schemeClr val="tx2"/>
                </a:solidFill>
              </a:rPr>
              <a:t>若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=S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则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S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=,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显然成立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9.15(</a:t>
            </a:r>
            <a:r>
              <a:rPr lang="zh-CN" altLang="en-US"/>
              <a:t>证明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若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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=(V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,V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), S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=(V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,V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).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则红色虚线边既在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中也在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zh-CN" altLang="en-US">
                <a:solidFill>
                  <a:schemeClr val="tx2"/>
                </a:solidFill>
              </a:rPr>
              <a:t>中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因此它们都不在</a:t>
            </a: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S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中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玫红色的实线边只在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S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中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,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绿色的实线边只在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S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中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,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故而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,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令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V*=(V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∩V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)∪(V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∩V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)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则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V*=(V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∩V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)∪(V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∩V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)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2"/>
                </a:solidFill>
              </a:rPr>
              <a:t>S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S</a:t>
            </a:r>
            <a:r>
              <a:rPr lang="en-US" altLang="zh-CN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=(V*,V*)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为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G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中的断集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  <a:endParaRPr lang="en-US" altLang="zh-CN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23555" name="Oval 4"/>
          <p:cNvSpPr/>
          <p:nvPr/>
        </p:nvSpPr>
        <p:spPr>
          <a:xfrm>
            <a:off x="5364163" y="2492375"/>
            <a:ext cx="2663825" cy="26638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Arc 5"/>
          <p:cNvSpPr/>
          <p:nvPr/>
        </p:nvSpPr>
        <p:spPr>
          <a:xfrm rot="-1653425">
            <a:off x="5718175" y="3230563"/>
            <a:ext cx="1111250" cy="1830387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6262" h="43184" fill="none">
                <a:moveTo>
                  <a:pt x="0" y="509"/>
                </a:moveTo>
                <a:cubicBezTo>
                  <a:pt x="1530" y="170"/>
                  <a:pt x="3094" y="-1"/>
                  <a:pt x="4662" y="0"/>
                </a:cubicBezTo>
                <a:cubicBezTo>
                  <a:pt x="16591" y="0"/>
                  <a:pt x="26262" y="9670"/>
                  <a:pt x="26262" y="21600"/>
                </a:cubicBezTo>
                <a:cubicBezTo>
                  <a:pt x="26262" y="33203"/>
                  <a:pt x="17094" y="42733"/>
                  <a:pt x="5499" y="43183"/>
                </a:cubicBezTo>
              </a:path>
              <a:path w="26262" h="43184" stroke="0">
                <a:moveTo>
                  <a:pt x="0" y="509"/>
                </a:moveTo>
                <a:cubicBezTo>
                  <a:pt x="1530" y="170"/>
                  <a:pt x="3094" y="-1"/>
                  <a:pt x="4662" y="0"/>
                </a:cubicBezTo>
                <a:cubicBezTo>
                  <a:pt x="16591" y="0"/>
                  <a:pt x="26262" y="9670"/>
                  <a:pt x="26262" y="21600"/>
                </a:cubicBezTo>
                <a:cubicBezTo>
                  <a:pt x="26262" y="33203"/>
                  <a:pt x="17094" y="42733"/>
                  <a:pt x="5499" y="43183"/>
                </a:cubicBezTo>
                <a:lnTo>
                  <a:pt x="4662" y="21600"/>
                </a:lnTo>
                <a:lnTo>
                  <a:pt x="0" y="509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57" name="Arc 6"/>
          <p:cNvSpPr/>
          <p:nvPr/>
        </p:nvSpPr>
        <p:spPr>
          <a:xfrm rot="9146575">
            <a:off x="6589713" y="2519363"/>
            <a:ext cx="1111250" cy="181927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6262" h="42951" fill="none">
                <a:moveTo>
                  <a:pt x="0" y="509"/>
                </a:moveTo>
                <a:cubicBezTo>
                  <a:pt x="1530" y="170"/>
                  <a:pt x="3094" y="-1"/>
                  <a:pt x="4662" y="0"/>
                </a:cubicBezTo>
                <a:cubicBezTo>
                  <a:pt x="16591" y="0"/>
                  <a:pt x="26262" y="9670"/>
                  <a:pt x="26262" y="21600"/>
                </a:cubicBezTo>
                <a:cubicBezTo>
                  <a:pt x="26262" y="32265"/>
                  <a:pt x="18477" y="41333"/>
                  <a:pt x="7935" y="42950"/>
                </a:cubicBezTo>
              </a:path>
              <a:path w="26262" h="42951" stroke="0">
                <a:moveTo>
                  <a:pt x="0" y="509"/>
                </a:moveTo>
                <a:cubicBezTo>
                  <a:pt x="1530" y="170"/>
                  <a:pt x="3094" y="-1"/>
                  <a:pt x="4662" y="0"/>
                </a:cubicBezTo>
                <a:cubicBezTo>
                  <a:pt x="16591" y="0"/>
                  <a:pt x="26262" y="9670"/>
                  <a:pt x="26262" y="21600"/>
                </a:cubicBezTo>
                <a:cubicBezTo>
                  <a:pt x="26262" y="32265"/>
                  <a:pt x="18477" y="41333"/>
                  <a:pt x="7935" y="42950"/>
                </a:cubicBezTo>
                <a:lnTo>
                  <a:pt x="4662" y="21600"/>
                </a:lnTo>
                <a:lnTo>
                  <a:pt x="0" y="509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58" name="Text Box 7"/>
          <p:cNvSpPr txBox="1"/>
          <p:nvPr/>
        </p:nvSpPr>
        <p:spPr>
          <a:xfrm>
            <a:off x="6372225" y="1936750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559" name="Group 10"/>
          <p:cNvGrpSpPr/>
          <p:nvPr/>
        </p:nvGrpSpPr>
        <p:grpSpPr>
          <a:xfrm>
            <a:off x="6586538" y="5229225"/>
            <a:ext cx="506412" cy="457200"/>
            <a:chOff x="4285" y="3385"/>
            <a:chExt cx="319" cy="288"/>
          </a:xfrm>
        </p:grpSpPr>
        <p:sp>
          <p:nvSpPr>
            <p:cNvPr id="23560" name="Text Box 8"/>
            <p:cNvSpPr txBox="1"/>
            <p:nvPr/>
          </p:nvSpPr>
          <p:spPr>
            <a:xfrm>
              <a:off x="4285" y="3385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1" name="Line 9"/>
            <p:cNvSpPr/>
            <p:nvPr/>
          </p:nvSpPr>
          <p:spPr>
            <a:xfrm>
              <a:off x="4331" y="3448"/>
              <a:ext cx="1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3562" name="Text Box 11"/>
          <p:cNvSpPr txBox="1"/>
          <p:nvPr/>
        </p:nvSpPr>
        <p:spPr>
          <a:xfrm>
            <a:off x="4859338" y="3548063"/>
            <a:ext cx="5064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3" name="Text Box 16"/>
          <p:cNvSpPr txBox="1"/>
          <p:nvPr/>
        </p:nvSpPr>
        <p:spPr>
          <a:xfrm>
            <a:off x="5508625" y="2781300"/>
            <a:ext cx="105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∩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564" name="Group 21"/>
          <p:cNvGrpSpPr/>
          <p:nvPr/>
        </p:nvGrpSpPr>
        <p:grpSpPr>
          <a:xfrm>
            <a:off x="6732588" y="4437063"/>
            <a:ext cx="1023937" cy="457200"/>
            <a:chOff x="4332" y="2750"/>
            <a:chExt cx="645" cy="288"/>
          </a:xfrm>
        </p:grpSpPr>
        <p:grpSp>
          <p:nvGrpSpPr>
            <p:cNvPr id="23565" name="Group 13"/>
            <p:cNvGrpSpPr/>
            <p:nvPr/>
          </p:nvGrpSpPr>
          <p:grpSpPr>
            <a:xfrm>
              <a:off x="4658" y="2750"/>
              <a:ext cx="319" cy="288"/>
              <a:chOff x="4014" y="3385"/>
              <a:chExt cx="319" cy="288"/>
            </a:xfrm>
          </p:grpSpPr>
          <p:sp>
            <p:nvSpPr>
              <p:cNvPr id="23566" name="Text Box 14"/>
              <p:cNvSpPr txBox="1"/>
              <p:nvPr/>
            </p:nvSpPr>
            <p:spPr>
              <a:xfrm>
                <a:off x="4014" y="3385"/>
                <a:ext cx="31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7" name="Line 15"/>
              <p:cNvSpPr/>
              <p:nvPr/>
            </p:nvSpPr>
            <p:spPr>
              <a:xfrm>
                <a:off x="4041" y="3448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3568" name="Group 17"/>
            <p:cNvGrpSpPr/>
            <p:nvPr/>
          </p:nvGrpSpPr>
          <p:grpSpPr>
            <a:xfrm>
              <a:off x="4332" y="2750"/>
              <a:ext cx="319" cy="288"/>
              <a:chOff x="4014" y="3385"/>
              <a:chExt cx="319" cy="288"/>
            </a:xfrm>
          </p:grpSpPr>
          <p:sp>
            <p:nvSpPr>
              <p:cNvPr id="23569" name="Text Box 18"/>
              <p:cNvSpPr txBox="1"/>
              <p:nvPr/>
            </p:nvSpPr>
            <p:spPr>
              <a:xfrm>
                <a:off x="4014" y="3385"/>
                <a:ext cx="31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0" name="Line 19"/>
              <p:cNvSpPr/>
              <p:nvPr/>
            </p:nvSpPr>
            <p:spPr>
              <a:xfrm>
                <a:off x="4041" y="3448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3571" name="Text Box 20"/>
            <p:cNvSpPr txBox="1"/>
            <p:nvPr/>
          </p:nvSpPr>
          <p:spPr>
            <a:xfrm>
              <a:off x="4513" y="2791"/>
              <a:ext cx="26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∩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572" name="Group 30"/>
          <p:cNvGrpSpPr/>
          <p:nvPr/>
        </p:nvGrpSpPr>
        <p:grpSpPr>
          <a:xfrm>
            <a:off x="5580063" y="4005263"/>
            <a:ext cx="1023937" cy="457200"/>
            <a:chOff x="3515" y="2523"/>
            <a:chExt cx="645" cy="288"/>
          </a:xfrm>
        </p:grpSpPr>
        <p:sp>
          <p:nvSpPr>
            <p:cNvPr id="23573" name="Text Box 24"/>
            <p:cNvSpPr txBox="1"/>
            <p:nvPr/>
          </p:nvSpPr>
          <p:spPr>
            <a:xfrm>
              <a:off x="3841" y="2523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3574" name="Group 26"/>
            <p:cNvGrpSpPr/>
            <p:nvPr/>
          </p:nvGrpSpPr>
          <p:grpSpPr>
            <a:xfrm>
              <a:off x="3515" y="2523"/>
              <a:ext cx="319" cy="288"/>
              <a:chOff x="4014" y="3385"/>
              <a:chExt cx="319" cy="288"/>
            </a:xfrm>
          </p:grpSpPr>
          <p:sp>
            <p:nvSpPr>
              <p:cNvPr id="23575" name="Text Box 27"/>
              <p:cNvSpPr txBox="1"/>
              <p:nvPr/>
            </p:nvSpPr>
            <p:spPr>
              <a:xfrm>
                <a:off x="4014" y="3385"/>
                <a:ext cx="31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6" name="Line 28"/>
              <p:cNvSpPr/>
              <p:nvPr/>
            </p:nvSpPr>
            <p:spPr>
              <a:xfrm>
                <a:off x="4041" y="3448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3577" name="Text Box 29"/>
            <p:cNvSpPr txBox="1"/>
            <p:nvPr/>
          </p:nvSpPr>
          <p:spPr>
            <a:xfrm>
              <a:off x="3696" y="2564"/>
              <a:ext cx="26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∩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578" name="Group 36"/>
          <p:cNvGrpSpPr/>
          <p:nvPr/>
        </p:nvGrpSpPr>
        <p:grpSpPr>
          <a:xfrm>
            <a:off x="6718300" y="2997200"/>
            <a:ext cx="1023938" cy="457200"/>
            <a:chOff x="4232" y="1979"/>
            <a:chExt cx="645" cy="288"/>
          </a:xfrm>
        </p:grpSpPr>
        <p:sp>
          <p:nvSpPr>
            <p:cNvPr id="23579" name="Text Box 31"/>
            <p:cNvSpPr txBox="1"/>
            <p:nvPr/>
          </p:nvSpPr>
          <p:spPr>
            <a:xfrm>
              <a:off x="4558" y="1979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Text Box 33"/>
            <p:cNvSpPr txBox="1"/>
            <p:nvPr/>
          </p:nvSpPr>
          <p:spPr>
            <a:xfrm>
              <a:off x="4232" y="1979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1" name="Line 34"/>
            <p:cNvSpPr/>
            <p:nvPr/>
          </p:nvSpPr>
          <p:spPr>
            <a:xfrm>
              <a:off x="4604" y="2042"/>
              <a:ext cx="1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2" name="Text Box 35"/>
            <p:cNvSpPr txBox="1"/>
            <p:nvPr/>
          </p:nvSpPr>
          <p:spPr>
            <a:xfrm>
              <a:off x="4413" y="2020"/>
              <a:ext cx="26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∩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583" name="Group 37"/>
          <p:cNvGrpSpPr/>
          <p:nvPr/>
        </p:nvGrpSpPr>
        <p:grpSpPr>
          <a:xfrm>
            <a:off x="8101013" y="3548063"/>
            <a:ext cx="506412" cy="457200"/>
            <a:chOff x="4014" y="3385"/>
            <a:chExt cx="319" cy="288"/>
          </a:xfrm>
        </p:grpSpPr>
        <p:sp>
          <p:nvSpPr>
            <p:cNvPr id="23584" name="Text Box 38"/>
            <p:cNvSpPr txBox="1"/>
            <p:nvPr/>
          </p:nvSpPr>
          <p:spPr>
            <a:xfrm>
              <a:off x="4014" y="3385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5" name="Line 39"/>
            <p:cNvSpPr/>
            <p:nvPr/>
          </p:nvSpPr>
          <p:spPr>
            <a:xfrm>
              <a:off x="4041" y="3448"/>
              <a:ext cx="1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3586" name="Line 40"/>
          <p:cNvSpPr/>
          <p:nvPr/>
        </p:nvSpPr>
        <p:spPr>
          <a:xfrm>
            <a:off x="6227763" y="3213100"/>
            <a:ext cx="936625" cy="1152525"/>
          </a:xfrm>
          <a:prstGeom prst="line">
            <a:avLst/>
          </a:prstGeom>
          <a:ln w="76200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23587" name="Line 41"/>
          <p:cNvSpPr/>
          <p:nvPr/>
        </p:nvSpPr>
        <p:spPr>
          <a:xfrm flipV="1">
            <a:off x="6227763" y="3429000"/>
            <a:ext cx="1008062" cy="719138"/>
          </a:xfrm>
          <a:prstGeom prst="line">
            <a:avLst/>
          </a:prstGeom>
          <a:ln w="76200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23588" name="Line 42"/>
          <p:cNvSpPr/>
          <p:nvPr/>
        </p:nvSpPr>
        <p:spPr>
          <a:xfrm>
            <a:off x="6300788" y="2781300"/>
            <a:ext cx="719137" cy="0"/>
          </a:xfrm>
          <a:prstGeom prst="line">
            <a:avLst/>
          </a:prstGeom>
          <a:ln w="762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89" name="Line 43"/>
          <p:cNvSpPr/>
          <p:nvPr/>
        </p:nvSpPr>
        <p:spPr>
          <a:xfrm>
            <a:off x="6372225" y="4868863"/>
            <a:ext cx="649288" cy="0"/>
          </a:xfrm>
          <a:prstGeom prst="line">
            <a:avLst/>
          </a:prstGeom>
          <a:ln w="762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0" name="Line 44"/>
          <p:cNvSpPr/>
          <p:nvPr/>
        </p:nvSpPr>
        <p:spPr>
          <a:xfrm>
            <a:off x="6011863" y="3141663"/>
            <a:ext cx="0" cy="647700"/>
          </a:xfrm>
          <a:prstGeom prst="line">
            <a:avLst/>
          </a:prstGeom>
          <a:ln w="76200" cap="flat" cmpd="sng">
            <a:solidFill>
              <a:srgbClr val="21940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1" name="Line 45"/>
          <p:cNvSpPr/>
          <p:nvPr/>
        </p:nvSpPr>
        <p:spPr>
          <a:xfrm>
            <a:off x="7596188" y="3789363"/>
            <a:ext cx="0" cy="647700"/>
          </a:xfrm>
          <a:prstGeom prst="line">
            <a:avLst/>
          </a:prstGeom>
          <a:ln w="76200" cap="flat" cmpd="sng">
            <a:solidFill>
              <a:srgbClr val="21940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2" name="Line 46"/>
          <p:cNvSpPr/>
          <p:nvPr/>
        </p:nvSpPr>
        <p:spPr>
          <a:xfrm>
            <a:off x="3132138" y="1541463"/>
            <a:ext cx="2873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3" name="Line 47"/>
          <p:cNvSpPr/>
          <p:nvPr/>
        </p:nvSpPr>
        <p:spPr>
          <a:xfrm>
            <a:off x="4932363" y="1541463"/>
            <a:ext cx="2873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4" name="Line 56"/>
          <p:cNvSpPr/>
          <p:nvPr/>
        </p:nvSpPr>
        <p:spPr>
          <a:xfrm>
            <a:off x="3924300" y="4508500"/>
            <a:ext cx="28733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5" name="Line 57"/>
          <p:cNvSpPr/>
          <p:nvPr/>
        </p:nvSpPr>
        <p:spPr>
          <a:xfrm>
            <a:off x="4500563" y="4508500"/>
            <a:ext cx="2873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6" name="Line 59"/>
          <p:cNvSpPr/>
          <p:nvPr/>
        </p:nvSpPr>
        <p:spPr>
          <a:xfrm>
            <a:off x="769938" y="5113338"/>
            <a:ext cx="2873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7" name="Line 60"/>
          <p:cNvSpPr/>
          <p:nvPr/>
        </p:nvSpPr>
        <p:spPr>
          <a:xfrm>
            <a:off x="2124075" y="5127625"/>
            <a:ext cx="28733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8" name="Line 61"/>
          <p:cNvSpPr/>
          <p:nvPr/>
        </p:nvSpPr>
        <p:spPr>
          <a:xfrm>
            <a:off x="3132138" y="5129213"/>
            <a:ext cx="2873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99" name="Line 62"/>
          <p:cNvSpPr/>
          <p:nvPr/>
        </p:nvSpPr>
        <p:spPr>
          <a:xfrm>
            <a:off x="2181225" y="5734050"/>
            <a:ext cx="28733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9.16/9.17</a:t>
            </a:r>
            <a:endParaRPr kumimoji="0" lang="en-US" altLang="zh-CN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9.16</a:t>
            </a:r>
            <a:r>
              <a:rPr lang="en-US" altLang="zh-CN"/>
              <a:t> 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为无向连通图</a:t>
            </a:r>
            <a:r>
              <a:rPr lang="en-US" altLang="zh-CN"/>
              <a:t>,T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的任意一棵生成树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中任一</a:t>
            </a:r>
            <a:r>
              <a:rPr lang="zh-CN" altLang="en-US">
                <a:solidFill>
                  <a:srgbClr val="FF00FF"/>
                </a:solidFill>
              </a:rPr>
              <a:t>断集</a:t>
            </a:r>
            <a:r>
              <a:rPr lang="zh-CN" altLang="en-US"/>
              <a:t>或为</a:t>
            </a:r>
            <a:r>
              <a:rPr lang="en-US" altLang="zh-CN"/>
              <a:t>T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基本割集</a:t>
            </a:r>
            <a:r>
              <a:rPr lang="zh-CN" altLang="en-US"/>
              <a:t>或为</a:t>
            </a:r>
            <a:r>
              <a:rPr lang="zh-CN" altLang="en-US">
                <a:solidFill>
                  <a:srgbClr val="FF00FF"/>
                </a:solidFill>
              </a:rPr>
              <a:t>若干个基本割集的对称差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9.17</a:t>
            </a:r>
            <a:r>
              <a:rPr lang="en-US" altLang="zh-CN">
                <a:sym typeface="Symbol" panose="05050102010706020507" pitchFamily="18" charset="2"/>
              </a:rPr>
              <a:t>  G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</a:t>
            </a:r>
            <a:r>
              <a:rPr lang="en-US" altLang="zh-CN" i="1">
                <a:sym typeface="Symbol" panose="05050102010706020507" pitchFamily="18" charset="2"/>
              </a:rPr>
              <a:t>m</a:t>
            </a:r>
            <a:r>
              <a:rPr lang="zh-CN" altLang="en-US">
                <a:sym typeface="Symbol" panose="05050102010706020507" pitchFamily="18" charset="2"/>
              </a:rPr>
              <a:t>条边的无向连通图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/>
              <a:t>S</a:t>
            </a:r>
            <a:r>
              <a:rPr lang="zh-CN" altLang="en-US" baseline="-25000"/>
              <a:t>断</a:t>
            </a:r>
            <a:r>
              <a:rPr lang="zh-CN" altLang="en-US"/>
              <a:t>为</a:t>
            </a:r>
            <a:r>
              <a:rPr lang="en-US" altLang="zh-CN" i="1">
                <a:sym typeface="Symbol" panose="05050102010706020507" pitchFamily="18" charset="2"/>
              </a:rPr>
              <a:t></a:t>
            </a:r>
            <a:r>
              <a:rPr lang="zh-CN" altLang="en-US">
                <a:sym typeface="Symbol" panose="05050102010706020507" pitchFamily="18" charset="2"/>
              </a:rPr>
              <a:t>的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-1</a:t>
            </a:r>
            <a:r>
              <a:rPr lang="zh-CN" altLang="en-US">
                <a:sym typeface="Symbol" panose="05050102010706020507" pitchFamily="18" charset="2"/>
              </a:rPr>
              <a:t>维子空间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9.16</a:t>
            </a:r>
            <a:r>
              <a:rPr lang="zh-CN" altLang="en-US"/>
              <a:t>的证明</a:t>
            </a:r>
            <a:endParaRPr lang="en-US" altLang="zh-CN"/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9.16</a:t>
            </a:r>
            <a:r>
              <a:rPr lang="en-US" altLang="zh-CN"/>
              <a:t> 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为无向连通图</a:t>
            </a:r>
            <a:r>
              <a:rPr lang="en-US" altLang="zh-CN"/>
              <a:t>,T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的任意一棵生成树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中任一</a:t>
            </a:r>
            <a:r>
              <a:rPr lang="zh-CN" altLang="en-US">
                <a:solidFill>
                  <a:srgbClr val="FF00FF"/>
                </a:solidFill>
              </a:rPr>
              <a:t>断集</a:t>
            </a:r>
            <a:r>
              <a:rPr lang="zh-CN" altLang="en-US"/>
              <a:t>或为</a:t>
            </a:r>
            <a:r>
              <a:rPr lang="en-US" altLang="zh-CN"/>
              <a:t>T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基本割集</a:t>
            </a:r>
            <a:r>
              <a:rPr lang="zh-CN" altLang="en-US"/>
              <a:t>或为</a:t>
            </a:r>
            <a:r>
              <a:rPr lang="zh-CN" altLang="en-US">
                <a:solidFill>
                  <a:srgbClr val="FF00FF"/>
                </a:solidFill>
              </a:rPr>
              <a:t>若干个基本割集的对称差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zh-CN" altLang="en-US"/>
              <a:t>证明 设</a:t>
            </a:r>
            <a:r>
              <a:rPr lang="en-US" altLang="zh-CN"/>
              <a:t>S</a:t>
            </a:r>
            <a:r>
              <a:rPr lang="zh-CN" altLang="en-US"/>
              <a:t>为</a:t>
            </a:r>
            <a:r>
              <a:rPr lang="en-US" altLang="zh-CN"/>
              <a:t>G</a:t>
            </a:r>
            <a:r>
              <a:rPr lang="zh-CN" altLang="en-US"/>
              <a:t>中任意一个断集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S</a:t>
            </a:r>
            <a:r>
              <a:rPr lang="zh-CN" altLang="en-US"/>
              <a:t>至少包含</a:t>
            </a:r>
            <a:r>
              <a:rPr lang="en-US" altLang="zh-CN"/>
              <a:t>T</a:t>
            </a:r>
            <a:r>
              <a:rPr lang="zh-CN" altLang="en-US"/>
              <a:t>的一个树枝</a:t>
            </a:r>
            <a:r>
              <a:rPr lang="en-US" altLang="zh-CN"/>
              <a:t>,</a:t>
            </a:r>
            <a:r>
              <a:rPr lang="zh-CN" altLang="en-US"/>
              <a:t>设</a:t>
            </a:r>
            <a:r>
              <a:rPr lang="en-US" altLang="zh-CN"/>
              <a:t>S</a:t>
            </a:r>
            <a:r>
              <a:rPr lang="zh-CN" altLang="en-US"/>
              <a:t>中含有</a:t>
            </a:r>
            <a:r>
              <a:rPr lang="en-US" altLang="zh-CN"/>
              <a:t>r(1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r</a:t>
            </a:r>
            <a:r>
              <a:rPr lang="en-US" altLang="zh-CN">
                <a:sym typeface="Symbol" panose="05050102010706020507" pitchFamily="18" charset="2"/>
              </a:rPr>
              <a:t>n-1)</a:t>
            </a:r>
            <a:r>
              <a:rPr lang="zh-CN" altLang="en-US"/>
              <a:t>条树枝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en-US" altLang="zh-CN"/>
              <a:t>’,e</a:t>
            </a:r>
            <a:r>
              <a:rPr lang="en-US" altLang="zh-CN" baseline="-25000"/>
              <a:t>2</a:t>
            </a:r>
            <a:r>
              <a:rPr lang="en-US" altLang="zh-CN"/>
              <a:t>’,</a:t>
            </a:r>
            <a:r>
              <a:rPr lang="en-US" altLang="zh-CN"/>
              <a:t>…</a:t>
            </a:r>
            <a:r>
              <a:rPr lang="en-US" altLang="zh-CN"/>
              <a:t>,e</a:t>
            </a:r>
            <a:r>
              <a:rPr lang="en-US" altLang="zh-CN" baseline="-25000"/>
              <a:t>r</a:t>
            </a:r>
            <a:r>
              <a:rPr lang="en-US" altLang="zh-CN"/>
              <a:t>’,</a:t>
            </a:r>
            <a:r>
              <a:rPr lang="zh-CN" altLang="en-US"/>
              <a:t>并设它们对应的基本割集分别是</a:t>
            </a:r>
            <a:r>
              <a:rPr lang="en-US" altLang="zh-CN"/>
              <a:t>S1,S2,</a:t>
            </a:r>
            <a:r>
              <a:rPr lang="en-US" altLang="zh-CN"/>
              <a:t>…</a:t>
            </a:r>
            <a:r>
              <a:rPr lang="en-US" altLang="zh-CN"/>
              <a:t>,Sr,</a:t>
            </a:r>
            <a:r>
              <a:rPr lang="zh-CN" altLang="en-US"/>
              <a:t>令</a:t>
            </a:r>
            <a:r>
              <a:rPr lang="en-US" altLang="zh-CN"/>
              <a:t>S’=S1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 S2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 </a:t>
            </a:r>
            <a:r>
              <a:rPr lang="en-US" altLang="zh-CN"/>
              <a:t>…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Sr,</a:t>
            </a:r>
            <a:r>
              <a:rPr lang="zh-CN" altLang="en-US"/>
              <a:t>由定理</a:t>
            </a:r>
            <a:r>
              <a:rPr lang="en-US" altLang="zh-CN"/>
              <a:t>9.15</a:t>
            </a:r>
            <a:r>
              <a:rPr lang="zh-CN" altLang="en-US"/>
              <a:t>知</a:t>
            </a:r>
            <a:r>
              <a:rPr lang="en-US" altLang="zh-CN"/>
              <a:t>S’</a:t>
            </a:r>
            <a:r>
              <a:rPr lang="zh-CN" altLang="en-US"/>
              <a:t>是断集</a:t>
            </a:r>
            <a:r>
              <a:rPr lang="en-US" altLang="zh-CN"/>
              <a:t>,</a:t>
            </a:r>
            <a:r>
              <a:rPr lang="zh-CN" altLang="en-US"/>
              <a:t>并且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en-US" altLang="zh-CN"/>
              <a:t>’,e</a:t>
            </a:r>
            <a:r>
              <a:rPr lang="en-US" altLang="zh-CN" baseline="-25000"/>
              <a:t>2</a:t>
            </a:r>
            <a:r>
              <a:rPr lang="en-US" altLang="zh-CN"/>
              <a:t>’,</a:t>
            </a:r>
            <a:r>
              <a:rPr lang="en-US" altLang="zh-CN"/>
              <a:t>…</a:t>
            </a:r>
            <a:r>
              <a:rPr lang="en-US" altLang="zh-CN"/>
              <a:t>,e</a:t>
            </a:r>
            <a:r>
              <a:rPr lang="en-US" altLang="zh-CN" baseline="-25000"/>
              <a:t>r</a:t>
            </a:r>
            <a:r>
              <a:rPr lang="en-US" altLang="zh-CN"/>
              <a:t>’</a:t>
            </a:r>
            <a:r>
              <a:rPr lang="zh-CN" altLang="en-US"/>
              <a:t>均在</a:t>
            </a:r>
            <a:r>
              <a:rPr lang="en-US" altLang="zh-CN"/>
              <a:t>S’</a:t>
            </a:r>
            <a:r>
              <a:rPr lang="zh-CN" altLang="en-US"/>
              <a:t>中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zh-CN" altLang="en-US"/>
              <a:t>考虑</a:t>
            </a:r>
            <a:r>
              <a:rPr lang="en-US" altLang="zh-CN"/>
              <a:t>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S’. 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</a:t>
            </a:r>
            <a:r>
              <a:rPr lang="zh-CN" altLang="en-US"/>
              <a:t>是断集</a:t>
            </a:r>
            <a:r>
              <a:rPr lang="en-US" altLang="zh-CN"/>
              <a:t>,</a:t>
            </a:r>
            <a:r>
              <a:rPr lang="zh-CN" altLang="en-US"/>
              <a:t>并且树枝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en-US" altLang="zh-CN"/>
              <a:t>’,e</a:t>
            </a:r>
            <a:r>
              <a:rPr lang="en-US" altLang="zh-CN" baseline="-25000"/>
              <a:t>2</a:t>
            </a:r>
            <a:r>
              <a:rPr lang="en-US" altLang="zh-CN"/>
              <a:t>’,</a:t>
            </a:r>
            <a:r>
              <a:rPr lang="en-US" altLang="zh-CN"/>
              <a:t>…</a:t>
            </a:r>
            <a:r>
              <a:rPr lang="en-US" altLang="zh-CN"/>
              <a:t>,e</a:t>
            </a:r>
            <a:r>
              <a:rPr lang="en-US" altLang="zh-CN" baseline="-25000"/>
              <a:t>r</a:t>
            </a:r>
            <a:r>
              <a:rPr lang="en-US" altLang="zh-CN"/>
              <a:t>’</a:t>
            </a:r>
            <a:r>
              <a:rPr lang="zh-CN" altLang="en-US"/>
              <a:t>均不在</a:t>
            </a:r>
            <a:r>
              <a:rPr lang="en-US" altLang="zh-CN"/>
              <a:t>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</a:t>
            </a:r>
            <a:r>
              <a:rPr lang="zh-CN" altLang="en-US"/>
              <a:t>中</a:t>
            </a:r>
            <a:r>
              <a:rPr lang="en-US" altLang="zh-CN"/>
              <a:t>.</a:t>
            </a:r>
            <a:r>
              <a:rPr lang="zh-CN" altLang="en-US"/>
              <a:t>若</a:t>
            </a:r>
            <a:r>
              <a:rPr lang="en-US" altLang="zh-CN"/>
              <a:t>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</a:t>
            </a:r>
            <a:r>
              <a:rPr lang="en-US" altLang="zh-CN">
                <a:sym typeface="Symbol" panose="05050102010706020507" pitchFamily="18" charset="2"/>
              </a:rPr>
              <a:t>, 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/>
              <a:t>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</a:t>
            </a:r>
            <a:r>
              <a:rPr lang="zh-CN" altLang="en-US"/>
              <a:t>只包含弦</a:t>
            </a:r>
            <a:r>
              <a:rPr lang="en-US" altLang="zh-CN"/>
              <a:t>,</a:t>
            </a:r>
            <a:r>
              <a:rPr lang="zh-CN" altLang="en-US"/>
              <a:t>与</a:t>
            </a:r>
            <a:r>
              <a:rPr lang="en-US" altLang="zh-CN"/>
              <a:t>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</a:t>
            </a:r>
            <a:r>
              <a:rPr lang="zh-CN" altLang="en-US"/>
              <a:t>是断集矛盾</a:t>
            </a:r>
            <a:r>
              <a:rPr lang="en-US" altLang="zh-CN"/>
              <a:t>,</a:t>
            </a:r>
            <a:r>
              <a:rPr lang="zh-CN" altLang="en-US"/>
              <a:t>因此</a:t>
            </a:r>
            <a:r>
              <a:rPr lang="en-US" altLang="zh-CN"/>
              <a:t>S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S’=</a:t>
            </a:r>
            <a:r>
              <a:rPr lang="en-US" altLang="zh-CN">
                <a:sym typeface="Symbol" panose="05050102010706020507" pitchFamily="18" charset="2"/>
              </a:rPr>
              <a:t>,</a:t>
            </a:r>
            <a:r>
              <a:rPr lang="zh-CN" altLang="en-US">
                <a:sym typeface="Symbol" panose="05050102010706020507" pitchFamily="18" charset="2"/>
              </a:rPr>
              <a:t>所以</a:t>
            </a:r>
            <a:r>
              <a:rPr lang="en-US" altLang="zh-CN">
                <a:sym typeface="Symbol" panose="05050102010706020507" pitchFamily="18" charset="2"/>
              </a:rPr>
              <a:t>S=S’.</a:t>
            </a:r>
            <a:endParaRPr lang="en-US" altLang="zh-CN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9.6</a:t>
            </a:r>
            <a:r>
              <a:rPr lang="en-US" altLang="zh-CN"/>
              <a:t>  </a:t>
            </a:r>
            <a:r>
              <a:rPr lang="zh-CN" altLang="en-US"/>
              <a:t>求</a:t>
            </a:r>
            <a:r>
              <a:rPr lang="en-US" altLang="zh-CN"/>
              <a:t>G</a:t>
            </a:r>
            <a:r>
              <a:rPr lang="zh-CN" altLang="en-US"/>
              <a:t>的断集</a:t>
            </a:r>
            <a:r>
              <a:rPr lang="en-US" altLang="zh-CN"/>
              <a:t>S</a:t>
            </a:r>
            <a:r>
              <a:rPr lang="zh-CN" altLang="en-US" baseline="-25000"/>
              <a:t>断</a:t>
            </a:r>
            <a:r>
              <a:rPr lang="en-US" altLang="zh-CN"/>
              <a:t>,</a:t>
            </a:r>
            <a:r>
              <a:rPr lang="zh-CN" altLang="en-US"/>
              <a:t>并指出其中的割集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zh-CN" altLang="en-US"/>
              <a:t> </a:t>
            </a:r>
            <a:r>
              <a:rPr lang="en-US" altLang="zh-CN"/>
              <a:t>T={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</a:t>
            </a:r>
            <a:r>
              <a:rPr lang="zh-CN" altLang="en-US"/>
              <a:t>为树</a:t>
            </a:r>
            <a:r>
              <a:rPr lang="en-US" altLang="zh-CN"/>
              <a:t>,</a:t>
            </a:r>
            <a:r>
              <a:rPr lang="zh-CN" altLang="en-US"/>
              <a:t>对应的基本割集</a:t>
            </a:r>
            <a:endParaRPr lang="zh-CN" altLang="en-US"/>
          </a:p>
          <a:p>
            <a:pPr>
              <a:lnSpc>
                <a:spcPct val="100000"/>
              </a:lnSpc>
              <a:buNone/>
            </a:pPr>
            <a:r>
              <a:rPr lang="zh-CN" altLang="en-US"/>
              <a:t>    </a:t>
            </a:r>
            <a:r>
              <a:rPr lang="en-US" altLang="zh-CN" i="1"/>
              <a:t>S</a:t>
            </a:r>
            <a:r>
              <a:rPr lang="en-US" altLang="zh-CN" i="1" baseline="-25000"/>
              <a:t>a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}, 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/>
              <a:t>={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}, 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={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100000"/>
              </a:lnSpc>
              <a:buNone/>
            </a:pPr>
            <a:r>
              <a:rPr lang="en-US" altLang="zh-CN"/>
              <a:t>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100000"/>
              </a:lnSpc>
              <a:buNone/>
            </a:pPr>
            <a:r>
              <a:rPr lang="en-US" altLang="zh-CN"/>
              <a:t>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100000"/>
              </a:lnSpc>
              <a:buNone/>
            </a:pPr>
            <a:r>
              <a:rPr lang="en-US" altLang="zh-CN"/>
              <a:t>S</a:t>
            </a:r>
            <a:r>
              <a:rPr lang="en-US" altLang="zh-CN" i="1" baseline="-25000"/>
              <a:t>e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={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100000"/>
              </a:lnSpc>
              <a:buNone/>
            </a:pPr>
            <a:r>
              <a:rPr lang="en-US" altLang="zh-CN"/>
              <a:t>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 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100000"/>
              </a:lnSpc>
              <a:buNone/>
            </a:pPr>
            <a:r>
              <a:rPr lang="en-US" altLang="zh-CN"/>
              <a:t>S</a:t>
            </a:r>
            <a:r>
              <a:rPr lang="zh-CN" altLang="en-US" baseline="-25000"/>
              <a:t>断</a:t>
            </a:r>
            <a:r>
              <a:rPr lang="en-US" altLang="zh-CN"/>
              <a:t>={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 ,</a:t>
            </a:r>
            <a:r>
              <a:rPr lang="en-US" altLang="zh-CN" i="1"/>
              <a:t>S</a:t>
            </a:r>
            <a:r>
              <a:rPr lang="en-US" altLang="zh-CN" i="1" baseline="-25000"/>
              <a:t>a</a:t>
            </a:r>
            <a:r>
              <a:rPr lang="en-US" altLang="zh-CN"/>
              <a:t>, 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, 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/>
              <a:t>, 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/>
              <a:t>, 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, S</a:t>
            </a:r>
            <a:r>
              <a:rPr lang="en-US" altLang="zh-CN" i="1" baseline="-25000"/>
              <a:t>e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, 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100000"/>
              </a:lnSpc>
              <a:buNone/>
            </a:pPr>
            <a:r>
              <a:rPr lang="en-US" altLang="zh-CN"/>
              <a:t>S</a:t>
            </a:r>
            <a:r>
              <a:rPr lang="en-US" altLang="zh-CN" i="1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S</a:t>
            </a:r>
            <a:r>
              <a:rPr lang="en-US" altLang="zh-CN" i="1" baseline="-25000"/>
              <a:t>d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</a:t>
            </a:r>
            <a:r>
              <a:rPr lang="zh-CN" altLang="en-US"/>
              <a:t>不是割集</a:t>
            </a:r>
            <a:r>
              <a:rPr lang="en-US" altLang="zh-CN"/>
              <a:t>,</a:t>
            </a:r>
            <a:r>
              <a:rPr lang="zh-CN" altLang="en-US"/>
              <a:t>其余都是割集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26627" name="Group 18"/>
          <p:cNvGrpSpPr/>
          <p:nvPr/>
        </p:nvGrpSpPr>
        <p:grpSpPr>
          <a:xfrm>
            <a:off x="5651500" y="2349500"/>
            <a:ext cx="2281238" cy="1968500"/>
            <a:chOff x="3560" y="1480"/>
            <a:chExt cx="1437" cy="1240"/>
          </a:xfrm>
        </p:grpSpPr>
        <p:sp>
          <p:nvSpPr>
            <p:cNvPr id="26628" name="Oval 4"/>
            <p:cNvSpPr/>
            <p:nvPr/>
          </p:nvSpPr>
          <p:spPr>
            <a:xfrm>
              <a:off x="3742" y="170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29" name="Line 5"/>
            <p:cNvSpPr/>
            <p:nvPr/>
          </p:nvSpPr>
          <p:spPr>
            <a:xfrm>
              <a:off x="3833" y="1752"/>
              <a:ext cx="95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0" name="Oval 6"/>
            <p:cNvSpPr/>
            <p:nvPr/>
          </p:nvSpPr>
          <p:spPr>
            <a:xfrm>
              <a:off x="4740" y="170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1" name="Line 7"/>
            <p:cNvSpPr/>
            <p:nvPr/>
          </p:nvSpPr>
          <p:spPr>
            <a:xfrm>
              <a:off x="3787" y="1842"/>
              <a:ext cx="0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632" name="Oval 8"/>
            <p:cNvSpPr/>
            <p:nvPr/>
          </p:nvSpPr>
          <p:spPr>
            <a:xfrm>
              <a:off x="3742" y="243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3" name="Line 9"/>
            <p:cNvSpPr/>
            <p:nvPr/>
          </p:nvSpPr>
          <p:spPr>
            <a:xfrm>
              <a:off x="4830" y="1842"/>
              <a:ext cx="0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4" name="Oval 10"/>
            <p:cNvSpPr/>
            <p:nvPr/>
          </p:nvSpPr>
          <p:spPr>
            <a:xfrm>
              <a:off x="4785" y="243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5" name="Line 11"/>
            <p:cNvSpPr/>
            <p:nvPr/>
          </p:nvSpPr>
          <p:spPr>
            <a:xfrm>
              <a:off x="3878" y="2478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636" name="Line 12"/>
            <p:cNvSpPr/>
            <p:nvPr/>
          </p:nvSpPr>
          <p:spPr>
            <a:xfrm flipV="1">
              <a:off x="3878" y="1797"/>
              <a:ext cx="907" cy="68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7" name="Text Box 13"/>
            <p:cNvSpPr txBox="1"/>
            <p:nvPr/>
          </p:nvSpPr>
          <p:spPr>
            <a:xfrm>
              <a:off x="4183" y="14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8" name="Text Box 14"/>
            <p:cNvSpPr txBox="1"/>
            <p:nvPr/>
          </p:nvSpPr>
          <p:spPr>
            <a:xfrm>
              <a:off x="3560" y="2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9" name="Text Box 15"/>
            <p:cNvSpPr txBox="1"/>
            <p:nvPr/>
          </p:nvSpPr>
          <p:spPr>
            <a:xfrm>
              <a:off x="4195" y="2432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0" name="Text Box 16"/>
            <p:cNvSpPr txBox="1"/>
            <p:nvPr/>
          </p:nvSpPr>
          <p:spPr>
            <a:xfrm>
              <a:off x="4785" y="193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1" name="Text Box 17"/>
            <p:cNvSpPr txBox="1"/>
            <p:nvPr/>
          </p:nvSpPr>
          <p:spPr>
            <a:xfrm>
              <a:off x="4195" y="1842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2" name="Line 7"/>
            <p:cNvSpPr/>
            <p:nvPr/>
          </p:nvSpPr>
          <p:spPr>
            <a:xfrm>
              <a:off x="3787" y="1842"/>
              <a:ext cx="0" cy="59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3" name="Line 11"/>
            <p:cNvSpPr/>
            <p:nvPr/>
          </p:nvSpPr>
          <p:spPr>
            <a:xfrm>
              <a:off x="3878" y="2478"/>
              <a:ext cx="90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4" name="Text Box 15"/>
            <p:cNvSpPr txBox="1"/>
            <p:nvPr/>
          </p:nvSpPr>
          <p:spPr>
            <a:xfrm>
              <a:off x="4195" y="2432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2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4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8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95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1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25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43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93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总结及作业</a:t>
            </a:r>
            <a:endParaRPr lang="zh-CN" altLang="en-US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熟练求解环路空间和断集空间</a:t>
            </a: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了解环路空间和断集空间的维数</a:t>
            </a: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课堂测试一：</a:t>
            </a:r>
            <a:endParaRPr kumimoji="0" lang="zh-CN" altLang="en-US" sz="2800" b="1" i="0" u="none" strike="noStrike" kern="0" cap="none" spc="0" normalizeH="0" baseline="0" noProof="1">
              <a:solidFill>
                <a:srgbClr val="FF0000"/>
              </a:solidFill>
              <a:latin typeface="+mn-lt"/>
              <a:ea typeface="+mn-ea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     		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环路空间的维数是（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    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）</a:t>
            </a:r>
            <a:r>
              <a:rPr kumimoji="0" lang="zh-CN" altLang="en-US" sz="2800" b="1" i="0" u="sng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    </a:t>
            </a:r>
            <a:endParaRPr kumimoji="0" lang="zh-CN" altLang="en-US" sz="2800" b="1" i="0" u="sng" strike="noStrike" kern="0" cap="none" spc="0" normalizeH="0" baseline="0" noProof="1">
              <a:solidFill>
                <a:srgbClr val="FF0000"/>
              </a:solidFill>
              <a:latin typeface="+mn-lt"/>
              <a:ea typeface="+mn-ea"/>
              <a:cs typeface="黑体" panose="02010609060101010101" pitchFamily="49" charset="-122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             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     断集空间的维数是（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     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+mn-ea"/>
              </a:rPr>
              <a:t>）</a:t>
            </a: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517d5ed0-3883-45ea-8def-f492e0dfe3a0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3992</Words>
  <Application>WPS 演示</Application>
  <PresentationFormat>全屏显示(4:3)</PresentationFormat>
  <Paragraphs>297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Tahoma</vt:lpstr>
      <vt:lpstr>黑体</vt:lpstr>
      <vt:lpstr>Symbol</vt:lpstr>
      <vt:lpstr>Symbol</vt:lpstr>
      <vt:lpstr>Times New Roman</vt:lpstr>
      <vt:lpstr>微软雅黑</vt:lpstr>
      <vt:lpstr>Arial Unicode MS</vt:lpstr>
      <vt:lpstr>Blends</vt:lpstr>
      <vt:lpstr>1_Blends</vt:lpstr>
      <vt:lpstr>子图</vt:lpstr>
      <vt:lpstr>图运算II</vt:lpstr>
      <vt:lpstr>环路空间和断集空间</vt:lpstr>
      <vt:lpstr>9.3 环路空间</vt:lpstr>
      <vt:lpstr>定理9.10</vt:lpstr>
      <vt:lpstr>定理9.10的证明</vt:lpstr>
      <vt:lpstr>定理9.10的证明</vt:lpstr>
      <vt:lpstr>定理9.11</vt:lpstr>
      <vt:lpstr>定理9.11的证明</vt:lpstr>
      <vt:lpstr>定理9.12</vt:lpstr>
      <vt:lpstr>定理9.12</vt:lpstr>
      <vt:lpstr>举例</vt:lpstr>
      <vt:lpstr>9.4 断集空间</vt:lpstr>
      <vt:lpstr>举例</vt:lpstr>
      <vt:lpstr>定理9.13</vt:lpstr>
      <vt:lpstr>定理9.14/9.15</vt:lpstr>
      <vt:lpstr>定理9.15(证明)</vt:lpstr>
      <vt:lpstr>定理9.16/9.17</vt:lpstr>
      <vt:lpstr>定理9.16的证明</vt:lpstr>
      <vt:lpstr>举例</vt:lpstr>
      <vt:lpstr>总结及作业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小天鹅</cp:lastModifiedBy>
  <cp:revision>834</cp:revision>
  <cp:lastPrinted>2018-04-23T00:23:00Z</cp:lastPrinted>
  <dcterms:created xsi:type="dcterms:W3CDTF">2008-01-04T07:39:00Z</dcterms:created>
  <dcterms:modified xsi:type="dcterms:W3CDTF">2023-11-01T22:34:10Z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0007E7A8EFFC4F2F8FE6F6C558916E84</vt:lpwstr>
  </property>
</Properties>
</file>