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14"/>
  </p:notesMasterIdLst>
  <p:sldIdLst>
    <p:sldId id="256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258" r:id="rId12"/>
    <p:sldId id="259" r:id="rId13"/>
    <p:sldId id="300" r:id="rId15"/>
    <p:sldId id="306" r:id="rId16"/>
    <p:sldId id="307" r:id="rId17"/>
    <p:sldId id="353" r:id="rId18"/>
    <p:sldId id="261" r:id="rId19"/>
    <p:sldId id="301" r:id="rId20"/>
    <p:sldId id="262" r:id="rId21"/>
    <p:sldId id="264" r:id="rId22"/>
    <p:sldId id="265" r:id="rId23"/>
    <p:sldId id="303" r:id="rId24"/>
    <p:sldId id="302" r:id="rId25"/>
    <p:sldId id="518" r:id="rId26"/>
    <p:sldId id="304" r:id="rId27"/>
    <p:sldId id="308" r:id="rId28"/>
    <p:sldId id="477" r:id="rId29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E4A8"/>
    <a:srgbClr val="FF0000"/>
    <a:srgbClr val="8011B0"/>
    <a:srgbClr val="33D4D5"/>
    <a:srgbClr val="BBF7FD"/>
    <a:srgbClr val="0066FF"/>
    <a:srgbClr val="FF00FF"/>
    <a:srgbClr val="80808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5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9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fontAlgn="base" hangingPunct="1"/>
            <a:fld id="{9A0DB2DC-4C9A-4742-B13C-FB6460FD3503}" type="slidenum">
              <a:rPr lang="en-US" altLang="zh-CN" sz="1200" b="0" i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i="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举例板书：对给定图进行点、边、面着色</a:t>
            </a:r>
            <a:endParaRPr lang="en-US" altLang="zh-CN" dirty="0"/>
          </a:p>
        </p:txBody>
      </p:sp>
      <p:sp>
        <p:nvSpPr>
          <p:cNvPr id="17412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左边的图最少需要</a:t>
            </a:r>
            <a:r>
              <a:rPr lang="en-US" altLang="zh-CN" dirty="0"/>
              <a:t>4</a:t>
            </a:r>
            <a:r>
              <a:rPr lang="zh-CN" altLang="en-US" dirty="0"/>
              <a:t>种颜色，右边最少需要</a:t>
            </a:r>
            <a:r>
              <a:rPr lang="en-US" altLang="zh-CN" dirty="0"/>
              <a:t>3</a:t>
            </a:r>
            <a:r>
              <a:rPr lang="zh-CN" altLang="en-US" dirty="0"/>
              <a:t>种颜色</a:t>
            </a:r>
            <a:endParaRPr lang="en-US" altLang="zh-CN" dirty="0"/>
          </a:p>
        </p:txBody>
      </p:sp>
      <p:sp>
        <p:nvSpPr>
          <p:cNvPr id="19460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左边的图最少需要</a:t>
            </a:r>
            <a:r>
              <a:rPr lang="en-US" altLang="zh-CN" dirty="0"/>
              <a:t>4</a:t>
            </a:r>
            <a:r>
              <a:rPr lang="zh-CN" altLang="en-US" dirty="0"/>
              <a:t>种颜色，右边最少需要</a:t>
            </a:r>
            <a:r>
              <a:rPr lang="en-US" altLang="zh-CN" dirty="0"/>
              <a:t>3</a:t>
            </a:r>
            <a:r>
              <a:rPr lang="zh-CN" altLang="en-US" dirty="0"/>
              <a:t>种颜色</a:t>
            </a:r>
            <a:endParaRPr lang="en-US" altLang="zh-CN" dirty="0"/>
          </a:p>
        </p:txBody>
      </p:sp>
      <p:sp>
        <p:nvSpPr>
          <p:cNvPr id="21508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左边的图最少需要</a:t>
            </a:r>
            <a:r>
              <a:rPr lang="en-US" altLang="zh-CN" dirty="0"/>
              <a:t>4</a:t>
            </a:r>
            <a:r>
              <a:rPr lang="zh-CN" altLang="en-US" dirty="0"/>
              <a:t>种颜色，右边最少需要</a:t>
            </a:r>
            <a:r>
              <a:rPr lang="en-US" altLang="zh-CN" dirty="0"/>
              <a:t>3</a:t>
            </a:r>
            <a:r>
              <a:rPr lang="zh-CN" altLang="en-US" dirty="0"/>
              <a:t>种颜色</a:t>
            </a:r>
            <a:endParaRPr lang="en-US" altLang="zh-CN" dirty="0"/>
          </a:p>
        </p:txBody>
      </p:sp>
      <p:sp>
        <p:nvSpPr>
          <p:cNvPr id="23556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给定图，让学生求点色数、边色数和面色数</a:t>
            </a:r>
            <a:endParaRPr lang="en-US" altLang="zh-CN" dirty="0"/>
          </a:p>
        </p:txBody>
      </p:sp>
      <p:sp>
        <p:nvSpPr>
          <p:cNvPr id="26628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几类特殊图的点色数</a:t>
            </a:r>
            <a:endParaRPr lang="en-US" altLang="zh-CN" dirty="0"/>
          </a:p>
        </p:txBody>
      </p:sp>
      <p:sp>
        <p:nvSpPr>
          <p:cNvPr id="29700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提问：含有寄圈的图，其色数可能为</a:t>
            </a:r>
            <a:r>
              <a:rPr lang="en-US" altLang="zh-CN" dirty="0"/>
              <a:t>2</a:t>
            </a:r>
            <a:r>
              <a:rPr lang="zh-CN" altLang="en-US" dirty="0"/>
              <a:t>吗？</a:t>
            </a:r>
            <a:endParaRPr lang="en-US" altLang="zh-CN" dirty="0"/>
          </a:p>
          <a:p>
            <a:pPr lvl="0"/>
            <a:r>
              <a:rPr lang="en-US" altLang="zh-CN" dirty="0"/>
              <a:t>           </a:t>
            </a:r>
            <a:r>
              <a:rPr lang="zh-CN" altLang="en-US" dirty="0"/>
              <a:t>色数为</a:t>
            </a:r>
            <a:r>
              <a:rPr lang="en-US" altLang="zh-CN" dirty="0"/>
              <a:t>1</a:t>
            </a:r>
            <a:r>
              <a:rPr lang="zh-CN" altLang="en-US" dirty="0"/>
              <a:t>的图有哪些？</a:t>
            </a:r>
            <a:endParaRPr lang="en-US" altLang="zh-CN" dirty="0"/>
          </a:p>
        </p:txBody>
      </p:sp>
      <p:sp>
        <p:nvSpPr>
          <p:cNvPr id="33796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8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>
            <a:xfrm>
              <a:off x="185" y="68"/>
              <a:ext cx="449" cy="299"/>
              <a:chOff x="0" y="0"/>
              <a:chExt cx="624" cy="432"/>
            </a:xfrm>
          </p:grpSpPr>
          <p:sp>
            <p:nvSpPr>
              <p:cNvPr id="2052" name="Rectangle 4"/>
              <p:cNvSpPr/>
              <p:nvPr/>
            </p:nvSpPr>
            <p:spPr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3" name="Rectangle 5"/>
              <p:cNvSpPr/>
              <p:nvPr/>
            </p:nvSpPr>
            <p:spPr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3" y="334"/>
              <a:ext cx="466" cy="299"/>
              <a:chOff x="0" y="0"/>
              <a:chExt cx="672" cy="432"/>
            </a:xfrm>
          </p:grpSpPr>
          <p:sp>
            <p:nvSpPr>
              <p:cNvPr id="2055" name="Rectangle 7"/>
              <p:cNvSpPr/>
              <p:nvPr/>
            </p:nvSpPr>
            <p:spPr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Rectangle 8"/>
              <p:cNvSpPr/>
              <p:nvPr/>
            </p:nvSpPr>
            <p:spPr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57" name="Rectangle 9"/>
            <p:cNvSpPr/>
            <p:nvPr/>
          </p:nvSpPr>
          <p:spPr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i="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8" name="Rectangle 10"/>
            <p:cNvSpPr/>
            <p:nvPr/>
          </p:nvSpPr>
          <p:spPr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i="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9" name="Rectangle 11"/>
            <p:cNvSpPr/>
            <p:nvPr/>
          </p:nvSpPr>
          <p:spPr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i="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60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61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62" name="Rectangle 14"/>
          <p:cNvSpPr>
            <a:spLocks noGrp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2063" name="Rectangle 15"/>
          <p:cNvSpPr>
            <a:spLocks noGrp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064" name="Rectangle 16"/>
          <p:cNvSpPr>
            <a:spLocks noGrp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>
                <a:solidFill>
                  <a:schemeClr val="bg2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3" Type="http://schemas.openxmlformats.org/officeDocument/2006/relationships/notesSlide" Target="../notesSlides/notesSlide6.xml"/><Relationship Id="rId32" Type="http://schemas.openxmlformats.org/officeDocument/2006/relationships/vmlDrawing" Target="../drawings/vmlDrawing1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41.png"/><Relationship Id="rId3" Type="http://schemas.openxmlformats.org/officeDocument/2006/relationships/image" Target="../media/image14.png"/><Relationship Id="rId29" Type="http://schemas.openxmlformats.org/officeDocument/2006/relationships/image" Target="../media/image40.png"/><Relationship Id="rId28" Type="http://schemas.openxmlformats.org/officeDocument/2006/relationships/image" Target="../media/image39.png"/><Relationship Id="rId27" Type="http://schemas.openxmlformats.org/officeDocument/2006/relationships/image" Target="../media/image38.png"/><Relationship Id="rId26" Type="http://schemas.openxmlformats.org/officeDocument/2006/relationships/image" Target="../media/image37.png"/><Relationship Id="rId25" Type="http://schemas.openxmlformats.org/officeDocument/2006/relationships/image" Target="../media/image36.png"/><Relationship Id="rId24" Type="http://schemas.openxmlformats.org/officeDocument/2006/relationships/image" Target="../media/image35.png"/><Relationship Id="rId23" Type="http://schemas.openxmlformats.org/officeDocument/2006/relationships/image" Target="../media/image34.png"/><Relationship Id="rId22" Type="http://schemas.openxmlformats.org/officeDocument/2006/relationships/image" Target="../media/image33.png"/><Relationship Id="rId21" Type="http://schemas.openxmlformats.org/officeDocument/2006/relationships/image" Target="../media/image32.png"/><Relationship Id="rId20" Type="http://schemas.openxmlformats.org/officeDocument/2006/relationships/image" Target="../media/image31.png"/><Relationship Id="rId2" Type="http://schemas.openxmlformats.org/officeDocument/2006/relationships/image" Target="../media/image13.wmf"/><Relationship Id="rId19" Type="http://schemas.openxmlformats.org/officeDocument/2006/relationships/image" Target="../media/image30.png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png"/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ctrTitle" idx="4294967295"/>
          </p:nvPr>
        </p:nvSpPr>
        <p:spPr>
          <a:xfrm>
            <a:off x="990600" y="1676400"/>
            <a:ext cx="7772400" cy="1462088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algn="ctr" eaLnBrk="1" hangingPunct="1">
              <a:buClrTx/>
              <a:buSzTx/>
              <a:buFontTx/>
            </a:pPr>
            <a:r>
              <a:rPr lang="zh-CN" altLang="en-US" sz="4800"/>
              <a:t>图  的  着  色</a:t>
            </a:r>
            <a:endParaRPr lang="zh-CN" altLang="en-US" sz="4800"/>
          </a:p>
        </p:txBody>
      </p:sp>
      <p:sp>
        <p:nvSpPr>
          <p:cNvPr id="7170" name="Rectangle 3"/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 vert="horz" wrap="square" anchor="t" anchorCtr="0"/>
          <a:lstStyle>
            <a:lvl1pPr marL="0" lvl="0" indent="0" algn="ctr"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lvl1pPr>
            <a:lvl2pPr marL="457200" lvl="1" indent="0" algn="ctr">
              <a:buClr>
                <a:schemeClr val="hlink"/>
              </a:buClr>
              <a:buSzPct val="75000"/>
              <a:buFont typeface="Wingdings" panose="05000000000000000000" pitchFamily="2" charset="2"/>
              <a:defRPr/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defRPr/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defRPr/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defRPr/>
            </a:lvl5pPr>
          </a:lstStyle>
          <a:p>
            <a:pPr marL="0" lvl="0" indent="0" algn="ctr" eaLnBrk="1" hangingPunct="1">
              <a:buNone/>
            </a:pPr>
            <a:r>
              <a:rPr lang="zh-CN" altLang="en-US"/>
              <a:t>中国海洋大学</a:t>
            </a:r>
            <a:endParaRPr lang="zh-CN" altLang="en-US"/>
          </a:p>
          <a:p>
            <a:pPr marL="0" lvl="0" indent="0" algn="ctr" eaLnBrk="1" hangingPunct="1">
              <a:buNone/>
            </a:pPr>
            <a:r>
              <a:rPr lang="zh-CN" altLang="en-US"/>
              <a:t>计算机系</a:t>
            </a:r>
            <a:endParaRPr lang="zh-CN" altLang="en-US"/>
          </a:p>
        </p:txBody>
      </p:sp>
      <p:sp>
        <p:nvSpPr>
          <p:cNvPr id="8196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solidFill>
                  <a:srgbClr val="002060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solidFill>
                <a:srgbClr val="00206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>
          <a:xfrm>
            <a:off x="1150938" y="69850"/>
            <a:ext cx="8245475" cy="982663"/>
          </a:xfrm>
        </p:spPr>
        <p:txBody>
          <a:bodyPr vert="horz" wrap="square" anchor="b" anchorCtr="0"/>
          <a:p>
            <a:pPr eaLnBrk="1" hangingPunct="1"/>
            <a:r>
              <a:rPr lang="zh-CN" altLang="en-US" dirty="0"/>
              <a:t>四色问题</a:t>
            </a:r>
            <a:r>
              <a:rPr lang="en-US" altLang="zh-CN" sz="4000" dirty="0"/>
              <a:t>(Four Color Problem)</a:t>
            </a:r>
            <a:endParaRPr lang="zh-CN" altLang="en-US" sz="4000" dirty="0"/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pPr eaLnBrk="1" hangingPunct="1"/>
            <a:r>
              <a:rPr lang="en-US" altLang="zh-CN" dirty="0"/>
              <a:t>1852, Francis Guthrie, </a:t>
            </a:r>
            <a:r>
              <a:rPr lang="zh-CN" altLang="en-US" dirty="0"/>
              <a:t>注意到英格兰地图可以用</a:t>
            </a:r>
            <a:r>
              <a:rPr lang="en-US" altLang="zh-CN" dirty="0"/>
              <a:t>4</a:t>
            </a:r>
            <a:r>
              <a:rPr lang="zh-CN" altLang="en-US" dirty="0"/>
              <a:t>种颜色染色</a:t>
            </a:r>
            <a:r>
              <a:rPr lang="en-US" altLang="zh-CN" dirty="0"/>
              <a:t>, </a:t>
            </a:r>
            <a:r>
              <a:rPr lang="zh-CN" altLang="en-US" dirty="0"/>
              <a:t>使得相邻区域</a:t>
            </a:r>
            <a:r>
              <a:rPr lang="en-US" altLang="zh-CN" dirty="0"/>
              <a:t>(</a:t>
            </a:r>
            <a:r>
              <a:rPr lang="zh-CN" altLang="en-US" dirty="0"/>
              <a:t>有一段公共边界</a:t>
            </a:r>
            <a:r>
              <a:rPr lang="en-US" altLang="zh-CN" dirty="0"/>
              <a:t>,</a:t>
            </a:r>
            <a:r>
              <a:rPr lang="zh-CN" altLang="en-US" dirty="0"/>
              <a:t>不只是有一个公共点</a:t>
            </a:r>
            <a:r>
              <a:rPr lang="en-US" altLang="zh-CN" dirty="0"/>
              <a:t>)</a:t>
            </a:r>
            <a:r>
              <a:rPr lang="zh-CN" altLang="en-US" dirty="0"/>
              <a:t>有不同颜色</a:t>
            </a:r>
            <a:r>
              <a:rPr lang="en-US" altLang="zh-CN" dirty="0"/>
              <a:t>; </a:t>
            </a:r>
            <a:r>
              <a:rPr lang="zh-CN" altLang="en-US" dirty="0"/>
              <a:t>他问其弟</a:t>
            </a:r>
            <a:r>
              <a:rPr lang="en-US" altLang="zh-CN" dirty="0"/>
              <a:t>Frederick </a:t>
            </a:r>
            <a:r>
              <a:rPr lang="zh-CN" altLang="en-US" dirty="0"/>
              <a:t>是否任意地图都有此性质</a:t>
            </a:r>
            <a:r>
              <a:rPr lang="en-US" altLang="zh-CN" dirty="0"/>
              <a:t>? </a:t>
            </a:r>
            <a:endParaRPr lang="zh-CN" altLang="en-US" dirty="0"/>
          </a:p>
          <a:p>
            <a:pPr eaLnBrk="1" hangingPunct="1"/>
            <a:r>
              <a:rPr lang="en-US" altLang="zh-CN" dirty="0"/>
              <a:t>Frederick Guthrie → DeMorgan → Hamilton.</a:t>
            </a:r>
            <a:endParaRPr lang="en-US" altLang="zh-CN" dirty="0"/>
          </a:p>
          <a:p>
            <a:pPr eaLnBrk="1" hangingPunct="1"/>
            <a:r>
              <a:rPr lang="en-US" altLang="zh-CN" dirty="0"/>
              <a:t>1872, Cayley, </a:t>
            </a:r>
            <a:r>
              <a:rPr lang="zh-CN" altLang="en-US" dirty="0"/>
              <a:t>提交伦敦数学会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solidFill>
                  <a:srgbClr val="002060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solidFill>
                <a:srgbClr val="00206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标题 1"/>
          <p:cNvSpPr>
            <a:spLocks noGrp="1"/>
          </p:cNvSpPr>
          <p:nvPr>
            <p:ph type="title" idx="4294967295"/>
          </p:nvPr>
        </p:nvSpPr>
        <p:spPr>
          <a:xfrm>
            <a:off x="1150938" y="69850"/>
            <a:ext cx="8316912" cy="982663"/>
          </a:xfrm>
        </p:spPr>
        <p:txBody>
          <a:bodyPr vert="horz" wrap="square" anchor="b" anchorCtr="0"/>
          <a:p>
            <a:pPr eaLnBrk="1" hangingPunct="1"/>
            <a:r>
              <a:rPr lang="zh-CN" altLang="en-US" dirty="0"/>
              <a:t>四色问题</a:t>
            </a:r>
            <a:r>
              <a:rPr lang="en-US" altLang="zh-CN" sz="4000" dirty="0"/>
              <a:t>(Four Color Problem)</a:t>
            </a:r>
            <a:endParaRPr lang="zh-CN" altLang="en-US" sz="4000" dirty="0"/>
          </a:p>
        </p:txBody>
      </p:sp>
      <p:sp>
        <p:nvSpPr>
          <p:cNvPr id="9220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pic>
        <p:nvPicPr>
          <p:cNvPr id="9221" name="Picture 2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827088" y="1703388"/>
            <a:ext cx="6802437" cy="4246562"/>
          </a:xfrm>
        </p:spPr>
      </p:pic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42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1"/>
          <a:srcRect t="26778" b="26778"/>
          <a:stretch>
            <a:fillRect/>
          </a:stretch>
        </p:blipFill>
        <p:spPr>
          <a:xfrm>
            <a:off x="539750" y="1412875"/>
            <a:ext cx="7272338" cy="4498975"/>
          </a:xfrm>
        </p:spPr>
      </p:pic>
      <p:sp>
        <p:nvSpPr>
          <p:cNvPr id="10244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/>
          </p:cNvSpPr>
          <p:nvPr>
            <p:ph type="title" idx="4294967295"/>
          </p:nvPr>
        </p:nvSpPr>
        <p:spPr>
          <a:xfrm>
            <a:off x="1150938" y="69850"/>
            <a:ext cx="8245475" cy="982663"/>
          </a:xfrm>
        </p:spPr>
        <p:txBody>
          <a:bodyPr vert="horz" wrap="square" anchor="b" anchorCtr="0"/>
          <a:p>
            <a:pPr eaLnBrk="1" hangingPunct="1"/>
            <a:r>
              <a:rPr lang="zh-CN" altLang="en-US" dirty="0"/>
              <a:t>四色问题</a:t>
            </a:r>
            <a:r>
              <a:rPr lang="en-US" altLang="zh-CN" sz="4000" dirty="0"/>
              <a:t>(Four Color Problem)</a:t>
            </a:r>
            <a:endParaRPr lang="zh-CN" altLang="en-US" sz="4000" dirty="0"/>
          </a:p>
        </p:txBody>
      </p:sp>
      <p:sp>
        <p:nvSpPr>
          <p:cNvPr id="11267" name="内容占位符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pPr eaLnBrk="1" hangingPunct="1"/>
            <a:r>
              <a:rPr lang="en-US" altLang="zh-CN" dirty="0"/>
              <a:t>1878~1880</a:t>
            </a:r>
            <a:r>
              <a:rPr lang="zh-CN" altLang="en-US" dirty="0"/>
              <a:t>，</a:t>
            </a:r>
            <a:r>
              <a:rPr lang="en-US" altLang="zh-CN" dirty="0"/>
              <a:t>Kempe</a:t>
            </a:r>
            <a:r>
              <a:rPr lang="zh-CN" altLang="en-US" dirty="0"/>
              <a:t>和</a:t>
            </a:r>
            <a:r>
              <a:rPr lang="en-US" altLang="zh-CN" dirty="0"/>
              <a:t>Brook Taylor</a:t>
            </a:r>
            <a:r>
              <a:rPr lang="zh-CN" altLang="en-US" dirty="0"/>
              <a:t>分别证明</a:t>
            </a:r>
            <a:endParaRPr lang="en-US" altLang="zh-CN" dirty="0"/>
          </a:p>
          <a:p>
            <a:pPr eaLnBrk="1" hangingPunct="1"/>
            <a:r>
              <a:rPr lang="en-US" altLang="zh-CN" dirty="0"/>
              <a:t>1890</a:t>
            </a:r>
            <a:r>
              <a:rPr lang="zh-CN" altLang="en-US" dirty="0"/>
              <a:t>，</a:t>
            </a:r>
            <a:r>
              <a:rPr lang="en-US" altLang="zh-CN" dirty="0"/>
              <a:t>Heawood </a:t>
            </a:r>
            <a:r>
              <a:rPr lang="zh-CN" altLang="en-US" dirty="0"/>
              <a:t>发现</a:t>
            </a:r>
            <a:r>
              <a:rPr lang="en-US" altLang="zh-CN" dirty="0"/>
              <a:t>Kempe</a:t>
            </a:r>
            <a:r>
              <a:rPr lang="zh-CN" altLang="en-US" dirty="0"/>
              <a:t>证明的错误</a:t>
            </a:r>
            <a:endParaRPr lang="en-US" altLang="zh-CN" dirty="0"/>
          </a:p>
          <a:p>
            <a:pPr eaLnBrk="1" hangingPunct="1"/>
            <a:r>
              <a:rPr lang="en-US" altLang="zh-CN" dirty="0"/>
              <a:t>1891, Petersen</a:t>
            </a:r>
            <a:r>
              <a:rPr lang="zh-CN" altLang="en-US" dirty="0"/>
              <a:t>发现</a:t>
            </a:r>
            <a:r>
              <a:rPr lang="en-US" altLang="zh-CN" dirty="0"/>
              <a:t>Taylor</a:t>
            </a:r>
            <a:r>
              <a:rPr lang="zh-CN" altLang="en-US" dirty="0"/>
              <a:t>证明的漏洞</a:t>
            </a:r>
            <a:r>
              <a:rPr lang="en-US" altLang="zh-CN" dirty="0"/>
              <a:t>(Taylor</a:t>
            </a:r>
            <a:r>
              <a:rPr lang="zh-CN" altLang="en-US" dirty="0"/>
              <a:t>猜想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/>
            <a:r>
              <a:rPr lang="en-US" altLang="zh-CN" dirty="0"/>
              <a:t>1946, Tutte</a:t>
            </a:r>
            <a:r>
              <a:rPr lang="zh-CN" altLang="en-US" dirty="0"/>
              <a:t>发现</a:t>
            </a:r>
            <a:r>
              <a:rPr lang="en-US" altLang="zh-CN" dirty="0"/>
              <a:t>Taylor</a:t>
            </a:r>
            <a:r>
              <a:rPr lang="zh-CN" altLang="en-US" dirty="0"/>
              <a:t>证明的错误</a:t>
            </a:r>
            <a:r>
              <a:rPr lang="en-US" altLang="zh-CN" dirty="0"/>
              <a:t>(Tait</a:t>
            </a:r>
            <a:r>
              <a:rPr lang="zh-CN" altLang="en-US" dirty="0"/>
              <a:t>猜想反例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/>
            <a:r>
              <a:rPr lang="zh-CN" altLang="en-US" dirty="0"/>
              <a:t>两次错误证明带来的收获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“</a:t>
            </a:r>
            <a:r>
              <a:rPr lang="en-US" altLang="zh-CN" dirty="0"/>
              <a:t>Kempe chains”,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用“</a:t>
            </a:r>
            <a:r>
              <a:rPr lang="en-US" altLang="zh-CN" dirty="0"/>
              <a:t>3-</a:t>
            </a:r>
            <a:r>
              <a:rPr lang="zh-CN" altLang="en-US" dirty="0"/>
              <a:t>边</a:t>
            </a:r>
            <a:r>
              <a:rPr lang="en-US" altLang="zh-CN" dirty="0"/>
              <a:t>-</a:t>
            </a:r>
            <a:r>
              <a:rPr lang="zh-CN" altLang="en-US" dirty="0"/>
              <a:t>着色”描述的四色定理的等价形式</a:t>
            </a:r>
            <a:endParaRPr lang="zh-CN" altLang="en-US" dirty="0"/>
          </a:p>
        </p:txBody>
      </p:sp>
      <p:sp>
        <p:nvSpPr>
          <p:cNvPr id="11269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 idx="4294967295"/>
          </p:nvPr>
        </p:nvSpPr>
        <p:spPr>
          <a:xfrm>
            <a:off x="1150938" y="69850"/>
            <a:ext cx="8316912" cy="982663"/>
          </a:xfrm>
        </p:spPr>
        <p:txBody>
          <a:bodyPr vert="horz" wrap="square" anchor="b" anchorCtr="0"/>
          <a:p>
            <a:pPr eaLnBrk="1" hangingPunct="1"/>
            <a:r>
              <a:rPr lang="zh-CN" altLang="en-US" dirty="0"/>
              <a:t>四色问题</a:t>
            </a:r>
            <a:r>
              <a:rPr lang="en-US" altLang="zh-CN" sz="4000" dirty="0"/>
              <a:t>(Four Color Problem)</a:t>
            </a:r>
            <a:endParaRPr lang="zh-CN" altLang="en-US" sz="4000" dirty="0"/>
          </a:p>
        </p:txBody>
      </p:sp>
      <p:sp>
        <p:nvSpPr>
          <p:cNvPr id="12291" name="内容占位符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pPr eaLnBrk="1" hangingPunct="1"/>
            <a:r>
              <a:rPr lang="en-US" altLang="zh-CN" dirty="0"/>
              <a:t>1913, Birkhoff, </a:t>
            </a:r>
            <a:r>
              <a:rPr lang="zh-CN" altLang="en-US" dirty="0"/>
              <a:t>下一个大贡献</a:t>
            </a:r>
            <a:r>
              <a:rPr lang="en-US" altLang="zh-CN" dirty="0"/>
              <a:t>, </a:t>
            </a:r>
            <a:r>
              <a:rPr lang="zh-CN" altLang="en-US" dirty="0"/>
              <a:t>导致</a:t>
            </a:r>
            <a:endParaRPr lang="zh-CN" altLang="en-US" dirty="0"/>
          </a:p>
          <a:p>
            <a:pPr eaLnBrk="1" hangingPunct="1"/>
            <a:r>
              <a:rPr lang="en-US" altLang="zh-CN" dirty="0"/>
              <a:t>1922, Franklin, </a:t>
            </a:r>
            <a:r>
              <a:rPr lang="zh-CN" altLang="en-US" dirty="0"/>
              <a:t>证明不超过</a:t>
            </a:r>
            <a:r>
              <a:rPr lang="en-US" altLang="zh-CN" dirty="0"/>
              <a:t>25</a:t>
            </a:r>
            <a:r>
              <a:rPr lang="zh-CN" altLang="en-US" dirty="0"/>
              <a:t>个区域的地图四色猜想成立</a:t>
            </a:r>
            <a:endParaRPr lang="zh-CN" altLang="en-US" dirty="0"/>
          </a:p>
          <a:p>
            <a:pPr eaLnBrk="1" hangingPunct="1"/>
            <a:r>
              <a:rPr lang="zh-CN" altLang="en-US" dirty="0"/>
              <a:t>其他人取得其他形式进展</a:t>
            </a:r>
            <a:r>
              <a:rPr lang="en-US" altLang="zh-CN" dirty="0"/>
              <a:t>:1974,52</a:t>
            </a:r>
            <a:r>
              <a:rPr lang="zh-CN" altLang="en-US" dirty="0"/>
              <a:t>区域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12293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 idx="4294967295"/>
          </p:nvPr>
        </p:nvSpPr>
        <p:spPr>
          <a:xfrm>
            <a:off x="1150938" y="69850"/>
            <a:ext cx="8677275" cy="982663"/>
          </a:xfrm>
        </p:spPr>
        <p:txBody>
          <a:bodyPr vert="horz" wrap="square" anchor="b" anchorCtr="0"/>
          <a:p>
            <a:pPr eaLnBrk="1" hangingPunct="1"/>
            <a:r>
              <a:rPr lang="zh-CN" altLang="en-US" dirty="0"/>
              <a:t>四色问题</a:t>
            </a:r>
            <a:r>
              <a:rPr lang="en-US" altLang="zh-CN" sz="4000" dirty="0"/>
              <a:t>(Four Color Problem)</a:t>
            </a:r>
            <a:endParaRPr lang="zh-CN" altLang="en-US" sz="4000" dirty="0"/>
          </a:p>
        </p:txBody>
      </p:sp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pPr eaLnBrk="1" hangingPunct="1"/>
            <a:r>
              <a:rPr lang="en-US" altLang="zh-CN" dirty="0"/>
              <a:t>1936-50,Heesch,</a:t>
            </a:r>
            <a:r>
              <a:rPr lang="zh-CN" altLang="en-US" dirty="0"/>
              <a:t>最终解决问题的两个要素</a:t>
            </a:r>
            <a:r>
              <a:rPr lang="en-US" altLang="zh-CN" dirty="0"/>
              <a:t>: 10000</a:t>
            </a:r>
            <a:r>
              <a:rPr lang="zh-CN" altLang="en-US" dirty="0"/>
              <a:t>个情形</a:t>
            </a:r>
            <a:r>
              <a:rPr lang="en-US" altLang="zh-CN" dirty="0"/>
              <a:t>,100</a:t>
            </a:r>
            <a:r>
              <a:rPr lang="zh-CN" altLang="en-US" dirty="0"/>
              <a:t>年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约化</a:t>
            </a:r>
            <a:r>
              <a:rPr lang="en-US" altLang="zh-CN" dirty="0"/>
              <a:t>(reducibility),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放电</a:t>
            </a:r>
            <a:r>
              <a:rPr lang="en-US" altLang="zh-CN" dirty="0"/>
              <a:t>(discharging).</a:t>
            </a:r>
            <a:endParaRPr lang="en-US" altLang="zh-CN" dirty="0"/>
          </a:p>
          <a:p>
            <a:pPr eaLnBrk="1" hangingPunct="1"/>
            <a:r>
              <a:rPr lang="en-US" altLang="zh-CN" dirty="0"/>
              <a:t>1972-76, Appel, Haken, 1482</a:t>
            </a:r>
            <a:r>
              <a:rPr lang="zh-CN" altLang="en-US" dirty="0"/>
              <a:t>个情形</a:t>
            </a:r>
            <a:r>
              <a:rPr lang="en-US" altLang="zh-CN" dirty="0"/>
              <a:t>,     IBM360, 1200</a:t>
            </a:r>
            <a:r>
              <a:rPr lang="zh-CN" altLang="en-US" dirty="0"/>
              <a:t>小时</a:t>
            </a:r>
            <a:r>
              <a:rPr lang="en-US" altLang="zh-CN" dirty="0"/>
              <a:t>, </a:t>
            </a:r>
            <a:r>
              <a:rPr lang="zh-CN" altLang="en-US" dirty="0"/>
              <a:t>论文</a:t>
            </a:r>
            <a:r>
              <a:rPr lang="en-US" altLang="zh-CN" dirty="0"/>
              <a:t>139</a:t>
            </a:r>
            <a:r>
              <a:rPr lang="zh-CN" altLang="en-US" dirty="0"/>
              <a:t>页</a:t>
            </a:r>
            <a:r>
              <a:rPr lang="en-US" altLang="zh-CN" dirty="0"/>
              <a:t>+400</a:t>
            </a:r>
            <a:r>
              <a:rPr lang="zh-CN" altLang="en-US" dirty="0"/>
              <a:t>页程序</a:t>
            </a:r>
            <a:endParaRPr lang="en-US" altLang="zh-CN" dirty="0"/>
          </a:p>
          <a:p>
            <a:pPr eaLnBrk="1" hangingPunct="1"/>
            <a:r>
              <a:rPr lang="zh-CN" altLang="en-US" dirty="0"/>
              <a:t>猜想</a:t>
            </a:r>
            <a:r>
              <a:rPr lang="en-US" altLang="zh-CN" dirty="0"/>
              <a:t>(conjecture)&lt;agnograms&lt;</a:t>
            </a:r>
            <a:r>
              <a:rPr lang="zh-CN" altLang="en-US" dirty="0"/>
              <a:t>定理</a:t>
            </a:r>
            <a:r>
              <a:rPr lang="en-US" altLang="zh-CN" dirty="0"/>
              <a:t>(theorem)</a:t>
            </a:r>
            <a:endParaRPr lang="en-US" altLang="zh-CN" dirty="0"/>
          </a:p>
          <a:p>
            <a:pPr eaLnBrk="1" hangingPunct="1"/>
            <a:r>
              <a:rPr lang="zh-CN" altLang="en-US" dirty="0"/>
              <a:t>另外一个证明</a:t>
            </a:r>
            <a:r>
              <a:rPr lang="en-US" altLang="zh-CN" dirty="0"/>
              <a:t>?</a:t>
            </a:r>
            <a:endParaRPr lang="en-US" altLang="zh-CN" dirty="0"/>
          </a:p>
          <a:p>
            <a:pPr eaLnBrk="1" hangingPunct="1"/>
            <a:r>
              <a:rPr lang="zh-CN" altLang="en-US" dirty="0"/>
              <a:t>已于</a:t>
            </a:r>
            <a:r>
              <a:rPr lang="en-US" altLang="zh-CN" dirty="0"/>
              <a:t>1976</a:t>
            </a:r>
            <a:r>
              <a:rPr lang="zh-CN" altLang="en-US" dirty="0"/>
              <a:t>年完成了计算机证明</a:t>
            </a:r>
            <a:endParaRPr lang="zh-CN" altLang="en-US" dirty="0"/>
          </a:p>
        </p:txBody>
      </p:sp>
      <p:sp>
        <p:nvSpPr>
          <p:cNvPr id="13317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1865630" y="0"/>
            <a:ext cx="5412740" cy="982980"/>
          </a:xfrm>
        </p:spPr>
        <p:txBody>
          <a:bodyPr vert="horz" wrap="square" anchor="b" anchorCtr="0"/>
          <a:p>
            <a:r>
              <a:rPr lang="zh-CN" altLang="en-US" dirty="0"/>
              <a:t>应用方向及研究内容</a:t>
            </a:r>
            <a:endParaRPr lang="en-US" altLang="zh-CN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r>
              <a:rPr lang="zh-CN" altLang="en-US" dirty="0"/>
              <a:t>研究方向</a:t>
            </a:r>
            <a:endParaRPr lang="en-US" altLang="zh-CN" dirty="0"/>
          </a:p>
          <a:p>
            <a:pPr lvl="1"/>
            <a:r>
              <a:rPr lang="zh-CN" altLang="en-US" dirty="0"/>
              <a:t>印制电路板连孔走线</a:t>
            </a:r>
            <a:endParaRPr lang="en-US" altLang="zh-CN" dirty="0"/>
          </a:p>
          <a:p>
            <a:pPr lvl="1"/>
            <a:r>
              <a:rPr lang="zh-CN" altLang="en-US" dirty="0"/>
              <a:t>超大规模集成电路（</a:t>
            </a:r>
            <a:r>
              <a:rPr lang="en-US" altLang="zh-CN" dirty="0"/>
              <a:t>VLSI</a:t>
            </a:r>
            <a:r>
              <a:rPr lang="zh-CN" altLang="en-US" dirty="0"/>
              <a:t>）设计</a:t>
            </a:r>
            <a:endParaRPr lang="en-US" altLang="zh-CN" dirty="0"/>
          </a:p>
          <a:p>
            <a:pPr lvl="1"/>
            <a:r>
              <a:rPr lang="zh-CN" altLang="en-US" dirty="0"/>
              <a:t>化合物分子结构的同构判断</a:t>
            </a:r>
            <a:endParaRPr lang="en-US" altLang="zh-CN" dirty="0"/>
          </a:p>
          <a:p>
            <a:pPr lvl="1"/>
            <a:r>
              <a:rPr lang="en-US" altLang="zh-CN" dirty="0"/>
              <a:t>UML</a:t>
            </a:r>
            <a:r>
              <a:rPr lang="zh-CN" altLang="en-US" dirty="0"/>
              <a:t>中的图形都是以平面图形式表示</a:t>
            </a:r>
            <a:endParaRPr lang="en-US" altLang="zh-CN" dirty="0"/>
          </a:p>
          <a:p>
            <a:r>
              <a:rPr lang="zh-CN" altLang="en-US" dirty="0"/>
              <a:t>解决两类问题</a:t>
            </a:r>
            <a:endParaRPr lang="en-US" altLang="zh-CN" dirty="0"/>
          </a:p>
          <a:p>
            <a:pPr lvl="1"/>
            <a:r>
              <a:rPr lang="zh-CN" altLang="en-US" dirty="0"/>
              <a:t>图的平面性判定问题</a:t>
            </a:r>
            <a:endParaRPr lang="en-US" altLang="zh-CN" dirty="0"/>
          </a:p>
          <a:p>
            <a:pPr lvl="1"/>
            <a:r>
              <a:rPr lang="zh-CN" altLang="en-US" dirty="0"/>
              <a:t>平面图的绘制问题</a:t>
            </a:r>
            <a:endParaRPr lang="en-US" altLang="zh-CN" dirty="0"/>
          </a:p>
        </p:txBody>
      </p:sp>
      <p:sp>
        <p:nvSpPr>
          <p:cNvPr id="14341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pPr eaLnBrk="1" hangingPunct="1"/>
            <a:r>
              <a:rPr lang="zh-CN" altLang="en-US"/>
              <a:t>图的着色</a:t>
            </a:r>
            <a:endParaRPr lang="zh-CN" altLang="en-US"/>
          </a:p>
        </p:txBody>
      </p:sp>
      <p:sp>
        <p:nvSpPr>
          <p:cNvPr id="15362" name="Rectangle 3"/>
          <p:cNvSpPr>
            <a:spLocks noGrp="1"/>
          </p:cNvSpPr>
          <p:nvPr>
            <p:ph type="body" idx="4294967295"/>
          </p:nvPr>
        </p:nvSpPr>
        <p:spPr/>
        <p:txBody>
          <a:bodyPr vert="horz" wrap="square" anchor="t" anchorCtr="0"/>
          <a:p>
            <a:r>
              <a:rPr lang="en-US" altLang="zh-CN" dirty="0"/>
              <a:t>1. </a:t>
            </a:r>
            <a:r>
              <a:rPr lang="en-US" altLang="zh-CN" i="1" dirty="0"/>
              <a:t>k</a:t>
            </a:r>
            <a:r>
              <a:rPr lang="en-US" altLang="zh-CN" dirty="0"/>
              <a:t>-(</a:t>
            </a:r>
            <a:r>
              <a:rPr lang="zh-CN" altLang="en-US" dirty="0"/>
              <a:t>点</a:t>
            </a:r>
            <a:r>
              <a:rPr lang="en-US" altLang="zh-CN" dirty="0"/>
              <a:t>,</a:t>
            </a:r>
            <a:r>
              <a:rPr lang="zh-CN" altLang="en-US" dirty="0"/>
              <a:t>面</a:t>
            </a:r>
            <a:r>
              <a:rPr lang="en-US" altLang="zh-CN" dirty="0"/>
              <a:t>,</a:t>
            </a:r>
            <a:r>
              <a:rPr lang="zh-CN" altLang="en-US" dirty="0"/>
              <a:t>边</a:t>
            </a:r>
            <a:r>
              <a:rPr lang="en-US" altLang="zh-CN" dirty="0"/>
              <a:t>)</a:t>
            </a:r>
            <a:r>
              <a:rPr lang="zh-CN" altLang="en-US" dirty="0"/>
              <a:t>着色</a:t>
            </a:r>
            <a:r>
              <a:rPr lang="en-US" altLang="zh-CN" dirty="0"/>
              <a:t>, </a:t>
            </a:r>
            <a:r>
              <a:rPr lang="en-US" altLang="zh-CN" i="1" dirty="0"/>
              <a:t>k</a:t>
            </a:r>
            <a:r>
              <a:rPr lang="en-US" altLang="zh-CN" dirty="0"/>
              <a:t>-(</a:t>
            </a:r>
            <a:r>
              <a:rPr lang="zh-CN" altLang="en-US" dirty="0"/>
              <a:t>点</a:t>
            </a:r>
            <a:r>
              <a:rPr lang="en-US" altLang="zh-CN" dirty="0"/>
              <a:t>,</a:t>
            </a:r>
            <a:r>
              <a:rPr lang="zh-CN" altLang="en-US" dirty="0"/>
              <a:t>面</a:t>
            </a:r>
            <a:r>
              <a:rPr lang="en-US" altLang="zh-CN" dirty="0"/>
              <a:t>,</a:t>
            </a:r>
            <a:r>
              <a:rPr lang="zh-CN" altLang="en-US" dirty="0"/>
              <a:t>边</a:t>
            </a:r>
            <a:r>
              <a:rPr lang="en-US" altLang="zh-CN" dirty="0"/>
              <a:t>)</a:t>
            </a:r>
            <a:r>
              <a:rPr lang="zh-CN" altLang="en-US" dirty="0"/>
              <a:t>色图</a:t>
            </a:r>
            <a:r>
              <a:rPr lang="en-US" altLang="zh-CN" dirty="0"/>
              <a:t>,</a:t>
            </a:r>
            <a:r>
              <a:rPr lang="zh-CN" altLang="en-US" dirty="0"/>
              <a:t>点色数</a:t>
            </a:r>
            <a:r>
              <a:rPr lang="en-US" altLang="zh-CN" dirty="0"/>
              <a:t>χ(G), </a:t>
            </a:r>
            <a:r>
              <a:rPr lang="zh-CN" altLang="en-US" dirty="0"/>
              <a:t>面色数</a:t>
            </a:r>
            <a:r>
              <a:rPr lang="en-US" altLang="zh-CN" dirty="0"/>
              <a:t>χ</a:t>
            </a:r>
            <a:r>
              <a:rPr lang="zh-CN" altLang="en-US" dirty="0"/>
              <a:t>*</a:t>
            </a:r>
            <a:r>
              <a:rPr lang="en-US" altLang="zh-CN" dirty="0"/>
              <a:t>(G), </a:t>
            </a:r>
            <a:r>
              <a:rPr lang="zh-CN" altLang="en-US" dirty="0"/>
              <a:t>边色数</a:t>
            </a:r>
            <a:r>
              <a:rPr lang="en-US" altLang="zh-CN" dirty="0"/>
              <a:t>χ</a:t>
            </a:r>
            <a:r>
              <a:rPr lang="en-US" altLang="zh-CN" dirty="0">
                <a:latin typeface="Tahoma" panose="020B0604030504040204" charset="0"/>
              </a:rPr>
              <a:t>’</a:t>
            </a:r>
            <a:r>
              <a:rPr lang="zh-CN" altLang="en-US" dirty="0">
                <a:latin typeface="Tahoma" panose="020B0604030504040204" charset="0"/>
              </a:rPr>
              <a:t> </a:t>
            </a:r>
            <a:r>
              <a:rPr lang="en-US" altLang="zh-CN" dirty="0"/>
              <a:t>(G)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el-GR" altLang="en-US" dirty="0"/>
              <a:t>χ(</a:t>
            </a:r>
            <a:r>
              <a:rPr lang="en-US" altLang="zh-CN" dirty="0"/>
              <a:t>G)</a:t>
            </a:r>
            <a:r>
              <a:rPr lang="zh-CN" altLang="en-US" dirty="0"/>
              <a:t>上界</a:t>
            </a:r>
            <a:r>
              <a:rPr lang="en-US" altLang="zh-CN" dirty="0"/>
              <a:t>, Brooks</a:t>
            </a:r>
            <a:r>
              <a:rPr lang="zh-CN" altLang="en-US" dirty="0"/>
              <a:t>定理</a:t>
            </a:r>
            <a:endParaRPr lang="zh-CN" altLang="en-US" dirty="0"/>
          </a:p>
          <a:p>
            <a:r>
              <a:rPr lang="en-US" altLang="zh-CN" dirty="0"/>
              <a:t>3. </a:t>
            </a:r>
            <a:r>
              <a:rPr lang="zh-CN" altLang="en-US" dirty="0"/>
              <a:t>五色定理</a:t>
            </a:r>
            <a:endParaRPr lang="zh-CN" altLang="en-US" dirty="0"/>
          </a:p>
          <a:p>
            <a:r>
              <a:rPr lang="zh-CN" altLang="en-US" dirty="0"/>
              <a:t> </a:t>
            </a:r>
            <a:r>
              <a:rPr lang="en-US" altLang="zh-CN" dirty="0"/>
              <a:t>4. Vizing</a:t>
            </a:r>
            <a:r>
              <a:rPr lang="zh-CN" altLang="en-US" dirty="0"/>
              <a:t>定理</a:t>
            </a:r>
            <a:endParaRPr lang="zh-CN" altLang="en-US" dirty="0"/>
          </a:p>
          <a:p>
            <a:r>
              <a:rPr lang="en-US" altLang="zh-CN" dirty="0"/>
              <a:t>5. </a:t>
            </a:r>
            <a:r>
              <a:rPr lang="zh-CN" altLang="en-US" dirty="0"/>
              <a:t>色多项式</a:t>
            </a:r>
            <a:r>
              <a:rPr lang="en-US" altLang="zh-CN" i="1" dirty="0"/>
              <a:t>f</a:t>
            </a:r>
            <a:r>
              <a:rPr lang="en-US" altLang="zh-CN" dirty="0"/>
              <a:t>(G,</a:t>
            </a:r>
            <a:r>
              <a:rPr lang="en-US" altLang="zh-CN" i="1" dirty="0"/>
              <a:t>k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15363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solidFill>
                  <a:srgbClr val="002060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solidFill>
                <a:srgbClr val="00206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/>
              <a:t>着色</a:t>
            </a:r>
            <a:endParaRPr lang="zh-CN" altLang="en-US"/>
          </a:p>
        </p:txBody>
      </p:sp>
      <p:sp>
        <p:nvSpPr>
          <p:cNvPr id="16386" name="内容占位符 2"/>
          <p:cNvSpPr>
            <a:spLocks noGrp="1"/>
          </p:cNvSpPr>
          <p:nvPr>
            <p:ph idx="4294967295"/>
          </p:nvPr>
        </p:nvSpPr>
        <p:spPr>
          <a:xfrm>
            <a:off x="323850" y="1412875"/>
            <a:ext cx="8496300" cy="5135563"/>
          </a:xfrm>
        </p:spPr>
        <p:txBody>
          <a:bodyPr vert="horz" wrap="square" anchor="t" anchorCtr="0"/>
          <a:p>
            <a:r>
              <a:rPr lang="zh-CN" altLang="en-US" dirty="0">
                <a:solidFill>
                  <a:schemeClr val="hlink"/>
                </a:solidFill>
              </a:rPr>
              <a:t>着色</a:t>
            </a:r>
            <a:r>
              <a:rPr lang="en-US" altLang="zh-CN" dirty="0"/>
              <a:t>: </a:t>
            </a:r>
            <a:r>
              <a:rPr lang="zh-CN" altLang="en-US" dirty="0"/>
              <a:t>给图的某类元素</a:t>
            </a:r>
            <a:r>
              <a:rPr lang="en-US" altLang="zh-CN" dirty="0"/>
              <a:t>(</a:t>
            </a:r>
            <a:r>
              <a:rPr lang="zh-CN" altLang="en-US" dirty="0"/>
              <a:t>点</a:t>
            </a:r>
            <a:r>
              <a:rPr lang="en-US" altLang="zh-CN" dirty="0"/>
              <a:t>,</a:t>
            </a:r>
            <a:r>
              <a:rPr lang="zh-CN" altLang="en-US" dirty="0"/>
              <a:t>边</a:t>
            </a:r>
            <a:r>
              <a:rPr lang="en-US" altLang="zh-CN" dirty="0"/>
              <a:t>,</a:t>
            </a:r>
            <a:r>
              <a:rPr lang="zh-CN" altLang="en-US" dirty="0"/>
              <a:t>面</a:t>
            </a:r>
            <a:r>
              <a:rPr lang="en-US" altLang="zh-CN" dirty="0"/>
              <a:t>)</a:t>
            </a:r>
            <a:r>
              <a:rPr lang="zh-CN" altLang="en-US" dirty="0"/>
              <a:t>中的每个指定</a:t>
            </a:r>
            <a:r>
              <a:rPr lang="en-US" altLang="zh-CN" dirty="0"/>
              <a:t>1</a:t>
            </a:r>
            <a:r>
              <a:rPr lang="zh-CN" altLang="en-US" dirty="0"/>
              <a:t>种颜色</a:t>
            </a:r>
            <a:r>
              <a:rPr lang="en-US" altLang="zh-CN" dirty="0"/>
              <a:t>,</a:t>
            </a:r>
            <a:r>
              <a:rPr lang="zh-CN" altLang="en-US" dirty="0"/>
              <a:t>使得相邻元素有不同颜色</a:t>
            </a:r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用颜色集</a:t>
            </a:r>
            <a:r>
              <a:rPr lang="en-US" altLang="zh-CN" dirty="0">
                <a:solidFill>
                  <a:schemeClr val="hlink"/>
                </a:solidFill>
              </a:rPr>
              <a:t>C</a:t>
            </a:r>
            <a:r>
              <a:rPr lang="zh-CN" altLang="en-US" dirty="0">
                <a:solidFill>
                  <a:schemeClr val="hlink"/>
                </a:solidFill>
              </a:rPr>
              <a:t>给</a:t>
            </a:r>
            <a:r>
              <a:rPr lang="en-US" altLang="zh-CN" dirty="0">
                <a:solidFill>
                  <a:schemeClr val="hlink"/>
                </a:solidFill>
              </a:rPr>
              <a:t>X</a:t>
            </a:r>
            <a:r>
              <a:rPr lang="zh-CN" altLang="en-US" dirty="0">
                <a:solidFill>
                  <a:schemeClr val="hlink"/>
                </a:solidFill>
              </a:rPr>
              <a:t>中元素着色</a:t>
            </a:r>
            <a:r>
              <a:rPr lang="en-US" altLang="zh-CN" dirty="0"/>
              <a:t>: </a:t>
            </a:r>
            <a:r>
              <a:rPr lang="en-US" altLang="zh-CN" i="1" dirty="0"/>
              <a:t>f</a:t>
            </a:r>
            <a:r>
              <a:rPr lang="en-US" altLang="zh-CN" dirty="0"/>
              <a:t>:</a:t>
            </a:r>
            <a:r>
              <a:rPr lang="en-US" altLang="zh-CN" i="1" dirty="0"/>
              <a:t>X</a:t>
            </a:r>
            <a:r>
              <a:rPr lang="zh-CN" altLang="en-US" dirty="0"/>
              <a:t>→</a:t>
            </a:r>
            <a:r>
              <a:rPr lang="en-US" altLang="zh-CN" i="1" dirty="0"/>
              <a:t>C</a:t>
            </a:r>
            <a:r>
              <a:rPr lang="en-US" altLang="zh-CN" dirty="0"/>
              <a:t>,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    ∀</a:t>
            </a:r>
            <a:r>
              <a:rPr lang="en-US" altLang="zh-CN" i="1" dirty="0"/>
              <a:t>x</a:t>
            </a:r>
            <a:r>
              <a:rPr lang="en-US" altLang="zh-CN" dirty="0"/>
              <a:t>∀</a:t>
            </a:r>
            <a:r>
              <a:rPr lang="en-US" altLang="zh-CN" i="1" dirty="0"/>
              <a:t>y</a:t>
            </a:r>
            <a:r>
              <a:rPr lang="en-US" altLang="zh-CN" dirty="0"/>
              <a:t>( 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dirty="0"/>
              <a:t>∈</a:t>
            </a:r>
            <a:r>
              <a:rPr lang="en-US" altLang="zh-CN" i="1" dirty="0"/>
              <a:t>X</a:t>
            </a:r>
            <a:r>
              <a:rPr lang="en-US" altLang="zh-CN" dirty="0"/>
              <a:t>∧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/>
              <a:t>相邻→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)≠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 )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      若</a:t>
            </a:r>
            <a:r>
              <a:rPr lang="en-US" altLang="zh-CN" dirty="0"/>
              <a:t>|C|=</a:t>
            </a:r>
            <a:r>
              <a:rPr lang="en-US" altLang="zh-CN" i="1" dirty="0"/>
              <a:t>k</a:t>
            </a:r>
            <a:r>
              <a:rPr lang="en-US" altLang="zh-CN" dirty="0"/>
              <a:t>( </a:t>
            </a:r>
            <a:r>
              <a:rPr lang="zh-CN" altLang="en-US" dirty="0"/>
              <a:t>如</a:t>
            </a:r>
            <a:r>
              <a:rPr lang="en-US" altLang="zh-CN" dirty="0"/>
              <a:t>C={1,2,…,</a:t>
            </a:r>
            <a:r>
              <a:rPr lang="en-US" altLang="zh-CN" i="1" dirty="0"/>
              <a:t>k</a:t>
            </a:r>
            <a:r>
              <a:rPr lang="en-US" altLang="zh-CN" dirty="0"/>
              <a:t>} ), </a:t>
            </a:r>
            <a:r>
              <a:rPr lang="zh-CN" altLang="en-US" dirty="0"/>
              <a:t>则称</a:t>
            </a:r>
            <a:r>
              <a:rPr lang="en-US" altLang="zh-CN" i="1" dirty="0"/>
              <a:t>k</a:t>
            </a:r>
            <a:r>
              <a:rPr lang="en-US" altLang="zh-CN" dirty="0"/>
              <a:t>-</a:t>
            </a:r>
            <a:r>
              <a:rPr lang="zh-CN" altLang="en-US" dirty="0"/>
              <a:t>着色</a:t>
            </a:r>
            <a:endParaRPr lang="zh-CN" altLang="en-US" dirty="0"/>
          </a:p>
          <a:p>
            <a:r>
              <a:rPr lang="zh-CN" altLang="en-US" dirty="0">
                <a:solidFill>
                  <a:schemeClr val="hlink"/>
                </a:solidFill>
              </a:rPr>
              <a:t>相邻</a:t>
            </a:r>
            <a:r>
              <a:rPr lang="en-US" altLang="zh-CN" dirty="0"/>
              <a:t>: 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zh-CN" altLang="en-US" dirty="0"/>
              <a:t>有边相连</a:t>
            </a:r>
            <a:r>
              <a:rPr lang="en-US" altLang="zh-CN" dirty="0"/>
              <a:t>,(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dirty="0"/>
              <a:t>)∈E; E,</a:t>
            </a:r>
            <a:r>
              <a:rPr lang="zh-CN" altLang="en-US" dirty="0"/>
              <a:t>有公共端点</a:t>
            </a:r>
            <a:r>
              <a:rPr lang="en-US" altLang="zh-CN" dirty="0"/>
              <a:t>, (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  <a:r>
              <a:rPr lang="en-US" altLang="zh-CN" i="1" dirty="0"/>
              <a:t>y</a:t>
            </a:r>
            <a:r>
              <a:rPr lang="en-US" altLang="zh-CN" dirty="0"/>
              <a:t>),(</a:t>
            </a:r>
            <a:r>
              <a:rPr lang="en-US" altLang="zh-CN" i="1" dirty="0"/>
              <a:t>y</a:t>
            </a:r>
            <a:r>
              <a:rPr lang="en-US" altLang="zh-CN" dirty="0"/>
              <a:t>,</a:t>
            </a:r>
            <a:r>
              <a:rPr lang="en-US" altLang="zh-CN" i="1" dirty="0"/>
              <a:t>z</a:t>
            </a:r>
            <a:r>
              <a:rPr lang="en-US" altLang="zh-CN" dirty="0"/>
              <a:t>); R,</a:t>
            </a:r>
            <a:r>
              <a:rPr lang="zh-CN" altLang="en-US" dirty="0"/>
              <a:t>有公共边界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点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着色</a:t>
            </a:r>
            <a:r>
              <a:rPr lang="en-US" altLang="zh-CN" dirty="0">
                <a:solidFill>
                  <a:schemeClr val="hlink"/>
                </a:solidFill>
              </a:rPr>
              <a:t>,</a:t>
            </a:r>
            <a:r>
              <a:rPr lang="zh-CN" altLang="en-US" dirty="0">
                <a:solidFill>
                  <a:schemeClr val="hlink"/>
                </a:solidFill>
              </a:rPr>
              <a:t>边着色</a:t>
            </a:r>
            <a:r>
              <a:rPr lang="en-US" altLang="zh-CN" dirty="0">
                <a:solidFill>
                  <a:schemeClr val="hlink"/>
                </a:solidFill>
              </a:rPr>
              <a:t>,</a:t>
            </a:r>
            <a:r>
              <a:rPr lang="zh-CN" altLang="en-US" dirty="0">
                <a:solidFill>
                  <a:schemeClr val="hlink"/>
                </a:solidFill>
              </a:rPr>
              <a:t>面着色</a:t>
            </a:r>
            <a:r>
              <a:rPr lang="en-US" altLang="zh-CN" dirty="0"/>
              <a:t>: 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V</a:t>
            </a:r>
            <a:r>
              <a:rPr lang="en-US" altLang="zh-CN" dirty="0"/>
              <a:t>(</a:t>
            </a:r>
            <a:r>
              <a:rPr lang="zh-CN" altLang="en-US" dirty="0"/>
              <a:t>无环</a:t>
            </a:r>
            <a:r>
              <a:rPr lang="en-US" altLang="zh-CN" dirty="0"/>
              <a:t>),</a:t>
            </a:r>
            <a:r>
              <a:rPr lang="en-US" altLang="zh-CN" i="1" dirty="0"/>
              <a:t>E</a:t>
            </a:r>
            <a:r>
              <a:rPr lang="en-US" altLang="zh-CN" dirty="0"/>
              <a:t>,</a:t>
            </a:r>
            <a:r>
              <a:rPr lang="en-US" altLang="zh-CN" i="1" dirty="0"/>
              <a:t>R</a:t>
            </a:r>
            <a:endParaRPr lang="en-US" altLang="zh-CN" i="1" dirty="0"/>
          </a:p>
          <a:p>
            <a:endParaRPr lang="zh-CN" altLang="en-US" dirty="0"/>
          </a:p>
        </p:txBody>
      </p:sp>
      <p:sp>
        <p:nvSpPr>
          <p:cNvPr id="16387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16388" name="组合 10"/>
          <p:cNvGrpSpPr/>
          <p:nvPr/>
        </p:nvGrpSpPr>
        <p:grpSpPr>
          <a:xfrm>
            <a:off x="715963" y="5367338"/>
            <a:ext cx="1657350" cy="431800"/>
            <a:chOff x="0" y="0"/>
            <a:chExt cx="1656184" cy="432048"/>
          </a:xfrm>
        </p:grpSpPr>
        <p:sp>
          <p:nvSpPr>
            <p:cNvPr id="16389" name="椭圆 9"/>
            <p:cNvSpPr/>
            <p:nvPr/>
          </p:nvSpPr>
          <p:spPr>
            <a:xfrm>
              <a:off x="0" y="0"/>
              <a:ext cx="360040" cy="4320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grpSp>
          <p:nvGrpSpPr>
            <p:cNvPr id="16390" name="椭圆 5"/>
            <p:cNvGrpSpPr/>
            <p:nvPr/>
          </p:nvGrpSpPr>
          <p:grpSpPr>
            <a:xfrm>
              <a:off x="266448" y="123451"/>
              <a:ext cx="261944" cy="256179"/>
              <a:chOff x="0" y="0"/>
              <a:chExt cx="262128" cy="256032"/>
            </a:xfrm>
          </p:grpSpPr>
          <p:pic>
            <p:nvPicPr>
              <p:cNvPr id="16391" name="椭圆 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392" name="文本框 14344"/>
              <p:cNvSpPr txBox="1"/>
              <p:nvPr/>
            </p:nvSpPr>
            <p:spPr>
              <a:xfrm>
                <a:off x="53257" y="52171"/>
                <a:ext cx="152860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393" name="椭圆 6"/>
            <p:cNvGrpSpPr/>
            <p:nvPr/>
          </p:nvGrpSpPr>
          <p:grpSpPr>
            <a:xfrm>
              <a:off x="1417782" y="123451"/>
              <a:ext cx="261944" cy="256179"/>
              <a:chOff x="0" y="0"/>
              <a:chExt cx="262128" cy="256032"/>
            </a:xfrm>
          </p:grpSpPr>
          <p:pic>
            <p:nvPicPr>
              <p:cNvPr id="16394" name="椭圆 6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395" name="文本框 14347"/>
              <p:cNvSpPr txBox="1"/>
              <p:nvPr/>
            </p:nvSpPr>
            <p:spPr>
              <a:xfrm>
                <a:off x="54052" y="52171"/>
                <a:ext cx="152860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6396" name="直接连接符 8"/>
            <p:cNvCxnSpPr/>
            <p:nvPr/>
          </p:nvCxnSpPr>
          <p:spPr>
            <a:xfrm>
              <a:off x="504056" y="252028"/>
              <a:ext cx="936104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397" name="组合 11"/>
          <p:cNvGrpSpPr/>
          <p:nvPr/>
        </p:nvGrpSpPr>
        <p:grpSpPr>
          <a:xfrm>
            <a:off x="3163888" y="5511800"/>
            <a:ext cx="1873250" cy="215900"/>
            <a:chOff x="0" y="0"/>
            <a:chExt cx="1872208" cy="216024"/>
          </a:xfrm>
        </p:grpSpPr>
        <p:grpSp>
          <p:nvGrpSpPr>
            <p:cNvPr id="16398" name="椭圆 13"/>
            <p:cNvGrpSpPr/>
            <p:nvPr/>
          </p:nvGrpSpPr>
          <p:grpSpPr>
            <a:xfrm>
              <a:off x="-23292" y="-21094"/>
              <a:ext cx="261982" cy="256179"/>
              <a:chOff x="0" y="0"/>
              <a:chExt cx="262128" cy="256032"/>
            </a:xfrm>
          </p:grpSpPr>
          <p:pic>
            <p:nvPicPr>
              <p:cNvPr id="16399" name="椭圆 13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00" name="文本框 14352"/>
              <p:cNvSpPr txBox="1"/>
              <p:nvPr/>
            </p:nvSpPr>
            <p:spPr>
              <a:xfrm>
                <a:off x="54959" y="52700"/>
                <a:ext cx="152836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01" name="椭圆 14"/>
            <p:cNvGrpSpPr/>
            <p:nvPr/>
          </p:nvGrpSpPr>
          <p:grpSpPr>
            <a:xfrm>
              <a:off x="1633898" y="-21094"/>
              <a:ext cx="261982" cy="256179"/>
              <a:chOff x="0" y="0"/>
              <a:chExt cx="262128" cy="256032"/>
            </a:xfrm>
          </p:grpSpPr>
          <p:pic>
            <p:nvPicPr>
              <p:cNvPr id="16402" name="椭圆 14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03" name="文本框 14355"/>
              <p:cNvSpPr txBox="1"/>
              <p:nvPr/>
            </p:nvSpPr>
            <p:spPr>
              <a:xfrm>
                <a:off x="53953" y="52700"/>
                <a:ext cx="152836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6404" name="直接连接符 15"/>
            <p:cNvCxnSpPr/>
            <p:nvPr/>
          </p:nvCxnSpPr>
          <p:spPr>
            <a:xfrm>
              <a:off x="216024" y="108012"/>
              <a:ext cx="1440160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405" name="椭圆 16"/>
          <p:cNvGrpSpPr/>
          <p:nvPr/>
        </p:nvGrpSpPr>
        <p:grpSpPr>
          <a:xfrm>
            <a:off x="3968750" y="5786438"/>
            <a:ext cx="261938" cy="255587"/>
            <a:chOff x="0" y="0"/>
            <a:chExt cx="165" cy="161"/>
          </a:xfrm>
        </p:grpSpPr>
        <p:pic>
          <p:nvPicPr>
            <p:cNvPr id="16406" name="椭圆 1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65" cy="16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07" name="文本框 14359"/>
            <p:cNvSpPr txBox="1"/>
            <p:nvPr/>
          </p:nvSpPr>
          <p:spPr>
            <a:xfrm>
              <a:off x="34" y="33"/>
              <a:ext cx="97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i="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408" name="组合 37"/>
          <p:cNvGrpSpPr/>
          <p:nvPr/>
        </p:nvGrpSpPr>
        <p:grpSpPr>
          <a:xfrm>
            <a:off x="5900738" y="5006975"/>
            <a:ext cx="2232025" cy="863600"/>
            <a:chOff x="0" y="0"/>
            <a:chExt cx="2232248" cy="864096"/>
          </a:xfrm>
        </p:grpSpPr>
        <p:grpSp>
          <p:nvGrpSpPr>
            <p:cNvPr id="16409" name="椭圆 17"/>
            <p:cNvGrpSpPr/>
            <p:nvPr/>
          </p:nvGrpSpPr>
          <p:grpSpPr>
            <a:xfrm>
              <a:off x="409806" y="-22238"/>
              <a:ext cx="262154" cy="262279"/>
              <a:chOff x="0" y="0"/>
              <a:chExt cx="262128" cy="262128"/>
            </a:xfrm>
          </p:grpSpPr>
          <p:pic>
            <p:nvPicPr>
              <p:cNvPr id="16410" name="椭圆 1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11" name="文本框 14363"/>
              <p:cNvSpPr txBox="1"/>
              <p:nvPr/>
            </p:nvSpPr>
            <p:spPr>
              <a:xfrm>
                <a:off x="53873" y="53843"/>
                <a:ext cx="152736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12" name="椭圆 18"/>
            <p:cNvGrpSpPr/>
            <p:nvPr/>
          </p:nvGrpSpPr>
          <p:grpSpPr>
            <a:xfrm>
              <a:off x="1275524" y="-22238"/>
              <a:ext cx="256058" cy="262279"/>
              <a:chOff x="0" y="0"/>
              <a:chExt cx="256032" cy="262128"/>
            </a:xfrm>
          </p:grpSpPr>
          <p:pic>
            <p:nvPicPr>
              <p:cNvPr id="16413" name="椭圆 1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14" name="文本框 14366"/>
              <p:cNvSpPr txBox="1"/>
              <p:nvPr/>
            </p:nvSpPr>
            <p:spPr>
              <a:xfrm>
                <a:off x="52251" y="53843"/>
                <a:ext cx="152736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15" name="椭圆 19"/>
            <p:cNvGrpSpPr/>
            <p:nvPr/>
          </p:nvGrpSpPr>
          <p:grpSpPr>
            <a:xfrm>
              <a:off x="-23053" y="624309"/>
              <a:ext cx="262154" cy="262279"/>
              <a:chOff x="0" y="0"/>
              <a:chExt cx="262128" cy="262128"/>
            </a:xfrm>
          </p:grpSpPr>
          <p:pic>
            <p:nvPicPr>
              <p:cNvPr id="16416" name="椭圆 1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17" name="文本框 14369"/>
              <p:cNvSpPr txBox="1"/>
              <p:nvPr/>
            </p:nvSpPr>
            <p:spPr>
              <a:xfrm>
                <a:off x="54684" y="55367"/>
                <a:ext cx="152736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18" name="椭圆 20"/>
            <p:cNvGrpSpPr/>
            <p:nvPr/>
          </p:nvGrpSpPr>
          <p:grpSpPr>
            <a:xfrm>
              <a:off x="988984" y="624309"/>
              <a:ext cx="256058" cy="262279"/>
              <a:chOff x="0" y="0"/>
              <a:chExt cx="256032" cy="262128"/>
            </a:xfrm>
          </p:grpSpPr>
          <p:pic>
            <p:nvPicPr>
              <p:cNvPr id="16419" name="椭圆 2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20" name="文本框 14372"/>
              <p:cNvSpPr txBox="1"/>
              <p:nvPr/>
            </p:nvSpPr>
            <p:spPr>
              <a:xfrm>
                <a:off x="50759" y="55367"/>
                <a:ext cx="152736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421" name="椭圆 21"/>
            <p:cNvGrpSpPr/>
            <p:nvPr/>
          </p:nvGrpSpPr>
          <p:grpSpPr>
            <a:xfrm>
              <a:off x="1994924" y="624309"/>
              <a:ext cx="256058" cy="262279"/>
              <a:chOff x="0" y="0"/>
              <a:chExt cx="256032" cy="262128"/>
            </a:xfrm>
          </p:grpSpPr>
          <p:pic>
            <p:nvPicPr>
              <p:cNvPr id="16422" name="椭圆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423" name="文本框 14375"/>
              <p:cNvSpPr txBox="1"/>
              <p:nvPr/>
            </p:nvSpPr>
            <p:spPr>
              <a:xfrm>
                <a:off x="52931" y="55367"/>
                <a:ext cx="152736" cy="152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16424" name="直接连接符 23"/>
            <p:cNvCxnSpPr/>
            <p:nvPr/>
          </p:nvCxnSpPr>
          <p:spPr>
            <a:xfrm rot="5400000">
              <a:off x="76376" y="292400"/>
              <a:ext cx="495320" cy="279296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25" name="直接连接符 26"/>
            <p:cNvCxnSpPr/>
            <p:nvPr/>
          </p:nvCxnSpPr>
          <p:spPr>
            <a:xfrm>
              <a:off x="648072" y="108012"/>
              <a:ext cx="648072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26" name="直接连接符 28"/>
            <p:cNvCxnSpPr/>
            <p:nvPr/>
          </p:nvCxnSpPr>
          <p:spPr>
            <a:xfrm rot="-5400000" flipH="1">
              <a:off x="1516536" y="148384"/>
              <a:ext cx="495320" cy="567328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27" name="直接连接符 30"/>
            <p:cNvCxnSpPr/>
            <p:nvPr/>
          </p:nvCxnSpPr>
          <p:spPr>
            <a:xfrm rot="-5400000" flipH="1">
              <a:off x="580432" y="220392"/>
              <a:ext cx="495320" cy="423312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28" name="直接连接符 32"/>
            <p:cNvCxnSpPr/>
            <p:nvPr/>
          </p:nvCxnSpPr>
          <p:spPr>
            <a:xfrm rot="5400000">
              <a:off x="1012480" y="364408"/>
              <a:ext cx="495320" cy="13528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29" name="直接连接符 34"/>
            <p:cNvCxnSpPr/>
            <p:nvPr/>
          </p:nvCxnSpPr>
          <p:spPr>
            <a:xfrm>
              <a:off x="216024" y="756084"/>
              <a:ext cx="79208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30" name="直接连接符 36"/>
            <p:cNvCxnSpPr/>
            <p:nvPr/>
          </p:nvCxnSpPr>
          <p:spPr>
            <a:xfrm>
              <a:off x="1224136" y="756084"/>
              <a:ext cx="79208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Title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endParaRPr lang="en-US" altLang="x-none" dirty="0"/>
          </a:p>
        </p:txBody>
      </p:sp>
      <p:sp>
        <p:nvSpPr>
          <p:cNvPr id="18434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18435" name="Group 7"/>
          <p:cNvGrpSpPr/>
          <p:nvPr/>
        </p:nvGrpSpPr>
        <p:grpSpPr>
          <a:xfrm>
            <a:off x="468313" y="1628775"/>
            <a:ext cx="3311525" cy="2520950"/>
            <a:chOff x="0" y="0"/>
            <a:chExt cx="2245360" cy="1562735"/>
          </a:xfrm>
        </p:grpSpPr>
        <p:grpSp>
          <p:nvGrpSpPr>
            <p:cNvPr id="18436" name="Group 8"/>
            <p:cNvGrpSpPr/>
            <p:nvPr/>
          </p:nvGrpSpPr>
          <p:grpSpPr>
            <a:xfrm>
              <a:off x="0" y="0"/>
              <a:ext cx="2245360" cy="1562735"/>
              <a:chOff x="0" y="0"/>
              <a:chExt cx="2245462" cy="1563352"/>
            </a:xfrm>
          </p:grpSpPr>
          <p:sp>
            <p:nvSpPr>
              <p:cNvPr id="18437" name="Freeform 16"/>
              <p:cNvSpPr/>
              <p:nvPr/>
            </p:nvSpPr>
            <p:spPr>
              <a:xfrm>
                <a:off x="0" y="0"/>
                <a:ext cx="2245462" cy="1563352"/>
              </a:xfrm>
              <a:custGeom>
                <a:avLst/>
                <a:gdLst/>
                <a:ahLst/>
                <a:cxnLst>
                  <a:cxn ang="0">
                    <a:pos x="0" y="889564"/>
                  </a:cxn>
                  <a:cxn ang="0">
                    <a:pos x="71120" y="686364"/>
                  </a:cxn>
                  <a:cxn ang="0">
                    <a:pos x="71120" y="686364"/>
                  </a:cxn>
                  <a:cxn ang="0">
                    <a:pos x="203200" y="361244"/>
                  </a:cxn>
                  <a:cxn ang="0">
                    <a:pos x="497840" y="168204"/>
                  </a:cxn>
                  <a:cxn ang="0">
                    <a:pos x="497840" y="168204"/>
                  </a:cxn>
                  <a:cxn ang="0">
                    <a:pos x="1148080" y="5644"/>
                  </a:cxn>
                  <a:cxn ang="0">
                    <a:pos x="1879600" y="401884"/>
                  </a:cxn>
                  <a:cxn ang="0">
                    <a:pos x="1879600" y="401884"/>
                  </a:cxn>
                  <a:cxn ang="0">
                    <a:pos x="2245360" y="696524"/>
                  </a:cxn>
                  <a:cxn ang="0">
                    <a:pos x="1920240" y="1245164"/>
                  </a:cxn>
                  <a:cxn ang="0">
                    <a:pos x="1920240" y="1245164"/>
                  </a:cxn>
                  <a:cxn ang="0">
                    <a:pos x="1605280" y="1539804"/>
                  </a:cxn>
                  <a:cxn ang="0">
                    <a:pos x="843280" y="1509324"/>
                  </a:cxn>
                  <a:cxn ang="0">
                    <a:pos x="325120" y="1224844"/>
                  </a:cxn>
                  <a:cxn ang="0">
                    <a:pos x="0" y="889564"/>
                  </a:cxn>
                </a:cxnLst>
                <a:pathLst>
                  <a:path w="2245462" h="1563352">
                    <a:moveTo>
                      <a:pt x="0" y="889564"/>
                    </a:moveTo>
                    <a:lnTo>
                      <a:pt x="71120" y="686364"/>
                    </a:lnTo>
                    <a:cubicBezTo>
                      <a:pt x="93133" y="632177"/>
                      <a:pt x="132080" y="447604"/>
                      <a:pt x="203200" y="361244"/>
                    </a:cubicBezTo>
                    <a:cubicBezTo>
                      <a:pt x="274320" y="274884"/>
                      <a:pt x="497840" y="168204"/>
                      <a:pt x="497840" y="168204"/>
                    </a:cubicBezTo>
                    <a:cubicBezTo>
                      <a:pt x="606213" y="141111"/>
                      <a:pt x="917787" y="-33303"/>
                      <a:pt x="1148080" y="5644"/>
                    </a:cubicBezTo>
                    <a:cubicBezTo>
                      <a:pt x="1378373" y="44591"/>
                      <a:pt x="1879600" y="401884"/>
                      <a:pt x="1879600" y="401884"/>
                    </a:cubicBezTo>
                    <a:cubicBezTo>
                      <a:pt x="1940560" y="450991"/>
                      <a:pt x="2238587" y="555977"/>
                      <a:pt x="2245360" y="696524"/>
                    </a:cubicBezTo>
                    <a:cubicBezTo>
                      <a:pt x="2252133" y="837071"/>
                      <a:pt x="1920240" y="1245164"/>
                      <a:pt x="1920240" y="1245164"/>
                    </a:cubicBezTo>
                    <a:cubicBezTo>
                      <a:pt x="1867747" y="1294271"/>
                      <a:pt x="1784773" y="1495777"/>
                      <a:pt x="1605280" y="1539804"/>
                    </a:cubicBezTo>
                    <a:cubicBezTo>
                      <a:pt x="1425787" y="1583831"/>
                      <a:pt x="1056640" y="1561817"/>
                      <a:pt x="843280" y="1509324"/>
                    </a:cubicBezTo>
                    <a:cubicBezTo>
                      <a:pt x="629920" y="1456831"/>
                      <a:pt x="463973" y="1331524"/>
                      <a:pt x="325120" y="1224844"/>
                    </a:cubicBezTo>
                    <a:cubicBezTo>
                      <a:pt x="186267" y="1118164"/>
                      <a:pt x="98213" y="993704"/>
                      <a:pt x="0" y="889564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3000" dir="5400000" algn="ctr" rotWithShape="0">
                  <a:srgbClr val="000000">
                    <a:alpha val="32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38" name="Freeform 17"/>
              <p:cNvSpPr/>
              <p:nvPr/>
            </p:nvSpPr>
            <p:spPr>
              <a:xfrm>
                <a:off x="132402" y="25596"/>
                <a:ext cx="1076444" cy="519805"/>
              </a:xfrm>
              <a:custGeom>
                <a:avLst/>
                <a:gdLst/>
                <a:ahLst/>
                <a:cxnLst>
                  <a:cxn ang="0">
                    <a:pos x="0" y="489540"/>
                  </a:cxn>
                  <a:cxn ang="0">
                    <a:pos x="385525" y="509937"/>
                  </a:cxn>
                  <a:cxn ang="0">
                    <a:pos x="750760" y="336559"/>
                  </a:cxn>
                  <a:cxn ang="0">
                    <a:pos x="1075412" y="0"/>
                  </a:cxn>
                  <a:cxn ang="0">
                    <a:pos x="1075412" y="0"/>
                  </a:cxn>
                </a:cxnLst>
                <a:pathLst>
                  <a:path w="1076960" h="519146">
                    <a:moveTo>
                      <a:pt x="0" y="487680"/>
                    </a:moveTo>
                    <a:cubicBezTo>
                      <a:pt x="130386" y="510540"/>
                      <a:pt x="260773" y="533400"/>
                      <a:pt x="386080" y="508000"/>
                    </a:cubicBezTo>
                    <a:cubicBezTo>
                      <a:pt x="511387" y="482600"/>
                      <a:pt x="636693" y="419947"/>
                      <a:pt x="751840" y="335280"/>
                    </a:cubicBezTo>
                    <a:cubicBezTo>
                      <a:pt x="866987" y="250613"/>
                      <a:pt x="1076960" y="0"/>
                      <a:pt x="1076960" y="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39" name="Freeform 18"/>
              <p:cNvSpPr/>
              <p:nvPr/>
            </p:nvSpPr>
            <p:spPr>
              <a:xfrm>
                <a:off x="375679" y="523743"/>
                <a:ext cx="244353" cy="747220"/>
              </a:xfrm>
              <a:custGeom>
                <a:avLst/>
                <a:gdLst/>
                <a:ahLst/>
                <a:cxnLst>
                  <a:cxn ang="0">
                    <a:pos x="245382" y="0"/>
                  </a:cxn>
                  <a:cxn ang="0">
                    <a:pos x="112467" y="671800"/>
                  </a:cxn>
                  <a:cxn ang="0">
                    <a:pos x="0" y="732873"/>
                  </a:cxn>
                </a:cxnLst>
                <a:pathLst>
                  <a:path w="243840" h="746760">
                    <a:moveTo>
                      <a:pt x="243840" y="0"/>
                    </a:moveTo>
                    <a:cubicBezTo>
                      <a:pt x="198120" y="274320"/>
                      <a:pt x="152400" y="548640"/>
                      <a:pt x="111760" y="670560"/>
                    </a:cubicBezTo>
                    <a:cubicBezTo>
                      <a:pt x="71120" y="792480"/>
                      <a:pt x="0" y="731520"/>
                      <a:pt x="0" y="73152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40" name="Freeform 19"/>
              <p:cNvSpPr/>
              <p:nvPr/>
            </p:nvSpPr>
            <p:spPr>
              <a:xfrm>
                <a:off x="538222" y="300266"/>
                <a:ext cx="453183" cy="681259"/>
              </a:xfrm>
              <a:custGeom>
                <a:avLst/>
                <a:gdLst/>
                <a:ahLst/>
                <a:cxnLst>
                  <a:cxn ang="0">
                    <a:pos x="427863" y="0"/>
                  </a:cxn>
                  <a:cxn ang="0">
                    <a:pos x="407489" y="386998"/>
                  </a:cxn>
                  <a:cxn ang="0">
                    <a:pos x="0" y="682338"/>
                  </a:cxn>
                  <a:cxn ang="0">
                    <a:pos x="0" y="682338"/>
                  </a:cxn>
                  <a:cxn ang="0">
                    <a:pos x="0" y="682338"/>
                  </a:cxn>
                </a:cxnLst>
                <a:pathLst>
                  <a:path w="452779" h="680720">
                    <a:moveTo>
                      <a:pt x="426720" y="0"/>
                    </a:moveTo>
                    <a:cubicBezTo>
                      <a:pt x="452120" y="136313"/>
                      <a:pt x="477520" y="272627"/>
                      <a:pt x="406400" y="386080"/>
                    </a:cubicBezTo>
                    <a:cubicBezTo>
                      <a:pt x="335280" y="499533"/>
                      <a:pt x="0" y="680720"/>
                      <a:pt x="0" y="68072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41" name="Freeform 20"/>
              <p:cNvSpPr/>
              <p:nvPr/>
            </p:nvSpPr>
            <p:spPr>
              <a:xfrm>
                <a:off x="517769" y="310111"/>
                <a:ext cx="1240063" cy="853543"/>
              </a:xfrm>
              <a:custGeom>
                <a:avLst/>
                <a:gdLst/>
                <a:ahLst/>
                <a:cxnLst>
                  <a:cxn ang="0">
                    <a:pos x="1241149" y="0"/>
                  </a:cxn>
                  <a:cxn ang="0">
                    <a:pos x="834215" y="477694"/>
                  </a:cxn>
                  <a:cxn ang="0">
                    <a:pos x="284855" y="741950"/>
                  </a:cxn>
                  <a:cxn ang="0">
                    <a:pos x="0" y="853749"/>
                  </a:cxn>
                  <a:cxn ang="0">
                    <a:pos x="0" y="853749"/>
                  </a:cxn>
                </a:cxnLst>
                <a:pathLst>
                  <a:path w="1239520" h="853440">
                    <a:moveTo>
                      <a:pt x="1239520" y="0"/>
                    </a:moveTo>
                    <a:cubicBezTo>
                      <a:pt x="1115906" y="176953"/>
                      <a:pt x="992293" y="353907"/>
                      <a:pt x="833120" y="477520"/>
                    </a:cubicBezTo>
                    <a:cubicBezTo>
                      <a:pt x="673947" y="601133"/>
                      <a:pt x="423333" y="679027"/>
                      <a:pt x="284480" y="741680"/>
                    </a:cubicBezTo>
                    <a:cubicBezTo>
                      <a:pt x="145627" y="804333"/>
                      <a:pt x="0" y="853440"/>
                      <a:pt x="0" y="85344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42" name="Freeform 21"/>
              <p:cNvSpPr/>
              <p:nvPr/>
            </p:nvSpPr>
            <p:spPr>
              <a:xfrm>
                <a:off x="1005399" y="615299"/>
                <a:ext cx="593120" cy="429233"/>
              </a:xfrm>
              <a:custGeom>
                <a:avLst/>
                <a:gdLst/>
                <a:ahLst/>
                <a:cxnLst>
                  <a:cxn ang="0">
                    <a:pos x="549960" y="0"/>
                  </a:cxn>
                  <a:cxn ang="0">
                    <a:pos x="580514" y="273930"/>
                  </a:cxn>
                  <a:cxn ang="0">
                    <a:pos x="356455" y="426111"/>
                  </a:cxn>
                  <a:cxn ang="0">
                    <a:pos x="0" y="375385"/>
                  </a:cxn>
                </a:cxnLst>
                <a:pathLst>
                  <a:path w="592645" h="429437">
                    <a:moveTo>
                      <a:pt x="548640" y="0"/>
                    </a:moveTo>
                    <a:cubicBezTo>
                      <a:pt x="579966" y="101600"/>
                      <a:pt x="611293" y="203200"/>
                      <a:pt x="579120" y="274320"/>
                    </a:cubicBezTo>
                    <a:cubicBezTo>
                      <a:pt x="546947" y="345440"/>
                      <a:pt x="452120" y="409787"/>
                      <a:pt x="355600" y="426720"/>
                    </a:cubicBezTo>
                    <a:cubicBezTo>
                      <a:pt x="259080" y="443653"/>
                      <a:pt x="0" y="375920"/>
                      <a:pt x="0" y="37592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43" name="Freeform 22"/>
              <p:cNvSpPr/>
              <p:nvPr/>
            </p:nvSpPr>
            <p:spPr>
              <a:xfrm>
                <a:off x="1493027" y="991370"/>
                <a:ext cx="437036" cy="2638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2393" y="192339"/>
                  </a:cxn>
                  <a:cxn ang="0">
                    <a:pos x="437348" y="263201"/>
                  </a:cxn>
                </a:cxnLst>
                <a:pathLst>
                  <a:path w="436880" h="264160">
                    <a:moveTo>
                      <a:pt x="0" y="0"/>
                    </a:moveTo>
                    <a:cubicBezTo>
                      <a:pt x="34713" y="74506"/>
                      <a:pt x="69427" y="149013"/>
                      <a:pt x="142240" y="193040"/>
                    </a:cubicBezTo>
                    <a:cubicBezTo>
                      <a:pt x="215053" y="237067"/>
                      <a:pt x="436880" y="264160"/>
                      <a:pt x="436880" y="26416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444" name="Text Box 11"/>
            <p:cNvSpPr txBox="1"/>
            <p:nvPr/>
          </p:nvSpPr>
          <p:spPr>
            <a:xfrm>
              <a:off x="114098" y="648516"/>
              <a:ext cx="307849" cy="3424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45" name="Text Box 12"/>
            <p:cNvSpPr txBox="1"/>
            <p:nvPr/>
          </p:nvSpPr>
          <p:spPr>
            <a:xfrm>
              <a:off x="518822" y="178121"/>
              <a:ext cx="311078" cy="343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46" name="Text Box 13"/>
            <p:cNvSpPr txBox="1"/>
            <p:nvPr/>
          </p:nvSpPr>
          <p:spPr>
            <a:xfrm>
              <a:off x="594170" y="491061"/>
              <a:ext cx="320766" cy="343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47" name="Text Box 14"/>
            <p:cNvSpPr txBox="1"/>
            <p:nvPr/>
          </p:nvSpPr>
          <p:spPr>
            <a:xfrm>
              <a:off x="1131291" y="305068"/>
              <a:ext cx="332606" cy="3434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48" name="Text Box 15"/>
            <p:cNvSpPr txBox="1"/>
            <p:nvPr/>
          </p:nvSpPr>
          <p:spPr>
            <a:xfrm>
              <a:off x="1279833" y="728227"/>
              <a:ext cx="307849" cy="3434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49" name="Text Box 16"/>
            <p:cNvSpPr txBox="1"/>
            <p:nvPr/>
          </p:nvSpPr>
          <p:spPr>
            <a:xfrm>
              <a:off x="1051638" y="1105133"/>
              <a:ext cx="306773" cy="343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50" name="Text Box 17"/>
            <p:cNvSpPr txBox="1"/>
            <p:nvPr/>
          </p:nvSpPr>
          <p:spPr>
            <a:xfrm>
              <a:off x="1714697" y="534361"/>
              <a:ext cx="330454" cy="3424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</p:grpSp>
      <p:grpSp>
        <p:nvGrpSpPr>
          <p:cNvPr id="18451" name="Group 23"/>
          <p:cNvGrpSpPr/>
          <p:nvPr/>
        </p:nvGrpSpPr>
        <p:grpSpPr>
          <a:xfrm>
            <a:off x="5003800" y="1557338"/>
            <a:ext cx="3671888" cy="2735262"/>
            <a:chOff x="0" y="0"/>
            <a:chExt cx="2891488" cy="1434596"/>
          </a:xfrm>
        </p:grpSpPr>
        <p:grpSp>
          <p:nvGrpSpPr>
            <p:cNvPr id="18452" name="Group 24"/>
            <p:cNvGrpSpPr/>
            <p:nvPr/>
          </p:nvGrpSpPr>
          <p:grpSpPr>
            <a:xfrm>
              <a:off x="0" y="0"/>
              <a:ext cx="2891488" cy="1434596"/>
              <a:chOff x="0" y="0"/>
              <a:chExt cx="2891488" cy="1434596"/>
            </a:xfrm>
          </p:grpSpPr>
          <p:sp>
            <p:nvSpPr>
              <p:cNvPr id="18453" name="Freeform 30"/>
              <p:cNvSpPr/>
              <p:nvPr/>
            </p:nvSpPr>
            <p:spPr>
              <a:xfrm>
                <a:off x="0" y="0"/>
                <a:ext cx="2891488" cy="1434596"/>
              </a:xfrm>
              <a:custGeom>
                <a:avLst/>
                <a:gdLst/>
                <a:ahLst/>
                <a:cxnLst>
                  <a:cxn ang="0">
                    <a:pos x="5742" y="753724"/>
                  </a:cxn>
                  <a:cxn ang="0">
                    <a:pos x="280062" y="306684"/>
                  </a:cxn>
                  <a:cxn ang="0">
                    <a:pos x="930302" y="1884"/>
                  </a:cxn>
                  <a:cxn ang="0">
                    <a:pos x="1753262" y="174604"/>
                  </a:cxn>
                  <a:cxn ang="0">
                    <a:pos x="2484782" y="103484"/>
                  </a:cxn>
                  <a:cxn ang="0">
                    <a:pos x="2881022" y="875644"/>
                  </a:cxn>
                  <a:cxn ang="0">
                    <a:pos x="2078382" y="1119484"/>
                  </a:cxn>
                  <a:cxn ang="0">
                    <a:pos x="1590702" y="1434444"/>
                  </a:cxn>
                  <a:cxn ang="0">
                    <a:pos x="645822" y="1160124"/>
                  </a:cxn>
                  <a:cxn ang="0">
                    <a:pos x="137822" y="1068684"/>
                  </a:cxn>
                  <a:cxn ang="0">
                    <a:pos x="5742" y="753724"/>
                  </a:cxn>
                </a:cxnLst>
                <a:pathLst>
                  <a:path w="2891488" h="1434596">
                    <a:moveTo>
                      <a:pt x="5742" y="753724"/>
                    </a:moveTo>
                    <a:cubicBezTo>
                      <a:pt x="29449" y="626724"/>
                      <a:pt x="125969" y="431991"/>
                      <a:pt x="280062" y="306684"/>
                    </a:cubicBezTo>
                    <a:cubicBezTo>
                      <a:pt x="434155" y="181377"/>
                      <a:pt x="684769" y="23897"/>
                      <a:pt x="930302" y="1884"/>
                    </a:cubicBezTo>
                    <a:cubicBezTo>
                      <a:pt x="1175835" y="-20129"/>
                      <a:pt x="1494182" y="157671"/>
                      <a:pt x="1753262" y="174604"/>
                    </a:cubicBezTo>
                    <a:cubicBezTo>
                      <a:pt x="2012342" y="191537"/>
                      <a:pt x="2296822" y="-13356"/>
                      <a:pt x="2484782" y="103484"/>
                    </a:cubicBezTo>
                    <a:cubicBezTo>
                      <a:pt x="2672742" y="220324"/>
                      <a:pt x="2948755" y="706311"/>
                      <a:pt x="2881022" y="875644"/>
                    </a:cubicBezTo>
                    <a:cubicBezTo>
                      <a:pt x="2813289" y="1044977"/>
                      <a:pt x="2293435" y="1026351"/>
                      <a:pt x="2078382" y="1119484"/>
                    </a:cubicBezTo>
                    <a:cubicBezTo>
                      <a:pt x="1863329" y="1212617"/>
                      <a:pt x="1829462" y="1427671"/>
                      <a:pt x="1590702" y="1434444"/>
                    </a:cubicBezTo>
                    <a:cubicBezTo>
                      <a:pt x="1351942" y="1441217"/>
                      <a:pt x="887969" y="1221084"/>
                      <a:pt x="645822" y="1160124"/>
                    </a:cubicBezTo>
                    <a:cubicBezTo>
                      <a:pt x="403675" y="1099164"/>
                      <a:pt x="242809" y="1138111"/>
                      <a:pt x="137822" y="1068684"/>
                    </a:cubicBezTo>
                    <a:cubicBezTo>
                      <a:pt x="32835" y="999257"/>
                      <a:pt x="-17965" y="880724"/>
                      <a:pt x="5742" y="7537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3000" dir="5400000" algn="ctr" rotWithShape="0">
                  <a:srgbClr val="000000">
                    <a:alpha val="32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4" name="Freeform 31"/>
              <p:cNvSpPr/>
              <p:nvPr/>
            </p:nvSpPr>
            <p:spPr>
              <a:xfrm>
                <a:off x="67506" y="31639"/>
                <a:ext cx="711309" cy="596153"/>
              </a:xfrm>
              <a:custGeom>
                <a:avLst/>
                <a:gdLst/>
                <a:ahLst/>
                <a:cxnLst>
                  <a:cxn ang="0">
                    <a:pos x="0" y="559709"/>
                  </a:cxn>
                  <a:cxn ang="0">
                    <a:pos x="396423" y="590239"/>
                  </a:cxn>
                  <a:cxn ang="0">
                    <a:pos x="650540" y="447767"/>
                  </a:cxn>
                  <a:cxn ang="0">
                    <a:pos x="711527" y="0"/>
                  </a:cxn>
                </a:cxnLst>
                <a:pathLst>
                  <a:path w="711200" h="595830">
                    <a:moveTo>
                      <a:pt x="0" y="558800"/>
                    </a:moveTo>
                    <a:cubicBezTo>
                      <a:pt x="143933" y="583353"/>
                      <a:pt x="287867" y="607907"/>
                      <a:pt x="396240" y="589280"/>
                    </a:cubicBezTo>
                    <a:cubicBezTo>
                      <a:pt x="504613" y="570653"/>
                      <a:pt x="597747" y="545253"/>
                      <a:pt x="650240" y="447040"/>
                    </a:cubicBezTo>
                    <a:cubicBezTo>
                      <a:pt x="702733" y="348827"/>
                      <a:pt x="711200" y="0"/>
                      <a:pt x="711200" y="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5" name="Freeform 32"/>
              <p:cNvSpPr/>
              <p:nvPr/>
            </p:nvSpPr>
            <p:spPr>
              <a:xfrm>
                <a:off x="747561" y="113236"/>
                <a:ext cx="1321359" cy="356359"/>
              </a:xfrm>
              <a:custGeom>
                <a:avLst/>
                <a:gdLst/>
                <a:ahLst/>
                <a:cxnLst>
                  <a:cxn ang="0">
                    <a:pos x="0" y="242692"/>
                  </a:cxn>
                  <a:cxn ang="0">
                    <a:pos x="406916" y="313478"/>
                  </a:cxn>
                  <a:cxn ang="0">
                    <a:pos x="956253" y="333702"/>
                  </a:cxn>
                  <a:cxn ang="0">
                    <a:pos x="1322477" y="0"/>
                  </a:cxn>
                </a:cxnLst>
                <a:pathLst>
                  <a:path w="1320800" h="356920">
                    <a:moveTo>
                      <a:pt x="0" y="243840"/>
                    </a:moveTo>
                    <a:cubicBezTo>
                      <a:pt x="123613" y="271780"/>
                      <a:pt x="247227" y="299720"/>
                      <a:pt x="406400" y="314960"/>
                    </a:cubicBezTo>
                    <a:cubicBezTo>
                      <a:pt x="565573" y="330200"/>
                      <a:pt x="802640" y="387773"/>
                      <a:pt x="955040" y="335280"/>
                    </a:cubicBezTo>
                    <a:cubicBezTo>
                      <a:pt x="1107440" y="282787"/>
                      <a:pt x="1320800" y="0"/>
                      <a:pt x="1320800" y="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6" name="Freeform 33"/>
              <p:cNvSpPr/>
              <p:nvPr/>
            </p:nvSpPr>
            <p:spPr>
              <a:xfrm>
                <a:off x="575047" y="357192"/>
                <a:ext cx="1302607" cy="471260"/>
              </a:xfrm>
              <a:custGeom>
                <a:avLst/>
                <a:gdLst/>
                <a:ahLst/>
                <a:cxnLst>
                  <a:cxn ang="0">
                    <a:pos x="0" y="232691"/>
                  </a:cxn>
                  <a:cxn ang="0">
                    <a:pos x="437111" y="455265"/>
                  </a:cxn>
                  <a:cxn ang="0">
                    <a:pos x="965710" y="435030"/>
                  </a:cxn>
                  <a:cxn ang="0">
                    <a:pos x="1260506" y="323743"/>
                  </a:cxn>
                  <a:cxn ang="0">
                    <a:pos x="1301167" y="0"/>
                  </a:cxn>
                </a:cxnLst>
                <a:pathLst>
                  <a:path w="1302378" h="471927">
                    <a:moveTo>
                      <a:pt x="0" y="233680"/>
                    </a:moveTo>
                    <a:cubicBezTo>
                      <a:pt x="138006" y="328506"/>
                      <a:pt x="276013" y="423333"/>
                      <a:pt x="436880" y="457200"/>
                    </a:cubicBezTo>
                    <a:cubicBezTo>
                      <a:pt x="597747" y="491067"/>
                      <a:pt x="828040" y="458893"/>
                      <a:pt x="965200" y="436880"/>
                    </a:cubicBezTo>
                    <a:cubicBezTo>
                      <a:pt x="1102360" y="414867"/>
                      <a:pt x="1203960" y="397933"/>
                      <a:pt x="1259840" y="325120"/>
                    </a:cubicBezTo>
                    <a:cubicBezTo>
                      <a:pt x="1315720" y="252307"/>
                      <a:pt x="1300480" y="0"/>
                      <a:pt x="1300480" y="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7" name="Freeform 34"/>
              <p:cNvSpPr/>
              <p:nvPr/>
            </p:nvSpPr>
            <p:spPr>
              <a:xfrm>
                <a:off x="1413867" y="793482"/>
                <a:ext cx="116259" cy="630290"/>
              </a:xfrm>
              <a:custGeom>
                <a:avLst/>
                <a:gdLst/>
                <a:ahLst/>
                <a:cxnLst>
                  <a:cxn ang="0">
                    <a:pos x="34751" y="0"/>
                  </a:cxn>
                  <a:cxn ang="0">
                    <a:pos x="4172" y="193380"/>
                  </a:cxn>
                  <a:cxn ang="0">
                    <a:pos x="116292" y="346049"/>
                  </a:cxn>
                  <a:cxn ang="0">
                    <a:pos x="34751" y="631030"/>
                  </a:cxn>
                </a:cxnLst>
                <a:pathLst>
                  <a:path w="116135" h="629920">
                    <a:moveTo>
                      <a:pt x="34640" y="0"/>
                    </a:moveTo>
                    <a:cubicBezTo>
                      <a:pt x="12626" y="67733"/>
                      <a:pt x="-9387" y="135467"/>
                      <a:pt x="4160" y="193040"/>
                    </a:cubicBezTo>
                    <a:cubicBezTo>
                      <a:pt x="17707" y="250613"/>
                      <a:pt x="110840" y="272627"/>
                      <a:pt x="115920" y="345440"/>
                    </a:cubicBezTo>
                    <a:cubicBezTo>
                      <a:pt x="121000" y="418253"/>
                      <a:pt x="34640" y="629920"/>
                      <a:pt x="34640" y="629920"/>
                    </a:cubicBezTo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20000" dir="5400000" algn="ctr" rotWithShape="0">
                  <a:srgbClr val="000000">
                    <a:alpha val="35999"/>
                  </a:srgbClr>
                </a:outerShdw>
              </a:effectLst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458" name="Text Box 59"/>
            <p:cNvSpPr txBox="1"/>
            <p:nvPr/>
          </p:nvSpPr>
          <p:spPr>
            <a:xfrm>
              <a:off x="331278" y="196497"/>
              <a:ext cx="307525" cy="3430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59" name="Text Box 60"/>
            <p:cNvSpPr txBox="1"/>
            <p:nvPr/>
          </p:nvSpPr>
          <p:spPr>
            <a:xfrm>
              <a:off x="1037585" y="21648"/>
              <a:ext cx="307525" cy="3430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60" name="Text Box 61"/>
            <p:cNvSpPr txBox="1"/>
            <p:nvPr/>
          </p:nvSpPr>
          <p:spPr>
            <a:xfrm>
              <a:off x="1037585" y="435458"/>
              <a:ext cx="318777" cy="3430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61" name="Text Box 62"/>
            <p:cNvSpPr txBox="1"/>
            <p:nvPr/>
          </p:nvSpPr>
          <p:spPr>
            <a:xfrm>
              <a:off x="2066420" y="478754"/>
              <a:ext cx="330027" cy="3430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  <p:sp>
          <p:nvSpPr>
            <p:cNvPr id="18462" name="Text Box 63"/>
            <p:cNvSpPr txBox="1"/>
            <p:nvPr/>
          </p:nvSpPr>
          <p:spPr>
            <a:xfrm>
              <a:off x="695057" y="821791"/>
              <a:ext cx="307525" cy="3430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zh-CN" altLang="en-US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endParaRPr>
            </a:p>
          </p:txBody>
        </p:sp>
      </p:grpSp>
      <p:sp>
        <p:nvSpPr>
          <p:cNvPr id="18463" name="Text Box 19"/>
          <p:cNvSpPr txBox="1"/>
          <p:nvPr/>
        </p:nvSpPr>
        <p:spPr>
          <a:xfrm>
            <a:off x="2987675" y="4652963"/>
            <a:ext cx="3036888" cy="5762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Figure </a:t>
            </a:r>
            <a:r>
              <a:rPr lang="en-US" altLang="zh-CN" sz="2400" i="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 Two Maps</a:t>
            </a:r>
            <a:endParaRPr lang="zh-CN" altLang="en-US" i="0" dirty="0">
              <a:solidFill>
                <a:srgbClr val="000000"/>
              </a:solidFill>
              <a:latin typeface="Times New Roman" panose="02020603050405020304" charset="0"/>
              <a:ea typeface="ＭＳ 明朝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itle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/>
              <a:t>例 面着色和点着色</a:t>
            </a:r>
            <a:endParaRPr lang="en-US" altLang="zh-CN" dirty="0"/>
          </a:p>
        </p:txBody>
      </p:sp>
      <p:pic>
        <p:nvPicPr>
          <p:cNvPr id="20482" name="内容占位符 2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3699828" y="2283143"/>
            <a:ext cx="5307012" cy="2654300"/>
          </a:xfrm>
        </p:spPr>
      </p:pic>
      <p:sp>
        <p:nvSpPr>
          <p:cNvPr id="20483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20508" name="组 37"/>
          <p:cNvGrpSpPr/>
          <p:nvPr/>
        </p:nvGrpSpPr>
        <p:grpSpPr>
          <a:xfrm>
            <a:off x="4428490" y="2633980"/>
            <a:ext cx="3960813" cy="2016125"/>
            <a:chOff x="0" y="0"/>
            <a:chExt cx="3960440" cy="2016224"/>
          </a:xfrm>
        </p:grpSpPr>
        <p:sp>
          <p:nvSpPr>
            <p:cNvPr id="20509" name="椭圆 24"/>
            <p:cNvSpPr/>
            <p:nvPr/>
          </p:nvSpPr>
          <p:spPr>
            <a:xfrm>
              <a:off x="0" y="936104"/>
              <a:ext cx="216024" cy="216024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0" name="椭圆 44"/>
            <p:cNvSpPr/>
            <p:nvPr/>
          </p:nvSpPr>
          <p:spPr>
            <a:xfrm>
              <a:off x="864096" y="0"/>
              <a:ext cx="216024" cy="21602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1" name="椭圆 46"/>
            <p:cNvSpPr/>
            <p:nvPr/>
          </p:nvSpPr>
          <p:spPr>
            <a:xfrm>
              <a:off x="936104" y="504056"/>
              <a:ext cx="216024" cy="216024"/>
            </a:xfrm>
            <a:prstGeom prst="ellipse">
              <a:avLst/>
            </a:pr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3" name="椭圆 49"/>
            <p:cNvSpPr/>
            <p:nvPr/>
          </p:nvSpPr>
          <p:spPr>
            <a:xfrm>
              <a:off x="3744416" y="936104"/>
              <a:ext cx="216024" cy="216024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4" name="椭圆 50"/>
            <p:cNvSpPr/>
            <p:nvPr/>
          </p:nvSpPr>
          <p:spPr>
            <a:xfrm>
              <a:off x="1872208" y="936104"/>
              <a:ext cx="216024" cy="216024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5" name="椭圆 51"/>
            <p:cNvSpPr/>
            <p:nvPr/>
          </p:nvSpPr>
          <p:spPr>
            <a:xfrm>
              <a:off x="2808312" y="1296144"/>
              <a:ext cx="216024" cy="216024"/>
            </a:xfrm>
            <a:prstGeom prst="ellipse">
              <a:avLst/>
            </a:pr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2" name="椭圆 48"/>
            <p:cNvSpPr/>
            <p:nvPr/>
          </p:nvSpPr>
          <p:spPr>
            <a:xfrm>
              <a:off x="2736304" y="1800200"/>
              <a:ext cx="216024" cy="216024"/>
            </a:xfrm>
            <a:prstGeom prst="ellipse">
              <a:avLst/>
            </a:prstGeom>
            <a:solidFill>
              <a:srgbClr val="00E4A8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6" name="文本框 38"/>
          <p:cNvSpPr txBox="1"/>
          <p:nvPr/>
        </p:nvSpPr>
        <p:spPr>
          <a:xfrm>
            <a:off x="1475740" y="5157470"/>
            <a:ext cx="1255713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 i="0">
                <a:latin typeface="Tahoma" panose="020B0604030504040204" charset="0"/>
                <a:ea typeface="宋体" panose="02010600030101010101" pitchFamily="2" charset="-122"/>
              </a:rPr>
              <a:t>面着色</a:t>
            </a:r>
            <a:endParaRPr lang="zh-CN" altLang="en-US" sz="2800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0517" name="文本框 55"/>
          <p:cNvSpPr txBox="1"/>
          <p:nvPr/>
        </p:nvSpPr>
        <p:spPr>
          <a:xfrm>
            <a:off x="6227763" y="5229225"/>
            <a:ext cx="1255712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 i="0">
                <a:latin typeface="Tahoma" panose="020B0604030504040204" charset="0"/>
                <a:ea typeface="宋体" panose="02010600030101010101" pitchFamily="2" charset="-122"/>
              </a:rPr>
              <a:t>点着色</a:t>
            </a:r>
            <a:endParaRPr lang="zh-CN" altLang="en-US" sz="2800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cxnSp>
        <p:nvCxnSpPr>
          <p:cNvPr id="3" name="曲线连接符 2"/>
          <p:cNvCxnSpPr>
            <a:stCxn id="2" idx="7"/>
            <a:endCxn id="20509" idx="1"/>
          </p:cNvCxnSpPr>
          <p:nvPr/>
        </p:nvCxnSpPr>
        <p:spPr>
          <a:xfrm rot="16200000" flipH="1" flipV="1">
            <a:off x="5184775" y="1437005"/>
            <a:ext cx="1439545" cy="2889250"/>
          </a:xfrm>
          <a:prstGeom prst="curvedConnector3">
            <a:avLst>
              <a:gd name="adj1" fmla="val -18769"/>
            </a:avLst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曲线连接符 3"/>
          <p:cNvCxnSpPr>
            <a:stCxn id="2" idx="5"/>
            <a:endCxn id="20513" idx="0"/>
          </p:cNvCxnSpPr>
          <p:nvPr/>
        </p:nvCxnSpPr>
        <p:spPr>
          <a:xfrm rot="5400000" flipV="1">
            <a:off x="7187565" y="2475865"/>
            <a:ext cx="1255395" cy="931545"/>
          </a:xfrm>
          <a:prstGeom prst="curvedConnector3">
            <a:avLst>
              <a:gd name="adj1" fmla="val 6879"/>
            </a:avLst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2" idx="4"/>
            <a:endCxn id="20514" idx="7"/>
          </p:cNvCxnSpPr>
          <p:nvPr/>
        </p:nvCxnSpPr>
        <p:spPr>
          <a:xfrm flipH="1">
            <a:off x="6485255" y="2346325"/>
            <a:ext cx="788035" cy="1255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曲线连接符 7"/>
          <p:cNvCxnSpPr/>
          <p:nvPr/>
        </p:nvCxnSpPr>
        <p:spPr>
          <a:xfrm rot="5400000" flipV="1">
            <a:off x="6070600" y="3406140"/>
            <a:ext cx="2411730" cy="3175"/>
          </a:xfrm>
          <a:prstGeom prst="curvedConnector4">
            <a:avLst>
              <a:gd name="adj1" fmla="val 5568"/>
              <a:gd name="adj2" fmla="val 5359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49"/>
          <p:cNvSpPr/>
          <p:nvPr/>
        </p:nvSpPr>
        <p:spPr>
          <a:xfrm>
            <a:off x="7165514" y="2130493"/>
            <a:ext cx="216044" cy="216013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zh-CN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7315" y="1842770"/>
            <a:ext cx="4176395" cy="3168015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0484" name="组 35"/>
          <p:cNvGrpSpPr/>
          <p:nvPr/>
        </p:nvGrpSpPr>
        <p:grpSpPr>
          <a:xfrm>
            <a:off x="468313" y="2274570"/>
            <a:ext cx="3311525" cy="2520950"/>
            <a:chOff x="0" y="0"/>
            <a:chExt cx="3312218" cy="2521478"/>
          </a:xfrm>
        </p:grpSpPr>
        <p:grpSp>
          <p:nvGrpSpPr>
            <p:cNvPr id="20485" name="Group 7"/>
            <p:cNvGrpSpPr/>
            <p:nvPr/>
          </p:nvGrpSpPr>
          <p:grpSpPr>
            <a:xfrm>
              <a:off x="0" y="0"/>
              <a:ext cx="3312218" cy="2521478"/>
              <a:chOff x="0" y="0"/>
              <a:chExt cx="2245360" cy="1562735"/>
            </a:xfrm>
          </p:grpSpPr>
          <p:grpSp>
            <p:nvGrpSpPr>
              <p:cNvPr id="20486" name="Group 8"/>
              <p:cNvGrpSpPr/>
              <p:nvPr/>
            </p:nvGrpSpPr>
            <p:grpSpPr>
              <a:xfrm>
                <a:off x="0" y="0"/>
                <a:ext cx="2245360" cy="1562735"/>
                <a:chOff x="0" y="0"/>
                <a:chExt cx="2245462" cy="1563352"/>
              </a:xfrm>
            </p:grpSpPr>
            <p:sp>
              <p:nvSpPr>
                <p:cNvPr id="20487" name="Freeform 16"/>
                <p:cNvSpPr/>
                <p:nvPr/>
              </p:nvSpPr>
              <p:spPr>
                <a:xfrm>
                  <a:off x="0" y="0"/>
                  <a:ext cx="2245462" cy="1563352"/>
                </a:xfrm>
                <a:custGeom>
                  <a:avLst/>
                  <a:gdLst/>
                  <a:ahLst/>
                  <a:cxnLst>
                    <a:cxn ang="0">
                      <a:pos x="0" y="889564"/>
                    </a:cxn>
                    <a:cxn ang="0">
                      <a:pos x="71120" y="686364"/>
                    </a:cxn>
                    <a:cxn ang="0">
                      <a:pos x="71120" y="686364"/>
                    </a:cxn>
                    <a:cxn ang="0">
                      <a:pos x="203200" y="361244"/>
                    </a:cxn>
                    <a:cxn ang="0">
                      <a:pos x="497840" y="168204"/>
                    </a:cxn>
                    <a:cxn ang="0">
                      <a:pos x="497840" y="168204"/>
                    </a:cxn>
                    <a:cxn ang="0">
                      <a:pos x="1148080" y="5644"/>
                    </a:cxn>
                    <a:cxn ang="0">
                      <a:pos x="1879600" y="401884"/>
                    </a:cxn>
                    <a:cxn ang="0">
                      <a:pos x="1879600" y="401884"/>
                    </a:cxn>
                    <a:cxn ang="0">
                      <a:pos x="2245360" y="696524"/>
                    </a:cxn>
                    <a:cxn ang="0">
                      <a:pos x="1920240" y="1245164"/>
                    </a:cxn>
                    <a:cxn ang="0">
                      <a:pos x="1920240" y="1245164"/>
                    </a:cxn>
                    <a:cxn ang="0">
                      <a:pos x="1605280" y="1539804"/>
                    </a:cxn>
                    <a:cxn ang="0">
                      <a:pos x="843280" y="1509324"/>
                    </a:cxn>
                    <a:cxn ang="0">
                      <a:pos x="325120" y="1224844"/>
                    </a:cxn>
                    <a:cxn ang="0">
                      <a:pos x="0" y="889564"/>
                    </a:cxn>
                  </a:cxnLst>
                  <a:pathLst>
                    <a:path w="2245462" h="1563352">
                      <a:moveTo>
                        <a:pt x="0" y="889564"/>
                      </a:moveTo>
                      <a:lnTo>
                        <a:pt x="71120" y="686364"/>
                      </a:lnTo>
                      <a:cubicBezTo>
                        <a:pt x="93133" y="632177"/>
                        <a:pt x="132080" y="447604"/>
                        <a:pt x="203200" y="361244"/>
                      </a:cubicBezTo>
                      <a:cubicBezTo>
                        <a:pt x="274320" y="274884"/>
                        <a:pt x="497840" y="168204"/>
                        <a:pt x="497840" y="168204"/>
                      </a:cubicBezTo>
                      <a:cubicBezTo>
                        <a:pt x="606213" y="141111"/>
                        <a:pt x="917787" y="-33303"/>
                        <a:pt x="1148080" y="5644"/>
                      </a:cubicBezTo>
                      <a:cubicBezTo>
                        <a:pt x="1378373" y="44591"/>
                        <a:pt x="1879600" y="401884"/>
                        <a:pt x="1879600" y="401884"/>
                      </a:cubicBezTo>
                      <a:cubicBezTo>
                        <a:pt x="1940560" y="450991"/>
                        <a:pt x="2238587" y="555977"/>
                        <a:pt x="2245360" y="696524"/>
                      </a:cubicBezTo>
                      <a:cubicBezTo>
                        <a:pt x="2252133" y="837071"/>
                        <a:pt x="1920240" y="1245164"/>
                        <a:pt x="1920240" y="1245164"/>
                      </a:cubicBezTo>
                      <a:cubicBezTo>
                        <a:pt x="1867747" y="1294271"/>
                        <a:pt x="1784773" y="1495777"/>
                        <a:pt x="1605280" y="1539804"/>
                      </a:cubicBezTo>
                      <a:cubicBezTo>
                        <a:pt x="1425787" y="1583831"/>
                        <a:pt x="1056640" y="1561817"/>
                        <a:pt x="843280" y="1509324"/>
                      </a:cubicBezTo>
                      <a:cubicBezTo>
                        <a:pt x="629920" y="1456831"/>
                        <a:pt x="463973" y="1331524"/>
                        <a:pt x="325120" y="1224844"/>
                      </a:cubicBezTo>
                      <a:cubicBezTo>
                        <a:pt x="186267" y="1118164"/>
                        <a:pt x="98213" y="993704"/>
                        <a:pt x="0" y="889564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3000" dir="5400000" algn="ctr" rotWithShape="0">
                    <a:srgbClr val="000000">
                      <a:alpha val="32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88" name="Freeform 17"/>
                <p:cNvSpPr/>
                <p:nvPr/>
              </p:nvSpPr>
              <p:spPr>
                <a:xfrm>
                  <a:off x="132402" y="25596"/>
                  <a:ext cx="1076444" cy="519805"/>
                </a:xfrm>
                <a:custGeom>
                  <a:avLst/>
                  <a:gdLst/>
                  <a:ahLst/>
                  <a:cxnLst>
                    <a:cxn ang="0">
                      <a:pos x="0" y="489540"/>
                    </a:cxn>
                    <a:cxn ang="0">
                      <a:pos x="385525" y="509937"/>
                    </a:cxn>
                    <a:cxn ang="0">
                      <a:pos x="750760" y="336559"/>
                    </a:cxn>
                    <a:cxn ang="0">
                      <a:pos x="1075412" y="0"/>
                    </a:cxn>
                    <a:cxn ang="0">
                      <a:pos x="1075412" y="0"/>
                    </a:cxn>
                  </a:cxnLst>
                  <a:pathLst>
                    <a:path w="1076960" h="519146">
                      <a:moveTo>
                        <a:pt x="0" y="487680"/>
                      </a:moveTo>
                      <a:cubicBezTo>
                        <a:pt x="130386" y="510540"/>
                        <a:pt x="260773" y="533400"/>
                        <a:pt x="386080" y="508000"/>
                      </a:cubicBezTo>
                      <a:cubicBezTo>
                        <a:pt x="511387" y="482600"/>
                        <a:pt x="636693" y="419947"/>
                        <a:pt x="751840" y="335280"/>
                      </a:cubicBezTo>
                      <a:cubicBezTo>
                        <a:pt x="866987" y="250613"/>
                        <a:pt x="1076960" y="0"/>
                        <a:pt x="107696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89" name="Freeform 18"/>
                <p:cNvSpPr/>
                <p:nvPr/>
              </p:nvSpPr>
              <p:spPr>
                <a:xfrm>
                  <a:off x="375679" y="523743"/>
                  <a:ext cx="244353" cy="747220"/>
                </a:xfrm>
                <a:custGeom>
                  <a:avLst/>
                  <a:gdLst/>
                  <a:ahLst/>
                  <a:cxnLst>
                    <a:cxn ang="0">
                      <a:pos x="245382" y="0"/>
                    </a:cxn>
                    <a:cxn ang="0">
                      <a:pos x="112467" y="671800"/>
                    </a:cxn>
                    <a:cxn ang="0">
                      <a:pos x="0" y="732873"/>
                    </a:cxn>
                  </a:cxnLst>
                  <a:pathLst>
                    <a:path w="243840" h="746760">
                      <a:moveTo>
                        <a:pt x="243840" y="0"/>
                      </a:moveTo>
                      <a:cubicBezTo>
                        <a:pt x="198120" y="274320"/>
                        <a:pt x="152400" y="548640"/>
                        <a:pt x="111760" y="670560"/>
                      </a:cubicBezTo>
                      <a:cubicBezTo>
                        <a:pt x="71120" y="792480"/>
                        <a:pt x="0" y="731520"/>
                        <a:pt x="0" y="73152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0" name="Freeform 19"/>
                <p:cNvSpPr/>
                <p:nvPr/>
              </p:nvSpPr>
              <p:spPr>
                <a:xfrm>
                  <a:off x="538222" y="300266"/>
                  <a:ext cx="453183" cy="681259"/>
                </a:xfrm>
                <a:custGeom>
                  <a:avLst/>
                  <a:gdLst/>
                  <a:ahLst/>
                  <a:cxnLst>
                    <a:cxn ang="0">
                      <a:pos x="427863" y="0"/>
                    </a:cxn>
                    <a:cxn ang="0">
                      <a:pos x="407489" y="386998"/>
                    </a:cxn>
                    <a:cxn ang="0">
                      <a:pos x="0" y="682338"/>
                    </a:cxn>
                    <a:cxn ang="0">
                      <a:pos x="0" y="682338"/>
                    </a:cxn>
                    <a:cxn ang="0">
                      <a:pos x="0" y="682338"/>
                    </a:cxn>
                  </a:cxnLst>
                  <a:pathLst>
                    <a:path w="452779" h="680720">
                      <a:moveTo>
                        <a:pt x="426720" y="0"/>
                      </a:moveTo>
                      <a:cubicBezTo>
                        <a:pt x="452120" y="136313"/>
                        <a:pt x="477520" y="272627"/>
                        <a:pt x="406400" y="386080"/>
                      </a:cubicBezTo>
                      <a:cubicBezTo>
                        <a:pt x="335280" y="499533"/>
                        <a:pt x="0" y="680720"/>
                        <a:pt x="0" y="68072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1" name="Freeform 20"/>
                <p:cNvSpPr/>
                <p:nvPr/>
              </p:nvSpPr>
              <p:spPr>
                <a:xfrm>
                  <a:off x="517769" y="310111"/>
                  <a:ext cx="1240063" cy="853543"/>
                </a:xfrm>
                <a:custGeom>
                  <a:avLst/>
                  <a:gdLst/>
                  <a:ahLst/>
                  <a:cxnLst>
                    <a:cxn ang="0">
                      <a:pos x="1241149" y="0"/>
                    </a:cxn>
                    <a:cxn ang="0">
                      <a:pos x="834215" y="477694"/>
                    </a:cxn>
                    <a:cxn ang="0">
                      <a:pos x="284855" y="741950"/>
                    </a:cxn>
                    <a:cxn ang="0">
                      <a:pos x="0" y="853749"/>
                    </a:cxn>
                    <a:cxn ang="0">
                      <a:pos x="0" y="853749"/>
                    </a:cxn>
                  </a:cxnLst>
                  <a:pathLst>
                    <a:path w="1239520" h="853440">
                      <a:moveTo>
                        <a:pt x="1239520" y="0"/>
                      </a:moveTo>
                      <a:cubicBezTo>
                        <a:pt x="1115906" y="176953"/>
                        <a:pt x="992293" y="353907"/>
                        <a:pt x="833120" y="477520"/>
                      </a:cubicBezTo>
                      <a:cubicBezTo>
                        <a:pt x="673947" y="601133"/>
                        <a:pt x="423333" y="679027"/>
                        <a:pt x="284480" y="741680"/>
                      </a:cubicBezTo>
                      <a:cubicBezTo>
                        <a:pt x="145627" y="804333"/>
                        <a:pt x="0" y="853440"/>
                        <a:pt x="0" y="85344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2" name="Freeform 21"/>
                <p:cNvSpPr/>
                <p:nvPr/>
              </p:nvSpPr>
              <p:spPr>
                <a:xfrm>
                  <a:off x="1005399" y="615299"/>
                  <a:ext cx="593120" cy="429233"/>
                </a:xfrm>
                <a:custGeom>
                  <a:avLst/>
                  <a:gdLst/>
                  <a:ahLst/>
                  <a:cxnLst>
                    <a:cxn ang="0">
                      <a:pos x="549960" y="0"/>
                    </a:cxn>
                    <a:cxn ang="0">
                      <a:pos x="580514" y="273930"/>
                    </a:cxn>
                    <a:cxn ang="0">
                      <a:pos x="356455" y="426111"/>
                    </a:cxn>
                    <a:cxn ang="0">
                      <a:pos x="0" y="375385"/>
                    </a:cxn>
                  </a:cxnLst>
                  <a:pathLst>
                    <a:path w="592645" h="429437">
                      <a:moveTo>
                        <a:pt x="548640" y="0"/>
                      </a:moveTo>
                      <a:cubicBezTo>
                        <a:pt x="579966" y="101600"/>
                        <a:pt x="611293" y="203200"/>
                        <a:pt x="579120" y="274320"/>
                      </a:cubicBezTo>
                      <a:cubicBezTo>
                        <a:pt x="546947" y="345440"/>
                        <a:pt x="452120" y="409787"/>
                        <a:pt x="355600" y="426720"/>
                      </a:cubicBezTo>
                      <a:cubicBezTo>
                        <a:pt x="259080" y="443653"/>
                        <a:pt x="0" y="375920"/>
                        <a:pt x="0" y="37592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3" name="Freeform 22"/>
                <p:cNvSpPr/>
                <p:nvPr/>
              </p:nvSpPr>
              <p:spPr>
                <a:xfrm>
                  <a:off x="1493027" y="991370"/>
                  <a:ext cx="437036" cy="26384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2393" y="192339"/>
                    </a:cxn>
                    <a:cxn ang="0">
                      <a:pos x="437348" y="263201"/>
                    </a:cxn>
                  </a:cxnLst>
                  <a:pathLst>
                    <a:path w="436880" h="264160">
                      <a:moveTo>
                        <a:pt x="0" y="0"/>
                      </a:moveTo>
                      <a:cubicBezTo>
                        <a:pt x="34713" y="74506"/>
                        <a:pt x="69427" y="149013"/>
                        <a:pt x="142240" y="193040"/>
                      </a:cubicBezTo>
                      <a:cubicBezTo>
                        <a:pt x="215053" y="237067"/>
                        <a:pt x="436880" y="264160"/>
                        <a:pt x="436880" y="26416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0494" name="Text Box 11"/>
              <p:cNvSpPr txBox="1"/>
              <p:nvPr/>
            </p:nvSpPr>
            <p:spPr>
              <a:xfrm>
                <a:off x="114098" y="648516"/>
                <a:ext cx="307849" cy="3424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5" name="Text Box 12"/>
              <p:cNvSpPr txBox="1"/>
              <p:nvPr/>
            </p:nvSpPr>
            <p:spPr>
              <a:xfrm>
                <a:off x="518822" y="178121"/>
                <a:ext cx="311078" cy="343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B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6" name="Text Box 13"/>
              <p:cNvSpPr txBox="1"/>
              <p:nvPr/>
            </p:nvSpPr>
            <p:spPr>
              <a:xfrm>
                <a:off x="594170" y="491061"/>
                <a:ext cx="320766" cy="343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C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7" name="Text Box 14"/>
              <p:cNvSpPr txBox="1"/>
              <p:nvPr/>
            </p:nvSpPr>
            <p:spPr>
              <a:xfrm>
                <a:off x="1131291" y="305068"/>
                <a:ext cx="332606" cy="3434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D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8" name="Text Box 15"/>
              <p:cNvSpPr txBox="1"/>
              <p:nvPr/>
            </p:nvSpPr>
            <p:spPr>
              <a:xfrm>
                <a:off x="1279833" y="728227"/>
                <a:ext cx="307849" cy="3434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F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9" name="Text Box 16"/>
              <p:cNvSpPr txBox="1"/>
              <p:nvPr/>
            </p:nvSpPr>
            <p:spPr>
              <a:xfrm>
                <a:off x="1051638" y="1105133"/>
                <a:ext cx="306773" cy="343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500" name="Text Box 17"/>
              <p:cNvSpPr txBox="1"/>
              <p:nvPr/>
            </p:nvSpPr>
            <p:spPr>
              <a:xfrm>
                <a:off x="1714697" y="534361"/>
                <a:ext cx="330454" cy="3424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</p:grpSp>
        <p:sp>
          <p:nvSpPr>
            <p:cNvPr id="20501" name="任意形状 1"/>
            <p:cNvSpPr/>
            <p:nvPr/>
          </p:nvSpPr>
          <p:spPr>
            <a:xfrm>
              <a:off x="188912" y="14288"/>
              <a:ext cx="1557338" cy="857250"/>
            </a:xfrm>
            <a:custGeom>
              <a:avLst/>
              <a:gdLst/>
              <a:ahLst/>
              <a:cxnLst>
                <a:cxn ang="0">
                  <a:pos x="0" y="785812"/>
                </a:cxn>
                <a:cxn ang="0">
                  <a:pos x="171450" y="514350"/>
                </a:cxn>
                <a:cxn ang="0">
                  <a:pos x="571500" y="242887"/>
                </a:cxn>
                <a:cxn ang="0">
                  <a:pos x="1128713" y="14287"/>
                </a:cxn>
                <a:cxn ang="0">
                  <a:pos x="1557338" y="0"/>
                </a:cxn>
                <a:cxn ang="0">
                  <a:pos x="1371600" y="257175"/>
                </a:cxn>
                <a:cxn ang="0">
                  <a:pos x="942975" y="671512"/>
                </a:cxn>
                <a:cxn ang="0">
                  <a:pos x="457200" y="857250"/>
                </a:cxn>
                <a:cxn ang="0">
                  <a:pos x="85725" y="814387"/>
                </a:cxn>
                <a:cxn ang="0">
                  <a:pos x="0" y="785812"/>
                </a:cxn>
              </a:cxnLst>
              <a:pathLst>
                <a:path w="1557338" h="857250">
                  <a:moveTo>
                    <a:pt x="0" y="785812"/>
                  </a:moveTo>
                  <a:lnTo>
                    <a:pt x="171450" y="514350"/>
                  </a:lnTo>
                  <a:lnTo>
                    <a:pt x="571500" y="242887"/>
                  </a:lnTo>
                  <a:lnTo>
                    <a:pt x="1128713" y="14287"/>
                  </a:lnTo>
                  <a:lnTo>
                    <a:pt x="1557338" y="0"/>
                  </a:lnTo>
                  <a:lnTo>
                    <a:pt x="1371600" y="257175"/>
                  </a:lnTo>
                  <a:lnTo>
                    <a:pt x="942975" y="671512"/>
                  </a:lnTo>
                  <a:lnTo>
                    <a:pt x="457200" y="857250"/>
                  </a:lnTo>
                  <a:lnTo>
                    <a:pt x="85725" y="814387"/>
                  </a:lnTo>
                  <a:lnTo>
                    <a:pt x="0" y="785812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2" name="任意形状 2"/>
            <p:cNvSpPr/>
            <p:nvPr/>
          </p:nvSpPr>
          <p:spPr>
            <a:xfrm>
              <a:off x="3175" y="814388"/>
              <a:ext cx="914400" cy="1214437"/>
            </a:xfrm>
            <a:custGeom>
              <a:avLst/>
              <a:gdLst/>
              <a:ahLst/>
              <a:cxnLst>
                <a:cxn ang="0">
                  <a:pos x="171450" y="0"/>
                </a:cxn>
                <a:cxn ang="0">
                  <a:pos x="0" y="614362"/>
                </a:cxn>
                <a:cxn ang="0">
                  <a:pos x="557212" y="1214437"/>
                </a:cxn>
                <a:cxn ang="0">
                  <a:pos x="685800" y="1200150"/>
                </a:cxn>
                <a:cxn ang="0">
                  <a:pos x="914400" y="0"/>
                </a:cxn>
                <a:cxn ang="0">
                  <a:pos x="485775" y="71437"/>
                </a:cxn>
                <a:cxn ang="0">
                  <a:pos x="171450" y="0"/>
                </a:cxn>
              </a:cxnLst>
              <a:pathLst>
                <a:path w="914400" h="1214437">
                  <a:moveTo>
                    <a:pt x="171450" y="0"/>
                  </a:moveTo>
                  <a:lnTo>
                    <a:pt x="0" y="614362"/>
                  </a:lnTo>
                  <a:lnTo>
                    <a:pt x="557212" y="1214437"/>
                  </a:lnTo>
                  <a:lnTo>
                    <a:pt x="685800" y="1200150"/>
                  </a:lnTo>
                  <a:lnTo>
                    <a:pt x="914400" y="0"/>
                  </a:lnTo>
                  <a:lnTo>
                    <a:pt x="485775" y="71437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3" name="任意形状 3"/>
            <p:cNvSpPr/>
            <p:nvPr/>
          </p:nvSpPr>
          <p:spPr>
            <a:xfrm>
              <a:off x="788987" y="485775"/>
              <a:ext cx="642938" cy="1071563"/>
            </a:xfrm>
            <a:custGeom>
              <a:avLst/>
              <a:gdLst/>
              <a:ahLst/>
              <a:cxnLst>
                <a:cxn ang="0">
                  <a:pos x="628650" y="0"/>
                </a:cxn>
                <a:cxn ang="0">
                  <a:pos x="642938" y="485775"/>
                </a:cxn>
                <a:cxn ang="0">
                  <a:pos x="571500" y="700088"/>
                </a:cxn>
                <a:cxn ang="0">
                  <a:pos x="328613" y="828675"/>
                </a:cxn>
                <a:cxn ang="0">
                  <a:pos x="0" y="1071563"/>
                </a:cxn>
                <a:cxn ang="0">
                  <a:pos x="142875" y="285750"/>
                </a:cxn>
                <a:cxn ang="0">
                  <a:pos x="457200" y="142875"/>
                </a:cxn>
                <a:cxn ang="0">
                  <a:pos x="628650" y="0"/>
                </a:cxn>
              </a:cxnLst>
              <a:pathLst>
                <a:path w="642938" h="1071563">
                  <a:moveTo>
                    <a:pt x="628650" y="0"/>
                  </a:moveTo>
                  <a:lnTo>
                    <a:pt x="642938" y="485775"/>
                  </a:lnTo>
                  <a:lnTo>
                    <a:pt x="571500" y="700088"/>
                  </a:lnTo>
                  <a:lnTo>
                    <a:pt x="328613" y="828675"/>
                  </a:lnTo>
                  <a:lnTo>
                    <a:pt x="0" y="1071563"/>
                  </a:lnTo>
                  <a:lnTo>
                    <a:pt x="142875" y="285750"/>
                  </a:lnTo>
                  <a:lnTo>
                    <a:pt x="457200" y="142875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4" name="任意形状 5"/>
            <p:cNvSpPr/>
            <p:nvPr/>
          </p:nvSpPr>
          <p:spPr>
            <a:xfrm>
              <a:off x="731837" y="28575"/>
              <a:ext cx="1843088" cy="1857375"/>
            </a:xfrm>
            <a:custGeom>
              <a:avLst/>
              <a:gdLst/>
              <a:ahLst/>
              <a:cxnLst>
                <a:cxn ang="0">
                  <a:pos x="671513" y="442913"/>
                </a:cxn>
                <a:cxn ang="0">
                  <a:pos x="1057275" y="0"/>
                </a:cxn>
                <a:cxn ang="0">
                  <a:pos x="1785938" y="414338"/>
                </a:cxn>
                <a:cxn ang="0">
                  <a:pos x="1843088" y="542925"/>
                </a:cxn>
                <a:cxn ang="0">
                  <a:pos x="1400175" y="1057275"/>
                </a:cxn>
                <a:cxn ang="0">
                  <a:pos x="1042988" y="1371600"/>
                </a:cxn>
                <a:cxn ang="0">
                  <a:pos x="542925" y="1600200"/>
                </a:cxn>
                <a:cxn ang="0">
                  <a:pos x="0" y="1857375"/>
                </a:cxn>
                <a:cxn ang="0">
                  <a:pos x="57150" y="1543050"/>
                </a:cxn>
                <a:cxn ang="0">
                  <a:pos x="514350" y="1214438"/>
                </a:cxn>
                <a:cxn ang="0">
                  <a:pos x="642938" y="1171575"/>
                </a:cxn>
                <a:cxn ang="0">
                  <a:pos x="728663" y="900113"/>
                </a:cxn>
                <a:cxn ang="0">
                  <a:pos x="700088" y="514350"/>
                </a:cxn>
                <a:cxn ang="0">
                  <a:pos x="671513" y="442913"/>
                </a:cxn>
              </a:cxnLst>
              <a:pathLst>
                <a:path w="1843088" h="1857375">
                  <a:moveTo>
                    <a:pt x="671513" y="442913"/>
                  </a:moveTo>
                  <a:lnTo>
                    <a:pt x="1057275" y="0"/>
                  </a:lnTo>
                  <a:lnTo>
                    <a:pt x="1785938" y="414338"/>
                  </a:lnTo>
                  <a:lnTo>
                    <a:pt x="1843088" y="542925"/>
                  </a:lnTo>
                  <a:lnTo>
                    <a:pt x="1400175" y="1057275"/>
                  </a:lnTo>
                  <a:lnTo>
                    <a:pt x="1042988" y="1371600"/>
                  </a:lnTo>
                  <a:lnTo>
                    <a:pt x="542925" y="1600200"/>
                  </a:lnTo>
                  <a:lnTo>
                    <a:pt x="0" y="1857375"/>
                  </a:lnTo>
                  <a:lnTo>
                    <a:pt x="57150" y="1543050"/>
                  </a:lnTo>
                  <a:lnTo>
                    <a:pt x="514350" y="1214438"/>
                  </a:lnTo>
                  <a:lnTo>
                    <a:pt x="642938" y="1171575"/>
                  </a:lnTo>
                  <a:lnTo>
                    <a:pt x="728663" y="900113"/>
                  </a:lnTo>
                  <a:lnTo>
                    <a:pt x="700088" y="514350"/>
                  </a:lnTo>
                  <a:lnTo>
                    <a:pt x="671513" y="442913"/>
                  </a:lnTo>
                  <a:close/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5" name="任意形状 6"/>
            <p:cNvSpPr/>
            <p:nvPr/>
          </p:nvSpPr>
          <p:spPr>
            <a:xfrm>
              <a:off x="1460500" y="957263"/>
              <a:ext cx="900112" cy="728662"/>
            </a:xfrm>
            <a:custGeom>
              <a:avLst/>
              <a:gdLst/>
              <a:ahLst/>
              <a:cxnLst>
                <a:cxn ang="0">
                  <a:pos x="814387" y="0"/>
                </a:cxn>
                <a:cxn ang="0">
                  <a:pos x="900112" y="328612"/>
                </a:cxn>
                <a:cxn ang="0">
                  <a:pos x="842962" y="542925"/>
                </a:cxn>
                <a:cxn ang="0">
                  <a:pos x="600075" y="685800"/>
                </a:cxn>
                <a:cxn ang="0">
                  <a:pos x="400050" y="728662"/>
                </a:cxn>
                <a:cxn ang="0">
                  <a:pos x="100012" y="642937"/>
                </a:cxn>
                <a:cxn ang="0">
                  <a:pos x="0" y="614362"/>
                </a:cxn>
                <a:cxn ang="0">
                  <a:pos x="328612" y="457200"/>
                </a:cxn>
                <a:cxn ang="0">
                  <a:pos x="528637" y="300037"/>
                </a:cxn>
                <a:cxn ang="0">
                  <a:pos x="728662" y="128587"/>
                </a:cxn>
                <a:cxn ang="0">
                  <a:pos x="814387" y="0"/>
                </a:cxn>
              </a:cxnLst>
              <a:pathLst>
                <a:path w="900112" h="728662">
                  <a:moveTo>
                    <a:pt x="814387" y="0"/>
                  </a:moveTo>
                  <a:lnTo>
                    <a:pt x="900112" y="328612"/>
                  </a:lnTo>
                  <a:lnTo>
                    <a:pt x="842962" y="542925"/>
                  </a:lnTo>
                  <a:lnTo>
                    <a:pt x="600075" y="685800"/>
                  </a:lnTo>
                  <a:lnTo>
                    <a:pt x="400050" y="728662"/>
                  </a:lnTo>
                  <a:lnTo>
                    <a:pt x="100012" y="642937"/>
                  </a:lnTo>
                  <a:lnTo>
                    <a:pt x="0" y="614362"/>
                  </a:lnTo>
                  <a:lnTo>
                    <a:pt x="328612" y="457200"/>
                  </a:lnTo>
                  <a:lnTo>
                    <a:pt x="528637" y="300037"/>
                  </a:lnTo>
                  <a:lnTo>
                    <a:pt x="728662" y="128587"/>
                  </a:lnTo>
                  <a:lnTo>
                    <a:pt x="814387" y="0"/>
                  </a:lnTo>
                  <a:close/>
                </a:path>
              </a:pathLst>
            </a:cu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6" name="任意形状 7"/>
            <p:cNvSpPr/>
            <p:nvPr/>
          </p:nvSpPr>
          <p:spPr>
            <a:xfrm>
              <a:off x="2217737" y="485775"/>
              <a:ext cx="1085850" cy="1528763"/>
            </a:xfrm>
            <a:custGeom>
              <a:avLst/>
              <a:gdLst/>
              <a:ahLst/>
              <a:cxnLst>
                <a:cxn ang="0">
                  <a:pos x="371475" y="0"/>
                </a:cxn>
                <a:cxn ang="0">
                  <a:pos x="757238" y="257175"/>
                </a:cxn>
                <a:cxn ang="0">
                  <a:pos x="757238" y="257175"/>
                </a:cxn>
                <a:cxn ang="0">
                  <a:pos x="1085850" y="557213"/>
                </a:cxn>
                <a:cxn ang="0">
                  <a:pos x="1071563" y="828675"/>
                </a:cxn>
                <a:cxn ang="0">
                  <a:pos x="842963" y="1143000"/>
                </a:cxn>
                <a:cxn ang="0">
                  <a:pos x="600075" y="1528763"/>
                </a:cxn>
                <a:cxn ang="0">
                  <a:pos x="314325" y="1500188"/>
                </a:cxn>
                <a:cxn ang="0">
                  <a:pos x="100013" y="1357313"/>
                </a:cxn>
                <a:cxn ang="0">
                  <a:pos x="0" y="1143000"/>
                </a:cxn>
                <a:cxn ang="0">
                  <a:pos x="0" y="1114425"/>
                </a:cxn>
                <a:cxn ang="0">
                  <a:pos x="157163" y="885825"/>
                </a:cxn>
                <a:cxn ang="0">
                  <a:pos x="128588" y="671513"/>
                </a:cxn>
                <a:cxn ang="0">
                  <a:pos x="71438" y="514350"/>
                </a:cxn>
                <a:cxn ang="0">
                  <a:pos x="71438" y="485775"/>
                </a:cxn>
                <a:cxn ang="0">
                  <a:pos x="242888" y="242888"/>
                </a:cxn>
                <a:cxn ang="0">
                  <a:pos x="371475" y="0"/>
                </a:cxn>
              </a:cxnLst>
              <a:pathLst>
                <a:path w="1085850" h="1528763">
                  <a:moveTo>
                    <a:pt x="371475" y="0"/>
                  </a:moveTo>
                  <a:lnTo>
                    <a:pt x="757238" y="257175"/>
                  </a:lnTo>
                  <a:lnTo>
                    <a:pt x="1085850" y="557213"/>
                  </a:lnTo>
                  <a:lnTo>
                    <a:pt x="1071563" y="828675"/>
                  </a:lnTo>
                  <a:lnTo>
                    <a:pt x="842963" y="1143000"/>
                  </a:lnTo>
                  <a:lnTo>
                    <a:pt x="600075" y="1528763"/>
                  </a:lnTo>
                  <a:lnTo>
                    <a:pt x="314325" y="1500188"/>
                  </a:lnTo>
                  <a:lnTo>
                    <a:pt x="100013" y="1357313"/>
                  </a:lnTo>
                  <a:lnTo>
                    <a:pt x="0" y="1143000"/>
                  </a:lnTo>
                  <a:lnTo>
                    <a:pt x="0" y="1114425"/>
                  </a:lnTo>
                  <a:lnTo>
                    <a:pt x="157163" y="885825"/>
                  </a:lnTo>
                  <a:lnTo>
                    <a:pt x="128588" y="671513"/>
                  </a:lnTo>
                  <a:lnTo>
                    <a:pt x="71438" y="514350"/>
                  </a:lnTo>
                  <a:lnTo>
                    <a:pt x="71438" y="485775"/>
                  </a:lnTo>
                  <a:lnTo>
                    <a:pt x="242888" y="242888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7" name="任意形状 8"/>
            <p:cNvSpPr/>
            <p:nvPr/>
          </p:nvSpPr>
          <p:spPr>
            <a:xfrm>
              <a:off x="544058" y="1560739"/>
              <a:ext cx="2275115" cy="957943"/>
            </a:xfrm>
            <a:custGeom>
              <a:avLst/>
              <a:gdLst/>
              <a:ahLst/>
              <a:cxnLst>
                <a:cxn ang="0">
                  <a:pos x="1632858" y="43543"/>
                </a:cxn>
                <a:cxn ang="0">
                  <a:pos x="1393372" y="141515"/>
                </a:cxn>
                <a:cxn ang="0">
                  <a:pos x="1295400" y="130629"/>
                </a:cxn>
                <a:cxn ang="0">
                  <a:pos x="1121229" y="97972"/>
                </a:cxn>
                <a:cxn ang="0">
                  <a:pos x="925286" y="0"/>
                </a:cxn>
                <a:cxn ang="0">
                  <a:pos x="576943" y="152400"/>
                </a:cxn>
                <a:cxn ang="0">
                  <a:pos x="239486" y="326572"/>
                </a:cxn>
                <a:cxn ang="0">
                  <a:pos x="152400" y="337457"/>
                </a:cxn>
                <a:cxn ang="0">
                  <a:pos x="152400" y="468086"/>
                </a:cxn>
                <a:cxn ang="0">
                  <a:pos x="0" y="500743"/>
                </a:cxn>
                <a:cxn ang="0">
                  <a:pos x="293915" y="674915"/>
                </a:cxn>
                <a:cxn ang="0">
                  <a:pos x="566058" y="849086"/>
                </a:cxn>
                <a:cxn ang="0">
                  <a:pos x="990600" y="947057"/>
                </a:cxn>
                <a:cxn ang="0">
                  <a:pos x="1458686" y="957943"/>
                </a:cxn>
                <a:cxn ang="0">
                  <a:pos x="1828800" y="947057"/>
                </a:cxn>
                <a:cxn ang="0">
                  <a:pos x="2068286" y="751115"/>
                </a:cxn>
                <a:cxn ang="0">
                  <a:pos x="2253343" y="544286"/>
                </a:cxn>
                <a:cxn ang="0">
                  <a:pos x="2275115" y="468086"/>
                </a:cxn>
                <a:cxn ang="0">
                  <a:pos x="2002972" y="435429"/>
                </a:cxn>
                <a:cxn ang="0">
                  <a:pos x="1839686" y="337457"/>
                </a:cxn>
                <a:cxn ang="0">
                  <a:pos x="1785258" y="304800"/>
                </a:cxn>
                <a:cxn ang="0">
                  <a:pos x="1632858" y="43543"/>
                </a:cxn>
              </a:cxnLst>
              <a:pathLst>
                <a:path w="2275115" h="957943">
                  <a:moveTo>
                    <a:pt x="1632858" y="43543"/>
                  </a:moveTo>
                  <a:lnTo>
                    <a:pt x="1393372" y="141515"/>
                  </a:lnTo>
                  <a:lnTo>
                    <a:pt x="1295400" y="130629"/>
                  </a:lnTo>
                  <a:lnTo>
                    <a:pt x="1121229" y="97972"/>
                  </a:lnTo>
                  <a:lnTo>
                    <a:pt x="925286" y="0"/>
                  </a:lnTo>
                  <a:lnTo>
                    <a:pt x="576943" y="152400"/>
                  </a:lnTo>
                  <a:lnTo>
                    <a:pt x="239486" y="326572"/>
                  </a:lnTo>
                  <a:lnTo>
                    <a:pt x="152400" y="337457"/>
                  </a:lnTo>
                  <a:lnTo>
                    <a:pt x="152400" y="468086"/>
                  </a:lnTo>
                  <a:lnTo>
                    <a:pt x="0" y="500743"/>
                  </a:lnTo>
                  <a:lnTo>
                    <a:pt x="293915" y="674915"/>
                  </a:lnTo>
                  <a:lnTo>
                    <a:pt x="566058" y="849086"/>
                  </a:lnTo>
                  <a:lnTo>
                    <a:pt x="990600" y="947057"/>
                  </a:lnTo>
                  <a:lnTo>
                    <a:pt x="1458686" y="957943"/>
                  </a:lnTo>
                  <a:lnTo>
                    <a:pt x="1828800" y="947057"/>
                  </a:lnTo>
                  <a:lnTo>
                    <a:pt x="2068286" y="751115"/>
                  </a:lnTo>
                  <a:lnTo>
                    <a:pt x="2253343" y="544286"/>
                  </a:lnTo>
                  <a:lnTo>
                    <a:pt x="2275115" y="468086"/>
                  </a:lnTo>
                  <a:lnTo>
                    <a:pt x="2002972" y="435429"/>
                  </a:lnTo>
                  <a:lnTo>
                    <a:pt x="1839686" y="337457"/>
                  </a:lnTo>
                  <a:lnTo>
                    <a:pt x="1785258" y="304800"/>
                  </a:lnTo>
                  <a:lnTo>
                    <a:pt x="1632858" y="43543"/>
                  </a:lnTo>
                  <a:close/>
                </a:path>
              </a:pathLst>
            </a:custGeom>
            <a:solidFill>
              <a:srgbClr val="00E4A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cxnSp>
        <p:nvCxnSpPr>
          <p:cNvPr id="10" name="直接连接符 9"/>
          <p:cNvCxnSpPr>
            <a:stCxn id="2" idx="2"/>
            <a:endCxn id="20510" idx="7"/>
          </p:cNvCxnSpPr>
          <p:nvPr/>
        </p:nvCxnSpPr>
        <p:spPr>
          <a:xfrm flipH="1">
            <a:off x="5476875" y="2238375"/>
            <a:ext cx="1688465" cy="427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itle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/>
              <a:t>例 边着色</a:t>
            </a:r>
            <a:endParaRPr lang="en-US" altLang="zh-CN" dirty="0"/>
          </a:p>
        </p:txBody>
      </p:sp>
      <p:pic>
        <p:nvPicPr>
          <p:cNvPr id="22530" name="内容占位符 2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26670" y="1807210"/>
            <a:ext cx="5307013" cy="2654300"/>
          </a:xfrm>
        </p:spPr>
      </p:pic>
      <p:sp>
        <p:nvSpPr>
          <p:cNvPr id="22531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22532" name="组 37"/>
          <p:cNvGrpSpPr/>
          <p:nvPr/>
        </p:nvGrpSpPr>
        <p:grpSpPr>
          <a:xfrm>
            <a:off x="755333" y="2158048"/>
            <a:ext cx="3960812" cy="2017712"/>
            <a:chOff x="0" y="0"/>
            <a:chExt cx="3960440" cy="2016224"/>
          </a:xfrm>
        </p:grpSpPr>
        <p:sp>
          <p:nvSpPr>
            <p:cNvPr id="22533" name="椭圆 24"/>
            <p:cNvSpPr/>
            <p:nvPr/>
          </p:nvSpPr>
          <p:spPr>
            <a:xfrm>
              <a:off x="0" y="936104"/>
              <a:ext cx="216024" cy="216024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34" name="椭圆 44"/>
            <p:cNvSpPr/>
            <p:nvPr/>
          </p:nvSpPr>
          <p:spPr>
            <a:xfrm>
              <a:off x="864096" y="0"/>
              <a:ext cx="216024" cy="21602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35" name="椭圆 46"/>
            <p:cNvSpPr/>
            <p:nvPr/>
          </p:nvSpPr>
          <p:spPr>
            <a:xfrm>
              <a:off x="936104" y="504056"/>
              <a:ext cx="216024" cy="216024"/>
            </a:xfrm>
            <a:prstGeom prst="ellipse">
              <a:avLst/>
            </a:pr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36" name="椭圆 48"/>
            <p:cNvSpPr/>
            <p:nvPr/>
          </p:nvSpPr>
          <p:spPr>
            <a:xfrm>
              <a:off x="2736304" y="1800200"/>
              <a:ext cx="216024" cy="216024"/>
            </a:xfrm>
            <a:prstGeom prst="ellipse">
              <a:avLst/>
            </a:pr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37" name="椭圆 49"/>
            <p:cNvSpPr/>
            <p:nvPr/>
          </p:nvSpPr>
          <p:spPr>
            <a:xfrm>
              <a:off x="3744416" y="936104"/>
              <a:ext cx="216024" cy="216024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38" name="椭圆 50"/>
            <p:cNvSpPr/>
            <p:nvPr/>
          </p:nvSpPr>
          <p:spPr>
            <a:xfrm>
              <a:off x="1872208" y="936104"/>
              <a:ext cx="216024" cy="216024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39" name="椭圆 51"/>
            <p:cNvSpPr/>
            <p:nvPr/>
          </p:nvSpPr>
          <p:spPr>
            <a:xfrm>
              <a:off x="2808312" y="1296144"/>
              <a:ext cx="216024" cy="21602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540" name="文本框 55"/>
          <p:cNvSpPr txBox="1"/>
          <p:nvPr/>
        </p:nvSpPr>
        <p:spPr>
          <a:xfrm>
            <a:off x="1860233" y="4748848"/>
            <a:ext cx="126206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 i="0">
                <a:latin typeface="Tahoma" panose="020B0604030504040204" charset="0"/>
                <a:ea typeface="宋体" panose="02010600030101010101" pitchFamily="2" charset="-122"/>
              </a:rPr>
              <a:t>点着色</a:t>
            </a:r>
            <a:endParaRPr lang="zh-CN" altLang="en-US" sz="2800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22541" name="组 22542"/>
          <p:cNvGrpSpPr/>
          <p:nvPr/>
        </p:nvGrpSpPr>
        <p:grpSpPr>
          <a:xfrm>
            <a:off x="4859973" y="2072323"/>
            <a:ext cx="4117975" cy="2520950"/>
            <a:chOff x="0" y="0"/>
            <a:chExt cx="4118882" cy="2520280"/>
          </a:xfrm>
        </p:grpSpPr>
        <p:grpSp>
          <p:nvGrpSpPr>
            <p:cNvPr id="22542" name="组 40"/>
            <p:cNvGrpSpPr/>
            <p:nvPr/>
          </p:nvGrpSpPr>
          <p:grpSpPr>
            <a:xfrm>
              <a:off x="144016" y="168292"/>
              <a:ext cx="3960440" cy="2016224"/>
              <a:chOff x="0" y="0"/>
              <a:chExt cx="3960440" cy="2016224"/>
            </a:xfrm>
          </p:grpSpPr>
          <p:sp>
            <p:nvSpPr>
              <p:cNvPr id="22543" name="椭圆 41"/>
              <p:cNvSpPr/>
              <p:nvPr/>
            </p:nvSpPr>
            <p:spPr>
              <a:xfrm>
                <a:off x="0" y="936104"/>
                <a:ext cx="216024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zh-CN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4" name="椭圆 42"/>
              <p:cNvSpPr/>
              <p:nvPr/>
            </p:nvSpPr>
            <p:spPr>
              <a:xfrm>
                <a:off x="864096" y="0"/>
                <a:ext cx="216024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zh-CN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5" name="椭圆 43"/>
              <p:cNvSpPr/>
              <p:nvPr/>
            </p:nvSpPr>
            <p:spPr>
              <a:xfrm>
                <a:off x="936104" y="504056"/>
                <a:ext cx="216024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zh-CN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6" name="椭圆 45"/>
              <p:cNvSpPr/>
              <p:nvPr/>
            </p:nvSpPr>
            <p:spPr>
              <a:xfrm>
                <a:off x="2736304" y="1800200"/>
                <a:ext cx="216024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zh-CN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7" name="椭圆 47"/>
              <p:cNvSpPr/>
              <p:nvPr/>
            </p:nvSpPr>
            <p:spPr>
              <a:xfrm>
                <a:off x="3744416" y="936104"/>
                <a:ext cx="216024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zh-CN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8" name="椭圆 52"/>
              <p:cNvSpPr/>
              <p:nvPr/>
            </p:nvSpPr>
            <p:spPr>
              <a:xfrm>
                <a:off x="1872208" y="936104"/>
                <a:ext cx="216024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zh-CN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49" name="椭圆 53"/>
              <p:cNvSpPr/>
              <p:nvPr/>
            </p:nvSpPr>
            <p:spPr>
              <a:xfrm>
                <a:off x="2808312" y="1296144"/>
                <a:ext cx="216024" cy="216024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>
                  <a:buSzTx/>
                </a:pPr>
                <a:endParaRPr lang="zh-CN" altLang="zh-CN" i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2550" name="直线连接符 25"/>
            <p:cNvCxnSpPr>
              <a:stCxn id="22544" idx="3"/>
              <a:endCxn id="22543" idx="7"/>
            </p:cNvCxnSpPr>
            <p:nvPr/>
          </p:nvCxnSpPr>
          <p:spPr>
            <a:xfrm flipH="1">
              <a:off x="328404" y="352680"/>
              <a:ext cx="711344" cy="783352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1" name="直线连接符 27"/>
            <p:cNvCxnSpPr>
              <a:stCxn id="22544" idx="4"/>
              <a:endCxn id="22545" idx="0"/>
            </p:cNvCxnSpPr>
            <p:nvPr/>
          </p:nvCxnSpPr>
          <p:spPr>
            <a:xfrm>
              <a:off x="1116124" y="384316"/>
              <a:ext cx="72008" cy="28803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2" name="直线连接符 29"/>
            <p:cNvCxnSpPr>
              <a:stCxn id="22543" idx="6"/>
              <a:endCxn id="22545" idx="3"/>
            </p:cNvCxnSpPr>
            <p:nvPr/>
          </p:nvCxnSpPr>
          <p:spPr>
            <a:xfrm flipV="1">
              <a:off x="360040" y="856736"/>
              <a:ext cx="751716" cy="355672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3" name="直线连接符 31"/>
            <p:cNvCxnSpPr>
              <a:stCxn id="22545" idx="6"/>
              <a:endCxn id="22548" idx="1"/>
            </p:cNvCxnSpPr>
            <p:nvPr/>
          </p:nvCxnSpPr>
          <p:spPr>
            <a:xfrm>
              <a:off x="1296144" y="780360"/>
              <a:ext cx="751716" cy="355672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4" name="直线连接符 33"/>
            <p:cNvCxnSpPr>
              <a:stCxn id="22544" idx="5"/>
              <a:endCxn id="22548" idx="0"/>
            </p:cNvCxnSpPr>
            <p:nvPr/>
          </p:nvCxnSpPr>
          <p:spPr>
            <a:xfrm>
              <a:off x="1192500" y="352680"/>
              <a:ext cx="931736" cy="751716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5" name="直线连接符 36"/>
            <p:cNvCxnSpPr>
              <a:stCxn id="22543" idx="5"/>
              <a:endCxn id="22548" idx="2"/>
            </p:cNvCxnSpPr>
            <p:nvPr/>
          </p:nvCxnSpPr>
          <p:spPr>
            <a:xfrm flipV="1">
              <a:off x="328404" y="1212408"/>
              <a:ext cx="1687820" cy="76376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6" name="直线连接符 56"/>
            <p:cNvCxnSpPr>
              <a:stCxn id="22548" idx="6"/>
              <a:endCxn id="22549" idx="1"/>
            </p:cNvCxnSpPr>
            <p:nvPr/>
          </p:nvCxnSpPr>
          <p:spPr>
            <a:xfrm>
              <a:off x="2232517" y="1212528"/>
              <a:ext cx="751052" cy="284086"/>
            </a:xfrm>
            <a:prstGeom prst="line">
              <a:avLst/>
            </a:prstGeom>
            <a:ln w="28575" cap="flat" cmpd="sng">
              <a:solidFill>
                <a:srgbClr val="00AB7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7" name="直线连接符 58"/>
            <p:cNvCxnSpPr>
              <a:stCxn id="22548" idx="5"/>
              <a:endCxn id="22546" idx="1"/>
            </p:cNvCxnSpPr>
            <p:nvPr/>
          </p:nvCxnSpPr>
          <p:spPr>
            <a:xfrm>
              <a:off x="2200760" y="1288707"/>
              <a:ext cx="711357" cy="711011"/>
            </a:xfrm>
            <a:prstGeom prst="line">
              <a:avLst/>
            </a:prstGeom>
            <a:ln w="28575" cap="flat" cmpd="sng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8" name="直线连接符 61"/>
            <p:cNvCxnSpPr>
              <a:stCxn id="22548" idx="7"/>
              <a:endCxn id="22547" idx="2"/>
            </p:cNvCxnSpPr>
            <p:nvPr/>
          </p:nvCxnSpPr>
          <p:spPr>
            <a:xfrm>
              <a:off x="2200760" y="1136348"/>
              <a:ext cx="1687884" cy="76180"/>
            </a:xfrm>
            <a:prstGeom prst="line">
              <a:avLst/>
            </a:prstGeom>
            <a:ln w="28575" cap="flat" cmpd="sng">
              <a:solidFill>
                <a:srgbClr val="AD8C0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59" name="直线连接符 22527"/>
            <p:cNvCxnSpPr>
              <a:stCxn id="22549" idx="7"/>
              <a:endCxn id="22547" idx="3"/>
            </p:cNvCxnSpPr>
            <p:nvPr/>
          </p:nvCxnSpPr>
          <p:spPr>
            <a:xfrm flipV="1">
              <a:off x="3136716" y="1288784"/>
              <a:ext cx="783352" cy="207288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60" name="直线连接符 22533"/>
            <p:cNvCxnSpPr>
              <a:stCxn id="22549" idx="4"/>
              <a:endCxn id="22546" idx="0"/>
            </p:cNvCxnSpPr>
            <p:nvPr/>
          </p:nvCxnSpPr>
          <p:spPr>
            <a:xfrm flipH="1">
              <a:off x="2988332" y="1680460"/>
              <a:ext cx="72008" cy="288032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61" name="直线连接符 22535"/>
            <p:cNvCxnSpPr>
              <a:stCxn id="22546" idx="7"/>
              <a:endCxn id="22547" idx="4"/>
            </p:cNvCxnSpPr>
            <p:nvPr/>
          </p:nvCxnSpPr>
          <p:spPr>
            <a:xfrm flipV="1">
              <a:off x="3064708" y="1320420"/>
              <a:ext cx="931736" cy="679708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62" name="直线连接符 22538"/>
            <p:cNvCxnSpPr>
              <a:stCxn id="22543" idx="4"/>
              <a:endCxn id="22546" idx="2"/>
            </p:cNvCxnSpPr>
            <p:nvPr/>
          </p:nvCxnSpPr>
          <p:spPr>
            <a:xfrm>
              <a:off x="252468" y="1320449"/>
              <a:ext cx="2627892" cy="755449"/>
            </a:xfrm>
            <a:prstGeom prst="line">
              <a:avLst/>
            </a:prstGeom>
            <a:ln w="28575" cap="flat" cmpd="sng">
              <a:solidFill>
                <a:srgbClr val="AD8C0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563" name="文本框 22541"/>
            <p:cNvSpPr txBox="1"/>
            <p:nvPr/>
          </p:nvSpPr>
          <p:spPr>
            <a:xfrm>
              <a:off x="0" y="1266488"/>
              <a:ext cx="355678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zh-CN" altLang="en-US" sz="16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564" name="文本框 79"/>
            <p:cNvSpPr txBox="1"/>
            <p:nvPr/>
          </p:nvSpPr>
          <p:spPr>
            <a:xfrm>
              <a:off x="647843" y="0"/>
              <a:ext cx="355678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zh-CN" altLang="en-US" sz="16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565" name="文本框 80"/>
            <p:cNvSpPr txBox="1"/>
            <p:nvPr/>
          </p:nvSpPr>
          <p:spPr>
            <a:xfrm>
              <a:off x="792336" y="536432"/>
              <a:ext cx="355678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zh-CN" altLang="en-US" sz="16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566" name="文本框 81"/>
            <p:cNvSpPr txBox="1"/>
            <p:nvPr/>
          </p:nvSpPr>
          <p:spPr>
            <a:xfrm>
              <a:off x="2019745" y="688792"/>
              <a:ext cx="371557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zh-CN" altLang="en-US" sz="16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567" name="文本框 82"/>
            <p:cNvSpPr txBox="1"/>
            <p:nvPr/>
          </p:nvSpPr>
          <p:spPr>
            <a:xfrm>
              <a:off x="2740629" y="2120336"/>
              <a:ext cx="355678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zh-CN" altLang="en-US" sz="16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568" name="文本框 83"/>
            <p:cNvSpPr txBox="1"/>
            <p:nvPr/>
          </p:nvSpPr>
          <p:spPr>
            <a:xfrm>
              <a:off x="2883535" y="1112541"/>
              <a:ext cx="357266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zh-CN" altLang="en-US" sz="16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569" name="文本框 84"/>
            <p:cNvSpPr txBox="1"/>
            <p:nvPr/>
          </p:nvSpPr>
          <p:spPr>
            <a:xfrm>
              <a:off x="3748913" y="752275"/>
              <a:ext cx="369969" cy="3999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zh-CN" altLang="en-US" sz="16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2570" name="文本框 86"/>
          <p:cNvSpPr txBox="1"/>
          <p:nvPr/>
        </p:nvSpPr>
        <p:spPr>
          <a:xfrm>
            <a:off x="6443663" y="4637723"/>
            <a:ext cx="126206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 i="0">
                <a:latin typeface="Tahoma" panose="020B0604030504040204" charset="0"/>
                <a:ea typeface="宋体" panose="02010600030101010101" pitchFamily="2" charset="-122"/>
              </a:rPr>
              <a:t>边着色</a:t>
            </a:r>
            <a:endParaRPr lang="zh-CN" altLang="en-US" sz="2800" i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ctrTitle" idx="4294967295"/>
          </p:nvPr>
        </p:nvSpPr>
        <p:spPr>
          <a:xfrm>
            <a:off x="990600" y="1676400"/>
            <a:ext cx="7772400" cy="1462088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algn="ctr" eaLnBrk="1" hangingPunct="1">
              <a:buClrTx/>
              <a:buSzTx/>
              <a:buFontTx/>
            </a:pPr>
            <a:r>
              <a:rPr lang="en-US" altLang="zh-CN" sz="4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12.1 </a:t>
            </a:r>
            <a:r>
              <a:rPr lang="zh-CN" altLang="en-US" sz="4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点着色</a:t>
            </a:r>
            <a:endParaRPr lang="zh-CN" altLang="en-US" sz="48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96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solidFill>
                  <a:srgbClr val="002060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solidFill>
                <a:srgbClr val="00206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/>
              <a:t>色数</a:t>
            </a:r>
            <a:r>
              <a:rPr lang="en-US" altLang="zh-CN" dirty="0"/>
              <a:t>(chromatic number)</a:t>
            </a:r>
            <a:endParaRPr lang="zh-CN" altLang="en-US" dirty="0"/>
          </a:p>
        </p:txBody>
      </p:sp>
      <p:sp>
        <p:nvSpPr>
          <p:cNvPr id="25602" name="内容占位符 2"/>
          <p:cNvSpPr>
            <a:spLocks noGrp="1"/>
          </p:cNvSpPr>
          <p:nvPr>
            <p:ph idx="4294967295"/>
          </p:nvPr>
        </p:nvSpPr>
        <p:spPr>
          <a:xfrm>
            <a:off x="323850" y="1412875"/>
            <a:ext cx="8496300" cy="3168650"/>
          </a:xfrm>
        </p:spPr>
        <p:txBody>
          <a:bodyPr vert="horz" wrap="square" anchor="t" anchorCtr="0"/>
          <a:p>
            <a:pPr>
              <a:lnSpc>
                <a:spcPct val="100000"/>
              </a:lnSpc>
            </a:pPr>
            <a:r>
              <a:rPr lang="en-US" altLang="zh-CN" i="1" dirty="0">
                <a:solidFill>
                  <a:schemeClr val="hlink"/>
                </a:solidFill>
              </a:rPr>
              <a:t>k</a:t>
            </a:r>
            <a:r>
              <a:rPr lang="en-US" altLang="zh-CN" dirty="0">
                <a:solidFill>
                  <a:schemeClr val="hlink"/>
                </a:solidFill>
              </a:rPr>
              <a:t>-</a:t>
            </a:r>
            <a:r>
              <a:rPr lang="en-US" altLang="zh-CN" dirty="0">
                <a:solidFill>
                  <a:schemeClr val="hlink"/>
                </a:solidFill>
                <a:sym typeface="+mn-ea"/>
              </a:rPr>
              <a:t>(</a:t>
            </a:r>
            <a:r>
              <a:rPr lang="zh-CN" altLang="en-US" dirty="0">
                <a:solidFill>
                  <a:schemeClr val="hlink"/>
                </a:solidFill>
                <a:sym typeface="+mn-ea"/>
              </a:rPr>
              <a:t>点</a:t>
            </a:r>
            <a:r>
              <a:rPr lang="en-US" altLang="zh-CN" dirty="0">
                <a:solidFill>
                  <a:schemeClr val="hlink"/>
                </a:solidFill>
                <a:sym typeface="+mn-ea"/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可着色的</a:t>
            </a:r>
            <a:r>
              <a:rPr lang="en-US" altLang="zh-CN" dirty="0"/>
              <a:t>:</a:t>
            </a:r>
            <a:r>
              <a:rPr lang="zh-CN" altLang="en-US" dirty="0"/>
              <a:t>能用</a:t>
            </a:r>
            <a:r>
              <a:rPr lang="en-US" altLang="zh-CN" i="1" dirty="0"/>
              <a:t>k</a:t>
            </a:r>
            <a:r>
              <a:rPr lang="zh-CN" altLang="en-US" dirty="0"/>
              <a:t>种颜色着色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i="1" dirty="0">
                <a:solidFill>
                  <a:schemeClr val="hlink"/>
                </a:solidFill>
              </a:rPr>
              <a:t>k</a:t>
            </a:r>
            <a:r>
              <a:rPr lang="en-US" altLang="zh-CN" dirty="0">
                <a:solidFill>
                  <a:schemeClr val="hlink"/>
                </a:solidFill>
              </a:rPr>
              <a:t>-(</a:t>
            </a:r>
            <a:r>
              <a:rPr lang="zh-CN" altLang="en-US" dirty="0">
                <a:solidFill>
                  <a:schemeClr val="hlink"/>
                </a:solidFill>
              </a:rPr>
              <a:t>点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色图</a:t>
            </a:r>
            <a:r>
              <a:rPr lang="en-US" altLang="zh-CN" dirty="0"/>
              <a:t>:</a:t>
            </a:r>
            <a:r>
              <a:rPr lang="zh-CN" altLang="en-US" dirty="0"/>
              <a:t>是</a:t>
            </a:r>
            <a:r>
              <a:rPr lang="en-US" altLang="zh-CN" i="1" dirty="0"/>
              <a:t>k</a:t>
            </a:r>
            <a:r>
              <a:rPr lang="en-US" altLang="zh-CN" dirty="0"/>
              <a:t>-</a:t>
            </a:r>
            <a:r>
              <a:rPr lang="zh-CN" altLang="en-US" dirty="0"/>
              <a:t>是可着色的</a:t>
            </a:r>
            <a:r>
              <a:rPr lang="en-US" altLang="zh-CN" dirty="0"/>
              <a:t>,</a:t>
            </a:r>
            <a:r>
              <a:rPr lang="zh-CN" altLang="en-US" dirty="0"/>
              <a:t>但不是</a:t>
            </a:r>
            <a:r>
              <a:rPr lang="en-US" altLang="zh-CN" dirty="0"/>
              <a:t>(</a:t>
            </a:r>
            <a:r>
              <a:rPr lang="en-US" altLang="zh-CN" i="1" dirty="0"/>
              <a:t>k</a:t>
            </a:r>
            <a:r>
              <a:rPr lang="en-US" altLang="zh-CN" dirty="0"/>
              <a:t>-1)-</a:t>
            </a:r>
            <a:r>
              <a:rPr lang="zh-CN" altLang="en-US" dirty="0"/>
              <a:t>可着色的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点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色数</a:t>
            </a:r>
            <a:r>
              <a:rPr lang="en-US" altLang="zh-CN" dirty="0"/>
              <a:t>: </a:t>
            </a:r>
            <a:r>
              <a:rPr lang="zh-CN" altLang="en-US" dirty="0"/>
              <a:t>着色所需最少颜色数，记作：</a:t>
            </a:r>
            <a:r>
              <a:rPr lang="en-US" altLang="zh-CN" dirty="0"/>
              <a:t>χ(G)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/>
              <a:t>: </a:t>
            </a:r>
            <a:r>
              <a:rPr lang="el-GR" altLang="en-US" dirty="0"/>
              <a:t>χ(</a:t>
            </a:r>
            <a:r>
              <a:rPr lang="en-US" altLang="zh-CN" dirty="0"/>
              <a:t>G)=2</a:t>
            </a:r>
            <a:endParaRPr lang="en-US" altLang="zh-CN" dirty="0"/>
          </a:p>
        </p:txBody>
      </p:sp>
      <p:sp>
        <p:nvSpPr>
          <p:cNvPr id="25603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25604" name="组合 22"/>
          <p:cNvGrpSpPr/>
          <p:nvPr/>
        </p:nvGrpSpPr>
        <p:grpSpPr>
          <a:xfrm>
            <a:off x="3065463" y="3687763"/>
            <a:ext cx="1943100" cy="1655762"/>
            <a:chOff x="0" y="0"/>
            <a:chExt cx="1944216" cy="1656184"/>
          </a:xfrm>
        </p:grpSpPr>
        <p:grpSp>
          <p:nvGrpSpPr>
            <p:cNvPr id="25605" name="椭圆 6"/>
            <p:cNvGrpSpPr/>
            <p:nvPr/>
          </p:nvGrpSpPr>
          <p:grpSpPr>
            <a:xfrm>
              <a:off x="-22302" y="-20008"/>
              <a:ext cx="262279" cy="256097"/>
              <a:chOff x="0" y="0"/>
              <a:chExt cx="262128" cy="256032"/>
            </a:xfrm>
          </p:grpSpPr>
          <p:pic>
            <p:nvPicPr>
              <p:cNvPr id="25606" name="椭圆 6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07" name="文本框 22535"/>
              <p:cNvSpPr txBox="1"/>
              <p:nvPr/>
            </p:nvSpPr>
            <p:spPr>
              <a:xfrm>
                <a:off x="53907" y="51631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08" name="椭圆 7"/>
            <p:cNvGrpSpPr/>
            <p:nvPr/>
          </p:nvGrpSpPr>
          <p:grpSpPr>
            <a:xfrm>
              <a:off x="843827" y="-20008"/>
              <a:ext cx="256179" cy="256097"/>
              <a:chOff x="0" y="0"/>
              <a:chExt cx="256032" cy="256032"/>
            </a:xfrm>
          </p:grpSpPr>
          <p:pic>
            <p:nvPicPr>
              <p:cNvPr id="25609" name="椭圆 7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10" name="文本框 22538"/>
              <p:cNvSpPr txBox="1"/>
              <p:nvPr/>
            </p:nvSpPr>
            <p:spPr>
              <a:xfrm>
                <a:off x="51875" y="51631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11" name="椭圆 8"/>
            <p:cNvGrpSpPr/>
            <p:nvPr/>
          </p:nvGrpSpPr>
          <p:grpSpPr>
            <a:xfrm>
              <a:off x="1703857" y="-20008"/>
              <a:ext cx="262279" cy="256097"/>
              <a:chOff x="0" y="0"/>
              <a:chExt cx="262128" cy="256032"/>
            </a:xfrm>
          </p:grpSpPr>
          <p:pic>
            <p:nvPicPr>
              <p:cNvPr id="25612" name="椭圆 8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13" name="文本框 22541"/>
              <p:cNvSpPr txBox="1"/>
              <p:nvPr/>
            </p:nvSpPr>
            <p:spPr>
              <a:xfrm>
                <a:off x="55939" y="51631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14" name="椭圆 9"/>
            <p:cNvGrpSpPr/>
            <p:nvPr/>
          </p:nvGrpSpPr>
          <p:grpSpPr>
            <a:xfrm>
              <a:off x="-22302" y="699503"/>
              <a:ext cx="262279" cy="256097"/>
              <a:chOff x="0" y="0"/>
              <a:chExt cx="262128" cy="256032"/>
            </a:xfrm>
          </p:grpSpPr>
          <p:pic>
            <p:nvPicPr>
              <p:cNvPr id="25615" name="椭圆 9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16" name="文本框 22544"/>
              <p:cNvSpPr txBox="1"/>
              <p:nvPr/>
            </p:nvSpPr>
            <p:spPr>
              <a:xfrm>
                <a:off x="53907" y="52200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17" name="椭圆 10"/>
            <p:cNvGrpSpPr/>
            <p:nvPr/>
          </p:nvGrpSpPr>
          <p:grpSpPr>
            <a:xfrm>
              <a:off x="843827" y="699503"/>
              <a:ext cx="256179" cy="256097"/>
              <a:chOff x="0" y="0"/>
              <a:chExt cx="256032" cy="256032"/>
            </a:xfrm>
          </p:grpSpPr>
          <p:pic>
            <p:nvPicPr>
              <p:cNvPr id="25618" name="椭圆 10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19" name="文本框 22547"/>
              <p:cNvSpPr txBox="1"/>
              <p:nvPr/>
            </p:nvSpPr>
            <p:spPr>
              <a:xfrm>
                <a:off x="51875" y="52200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20" name="椭圆 11"/>
            <p:cNvGrpSpPr/>
            <p:nvPr/>
          </p:nvGrpSpPr>
          <p:grpSpPr>
            <a:xfrm>
              <a:off x="1703857" y="699503"/>
              <a:ext cx="262279" cy="256097"/>
              <a:chOff x="0" y="0"/>
              <a:chExt cx="262128" cy="256032"/>
            </a:xfrm>
          </p:grpSpPr>
          <p:pic>
            <p:nvPicPr>
              <p:cNvPr id="25621" name="椭圆 11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22" name="文本框 22550"/>
              <p:cNvSpPr txBox="1"/>
              <p:nvPr/>
            </p:nvSpPr>
            <p:spPr>
              <a:xfrm>
                <a:off x="55939" y="52200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23" name="椭圆 12"/>
            <p:cNvGrpSpPr/>
            <p:nvPr/>
          </p:nvGrpSpPr>
          <p:grpSpPr>
            <a:xfrm>
              <a:off x="-22302" y="1419015"/>
              <a:ext cx="262279" cy="256097"/>
              <a:chOff x="0" y="0"/>
              <a:chExt cx="262128" cy="256032"/>
            </a:xfrm>
          </p:grpSpPr>
          <p:pic>
            <p:nvPicPr>
              <p:cNvPr id="25624" name="椭圆 12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25" name="文本框 22553"/>
              <p:cNvSpPr txBox="1"/>
              <p:nvPr/>
            </p:nvSpPr>
            <p:spPr>
              <a:xfrm>
                <a:off x="53907" y="52768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26" name="椭圆 13"/>
            <p:cNvGrpSpPr/>
            <p:nvPr/>
          </p:nvGrpSpPr>
          <p:grpSpPr>
            <a:xfrm>
              <a:off x="843827" y="1419015"/>
              <a:ext cx="256179" cy="256097"/>
              <a:chOff x="0" y="0"/>
              <a:chExt cx="256032" cy="256032"/>
            </a:xfrm>
          </p:grpSpPr>
          <p:pic>
            <p:nvPicPr>
              <p:cNvPr id="25627" name="椭圆 13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28" name="文本框 22556"/>
              <p:cNvSpPr txBox="1"/>
              <p:nvPr/>
            </p:nvSpPr>
            <p:spPr>
              <a:xfrm>
                <a:off x="51875" y="52768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29" name="椭圆 14"/>
            <p:cNvGrpSpPr/>
            <p:nvPr/>
          </p:nvGrpSpPr>
          <p:grpSpPr>
            <a:xfrm>
              <a:off x="1703857" y="1419015"/>
              <a:ext cx="262279" cy="256097"/>
              <a:chOff x="0" y="0"/>
              <a:chExt cx="262128" cy="256032"/>
            </a:xfrm>
          </p:grpSpPr>
          <p:pic>
            <p:nvPicPr>
              <p:cNvPr id="25630" name="椭圆 14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5631" name="文本框 22559"/>
              <p:cNvSpPr txBox="1"/>
              <p:nvPr/>
            </p:nvSpPr>
            <p:spPr>
              <a:xfrm>
                <a:off x="55939" y="52768"/>
                <a:ext cx="152664" cy="1527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5632" name="直接连接符 15"/>
            <p:cNvCxnSpPr/>
            <p:nvPr/>
          </p:nvCxnSpPr>
          <p:spPr>
            <a:xfrm>
              <a:off x="216024" y="108012"/>
              <a:ext cx="151216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33" name="直接连接符 17"/>
            <p:cNvCxnSpPr/>
            <p:nvPr/>
          </p:nvCxnSpPr>
          <p:spPr>
            <a:xfrm rot="5400000">
              <a:off x="-543230" y="828092"/>
              <a:ext cx="128740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34" name="直接连接符 18"/>
            <p:cNvCxnSpPr/>
            <p:nvPr/>
          </p:nvCxnSpPr>
          <p:spPr>
            <a:xfrm>
              <a:off x="216586" y="806602"/>
              <a:ext cx="151216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35" name="直接连接符 19"/>
            <p:cNvCxnSpPr/>
            <p:nvPr/>
          </p:nvCxnSpPr>
          <p:spPr>
            <a:xfrm>
              <a:off x="216024" y="1555148"/>
              <a:ext cx="151216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36" name="直接连接符 20"/>
            <p:cNvCxnSpPr/>
            <p:nvPr/>
          </p:nvCxnSpPr>
          <p:spPr>
            <a:xfrm rot="5400000">
              <a:off x="1184962" y="787720"/>
              <a:ext cx="128740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37" name="直接连接符 21"/>
            <p:cNvCxnSpPr/>
            <p:nvPr/>
          </p:nvCxnSpPr>
          <p:spPr>
            <a:xfrm rot="5400000">
              <a:off x="335380" y="859728"/>
              <a:ext cx="128740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Title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/>
              <a:t>课堂练习</a:t>
            </a:r>
            <a:endParaRPr lang="en-US" altLang="zh-CN" dirty="0"/>
          </a:p>
        </p:txBody>
      </p:sp>
      <p:sp>
        <p:nvSpPr>
          <p:cNvPr id="27650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pic>
        <p:nvPicPr>
          <p:cNvPr id="27651" name="Content Placeholder 7" descr="屏幕快照 2017-05-23 下午2.44.56.png"/>
          <p:cNvPicPr>
            <a:picLocks noGrp="1" noChangeAspect="1"/>
          </p:cNvPicPr>
          <p:nvPr>
            <p:ph idx="4294967295"/>
          </p:nvPr>
        </p:nvPicPr>
        <p:blipFill>
          <a:blip r:embed="rId1"/>
          <a:srcRect t="6436" b="6436"/>
          <a:stretch>
            <a:fillRect/>
          </a:stretch>
        </p:blipFill>
        <p:spPr>
          <a:xfrm>
            <a:off x="323850" y="1557338"/>
            <a:ext cx="4189413" cy="2592387"/>
          </a:xfrm>
        </p:spPr>
      </p:pic>
      <p:pic>
        <p:nvPicPr>
          <p:cNvPr id="27652" name="Picture 9" descr="屏幕快照 2017-05-23 下午2.46.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63" y="1268413"/>
            <a:ext cx="4464050" cy="3071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3" name="Text Box 35"/>
          <p:cNvSpPr txBox="1"/>
          <p:nvPr/>
        </p:nvSpPr>
        <p:spPr>
          <a:xfrm>
            <a:off x="2195513" y="4437063"/>
            <a:ext cx="792162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charset="0"/>
              <a:ea typeface="ＭＳ 明朝" charset="-128"/>
            </a:endParaRPr>
          </a:p>
        </p:txBody>
      </p:sp>
      <p:sp>
        <p:nvSpPr>
          <p:cNvPr id="27654" name="Text Box 35"/>
          <p:cNvSpPr txBox="1"/>
          <p:nvPr/>
        </p:nvSpPr>
        <p:spPr>
          <a:xfrm>
            <a:off x="6011863" y="4581525"/>
            <a:ext cx="792162" cy="5032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H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charset="0"/>
              <a:ea typeface="ＭＳ 明朝" charset="-128"/>
            </a:endParaRPr>
          </a:p>
        </p:txBody>
      </p:sp>
      <p:sp>
        <p:nvSpPr>
          <p:cNvPr id="27655" name="Text Box 35"/>
          <p:cNvSpPr txBox="1"/>
          <p:nvPr/>
        </p:nvSpPr>
        <p:spPr>
          <a:xfrm>
            <a:off x="250825" y="1339850"/>
            <a:ext cx="2952750" cy="504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r>
              <a:rPr lang="zh-CN" altLang="en-US" sz="2800" i="0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zh-CN" altLang="en-US" sz="2800" i="0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H</a:t>
            </a:r>
            <a:r>
              <a:rPr lang="zh-CN" altLang="en-US" sz="2800" i="0" dirty="0">
                <a:solidFill>
                  <a:srgbClr val="000000"/>
                </a:solidFill>
                <a:latin typeface="Times New Roman" panose="02020603050405020304" charset="0"/>
                <a:ea typeface="ＭＳ 明朝" charset="-128"/>
              </a:rPr>
              <a:t>的色数</a:t>
            </a:r>
            <a:endParaRPr lang="zh-CN" altLang="en-US" sz="2800" i="0" dirty="0">
              <a:solidFill>
                <a:srgbClr val="000000"/>
              </a:solidFill>
              <a:latin typeface="Times New Roman" panose="02020603050405020304" charset="0"/>
              <a:ea typeface="ＭＳ 明朝" charset="-128"/>
            </a:endParaRPr>
          </a:p>
        </p:txBody>
      </p:sp>
      <p:sp>
        <p:nvSpPr>
          <p:cNvPr id="27656" name="Text Box 35"/>
          <p:cNvSpPr txBox="1"/>
          <p:nvPr/>
        </p:nvSpPr>
        <p:spPr>
          <a:xfrm>
            <a:off x="611188" y="5229225"/>
            <a:ext cx="8281987" cy="14398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endParaRPr lang="zh-CN" altLang="en-US" sz="2800" i="0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/>
              <a:t>常见图的点色数</a:t>
            </a:r>
            <a:endParaRPr lang="zh-CN" altLang="en-US"/>
          </a:p>
        </p:txBody>
      </p:sp>
      <p:sp>
        <p:nvSpPr>
          <p:cNvPr id="28674" name="内容占位符 2"/>
          <p:cNvSpPr>
            <a:spLocks noGrp="1"/>
          </p:cNvSpPr>
          <p:nvPr>
            <p:ph idx="4294967295"/>
          </p:nvPr>
        </p:nvSpPr>
        <p:spPr>
          <a:xfrm>
            <a:off x="323850" y="1341438"/>
            <a:ext cx="8496300" cy="3095625"/>
          </a:xfrm>
        </p:spPr>
        <p:txBody>
          <a:bodyPr vert="horz" wrap="square" anchor="t" anchorCtr="0"/>
          <a:p>
            <a:r>
              <a:rPr lang="en-US" altLang="zh-CN" dirty="0"/>
              <a:t>χ(G)=1 </a:t>
            </a:r>
            <a:r>
              <a:rPr lang="zh-CN" altLang="en-US" dirty="0"/>
              <a:t>⇔ </a:t>
            </a:r>
            <a:r>
              <a:rPr lang="en-US" altLang="zh-CN" dirty="0"/>
              <a:t>G</a:t>
            </a:r>
            <a:r>
              <a:rPr lang="zh-CN" altLang="en-US" dirty="0"/>
              <a:t>是零图</a:t>
            </a:r>
            <a:endParaRPr lang="zh-CN" altLang="en-US" dirty="0"/>
          </a:p>
          <a:p>
            <a:r>
              <a:rPr lang="el-GR" altLang="en-US" dirty="0"/>
              <a:t>χ(</a:t>
            </a:r>
            <a:r>
              <a:rPr lang="en-US" altLang="zh-CN" i="1" dirty="0"/>
              <a:t>K</a:t>
            </a:r>
            <a:r>
              <a:rPr lang="en-US" altLang="zh-CN" i="1" baseline="-25000" dirty="0"/>
              <a:t>n</a:t>
            </a:r>
            <a:r>
              <a:rPr lang="en-US" altLang="zh-CN" dirty="0"/>
              <a:t>)=</a:t>
            </a:r>
            <a:r>
              <a:rPr lang="en-US" altLang="zh-CN" i="1" dirty="0"/>
              <a:t>n</a:t>
            </a:r>
            <a:endParaRPr lang="en-US" altLang="zh-CN" i="1" dirty="0"/>
          </a:p>
          <a:p>
            <a:r>
              <a:rPr lang="en-US" altLang="zh-CN" dirty="0"/>
              <a:t>χ(G)=2 </a:t>
            </a:r>
            <a:r>
              <a:rPr lang="zh-CN" altLang="en-US" dirty="0"/>
              <a:t>⇔ </a:t>
            </a:r>
            <a:r>
              <a:rPr lang="en-US" altLang="zh-CN" dirty="0"/>
              <a:t>G</a:t>
            </a:r>
            <a:r>
              <a:rPr lang="zh-CN" altLang="en-US" dirty="0"/>
              <a:t>是非零图二部图</a:t>
            </a:r>
            <a:endParaRPr lang="zh-CN" altLang="en-US" dirty="0"/>
          </a:p>
          <a:p>
            <a:r>
              <a:rPr lang="en-US" altLang="zh-CN" dirty="0"/>
              <a:t>G</a:t>
            </a:r>
            <a:r>
              <a:rPr lang="zh-CN" altLang="en-US" dirty="0"/>
              <a:t>是</a:t>
            </a:r>
            <a:r>
              <a:rPr lang="en-US" altLang="zh-CN" dirty="0"/>
              <a:t>2-</a:t>
            </a:r>
            <a:r>
              <a:rPr lang="zh-CN" altLang="en-US" dirty="0"/>
              <a:t>可着色的⇔ </a:t>
            </a:r>
            <a:r>
              <a:rPr lang="en-US" altLang="zh-CN" dirty="0"/>
              <a:t>G</a:t>
            </a:r>
            <a:r>
              <a:rPr lang="zh-CN" altLang="en-US" dirty="0"/>
              <a:t>是二部图⇔ </a:t>
            </a:r>
            <a:r>
              <a:rPr lang="en-US" altLang="zh-CN" dirty="0"/>
              <a:t>G</a:t>
            </a:r>
            <a:r>
              <a:rPr lang="zh-CN" altLang="en-US" dirty="0"/>
              <a:t>无奇圈</a:t>
            </a:r>
            <a:endParaRPr lang="en-US" altLang="zh-CN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8675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aphicFrame>
        <p:nvGraphicFramePr>
          <p:cNvPr id="28676" name="对象 25604"/>
          <p:cNvGraphicFramePr>
            <a:graphicFrameLocks noChangeAspect="1"/>
          </p:cNvGraphicFramePr>
          <p:nvPr/>
        </p:nvGraphicFramePr>
        <p:xfrm>
          <a:off x="784225" y="3727450"/>
          <a:ext cx="63500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794000" imgH="482600" progId="">
                  <p:embed/>
                </p:oleObj>
              </mc:Choice>
              <mc:Fallback>
                <p:oleObj name="" r:id="rId1" imgW="2794000" imgH="4826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4225" y="3727450"/>
                        <a:ext cx="6350000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7" name="组合 11"/>
          <p:cNvGrpSpPr/>
          <p:nvPr/>
        </p:nvGrpSpPr>
        <p:grpSpPr>
          <a:xfrm>
            <a:off x="4211638" y="1484313"/>
            <a:ext cx="1584325" cy="792162"/>
            <a:chOff x="0" y="0"/>
            <a:chExt cx="1584052" cy="792033"/>
          </a:xfrm>
        </p:grpSpPr>
        <p:grpSp>
          <p:nvGrpSpPr>
            <p:cNvPr id="28678" name="椭圆 6"/>
            <p:cNvGrpSpPr/>
            <p:nvPr/>
          </p:nvGrpSpPr>
          <p:grpSpPr>
            <a:xfrm>
              <a:off x="-23682" y="-21270"/>
              <a:ext cx="262083" cy="255990"/>
              <a:chOff x="0" y="0"/>
              <a:chExt cx="262128" cy="256032"/>
            </a:xfrm>
          </p:grpSpPr>
          <p:pic>
            <p:nvPicPr>
              <p:cNvPr id="28679" name="椭圆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80" name="文本框 25608"/>
              <p:cNvSpPr txBox="1"/>
              <p:nvPr/>
            </p:nvSpPr>
            <p:spPr>
              <a:xfrm>
                <a:off x="55309" y="52906"/>
                <a:ext cx="152691" cy="1527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681" name="椭圆 7"/>
            <p:cNvGrpSpPr/>
            <p:nvPr/>
          </p:nvGrpSpPr>
          <p:grpSpPr>
            <a:xfrm>
              <a:off x="628478" y="-21270"/>
              <a:ext cx="255988" cy="255990"/>
              <a:chOff x="0" y="0"/>
              <a:chExt cx="256032" cy="256032"/>
            </a:xfrm>
          </p:grpSpPr>
          <p:pic>
            <p:nvPicPr>
              <p:cNvPr id="28682" name="椭圆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83" name="文本框 25611"/>
              <p:cNvSpPr txBox="1"/>
              <p:nvPr/>
            </p:nvSpPr>
            <p:spPr>
              <a:xfrm>
                <a:off x="51221" y="52906"/>
                <a:ext cx="152691" cy="1527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684" name="椭圆 8"/>
            <p:cNvGrpSpPr/>
            <p:nvPr/>
          </p:nvGrpSpPr>
          <p:grpSpPr>
            <a:xfrm>
              <a:off x="1347682" y="-21270"/>
              <a:ext cx="255988" cy="255990"/>
              <a:chOff x="0" y="0"/>
              <a:chExt cx="256032" cy="256032"/>
            </a:xfrm>
          </p:grpSpPr>
          <p:pic>
            <p:nvPicPr>
              <p:cNvPr id="28685" name="椭圆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86" name="文本框 25614"/>
              <p:cNvSpPr txBox="1"/>
              <p:nvPr/>
            </p:nvSpPr>
            <p:spPr>
              <a:xfrm>
                <a:off x="52097" y="52906"/>
                <a:ext cx="152691" cy="1527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687" name="椭圆 9"/>
            <p:cNvGrpSpPr/>
            <p:nvPr/>
          </p:nvGrpSpPr>
          <p:grpSpPr>
            <a:xfrm>
              <a:off x="268876" y="551661"/>
              <a:ext cx="255988" cy="262085"/>
              <a:chOff x="0" y="0"/>
              <a:chExt cx="256032" cy="262128"/>
            </a:xfrm>
          </p:grpSpPr>
          <p:pic>
            <p:nvPicPr>
              <p:cNvPr id="28688" name="椭圆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89" name="文本框 25617"/>
              <p:cNvSpPr txBox="1"/>
              <p:nvPr/>
            </p:nvSpPr>
            <p:spPr>
              <a:xfrm>
                <a:off x="50783" y="56040"/>
                <a:ext cx="152691" cy="1527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690" name="椭圆 10"/>
            <p:cNvGrpSpPr/>
            <p:nvPr/>
          </p:nvGrpSpPr>
          <p:grpSpPr>
            <a:xfrm>
              <a:off x="1061219" y="551661"/>
              <a:ext cx="255988" cy="262085"/>
              <a:chOff x="0" y="0"/>
              <a:chExt cx="256032" cy="262128"/>
            </a:xfrm>
          </p:grpSpPr>
          <p:pic>
            <p:nvPicPr>
              <p:cNvPr id="28691" name="椭圆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92" name="文本框 25620"/>
              <p:cNvSpPr txBox="1"/>
              <p:nvPr/>
            </p:nvSpPr>
            <p:spPr>
              <a:xfrm>
                <a:off x="50527" y="56040"/>
                <a:ext cx="152691" cy="1527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8693" name="组合 40"/>
          <p:cNvGrpSpPr/>
          <p:nvPr/>
        </p:nvGrpSpPr>
        <p:grpSpPr>
          <a:xfrm>
            <a:off x="6516688" y="1484313"/>
            <a:ext cx="1584325" cy="1512887"/>
            <a:chOff x="0" y="0"/>
            <a:chExt cx="1584052" cy="1512168"/>
          </a:xfrm>
        </p:grpSpPr>
        <p:grpSp>
          <p:nvGrpSpPr>
            <p:cNvPr id="28694" name="椭圆 13"/>
            <p:cNvGrpSpPr/>
            <p:nvPr/>
          </p:nvGrpSpPr>
          <p:grpSpPr>
            <a:xfrm>
              <a:off x="-24444" y="557582"/>
              <a:ext cx="262083" cy="255910"/>
              <a:chOff x="0" y="0"/>
              <a:chExt cx="262128" cy="256032"/>
            </a:xfrm>
          </p:grpSpPr>
          <p:pic>
            <p:nvPicPr>
              <p:cNvPr id="28695" name="椭圆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96" name="文本框 25624"/>
              <p:cNvSpPr txBox="1"/>
              <p:nvPr/>
            </p:nvSpPr>
            <p:spPr>
              <a:xfrm>
                <a:off x="56071" y="50189"/>
                <a:ext cx="152691" cy="1527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697" name="椭圆 14"/>
            <p:cNvGrpSpPr/>
            <p:nvPr/>
          </p:nvGrpSpPr>
          <p:grpSpPr>
            <a:xfrm>
              <a:off x="627716" y="-21263"/>
              <a:ext cx="255988" cy="255910"/>
              <a:chOff x="0" y="0"/>
              <a:chExt cx="256032" cy="256032"/>
            </a:xfrm>
          </p:grpSpPr>
          <p:pic>
            <p:nvPicPr>
              <p:cNvPr id="28698" name="椭圆 1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99" name="文本框 25627"/>
              <p:cNvSpPr txBox="1"/>
              <p:nvPr/>
            </p:nvSpPr>
            <p:spPr>
              <a:xfrm>
                <a:off x="51983" y="52916"/>
                <a:ext cx="152691" cy="1527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00" name="椭圆 15"/>
            <p:cNvGrpSpPr/>
            <p:nvPr/>
          </p:nvGrpSpPr>
          <p:grpSpPr>
            <a:xfrm>
              <a:off x="1346920" y="551489"/>
              <a:ext cx="255988" cy="262003"/>
              <a:chOff x="0" y="0"/>
              <a:chExt cx="256032" cy="262128"/>
            </a:xfrm>
          </p:grpSpPr>
          <p:pic>
            <p:nvPicPr>
              <p:cNvPr id="28701" name="椭圆 1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02" name="文本框 25630"/>
              <p:cNvSpPr txBox="1"/>
              <p:nvPr/>
            </p:nvSpPr>
            <p:spPr>
              <a:xfrm>
                <a:off x="52859" y="56230"/>
                <a:ext cx="152691" cy="1527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03" name="椭圆 16"/>
            <p:cNvGrpSpPr/>
            <p:nvPr/>
          </p:nvGrpSpPr>
          <p:grpSpPr>
            <a:xfrm>
              <a:off x="268114" y="1276568"/>
              <a:ext cx="255988" cy="255910"/>
              <a:chOff x="0" y="0"/>
              <a:chExt cx="256032" cy="256032"/>
            </a:xfrm>
          </p:grpSpPr>
          <p:pic>
            <p:nvPicPr>
              <p:cNvPr id="28704" name="椭圆 1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05" name="文本框 25633"/>
              <p:cNvSpPr txBox="1"/>
              <p:nvPr/>
            </p:nvSpPr>
            <p:spPr>
              <a:xfrm>
                <a:off x="51545" y="51283"/>
                <a:ext cx="152691" cy="1527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06" name="椭圆 17"/>
            <p:cNvGrpSpPr/>
            <p:nvPr/>
          </p:nvGrpSpPr>
          <p:grpSpPr>
            <a:xfrm>
              <a:off x="1060457" y="1276568"/>
              <a:ext cx="255988" cy="255910"/>
              <a:chOff x="0" y="0"/>
              <a:chExt cx="256032" cy="256032"/>
            </a:xfrm>
          </p:grpSpPr>
          <p:pic>
            <p:nvPicPr>
              <p:cNvPr id="28707" name="椭圆 1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08" name="文本框 25636"/>
              <p:cNvSpPr txBox="1"/>
              <p:nvPr/>
            </p:nvSpPr>
            <p:spPr>
              <a:xfrm>
                <a:off x="51289" y="51283"/>
                <a:ext cx="152691" cy="1527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8709" name="直接连接符 19"/>
            <p:cNvCxnSpPr/>
            <p:nvPr/>
          </p:nvCxnSpPr>
          <p:spPr>
            <a:xfrm rot="5400000">
              <a:off x="220283" y="148340"/>
              <a:ext cx="423406" cy="495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0" name="直接连接符 22"/>
            <p:cNvCxnSpPr/>
            <p:nvPr/>
          </p:nvCxnSpPr>
          <p:spPr>
            <a:xfrm rot="5400000">
              <a:off x="35887" y="576064"/>
              <a:ext cx="1080230" cy="3600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1" name="直接连接符 24"/>
            <p:cNvCxnSpPr/>
            <p:nvPr/>
          </p:nvCxnSpPr>
          <p:spPr>
            <a:xfrm rot="-5400000" flipH="1">
              <a:off x="400303" y="616392"/>
              <a:ext cx="1143486" cy="279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2" name="直接连接符 27"/>
            <p:cNvCxnSpPr/>
            <p:nvPr/>
          </p:nvCxnSpPr>
          <p:spPr>
            <a:xfrm rot="-5400000" flipH="1">
              <a:off x="904372" y="112292"/>
              <a:ext cx="423351" cy="5674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3" name="直接连接符 29"/>
            <p:cNvCxnSpPr/>
            <p:nvPr/>
          </p:nvCxnSpPr>
          <p:spPr>
            <a:xfrm rot="-5400000" flipH="1">
              <a:off x="-54068" y="954091"/>
              <a:ext cx="535739" cy="211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4" name="直接连接符 31"/>
            <p:cNvCxnSpPr/>
            <p:nvPr/>
          </p:nvCxnSpPr>
          <p:spPr>
            <a:xfrm>
              <a:off x="215900" y="684104"/>
              <a:ext cx="864220" cy="7200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5" name="直接连接符 33"/>
            <p:cNvCxnSpPr/>
            <p:nvPr/>
          </p:nvCxnSpPr>
          <p:spPr>
            <a:xfrm flipV="1">
              <a:off x="215900" y="684049"/>
              <a:ext cx="1152252" cy="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6" name="直接连接符 35"/>
            <p:cNvCxnSpPr/>
            <p:nvPr/>
          </p:nvCxnSpPr>
          <p:spPr>
            <a:xfrm rot="5400000">
              <a:off x="1102355" y="954080"/>
              <a:ext cx="535794" cy="211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7" name="直接连接符 37"/>
            <p:cNvCxnSpPr/>
            <p:nvPr/>
          </p:nvCxnSpPr>
          <p:spPr>
            <a:xfrm rot="-10800000" flipV="1">
              <a:off x="472314" y="684049"/>
              <a:ext cx="895838" cy="6437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8" name="直接连接符 39"/>
            <p:cNvCxnSpPr/>
            <p:nvPr/>
          </p:nvCxnSpPr>
          <p:spPr>
            <a:xfrm>
              <a:off x="503932" y="1404184"/>
              <a:ext cx="5761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719" name="组合 59"/>
          <p:cNvGrpSpPr/>
          <p:nvPr/>
        </p:nvGrpSpPr>
        <p:grpSpPr>
          <a:xfrm>
            <a:off x="323850" y="5300663"/>
            <a:ext cx="1584325" cy="792162"/>
            <a:chOff x="0" y="0"/>
            <a:chExt cx="1584052" cy="792033"/>
          </a:xfrm>
        </p:grpSpPr>
        <p:grpSp>
          <p:nvGrpSpPr>
            <p:cNvPr id="28720" name="组合 41"/>
            <p:cNvGrpSpPr/>
            <p:nvPr/>
          </p:nvGrpSpPr>
          <p:grpSpPr>
            <a:xfrm>
              <a:off x="0" y="0"/>
              <a:ext cx="1584052" cy="792033"/>
              <a:chOff x="0" y="0"/>
              <a:chExt cx="1584052" cy="792033"/>
            </a:xfrm>
          </p:grpSpPr>
          <p:grpSp>
            <p:nvGrpSpPr>
              <p:cNvPr id="28721" name="椭圆 42"/>
              <p:cNvGrpSpPr/>
              <p:nvPr/>
            </p:nvGrpSpPr>
            <p:grpSpPr>
              <a:xfrm>
                <a:off x="-19047" y="-21523"/>
                <a:ext cx="255988" cy="262085"/>
                <a:chOff x="0" y="0"/>
                <a:chExt cx="256032" cy="262128"/>
              </a:xfrm>
            </p:grpSpPr>
            <p:pic>
              <p:nvPicPr>
                <p:cNvPr id="28722" name="椭圆 42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23" name="文本框 25651"/>
                <p:cNvSpPr txBox="1"/>
                <p:nvPr/>
              </p:nvSpPr>
              <p:spPr>
                <a:xfrm>
                  <a:off x="50673" y="53160"/>
                  <a:ext cx="152691" cy="1527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724" name="椭圆 43"/>
              <p:cNvGrpSpPr/>
              <p:nvPr/>
            </p:nvGrpSpPr>
            <p:grpSpPr>
              <a:xfrm>
                <a:off x="627018" y="-21523"/>
                <a:ext cx="255988" cy="262085"/>
                <a:chOff x="0" y="0"/>
                <a:chExt cx="256032" cy="262128"/>
              </a:xfrm>
            </p:grpSpPr>
            <p:pic>
              <p:nvPicPr>
                <p:cNvPr id="28725" name="椭圆 43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26" name="文本框 25654"/>
                <p:cNvSpPr txBox="1"/>
                <p:nvPr/>
              </p:nvSpPr>
              <p:spPr>
                <a:xfrm>
                  <a:off x="52681" y="53160"/>
                  <a:ext cx="152691" cy="1527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727" name="椭圆 44"/>
              <p:cNvGrpSpPr/>
              <p:nvPr/>
            </p:nvGrpSpPr>
            <p:grpSpPr>
              <a:xfrm>
                <a:off x="1346222" y="-21523"/>
                <a:ext cx="262083" cy="262085"/>
                <a:chOff x="0" y="0"/>
                <a:chExt cx="262128" cy="262128"/>
              </a:xfrm>
            </p:grpSpPr>
            <p:pic>
              <p:nvPicPr>
                <p:cNvPr id="28728" name="椭圆 44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0" y="0"/>
                  <a:ext cx="262128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29" name="文本框 25657"/>
                <p:cNvSpPr txBox="1"/>
                <p:nvPr/>
              </p:nvSpPr>
              <p:spPr>
                <a:xfrm>
                  <a:off x="53557" y="53160"/>
                  <a:ext cx="152691" cy="1527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730" name="椭圆 45"/>
              <p:cNvGrpSpPr/>
              <p:nvPr/>
            </p:nvGrpSpPr>
            <p:grpSpPr>
              <a:xfrm>
                <a:off x="267416" y="557502"/>
                <a:ext cx="255988" cy="255990"/>
                <a:chOff x="0" y="0"/>
                <a:chExt cx="256032" cy="256032"/>
              </a:xfrm>
            </p:grpSpPr>
            <p:pic>
              <p:nvPicPr>
                <p:cNvPr id="28731" name="椭圆 45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0"/>
                  <a:ext cx="256032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32" name="文本框 25660"/>
                <p:cNvSpPr txBox="1"/>
                <p:nvPr/>
              </p:nvSpPr>
              <p:spPr>
                <a:xfrm>
                  <a:off x="52243" y="50198"/>
                  <a:ext cx="152691" cy="1527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733" name="椭圆 46"/>
              <p:cNvGrpSpPr/>
              <p:nvPr/>
            </p:nvGrpSpPr>
            <p:grpSpPr>
              <a:xfrm>
                <a:off x="1059759" y="557502"/>
                <a:ext cx="255988" cy="255990"/>
                <a:chOff x="0" y="0"/>
                <a:chExt cx="256032" cy="256032"/>
              </a:xfrm>
            </p:grpSpPr>
            <p:pic>
              <p:nvPicPr>
                <p:cNvPr id="28734" name="椭圆 46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0" y="0"/>
                  <a:ext cx="256032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35" name="文本框 25663"/>
                <p:cNvSpPr txBox="1"/>
                <p:nvPr/>
              </p:nvSpPr>
              <p:spPr>
                <a:xfrm>
                  <a:off x="51987" y="50198"/>
                  <a:ext cx="152691" cy="1527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</p:grpSp>
        <p:cxnSp>
          <p:nvCxnSpPr>
            <p:cNvPr id="28736" name="直接连接符 48"/>
            <p:cNvCxnSpPr/>
            <p:nvPr/>
          </p:nvCxnSpPr>
          <p:spPr>
            <a:xfrm rot="-5400000" flipH="1">
              <a:off x="17924" y="305964"/>
              <a:ext cx="391723" cy="211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37" name="直接连接符 50"/>
            <p:cNvCxnSpPr/>
            <p:nvPr/>
          </p:nvCxnSpPr>
          <p:spPr>
            <a:xfrm>
              <a:off x="144016" y="216024"/>
              <a:ext cx="967722" cy="3916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38" name="直接连接符 52"/>
            <p:cNvCxnSpPr/>
            <p:nvPr/>
          </p:nvCxnSpPr>
          <p:spPr>
            <a:xfrm rot="5400000">
              <a:off x="341960" y="238332"/>
              <a:ext cx="391723" cy="2837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39" name="直接连接符 54"/>
            <p:cNvCxnSpPr/>
            <p:nvPr/>
          </p:nvCxnSpPr>
          <p:spPr>
            <a:xfrm rot="-5400000" flipH="1">
              <a:off x="738004" y="233956"/>
              <a:ext cx="391723" cy="3557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40" name="直接连接符 56"/>
            <p:cNvCxnSpPr/>
            <p:nvPr/>
          </p:nvCxnSpPr>
          <p:spPr>
            <a:xfrm rot="5400000" flipH="1" flipV="1">
              <a:off x="724352" y="-67711"/>
              <a:ext cx="423351" cy="9274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41" name="直接连接符 58"/>
            <p:cNvCxnSpPr/>
            <p:nvPr/>
          </p:nvCxnSpPr>
          <p:spPr>
            <a:xfrm rot="5400000">
              <a:off x="1134095" y="269999"/>
              <a:ext cx="360040" cy="2520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742" name="组合 60"/>
          <p:cNvGrpSpPr/>
          <p:nvPr/>
        </p:nvGrpSpPr>
        <p:grpSpPr>
          <a:xfrm>
            <a:off x="2124075" y="4868863"/>
            <a:ext cx="1584325" cy="1511300"/>
            <a:chOff x="0" y="0"/>
            <a:chExt cx="1584052" cy="1512168"/>
          </a:xfrm>
        </p:grpSpPr>
        <p:grpSp>
          <p:nvGrpSpPr>
            <p:cNvPr id="28743" name="椭圆 61"/>
            <p:cNvGrpSpPr/>
            <p:nvPr/>
          </p:nvGrpSpPr>
          <p:grpSpPr>
            <a:xfrm>
              <a:off x="-20951" y="556897"/>
              <a:ext cx="255988" cy="256179"/>
              <a:chOff x="0" y="0"/>
              <a:chExt cx="256032" cy="256032"/>
            </a:xfrm>
          </p:grpSpPr>
          <p:pic>
            <p:nvPicPr>
              <p:cNvPr id="28744" name="椭圆 6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45" name="文本框 25673"/>
              <p:cNvSpPr txBox="1"/>
              <p:nvPr/>
            </p:nvSpPr>
            <p:spPr>
              <a:xfrm>
                <a:off x="52578" y="50821"/>
                <a:ext cx="152691" cy="152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46" name="椭圆 62"/>
            <p:cNvGrpSpPr/>
            <p:nvPr/>
          </p:nvGrpSpPr>
          <p:grpSpPr>
            <a:xfrm>
              <a:off x="625113" y="-22556"/>
              <a:ext cx="262083" cy="262279"/>
              <a:chOff x="0" y="0"/>
              <a:chExt cx="262128" cy="262128"/>
            </a:xfrm>
          </p:grpSpPr>
          <p:pic>
            <p:nvPicPr>
              <p:cNvPr id="28747" name="椭圆 6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48" name="文本框 25676"/>
              <p:cNvSpPr txBox="1"/>
              <p:nvPr/>
            </p:nvSpPr>
            <p:spPr>
              <a:xfrm>
                <a:off x="54586" y="54153"/>
                <a:ext cx="152691" cy="152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49" name="椭圆 63"/>
            <p:cNvGrpSpPr/>
            <p:nvPr/>
          </p:nvGrpSpPr>
          <p:grpSpPr>
            <a:xfrm>
              <a:off x="1344317" y="556897"/>
              <a:ext cx="262083" cy="256179"/>
              <a:chOff x="0" y="0"/>
              <a:chExt cx="262128" cy="256032"/>
            </a:xfrm>
          </p:grpSpPr>
          <p:pic>
            <p:nvPicPr>
              <p:cNvPr id="28750" name="椭圆 63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51" name="文本框 25679"/>
              <p:cNvSpPr txBox="1"/>
              <p:nvPr/>
            </p:nvSpPr>
            <p:spPr>
              <a:xfrm>
                <a:off x="55462" y="50766"/>
                <a:ext cx="152691" cy="152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52" name="椭圆 64"/>
            <p:cNvGrpSpPr/>
            <p:nvPr/>
          </p:nvGrpSpPr>
          <p:grpSpPr>
            <a:xfrm>
              <a:off x="265511" y="1276638"/>
              <a:ext cx="262083" cy="256179"/>
              <a:chOff x="0" y="0"/>
              <a:chExt cx="262128" cy="256032"/>
            </a:xfrm>
          </p:grpSpPr>
          <p:pic>
            <p:nvPicPr>
              <p:cNvPr id="28753" name="椭圆 6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54" name="文本框 25682"/>
              <p:cNvSpPr txBox="1"/>
              <p:nvPr/>
            </p:nvSpPr>
            <p:spPr>
              <a:xfrm>
                <a:off x="54148" y="51160"/>
                <a:ext cx="152691" cy="152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55" name="椭圆 65"/>
            <p:cNvGrpSpPr/>
            <p:nvPr/>
          </p:nvGrpSpPr>
          <p:grpSpPr>
            <a:xfrm>
              <a:off x="1057855" y="1276638"/>
              <a:ext cx="262083" cy="256179"/>
              <a:chOff x="0" y="0"/>
              <a:chExt cx="262128" cy="256032"/>
            </a:xfrm>
          </p:grpSpPr>
          <p:pic>
            <p:nvPicPr>
              <p:cNvPr id="28756" name="椭圆 65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57" name="文本框 25685"/>
              <p:cNvSpPr txBox="1"/>
              <p:nvPr/>
            </p:nvSpPr>
            <p:spPr>
              <a:xfrm>
                <a:off x="53892" y="51160"/>
                <a:ext cx="152691" cy="1526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8758" name="直接连接符 66"/>
            <p:cNvCxnSpPr/>
            <p:nvPr/>
          </p:nvCxnSpPr>
          <p:spPr>
            <a:xfrm rot="5400000">
              <a:off x="220283" y="148340"/>
              <a:ext cx="423406" cy="495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59" name="直接连接符 69"/>
            <p:cNvCxnSpPr/>
            <p:nvPr/>
          </p:nvCxnSpPr>
          <p:spPr>
            <a:xfrm rot="-5400000" flipH="1">
              <a:off x="904372" y="112292"/>
              <a:ext cx="423351" cy="5674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60" name="直接连接符 70"/>
            <p:cNvCxnSpPr/>
            <p:nvPr/>
          </p:nvCxnSpPr>
          <p:spPr>
            <a:xfrm rot="-5400000" flipH="1">
              <a:off x="-54068" y="954091"/>
              <a:ext cx="535739" cy="211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61" name="直接连接符 73"/>
            <p:cNvCxnSpPr/>
            <p:nvPr/>
          </p:nvCxnSpPr>
          <p:spPr>
            <a:xfrm rot="5400000">
              <a:off x="1102355" y="954080"/>
              <a:ext cx="535794" cy="211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62" name="直接连接符 75"/>
            <p:cNvCxnSpPr/>
            <p:nvPr/>
          </p:nvCxnSpPr>
          <p:spPr>
            <a:xfrm>
              <a:off x="503932" y="1404184"/>
              <a:ext cx="5761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763" name="组合 100"/>
          <p:cNvGrpSpPr/>
          <p:nvPr/>
        </p:nvGrpSpPr>
        <p:grpSpPr>
          <a:xfrm>
            <a:off x="3995738" y="5084763"/>
            <a:ext cx="1152525" cy="1093787"/>
            <a:chOff x="0" y="0"/>
            <a:chExt cx="1152004" cy="1094072"/>
          </a:xfrm>
        </p:grpSpPr>
        <p:grpSp>
          <p:nvGrpSpPr>
            <p:cNvPr id="28764" name="椭圆 77"/>
            <p:cNvGrpSpPr/>
            <p:nvPr/>
          </p:nvGrpSpPr>
          <p:grpSpPr>
            <a:xfrm>
              <a:off x="-21136" y="840768"/>
              <a:ext cx="255916" cy="262196"/>
              <a:chOff x="0" y="0"/>
              <a:chExt cx="256032" cy="262128"/>
            </a:xfrm>
          </p:grpSpPr>
          <p:pic>
            <p:nvPicPr>
              <p:cNvPr id="28765" name="椭圆 7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66" name="文本框 25694"/>
              <p:cNvSpPr txBox="1"/>
              <p:nvPr/>
            </p:nvSpPr>
            <p:spPr>
              <a:xfrm>
                <a:off x="52902" y="54942"/>
                <a:ext cx="152734" cy="1526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67" name="椭圆 78"/>
            <p:cNvGrpSpPr/>
            <p:nvPr/>
          </p:nvGrpSpPr>
          <p:grpSpPr>
            <a:xfrm>
              <a:off x="-21136" y="48082"/>
              <a:ext cx="255916" cy="262196"/>
              <a:chOff x="0" y="0"/>
              <a:chExt cx="256032" cy="262128"/>
            </a:xfrm>
          </p:grpSpPr>
          <p:pic>
            <p:nvPicPr>
              <p:cNvPr id="28768" name="椭圆 78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69" name="文本框 25697"/>
              <p:cNvSpPr txBox="1"/>
              <p:nvPr/>
            </p:nvSpPr>
            <p:spPr>
              <a:xfrm>
                <a:off x="52778" y="56102"/>
                <a:ext cx="152734" cy="1526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70" name="椭圆 79"/>
            <p:cNvGrpSpPr/>
            <p:nvPr/>
          </p:nvGrpSpPr>
          <p:grpSpPr>
            <a:xfrm>
              <a:off x="917223" y="-18992"/>
              <a:ext cx="255916" cy="256099"/>
              <a:chOff x="0" y="0"/>
              <a:chExt cx="256032" cy="256032"/>
            </a:xfrm>
          </p:grpSpPr>
          <p:pic>
            <p:nvPicPr>
              <p:cNvPr id="28771" name="椭圆 79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72" name="文本框 25700"/>
              <p:cNvSpPr txBox="1"/>
              <p:nvPr/>
            </p:nvSpPr>
            <p:spPr>
              <a:xfrm>
                <a:off x="50521" y="50607"/>
                <a:ext cx="152734" cy="1526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773" name="椭圆 81"/>
            <p:cNvGrpSpPr/>
            <p:nvPr/>
          </p:nvGrpSpPr>
          <p:grpSpPr>
            <a:xfrm>
              <a:off x="898943" y="859061"/>
              <a:ext cx="262010" cy="256099"/>
              <a:chOff x="0" y="0"/>
              <a:chExt cx="262128" cy="256032"/>
            </a:xfrm>
          </p:grpSpPr>
          <p:pic>
            <p:nvPicPr>
              <p:cNvPr id="28774" name="椭圆 8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775" name="文本框 25703"/>
              <p:cNvSpPr txBox="1"/>
              <p:nvPr/>
            </p:nvSpPr>
            <p:spPr>
              <a:xfrm>
                <a:off x="53851" y="50657"/>
                <a:ext cx="152734" cy="1526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8776" name="直接连接符 89"/>
            <p:cNvCxnSpPr/>
            <p:nvPr/>
          </p:nvCxnSpPr>
          <p:spPr>
            <a:xfrm rot="5400000">
              <a:off x="-204717" y="583041"/>
              <a:ext cx="607184" cy="181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77" name="直接连接符 91"/>
            <p:cNvCxnSpPr/>
            <p:nvPr/>
          </p:nvCxnSpPr>
          <p:spPr>
            <a:xfrm rot="5400000">
              <a:off x="705511" y="539560"/>
              <a:ext cx="662134" cy="149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78" name="直接连接符 94"/>
            <p:cNvCxnSpPr/>
            <p:nvPr/>
          </p:nvCxnSpPr>
          <p:spPr>
            <a:xfrm rot="-5400000" flipH="1">
              <a:off x="553455" y="-265006"/>
              <a:ext cx="13445" cy="7518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79" name="直接连接符 96"/>
            <p:cNvCxnSpPr/>
            <p:nvPr/>
          </p:nvCxnSpPr>
          <p:spPr>
            <a:xfrm>
              <a:off x="216024" y="972081"/>
              <a:ext cx="705128" cy="140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780" name="组合 117"/>
          <p:cNvGrpSpPr/>
          <p:nvPr/>
        </p:nvGrpSpPr>
        <p:grpSpPr>
          <a:xfrm>
            <a:off x="5651500" y="5084763"/>
            <a:ext cx="1152525" cy="1093787"/>
            <a:chOff x="0" y="0"/>
            <a:chExt cx="1152004" cy="1094072"/>
          </a:xfrm>
        </p:grpSpPr>
        <p:cxnSp>
          <p:nvCxnSpPr>
            <p:cNvPr id="28781" name="直接连接符 116"/>
            <p:cNvCxnSpPr/>
            <p:nvPr/>
          </p:nvCxnSpPr>
          <p:spPr>
            <a:xfrm rot="5400000" flipH="1" flipV="1">
              <a:off x="220358" y="148359"/>
              <a:ext cx="711383" cy="7833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82" name="直接连接符 112"/>
            <p:cNvCxnSpPr/>
            <p:nvPr/>
          </p:nvCxnSpPr>
          <p:spPr>
            <a:xfrm rot="-5400000" flipH="1">
              <a:off x="242116" y="199077"/>
              <a:ext cx="652820" cy="768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783" name="组合 101"/>
            <p:cNvGrpSpPr/>
            <p:nvPr/>
          </p:nvGrpSpPr>
          <p:grpSpPr>
            <a:xfrm>
              <a:off x="0" y="0"/>
              <a:ext cx="1152004" cy="1094072"/>
              <a:chOff x="0" y="0"/>
              <a:chExt cx="1152004" cy="1094072"/>
            </a:xfrm>
          </p:grpSpPr>
          <p:grpSp>
            <p:nvGrpSpPr>
              <p:cNvPr id="28784" name="椭圆 102"/>
              <p:cNvGrpSpPr/>
              <p:nvPr/>
            </p:nvGrpSpPr>
            <p:grpSpPr>
              <a:xfrm>
                <a:off x="-18788" y="840768"/>
                <a:ext cx="255916" cy="262196"/>
                <a:chOff x="0" y="0"/>
                <a:chExt cx="256032" cy="262128"/>
              </a:xfrm>
            </p:grpSpPr>
            <p:pic>
              <p:nvPicPr>
                <p:cNvPr id="28785" name="椭圆 102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86" name="文本框 25714"/>
                <p:cNvSpPr txBox="1"/>
                <p:nvPr/>
              </p:nvSpPr>
              <p:spPr>
                <a:xfrm>
                  <a:off x="50552" y="54942"/>
                  <a:ext cx="152734" cy="15267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787" name="椭圆 103"/>
              <p:cNvGrpSpPr/>
              <p:nvPr/>
            </p:nvGrpSpPr>
            <p:grpSpPr>
              <a:xfrm>
                <a:off x="-18788" y="48082"/>
                <a:ext cx="255916" cy="262196"/>
                <a:chOff x="0" y="0"/>
                <a:chExt cx="256032" cy="262128"/>
              </a:xfrm>
            </p:grpSpPr>
            <p:pic>
              <p:nvPicPr>
                <p:cNvPr id="28788" name="椭圆 103"/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89" name="文本框 25717"/>
                <p:cNvSpPr txBox="1"/>
                <p:nvPr/>
              </p:nvSpPr>
              <p:spPr>
                <a:xfrm>
                  <a:off x="50428" y="56102"/>
                  <a:ext cx="152734" cy="15267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790" name="椭圆 104"/>
              <p:cNvGrpSpPr/>
              <p:nvPr/>
            </p:nvGrpSpPr>
            <p:grpSpPr>
              <a:xfrm>
                <a:off x="913479" y="-18992"/>
                <a:ext cx="262010" cy="256099"/>
                <a:chOff x="0" y="0"/>
                <a:chExt cx="262128" cy="256032"/>
              </a:xfrm>
            </p:grpSpPr>
            <p:pic>
              <p:nvPicPr>
                <p:cNvPr id="28791" name="椭圆 104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0" y="0"/>
                  <a:ext cx="262128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92" name="文本框 25720"/>
                <p:cNvSpPr txBox="1"/>
                <p:nvPr/>
              </p:nvSpPr>
              <p:spPr>
                <a:xfrm>
                  <a:off x="54267" y="50607"/>
                  <a:ext cx="152734" cy="15267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793" name="椭圆 105"/>
              <p:cNvGrpSpPr/>
              <p:nvPr/>
            </p:nvGrpSpPr>
            <p:grpSpPr>
              <a:xfrm>
                <a:off x="901292" y="859061"/>
                <a:ext cx="255916" cy="256099"/>
                <a:chOff x="0" y="0"/>
                <a:chExt cx="256032" cy="256032"/>
              </a:xfrm>
            </p:grpSpPr>
            <p:pic>
              <p:nvPicPr>
                <p:cNvPr id="28794" name="椭圆 105"/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0" y="0"/>
                  <a:ext cx="256032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795" name="文本框 25723"/>
                <p:cNvSpPr txBox="1"/>
                <p:nvPr/>
              </p:nvSpPr>
              <p:spPr>
                <a:xfrm>
                  <a:off x="51501" y="50657"/>
                  <a:ext cx="152734" cy="15267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28796" name="直接连接符 106"/>
              <p:cNvCxnSpPr/>
              <p:nvPr/>
            </p:nvCxnSpPr>
            <p:spPr>
              <a:xfrm rot="5400000">
                <a:off x="-204717" y="583041"/>
                <a:ext cx="607184" cy="1815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97" name="直接连接符 107"/>
              <p:cNvCxnSpPr/>
              <p:nvPr/>
            </p:nvCxnSpPr>
            <p:spPr>
              <a:xfrm rot="5400000">
                <a:off x="705511" y="539560"/>
                <a:ext cx="662134" cy="1495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98" name="直接连接符 108"/>
              <p:cNvCxnSpPr/>
              <p:nvPr/>
            </p:nvCxnSpPr>
            <p:spPr>
              <a:xfrm rot="-5400000" flipH="1">
                <a:off x="553455" y="-265006"/>
                <a:ext cx="13445" cy="75182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99" name="直接连接符 109"/>
              <p:cNvCxnSpPr/>
              <p:nvPr/>
            </p:nvCxnSpPr>
            <p:spPr>
              <a:xfrm>
                <a:off x="216024" y="972081"/>
                <a:ext cx="705128" cy="140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800" name="椭圆 110"/>
            <p:cNvGrpSpPr/>
            <p:nvPr/>
          </p:nvGrpSpPr>
          <p:grpSpPr>
            <a:xfrm>
              <a:off x="426019" y="468815"/>
              <a:ext cx="255916" cy="256099"/>
              <a:chOff x="0" y="0"/>
              <a:chExt cx="256032" cy="256032"/>
            </a:xfrm>
          </p:grpSpPr>
          <p:pic>
            <p:nvPicPr>
              <p:cNvPr id="28801" name="椭圆 110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802" name="文本框 25730"/>
              <p:cNvSpPr txBox="1"/>
              <p:nvPr/>
            </p:nvSpPr>
            <p:spPr>
              <a:xfrm>
                <a:off x="52184" y="52903"/>
                <a:ext cx="152734" cy="1526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8803" name="组合 142"/>
          <p:cNvGrpSpPr/>
          <p:nvPr/>
        </p:nvGrpSpPr>
        <p:grpSpPr>
          <a:xfrm>
            <a:off x="7092950" y="4940300"/>
            <a:ext cx="1582738" cy="1512888"/>
            <a:chOff x="0" y="0"/>
            <a:chExt cx="1584052" cy="1512168"/>
          </a:xfrm>
        </p:grpSpPr>
        <p:grpSp>
          <p:nvGrpSpPr>
            <p:cNvPr id="28804" name="组合 118"/>
            <p:cNvGrpSpPr/>
            <p:nvPr/>
          </p:nvGrpSpPr>
          <p:grpSpPr>
            <a:xfrm>
              <a:off x="0" y="0"/>
              <a:ext cx="1584052" cy="1512168"/>
              <a:chOff x="0" y="0"/>
              <a:chExt cx="1584052" cy="1512168"/>
            </a:xfrm>
          </p:grpSpPr>
          <p:grpSp>
            <p:nvGrpSpPr>
              <p:cNvPr id="28805" name="椭圆 119"/>
              <p:cNvGrpSpPr/>
              <p:nvPr/>
            </p:nvGrpSpPr>
            <p:grpSpPr>
              <a:xfrm>
                <a:off x="-21608" y="551933"/>
                <a:ext cx="256245" cy="262003"/>
                <a:chOff x="0" y="0"/>
                <a:chExt cx="256032" cy="262128"/>
              </a:xfrm>
            </p:grpSpPr>
            <p:pic>
              <p:nvPicPr>
                <p:cNvPr id="28806" name="椭圆 119"/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0" y="0"/>
                  <a:ext cx="256032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807" name="文本框 25735"/>
                <p:cNvSpPr txBox="1"/>
                <p:nvPr/>
              </p:nvSpPr>
              <p:spPr>
                <a:xfrm>
                  <a:off x="53182" y="55840"/>
                  <a:ext cx="152537" cy="15278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808" name="椭圆 120"/>
              <p:cNvGrpSpPr/>
              <p:nvPr/>
            </p:nvGrpSpPr>
            <p:grpSpPr>
              <a:xfrm>
                <a:off x="625105" y="-20818"/>
                <a:ext cx="262346" cy="255910"/>
                <a:chOff x="0" y="0"/>
                <a:chExt cx="262128" cy="256032"/>
              </a:xfrm>
            </p:grpSpPr>
            <p:pic>
              <p:nvPicPr>
                <p:cNvPr id="28809" name="椭圆 120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0" y="0"/>
                  <a:ext cx="262128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810" name="文本框 25738"/>
                <p:cNvSpPr txBox="1"/>
                <p:nvPr/>
              </p:nvSpPr>
              <p:spPr>
                <a:xfrm>
                  <a:off x="54540" y="52471"/>
                  <a:ext cx="152537" cy="15278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811" name="椭圆 121"/>
              <p:cNvGrpSpPr/>
              <p:nvPr/>
            </p:nvGrpSpPr>
            <p:grpSpPr>
              <a:xfrm>
                <a:off x="1345030" y="551933"/>
                <a:ext cx="262346" cy="262003"/>
                <a:chOff x="0" y="0"/>
                <a:chExt cx="262128" cy="262128"/>
              </a:xfrm>
            </p:grpSpPr>
            <p:pic>
              <p:nvPicPr>
                <p:cNvPr id="28812" name="椭圆 121"/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0" y="0"/>
                  <a:ext cx="262128" cy="2621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813" name="文本框 25741"/>
                <p:cNvSpPr txBox="1"/>
                <p:nvPr/>
              </p:nvSpPr>
              <p:spPr>
                <a:xfrm>
                  <a:off x="54695" y="55785"/>
                  <a:ext cx="152537" cy="15278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814" name="椭圆 122"/>
              <p:cNvGrpSpPr/>
              <p:nvPr/>
            </p:nvGrpSpPr>
            <p:grpSpPr>
              <a:xfrm>
                <a:off x="265142" y="1277012"/>
                <a:ext cx="262346" cy="255910"/>
                <a:chOff x="0" y="0"/>
                <a:chExt cx="262128" cy="256032"/>
              </a:xfrm>
            </p:grpSpPr>
            <p:pic>
              <p:nvPicPr>
                <p:cNvPr id="28815" name="椭圆 12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0" y="0"/>
                  <a:ext cx="262128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816" name="文本框 25744"/>
                <p:cNvSpPr txBox="1"/>
                <p:nvPr/>
              </p:nvSpPr>
              <p:spPr>
                <a:xfrm>
                  <a:off x="54463" y="50839"/>
                  <a:ext cx="152537" cy="15278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817" name="椭圆 123"/>
              <p:cNvGrpSpPr/>
              <p:nvPr/>
            </p:nvGrpSpPr>
            <p:grpSpPr>
              <a:xfrm>
                <a:off x="1058280" y="1277012"/>
                <a:ext cx="262346" cy="255910"/>
                <a:chOff x="0" y="0"/>
                <a:chExt cx="262128" cy="256032"/>
              </a:xfrm>
            </p:grpSpPr>
            <p:pic>
              <p:nvPicPr>
                <p:cNvPr id="28818" name="椭圆 123"/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0" y="0"/>
                  <a:ext cx="262128" cy="2560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8819" name="文本框 25747"/>
                <p:cNvSpPr txBox="1"/>
                <p:nvPr/>
              </p:nvSpPr>
              <p:spPr>
                <a:xfrm>
                  <a:off x="53414" y="50839"/>
                  <a:ext cx="152537" cy="15278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p>
                  <a:endParaRPr lang="zh-CN" altLang="en-US" i="0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28820" name="直接连接符 124"/>
              <p:cNvCxnSpPr/>
              <p:nvPr/>
            </p:nvCxnSpPr>
            <p:spPr>
              <a:xfrm rot="5400000">
                <a:off x="220283" y="148340"/>
                <a:ext cx="423406" cy="4954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21" name="直接连接符 125"/>
              <p:cNvCxnSpPr/>
              <p:nvPr/>
            </p:nvCxnSpPr>
            <p:spPr>
              <a:xfrm rot="-5400000" flipH="1">
                <a:off x="904372" y="112292"/>
                <a:ext cx="423351" cy="5674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22" name="直接连接符 126"/>
              <p:cNvCxnSpPr/>
              <p:nvPr/>
            </p:nvCxnSpPr>
            <p:spPr>
              <a:xfrm rot="-5400000" flipH="1">
                <a:off x="-54068" y="954091"/>
                <a:ext cx="535739" cy="2117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23" name="直接连接符 127"/>
              <p:cNvCxnSpPr/>
              <p:nvPr/>
            </p:nvCxnSpPr>
            <p:spPr>
              <a:xfrm rot="5400000">
                <a:off x="1102355" y="954080"/>
                <a:ext cx="535794" cy="2117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24" name="直接连接符 128"/>
              <p:cNvCxnSpPr/>
              <p:nvPr/>
            </p:nvCxnSpPr>
            <p:spPr>
              <a:xfrm>
                <a:off x="503932" y="1404184"/>
                <a:ext cx="5761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8825" name="椭圆 129"/>
            <p:cNvGrpSpPr/>
            <p:nvPr/>
          </p:nvGrpSpPr>
          <p:grpSpPr>
            <a:xfrm>
              <a:off x="698317" y="698168"/>
              <a:ext cx="256245" cy="262003"/>
              <a:chOff x="0" y="0"/>
              <a:chExt cx="256032" cy="262128"/>
            </a:xfrm>
          </p:grpSpPr>
          <p:pic>
            <p:nvPicPr>
              <p:cNvPr id="28826" name="椭圆 129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827" name="文本框 25755"/>
              <p:cNvSpPr txBox="1"/>
              <p:nvPr/>
            </p:nvSpPr>
            <p:spPr>
              <a:xfrm>
                <a:off x="53213" y="53566"/>
                <a:ext cx="152537" cy="1527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8828" name="直接连接符 131"/>
            <p:cNvCxnSpPr/>
            <p:nvPr/>
          </p:nvCxnSpPr>
          <p:spPr>
            <a:xfrm rot="-5400000" flipH="1">
              <a:off x="521923" y="450037"/>
              <a:ext cx="504111" cy="359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29" name="直接连接符 133"/>
            <p:cNvCxnSpPr/>
            <p:nvPr/>
          </p:nvCxnSpPr>
          <p:spPr>
            <a:xfrm>
              <a:off x="215900" y="684104"/>
              <a:ext cx="504056" cy="1439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30" name="直接连接符 136"/>
            <p:cNvCxnSpPr/>
            <p:nvPr/>
          </p:nvCxnSpPr>
          <p:spPr>
            <a:xfrm rot="5400000" flipH="1" flipV="1">
              <a:off x="377889" y="922514"/>
              <a:ext cx="391778" cy="355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31" name="直接连接符 138"/>
            <p:cNvCxnSpPr/>
            <p:nvPr/>
          </p:nvCxnSpPr>
          <p:spPr>
            <a:xfrm rot="-5400000" flipH="1">
              <a:off x="796285" y="1012374"/>
              <a:ext cx="423406" cy="2075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32" name="直接连接符 141"/>
            <p:cNvCxnSpPr/>
            <p:nvPr/>
          </p:nvCxnSpPr>
          <p:spPr>
            <a:xfrm flipV="1">
              <a:off x="935856" y="684049"/>
              <a:ext cx="432296" cy="1440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el-GR" altLang="en-US" dirty="0">
                <a:latin typeface="Times New Roman" panose="02020603050405020304" charset="0"/>
              </a:rPr>
              <a:t>χ</a:t>
            </a:r>
            <a:r>
              <a:rPr lang="el-GR" altLang="en-US" dirty="0"/>
              <a:t>(</a:t>
            </a:r>
            <a:r>
              <a:rPr lang="en-US" altLang="zh-CN" dirty="0"/>
              <a:t>G)</a:t>
            </a:r>
            <a:r>
              <a:rPr lang="zh-CN" altLang="en-US" dirty="0"/>
              <a:t>上界</a:t>
            </a:r>
            <a:endParaRPr lang="zh-CN" altLang="en-US" dirty="0"/>
          </a:p>
        </p:txBody>
      </p:sp>
      <p:sp>
        <p:nvSpPr>
          <p:cNvPr id="30722" name="内容占位符 2"/>
          <p:cNvSpPr>
            <a:spLocks noGrp="1"/>
          </p:cNvSpPr>
          <p:nvPr>
            <p:ph idx="4294967295"/>
          </p:nvPr>
        </p:nvSpPr>
        <p:spPr>
          <a:xfrm>
            <a:off x="323850" y="1412875"/>
            <a:ext cx="8496300" cy="4968875"/>
          </a:xfrm>
        </p:spPr>
        <p:txBody>
          <a:bodyPr vert="horz" wrap="square" anchor="t" anchorCtr="0"/>
          <a:p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12.5(Brooks):</a:t>
            </a:r>
            <a:r>
              <a:rPr lang="en-US" altLang="zh-CN" dirty="0"/>
              <a:t> </a:t>
            </a:r>
            <a:r>
              <a:rPr lang="el-GR" altLang="en-US" dirty="0"/>
              <a:t>χ(</a:t>
            </a:r>
            <a:r>
              <a:rPr lang="en-US" altLang="zh-CN" dirty="0"/>
              <a:t>G) ≤ </a:t>
            </a:r>
            <a:r>
              <a:rPr lang="el-GR" altLang="en-US" dirty="0"/>
              <a:t>Δ(</a:t>
            </a:r>
            <a:r>
              <a:rPr lang="en-US" altLang="zh-CN" dirty="0"/>
              <a:t>G)+1</a:t>
            </a:r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∀</a:t>
            </a:r>
            <a:r>
              <a:rPr lang="en-US" altLang="zh-CN" i="1" dirty="0"/>
              <a:t>v</a:t>
            </a:r>
            <a:r>
              <a:rPr lang="en-US" altLang="zh-CN" dirty="0"/>
              <a:t>∈</a:t>
            </a:r>
            <a:r>
              <a:rPr lang="en-US" altLang="zh-CN" i="1" dirty="0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),</a:t>
            </a:r>
            <a:r>
              <a:rPr lang="el-GR" altLang="en-US" i="1" dirty="0"/>
              <a:t>Γ</a:t>
            </a:r>
            <a:r>
              <a:rPr lang="en-US" altLang="zh-CN" baseline="-25000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)={</a:t>
            </a:r>
            <a:r>
              <a:rPr lang="en-US" altLang="zh-CN" i="1" dirty="0"/>
              <a:t>u </a:t>
            </a:r>
            <a:r>
              <a:rPr lang="en-US" altLang="zh-CN" dirty="0"/>
              <a:t>| (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)∈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},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|Γ</a:t>
            </a:r>
            <a:r>
              <a:rPr lang="en-US" altLang="zh-CN" baseline="-25000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)|</a:t>
            </a:r>
            <a:r>
              <a:rPr lang="zh-CN" altLang="en-US" dirty="0"/>
              <a:t>≤</a:t>
            </a:r>
            <a:r>
              <a:rPr lang="en-US" altLang="zh-CN" dirty="0"/>
              <a:t>Δ(</a:t>
            </a:r>
            <a:r>
              <a:rPr lang="en-US" altLang="zh-CN" i="1" dirty="0"/>
              <a:t>G</a:t>
            </a:r>
            <a:r>
              <a:rPr lang="en-US" altLang="zh-CN" dirty="0"/>
              <a:t>), </a:t>
            </a:r>
            <a:r>
              <a:rPr lang="zh-CN" altLang="en-US" dirty="0"/>
              <a:t>给</a:t>
            </a:r>
            <a:r>
              <a:rPr lang="en-US" altLang="zh-CN" dirty="0"/>
              <a:t>Γ</a:t>
            </a:r>
            <a:r>
              <a:rPr lang="en-US" altLang="zh-CN" baseline="-25000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  <a:r>
              <a:rPr lang="zh-CN" altLang="en-US" dirty="0"/>
              <a:t>中顶点着色至多需要</a:t>
            </a:r>
            <a:r>
              <a:rPr lang="en-US" altLang="zh-CN" dirty="0"/>
              <a:t>Δ(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种颜色</a:t>
            </a:r>
            <a:r>
              <a:rPr lang="en-US" altLang="zh-CN" dirty="0"/>
              <a:t>, </a:t>
            </a:r>
            <a:r>
              <a:rPr lang="zh-CN" altLang="en-US" dirty="0"/>
              <a:t>所以至少还剩一种颜色可用来给</a:t>
            </a:r>
            <a:r>
              <a:rPr lang="en-US" altLang="zh-CN" i="1" dirty="0"/>
              <a:t>v</a:t>
            </a:r>
            <a:r>
              <a:rPr lang="zh-CN" altLang="en-US" dirty="0"/>
              <a:t>着色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12.6(Brooks):</a:t>
            </a:r>
            <a:r>
              <a:rPr lang="en-US" altLang="zh-CN" dirty="0"/>
              <a:t> </a:t>
            </a:r>
            <a:r>
              <a:rPr lang="zh-CN" altLang="en-US" dirty="0"/>
              <a:t>若连通图G不是完全图</a:t>
            </a:r>
            <a:r>
              <a:rPr lang="en-US" altLang="zh-CN" i="1" dirty="0"/>
              <a:t>K</a:t>
            </a:r>
            <a:r>
              <a:rPr lang="en-US" altLang="zh-CN" i="1" baseline="-25000" dirty="0"/>
              <a:t>n</a:t>
            </a:r>
            <a:r>
              <a:rPr lang="zh-CN" altLang="en-US" dirty="0"/>
              <a:t>也不是奇圈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l-GR" altLang="en-US" dirty="0"/>
              <a:t>χ(</a:t>
            </a:r>
            <a:r>
              <a:rPr lang="en-US" altLang="zh-CN" i="1" dirty="0"/>
              <a:t>G</a:t>
            </a:r>
            <a:r>
              <a:rPr lang="en-US" altLang="zh-CN" dirty="0"/>
              <a:t>) ≤ </a:t>
            </a:r>
            <a:r>
              <a:rPr lang="el-GR" altLang="en-US" dirty="0"/>
              <a:t>Δ(</a:t>
            </a:r>
            <a:r>
              <a:rPr lang="en-US" altLang="zh-CN" i="1" dirty="0"/>
              <a:t>G</a:t>
            </a:r>
            <a:r>
              <a:rPr lang="en-US" altLang="zh-CN" dirty="0"/>
              <a:t>). </a:t>
            </a:r>
            <a:endParaRPr lang="en-US" altLang="zh-CN" dirty="0"/>
          </a:p>
          <a:p>
            <a:endParaRPr lang="en-US" altLang="zh-CN" baseline="-25000" dirty="0"/>
          </a:p>
        </p:txBody>
      </p:sp>
      <p:sp>
        <p:nvSpPr>
          <p:cNvPr id="31747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31748" name="组合 23"/>
          <p:cNvGrpSpPr/>
          <p:nvPr/>
        </p:nvGrpSpPr>
        <p:grpSpPr>
          <a:xfrm>
            <a:off x="6443663" y="692150"/>
            <a:ext cx="1873250" cy="1512888"/>
            <a:chOff x="0" y="0"/>
            <a:chExt cx="1871960" cy="1512113"/>
          </a:xfrm>
        </p:grpSpPr>
        <p:grpSp>
          <p:nvGrpSpPr>
            <p:cNvPr id="31749" name="椭圆 5"/>
            <p:cNvGrpSpPr/>
            <p:nvPr/>
          </p:nvGrpSpPr>
          <p:grpSpPr>
            <a:xfrm>
              <a:off x="-24558" y="337901"/>
              <a:ext cx="261947" cy="261994"/>
              <a:chOff x="0" y="0"/>
              <a:chExt cx="262128" cy="262128"/>
            </a:xfrm>
          </p:grpSpPr>
          <p:pic>
            <p:nvPicPr>
              <p:cNvPr id="31750" name="椭圆 5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1751" name="文本框 28679"/>
              <p:cNvSpPr txBox="1"/>
              <p:nvPr/>
            </p:nvSpPr>
            <p:spPr>
              <a:xfrm>
                <a:off x="56215" y="53795"/>
                <a:ext cx="152769" cy="1527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52" name="椭圆 6"/>
            <p:cNvGrpSpPr/>
            <p:nvPr/>
          </p:nvGrpSpPr>
          <p:grpSpPr>
            <a:xfrm>
              <a:off x="840478" y="770495"/>
              <a:ext cx="261947" cy="261994"/>
              <a:chOff x="0" y="0"/>
              <a:chExt cx="262128" cy="262128"/>
            </a:xfrm>
          </p:grpSpPr>
          <p:pic>
            <p:nvPicPr>
              <p:cNvPr id="31753" name="椭圆 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62128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1754" name="文本框 28682"/>
              <p:cNvSpPr txBox="1"/>
              <p:nvPr/>
            </p:nvSpPr>
            <p:spPr>
              <a:xfrm>
                <a:off x="55150" y="53248"/>
                <a:ext cx="152769" cy="1527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55" name="椭圆 7"/>
            <p:cNvGrpSpPr/>
            <p:nvPr/>
          </p:nvGrpSpPr>
          <p:grpSpPr>
            <a:xfrm>
              <a:off x="194747" y="1203089"/>
              <a:ext cx="255856" cy="255901"/>
              <a:chOff x="0" y="0"/>
              <a:chExt cx="256032" cy="256032"/>
            </a:xfrm>
          </p:grpSpPr>
          <p:pic>
            <p:nvPicPr>
              <p:cNvPr id="31756" name="椭圆 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1757" name="文本框 28685"/>
              <p:cNvSpPr txBox="1"/>
              <p:nvPr/>
            </p:nvSpPr>
            <p:spPr>
              <a:xfrm>
                <a:off x="52932" y="52756"/>
                <a:ext cx="152769" cy="1527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58" name="椭圆 8"/>
            <p:cNvGrpSpPr/>
            <p:nvPr/>
          </p:nvGrpSpPr>
          <p:grpSpPr>
            <a:xfrm>
              <a:off x="858753" y="-21579"/>
              <a:ext cx="255856" cy="261994"/>
              <a:chOff x="0" y="0"/>
              <a:chExt cx="256032" cy="262128"/>
            </a:xfrm>
          </p:grpSpPr>
          <p:pic>
            <p:nvPicPr>
              <p:cNvPr id="31759" name="椭圆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6032" cy="2621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1760" name="文本框 28688"/>
              <p:cNvSpPr txBox="1"/>
              <p:nvPr/>
            </p:nvSpPr>
            <p:spPr>
              <a:xfrm>
                <a:off x="52073" y="53234"/>
                <a:ext cx="152769" cy="1527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61" name="椭圆 9"/>
            <p:cNvGrpSpPr/>
            <p:nvPr/>
          </p:nvGrpSpPr>
          <p:grpSpPr>
            <a:xfrm>
              <a:off x="1632412" y="411015"/>
              <a:ext cx="261947" cy="255901"/>
              <a:chOff x="0" y="0"/>
              <a:chExt cx="262128" cy="256032"/>
            </a:xfrm>
          </p:grpSpPr>
          <p:pic>
            <p:nvPicPr>
              <p:cNvPr id="31762" name="椭圆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62128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1763" name="文本框 28691"/>
              <p:cNvSpPr txBox="1"/>
              <p:nvPr/>
            </p:nvSpPr>
            <p:spPr>
              <a:xfrm>
                <a:off x="55304" y="52687"/>
                <a:ext cx="152769" cy="1527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64" name="椭圆 10"/>
            <p:cNvGrpSpPr/>
            <p:nvPr/>
          </p:nvGrpSpPr>
          <p:grpSpPr>
            <a:xfrm>
              <a:off x="1492301" y="1276204"/>
              <a:ext cx="255856" cy="255901"/>
              <a:chOff x="0" y="0"/>
              <a:chExt cx="256032" cy="256032"/>
            </a:xfrm>
          </p:grpSpPr>
          <p:pic>
            <p:nvPicPr>
              <p:cNvPr id="31765" name="椭圆 1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6032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1766" name="文本框 28694"/>
              <p:cNvSpPr txBox="1"/>
              <p:nvPr/>
            </p:nvSpPr>
            <p:spPr>
              <a:xfrm>
                <a:off x="51397" y="51594"/>
                <a:ext cx="152769" cy="1527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1767" name="直接连接符 12"/>
            <p:cNvCxnSpPr/>
            <p:nvPr/>
          </p:nvCxnSpPr>
          <p:spPr>
            <a:xfrm rot="5400000">
              <a:off x="652224" y="508331"/>
              <a:ext cx="679755" cy="317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68" name="直接连接符 14"/>
            <p:cNvCxnSpPr/>
            <p:nvPr/>
          </p:nvCxnSpPr>
          <p:spPr>
            <a:xfrm rot="-5400000" flipH="1">
              <a:off x="346281" y="382382"/>
              <a:ext cx="355692" cy="6796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69" name="直接连接符 16"/>
            <p:cNvCxnSpPr/>
            <p:nvPr/>
          </p:nvCxnSpPr>
          <p:spPr>
            <a:xfrm rot="5400000" flipH="1" flipV="1">
              <a:off x="508253" y="868482"/>
              <a:ext cx="279390" cy="495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70" name="直接连接符 18"/>
            <p:cNvCxnSpPr/>
            <p:nvPr/>
          </p:nvCxnSpPr>
          <p:spPr>
            <a:xfrm flipV="1">
              <a:off x="1079872" y="616389"/>
              <a:ext cx="607806" cy="2836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71" name="直接连接符 20"/>
            <p:cNvCxnSpPr/>
            <p:nvPr/>
          </p:nvCxnSpPr>
          <p:spPr>
            <a:xfrm rot="-5400000" flipH="1">
              <a:off x="1043947" y="936032"/>
              <a:ext cx="396072" cy="5401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3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67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25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/>
              <a:t>例</a:t>
            </a:r>
            <a:r>
              <a:rPr lang="en-US" altLang="zh-CN" dirty="0"/>
              <a:t>12.1(Petersen</a:t>
            </a:r>
            <a:r>
              <a:rPr lang="zh-CN" altLang="en-US" dirty="0"/>
              <a:t>图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1746" name="内容占位符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pPr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12.1</a:t>
            </a:r>
            <a:r>
              <a:rPr lang="en-US" altLang="zh-CN" dirty="0"/>
              <a:t>: </a:t>
            </a:r>
            <a:r>
              <a:rPr lang="zh-CN" altLang="en-US" dirty="0"/>
              <a:t>证明</a:t>
            </a:r>
            <a:r>
              <a:rPr lang="en-US" altLang="zh-CN" dirty="0"/>
              <a:t>Petersen</a:t>
            </a:r>
            <a:r>
              <a:rPr lang="zh-CN" altLang="en-US" dirty="0"/>
              <a:t>图</a:t>
            </a:r>
            <a:r>
              <a:rPr lang="el-GR" altLang="en-US" dirty="0"/>
              <a:t>χ=3.</a:t>
            </a:r>
            <a:endParaRPr lang="el-GR" altLang="en-US" dirty="0"/>
          </a:p>
          <a:p>
            <a:pPr>
              <a:buNone/>
            </a:pPr>
            <a:endParaRPr lang="zh-CN" altLang="en-US" dirty="0">
              <a:solidFill>
                <a:schemeClr val="hlink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en-US" altLang="zh-CN" dirty="0"/>
              <a:t>: </a:t>
            </a:r>
            <a:r>
              <a:rPr lang="zh-CN" altLang="en-US" dirty="0"/>
              <a:t>由</a:t>
            </a:r>
            <a:r>
              <a:rPr lang="en-US" altLang="zh-CN" dirty="0"/>
              <a:t>Brooks</a:t>
            </a:r>
            <a:r>
              <a:rPr lang="zh-CN" altLang="en-US" dirty="0"/>
              <a:t>定理</a:t>
            </a:r>
            <a:r>
              <a:rPr lang="en-US" altLang="zh-CN" dirty="0"/>
              <a:t>, </a:t>
            </a:r>
            <a:r>
              <a:rPr lang="el-GR" altLang="en-US" dirty="0"/>
              <a:t>χ≤Δ=3. 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又图中有奇圈</a:t>
            </a:r>
            <a:r>
              <a:rPr lang="en-US" altLang="zh-CN" dirty="0"/>
              <a:t>, </a:t>
            </a:r>
            <a:r>
              <a:rPr lang="el-GR" altLang="en-US" dirty="0"/>
              <a:t>χ≥3. </a:t>
            </a:r>
            <a:r>
              <a:rPr lang="zh-CN" altLang="en-US" dirty="0"/>
              <a:t>所以</a:t>
            </a:r>
            <a:r>
              <a:rPr lang="el-GR" altLang="en-US" dirty="0"/>
              <a:t>χ=3. </a:t>
            </a:r>
            <a:endParaRPr lang="el-GR" altLang="en-US" dirty="0"/>
          </a:p>
          <a:p>
            <a:pPr>
              <a:buNone/>
            </a:pPr>
            <a:endParaRPr lang="zh-CN" altLang="en-US" dirty="0">
              <a:solidFill>
                <a:schemeClr val="hlink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en-US" altLang="zh-CN" dirty="0"/>
              <a:t>: </a:t>
            </a:r>
            <a:r>
              <a:rPr lang="zh-CN" altLang="en-US" dirty="0"/>
              <a:t>存在如下</a:t>
            </a:r>
            <a:r>
              <a:rPr lang="en-US" altLang="zh-CN" dirty="0"/>
              <a:t>3-</a:t>
            </a:r>
            <a:r>
              <a:rPr lang="zh-CN" altLang="en-US" dirty="0"/>
              <a:t>着色</a:t>
            </a:r>
            <a:r>
              <a:rPr lang="en-US" altLang="zh-CN" dirty="0"/>
              <a:t>, χ≤Δ=3.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</a:t>
            </a:r>
            <a:r>
              <a:rPr lang="zh-CN" altLang="en-US" dirty="0"/>
              <a:t>又图中有奇圈</a:t>
            </a:r>
            <a:r>
              <a:rPr lang="en-US" altLang="zh-CN" dirty="0"/>
              <a:t>, </a:t>
            </a:r>
            <a:r>
              <a:rPr lang="el-GR" altLang="en-US" dirty="0"/>
              <a:t>χ≥3. </a:t>
            </a:r>
            <a:r>
              <a:rPr lang="zh-CN" altLang="en-US" dirty="0"/>
              <a:t>所以</a:t>
            </a:r>
            <a:r>
              <a:rPr lang="el-GR" altLang="en-US" dirty="0"/>
              <a:t>χ=3. </a:t>
            </a:r>
            <a:endParaRPr lang="zh-CN" altLang="en-US" dirty="0"/>
          </a:p>
        </p:txBody>
      </p:sp>
      <p:sp>
        <p:nvSpPr>
          <p:cNvPr id="32771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32772" name="组合 85"/>
          <p:cNvGrpSpPr/>
          <p:nvPr/>
        </p:nvGrpSpPr>
        <p:grpSpPr>
          <a:xfrm>
            <a:off x="5795963" y="1341438"/>
            <a:ext cx="2041525" cy="1800225"/>
            <a:chOff x="0" y="0"/>
            <a:chExt cx="2448272" cy="2160240"/>
          </a:xfrm>
        </p:grpSpPr>
        <p:grpSp>
          <p:nvGrpSpPr>
            <p:cNvPr id="32773" name="椭圆 6"/>
            <p:cNvGrpSpPr/>
            <p:nvPr/>
          </p:nvGrpSpPr>
          <p:grpSpPr>
            <a:xfrm>
              <a:off x="1054317" y="-22327"/>
              <a:ext cx="270490" cy="263344"/>
              <a:chOff x="0" y="0"/>
              <a:chExt cx="225552" cy="219456"/>
            </a:xfrm>
          </p:grpSpPr>
          <p:pic>
            <p:nvPicPr>
              <p:cNvPr id="32774" name="椭圆 6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25552" cy="21945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775" name="文本框 29703"/>
              <p:cNvSpPr txBox="1"/>
              <p:nvPr/>
            </p:nvSpPr>
            <p:spPr>
              <a:xfrm>
                <a:off x="47896" y="44970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776" name="椭圆 7"/>
            <p:cNvGrpSpPr/>
            <p:nvPr/>
          </p:nvGrpSpPr>
          <p:grpSpPr>
            <a:xfrm>
              <a:off x="-27644" y="621402"/>
              <a:ext cx="270490" cy="270659"/>
              <a:chOff x="0" y="0"/>
              <a:chExt cx="225552" cy="225552"/>
            </a:xfrm>
          </p:grpSpPr>
          <p:pic>
            <p:nvPicPr>
              <p:cNvPr id="32777" name="椭圆 7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25552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778" name="文本框 29706"/>
              <p:cNvSpPr txBox="1"/>
              <p:nvPr/>
            </p:nvSpPr>
            <p:spPr>
              <a:xfrm>
                <a:off x="49431" y="48590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779" name="直接连接符 43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780" name="椭圆 9"/>
            <p:cNvGrpSpPr/>
            <p:nvPr/>
          </p:nvGrpSpPr>
          <p:grpSpPr>
            <a:xfrm>
              <a:off x="2209384" y="621402"/>
              <a:ext cx="263180" cy="270659"/>
              <a:chOff x="0" y="0"/>
              <a:chExt cx="219456" cy="225552"/>
            </a:xfrm>
          </p:grpSpPr>
          <p:pic>
            <p:nvPicPr>
              <p:cNvPr id="32781" name="椭圆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19456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782" name="文本框 29710"/>
              <p:cNvSpPr txBox="1"/>
              <p:nvPr/>
            </p:nvSpPr>
            <p:spPr>
              <a:xfrm>
                <a:off x="45445" y="48590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783" name="直接连接符 46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84" name="直接连接符 48"/>
            <p:cNvCxnSpPr/>
            <p:nvPr/>
          </p:nvCxnSpPr>
          <p:spPr>
            <a:xfrm rot="-5400000" flipH="1">
              <a:off x="-324036" y="1260140"/>
              <a:ext cx="1080120" cy="2880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785" name="椭圆 12"/>
            <p:cNvGrpSpPr/>
            <p:nvPr/>
          </p:nvGrpSpPr>
          <p:grpSpPr>
            <a:xfrm>
              <a:off x="264778" y="1916174"/>
              <a:ext cx="263180" cy="270659"/>
              <a:chOff x="0" y="0"/>
              <a:chExt cx="219456" cy="225552"/>
            </a:xfrm>
          </p:grpSpPr>
          <p:pic>
            <p:nvPicPr>
              <p:cNvPr id="32786" name="椭圆 1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19456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787" name="文本框 29715"/>
              <p:cNvSpPr txBox="1"/>
              <p:nvPr/>
            </p:nvSpPr>
            <p:spPr>
              <a:xfrm>
                <a:off x="45770" y="49733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788" name="椭圆 13"/>
            <p:cNvGrpSpPr/>
            <p:nvPr/>
          </p:nvGrpSpPr>
          <p:grpSpPr>
            <a:xfrm>
              <a:off x="1916962" y="1916174"/>
              <a:ext cx="270490" cy="270659"/>
              <a:chOff x="0" y="0"/>
              <a:chExt cx="225552" cy="225552"/>
            </a:xfrm>
          </p:grpSpPr>
          <p:pic>
            <p:nvPicPr>
              <p:cNvPr id="32789" name="椭圆 13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25552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790" name="文本框 29718"/>
              <p:cNvSpPr txBox="1"/>
              <p:nvPr/>
            </p:nvSpPr>
            <p:spPr>
              <a:xfrm>
                <a:off x="49106" y="49733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791" name="直接连接符 53"/>
            <p:cNvCxnSpPr/>
            <p:nvPr/>
          </p:nvCxnSpPr>
          <p:spPr>
            <a:xfrm rot="5400000">
              <a:off x="1602178" y="1282510"/>
              <a:ext cx="1111756" cy="2116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92" name="直接连接符 55"/>
            <p:cNvCxnSpPr/>
            <p:nvPr/>
          </p:nvCxnSpPr>
          <p:spPr>
            <a:xfrm>
              <a:off x="472420" y="2016224"/>
              <a:ext cx="1471796" cy="360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793" name="椭圆 16"/>
            <p:cNvGrpSpPr/>
            <p:nvPr/>
          </p:nvGrpSpPr>
          <p:grpSpPr>
            <a:xfrm>
              <a:off x="1054317" y="621402"/>
              <a:ext cx="270490" cy="270659"/>
              <a:chOff x="0" y="0"/>
              <a:chExt cx="225552" cy="225552"/>
            </a:xfrm>
          </p:grpSpPr>
          <p:pic>
            <p:nvPicPr>
              <p:cNvPr id="32794" name="椭圆 1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25552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795" name="文本框 29723"/>
              <p:cNvSpPr txBox="1"/>
              <p:nvPr/>
            </p:nvSpPr>
            <p:spPr>
              <a:xfrm>
                <a:off x="47896" y="48590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796" name="椭圆 17"/>
            <p:cNvGrpSpPr/>
            <p:nvPr/>
          </p:nvGrpSpPr>
          <p:grpSpPr>
            <a:xfrm>
              <a:off x="476784" y="906691"/>
              <a:ext cx="270490" cy="270659"/>
              <a:chOff x="0" y="0"/>
              <a:chExt cx="225552" cy="225552"/>
            </a:xfrm>
          </p:grpSpPr>
          <p:pic>
            <p:nvPicPr>
              <p:cNvPr id="32797" name="椭圆 17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25552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798" name="文本框 29726"/>
              <p:cNvSpPr txBox="1"/>
              <p:nvPr/>
            </p:nvSpPr>
            <p:spPr>
              <a:xfrm>
                <a:off x="49121" y="50876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799" name="椭圆 18"/>
            <p:cNvGrpSpPr/>
            <p:nvPr/>
          </p:nvGrpSpPr>
          <p:grpSpPr>
            <a:xfrm>
              <a:off x="1631851" y="906691"/>
              <a:ext cx="263180" cy="270659"/>
              <a:chOff x="0" y="0"/>
              <a:chExt cx="219456" cy="225552"/>
            </a:xfrm>
          </p:grpSpPr>
          <p:pic>
            <p:nvPicPr>
              <p:cNvPr id="32800" name="椭圆 1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19456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01" name="文本框 29729"/>
              <p:cNvSpPr txBox="1"/>
              <p:nvPr/>
            </p:nvSpPr>
            <p:spPr>
              <a:xfrm>
                <a:off x="46671" y="50876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02" name="椭圆 19"/>
            <p:cNvGrpSpPr/>
            <p:nvPr/>
          </p:nvGrpSpPr>
          <p:grpSpPr>
            <a:xfrm>
              <a:off x="549890" y="1484583"/>
              <a:ext cx="270490" cy="270659"/>
              <a:chOff x="0" y="0"/>
              <a:chExt cx="225552" cy="225552"/>
            </a:xfrm>
          </p:grpSpPr>
          <p:pic>
            <p:nvPicPr>
              <p:cNvPr id="32803" name="椭圆 19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25552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04" name="文本框 29732"/>
              <p:cNvSpPr txBox="1"/>
              <p:nvPr/>
            </p:nvSpPr>
            <p:spPr>
              <a:xfrm>
                <a:off x="48206" y="49352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05" name="椭圆 20"/>
            <p:cNvGrpSpPr/>
            <p:nvPr/>
          </p:nvGrpSpPr>
          <p:grpSpPr>
            <a:xfrm>
              <a:off x="1412534" y="1484583"/>
              <a:ext cx="270490" cy="270659"/>
              <a:chOff x="0" y="0"/>
              <a:chExt cx="225552" cy="225552"/>
            </a:xfrm>
          </p:grpSpPr>
          <p:pic>
            <p:nvPicPr>
              <p:cNvPr id="32806" name="椭圆 20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25552" cy="22555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07" name="文本框 29735"/>
              <p:cNvSpPr txBox="1"/>
              <p:nvPr/>
            </p:nvSpPr>
            <p:spPr>
              <a:xfrm>
                <a:off x="49416" y="49352"/>
                <a:ext cx="127375" cy="1272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808" name="直接连接符 63"/>
            <p:cNvCxnSpPr/>
            <p:nvPr/>
          </p:nvCxnSpPr>
          <p:spPr>
            <a:xfrm rot="5400000">
              <a:off x="580432" y="1012480"/>
              <a:ext cx="711344" cy="351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09" name="直接连接符 66"/>
            <p:cNvCxnSpPr/>
            <p:nvPr/>
          </p:nvCxnSpPr>
          <p:spPr>
            <a:xfrm rot="-5400000" flipH="1">
              <a:off x="990110" y="1062118"/>
              <a:ext cx="679708" cy="2836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0" name="直接连接符 68"/>
            <p:cNvCxnSpPr/>
            <p:nvPr/>
          </p:nvCxnSpPr>
          <p:spPr>
            <a:xfrm>
              <a:off x="720080" y="1080120"/>
              <a:ext cx="751716" cy="4636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1" name="直接连接符 70"/>
            <p:cNvCxnSpPr/>
            <p:nvPr/>
          </p:nvCxnSpPr>
          <p:spPr>
            <a:xfrm>
              <a:off x="720080" y="1008112"/>
              <a:ext cx="936104" cy="360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2" name="直接连接符 72"/>
            <p:cNvCxnSpPr/>
            <p:nvPr/>
          </p:nvCxnSpPr>
          <p:spPr>
            <a:xfrm rot="5400000" flipH="1" flipV="1">
              <a:off x="958474" y="846094"/>
              <a:ext cx="499688" cy="8957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3" name="直接连接符 75"/>
            <p:cNvCxnSpPr/>
            <p:nvPr/>
          </p:nvCxnSpPr>
          <p:spPr>
            <a:xfrm rot="-5400000" flipH="1">
              <a:off x="292400" y="724448"/>
              <a:ext cx="135280" cy="351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4" name="直接连接符 77"/>
            <p:cNvCxnSpPr/>
            <p:nvPr/>
          </p:nvCxnSpPr>
          <p:spPr>
            <a:xfrm rot="5400000">
              <a:off x="972108" y="432048"/>
              <a:ext cx="4320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5" name="直接连接符 79"/>
            <p:cNvCxnSpPr/>
            <p:nvPr/>
          </p:nvCxnSpPr>
          <p:spPr>
            <a:xfrm rot="5400000" flipH="1" flipV="1">
              <a:off x="1948584" y="684076"/>
              <a:ext cx="175652" cy="3916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6" name="直接连接符 81"/>
            <p:cNvCxnSpPr/>
            <p:nvPr/>
          </p:nvCxnSpPr>
          <p:spPr>
            <a:xfrm rot="5400000" flipH="1" flipV="1">
              <a:off x="378042" y="1714558"/>
              <a:ext cx="247660" cy="2116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17" name="直接连接符 83"/>
            <p:cNvCxnSpPr/>
            <p:nvPr/>
          </p:nvCxnSpPr>
          <p:spPr>
            <a:xfrm rot="-5400000" flipH="1">
              <a:off x="1660552" y="1660552"/>
              <a:ext cx="247660" cy="3196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818" name="组合 85"/>
          <p:cNvGrpSpPr/>
          <p:nvPr/>
        </p:nvGrpSpPr>
        <p:grpSpPr>
          <a:xfrm>
            <a:off x="6018213" y="3860800"/>
            <a:ext cx="2284412" cy="2089150"/>
            <a:chOff x="0" y="0"/>
            <a:chExt cx="2448272" cy="2160240"/>
          </a:xfrm>
        </p:grpSpPr>
        <p:grpSp>
          <p:nvGrpSpPr>
            <p:cNvPr id="32819" name="椭圆 32"/>
            <p:cNvGrpSpPr/>
            <p:nvPr/>
          </p:nvGrpSpPr>
          <p:grpSpPr>
            <a:xfrm>
              <a:off x="1056823" y="-21011"/>
              <a:ext cx="261331" cy="258441"/>
              <a:chOff x="0" y="0"/>
              <a:chExt cx="243840" cy="249936"/>
            </a:xfrm>
          </p:grpSpPr>
          <p:pic>
            <p:nvPicPr>
              <p:cNvPr id="32820" name="椭圆 3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21" name="文本框 29749"/>
              <p:cNvSpPr txBox="1"/>
              <p:nvPr/>
            </p:nvSpPr>
            <p:spPr>
              <a:xfrm>
                <a:off x="51257" y="50915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22" name="椭圆 33"/>
            <p:cNvGrpSpPr/>
            <p:nvPr/>
          </p:nvGrpSpPr>
          <p:grpSpPr>
            <a:xfrm>
              <a:off x="-21166" y="628242"/>
              <a:ext cx="261331" cy="258441"/>
              <a:chOff x="0" y="0"/>
              <a:chExt cx="243840" cy="249936"/>
            </a:xfrm>
          </p:grpSpPr>
          <p:pic>
            <p:nvPicPr>
              <p:cNvPr id="32823" name="椭圆 3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24" name="文本框 29752"/>
              <p:cNvSpPr txBox="1"/>
              <p:nvPr/>
            </p:nvSpPr>
            <p:spPr>
              <a:xfrm>
                <a:off x="49268" y="49772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825" name="直接连接符 43"/>
            <p:cNvCxnSpPr/>
            <p:nvPr/>
          </p:nvCxnSpPr>
          <p:spPr>
            <a:xfrm rot="-10800000" flipV="1">
              <a:off x="184388" y="108012"/>
              <a:ext cx="895732" cy="5716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826" name="椭圆 35"/>
            <p:cNvGrpSpPr/>
            <p:nvPr/>
          </p:nvGrpSpPr>
          <p:grpSpPr>
            <a:xfrm>
              <a:off x="2206677" y="628242"/>
              <a:ext cx="267864" cy="258441"/>
              <a:chOff x="0" y="0"/>
              <a:chExt cx="249936" cy="249936"/>
            </a:xfrm>
          </p:grpSpPr>
          <p:pic>
            <p:nvPicPr>
              <p:cNvPr id="32827" name="椭圆 3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49936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28" name="文本框 29756"/>
              <p:cNvSpPr txBox="1"/>
              <p:nvPr/>
            </p:nvSpPr>
            <p:spPr>
              <a:xfrm>
                <a:off x="53378" y="49772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829" name="直接连接符 46"/>
            <p:cNvCxnSpPr/>
            <p:nvPr/>
          </p:nvCxnSpPr>
          <p:spPr>
            <a:xfrm rot="-5400000" flipH="1">
              <a:off x="1516536" y="-67640"/>
              <a:ext cx="495320" cy="9993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30" name="直接连接符 48"/>
            <p:cNvCxnSpPr/>
            <p:nvPr/>
          </p:nvCxnSpPr>
          <p:spPr>
            <a:xfrm rot="-5400000" flipH="1">
              <a:off x="-324036" y="1260140"/>
              <a:ext cx="1080120" cy="2880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831" name="椭圆 38"/>
            <p:cNvGrpSpPr/>
            <p:nvPr/>
          </p:nvGrpSpPr>
          <p:grpSpPr>
            <a:xfrm>
              <a:off x="266298" y="1920447"/>
              <a:ext cx="261331" cy="264744"/>
              <a:chOff x="0" y="0"/>
              <a:chExt cx="243840" cy="256032"/>
            </a:xfrm>
          </p:grpSpPr>
          <p:pic>
            <p:nvPicPr>
              <p:cNvPr id="32832" name="椭圆 3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43840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33" name="文本框 29761"/>
              <p:cNvSpPr txBox="1"/>
              <p:nvPr/>
            </p:nvSpPr>
            <p:spPr>
              <a:xfrm>
                <a:off x="49798" y="53582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34" name="椭圆 39"/>
            <p:cNvGrpSpPr/>
            <p:nvPr/>
          </p:nvGrpSpPr>
          <p:grpSpPr>
            <a:xfrm>
              <a:off x="1919214" y="1920447"/>
              <a:ext cx="261331" cy="264744"/>
              <a:chOff x="0" y="0"/>
              <a:chExt cx="243840" cy="256032"/>
            </a:xfrm>
          </p:grpSpPr>
          <p:pic>
            <p:nvPicPr>
              <p:cNvPr id="32835" name="椭圆 3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43840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36" name="文本框 29764"/>
              <p:cNvSpPr txBox="1"/>
              <p:nvPr/>
            </p:nvSpPr>
            <p:spPr>
              <a:xfrm>
                <a:off x="52848" y="53582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837" name="直接连接符 53"/>
            <p:cNvCxnSpPr/>
            <p:nvPr/>
          </p:nvCxnSpPr>
          <p:spPr>
            <a:xfrm rot="5400000">
              <a:off x="1602178" y="1282510"/>
              <a:ext cx="1111756" cy="2116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38" name="直接连接符 55"/>
            <p:cNvCxnSpPr/>
            <p:nvPr/>
          </p:nvCxnSpPr>
          <p:spPr>
            <a:xfrm>
              <a:off x="472420" y="2016224"/>
              <a:ext cx="1471796" cy="360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839" name="椭圆 42"/>
            <p:cNvGrpSpPr/>
            <p:nvPr/>
          </p:nvGrpSpPr>
          <p:grpSpPr>
            <a:xfrm>
              <a:off x="1056823" y="628242"/>
              <a:ext cx="261331" cy="258441"/>
              <a:chOff x="0" y="0"/>
              <a:chExt cx="243840" cy="249936"/>
            </a:xfrm>
          </p:grpSpPr>
          <p:pic>
            <p:nvPicPr>
              <p:cNvPr id="32840" name="椭圆 4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41" name="文本框 29769"/>
              <p:cNvSpPr txBox="1"/>
              <p:nvPr/>
            </p:nvSpPr>
            <p:spPr>
              <a:xfrm>
                <a:off x="51257" y="49772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42" name="椭圆 43"/>
            <p:cNvGrpSpPr/>
            <p:nvPr/>
          </p:nvGrpSpPr>
          <p:grpSpPr>
            <a:xfrm>
              <a:off x="481896" y="911897"/>
              <a:ext cx="261331" cy="264744"/>
              <a:chOff x="0" y="0"/>
              <a:chExt cx="243840" cy="256032"/>
            </a:xfrm>
          </p:grpSpPr>
          <p:pic>
            <p:nvPicPr>
              <p:cNvPr id="32843" name="椭圆 4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243840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44" name="文本框 29772"/>
              <p:cNvSpPr txBox="1"/>
              <p:nvPr/>
            </p:nvSpPr>
            <p:spPr>
              <a:xfrm>
                <a:off x="50196" y="54005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45" name="椭圆 44"/>
            <p:cNvGrpSpPr/>
            <p:nvPr/>
          </p:nvGrpSpPr>
          <p:grpSpPr>
            <a:xfrm>
              <a:off x="1631750" y="911897"/>
              <a:ext cx="261331" cy="264744"/>
              <a:chOff x="0" y="0"/>
              <a:chExt cx="243840" cy="256032"/>
            </a:xfrm>
          </p:grpSpPr>
          <p:pic>
            <p:nvPicPr>
              <p:cNvPr id="32846" name="椭圆 4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243840" cy="2560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47" name="文本框 29775"/>
              <p:cNvSpPr txBox="1"/>
              <p:nvPr/>
            </p:nvSpPr>
            <p:spPr>
              <a:xfrm>
                <a:off x="52318" y="54005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48" name="椭圆 45"/>
            <p:cNvGrpSpPr/>
            <p:nvPr/>
          </p:nvGrpSpPr>
          <p:grpSpPr>
            <a:xfrm>
              <a:off x="553762" y="1491813"/>
              <a:ext cx="261331" cy="258441"/>
              <a:chOff x="0" y="0"/>
              <a:chExt cx="243840" cy="249936"/>
            </a:xfrm>
          </p:grpSpPr>
          <p:pic>
            <p:nvPicPr>
              <p:cNvPr id="32849" name="椭圆 4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50" name="文本框 29778"/>
              <p:cNvSpPr txBox="1"/>
              <p:nvPr/>
            </p:nvSpPr>
            <p:spPr>
              <a:xfrm>
                <a:off x="50329" y="50280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51" name="椭圆 46"/>
            <p:cNvGrpSpPr/>
            <p:nvPr/>
          </p:nvGrpSpPr>
          <p:grpSpPr>
            <a:xfrm>
              <a:off x="1416152" y="1491813"/>
              <a:ext cx="261331" cy="258441"/>
              <a:chOff x="0" y="0"/>
              <a:chExt cx="243840" cy="249936"/>
            </a:xfrm>
          </p:grpSpPr>
          <p:pic>
            <p:nvPicPr>
              <p:cNvPr id="32852" name="椭圆 4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43840" cy="2499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2853" name="文本框 29781"/>
              <p:cNvSpPr txBox="1"/>
              <p:nvPr/>
            </p:nvSpPr>
            <p:spPr>
              <a:xfrm>
                <a:off x="51920" y="50280"/>
                <a:ext cx="142528" cy="147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854" name="直接连接符 63"/>
            <p:cNvCxnSpPr/>
            <p:nvPr/>
          </p:nvCxnSpPr>
          <p:spPr>
            <a:xfrm rot="5400000">
              <a:off x="580432" y="1012480"/>
              <a:ext cx="711344" cy="351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55" name="直接连接符 66"/>
            <p:cNvCxnSpPr/>
            <p:nvPr/>
          </p:nvCxnSpPr>
          <p:spPr>
            <a:xfrm rot="-5400000" flipH="1">
              <a:off x="990110" y="1062118"/>
              <a:ext cx="679708" cy="2836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56" name="直接连接符 68"/>
            <p:cNvCxnSpPr/>
            <p:nvPr/>
          </p:nvCxnSpPr>
          <p:spPr>
            <a:xfrm>
              <a:off x="720080" y="1080120"/>
              <a:ext cx="751716" cy="4636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57" name="直接连接符 70"/>
            <p:cNvCxnSpPr/>
            <p:nvPr/>
          </p:nvCxnSpPr>
          <p:spPr>
            <a:xfrm>
              <a:off x="720080" y="1008112"/>
              <a:ext cx="936104" cy="360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58" name="直接连接符 72"/>
            <p:cNvCxnSpPr/>
            <p:nvPr/>
          </p:nvCxnSpPr>
          <p:spPr>
            <a:xfrm rot="5400000" flipH="1" flipV="1">
              <a:off x="958474" y="846094"/>
              <a:ext cx="499688" cy="8957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59" name="直接连接符 75"/>
            <p:cNvCxnSpPr/>
            <p:nvPr/>
          </p:nvCxnSpPr>
          <p:spPr>
            <a:xfrm rot="-5400000" flipH="1">
              <a:off x="292400" y="724448"/>
              <a:ext cx="135280" cy="3513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60" name="直接连接符 77"/>
            <p:cNvCxnSpPr/>
            <p:nvPr/>
          </p:nvCxnSpPr>
          <p:spPr>
            <a:xfrm rot="5400000">
              <a:off x="972108" y="432048"/>
              <a:ext cx="4320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61" name="直接连接符 79"/>
            <p:cNvCxnSpPr/>
            <p:nvPr/>
          </p:nvCxnSpPr>
          <p:spPr>
            <a:xfrm rot="5400000" flipH="1" flipV="1">
              <a:off x="1948584" y="684076"/>
              <a:ext cx="175652" cy="3916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62" name="直接连接符 81"/>
            <p:cNvCxnSpPr/>
            <p:nvPr/>
          </p:nvCxnSpPr>
          <p:spPr>
            <a:xfrm rot="5400000" flipH="1" flipV="1">
              <a:off x="378042" y="1714558"/>
              <a:ext cx="247660" cy="2116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63" name="直接连接符 83"/>
            <p:cNvCxnSpPr/>
            <p:nvPr/>
          </p:nvCxnSpPr>
          <p:spPr>
            <a:xfrm rot="-5400000" flipH="1">
              <a:off x="1660552" y="1660552"/>
              <a:ext cx="247660" cy="3196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46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6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Title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en-US" altLang="zh-CN" dirty="0"/>
              <a:t>Frequency Assignments</a:t>
            </a:r>
            <a:endParaRPr lang="en-US" altLang="zh-CN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问题</a:t>
            </a:r>
            <a:r>
              <a:rPr lang="zh-CN" altLang="en-US" dirty="0"/>
              <a:t>：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将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</a:rPr>
              <a:t>2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到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</a:rPr>
              <a:t>13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电视频道分配给北美各州，使得相距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</a:rPr>
              <a:t>150 miles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内的两州用不同的频道</a:t>
            </a:r>
            <a:endParaRPr lang="en-US" altLang="zh-CN" dirty="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en-US" altLang="zh-CN" i="1" dirty="0"/>
              <a:t>Solution</a:t>
            </a:r>
            <a:r>
              <a:rPr lang="en-US" altLang="zh-CN" dirty="0"/>
              <a:t>:</a:t>
            </a:r>
            <a:r>
              <a:rPr lang="zh-CN" altLang="en-US" dirty="0"/>
              <a:t>每个州用顶点表示，如果两州相距</a:t>
            </a:r>
            <a:r>
              <a:rPr lang="en-US" altLang="zh-CN" dirty="0"/>
              <a:t>150miles</a:t>
            </a:r>
            <a:r>
              <a:rPr lang="zh-CN" altLang="en-US" dirty="0"/>
              <a:t>内，这两个州之间有边相连，颜色代表频道。</a:t>
            </a:r>
            <a:endParaRPr lang="en-US" altLang="zh-CN" dirty="0"/>
          </a:p>
        </p:txBody>
      </p:sp>
      <p:sp>
        <p:nvSpPr>
          <p:cNvPr id="35843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charRg st="4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Title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>
                <a:solidFill>
                  <a:srgbClr val="FF0000"/>
                </a:solidFill>
              </a:rPr>
              <a:t>课堂测试：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问题</a:t>
            </a:r>
            <a:r>
              <a:rPr lang="zh-CN" altLang="en-US" dirty="0"/>
              <a:t>：安排期末考试，使得没有学生在同一考试时间段有两场考试</a:t>
            </a:r>
            <a:r>
              <a:rPr lang="en-US" altLang="zh-CN" dirty="0"/>
              <a:t>,</a:t>
            </a:r>
            <a:r>
              <a:rPr lang="zh-CN" altLang="en-US" dirty="0"/>
              <a:t>问至少安排几个时间段进行考试？</a:t>
            </a:r>
            <a:endParaRPr lang="en-US" altLang="zh-CN" dirty="0"/>
          </a:p>
          <a:p>
            <a:pPr>
              <a:buNone/>
            </a:pPr>
            <a:r>
              <a:rPr lang="zh-CN" altLang="en-US" dirty="0">
                <a:solidFill>
                  <a:schemeClr val="tx2"/>
                </a:solidFill>
              </a:rPr>
              <a:t>例如：</a:t>
            </a:r>
            <a:r>
              <a:rPr lang="en-US" altLang="zh-CN" dirty="0">
                <a:solidFill>
                  <a:schemeClr val="tx2"/>
                </a:solidFill>
              </a:rPr>
              <a:t>7</a:t>
            </a:r>
            <a:r>
              <a:rPr lang="zh-CN" altLang="en-US" dirty="0">
                <a:solidFill>
                  <a:schemeClr val="tx2"/>
                </a:solidFill>
              </a:rPr>
              <a:t>门课程要期末考试，有共同学生参加考试的</a:t>
            </a:r>
            <a:endParaRPr lang="en-US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chemeClr val="tx2"/>
                </a:solidFill>
              </a:rPr>
              <a:t>课程如下：</a:t>
            </a:r>
            <a:r>
              <a:rPr lang="en-US" altLang="zh-CN" dirty="0">
                <a:solidFill>
                  <a:schemeClr val="tx2"/>
                </a:solidFill>
              </a:rPr>
              <a:t>(1,2),(1,3),(1,4),(1,7),(2,3),(2,4),(2,5),(2,7),(3,4),(3,6),(3,7),(4,5),(4,6),(5,6),(5,7),(6,7)</a:t>
            </a:r>
            <a:endParaRPr lang="en-US" altLang="zh-CN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i="1" dirty="0">
                <a:noFill/>
                <a:sym typeface="+mn-ea"/>
              </a:rPr>
              <a:t>Solution</a:t>
            </a:r>
            <a:r>
              <a:rPr lang="en-US" altLang="zh-CN" dirty="0">
                <a:noFill/>
                <a:sym typeface="+mn-ea"/>
              </a:rPr>
              <a:t>: </a:t>
            </a:r>
            <a:r>
              <a:rPr lang="zh-CN" altLang="en-US" dirty="0">
                <a:noFill/>
                <a:sym typeface="+mn-ea"/>
              </a:rPr>
              <a:t>顶点表示课程，边表示两个顶点代表的课程有共同的学生参加考试，颜色代表考试时间段，点色数代表时间段个数。</a:t>
            </a:r>
            <a:endParaRPr lang="en-US" altLang="zh-CN" dirty="0">
              <a:noFill/>
            </a:endParaRPr>
          </a:p>
          <a:p>
            <a:pPr>
              <a:buNone/>
            </a:pPr>
            <a:endParaRPr lang="en-US" altLang="zh-CN" dirty="0">
              <a:noFill/>
            </a:endParaRPr>
          </a:p>
        </p:txBody>
      </p:sp>
      <p:sp>
        <p:nvSpPr>
          <p:cNvPr id="34819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8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106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/>
              <a:t>定理</a:t>
            </a:r>
            <a:r>
              <a:rPr lang="en-US" altLang="zh-CN" dirty="0"/>
              <a:t>12.7</a:t>
            </a:r>
            <a:endParaRPr lang="zh-CN" altLang="en-US" dirty="0"/>
          </a:p>
        </p:txBody>
      </p:sp>
      <p:sp>
        <p:nvSpPr>
          <p:cNvPr id="30722" name="内容占位符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12.7</a:t>
            </a:r>
            <a:r>
              <a:rPr lang="en-US" altLang="zh-CN" dirty="0"/>
              <a:t>: </a:t>
            </a:r>
            <a:r>
              <a:rPr lang="zh-CN" altLang="en-US" dirty="0"/>
              <a:t>对图</a:t>
            </a:r>
            <a:r>
              <a:rPr lang="en-US" altLang="zh-CN" dirty="0"/>
              <a:t>G</a:t>
            </a:r>
            <a:r>
              <a:rPr lang="zh-CN" altLang="en-US" dirty="0"/>
              <a:t>进行</a:t>
            </a:r>
            <a:r>
              <a:rPr lang="en-US" altLang="zh-CN" dirty="0"/>
              <a:t>χ(G)-</a:t>
            </a:r>
            <a:r>
              <a:rPr lang="zh-CN" altLang="en-US" dirty="0"/>
              <a:t>着色</a:t>
            </a:r>
            <a:r>
              <a:rPr lang="en-US" altLang="zh-CN" dirty="0"/>
              <a:t>,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={</a:t>
            </a:r>
            <a:r>
              <a:rPr lang="en-US" altLang="zh-CN" i="1" dirty="0"/>
              <a:t>v</a:t>
            </a:r>
            <a:r>
              <a:rPr lang="en-US" altLang="zh-CN" dirty="0"/>
              <a:t>|</a:t>
            </a:r>
            <a:r>
              <a:rPr lang="en-US" altLang="zh-CN" i="1" dirty="0"/>
              <a:t>v</a:t>
            </a:r>
            <a:r>
              <a:rPr lang="en-US" altLang="zh-CN" dirty="0"/>
              <a:t>∈</a:t>
            </a:r>
            <a:r>
              <a:rPr lang="en-US" altLang="zh-CN" i="1" dirty="0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)∧</a:t>
            </a:r>
            <a:r>
              <a:rPr lang="en-US" altLang="zh-CN" i="1" dirty="0"/>
              <a:t>v</a:t>
            </a:r>
            <a:r>
              <a:rPr lang="zh-CN" altLang="en-US" dirty="0"/>
              <a:t>着颜色</a:t>
            </a:r>
            <a:r>
              <a:rPr lang="en-US" altLang="zh-CN" i="1" dirty="0"/>
              <a:t>i</a:t>
            </a:r>
            <a:r>
              <a:rPr lang="en-US" altLang="zh-CN" dirty="0"/>
              <a:t>}, </a:t>
            </a:r>
            <a:r>
              <a:rPr lang="en-US" altLang="zh-CN" i="1" dirty="0"/>
              <a:t>i</a:t>
            </a:r>
            <a:r>
              <a:rPr lang="en-US" altLang="zh-CN" dirty="0"/>
              <a:t>=1,2,…, </a:t>
            </a:r>
            <a:r>
              <a:rPr lang="el-GR" altLang="en-US" dirty="0"/>
              <a:t>χ(</a:t>
            </a:r>
            <a:r>
              <a:rPr lang="en-US" altLang="zh-CN" i="1" dirty="0"/>
              <a:t>G</a:t>
            </a:r>
            <a:r>
              <a:rPr lang="en-US" altLang="zh-CN" dirty="0"/>
              <a:t>),</a:t>
            </a:r>
            <a:r>
              <a:rPr lang="zh-CN" altLang="en-US" dirty="0"/>
              <a:t>则</a:t>
            </a:r>
            <a:r>
              <a:rPr lang="el-GR" altLang="en-US" i="1" dirty="0"/>
              <a:t>Π</a:t>
            </a:r>
            <a:r>
              <a:rPr lang="el-GR" altLang="en-US" dirty="0"/>
              <a:t>={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/>
              <a:t>V</a:t>
            </a:r>
            <a:r>
              <a:rPr lang="el-GR" altLang="en-US" baseline="-25000" dirty="0"/>
              <a:t>χ(</a:t>
            </a:r>
            <a:r>
              <a:rPr lang="en-US" altLang="zh-CN" i="1" baseline="-25000" dirty="0"/>
              <a:t>G</a:t>
            </a:r>
            <a:r>
              <a:rPr lang="en-US" altLang="zh-CN" baseline="-25000" dirty="0"/>
              <a:t>)</a:t>
            </a:r>
            <a:r>
              <a:rPr lang="en-US" altLang="zh-CN" dirty="0"/>
              <a:t>}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的划分</a:t>
            </a:r>
            <a:r>
              <a:rPr lang="en-US" altLang="zh-CN" dirty="0"/>
              <a:t>. </a:t>
            </a:r>
            <a:endParaRPr lang="en-US" altLang="zh-CN" dirty="0"/>
          </a:p>
          <a:p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12.7</a:t>
            </a:r>
            <a:r>
              <a:rPr lang="en-US" altLang="zh-CN" dirty="0">
                <a:solidFill>
                  <a:schemeClr val="hlink"/>
                </a:solidFill>
                <a:latin typeface="Tahoma" panose="020B0604030504040204" charset="0"/>
              </a:rPr>
              <a:t>’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zh-CN" altLang="en-US" dirty="0"/>
              <a:t>对图</a:t>
            </a:r>
            <a:r>
              <a:rPr lang="en-US" altLang="zh-CN" i="1" dirty="0"/>
              <a:t>G</a:t>
            </a:r>
            <a:r>
              <a:rPr lang="zh-CN" altLang="en-US" dirty="0"/>
              <a:t>进行</a:t>
            </a:r>
            <a:r>
              <a:rPr lang="en-US" altLang="zh-CN" dirty="0"/>
              <a:t>χ(</a:t>
            </a:r>
            <a:r>
              <a:rPr lang="en-US" altLang="zh-CN" i="1" dirty="0"/>
              <a:t>G</a:t>
            </a:r>
            <a:r>
              <a:rPr lang="en-US" altLang="zh-CN" dirty="0"/>
              <a:t>)-</a:t>
            </a:r>
            <a:r>
              <a:rPr lang="zh-CN" altLang="en-US" dirty="0"/>
              <a:t>着色</a:t>
            </a:r>
            <a:r>
              <a:rPr lang="en-US" altLang="zh-CN" dirty="0"/>
              <a:t>,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en-US" altLang="zh-CN" dirty="0"/>
              <a:t>={&lt;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&gt;| 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/>
              <a:t>∈</a:t>
            </a:r>
            <a:r>
              <a:rPr lang="en-US" altLang="zh-CN" i="1" dirty="0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)∧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zh-CN" altLang="en-US" dirty="0"/>
              <a:t>着同样颜色</a:t>
            </a:r>
            <a:r>
              <a:rPr lang="en-US" altLang="zh-CN" dirty="0"/>
              <a:t>}, </a:t>
            </a:r>
            <a:r>
              <a:rPr lang="zh-CN" altLang="en-US" dirty="0"/>
              <a:t>则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zh-CN" altLang="en-US" dirty="0"/>
              <a:t>上等价关系</a:t>
            </a:r>
            <a:r>
              <a:rPr lang="en-US" altLang="zh-CN" dirty="0"/>
              <a:t>.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0723" name="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Title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>
                <a:solidFill>
                  <a:srgbClr val="FF0000"/>
                </a:solidFill>
              </a:rPr>
              <a:t>课后作业一：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6866" name="Content Placeholder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pPr rtl="0"/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问题：在有效编译器中，当使用频率较高的变量存储在中央存储器的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</a:rPr>
              <a:t>Index 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寄存器中时，循环的执行效率最高。给定一个循环，最少需要多少</a:t>
            </a:r>
            <a:r>
              <a:rPr lang="en-US" altLang="zh-CN" dirty="0">
                <a:latin typeface="华文楷体" panose="02010600040101010101" charset="-122"/>
                <a:ea typeface="华文楷体" panose="02010600040101010101" charset="-122"/>
              </a:rPr>
              <a:t>Index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</a:rPr>
              <a:t>寄存器？</a:t>
            </a:r>
            <a:endParaRPr lang="en-US" altLang="zh-CN" dirty="0">
              <a:latin typeface="华文楷体" panose="02010600040101010101" charset="-122"/>
              <a:ea typeface="华文楷体" panose="02010600040101010101" charset="-122"/>
            </a:endParaRPr>
          </a:p>
          <a:p>
            <a:pPr rtl="0"/>
            <a:endParaRPr lang="en-US" altLang="zh-CN" dirty="0"/>
          </a:p>
        </p:txBody>
      </p:sp>
      <p:sp>
        <p:nvSpPr>
          <p:cNvPr id="36867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1"/>
          <p:cNvSpPr>
            <a:spLocks noGrp="1"/>
          </p:cNvSpPr>
          <p:nvPr>
            <p:ph type="title" idx="4294967295"/>
          </p:nvPr>
        </p:nvSpPr>
        <p:spPr/>
        <p:txBody>
          <a:bodyPr vert="horz" wrap="square" anchor="b" anchorCtr="0"/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课后</a:t>
            </a:r>
            <a:r>
              <a:rPr lang="zh-CN" altLang="en-US">
                <a:solidFill>
                  <a:srgbClr val="FF0000"/>
                </a:solidFill>
              </a:rPr>
              <a:t>作业二：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7890" name="内容占位符 2"/>
          <p:cNvSpPr>
            <a:spLocks noGrp="1"/>
          </p:cNvSpPr>
          <p:nvPr>
            <p:ph idx="4294967295"/>
          </p:nvPr>
        </p:nvSpPr>
        <p:spPr/>
        <p:txBody>
          <a:bodyPr vert="horz" wrap="square" anchor="t" anchorCtr="0"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dirty="0"/>
              <a:t>如果一个连通图</a:t>
            </a:r>
            <a:r>
              <a:rPr lang="en-US" altLang="zh-CN" dirty="0"/>
              <a:t>G</a:t>
            </a:r>
            <a:r>
              <a:rPr lang="zh-CN" altLang="en-US" dirty="0"/>
              <a:t>的色数是</a:t>
            </a:r>
            <a:r>
              <a:rPr lang="en-US" altLang="zh-CN" i="1" dirty="0"/>
              <a:t>k</a:t>
            </a:r>
            <a:r>
              <a:rPr lang="zh-CN" altLang="en-US" dirty="0"/>
              <a:t>，但对于</a:t>
            </a:r>
            <a:r>
              <a:rPr lang="en-US" altLang="zh-CN" dirty="0"/>
              <a:t>G</a:t>
            </a:r>
            <a:r>
              <a:rPr lang="zh-CN" altLang="en-US" dirty="0"/>
              <a:t>的任意一条边</a:t>
            </a:r>
            <a:r>
              <a:rPr lang="en-US" altLang="zh-CN" i="1" dirty="0"/>
              <a:t>e</a:t>
            </a:r>
            <a:r>
              <a:rPr lang="zh-CN" altLang="en-US" dirty="0"/>
              <a:t>，从</a:t>
            </a:r>
            <a:r>
              <a:rPr lang="en-US" altLang="zh-CN" dirty="0"/>
              <a:t>G</a:t>
            </a:r>
            <a:r>
              <a:rPr lang="zh-CN" altLang="en-US" dirty="0"/>
              <a:t>中删掉边</a:t>
            </a:r>
            <a:r>
              <a:rPr lang="en-US" altLang="zh-CN" dirty="0"/>
              <a:t>e</a:t>
            </a:r>
            <a:r>
              <a:rPr lang="zh-CN" altLang="en-US" dirty="0"/>
              <a:t>后得到的新图的色数都是</a:t>
            </a:r>
            <a:r>
              <a:rPr lang="en-US" altLang="zh-CN" i="1" dirty="0"/>
              <a:t>k</a:t>
            </a:r>
            <a:r>
              <a:rPr lang="en-US" altLang="zh-CN" dirty="0"/>
              <a:t>-1</a:t>
            </a:r>
            <a:r>
              <a:rPr lang="zh-CN" altLang="en-US" dirty="0"/>
              <a:t>，则称</a:t>
            </a:r>
            <a:r>
              <a:rPr lang="en-US" altLang="zh-CN" dirty="0"/>
              <a:t>G</a:t>
            </a:r>
            <a:r>
              <a:rPr lang="zh-CN" altLang="en-US" dirty="0"/>
              <a:t>为着色</a:t>
            </a:r>
            <a:r>
              <a:rPr lang="en-US" altLang="zh-CN" i="1" dirty="0"/>
              <a:t>k</a:t>
            </a:r>
            <a:r>
              <a:rPr lang="zh-CN" altLang="en-US" dirty="0"/>
              <a:t>关键的。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dirty="0"/>
              <a:t>1.</a:t>
            </a:r>
            <a:r>
              <a:rPr lang="zh-CN" altLang="en-US" dirty="0"/>
              <a:t> 在</a:t>
            </a:r>
            <a:r>
              <a:rPr lang="en-US" altLang="zh-CN" i="1" dirty="0"/>
              <a:t>n</a:t>
            </a:r>
            <a:r>
              <a:rPr lang="zh-CN" altLang="en-US" dirty="0"/>
              <a:t>满足什么条件下， </a:t>
            </a:r>
            <a:r>
              <a:rPr lang="en-US" altLang="zh-CN" dirty="0"/>
              <a:t>C</a:t>
            </a:r>
            <a:r>
              <a:rPr lang="en-US" altLang="zh-CN" i="1" baseline="-25000" dirty="0"/>
              <a:t>n</a:t>
            </a:r>
            <a:r>
              <a:rPr lang="zh-CN" altLang="en-US" dirty="0"/>
              <a:t>是着色</a:t>
            </a:r>
            <a:r>
              <a:rPr lang="en-US" altLang="zh-CN" dirty="0"/>
              <a:t>3</a:t>
            </a:r>
            <a:r>
              <a:rPr lang="zh-CN" altLang="en-US" dirty="0"/>
              <a:t>关键的？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dirty="0"/>
              <a:t>2.</a:t>
            </a:r>
            <a:r>
              <a:rPr lang="zh-CN" altLang="en-US" dirty="0"/>
              <a:t>在</a:t>
            </a:r>
            <a:r>
              <a:rPr lang="en-US" altLang="zh-CN" i="1" dirty="0"/>
              <a:t>n</a:t>
            </a:r>
            <a:r>
              <a:rPr lang="zh-CN" altLang="en-US" dirty="0"/>
              <a:t>满足什么条件下， </a:t>
            </a:r>
            <a:r>
              <a:rPr lang="en-US" altLang="zh-CN" dirty="0"/>
              <a:t>W</a:t>
            </a:r>
            <a:r>
              <a:rPr lang="en-US" altLang="zh-CN" i="1" baseline="-25000" dirty="0"/>
              <a:t>n</a:t>
            </a:r>
            <a:r>
              <a:rPr lang="zh-CN" altLang="en-US" dirty="0"/>
              <a:t>是着色</a:t>
            </a:r>
            <a:r>
              <a:rPr lang="en-US" altLang="zh-CN" dirty="0"/>
              <a:t>4</a:t>
            </a:r>
            <a:r>
              <a:rPr lang="zh-CN" altLang="en-US" dirty="0"/>
              <a:t>关键的？</a:t>
            </a:r>
            <a:endParaRPr lang="en-US" altLang="zh-CN" dirty="0"/>
          </a:p>
        </p:txBody>
      </p:sp>
      <p:sp>
        <p:nvSpPr>
          <p:cNvPr id="37892" name="幻灯片编号占位符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/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720725"/>
          </a:xfrm>
        </p:spPr>
        <p:txBody>
          <a:bodyPr vert="horz" wrap="square" lIns="91440" tIns="45720" rIns="91440" bIns="45720" anchor="t" anchorCtr="0"/>
          <a:p>
            <a:pPr algn="l"/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课后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作业三：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</a:rPr>
              <a:t> 求下列图的点色数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38914" name="Rectangle 4"/>
          <p:cNvSpPr/>
          <p:nvPr/>
        </p:nvSpPr>
        <p:spPr>
          <a:xfrm>
            <a:off x="323850" y="4653280"/>
            <a:ext cx="8496300" cy="15068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 i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课后作业</a:t>
            </a:r>
            <a:r>
              <a:rPr lang="zh-CN" altLang="en-US" sz="2800" i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四：</a:t>
            </a:r>
            <a:endParaRPr lang="zh-CN" altLang="en-US" sz="2800" i="0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eaLnBrk="0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en-US" altLang="zh-CN" sz="2800" i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    </a:t>
            </a:r>
            <a:r>
              <a:rPr lang="zh-CN" altLang="en-US" sz="2800" i="0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</a:rPr>
              <a:t>习题十二</a:t>
            </a:r>
            <a:r>
              <a:rPr lang="en-US" altLang="zh-CN" sz="2800" i="0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</a:rPr>
              <a:t>,P189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5,7,8</a:t>
            </a:r>
            <a:endParaRPr lang="zh-CN" altLang="en-US" sz="2800" i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38915" name="Group 28"/>
          <p:cNvGrpSpPr/>
          <p:nvPr/>
        </p:nvGrpSpPr>
        <p:grpSpPr>
          <a:xfrm>
            <a:off x="611188" y="2133600"/>
            <a:ext cx="2016125" cy="1871663"/>
            <a:chOff x="793" y="1344"/>
            <a:chExt cx="1270" cy="1179"/>
          </a:xfrm>
        </p:grpSpPr>
        <p:grpSp>
          <p:nvGrpSpPr>
            <p:cNvPr id="38916" name="Group 24"/>
            <p:cNvGrpSpPr/>
            <p:nvPr/>
          </p:nvGrpSpPr>
          <p:grpSpPr>
            <a:xfrm>
              <a:off x="793" y="1344"/>
              <a:ext cx="1270" cy="1179"/>
              <a:chOff x="793" y="1344"/>
              <a:chExt cx="1270" cy="1179"/>
            </a:xfrm>
          </p:grpSpPr>
          <p:sp>
            <p:nvSpPr>
              <p:cNvPr id="38917" name="Line 15"/>
              <p:cNvSpPr/>
              <p:nvPr/>
            </p:nvSpPr>
            <p:spPr>
              <a:xfrm>
                <a:off x="1519" y="1480"/>
                <a:ext cx="0" cy="49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18" name="Oval 6"/>
              <p:cNvSpPr/>
              <p:nvPr/>
            </p:nvSpPr>
            <p:spPr>
              <a:xfrm>
                <a:off x="1438" y="1661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9" name="Oval 7"/>
              <p:cNvSpPr/>
              <p:nvPr/>
            </p:nvSpPr>
            <p:spPr>
              <a:xfrm>
                <a:off x="793" y="2337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20" name="Oval 8"/>
              <p:cNvSpPr/>
              <p:nvPr/>
            </p:nvSpPr>
            <p:spPr>
              <a:xfrm>
                <a:off x="1438" y="197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21" name="Oval 9"/>
              <p:cNvSpPr/>
              <p:nvPr/>
            </p:nvSpPr>
            <p:spPr>
              <a:xfrm>
                <a:off x="1438" y="134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22" name="Oval 10"/>
              <p:cNvSpPr/>
              <p:nvPr/>
            </p:nvSpPr>
            <p:spPr>
              <a:xfrm>
                <a:off x="1927" y="2387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23" name="Line 11"/>
              <p:cNvSpPr/>
              <p:nvPr/>
            </p:nvSpPr>
            <p:spPr>
              <a:xfrm flipH="1" flipV="1">
                <a:off x="930" y="2432"/>
                <a:ext cx="1043" cy="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4" name="Line 12"/>
              <p:cNvSpPr/>
              <p:nvPr/>
            </p:nvSpPr>
            <p:spPr>
              <a:xfrm flipV="1">
                <a:off x="930" y="2069"/>
                <a:ext cx="544" cy="31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5" name="Line 13"/>
              <p:cNvSpPr/>
              <p:nvPr/>
            </p:nvSpPr>
            <p:spPr>
              <a:xfrm flipH="1" flipV="1">
                <a:off x="1556" y="2087"/>
                <a:ext cx="408" cy="31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6" name="Line 14"/>
              <p:cNvSpPr/>
              <p:nvPr/>
            </p:nvSpPr>
            <p:spPr>
              <a:xfrm flipV="1">
                <a:off x="884" y="1434"/>
                <a:ext cx="590" cy="95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7" name="Line 21"/>
              <p:cNvSpPr/>
              <p:nvPr/>
            </p:nvSpPr>
            <p:spPr>
              <a:xfrm flipH="1" flipV="1">
                <a:off x="1565" y="1434"/>
                <a:ext cx="453" cy="95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8" name="Oval 22"/>
              <p:cNvSpPr/>
              <p:nvPr/>
            </p:nvSpPr>
            <p:spPr>
              <a:xfrm>
                <a:off x="1701" y="2205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29" name="Oval 23"/>
              <p:cNvSpPr/>
              <p:nvPr/>
            </p:nvSpPr>
            <p:spPr>
              <a:xfrm>
                <a:off x="1156" y="216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8930" name="Line 25"/>
            <p:cNvSpPr/>
            <p:nvPr/>
          </p:nvSpPr>
          <p:spPr>
            <a:xfrm flipH="1">
              <a:off x="1247" y="1797"/>
              <a:ext cx="227" cy="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1" name="Line 26"/>
            <p:cNvSpPr/>
            <p:nvPr/>
          </p:nvSpPr>
          <p:spPr>
            <a:xfrm>
              <a:off x="1565" y="1752"/>
              <a:ext cx="226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2" name="Line 27"/>
            <p:cNvSpPr/>
            <p:nvPr/>
          </p:nvSpPr>
          <p:spPr>
            <a:xfrm>
              <a:off x="1292" y="2251"/>
              <a:ext cx="4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8933" name="Group 46"/>
          <p:cNvGrpSpPr/>
          <p:nvPr/>
        </p:nvGrpSpPr>
        <p:grpSpPr>
          <a:xfrm>
            <a:off x="3952875" y="2378075"/>
            <a:ext cx="1785938" cy="1800225"/>
            <a:chOff x="2490" y="1498"/>
            <a:chExt cx="1125" cy="1134"/>
          </a:xfrm>
        </p:grpSpPr>
        <p:sp>
          <p:nvSpPr>
            <p:cNvPr id="38934" name="Line 36"/>
            <p:cNvSpPr/>
            <p:nvPr/>
          </p:nvSpPr>
          <p:spPr>
            <a:xfrm flipV="1">
              <a:off x="2608" y="1616"/>
              <a:ext cx="862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5" name="Oval 29"/>
            <p:cNvSpPr/>
            <p:nvPr/>
          </p:nvSpPr>
          <p:spPr>
            <a:xfrm>
              <a:off x="2490" y="1498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36" name="Line 30"/>
            <p:cNvSpPr/>
            <p:nvPr/>
          </p:nvSpPr>
          <p:spPr>
            <a:xfrm>
              <a:off x="2608" y="1616"/>
              <a:ext cx="907" cy="90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37" name="Oval 31"/>
            <p:cNvSpPr/>
            <p:nvPr/>
          </p:nvSpPr>
          <p:spPr>
            <a:xfrm>
              <a:off x="3479" y="24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38" name="Oval 32"/>
            <p:cNvSpPr/>
            <p:nvPr/>
          </p:nvSpPr>
          <p:spPr>
            <a:xfrm>
              <a:off x="2744" y="1752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39" name="Oval 33"/>
            <p:cNvSpPr/>
            <p:nvPr/>
          </p:nvSpPr>
          <p:spPr>
            <a:xfrm>
              <a:off x="2971" y="1979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40" name="Oval 34"/>
            <p:cNvSpPr/>
            <p:nvPr/>
          </p:nvSpPr>
          <p:spPr>
            <a:xfrm>
              <a:off x="3243" y="225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41" name="Oval 35"/>
            <p:cNvSpPr/>
            <p:nvPr/>
          </p:nvSpPr>
          <p:spPr>
            <a:xfrm>
              <a:off x="2490" y="2441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42" name="Oval 37"/>
            <p:cNvSpPr/>
            <p:nvPr/>
          </p:nvSpPr>
          <p:spPr>
            <a:xfrm>
              <a:off x="3424" y="152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43" name="Line 38"/>
            <p:cNvSpPr/>
            <p:nvPr/>
          </p:nvSpPr>
          <p:spPr>
            <a:xfrm>
              <a:off x="2517" y="1616"/>
              <a:ext cx="0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4" name="Line 39"/>
            <p:cNvSpPr/>
            <p:nvPr/>
          </p:nvSpPr>
          <p:spPr>
            <a:xfrm>
              <a:off x="2608" y="1525"/>
              <a:ext cx="862" cy="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5" name="Line 40"/>
            <p:cNvSpPr/>
            <p:nvPr/>
          </p:nvSpPr>
          <p:spPr>
            <a:xfrm flipH="1">
              <a:off x="2562" y="1888"/>
              <a:ext cx="227" cy="5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6" name="Line 41"/>
            <p:cNvSpPr/>
            <p:nvPr/>
          </p:nvSpPr>
          <p:spPr>
            <a:xfrm flipV="1">
              <a:off x="2880" y="1570"/>
              <a:ext cx="590" cy="22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7" name="Line 42"/>
            <p:cNvSpPr/>
            <p:nvPr/>
          </p:nvSpPr>
          <p:spPr>
            <a:xfrm flipV="1">
              <a:off x="2608" y="2341"/>
              <a:ext cx="635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8" name="Line 44"/>
            <p:cNvSpPr/>
            <p:nvPr/>
          </p:nvSpPr>
          <p:spPr>
            <a:xfrm>
              <a:off x="2608" y="2523"/>
              <a:ext cx="907" cy="4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9" name="Line 45"/>
            <p:cNvSpPr/>
            <p:nvPr/>
          </p:nvSpPr>
          <p:spPr>
            <a:xfrm>
              <a:off x="3515" y="1661"/>
              <a:ext cx="45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8950" name="Group 64"/>
          <p:cNvGrpSpPr/>
          <p:nvPr/>
        </p:nvGrpSpPr>
        <p:grpSpPr>
          <a:xfrm>
            <a:off x="6696075" y="2205038"/>
            <a:ext cx="2003425" cy="1836737"/>
            <a:chOff x="4218" y="1389"/>
            <a:chExt cx="1262" cy="1157"/>
          </a:xfrm>
        </p:grpSpPr>
        <p:sp>
          <p:nvSpPr>
            <p:cNvPr id="38951" name="Line 56"/>
            <p:cNvSpPr/>
            <p:nvPr/>
          </p:nvSpPr>
          <p:spPr>
            <a:xfrm>
              <a:off x="4649" y="1797"/>
              <a:ext cx="136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52" name="Line 57"/>
            <p:cNvSpPr/>
            <p:nvPr/>
          </p:nvSpPr>
          <p:spPr>
            <a:xfrm flipV="1">
              <a:off x="4830" y="1797"/>
              <a:ext cx="137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53" name="Line 58"/>
            <p:cNvSpPr/>
            <p:nvPr/>
          </p:nvSpPr>
          <p:spPr>
            <a:xfrm flipV="1">
              <a:off x="4377" y="2251"/>
              <a:ext cx="363" cy="9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54" name="Line 60"/>
            <p:cNvSpPr/>
            <p:nvPr/>
          </p:nvSpPr>
          <p:spPr>
            <a:xfrm>
              <a:off x="4821" y="2069"/>
              <a:ext cx="0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55" name="Oval 47"/>
            <p:cNvSpPr/>
            <p:nvPr/>
          </p:nvSpPr>
          <p:spPr>
            <a:xfrm>
              <a:off x="4740" y="1389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56" name="Line 48"/>
            <p:cNvSpPr/>
            <p:nvPr/>
          </p:nvSpPr>
          <p:spPr>
            <a:xfrm flipH="1">
              <a:off x="4332" y="1525"/>
              <a:ext cx="453" cy="8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57" name="Line 49"/>
            <p:cNvSpPr/>
            <p:nvPr/>
          </p:nvSpPr>
          <p:spPr>
            <a:xfrm>
              <a:off x="4830" y="1525"/>
              <a:ext cx="499" cy="8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58" name="Oval 50"/>
            <p:cNvSpPr/>
            <p:nvPr/>
          </p:nvSpPr>
          <p:spPr>
            <a:xfrm>
              <a:off x="4740" y="1933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59" name="Oval 51"/>
            <p:cNvSpPr/>
            <p:nvPr/>
          </p:nvSpPr>
          <p:spPr>
            <a:xfrm>
              <a:off x="4558" y="170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60" name="Oval 52"/>
            <p:cNvSpPr/>
            <p:nvPr/>
          </p:nvSpPr>
          <p:spPr>
            <a:xfrm>
              <a:off x="4921" y="170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61" name="Oval 53"/>
            <p:cNvSpPr/>
            <p:nvPr/>
          </p:nvSpPr>
          <p:spPr>
            <a:xfrm>
              <a:off x="4740" y="220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62" name="Oval 54"/>
            <p:cNvSpPr/>
            <p:nvPr/>
          </p:nvSpPr>
          <p:spPr>
            <a:xfrm>
              <a:off x="4286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63" name="Oval 55"/>
            <p:cNvSpPr/>
            <p:nvPr/>
          </p:nvSpPr>
          <p:spPr>
            <a:xfrm>
              <a:off x="5239" y="229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64" name="Line 59"/>
            <p:cNvSpPr/>
            <p:nvPr/>
          </p:nvSpPr>
          <p:spPr>
            <a:xfrm>
              <a:off x="4876" y="2251"/>
              <a:ext cx="363" cy="1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65" name="Freeform 61"/>
            <p:cNvSpPr/>
            <p:nvPr/>
          </p:nvSpPr>
          <p:spPr>
            <a:xfrm>
              <a:off x="4218" y="1434"/>
              <a:ext cx="522" cy="907"/>
            </a:xfrm>
            <a:custGeom>
              <a:avLst/>
              <a:gdLst/>
              <a:ahLst/>
              <a:cxnLst>
                <a:cxn ang="0">
                  <a:pos x="522" y="0"/>
                </a:cxn>
                <a:cxn ang="0">
                  <a:pos x="204" y="136"/>
                </a:cxn>
                <a:cxn ang="0">
                  <a:pos x="23" y="499"/>
                </a:cxn>
                <a:cxn ang="0">
                  <a:pos x="68" y="907"/>
                </a:cxn>
              </a:cxnLst>
              <a:pathLst>
                <a:path w="522" h="907">
                  <a:moveTo>
                    <a:pt x="522" y="0"/>
                  </a:moveTo>
                  <a:cubicBezTo>
                    <a:pt x="404" y="26"/>
                    <a:pt x="287" y="53"/>
                    <a:pt x="204" y="136"/>
                  </a:cubicBezTo>
                  <a:cubicBezTo>
                    <a:pt x="121" y="219"/>
                    <a:pt x="46" y="371"/>
                    <a:pt x="23" y="499"/>
                  </a:cubicBezTo>
                  <a:cubicBezTo>
                    <a:pt x="0" y="627"/>
                    <a:pt x="34" y="767"/>
                    <a:pt x="68" y="907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966" name="Freeform 62"/>
            <p:cNvSpPr/>
            <p:nvPr/>
          </p:nvSpPr>
          <p:spPr>
            <a:xfrm>
              <a:off x="4377" y="2387"/>
              <a:ext cx="907" cy="1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7" y="136"/>
                </a:cxn>
                <a:cxn ang="0">
                  <a:pos x="635" y="136"/>
                </a:cxn>
                <a:cxn ang="0">
                  <a:pos x="907" y="45"/>
                </a:cxn>
              </a:cxnLst>
              <a:pathLst>
                <a:path w="907" h="159">
                  <a:moveTo>
                    <a:pt x="0" y="0"/>
                  </a:moveTo>
                  <a:cubicBezTo>
                    <a:pt x="105" y="56"/>
                    <a:pt x="211" y="113"/>
                    <a:pt x="317" y="136"/>
                  </a:cubicBezTo>
                  <a:cubicBezTo>
                    <a:pt x="423" y="159"/>
                    <a:pt x="537" y="151"/>
                    <a:pt x="635" y="136"/>
                  </a:cubicBezTo>
                  <a:cubicBezTo>
                    <a:pt x="733" y="121"/>
                    <a:pt x="820" y="83"/>
                    <a:pt x="907" y="45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967" name="Freeform 63"/>
            <p:cNvSpPr/>
            <p:nvPr/>
          </p:nvSpPr>
          <p:spPr>
            <a:xfrm>
              <a:off x="4876" y="1434"/>
              <a:ext cx="604" cy="9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8" y="182"/>
                </a:cxn>
                <a:cxn ang="0">
                  <a:pos x="589" y="499"/>
                </a:cxn>
                <a:cxn ang="0">
                  <a:pos x="499" y="907"/>
                </a:cxn>
              </a:cxnLst>
              <a:pathLst>
                <a:path w="604" h="907">
                  <a:moveTo>
                    <a:pt x="0" y="0"/>
                  </a:moveTo>
                  <a:cubicBezTo>
                    <a:pt x="155" y="49"/>
                    <a:pt x="310" y="99"/>
                    <a:pt x="408" y="182"/>
                  </a:cubicBezTo>
                  <a:cubicBezTo>
                    <a:pt x="506" y="265"/>
                    <a:pt x="574" y="378"/>
                    <a:pt x="589" y="499"/>
                  </a:cubicBezTo>
                  <a:cubicBezTo>
                    <a:pt x="604" y="620"/>
                    <a:pt x="551" y="763"/>
                    <a:pt x="499" y="907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8196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solidFill>
                  <a:srgbClr val="002060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solidFill>
                <a:srgbClr val="00206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2a0bc228-4f65-4aaf-90e9-36adbc9bca4e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2492</Words>
  <Application>WPS 演示</Application>
  <PresentationFormat>全屏显示(4:3)</PresentationFormat>
  <Paragraphs>264</Paragraphs>
  <Slides>25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宋体</vt:lpstr>
      <vt:lpstr>Wingdings</vt:lpstr>
      <vt:lpstr>Tahoma</vt:lpstr>
      <vt:lpstr>黑体</vt:lpstr>
      <vt:lpstr>Times New Roman</vt:lpstr>
      <vt:lpstr>微软雅黑</vt:lpstr>
      <vt:lpstr>Arial Unicode MS</vt:lpstr>
      <vt:lpstr>ＭＳ 明朝</vt:lpstr>
      <vt:lpstr>Yu Gothic</vt:lpstr>
      <vt:lpstr>华文楷体</vt:lpstr>
      <vt:lpstr>Blends</vt:lpstr>
      <vt:lpstr>1_Blends</vt:lpstr>
      <vt:lpstr>图  的  着  色</vt:lpstr>
      <vt:lpstr>四色问题(Four Color Problem)</vt:lpstr>
      <vt:lpstr>四色问题(Four Color Problem)</vt:lpstr>
      <vt:lpstr>PowerPoint 演示文稿</vt:lpstr>
      <vt:lpstr>四色问题(Four Color Problem)</vt:lpstr>
      <vt:lpstr>四色问题(Four Color Problem)</vt:lpstr>
      <vt:lpstr>四色问题(Four Color Problem)</vt:lpstr>
      <vt:lpstr>应用方向及研究内容</vt:lpstr>
      <vt:lpstr>图的着色</vt:lpstr>
      <vt:lpstr>着色</vt:lpstr>
      <vt:lpstr>PowerPoint 演示文稿</vt:lpstr>
      <vt:lpstr>例 面着色和点着色</vt:lpstr>
      <vt:lpstr>例 边着色</vt:lpstr>
      <vt:lpstr>12.1 点着色</vt:lpstr>
      <vt:lpstr>色数(chromatic number)</vt:lpstr>
      <vt:lpstr>课堂练习</vt:lpstr>
      <vt:lpstr>常见图的点色数</vt:lpstr>
      <vt:lpstr>χ(G)上界</vt:lpstr>
      <vt:lpstr>例12.1(Petersen图)</vt:lpstr>
      <vt:lpstr>Frequency Assignments</vt:lpstr>
      <vt:lpstr>课堂测试：</vt:lpstr>
      <vt:lpstr>定理12.7</vt:lpstr>
      <vt:lpstr>课后作业一： </vt:lpstr>
      <vt:lpstr>课后作业二：</vt:lpstr>
      <vt:lpstr>PowerPoint 演示文稿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小天鹅</cp:lastModifiedBy>
  <cp:revision>938</cp:revision>
  <dcterms:created xsi:type="dcterms:W3CDTF">2008-01-04T07:39:00Z</dcterms:created>
  <dcterms:modified xsi:type="dcterms:W3CDTF">2023-12-06T15:31:03Z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7F6482E7ADE6434D9F76C85AA38FFD30</vt:lpwstr>
  </property>
</Properties>
</file>