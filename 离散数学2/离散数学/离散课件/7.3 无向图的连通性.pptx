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335" r:id="rId3"/>
    <p:sldId id="314" r:id="rId5"/>
    <p:sldId id="336" r:id="rId6"/>
    <p:sldId id="337" r:id="rId7"/>
    <p:sldId id="316" r:id="rId8"/>
    <p:sldId id="317" r:id="rId9"/>
    <p:sldId id="332" r:id="rId10"/>
    <p:sldId id="333" r:id="rId11"/>
    <p:sldId id="318" r:id="rId12"/>
    <p:sldId id="345" r:id="rId13"/>
  </p:sldIdLst>
  <p:sldSz cx="9144000" cy="6858000" type="screen4x3"/>
  <p:notesSz cx="6858000" cy="9144000"/>
  <p:custDataLst>
    <p:tags r:id="rId1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oyu" initials="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808080"/>
    <a:srgbClr val="996633"/>
    <a:srgbClr val="FF0000"/>
    <a:srgbClr val="C7F9F1"/>
    <a:srgbClr val="BBF7FD"/>
    <a:srgbClr val="5F5F5F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75" d="100"/>
          <a:sy n="75" d="100"/>
        </p:scale>
        <p:origin x="-2248" y="-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09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3-15T20:24:15.672" idx="1">
    <p:pos x="10" y="10"/>
    <p:text/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9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lvl="0" eaLnBrk="1" hangingPunct="1"/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9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lvl="0" algn="r" eaLnBrk="1" hangingPunct="1"/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9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eaLnBrk="1" hangingPunct="1"/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9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lvl="0" eaLnBrk="1" hangingPunct="1"/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lvl="0" algn="r" eaLnBrk="1" hangingPunct="1"/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434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eaLnBrk="1" hangingPunct="1"/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/>
            <a:r>
              <a:rPr lang="zh-CN" altLang="en-US" dirty="0"/>
              <a:t>请看第</a:t>
            </a:r>
            <a:r>
              <a:rPr lang="en-US" altLang="zh-CN" dirty="0"/>
              <a:t>17</a:t>
            </a:r>
            <a:r>
              <a:rPr lang="zh-CN" altLang="en-US" dirty="0"/>
              <a:t>页的例子</a:t>
            </a:r>
            <a:endParaRPr lang="en-US" altLang="zh-CN" dirty="0"/>
          </a:p>
          <a:p>
            <a:pPr lvl="0"/>
            <a:r>
              <a:rPr lang="zh-CN" altLang="en-US" dirty="0"/>
              <a:t>给出例子，让学生找出</a:t>
            </a:r>
            <a:r>
              <a:rPr lang="en-US" altLang="zh-CN" dirty="0"/>
              <a:t>p,</a:t>
            </a:r>
            <a:r>
              <a:rPr lang="zh-CN" altLang="en-US" dirty="0"/>
              <a:t>给定结点之间的连通情况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zh-CN" altLang="en-US" dirty="0"/>
              <a:t>另一个定义：一个图是连通的，如果对</a:t>
            </a:r>
            <a:r>
              <a:rPr lang="en-US" altLang="zh-CN" dirty="0"/>
              <a:t>V</a:t>
            </a:r>
            <a:r>
              <a:rPr lang="zh-CN" altLang="en-US" dirty="0"/>
              <a:t>的每一种分为</a:t>
            </a:r>
            <a:r>
              <a:rPr lang="en-US" altLang="zh-CN" dirty="0"/>
              <a:t>2</a:t>
            </a:r>
            <a:r>
              <a:rPr lang="zh-CN" altLang="en-US" dirty="0"/>
              <a:t>块的划分｛</a:t>
            </a:r>
            <a:r>
              <a:rPr lang="en-US" altLang="zh-CN" dirty="0"/>
              <a:t>X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｝，总存在一条边</a:t>
            </a:r>
            <a:r>
              <a:rPr lang="en-US" altLang="zh-CN" dirty="0"/>
              <a:t>(u,v)</a:t>
            </a:r>
            <a:r>
              <a:rPr lang="zh-CN" altLang="en-US" dirty="0"/>
              <a:t>，使得</a:t>
            </a:r>
            <a:r>
              <a:rPr lang="en-US" altLang="zh-CN" dirty="0"/>
              <a:t>u</a:t>
            </a:r>
            <a:r>
              <a:rPr lang="zh-CN" altLang="en-US" dirty="0"/>
              <a:t>属于</a:t>
            </a:r>
            <a:r>
              <a:rPr lang="en-US" altLang="zh-CN" dirty="0"/>
              <a:t>X, v</a:t>
            </a:r>
            <a:r>
              <a:rPr lang="zh-CN" altLang="en-US" dirty="0"/>
              <a:t>属于</a:t>
            </a:r>
            <a:r>
              <a:rPr lang="en-US" altLang="zh-CN" dirty="0"/>
              <a:t>Y</a:t>
            </a:r>
            <a:endParaRPr lang="en-US" altLang="zh-CN" dirty="0"/>
          </a:p>
          <a:p>
            <a:pPr lvl="0"/>
            <a:r>
              <a:rPr lang="en-US" altLang="zh-CN" dirty="0"/>
              <a:t> </a:t>
            </a:r>
            <a:r>
              <a:rPr lang="zh-CN" altLang="en-US" dirty="0"/>
              <a:t>一个图＝</a:t>
            </a:r>
            <a:r>
              <a:rPr lang="en-US" altLang="zh-CN" dirty="0"/>
              <a:t>&lt;V,E&gt;,</a:t>
            </a:r>
            <a:r>
              <a:rPr lang="zh-CN" altLang="en-US" dirty="0"/>
              <a:t>如果存在对</a:t>
            </a:r>
            <a:r>
              <a:rPr lang="en-US" altLang="zh-CN" dirty="0"/>
              <a:t>V</a:t>
            </a:r>
            <a:r>
              <a:rPr lang="zh-CN" altLang="en-US" dirty="0"/>
              <a:t>的划分｛</a:t>
            </a:r>
            <a:r>
              <a:rPr lang="en-US" altLang="zh-CN" dirty="0"/>
              <a:t>X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｝，在</a:t>
            </a:r>
            <a:r>
              <a:rPr lang="en-US" altLang="zh-CN" dirty="0"/>
              <a:t>E</a:t>
            </a:r>
            <a:r>
              <a:rPr lang="zh-CN" altLang="en-US" dirty="0"/>
              <a:t>中不存在这样的边</a:t>
            </a:r>
            <a:r>
              <a:rPr lang="en-US" altLang="zh-CN" dirty="0"/>
              <a:t>e,e</a:t>
            </a:r>
            <a:r>
              <a:rPr lang="zh-CN" altLang="en-US" dirty="0"/>
              <a:t>的一个端点属于</a:t>
            </a:r>
            <a:r>
              <a:rPr lang="en-US" altLang="zh-CN" dirty="0"/>
              <a:t>X ,</a:t>
            </a:r>
            <a:r>
              <a:rPr lang="zh-CN" altLang="en-US" dirty="0"/>
              <a:t>另一个端点属于</a:t>
            </a:r>
            <a:r>
              <a:rPr lang="en-US" altLang="zh-CN" dirty="0"/>
              <a:t> Y</a:t>
            </a:r>
            <a:r>
              <a:rPr lang="zh-CN" altLang="en-US" dirty="0"/>
              <a:t>，则</a:t>
            </a:r>
            <a:r>
              <a:rPr lang="en-US" altLang="zh-CN" dirty="0"/>
              <a:t>G</a:t>
            </a:r>
            <a:r>
              <a:rPr lang="zh-CN" altLang="en-US" dirty="0"/>
              <a:t>是不连通的。</a:t>
            </a:r>
            <a:endParaRPr lang="zh-CN" altLang="en-US" dirty="0"/>
          </a:p>
        </p:txBody>
      </p:sp>
      <p:sp>
        <p:nvSpPr>
          <p:cNvPr id="2048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4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p>
            <a:pPr lvl="0"/>
            <a:r>
              <a:rPr lang="zh-CN" altLang="en-US" dirty="0"/>
              <a:t>求以下图的距离：</a:t>
            </a:r>
            <a:endParaRPr lang="en-US" altLang="zh-CN" dirty="0"/>
          </a:p>
          <a:p>
            <a:pPr lvl="0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i="1" dirty="0">
                <a:sym typeface="Symbol" panose="05050102010706020507" charset="2"/>
              </a:rPr>
              <a:t>d</a:t>
            </a:r>
            <a:r>
              <a:rPr lang="en-US" altLang="zh-CN" dirty="0">
                <a:sym typeface="Symbol" panose="05050102010706020507" charset="2"/>
              </a:rPr>
              <a:t>(K</a:t>
            </a:r>
            <a:r>
              <a:rPr lang="en-US" altLang="zh-CN" i="1" baseline="-25000" dirty="0">
                <a:sym typeface="Symbol" panose="05050102010706020507" charset="2"/>
              </a:rPr>
              <a:t>n</a:t>
            </a:r>
            <a:r>
              <a:rPr lang="en-US" altLang="zh-CN" dirty="0">
                <a:sym typeface="Symbol" panose="05050102010706020507" charset="2"/>
              </a:rPr>
              <a:t>)=1;</a:t>
            </a:r>
            <a:endParaRPr lang="en-US" altLang="zh-CN" dirty="0">
              <a:sym typeface="Symbol" panose="05050102010706020507" charset="2"/>
            </a:endParaRPr>
          </a:p>
          <a:p>
            <a:pPr lvl="0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ym typeface="Symbol" panose="05050102010706020507" charset="2"/>
              </a:rPr>
              <a:t>长度为</a:t>
            </a:r>
            <a:r>
              <a:rPr lang="en-US" altLang="zh-CN" i="1" dirty="0">
                <a:sym typeface="Symbol" panose="05050102010706020507" charset="2"/>
              </a:rPr>
              <a:t>n</a:t>
            </a:r>
            <a:r>
              <a:rPr lang="zh-CN" altLang="en-US" dirty="0">
                <a:sym typeface="Symbol" panose="05050102010706020507" charset="2"/>
              </a:rPr>
              <a:t>的圈</a:t>
            </a:r>
            <a:r>
              <a:rPr lang="en-US" altLang="zh-CN" dirty="0">
                <a:sym typeface="Symbol" panose="05050102010706020507" charset="2"/>
              </a:rPr>
              <a:t>G: </a:t>
            </a:r>
            <a:r>
              <a:rPr lang="en-US" altLang="zh-CN" i="1" dirty="0">
                <a:sym typeface="Symbol" panose="05050102010706020507" charset="2"/>
              </a:rPr>
              <a:t>d</a:t>
            </a:r>
            <a:r>
              <a:rPr lang="en-US" altLang="zh-CN" dirty="0">
                <a:sym typeface="Symbol" panose="05050102010706020507" charset="2"/>
              </a:rPr>
              <a:t>(G)=</a:t>
            </a:r>
            <a:r>
              <a:rPr lang="en-US" altLang="zh-CN" i="1" dirty="0">
                <a:sym typeface="Symbol" panose="05050102010706020507" charset="2"/>
              </a:rPr>
              <a:t>n</a:t>
            </a:r>
            <a:r>
              <a:rPr lang="en-US" altLang="zh-CN" dirty="0">
                <a:sym typeface="Symbol" panose="05050102010706020507" charset="2"/>
              </a:rPr>
              <a:t>/2; </a:t>
            </a:r>
            <a:endParaRPr lang="en-US" altLang="zh-CN" dirty="0">
              <a:sym typeface="Symbol" panose="05050102010706020507" charset="2"/>
            </a:endParaRPr>
          </a:p>
          <a:p>
            <a:pPr lvl="0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ym typeface="Symbol" panose="05050102010706020507" charset="2"/>
              </a:rPr>
              <a:t>平凡图</a:t>
            </a:r>
            <a:r>
              <a:rPr lang="en-US" altLang="zh-CN" dirty="0">
                <a:sym typeface="Symbol" panose="05050102010706020507" charset="2"/>
              </a:rPr>
              <a:t>G: </a:t>
            </a:r>
            <a:r>
              <a:rPr lang="en-US" altLang="zh-CN" i="1" dirty="0">
                <a:sym typeface="Symbol" panose="05050102010706020507" charset="2"/>
              </a:rPr>
              <a:t>d</a:t>
            </a:r>
            <a:r>
              <a:rPr lang="en-US" altLang="zh-CN" dirty="0">
                <a:sym typeface="Symbol" panose="05050102010706020507" charset="2"/>
              </a:rPr>
              <a:t>(G)=0;</a:t>
            </a:r>
            <a:endParaRPr lang="en-US" altLang="zh-CN" dirty="0">
              <a:sym typeface="Symbol" panose="05050102010706020507" charset="2"/>
            </a:endParaRPr>
          </a:p>
          <a:p>
            <a:pPr lvl="0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ym typeface="Symbol" panose="05050102010706020507" charset="2"/>
              </a:rPr>
              <a:t>零图</a:t>
            </a:r>
            <a:r>
              <a:rPr lang="en-US" altLang="zh-CN" dirty="0">
                <a:sym typeface="Symbol" panose="05050102010706020507" charset="2"/>
              </a:rPr>
              <a:t>N</a:t>
            </a:r>
            <a:r>
              <a:rPr lang="en-US" altLang="zh-CN" i="1" baseline="-25000" dirty="0">
                <a:sym typeface="Symbol" panose="05050102010706020507" charset="2"/>
              </a:rPr>
              <a:t>n</a:t>
            </a:r>
            <a:r>
              <a:rPr lang="en-US" altLang="zh-CN" dirty="0">
                <a:sym typeface="Symbol" panose="05050102010706020507" charset="2"/>
              </a:rPr>
              <a:t>(</a:t>
            </a:r>
            <a:r>
              <a:rPr lang="en-US" altLang="zh-CN" i="1" dirty="0">
                <a:sym typeface="Symbol" panose="05050102010706020507" charset="2"/>
              </a:rPr>
              <a:t>n</a:t>
            </a:r>
            <a:r>
              <a:rPr lang="en-US" altLang="zh-CN" dirty="0">
                <a:sym typeface="Symbol" panose="05050102010706020507" charset="2"/>
              </a:rPr>
              <a:t>2): </a:t>
            </a:r>
            <a:r>
              <a:rPr lang="en-US" altLang="zh-CN" i="1" dirty="0">
                <a:sym typeface="Symbol" panose="05050102010706020507" charset="2"/>
              </a:rPr>
              <a:t>d</a:t>
            </a:r>
            <a:r>
              <a:rPr lang="en-US" altLang="zh-CN" dirty="0">
                <a:sym typeface="Symbol" panose="05050102010706020507" charset="2"/>
              </a:rPr>
              <a:t>(N</a:t>
            </a:r>
            <a:r>
              <a:rPr lang="en-US" altLang="zh-CN" i="1" baseline="-25000" dirty="0">
                <a:sym typeface="Symbol" panose="05050102010706020507" charset="2"/>
              </a:rPr>
              <a:t>n</a:t>
            </a:r>
            <a:r>
              <a:rPr lang="en-US" altLang="zh-CN" dirty="0">
                <a:sym typeface="Symbol" panose="05050102010706020507" charset="2"/>
              </a:rPr>
              <a:t>)= .</a:t>
            </a:r>
            <a:endParaRPr lang="en-US" altLang="zh-CN" dirty="0">
              <a:sym typeface="Symbol" panose="05050102010706020507" charset="2"/>
            </a:endParaRPr>
          </a:p>
          <a:p>
            <a:pPr lvl="0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ym typeface="Symbol" panose="05050102010706020507" charset="2"/>
              </a:rPr>
              <a:t>再给定一个图，求</a:t>
            </a:r>
            <a:r>
              <a:rPr lang="en-US" altLang="zh-CN" dirty="0">
                <a:sym typeface="Symbol" panose="05050102010706020507" charset="2"/>
              </a:rPr>
              <a:t>d(G)</a:t>
            </a:r>
            <a:endParaRPr lang="en-US" altLang="zh-CN" dirty="0">
              <a:sym typeface="Symbol" panose="05050102010706020507" charset="2"/>
            </a:endParaRPr>
          </a:p>
          <a:p>
            <a:pPr lvl="0"/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79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2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/>
            <a:r>
              <a:rPr lang="zh-CN" altLang="en-US" dirty="0"/>
              <a:t>提问：关于（</a:t>
            </a:r>
            <a:r>
              <a:rPr lang="en-US" altLang="zh-CN" dirty="0"/>
              <a:t>a)</a:t>
            </a:r>
            <a:r>
              <a:rPr lang="zh-CN" altLang="en-US" dirty="0"/>
              <a:t>中顶点之间的距离：</a:t>
            </a:r>
            <a:r>
              <a:rPr lang="en-US" altLang="zh-CN" dirty="0"/>
              <a:t>d(a,f), d(a,e),d(a,g)</a:t>
            </a:r>
            <a:endParaRPr lang="en-US" altLang="zh-CN" dirty="0"/>
          </a:p>
        </p:txBody>
      </p:sp>
      <p:sp>
        <p:nvSpPr>
          <p:cNvPr id="25603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p>
            <a:pPr lvl="0"/>
            <a:r>
              <a:rPr lang="zh-CN" altLang="en-US" dirty="0"/>
              <a:t>星型是二部图</a:t>
            </a:r>
            <a:endParaRPr lang="en-US" altLang="zh-CN" dirty="0"/>
          </a:p>
        </p:txBody>
      </p:sp>
      <p:sp>
        <p:nvSpPr>
          <p:cNvPr id="39939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charset="0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69850"/>
            <a:ext cx="2154237" cy="65992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13488" cy="65992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/>
          <p:nvPr/>
        </p:nvSpPr>
        <p:spPr>
          <a:xfrm>
            <a:off x="417513" y="404813"/>
            <a:ext cx="438150" cy="474662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/>
          <a:p>
            <a:pPr lvl="0" algn="ctr" eaLnBrk="1" hangingPunct="1"/>
            <a:endParaRPr lang="en-US" altLang="x-none" sz="2400" dirty="0">
              <a:latin typeface="Tahoma" panose="020B0604030504040204" charset="0"/>
            </a:endParaRPr>
          </a:p>
        </p:txBody>
      </p:sp>
      <p:sp>
        <p:nvSpPr>
          <p:cNvPr id="1027" name="Rectangle 3"/>
          <p:cNvSpPr/>
          <p:nvPr/>
        </p:nvSpPr>
        <p:spPr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p>
            <a:pPr lvl="0" algn="ctr" eaLnBrk="1" hangingPunct="1"/>
            <a:endParaRPr lang="en-US" altLang="x-none" sz="2400" dirty="0">
              <a:latin typeface="Tahoma" panose="020B0604030504040204" charset="0"/>
            </a:endParaRPr>
          </a:p>
        </p:txBody>
      </p:sp>
      <p:sp>
        <p:nvSpPr>
          <p:cNvPr id="1028" name="Rectangle 4"/>
          <p:cNvSpPr/>
          <p:nvPr/>
        </p:nvSpPr>
        <p:spPr>
          <a:xfrm>
            <a:off x="541338" y="836613"/>
            <a:ext cx="422275" cy="474662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/>
          <a:p>
            <a:pPr lvl="0" algn="ctr" eaLnBrk="1" hangingPunct="1"/>
            <a:endParaRPr lang="en-US" altLang="x-none" sz="2400" dirty="0">
              <a:latin typeface="Tahoma" panose="020B0604030504040204" charset="0"/>
            </a:endParaRPr>
          </a:p>
        </p:txBody>
      </p:sp>
      <p:sp>
        <p:nvSpPr>
          <p:cNvPr id="1029" name="Rectangle 5"/>
          <p:cNvSpPr/>
          <p:nvPr/>
        </p:nvSpPr>
        <p:spPr>
          <a:xfrm>
            <a:off x="911225" y="836613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p>
            <a:pPr lvl="0" algn="ctr" eaLnBrk="1" hangingPunct="1"/>
            <a:endParaRPr lang="en-US" altLang="x-none" sz="2400" dirty="0">
              <a:latin typeface="Tahoma" panose="020B0604030504040204" charset="0"/>
            </a:endParaRPr>
          </a:p>
        </p:txBody>
      </p:sp>
      <p:sp>
        <p:nvSpPr>
          <p:cNvPr id="1030" name="Rectangle 6"/>
          <p:cNvSpPr/>
          <p:nvPr/>
        </p:nvSpPr>
        <p:spPr>
          <a:xfrm>
            <a:off x="127000" y="7651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/>
          <a:p>
            <a:pPr lvl="0" algn="ctr" eaLnBrk="1" hangingPunct="1"/>
            <a:endParaRPr lang="en-US" altLang="x-none" sz="2400" dirty="0">
              <a:latin typeface="Tahoma" panose="020B0604030504040204" charset="0"/>
            </a:endParaRPr>
          </a:p>
        </p:txBody>
      </p:sp>
      <p:sp>
        <p:nvSpPr>
          <p:cNvPr id="1031" name="Rectangle 7"/>
          <p:cNvSpPr/>
          <p:nvPr/>
        </p:nvSpPr>
        <p:spPr>
          <a:xfrm>
            <a:off x="762000" y="26035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/>
          <a:p>
            <a:pPr lvl="0" algn="ctr" eaLnBrk="1" hangingPunct="1"/>
            <a:endParaRPr lang="en-US" altLang="x-none" sz="2400" dirty="0">
              <a:latin typeface="Tahoma" panose="020B0604030504040204" charset="0"/>
            </a:endParaRPr>
          </a:p>
        </p:txBody>
      </p:sp>
      <p:sp>
        <p:nvSpPr>
          <p:cNvPr id="1032" name="Rectangle 8"/>
          <p:cNvSpPr/>
          <p:nvPr/>
        </p:nvSpPr>
        <p:spPr>
          <a:xfrm>
            <a:off x="442913" y="10525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p>
            <a:pPr lvl="0" algn="ctr" eaLnBrk="1" hangingPunct="1"/>
            <a:endParaRPr lang="en-US" altLang="x-none" sz="2400" dirty="0">
              <a:latin typeface="Tahoma" panose="020B0604030504040204" charset="0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>
                <a:alpha val="100000"/>
              </a:schemeClr>
            </a:outerShdw>
          </a:effectLst>
        </p:spPr>
        <p:txBody>
          <a:bodyPr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130" name="Rectangle 10"/>
          <p:cNvSpPr>
            <a:spLocks noGrp="1"/>
          </p:cNvSpPr>
          <p:nvPr>
            <p:ph type="body" idx="1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/>
            </a:lvl1pPr>
          </a:lstStyle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/>
            </a:lvl1pPr>
          </a:lstStyle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" grpId="0" bldLvl="2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黑体" panose="0201060906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charset="0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1pPr>
      <a:lvl2pPr marL="742950" indent="-2857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charset="0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2pPr>
      <a:lvl3pPr marL="11430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charset="0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3pPr>
      <a:lvl4pPr marL="16002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charset="0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4pPr>
      <a:lvl5pPr marL="20574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charset="0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5pPr>
      <a:lvl6pPr marL="25146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en-US" altLang="zh-CN" sz="4000" dirty="0"/>
              <a:t>7.3 </a:t>
            </a:r>
            <a:r>
              <a:rPr lang="zh-CN" altLang="en-US" sz="4000" dirty="0"/>
              <a:t>无向图的连通性</a:t>
            </a:r>
            <a:endParaRPr lang="zh-CN" altLang="en-US" sz="4000" dirty="0"/>
          </a:p>
        </p:txBody>
      </p:sp>
      <p:sp>
        <p:nvSpPr>
          <p:cNvPr id="19458" name="Rectangle 3"/>
          <p:cNvSpPr>
            <a:spLocks noGrp="1"/>
          </p:cNvSpPr>
          <p:nvPr>
            <p:ph idx="1"/>
          </p:nvPr>
        </p:nvSpPr>
        <p:spPr>
          <a:xfrm>
            <a:off x="228600" y="1343025"/>
            <a:ext cx="8686800" cy="5254625"/>
          </a:xfrm>
        </p:spPr>
        <p:txBody>
          <a:bodyPr vert="horz" wrap="square" lIns="91440" tIns="45720" rIns="91440" bIns="45720" anchor="t"/>
          <a:p>
            <a:pPr marL="0" indent="0" eaLnBrk="1" hangingPunct="1">
              <a:spcBef>
                <a:spcPct val="20000"/>
              </a:spcBef>
              <a:buNone/>
            </a:pPr>
            <a:r>
              <a:rPr lang="zh-CN" altLang="en-US"/>
              <a:t>在无向图</a:t>
            </a:r>
            <a:r>
              <a:rPr lang="en-US" altLang="zh-CN" i="1"/>
              <a:t>G</a:t>
            </a:r>
            <a:r>
              <a:rPr lang="zh-CN" altLang="en-US"/>
              <a:t>中</a:t>
            </a:r>
            <a:r>
              <a:rPr lang="en-US" altLang="zh-CN"/>
              <a:t>,</a:t>
            </a:r>
            <a:endParaRPr lang="en-US" altLang="zh-CN" i="1">
              <a:solidFill>
                <a:schemeClr val="hlink"/>
              </a:solidFill>
            </a:endParaRPr>
          </a:p>
          <a:p>
            <a:pPr marL="0" indent="0" eaLnBrk="1" hangingPunct="1">
              <a:spcBef>
                <a:spcPct val="20000"/>
              </a:spcBef>
            </a:pPr>
            <a:r>
              <a:rPr lang="en-US" altLang="zh-CN" i="1">
                <a:solidFill>
                  <a:schemeClr val="hlink"/>
                </a:solidFill>
              </a:rPr>
              <a:t>u</a:t>
            </a:r>
            <a:r>
              <a:rPr lang="zh-CN" altLang="en-US">
                <a:solidFill>
                  <a:schemeClr val="hlink"/>
                </a:solidFill>
              </a:rPr>
              <a:t>和</a:t>
            </a:r>
            <a:r>
              <a:rPr lang="en-US" altLang="zh-CN" i="1">
                <a:solidFill>
                  <a:schemeClr val="hlink"/>
                </a:solidFill>
              </a:rPr>
              <a:t>v</a:t>
            </a:r>
            <a:r>
              <a:rPr lang="zh-CN" altLang="en-US">
                <a:solidFill>
                  <a:schemeClr val="hlink"/>
                </a:solidFill>
              </a:rPr>
              <a:t>是连通的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zh-CN" altLang="en-US"/>
              <a:t>顶点</a:t>
            </a:r>
            <a:r>
              <a:rPr lang="en-US" altLang="zh-CN" i="1"/>
              <a:t>u</a:t>
            </a:r>
            <a:r>
              <a:rPr lang="zh-CN" altLang="en-US"/>
              <a:t>和</a:t>
            </a:r>
            <a:r>
              <a:rPr lang="en-US" altLang="zh-CN" i="1"/>
              <a:t>v</a:t>
            </a:r>
            <a:r>
              <a:rPr lang="zh-CN" altLang="en-US"/>
              <a:t>之间若存在通路</a:t>
            </a:r>
            <a:r>
              <a:rPr lang="en-US" altLang="zh-CN"/>
              <a:t>,</a:t>
            </a:r>
            <a:r>
              <a:rPr lang="en-US" altLang="zh-CN">
                <a:solidFill>
                  <a:schemeClr val="hlink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</a:rPr>
              <a:t>记作</a:t>
            </a:r>
            <a:r>
              <a:rPr lang="en-US" altLang="zh-CN" i="1" err="1">
                <a:solidFill>
                  <a:schemeClr val="hlink"/>
                </a:solidFill>
              </a:rPr>
              <a:t>u</a:t>
            </a:r>
            <a:r>
              <a:rPr lang="en-US" altLang="zh-CN" err="1">
                <a:solidFill>
                  <a:schemeClr val="hlink"/>
                </a:solidFill>
                <a:sym typeface="Symbol" panose="05050102010706020507" charset="2"/>
              </a:rPr>
              <a:t></a:t>
            </a:r>
            <a:r>
              <a:rPr lang="en-US" altLang="zh-CN" i="1" err="1">
                <a:solidFill>
                  <a:schemeClr val="hlink"/>
                </a:solidFill>
              </a:rPr>
              <a:t>v</a:t>
            </a:r>
            <a:endParaRPr lang="en-US" altLang="zh-CN"/>
          </a:p>
          <a:p>
            <a:pPr marL="0" indent="0" eaLnBrk="1" hangingPunct="1">
              <a:spcBef>
                <a:spcPct val="20000"/>
              </a:spcBef>
            </a:pPr>
            <a:r>
              <a:rPr lang="zh-CN" altLang="en-US">
                <a:solidFill>
                  <a:srgbClr val="000000"/>
                </a:solidFill>
              </a:rPr>
              <a:t>规定</a:t>
            </a:r>
            <a:r>
              <a:rPr lang="en-US" altLang="zh-CN" i="1" err="1">
                <a:solidFill>
                  <a:schemeClr val="hlink"/>
                </a:solidFill>
              </a:rPr>
              <a:t>u</a:t>
            </a:r>
            <a:r>
              <a:rPr lang="en-US" altLang="zh-CN" err="1">
                <a:solidFill>
                  <a:schemeClr val="hlink"/>
                </a:solidFill>
                <a:sym typeface="Symbol" panose="05050102010706020507" charset="2"/>
              </a:rPr>
              <a:t></a:t>
            </a:r>
            <a:r>
              <a:rPr lang="en-US" altLang="zh-CN" i="1" err="1">
                <a:solidFill>
                  <a:schemeClr val="hlink"/>
                </a:solidFill>
                <a:sym typeface="Symbol" panose="05050102010706020507" charset="2"/>
              </a:rPr>
              <a:t>u</a:t>
            </a:r>
            <a:r>
              <a:rPr lang="en-US" altLang="zh-CN">
                <a:solidFill>
                  <a:schemeClr val="hlink"/>
                </a:solidFill>
                <a:sym typeface="Symbol" panose="05050102010706020507" charset="2"/>
              </a:rPr>
              <a:t>.</a:t>
            </a:r>
            <a:endParaRPr lang="en-US" altLang="zh-CN">
              <a:solidFill>
                <a:schemeClr val="hlink"/>
              </a:solidFill>
            </a:endParaRPr>
          </a:p>
          <a:p>
            <a:pPr marL="0" indent="0" eaLnBrk="1" hangingPunct="1">
              <a:spcBef>
                <a:spcPct val="20000"/>
              </a:spcBef>
            </a:pPr>
            <a:r>
              <a:rPr lang="zh-CN" altLang="en-US"/>
              <a:t>顶点之间</a:t>
            </a:r>
            <a:r>
              <a:rPr lang="zh-CN" altLang="en-US">
                <a:solidFill>
                  <a:srgbClr val="FF3300"/>
                </a:solidFill>
              </a:rPr>
              <a:t>的连通关系</a:t>
            </a:r>
            <a:r>
              <a:rPr lang="zh-CN" altLang="zh-CN"/>
              <a:t>是</a:t>
            </a:r>
            <a:r>
              <a:rPr lang="zh-CN" altLang="en-US">
                <a:solidFill>
                  <a:srgbClr val="FF0000"/>
                </a:solidFill>
              </a:rPr>
              <a:t>等价关系</a:t>
            </a:r>
            <a:endParaRPr lang="zh-CN" altLang="en-US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ct val="20000"/>
              </a:spcBef>
            </a:pPr>
            <a:r>
              <a:rPr lang="zh-CN" altLang="en-US"/>
              <a:t>若</a:t>
            </a:r>
            <a:r>
              <a:rPr lang="en-US" altLang="zh-CN"/>
              <a:t>G</a:t>
            </a:r>
            <a:r>
              <a:rPr lang="zh-CN" altLang="en-US"/>
              <a:t>是平凡图或</a:t>
            </a:r>
            <a:r>
              <a:rPr lang="en-US" altLang="zh-CN"/>
              <a:t>G</a:t>
            </a:r>
            <a:r>
              <a:rPr lang="zh-CN" altLang="en-US"/>
              <a:t>中任意两顶点都是连通的，则成</a:t>
            </a:r>
            <a:r>
              <a:rPr lang="en-US" altLang="zh-CN"/>
              <a:t>G</a:t>
            </a:r>
            <a:r>
              <a:rPr lang="zh-CN" altLang="en-US"/>
              <a:t>是</a:t>
            </a:r>
            <a:r>
              <a:rPr lang="zh-CN" altLang="en-US">
                <a:solidFill>
                  <a:srgbClr val="FF0000"/>
                </a:solidFill>
              </a:rPr>
              <a:t>连通图</a:t>
            </a:r>
            <a:r>
              <a:rPr lang="zh-CN" altLang="en-US"/>
              <a:t>，否则称</a:t>
            </a:r>
            <a:r>
              <a:rPr lang="en-US" altLang="zh-CN"/>
              <a:t>G</a:t>
            </a:r>
            <a:r>
              <a:rPr lang="zh-CN" altLang="en-US"/>
              <a:t>是</a:t>
            </a:r>
            <a:r>
              <a:rPr lang="zh-CN" altLang="en-US">
                <a:solidFill>
                  <a:srgbClr val="FF0000"/>
                </a:solidFill>
              </a:rPr>
              <a:t>非连通图</a:t>
            </a:r>
            <a:r>
              <a:rPr lang="zh-CN" altLang="en-US"/>
              <a:t>或</a:t>
            </a:r>
            <a:r>
              <a:rPr lang="zh-CN" altLang="en-US">
                <a:solidFill>
                  <a:srgbClr val="FF0000"/>
                </a:solidFill>
              </a:rPr>
              <a:t>分离图</a:t>
            </a:r>
            <a:r>
              <a:rPr lang="en-US" altLang="zh-CN"/>
              <a:t>.</a:t>
            </a:r>
            <a:endParaRPr lang="zh-CN" altLang="en-US"/>
          </a:p>
          <a:p>
            <a:pPr marL="0" indent="0" eaLnBrk="1" hangingPunct="1">
              <a:spcBef>
                <a:spcPct val="20000"/>
              </a:spcBef>
            </a:pPr>
            <a:r>
              <a:rPr lang="zh-CN" altLang="en-US">
                <a:solidFill>
                  <a:srgbClr val="FF3300"/>
                </a:solidFill>
              </a:rPr>
              <a:t>连通分支</a:t>
            </a:r>
            <a:r>
              <a:rPr lang="en-US" altLang="zh-CN"/>
              <a:t>: </a:t>
            </a:r>
            <a:r>
              <a:rPr lang="en-US" altLang="zh-CN" i="1"/>
              <a:t>V</a:t>
            </a:r>
            <a:r>
              <a:rPr lang="zh-CN" altLang="en-US"/>
              <a:t>关于顶点之间的连通关系的商集</a:t>
            </a:r>
            <a:r>
              <a:rPr lang="en-US" altLang="zh-CN"/>
              <a:t>    </a:t>
            </a:r>
            <a:r>
              <a:rPr lang="en-US" altLang="zh-CN" i="1"/>
              <a:t>V</a:t>
            </a:r>
            <a:r>
              <a:rPr lang="en-US" altLang="zh-CN"/>
              <a:t>/~={</a:t>
            </a:r>
            <a:r>
              <a:rPr lang="en-US" altLang="zh-CN" i="1"/>
              <a:t>V</a:t>
            </a:r>
            <a:r>
              <a:rPr lang="en-US" altLang="zh-CN" baseline="-30000"/>
              <a:t>1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30000"/>
              <a:t>2</a:t>
            </a:r>
            <a:r>
              <a:rPr lang="en-US" altLang="zh-CN"/>
              <a:t>,…,</a:t>
            </a:r>
            <a:r>
              <a:rPr lang="en-US" altLang="zh-CN" i="1" err="1"/>
              <a:t>V</a:t>
            </a:r>
            <a:r>
              <a:rPr lang="en-US" altLang="zh-CN" i="1" baseline="-30000" err="1"/>
              <a:t>k</a:t>
            </a:r>
            <a:r>
              <a:rPr lang="en-US" altLang="zh-CN"/>
              <a:t>}</a:t>
            </a:r>
            <a:r>
              <a:rPr lang="zh-CN" altLang="en-US"/>
              <a:t>，称导出子图</a:t>
            </a:r>
            <a:r>
              <a:rPr lang="en-US" altLang="zh-CN" i="1"/>
              <a:t>G</a:t>
            </a:r>
            <a:r>
              <a:rPr lang="en-US" altLang="zh-CN"/>
              <a:t>[</a:t>
            </a:r>
            <a:r>
              <a:rPr lang="en-US" altLang="zh-CN" i="1"/>
              <a:t>V</a:t>
            </a:r>
            <a:r>
              <a:rPr lang="en-US" altLang="zh-CN" baseline="-30000"/>
              <a:t>1</a:t>
            </a:r>
            <a:r>
              <a:rPr lang="en-US" altLang="zh-CN"/>
              <a:t>],</a:t>
            </a:r>
            <a:r>
              <a:rPr lang="en-US" altLang="zh-CN" i="1"/>
              <a:t>G</a:t>
            </a:r>
            <a:r>
              <a:rPr lang="en-US" altLang="zh-CN"/>
              <a:t>[</a:t>
            </a:r>
            <a:r>
              <a:rPr lang="en-US" altLang="zh-CN" i="1"/>
              <a:t>V</a:t>
            </a:r>
            <a:r>
              <a:rPr lang="en-US" altLang="zh-CN" baseline="-30000"/>
              <a:t>2</a:t>
            </a:r>
            <a:r>
              <a:rPr lang="en-US" altLang="zh-CN"/>
              <a:t>], …,</a:t>
            </a:r>
            <a:r>
              <a:rPr lang="en-US" altLang="zh-CN" i="1"/>
              <a:t>G</a:t>
            </a:r>
            <a:r>
              <a:rPr lang="en-US" altLang="zh-CN"/>
              <a:t>[</a:t>
            </a:r>
            <a:r>
              <a:rPr lang="en-US" altLang="zh-CN" i="1" err="1"/>
              <a:t>V</a:t>
            </a:r>
            <a:r>
              <a:rPr lang="en-US" altLang="zh-CN" i="1" baseline="-30000" err="1"/>
              <a:t>k</a:t>
            </a:r>
            <a:r>
              <a:rPr lang="en-US" altLang="zh-CN"/>
              <a:t>]</a:t>
            </a:r>
            <a:r>
              <a:rPr lang="zh-CN" altLang="en-US"/>
              <a:t>为</a:t>
            </a:r>
            <a:r>
              <a:rPr lang="en-US" altLang="zh-CN" i="1"/>
              <a:t>G</a:t>
            </a:r>
            <a:r>
              <a:rPr lang="zh-CN" altLang="en-US"/>
              <a:t>的连通分支，</a:t>
            </a:r>
            <a:r>
              <a:rPr lang="zh-CN" altLang="en-US">
                <a:solidFill>
                  <a:srgbClr val="FF0000"/>
                </a:solidFill>
              </a:rPr>
              <a:t>连通分支数</a:t>
            </a:r>
            <a:r>
              <a:rPr lang="en-US" altLang="zh-CN" i="1"/>
              <a:t>k</a:t>
            </a:r>
            <a:r>
              <a:rPr lang="zh-CN" altLang="en-US"/>
              <a:t>记作</a:t>
            </a:r>
            <a:r>
              <a:rPr lang="en-US" altLang="zh-CN" i="1">
                <a:solidFill>
                  <a:srgbClr val="FF0000"/>
                </a:solidFill>
              </a:rPr>
              <a:t>p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G</a:t>
            </a:r>
            <a:r>
              <a:rPr lang="en-US" altLang="zh-CN">
                <a:solidFill>
                  <a:srgbClr val="FF0000"/>
                </a:solidFill>
              </a:rPr>
              <a:t>)</a:t>
            </a:r>
            <a:r>
              <a:rPr lang="en-US" altLang="zh-CN"/>
              <a:t>.</a:t>
            </a:r>
            <a:endParaRPr lang="en-US" altLang="zh-CN"/>
          </a:p>
          <a:p>
            <a:pPr marL="0" indent="0" eaLnBrk="1" hangingPunct="1">
              <a:spcBef>
                <a:spcPct val="20000"/>
              </a:spcBef>
            </a:pPr>
            <a:r>
              <a:rPr lang="zh-CN" altLang="en-US">
                <a:solidFill>
                  <a:srgbClr val="FF0000"/>
                </a:solidFill>
              </a:rPr>
              <a:t>连通图</a:t>
            </a:r>
            <a:r>
              <a:rPr lang="zh-CN" altLang="en-US"/>
              <a:t>：</a:t>
            </a:r>
            <a:r>
              <a:rPr lang="en-US" altLang="zh-CN" i="1"/>
              <a:t>p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)=1</a:t>
            </a:r>
            <a:endParaRPr lang="en-US" altLang="zh-CN"/>
          </a:p>
          <a:p>
            <a:pPr marL="0" indent="0" eaLnBrk="1" hangingPunct="1">
              <a:spcBef>
                <a:spcPct val="20000"/>
              </a:spcBef>
            </a:pPr>
            <a:r>
              <a:rPr lang="zh-CN" altLang="en-US">
                <a:solidFill>
                  <a:schemeClr val="hlink"/>
                </a:solidFill>
              </a:rPr>
              <a:t>非连通图或分离图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en-US" altLang="zh-CN" i="1"/>
              <a:t>p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charset="2"/>
              </a:rPr>
              <a:t>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9459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dirty="0">
                <a:latin typeface="Times New Roman" panose="02020603050405020304" charset="0"/>
              </a:rPr>
            </a:fld>
            <a:endParaRPr lang="en-US" altLang="zh-CN" sz="1400" dirty="0">
              <a:latin typeface="Times New Roman" panose="0202060305040502030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短程线</a:t>
            </a:r>
            <a:endParaRPr lang="zh-CN" altLang="en-US" dirty="0"/>
          </a:p>
        </p:txBody>
      </p:sp>
      <p:sp>
        <p:nvSpPr>
          <p:cNvPr id="3277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chemeClr val="hlink"/>
                </a:solidFill>
              </a:rPr>
              <a:t>短程线</a:t>
            </a:r>
            <a:r>
              <a:rPr lang="en-US" altLang="zh-CN" sz="2800" dirty="0">
                <a:solidFill>
                  <a:schemeClr val="hlink"/>
                </a:solidFill>
              </a:rPr>
              <a:t>:</a:t>
            </a:r>
            <a:r>
              <a:rPr lang="en-US" altLang="zh-CN" sz="2800" i="1" dirty="0"/>
              <a:t>u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charset="2"/>
              </a:rPr>
              <a:t></a:t>
            </a:r>
            <a:r>
              <a:rPr lang="en-US" altLang="zh-CN" sz="2800" i="1" dirty="0">
                <a:sym typeface="Symbol" panose="05050102010706020507" charset="2"/>
              </a:rPr>
              <a:t>v</a:t>
            </a:r>
            <a:r>
              <a:rPr lang="zh-CN" altLang="en-US" sz="2800" dirty="0">
                <a:sym typeface="Symbol" panose="05050102010706020507" charset="2"/>
              </a:rPr>
              <a:t>，</a:t>
            </a:r>
            <a:r>
              <a:rPr lang="en-US" altLang="zh-CN" sz="2800" dirty="0">
                <a:solidFill>
                  <a:schemeClr val="hlink"/>
                </a:solidFill>
                <a:sym typeface="Symbol" panose="05050102010706020507" charset="2"/>
              </a:rPr>
              <a:t>min</a:t>
            </a:r>
            <a:r>
              <a:rPr lang="en-US" altLang="zh-CN" sz="2800" dirty="0">
                <a:sym typeface="Symbol" panose="05050102010706020507" charset="2"/>
              </a:rPr>
              <a:t>{</a:t>
            </a:r>
            <a:r>
              <a:rPr lang="el-GR" altLang="zh-CN" sz="3200" dirty="0">
                <a:latin typeface="Garamond" panose="02020404030301010803" charset="0"/>
              </a:rPr>
              <a:t>Γ</a:t>
            </a:r>
            <a:r>
              <a:rPr lang="en-US" altLang="zh-CN" sz="3200" i="1" baseline="-25000" dirty="0">
                <a:latin typeface="Garamond" panose="02020404030301010803" charset="0"/>
              </a:rPr>
              <a:t>i</a:t>
            </a:r>
            <a:r>
              <a:rPr lang="en-US" altLang="zh-CN" sz="2800" dirty="0">
                <a:sym typeface="Symbol" panose="05050102010706020507" charset="2"/>
              </a:rPr>
              <a:t>| </a:t>
            </a:r>
            <a:r>
              <a:rPr lang="el-GR" altLang="zh-CN" sz="3200" dirty="0">
                <a:latin typeface="Garamond" panose="02020404030301010803" charset="0"/>
              </a:rPr>
              <a:t>Γ</a:t>
            </a:r>
            <a:r>
              <a:rPr lang="en-US" altLang="zh-CN" sz="3200" i="1" baseline="-25000" dirty="0">
                <a:latin typeface="Garamond" panose="02020404030301010803" charset="0"/>
              </a:rPr>
              <a:t>i</a:t>
            </a:r>
            <a:r>
              <a:rPr lang="en-US" altLang="zh-CN" sz="3200" baseline="-25000" dirty="0">
                <a:latin typeface="Garamond" panose="02020404030301010803" charset="0"/>
              </a:rPr>
              <a:t> </a:t>
            </a:r>
            <a:r>
              <a:rPr lang="zh-CN" altLang="en-US" sz="2800" dirty="0">
                <a:sym typeface="Symbol" panose="05050102010706020507" charset="2"/>
              </a:rPr>
              <a:t>是</a:t>
            </a:r>
            <a:r>
              <a:rPr lang="en-US" altLang="zh-CN" sz="2800" i="1" dirty="0">
                <a:sym typeface="Symbol" panose="05050102010706020507" charset="2"/>
              </a:rPr>
              <a:t>u</a:t>
            </a:r>
            <a:r>
              <a:rPr lang="en-US" altLang="zh-CN" sz="2800" dirty="0">
                <a:sym typeface="Symbol" panose="05050102010706020507" charset="2"/>
              </a:rPr>
              <a:t>,</a:t>
            </a:r>
            <a:r>
              <a:rPr lang="en-US" altLang="zh-CN" sz="2800" i="1" dirty="0">
                <a:sym typeface="Symbol" panose="05050102010706020507" charset="2"/>
              </a:rPr>
              <a:t>v</a:t>
            </a:r>
            <a:r>
              <a:rPr lang="zh-CN" altLang="en-US" sz="2800" dirty="0">
                <a:sym typeface="Symbol" panose="05050102010706020507" charset="2"/>
              </a:rPr>
              <a:t>之间的通路</a:t>
            </a:r>
            <a:r>
              <a:rPr lang="zh-CN" sz="2800" dirty="0">
                <a:sym typeface="Symbol" panose="05050102010706020507" charset="2"/>
              </a:rPr>
              <a:t>，</a:t>
            </a:r>
            <a:r>
              <a:rPr lang="en-US" altLang="zh-CN" sz="2800" i="1" dirty="0">
                <a:sym typeface="Symbol" panose="05050102010706020507" charset="2"/>
              </a:rPr>
              <a:t>i</a:t>
            </a:r>
            <a:r>
              <a:rPr lang="en-US" altLang="zh-CN" sz="2800" dirty="0">
                <a:sym typeface="Symbol" panose="05050102010706020507" charset="2"/>
              </a:rPr>
              <a:t>=1,2,…,</a:t>
            </a:r>
            <a:r>
              <a:rPr lang="en-US" altLang="zh-CN" sz="2800" i="1" dirty="0">
                <a:sym typeface="Symbol" panose="05050102010706020507" charset="2"/>
              </a:rPr>
              <a:t>r</a:t>
            </a:r>
            <a:r>
              <a:rPr lang="en-US" altLang="zh-CN" sz="2800" dirty="0">
                <a:sym typeface="Symbol" panose="05050102010706020507" charset="2"/>
              </a:rPr>
              <a:t>}</a:t>
            </a:r>
            <a:r>
              <a:rPr lang="zh-CN" altLang="en-US" sz="2800" dirty="0">
                <a:sym typeface="Symbol" panose="05050102010706020507" charset="2"/>
              </a:rPr>
              <a:t>，</a:t>
            </a:r>
            <a:r>
              <a:rPr lang="en-US" altLang="zh-CN" sz="2800" i="1" dirty="0">
                <a:sym typeface="Symbol" panose="05050102010706020507" charset="2"/>
              </a:rPr>
              <a:t>r</a:t>
            </a:r>
            <a:r>
              <a:rPr lang="zh-CN" altLang="en-US" sz="2800" dirty="0">
                <a:sym typeface="Symbol" panose="05050102010706020507" charset="2"/>
              </a:rPr>
              <a:t>是</a:t>
            </a:r>
            <a:r>
              <a:rPr lang="en-US" altLang="zh-CN" sz="2800" i="1" dirty="0">
                <a:sym typeface="Symbol" panose="05050102010706020507" charset="2"/>
              </a:rPr>
              <a:t>u</a:t>
            </a:r>
            <a:r>
              <a:rPr lang="en-US" altLang="zh-CN" sz="2800" dirty="0">
                <a:sym typeface="Symbol" panose="05050102010706020507" charset="2"/>
              </a:rPr>
              <a:t>,</a:t>
            </a:r>
            <a:r>
              <a:rPr lang="en-US" altLang="zh-CN" sz="2800" i="1" dirty="0">
                <a:sym typeface="Symbol" panose="05050102010706020507" charset="2"/>
              </a:rPr>
              <a:t>v</a:t>
            </a:r>
            <a:r>
              <a:rPr lang="zh-CN" altLang="en-US" sz="2800" dirty="0">
                <a:sym typeface="Symbol" panose="05050102010706020507" charset="2"/>
              </a:rPr>
              <a:t>之间通路的数量</a:t>
            </a:r>
            <a:r>
              <a:rPr lang="en-US" altLang="zh-CN" sz="2800" dirty="0">
                <a:sym typeface="Symbol" panose="05050102010706020507" charset="2"/>
              </a:rPr>
              <a:t>.</a:t>
            </a:r>
            <a:endParaRPr lang="en-US" altLang="zh-CN" sz="2800" dirty="0">
              <a:sym typeface="Symbol" panose="05050102010706020507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chemeClr val="hlink"/>
                </a:solidFill>
                <a:sym typeface="Symbol" panose="05050102010706020507" charset="2"/>
              </a:rPr>
              <a:t>距离</a:t>
            </a:r>
            <a:r>
              <a:rPr lang="en-US" altLang="zh-CN" sz="2800" i="1" dirty="0">
                <a:solidFill>
                  <a:schemeClr val="hlink"/>
                </a:solidFill>
                <a:sym typeface="Symbol" panose="05050102010706020507" charset="2"/>
              </a:rPr>
              <a:t>d</a:t>
            </a:r>
            <a:r>
              <a:rPr lang="en-US" altLang="zh-CN" sz="2800" dirty="0">
                <a:solidFill>
                  <a:schemeClr val="hlink"/>
                </a:solidFill>
                <a:sym typeface="Symbol" panose="05050102010706020507" charset="2"/>
              </a:rPr>
              <a:t>(</a:t>
            </a:r>
            <a:r>
              <a:rPr lang="en-US" altLang="zh-CN" sz="2800" i="1" dirty="0">
                <a:solidFill>
                  <a:schemeClr val="hlink"/>
                </a:solidFill>
                <a:sym typeface="Symbol" panose="05050102010706020507" charset="2"/>
              </a:rPr>
              <a:t>u</a:t>
            </a:r>
            <a:r>
              <a:rPr lang="en-US" altLang="zh-CN" sz="2800" dirty="0">
                <a:solidFill>
                  <a:schemeClr val="hlink"/>
                </a:solidFill>
                <a:sym typeface="Symbol" panose="05050102010706020507" charset="2"/>
              </a:rPr>
              <a:t>,</a:t>
            </a:r>
            <a:r>
              <a:rPr lang="en-US" altLang="zh-CN" sz="2800" i="1" dirty="0">
                <a:solidFill>
                  <a:schemeClr val="hlink"/>
                </a:solidFill>
                <a:sym typeface="Symbol" panose="05050102010706020507" charset="2"/>
              </a:rPr>
              <a:t>v</a:t>
            </a:r>
            <a:r>
              <a:rPr lang="en-US" altLang="zh-CN" sz="2800" dirty="0">
                <a:solidFill>
                  <a:schemeClr val="hlink"/>
                </a:solidFill>
                <a:sym typeface="Symbol" panose="05050102010706020507" charset="2"/>
              </a:rPr>
              <a:t>)</a:t>
            </a:r>
            <a:r>
              <a:rPr lang="en-US" altLang="zh-CN" sz="2800" dirty="0">
                <a:sym typeface="Symbol" panose="05050102010706020507" charset="2"/>
              </a:rPr>
              <a:t>: </a:t>
            </a:r>
            <a:r>
              <a:rPr lang="en-US" altLang="zh-CN" sz="3200" i="1" dirty="0">
                <a:latin typeface="Garamond" panose="02020404030301010803" charset="0"/>
              </a:rPr>
              <a:t>u</a:t>
            </a:r>
            <a:r>
              <a:rPr lang="en-US" altLang="zh-CN" sz="3200" dirty="0">
                <a:latin typeface="Garamond" panose="02020404030301010803" charset="0"/>
              </a:rPr>
              <a:t>,</a:t>
            </a:r>
            <a:r>
              <a:rPr lang="en-US" altLang="zh-CN" sz="3200" i="1" dirty="0">
                <a:cs typeface="Times New Roman" panose="02020603050405020304" charset="0"/>
              </a:rPr>
              <a:t>v</a:t>
            </a:r>
            <a:r>
              <a:rPr lang="zh-CN" altLang="en-US" sz="3200" dirty="0">
                <a:latin typeface="Garamond" panose="02020404030301010803" charset="0"/>
              </a:rPr>
              <a:t>之间</a:t>
            </a:r>
            <a:r>
              <a:rPr lang="zh-CN" altLang="en-US" sz="2800" dirty="0">
                <a:sym typeface="Symbol" panose="05050102010706020507" charset="2"/>
              </a:rPr>
              <a:t>短线程的长度</a:t>
            </a:r>
            <a:r>
              <a:rPr lang="en-US" altLang="zh-CN" sz="2800" dirty="0">
                <a:sym typeface="Symbol" panose="05050102010706020507" charset="2"/>
              </a:rPr>
              <a:t>. </a:t>
            </a:r>
            <a:endParaRPr lang="en-US" altLang="zh-CN" sz="2800" dirty="0">
              <a:sym typeface="Symbol" panose="05050102010706020507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dirty="0">
                <a:sym typeface="Symbol" panose="05050102010706020507" charset="2"/>
              </a:rPr>
              <a:t>规定：</a:t>
            </a:r>
            <a:r>
              <a:rPr lang="en-US" altLang="zh-CN" sz="2800" i="1" dirty="0">
                <a:sym typeface="Symbol" panose="05050102010706020507" charset="2"/>
              </a:rPr>
              <a:t>u</a:t>
            </a:r>
            <a:r>
              <a:rPr lang="en-US" altLang="zh-CN" sz="2800" dirty="0">
                <a:sym typeface="Symbol" panose="05050102010706020507" charset="2"/>
              </a:rPr>
              <a:t>,</a:t>
            </a:r>
            <a:r>
              <a:rPr lang="en-US" altLang="zh-CN" sz="2800" i="1" dirty="0">
                <a:sym typeface="Symbol" panose="05050102010706020507" charset="2"/>
              </a:rPr>
              <a:t>v</a:t>
            </a:r>
            <a:r>
              <a:rPr lang="zh-CN" altLang="en-US" sz="2800" dirty="0">
                <a:sym typeface="Symbol" panose="05050102010706020507" charset="2"/>
              </a:rPr>
              <a:t>不连通时</a:t>
            </a:r>
            <a:r>
              <a:rPr lang="en-US" altLang="zh-CN" sz="2800" dirty="0">
                <a:sym typeface="Symbol" panose="05050102010706020507" charset="2"/>
              </a:rPr>
              <a:t>,</a:t>
            </a:r>
            <a:r>
              <a:rPr lang="en-US" altLang="zh-CN" sz="2800" i="1" dirty="0">
                <a:solidFill>
                  <a:srgbClr val="FF0000"/>
                </a:solidFill>
                <a:sym typeface="Symbol" panose="05050102010706020507" charset="2"/>
              </a:rPr>
              <a:t>d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charset="2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sym typeface="Symbol" panose="05050102010706020507" charset="2"/>
              </a:rPr>
              <a:t>u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charset="2"/>
              </a:rPr>
              <a:t>,</a:t>
            </a:r>
            <a:r>
              <a:rPr lang="en-US" altLang="zh-CN" sz="2800" i="1" dirty="0">
                <a:solidFill>
                  <a:srgbClr val="FF0000"/>
                </a:solidFill>
                <a:sym typeface="Symbol" panose="05050102010706020507" charset="2"/>
              </a:rPr>
              <a:t>v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charset="2"/>
              </a:rPr>
              <a:t>)=.</a:t>
            </a:r>
            <a:endParaRPr lang="en-US" altLang="zh-CN" sz="2800" dirty="0">
              <a:solidFill>
                <a:srgbClr val="FF0000"/>
              </a:solidFill>
              <a:sym typeface="Symbol" panose="05050102010706020507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800" dirty="0">
                <a:sym typeface="Symbol" panose="05050102010706020507" charset="2"/>
              </a:rPr>
              <a:t>距离</a:t>
            </a:r>
            <a:r>
              <a:rPr lang="en-US" altLang="zh-CN" sz="2800" dirty="0">
                <a:sym typeface="Symbol" panose="05050102010706020507" charset="2"/>
              </a:rPr>
              <a:t>d(</a:t>
            </a:r>
            <a:r>
              <a:rPr lang="en-US" altLang="zh-CN" sz="2800" i="1" dirty="0">
                <a:sym typeface="Symbol" panose="05050102010706020507" charset="2"/>
              </a:rPr>
              <a:t>u</a:t>
            </a:r>
            <a:r>
              <a:rPr lang="en-US" altLang="zh-CN" sz="2800" dirty="0">
                <a:sym typeface="Symbol" panose="05050102010706020507" charset="2"/>
              </a:rPr>
              <a:t>,</a:t>
            </a:r>
            <a:r>
              <a:rPr lang="en-US" altLang="zh-CN" sz="2800" i="1" dirty="0">
                <a:sym typeface="Symbol" panose="05050102010706020507" charset="2"/>
              </a:rPr>
              <a:t>v</a:t>
            </a:r>
            <a:r>
              <a:rPr lang="en-US" altLang="zh-CN" sz="2800" dirty="0">
                <a:sym typeface="Symbol" panose="05050102010706020507" charset="2"/>
              </a:rPr>
              <a:t>)</a:t>
            </a:r>
            <a:r>
              <a:rPr lang="zh-CN" altLang="en-US" sz="2800" dirty="0">
                <a:sym typeface="Symbol" panose="05050102010706020507" charset="2"/>
              </a:rPr>
              <a:t>的性质</a:t>
            </a:r>
            <a:r>
              <a:rPr lang="en-US" altLang="zh-CN" sz="2800" dirty="0">
                <a:sym typeface="Symbol" panose="05050102010706020507" charset="2"/>
              </a:rPr>
              <a:t>:</a:t>
            </a:r>
            <a:endParaRPr lang="en-US" altLang="zh-CN" sz="2800" dirty="0">
              <a:sym typeface="Symbol" panose="05050102010706020507" charset="2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sym typeface="Symbol" panose="05050102010706020507" charset="2"/>
              </a:rPr>
              <a:t>d(</a:t>
            </a:r>
            <a:r>
              <a:rPr lang="en-US" altLang="zh-CN" sz="2400" i="1" dirty="0">
                <a:sym typeface="Symbol" panose="05050102010706020507" charset="2"/>
              </a:rPr>
              <a:t>u</a:t>
            </a:r>
            <a:r>
              <a:rPr lang="en-US" altLang="zh-CN" sz="2400" dirty="0">
                <a:sym typeface="Symbol" panose="05050102010706020507" charset="2"/>
              </a:rPr>
              <a:t>,</a:t>
            </a:r>
            <a:r>
              <a:rPr lang="en-US" altLang="zh-CN" sz="2400" i="1" dirty="0">
                <a:sym typeface="Symbol" panose="05050102010706020507" charset="2"/>
              </a:rPr>
              <a:t>v</a:t>
            </a:r>
            <a:r>
              <a:rPr lang="en-US" altLang="zh-CN" sz="2400" dirty="0">
                <a:sym typeface="Symbol" panose="05050102010706020507" charset="2"/>
              </a:rPr>
              <a:t>)0,</a:t>
            </a:r>
            <a:r>
              <a:rPr lang="en-US" altLang="zh-CN" sz="2400" i="1" dirty="0">
                <a:sym typeface="Symbol" panose="05050102010706020507" charset="2"/>
              </a:rPr>
              <a:t>u</a:t>
            </a:r>
            <a:r>
              <a:rPr lang="en-US" altLang="zh-CN" sz="2400" dirty="0">
                <a:sym typeface="Symbol" panose="05050102010706020507" charset="2"/>
              </a:rPr>
              <a:t>=</a:t>
            </a:r>
            <a:r>
              <a:rPr lang="en-US" altLang="zh-CN" sz="2400" i="1" dirty="0">
                <a:sym typeface="Symbol" panose="05050102010706020507" charset="2"/>
              </a:rPr>
              <a:t>v</a:t>
            </a:r>
            <a:r>
              <a:rPr lang="zh-CN" altLang="en-US" sz="2400" dirty="0">
                <a:sym typeface="Symbol" panose="05050102010706020507" charset="2"/>
              </a:rPr>
              <a:t>时</a:t>
            </a:r>
            <a:r>
              <a:rPr lang="en-US" altLang="zh-CN" sz="2400" dirty="0">
                <a:sym typeface="Symbol" panose="05050102010706020507" charset="2"/>
              </a:rPr>
              <a:t>,</a:t>
            </a:r>
            <a:r>
              <a:rPr lang="zh-CN" altLang="en-US" sz="2400" dirty="0">
                <a:sym typeface="Symbol" panose="05050102010706020507" charset="2"/>
              </a:rPr>
              <a:t>等号成立</a:t>
            </a:r>
            <a:r>
              <a:rPr lang="en-US" altLang="zh-CN" sz="2400" dirty="0">
                <a:sym typeface="Symbol" panose="05050102010706020507" charset="2"/>
              </a:rPr>
              <a:t>;</a:t>
            </a:r>
            <a:endParaRPr lang="en-US" altLang="zh-CN" sz="2400" dirty="0">
              <a:sym typeface="Symbol" panose="05050102010706020507" charset="2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ym typeface="Symbol" panose="05050102010706020507" charset="2"/>
              </a:rPr>
              <a:t>满足三角不等式：</a:t>
            </a:r>
            <a:r>
              <a:rPr lang="en-US" altLang="zh-CN" sz="2400" dirty="0">
                <a:sym typeface="Symbol" panose="05050102010706020507" charset="2"/>
              </a:rPr>
              <a:t></a:t>
            </a:r>
            <a:r>
              <a:rPr lang="en-US" altLang="zh-CN" sz="2400" i="1" dirty="0">
                <a:sym typeface="Symbol" panose="05050102010706020507" charset="2"/>
              </a:rPr>
              <a:t>u</a:t>
            </a:r>
            <a:r>
              <a:rPr lang="en-US" altLang="zh-CN" sz="2400" dirty="0">
                <a:sym typeface="Symbol" panose="05050102010706020507" charset="2"/>
              </a:rPr>
              <a:t>,</a:t>
            </a:r>
            <a:r>
              <a:rPr lang="en-US" altLang="zh-CN" sz="2400" i="1" dirty="0">
                <a:sym typeface="Symbol" panose="05050102010706020507" charset="2"/>
              </a:rPr>
              <a:t>v</a:t>
            </a:r>
            <a:r>
              <a:rPr lang="en-US" altLang="zh-CN" sz="2400" dirty="0">
                <a:sym typeface="Symbol" panose="05050102010706020507" charset="2"/>
              </a:rPr>
              <a:t>,</a:t>
            </a:r>
            <a:r>
              <a:rPr lang="en-US" altLang="zh-CN" sz="2400" i="1" dirty="0">
                <a:sym typeface="Symbol" panose="05050102010706020507" charset="2"/>
              </a:rPr>
              <a:t>w</a:t>
            </a:r>
            <a:r>
              <a:rPr lang="en-US" altLang="zh-CN" sz="2400" dirty="0">
                <a:sym typeface="Symbol" panose="05050102010706020507" charset="2"/>
              </a:rPr>
              <a:t>V(G),</a:t>
            </a:r>
            <a:r>
              <a:rPr lang="zh-CN" altLang="en-US" sz="2400" dirty="0">
                <a:sym typeface="Symbol" panose="05050102010706020507" charset="2"/>
              </a:rPr>
              <a:t>则</a:t>
            </a:r>
            <a:r>
              <a:rPr lang="en-US" altLang="zh-CN" sz="2400" dirty="0">
                <a:sym typeface="Symbol" panose="05050102010706020507" charset="2"/>
              </a:rPr>
              <a:t>d(</a:t>
            </a:r>
            <a:r>
              <a:rPr lang="en-US" altLang="zh-CN" sz="2400" i="1" dirty="0">
                <a:sym typeface="Symbol" panose="05050102010706020507" charset="2"/>
              </a:rPr>
              <a:t>u</a:t>
            </a:r>
            <a:r>
              <a:rPr lang="en-US" altLang="zh-CN" sz="2400" dirty="0">
                <a:sym typeface="Symbol" panose="05050102010706020507" charset="2"/>
              </a:rPr>
              <a:t>,</a:t>
            </a:r>
            <a:r>
              <a:rPr lang="en-US" altLang="zh-CN" sz="2400" i="1" dirty="0">
                <a:sym typeface="Symbol" panose="05050102010706020507" charset="2"/>
              </a:rPr>
              <a:t>v</a:t>
            </a:r>
            <a:r>
              <a:rPr lang="en-US" altLang="zh-CN" sz="2400" dirty="0">
                <a:sym typeface="Symbol" panose="05050102010706020507" charset="2"/>
              </a:rPr>
              <a:t>)+d(</a:t>
            </a:r>
            <a:r>
              <a:rPr lang="en-US" altLang="zh-CN" sz="2400" i="1" dirty="0">
                <a:sym typeface="Symbol" panose="05050102010706020507" charset="2"/>
              </a:rPr>
              <a:t>v</a:t>
            </a:r>
            <a:r>
              <a:rPr lang="en-US" altLang="zh-CN" sz="2400" dirty="0">
                <a:sym typeface="Symbol" panose="05050102010706020507" charset="2"/>
              </a:rPr>
              <a:t>,</a:t>
            </a:r>
            <a:r>
              <a:rPr lang="en-US" altLang="zh-CN" sz="2400" i="1" dirty="0">
                <a:sym typeface="Symbol" panose="05050102010706020507" charset="2"/>
              </a:rPr>
              <a:t>w</a:t>
            </a:r>
            <a:r>
              <a:rPr lang="en-US" altLang="zh-CN" sz="2400" dirty="0">
                <a:sym typeface="Symbol" panose="05050102010706020507" charset="2"/>
              </a:rPr>
              <a:t>) d(</a:t>
            </a:r>
            <a:r>
              <a:rPr lang="en-US" altLang="zh-CN" sz="2400" i="1" dirty="0">
                <a:sym typeface="Symbol" panose="05050102010706020507" charset="2"/>
              </a:rPr>
              <a:t>u</a:t>
            </a:r>
            <a:r>
              <a:rPr lang="en-US" altLang="zh-CN" sz="2400" dirty="0">
                <a:sym typeface="Symbol" panose="05050102010706020507" charset="2"/>
              </a:rPr>
              <a:t>,</a:t>
            </a:r>
            <a:r>
              <a:rPr lang="en-US" altLang="zh-CN" sz="2400" i="1" dirty="0">
                <a:sym typeface="Symbol" panose="05050102010706020507" charset="2"/>
              </a:rPr>
              <a:t>w</a:t>
            </a:r>
            <a:r>
              <a:rPr lang="en-US" altLang="zh-CN" sz="2400" dirty="0">
                <a:sym typeface="Symbol" panose="05050102010706020507" charset="2"/>
              </a:rPr>
              <a:t>);</a:t>
            </a:r>
            <a:endParaRPr lang="en-US" altLang="zh-CN" sz="2400" dirty="0">
              <a:sym typeface="Symbol" panose="05050102010706020507" charset="2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ym typeface="Symbol" panose="05050102010706020507" charset="2"/>
              </a:rPr>
              <a:t>具有对称性</a:t>
            </a:r>
            <a:r>
              <a:rPr lang="en-US" altLang="zh-CN" sz="2400" dirty="0">
                <a:sym typeface="Symbol" panose="05050102010706020507" charset="2"/>
              </a:rPr>
              <a:t>:d(</a:t>
            </a:r>
            <a:r>
              <a:rPr lang="en-US" altLang="zh-CN" sz="2400" i="1" dirty="0">
                <a:sym typeface="Symbol" panose="05050102010706020507" charset="2"/>
              </a:rPr>
              <a:t>u</a:t>
            </a:r>
            <a:r>
              <a:rPr lang="en-US" altLang="zh-CN" sz="2400" dirty="0">
                <a:sym typeface="Symbol" panose="05050102010706020507" charset="2"/>
              </a:rPr>
              <a:t>,</a:t>
            </a:r>
            <a:r>
              <a:rPr lang="en-US" altLang="zh-CN" sz="2400" i="1" dirty="0">
                <a:sym typeface="Symbol" panose="05050102010706020507" charset="2"/>
              </a:rPr>
              <a:t>v</a:t>
            </a:r>
            <a:r>
              <a:rPr lang="en-US" altLang="zh-CN" sz="2400" dirty="0">
                <a:sym typeface="Symbol" panose="05050102010706020507" charset="2"/>
              </a:rPr>
              <a:t>)=d(</a:t>
            </a:r>
            <a:r>
              <a:rPr lang="en-US" altLang="zh-CN" sz="2400" i="1" dirty="0">
                <a:sym typeface="Symbol" panose="05050102010706020507" charset="2"/>
              </a:rPr>
              <a:t>v</a:t>
            </a:r>
            <a:r>
              <a:rPr lang="en-US" altLang="zh-CN" sz="2400" dirty="0">
                <a:sym typeface="Symbol" panose="05050102010706020507" charset="2"/>
              </a:rPr>
              <a:t>,</a:t>
            </a:r>
            <a:r>
              <a:rPr lang="en-US" altLang="zh-CN" sz="2400" i="1" dirty="0">
                <a:sym typeface="Symbol" panose="05050102010706020507" charset="2"/>
              </a:rPr>
              <a:t>u</a:t>
            </a:r>
            <a:r>
              <a:rPr lang="en-US" altLang="zh-CN" sz="2400" dirty="0">
                <a:sym typeface="Symbol" panose="05050102010706020507" charset="2"/>
              </a:rPr>
              <a:t>).</a:t>
            </a:r>
            <a:endParaRPr lang="zh-CN" altLang="en-US" sz="2400" dirty="0">
              <a:sym typeface="Symbol" panose="05050102010706020507" charset="2"/>
            </a:endParaRPr>
          </a:p>
        </p:txBody>
      </p:sp>
      <p:sp>
        <p:nvSpPr>
          <p:cNvPr id="921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图</a:t>
            </a:r>
            <a:r>
              <a:rPr lang="en-US" altLang="zh-CN" dirty="0"/>
              <a:t>G</a:t>
            </a:r>
            <a:r>
              <a:rPr lang="zh-CN" altLang="en-US" dirty="0"/>
              <a:t>的直径</a:t>
            </a:r>
            <a:r>
              <a:rPr lang="en-US" altLang="zh-CN" dirty="0"/>
              <a:t>d(G)</a:t>
            </a:r>
            <a:endParaRPr lang="zh-CN" altLang="en-US" dirty="0"/>
          </a:p>
        </p:txBody>
      </p:sp>
      <p:sp>
        <p:nvSpPr>
          <p:cNvPr id="2355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800">
                <a:sym typeface="Symbol" panose="05050102010706020507" charset="2"/>
              </a:rPr>
              <a:t>图</a:t>
            </a:r>
            <a:r>
              <a:rPr lang="en-US" altLang="zh-CN" sz="2800">
                <a:solidFill>
                  <a:schemeClr val="hlink"/>
                </a:solidFill>
                <a:sym typeface="Symbol" panose="05050102010706020507" charset="2"/>
              </a:rPr>
              <a:t>G</a:t>
            </a:r>
            <a:r>
              <a:rPr lang="zh-CN" altLang="en-US" sz="2800">
                <a:solidFill>
                  <a:schemeClr val="hlink"/>
                </a:solidFill>
                <a:sym typeface="Symbol" panose="05050102010706020507" charset="2"/>
              </a:rPr>
              <a:t>的直径</a:t>
            </a:r>
            <a:r>
              <a:rPr lang="en-US" altLang="zh-CN" sz="2800" i="1">
                <a:solidFill>
                  <a:schemeClr val="hlink"/>
                </a:solidFill>
                <a:sym typeface="Symbol" panose="05050102010706020507" charset="2"/>
              </a:rPr>
              <a:t>d</a:t>
            </a:r>
            <a:r>
              <a:rPr lang="en-US" altLang="zh-CN" sz="2800">
                <a:solidFill>
                  <a:schemeClr val="hlink"/>
                </a:solidFill>
                <a:sym typeface="Symbol" panose="05050102010706020507" charset="2"/>
              </a:rPr>
              <a:t>(G)</a:t>
            </a:r>
            <a:r>
              <a:rPr lang="zh-CN" altLang="en-US" sz="2800">
                <a:solidFill>
                  <a:schemeClr val="hlink"/>
                </a:solidFill>
                <a:sym typeface="Symbol" panose="05050102010706020507" charset="2"/>
              </a:rPr>
              <a:t>：</a:t>
            </a:r>
            <a:r>
              <a:rPr lang="en-US" altLang="zh-CN" sz="2800" i="1">
                <a:sym typeface="Symbol" panose="05050102010706020507" charset="2"/>
              </a:rPr>
              <a:t>max</a:t>
            </a:r>
            <a:r>
              <a:rPr lang="en-US" altLang="zh-CN" sz="2800">
                <a:sym typeface="Symbol" panose="05050102010706020507" charset="2"/>
              </a:rPr>
              <a:t>{</a:t>
            </a:r>
            <a:r>
              <a:rPr lang="en-US" altLang="zh-CN" sz="2800" i="1">
                <a:sym typeface="Symbol" panose="05050102010706020507" charset="2"/>
              </a:rPr>
              <a:t>d</a:t>
            </a:r>
            <a:r>
              <a:rPr lang="en-US" altLang="zh-CN" sz="2800">
                <a:sym typeface="Symbol" panose="05050102010706020507" charset="2"/>
              </a:rPr>
              <a:t>(</a:t>
            </a:r>
            <a:r>
              <a:rPr lang="en-US" altLang="zh-CN" sz="2800" i="1" err="1">
                <a:sym typeface="Symbol" panose="05050102010706020507" charset="2"/>
              </a:rPr>
              <a:t>u</a:t>
            </a:r>
            <a:r>
              <a:rPr lang="en-US" altLang="zh-CN" sz="2800" err="1">
                <a:sym typeface="Symbol" panose="05050102010706020507" charset="2"/>
              </a:rPr>
              <a:t>,</a:t>
            </a:r>
            <a:r>
              <a:rPr lang="en-US" altLang="zh-CN" sz="2800" i="1" err="1">
                <a:sym typeface="Symbol" panose="05050102010706020507" charset="2"/>
              </a:rPr>
              <a:t>v</a:t>
            </a:r>
            <a:r>
              <a:rPr lang="en-US" altLang="zh-CN" sz="2800">
                <a:sym typeface="Symbol" panose="05050102010706020507" charset="2"/>
              </a:rPr>
              <a:t>)|</a:t>
            </a:r>
            <a:r>
              <a:rPr lang="en-US" altLang="zh-CN" sz="2800" i="1" err="1">
                <a:sym typeface="Symbol" panose="05050102010706020507" charset="2"/>
              </a:rPr>
              <a:t>u</a:t>
            </a:r>
            <a:r>
              <a:rPr lang="en-US" altLang="zh-CN" sz="2800" err="1">
                <a:sym typeface="Symbol" panose="05050102010706020507" charset="2"/>
              </a:rPr>
              <a:t>,</a:t>
            </a:r>
            <a:r>
              <a:rPr lang="en-US" altLang="zh-CN" sz="2800" i="1" err="1">
                <a:sym typeface="Symbol" panose="05050102010706020507" charset="2"/>
              </a:rPr>
              <a:t>v</a:t>
            </a:r>
            <a:r>
              <a:rPr lang="en-US" altLang="zh-CN" sz="2800">
                <a:sym typeface="Symbol" panose="05050102010706020507" charset="2"/>
              </a:rPr>
              <a:t> V(G)}</a:t>
            </a:r>
            <a:endParaRPr lang="en-US" altLang="zh-CN" sz="2800" i="1">
              <a:sym typeface="Symbol" panose="05050102010706020507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800">
                <a:sym typeface="Symbol" panose="05050102010706020507" charset="2"/>
              </a:rPr>
              <a:t>几个特殊图的距离</a:t>
            </a:r>
            <a:endParaRPr lang="en-US" altLang="zh-CN" sz="2800">
              <a:sym typeface="Symbol" panose="05050102010706020507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>
                <a:sym typeface="Symbol" panose="05050102010706020507" charset="2"/>
              </a:rPr>
              <a:t>(1) </a:t>
            </a:r>
            <a:r>
              <a:rPr lang="en-US" altLang="zh-CN" sz="2800" i="1">
                <a:sym typeface="Symbol" panose="05050102010706020507" charset="2"/>
              </a:rPr>
              <a:t>d</a:t>
            </a:r>
            <a:r>
              <a:rPr lang="en-US" altLang="zh-CN" sz="2800">
                <a:sym typeface="Symbol" panose="05050102010706020507" charset="2"/>
              </a:rPr>
              <a:t>(</a:t>
            </a:r>
            <a:r>
              <a:rPr lang="en-US" altLang="zh-CN" sz="2800" err="1">
                <a:sym typeface="Symbol" panose="05050102010706020507" charset="2"/>
              </a:rPr>
              <a:t>K</a:t>
            </a:r>
            <a:r>
              <a:rPr lang="en-US" altLang="zh-CN" sz="2800" i="1" baseline="-25000" err="1">
                <a:sym typeface="Symbol" panose="05050102010706020507" charset="2"/>
              </a:rPr>
              <a:t>n</a:t>
            </a:r>
            <a:r>
              <a:rPr lang="en-US" altLang="zh-CN" sz="2800">
                <a:sym typeface="Symbol" panose="05050102010706020507" charset="2"/>
              </a:rPr>
              <a:t>)=</a:t>
            </a:r>
            <a:r>
              <a:rPr lang="zh-CN" altLang="en-US" sz="2800">
                <a:sym typeface="Symbol" panose="05050102010706020507" charset="2"/>
              </a:rPr>
              <a:t>（）</a:t>
            </a:r>
            <a:r>
              <a:rPr lang="en-US" altLang="zh-CN" sz="2800">
                <a:sym typeface="Symbol" panose="05050102010706020507" charset="2"/>
              </a:rPr>
              <a:t>;</a:t>
            </a:r>
            <a:endParaRPr lang="en-US" altLang="zh-CN" sz="2800">
              <a:sym typeface="Symbol" panose="05050102010706020507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>
                <a:sym typeface="Symbol" panose="05050102010706020507" charset="2"/>
              </a:rPr>
              <a:t>(2) </a:t>
            </a:r>
            <a:r>
              <a:rPr lang="zh-CN" altLang="en-US" sz="2800">
                <a:sym typeface="Symbol" panose="05050102010706020507" charset="2"/>
              </a:rPr>
              <a:t>长度为</a:t>
            </a:r>
            <a:r>
              <a:rPr lang="en-US" altLang="zh-CN" sz="2800" i="1">
                <a:sym typeface="Symbol" panose="05050102010706020507" charset="2"/>
              </a:rPr>
              <a:t>n</a:t>
            </a:r>
            <a:r>
              <a:rPr lang="zh-CN" altLang="en-US" sz="2800">
                <a:sym typeface="Symbol" panose="05050102010706020507" charset="2"/>
              </a:rPr>
              <a:t>的圈</a:t>
            </a:r>
            <a:r>
              <a:rPr lang="en-US" altLang="zh-CN" sz="2800">
                <a:sym typeface="Symbol" panose="05050102010706020507" charset="2"/>
              </a:rPr>
              <a:t>G: </a:t>
            </a:r>
            <a:r>
              <a:rPr lang="en-US" altLang="zh-CN" sz="2800" i="1">
                <a:sym typeface="Symbol" panose="05050102010706020507" charset="2"/>
              </a:rPr>
              <a:t>d</a:t>
            </a:r>
            <a:r>
              <a:rPr lang="en-US" altLang="zh-CN" sz="2800">
                <a:sym typeface="Symbol" panose="05050102010706020507" charset="2"/>
              </a:rPr>
              <a:t>(G)=</a:t>
            </a:r>
            <a:r>
              <a:rPr lang="zh-CN" altLang="en-US" sz="2800">
                <a:sym typeface="Symbol" panose="05050102010706020507" charset="2"/>
              </a:rPr>
              <a:t>（）</a:t>
            </a:r>
            <a:r>
              <a:rPr lang="en-US" altLang="zh-CN" sz="2800">
                <a:sym typeface="Symbol" panose="05050102010706020507" charset="2"/>
              </a:rPr>
              <a:t>; </a:t>
            </a:r>
            <a:endParaRPr lang="en-US" altLang="zh-CN" sz="2800">
              <a:sym typeface="Symbol" panose="05050102010706020507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>
                <a:sym typeface="Symbol" panose="05050102010706020507" charset="2"/>
              </a:rPr>
              <a:t>(3) </a:t>
            </a:r>
            <a:r>
              <a:rPr lang="zh-CN" altLang="en-US" sz="2800">
                <a:sym typeface="Symbol" panose="05050102010706020507" charset="2"/>
              </a:rPr>
              <a:t>平凡图</a:t>
            </a:r>
            <a:r>
              <a:rPr lang="en-US" altLang="zh-CN" sz="2800">
                <a:sym typeface="Symbol" panose="05050102010706020507" charset="2"/>
              </a:rPr>
              <a:t>G: </a:t>
            </a:r>
            <a:r>
              <a:rPr lang="en-US" altLang="zh-CN" sz="2800" i="1">
                <a:sym typeface="Symbol" panose="05050102010706020507" charset="2"/>
              </a:rPr>
              <a:t>d</a:t>
            </a:r>
            <a:r>
              <a:rPr lang="en-US" altLang="zh-CN" sz="2800">
                <a:sym typeface="Symbol" panose="05050102010706020507" charset="2"/>
              </a:rPr>
              <a:t>(G)=</a:t>
            </a:r>
            <a:r>
              <a:rPr lang="zh-CN" altLang="en-US" sz="2800">
                <a:sym typeface="Symbol" panose="05050102010706020507" charset="2"/>
              </a:rPr>
              <a:t>（）</a:t>
            </a:r>
            <a:r>
              <a:rPr lang="en-US" altLang="zh-CN" sz="2800">
                <a:sym typeface="Symbol" panose="05050102010706020507" charset="2"/>
              </a:rPr>
              <a:t>;</a:t>
            </a:r>
            <a:endParaRPr lang="en-US" altLang="zh-CN" sz="2800">
              <a:sym typeface="Symbol" panose="05050102010706020507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>
                <a:sym typeface="Symbol" panose="05050102010706020507" charset="2"/>
              </a:rPr>
              <a:t>(4) </a:t>
            </a:r>
            <a:r>
              <a:rPr lang="zh-CN" altLang="en-US" sz="2800">
                <a:sym typeface="Symbol" panose="05050102010706020507" charset="2"/>
              </a:rPr>
              <a:t>零图</a:t>
            </a:r>
            <a:r>
              <a:rPr lang="en-US" altLang="zh-CN" sz="2800" err="1">
                <a:sym typeface="Symbol" panose="05050102010706020507" charset="2"/>
              </a:rPr>
              <a:t>N</a:t>
            </a:r>
            <a:r>
              <a:rPr lang="en-US" altLang="zh-CN" sz="2800" i="1" baseline="-25000" err="1">
                <a:sym typeface="Symbol" panose="05050102010706020507" charset="2"/>
              </a:rPr>
              <a:t>n</a:t>
            </a:r>
            <a:r>
              <a:rPr lang="en-US" altLang="zh-CN" sz="2800">
                <a:sym typeface="Symbol" panose="05050102010706020507" charset="2"/>
              </a:rPr>
              <a:t>(</a:t>
            </a:r>
            <a:r>
              <a:rPr lang="en-US" altLang="zh-CN" sz="2800" i="1">
                <a:sym typeface="Symbol" panose="05050102010706020507" charset="2"/>
              </a:rPr>
              <a:t>n</a:t>
            </a:r>
            <a:r>
              <a:rPr lang="en-US" altLang="zh-CN" sz="2800">
                <a:sym typeface="Symbol" panose="05050102010706020507" charset="2"/>
              </a:rPr>
              <a:t>2): </a:t>
            </a:r>
            <a:r>
              <a:rPr lang="en-US" altLang="zh-CN" sz="2800" i="1">
                <a:sym typeface="Symbol" panose="05050102010706020507" charset="2"/>
              </a:rPr>
              <a:t>d</a:t>
            </a:r>
            <a:r>
              <a:rPr lang="en-US" altLang="zh-CN" sz="2800">
                <a:sym typeface="Symbol" panose="05050102010706020507" charset="2"/>
              </a:rPr>
              <a:t>(</a:t>
            </a:r>
            <a:r>
              <a:rPr lang="en-US" altLang="zh-CN" sz="2800" err="1">
                <a:sym typeface="Symbol" panose="05050102010706020507" charset="2"/>
              </a:rPr>
              <a:t>N</a:t>
            </a:r>
            <a:r>
              <a:rPr lang="en-US" altLang="zh-CN" sz="2800" i="1" baseline="-25000" err="1">
                <a:sym typeface="Symbol" panose="05050102010706020507" charset="2"/>
              </a:rPr>
              <a:t>n</a:t>
            </a:r>
            <a:r>
              <a:rPr lang="en-US" altLang="zh-CN" sz="2800">
                <a:sym typeface="Symbol" panose="05050102010706020507" charset="2"/>
              </a:rPr>
              <a:t>)= </a:t>
            </a:r>
            <a:r>
              <a:rPr lang="zh-CN" altLang="en-US" sz="2800">
                <a:sym typeface="Symbol" panose="05050102010706020507" charset="2"/>
              </a:rPr>
              <a:t>（）</a:t>
            </a:r>
            <a:r>
              <a:rPr lang="en-US" altLang="zh-CN" sz="2800">
                <a:sym typeface="Symbol" panose="05050102010706020507" charset="2"/>
              </a:rPr>
              <a:t>.</a:t>
            </a:r>
            <a:endParaRPr lang="en-US" altLang="zh-CN" sz="2800">
              <a:sym typeface="Symbol" panose="05050102010706020507" charset="2"/>
            </a:endParaRPr>
          </a:p>
        </p:txBody>
      </p:sp>
      <p:sp>
        <p:nvSpPr>
          <p:cNvPr id="23556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dirty="0">
                <a:latin typeface="Times New Roman" panose="02020603050405020304" charset="0"/>
              </a:rPr>
            </a:fld>
            <a:endParaRPr lang="en-US" altLang="zh-CN" sz="1400" dirty="0">
              <a:latin typeface="Times New Roman" panose="02020603050405020304" charset="0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5292090" y="2937510"/>
            <a:ext cx="2915920" cy="98298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12700" algn="ctr" rotWithShape="0">
              <a:schemeClr val="bg2"/>
            </a:outerShdw>
          </a:effec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charset="0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charset="0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charset="0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charset="0"/>
                <a:ea typeface="黑体" panose="02010609060101010101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charset="0"/>
                <a:ea typeface="黑体" panose="02010609060101010101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charset="0"/>
                <a:ea typeface="黑体" panose="02010609060101010101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charset="0"/>
                <a:ea typeface="黑体" panose="02010609060101010101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charset="0"/>
                <a:ea typeface="黑体" panose="02010609060101010101" charset="-122"/>
              </a:defRPr>
            </a:lvl9pPr>
          </a:lstStyle>
          <a:p>
            <a:r>
              <a:rPr lang="zh-CN" altLang="en-US" sz="4000" dirty="0">
                <a:solidFill>
                  <a:srgbClr val="FF0000"/>
                </a:solidFill>
              </a:rPr>
              <a:t>课后作业二</a:t>
            </a:r>
            <a:endParaRPr lang="en-US" altLang="zh-CN" sz="4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3"/>
          <p:cNvSpPr>
            <a:spLocks noGrp="1"/>
          </p:cNvSpPr>
          <p:nvPr>
            <p:ph idx="1"/>
          </p:nvPr>
        </p:nvSpPr>
        <p:spPr>
          <a:xfrm>
            <a:off x="323850" y="1341120"/>
            <a:ext cx="8496300" cy="5256213"/>
          </a:xfrm>
        </p:spPr>
        <p:txBody>
          <a:bodyPr vert="horz" wrap="square" lIns="91440" tIns="45720" rIns="91440" bIns="45720" anchor="t"/>
          <a:p>
            <a:pPr eaLnBrk="1" hangingPunct="1">
              <a:buNone/>
            </a:pPr>
            <a:r>
              <a:rPr lang="zh-CN" altLang="en-US" dirty="0"/>
              <a:t>例</a:t>
            </a:r>
            <a:r>
              <a:rPr lang="en-US" altLang="zh-CN" dirty="0"/>
              <a:t>3 </a:t>
            </a:r>
            <a:r>
              <a:rPr lang="zh-CN" altLang="en-US" dirty="0"/>
              <a:t>下列图是连通图吗？连通分支数分别</a:t>
            </a:r>
            <a:r>
              <a:rPr lang="en-US" altLang="zh-CN" i="1" dirty="0"/>
              <a:t>p</a:t>
            </a:r>
            <a:r>
              <a:rPr lang="en-US" altLang="zh-CN" dirty="0"/>
              <a:t>(G)</a:t>
            </a:r>
            <a:r>
              <a:rPr lang="zh-CN" altLang="en-US" dirty="0"/>
              <a:t>是多少？在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i="1" dirty="0">
                <a:solidFill>
                  <a:srgbClr val="FF0000"/>
                </a:solidFill>
              </a:rPr>
              <a:t>a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dirty="0"/>
              <a:t>中</a:t>
            </a:r>
            <a:r>
              <a:rPr lang="en-US" altLang="zh-CN" i="1" dirty="0"/>
              <a:t>d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en-US" altLang="zh-CN" i="1" dirty="0"/>
              <a:t>f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en-US" altLang="zh-CN" i="1" dirty="0"/>
              <a:t>d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en-US" altLang="zh-CN" i="1" dirty="0"/>
              <a:t>g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dirty="0"/>
              <a:t>(G)</a:t>
            </a:r>
            <a:r>
              <a:rPr lang="zh-CN" altLang="en-US" dirty="0"/>
              <a:t>，</a:t>
            </a:r>
            <a:r>
              <a:rPr lang="en-US" altLang="zh-CN" dirty="0"/>
              <a:t>c(G)</a:t>
            </a:r>
            <a:r>
              <a:rPr lang="zh-CN" altLang="en-US" dirty="0"/>
              <a:t>，</a:t>
            </a:r>
            <a:r>
              <a:rPr lang="en-US" altLang="zh-CN" dirty="0"/>
              <a:t>g(G)</a:t>
            </a:r>
            <a:r>
              <a:rPr lang="zh-CN" altLang="en-US" dirty="0"/>
              <a:t>分别是多少？</a:t>
            </a:r>
            <a:endParaRPr lang="en-US" altLang="zh-CN" dirty="0"/>
          </a:p>
        </p:txBody>
      </p:sp>
      <p:pic>
        <p:nvPicPr>
          <p:cNvPr id="650245" name="Picture 5" descr="图7-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87583" y="3572828"/>
            <a:ext cx="3648075" cy="22955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4580" name="Group 2"/>
          <p:cNvGrpSpPr/>
          <p:nvPr/>
        </p:nvGrpSpPr>
        <p:grpSpPr>
          <a:xfrm>
            <a:off x="381000" y="2963863"/>
            <a:ext cx="3776663" cy="3016250"/>
            <a:chOff x="381000" y="2175247"/>
            <a:chExt cx="3775949" cy="3015878"/>
          </a:xfrm>
        </p:grpSpPr>
        <p:pic>
          <p:nvPicPr>
            <p:cNvPr id="24581" name="Picture 4" descr="图7-2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81000" y="2276475"/>
              <a:ext cx="3371850" cy="291465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82" name="TextBox 1"/>
            <p:cNvSpPr txBox="1"/>
            <p:nvPr/>
          </p:nvSpPr>
          <p:spPr>
            <a:xfrm>
              <a:off x="1352366" y="2175247"/>
              <a:ext cx="484096" cy="5238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buSzTx/>
              </a:pPr>
              <a:r>
                <a:rPr lang="en-US" altLang="zh-CN" sz="2800" b="1" i="1" dirty="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endPara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4583" name="TextBox 8"/>
            <p:cNvSpPr txBox="1"/>
            <p:nvPr/>
          </p:nvSpPr>
          <p:spPr>
            <a:xfrm>
              <a:off x="992072" y="3327630"/>
              <a:ext cx="484095" cy="5222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buSzTx/>
              </a:pPr>
              <a:r>
                <a:rPr lang="en-US" altLang="zh-CN" sz="2800" b="1" i="1" dirty="0">
                  <a:latin typeface="Times New Roman" panose="02020603050405020304" charset="0"/>
                  <a:ea typeface="宋体" panose="02010600030101010101" pitchFamily="2" charset="-122"/>
                </a:rPr>
                <a:t>b</a:t>
              </a:r>
              <a:endPara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4584" name="TextBox 9"/>
            <p:cNvSpPr txBox="1"/>
            <p:nvPr/>
          </p:nvSpPr>
          <p:spPr>
            <a:xfrm>
              <a:off x="1495214" y="3913346"/>
              <a:ext cx="465050" cy="5238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buSzTx/>
              </a:pPr>
              <a:r>
                <a:rPr lang="en-US" altLang="zh-CN" sz="2800" b="1" i="1" dirty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endPara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4585" name="TextBox 10"/>
            <p:cNvSpPr txBox="1"/>
            <p:nvPr/>
          </p:nvSpPr>
          <p:spPr>
            <a:xfrm>
              <a:off x="1999944" y="3554615"/>
              <a:ext cx="484096" cy="5222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buSzTx/>
              </a:pPr>
              <a:r>
                <a:rPr lang="en-US" altLang="zh-CN" sz="2800" b="1" i="1" dirty="0">
                  <a:latin typeface="Times New Roman" panose="02020603050405020304" charset="0"/>
                  <a:ea typeface="宋体" panose="02010600030101010101" pitchFamily="2" charset="-122"/>
                </a:rPr>
                <a:t>d</a:t>
              </a:r>
              <a:endPara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4586" name="TextBox 11"/>
            <p:cNvSpPr txBox="1"/>
            <p:nvPr/>
          </p:nvSpPr>
          <p:spPr>
            <a:xfrm>
              <a:off x="2771323" y="4633982"/>
              <a:ext cx="463462" cy="5238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buSzTx/>
              </a:pPr>
              <a:r>
                <a:rPr lang="en-US" altLang="zh-CN" sz="2800" b="1" i="1" dirty="0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endPara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4587" name="TextBox 12"/>
            <p:cNvSpPr txBox="1"/>
            <p:nvPr/>
          </p:nvSpPr>
          <p:spPr>
            <a:xfrm>
              <a:off x="3707771" y="3789536"/>
              <a:ext cx="449178" cy="5222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buSzTx/>
              </a:pPr>
              <a:r>
                <a:rPr lang="en-US" altLang="zh-CN" sz="2800" b="1" i="1" dirty="0">
                  <a:latin typeface="Times New Roman" panose="02020603050405020304" charset="0"/>
                  <a:ea typeface="宋体" panose="02010600030101010101" pitchFamily="2" charset="-122"/>
                </a:rPr>
                <a:t>f</a:t>
              </a:r>
              <a:endPara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4588" name="TextBox 13"/>
            <p:cNvSpPr txBox="1"/>
            <p:nvPr/>
          </p:nvSpPr>
          <p:spPr>
            <a:xfrm>
              <a:off x="2844334" y="2564137"/>
              <a:ext cx="484096" cy="5238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buSzTx/>
              </a:pPr>
              <a:r>
                <a:rPr lang="en-US" altLang="zh-CN" sz="2800" b="1" i="1" dirty="0"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  <a:endPara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4590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dirty="0">
                <a:latin typeface="Times New Roman" panose="02020603050405020304" charset="0"/>
              </a:rPr>
            </a:fld>
            <a:endParaRPr lang="en-US" altLang="zh-CN" sz="1400" dirty="0">
              <a:latin typeface="Times New Roman" panose="0202060305040502030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solidFill>
                  <a:srgbClr val="FF0000"/>
                </a:solidFill>
              </a:rPr>
              <a:t>课后作业三</a:t>
            </a:r>
            <a:r>
              <a:rPr lang="en-US" altLang="zh-CN" sz="4000" dirty="0">
                <a:solidFill>
                  <a:srgbClr val="FF0000"/>
                </a:solidFill>
              </a:rPr>
              <a:t>:</a:t>
            </a:r>
            <a:endParaRPr lang="en-US" altLang="zh-CN" sz="4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50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50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判别二部图的充要条件</a:t>
            </a:r>
            <a:endParaRPr lang="zh-CN" altLang="en-US" dirty="0"/>
          </a:p>
        </p:txBody>
      </p:sp>
      <p:sp>
        <p:nvSpPr>
          <p:cNvPr id="3789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eaLnBrk="1" hangingPunct="1">
              <a:spcBef>
                <a:spcPct val="10000"/>
              </a:spcBef>
            </a:pPr>
            <a:r>
              <a:rPr lang="zh-CN" altLang="en-US" sz="2800" dirty="0">
                <a:solidFill>
                  <a:schemeClr val="hlink"/>
                </a:solidFill>
              </a:rPr>
              <a:t>定理</a:t>
            </a:r>
            <a:r>
              <a:rPr lang="en-US" altLang="zh-CN" sz="2800" dirty="0">
                <a:solidFill>
                  <a:schemeClr val="hlink"/>
                </a:solidFill>
              </a:rPr>
              <a:t>7.8</a:t>
            </a:r>
            <a:r>
              <a:rPr lang="zh-CN" altLang="en-US" sz="2800" dirty="0">
                <a:solidFill>
                  <a:schemeClr val="hlink"/>
                </a:solidFill>
              </a:rPr>
              <a:t>：</a:t>
            </a:r>
            <a:r>
              <a:rPr lang="zh-CN" altLang="en-US" sz="2800" dirty="0"/>
              <a:t>一个无向图</a:t>
            </a:r>
            <a:r>
              <a:rPr lang="en-US" altLang="zh-CN" sz="2800" i="1" dirty="0"/>
              <a:t>G</a:t>
            </a:r>
            <a:r>
              <a:rPr lang="zh-CN" altLang="en-US" sz="2800" dirty="0"/>
              <a:t>＝</a:t>
            </a:r>
            <a:r>
              <a:rPr lang="en-US" altLang="zh-CN" sz="2800" dirty="0"/>
              <a:t>&lt;</a:t>
            </a:r>
            <a:r>
              <a:rPr lang="en-US" altLang="zh-CN" sz="2800" i="1" dirty="0"/>
              <a:t>V</a:t>
            </a:r>
            <a:r>
              <a:rPr lang="en-US" altLang="zh-CN" sz="2800" dirty="0"/>
              <a:t>,</a:t>
            </a:r>
            <a:r>
              <a:rPr lang="en-US" altLang="zh-CN" sz="2800" i="1" dirty="0"/>
              <a:t>E</a:t>
            </a:r>
            <a:r>
              <a:rPr lang="en-US" altLang="zh-CN" sz="2800" dirty="0"/>
              <a:t>&gt;</a:t>
            </a:r>
            <a:r>
              <a:rPr lang="zh-CN" altLang="en-US" sz="2800" dirty="0"/>
              <a:t>是二部图当且仅当</a:t>
            </a:r>
            <a:r>
              <a:rPr lang="en-US" altLang="zh-CN" sz="2800" i="1" dirty="0"/>
              <a:t>G</a:t>
            </a:r>
            <a:r>
              <a:rPr lang="zh-CN" altLang="en-US" sz="2800" dirty="0"/>
              <a:t>中无奇圈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pPr eaLnBrk="1" hangingPunct="1">
              <a:spcBef>
                <a:spcPct val="10000"/>
              </a:spcBef>
              <a:buNone/>
            </a:pPr>
            <a:r>
              <a:rPr lang="zh-CN" altLang="en-US" sz="2800" dirty="0">
                <a:solidFill>
                  <a:schemeClr val="tx2"/>
                </a:solidFill>
              </a:rPr>
              <a:t>证明	必要性。</a:t>
            </a:r>
            <a:endParaRPr lang="zh-CN" altLang="en-US" sz="2800" dirty="0">
              <a:solidFill>
                <a:schemeClr val="tx2"/>
              </a:solidFill>
            </a:endParaRPr>
          </a:p>
          <a:p>
            <a:pPr eaLnBrk="1" hangingPunct="1">
              <a:spcBef>
                <a:spcPct val="10000"/>
              </a:spcBef>
              <a:buNone/>
            </a:pPr>
            <a:r>
              <a:rPr lang="zh-CN" altLang="en-US" sz="2800" dirty="0"/>
              <a:t>		</a:t>
            </a:r>
            <a:r>
              <a:rPr lang="zh-CN" altLang="en-US" sz="2800" dirty="0">
                <a:solidFill>
                  <a:schemeClr val="folHlink"/>
                </a:solidFill>
              </a:rPr>
              <a:t>若</a:t>
            </a:r>
            <a:r>
              <a:rPr lang="en-US" altLang="zh-CN" sz="2800" i="1" dirty="0">
                <a:solidFill>
                  <a:schemeClr val="folHlink"/>
                </a:solidFill>
              </a:rPr>
              <a:t>G</a:t>
            </a:r>
            <a:r>
              <a:rPr lang="zh-CN" altLang="en-US" sz="2800" dirty="0">
                <a:solidFill>
                  <a:schemeClr val="folHlink"/>
                </a:solidFill>
              </a:rPr>
              <a:t>中无回路，结论显然成立。</a:t>
            </a:r>
            <a:endParaRPr lang="zh-CN" altLang="en-US" sz="2800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10000"/>
              </a:spcBef>
              <a:buNone/>
            </a:pPr>
            <a:r>
              <a:rPr lang="zh-CN" altLang="en-US" sz="2800" dirty="0">
                <a:solidFill>
                  <a:schemeClr val="folHlink"/>
                </a:solidFill>
              </a:rPr>
              <a:t>		若</a:t>
            </a:r>
            <a:r>
              <a:rPr lang="en-US" altLang="zh-CN" sz="2800" i="1" dirty="0">
                <a:solidFill>
                  <a:schemeClr val="folHlink"/>
                </a:solidFill>
              </a:rPr>
              <a:t>G</a:t>
            </a:r>
            <a:r>
              <a:rPr lang="zh-CN" altLang="en-US" sz="2800" dirty="0">
                <a:solidFill>
                  <a:schemeClr val="folHlink"/>
                </a:solidFill>
              </a:rPr>
              <a:t>中有回路，只需证明</a:t>
            </a:r>
            <a:r>
              <a:rPr lang="en-US" altLang="zh-CN" sz="2800" i="1" dirty="0">
                <a:solidFill>
                  <a:schemeClr val="folHlink"/>
                </a:solidFill>
              </a:rPr>
              <a:t>G</a:t>
            </a:r>
            <a:r>
              <a:rPr lang="zh-CN" altLang="en-US" sz="2800" dirty="0">
                <a:solidFill>
                  <a:schemeClr val="folHlink"/>
                </a:solidFill>
              </a:rPr>
              <a:t>中无奇圈。</a:t>
            </a:r>
            <a:endParaRPr lang="zh-CN" altLang="en-US" sz="2800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10000"/>
              </a:spcBef>
              <a:buNone/>
            </a:pPr>
            <a:r>
              <a:rPr lang="zh-CN" altLang="en-US" sz="2800" dirty="0">
                <a:solidFill>
                  <a:schemeClr val="folHlink"/>
                </a:solidFill>
              </a:rPr>
              <a:t>		设</a:t>
            </a:r>
            <a:r>
              <a:rPr lang="en-US" altLang="zh-CN" sz="2800" i="1" dirty="0">
                <a:solidFill>
                  <a:schemeClr val="folHlink"/>
                </a:solidFill>
              </a:rPr>
              <a:t>C</a:t>
            </a:r>
            <a:r>
              <a:rPr lang="zh-CN" altLang="en-US" sz="2800" dirty="0">
                <a:solidFill>
                  <a:schemeClr val="folHlink"/>
                </a:solidFill>
              </a:rPr>
              <a:t>为</a:t>
            </a:r>
            <a:r>
              <a:rPr lang="en-US" altLang="zh-CN" sz="2800" i="1" dirty="0">
                <a:solidFill>
                  <a:schemeClr val="folHlink"/>
                </a:solidFill>
              </a:rPr>
              <a:t>G</a:t>
            </a:r>
            <a:r>
              <a:rPr lang="zh-CN" altLang="en-US" sz="2800" dirty="0">
                <a:solidFill>
                  <a:schemeClr val="folHlink"/>
                </a:solidFill>
              </a:rPr>
              <a:t>中任意一圈</a:t>
            </a:r>
            <a:r>
              <a:rPr lang="en-US" altLang="zh-CN" sz="2800" dirty="0">
                <a:solidFill>
                  <a:schemeClr val="folHlink"/>
                </a:solidFill>
              </a:rPr>
              <a:t>,</a:t>
            </a:r>
            <a:r>
              <a:rPr lang="zh-CN" altLang="en-US" sz="2800" dirty="0">
                <a:solidFill>
                  <a:schemeClr val="folHlink"/>
                </a:solidFill>
              </a:rPr>
              <a:t>令</a:t>
            </a:r>
            <a:r>
              <a:rPr lang="en-US" altLang="zh-CN" sz="2800" i="1" dirty="0">
                <a:solidFill>
                  <a:schemeClr val="folHlink"/>
                </a:solidFill>
              </a:rPr>
              <a:t>C</a:t>
            </a:r>
            <a:r>
              <a:rPr lang="zh-CN" altLang="en-US" sz="2800" dirty="0">
                <a:solidFill>
                  <a:schemeClr val="folHlink"/>
                </a:solidFill>
              </a:rPr>
              <a:t>＝</a:t>
            </a:r>
            <a:r>
              <a:rPr lang="en-US" altLang="zh-CN" sz="2800" i="1" dirty="0">
                <a:solidFill>
                  <a:schemeClr val="folHlink"/>
                </a:solidFill>
              </a:rPr>
              <a:t>v</a:t>
            </a:r>
            <a:r>
              <a:rPr lang="en-US" altLang="zh-CN" sz="2800" i="1" baseline="-25000" dirty="0">
                <a:solidFill>
                  <a:schemeClr val="folHlink"/>
                </a:solidFill>
              </a:rPr>
              <a:t>i</a:t>
            </a:r>
            <a:r>
              <a:rPr lang="en-US" altLang="zh-CN" sz="2800" baseline="-50000" dirty="0">
                <a:solidFill>
                  <a:schemeClr val="folHlink"/>
                </a:solidFill>
              </a:rPr>
              <a:t>1</a:t>
            </a:r>
            <a:r>
              <a:rPr lang="en-US" altLang="zh-CN" sz="2800" i="1" dirty="0">
                <a:solidFill>
                  <a:schemeClr val="folHlink"/>
                </a:solidFill>
              </a:rPr>
              <a:t>v</a:t>
            </a:r>
            <a:r>
              <a:rPr lang="en-US" altLang="zh-CN" sz="2800" i="1" baseline="-25000" dirty="0">
                <a:solidFill>
                  <a:schemeClr val="folHlink"/>
                </a:solidFill>
              </a:rPr>
              <a:t>i</a:t>
            </a:r>
            <a:r>
              <a:rPr lang="en-US" altLang="zh-CN" sz="2800" baseline="-50000" dirty="0">
                <a:solidFill>
                  <a:schemeClr val="folHlink"/>
                </a:solidFill>
              </a:rPr>
              <a:t>2</a:t>
            </a:r>
            <a:r>
              <a:rPr lang="en-US" altLang="zh-CN" sz="2800" dirty="0">
                <a:solidFill>
                  <a:schemeClr val="folHlink"/>
                </a:solidFill>
              </a:rPr>
              <a:t>…</a:t>
            </a:r>
            <a:r>
              <a:rPr lang="en-US" altLang="zh-CN" sz="2800" i="1" dirty="0">
                <a:solidFill>
                  <a:schemeClr val="folHlink"/>
                </a:solidFill>
              </a:rPr>
              <a:t>v</a:t>
            </a:r>
            <a:r>
              <a:rPr lang="en-US" altLang="zh-CN" sz="2800" i="1" baseline="-25000" dirty="0">
                <a:solidFill>
                  <a:schemeClr val="folHlink"/>
                </a:solidFill>
              </a:rPr>
              <a:t>i</a:t>
            </a:r>
            <a:r>
              <a:rPr lang="en-US" altLang="zh-CN" sz="2800" i="1" baseline="-50000" dirty="0">
                <a:solidFill>
                  <a:schemeClr val="folHlink"/>
                </a:solidFill>
              </a:rPr>
              <a:t>s</a:t>
            </a:r>
            <a:r>
              <a:rPr lang="en-US" altLang="zh-CN" sz="2800" i="1" dirty="0">
                <a:solidFill>
                  <a:schemeClr val="folHlink"/>
                </a:solidFill>
              </a:rPr>
              <a:t>v</a:t>
            </a:r>
            <a:r>
              <a:rPr lang="en-US" altLang="zh-CN" sz="2800" i="1" baseline="-25000" dirty="0">
                <a:solidFill>
                  <a:schemeClr val="folHlink"/>
                </a:solidFill>
              </a:rPr>
              <a:t>i</a:t>
            </a:r>
            <a:r>
              <a:rPr lang="en-US" altLang="zh-CN" sz="2800" i="1" baseline="-50000" dirty="0">
                <a:solidFill>
                  <a:schemeClr val="folHlink"/>
                </a:solidFill>
              </a:rPr>
              <a:t>t</a:t>
            </a:r>
            <a:r>
              <a:rPr lang="en-US" altLang="zh-CN" sz="2800" i="1" dirty="0">
                <a:solidFill>
                  <a:schemeClr val="folHlink"/>
                </a:solidFill>
                <a:sym typeface="+mn-ea"/>
              </a:rPr>
              <a:t>v</a:t>
            </a:r>
            <a:r>
              <a:rPr lang="en-US" altLang="zh-CN" sz="2800" i="1" baseline="-25000" dirty="0">
                <a:solidFill>
                  <a:schemeClr val="folHlink"/>
                </a:solidFill>
                <a:sym typeface="+mn-ea"/>
              </a:rPr>
              <a:t>i</a:t>
            </a:r>
            <a:r>
              <a:rPr lang="en-US" altLang="zh-CN" sz="2800" baseline="-50000" dirty="0">
                <a:solidFill>
                  <a:schemeClr val="folHlink"/>
                </a:solidFill>
                <a:sym typeface="+mn-ea"/>
              </a:rPr>
              <a:t>1</a:t>
            </a:r>
            <a:r>
              <a:rPr lang="en-US" altLang="zh-CN" sz="2800" dirty="0">
                <a:solidFill>
                  <a:schemeClr val="folHlink"/>
                </a:solidFill>
                <a:sym typeface="+mn-ea"/>
              </a:rPr>
              <a:t>,</a:t>
            </a:r>
            <a:r>
              <a:rPr lang="zh-CN" altLang="en-US" sz="2800" dirty="0">
                <a:solidFill>
                  <a:schemeClr val="folHlink"/>
                </a:solidFill>
                <a:sym typeface="+mn-ea"/>
              </a:rPr>
              <a:t>易</a:t>
            </a:r>
            <a:r>
              <a:rPr lang="zh-CN" altLang="en-US" sz="2800" dirty="0">
                <a:solidFill>
                  <a:schemeClr val="folHlink"/>
                </a:solidFill>
              </a:rPr>
              <a:t>知</a:t>
            </a:r>
            <a:r>
              <a:rPr lang="en-US" altLang="zh-CN" sz="2800" i="1" dirty="0">
                <a:solidFill>
                  <a:schemeClr val="folHlink"/>
                </a:solidFill>
              </a:rPr>
              <a:t>t</a:t>
            </a:r>
            <a:r>
              <a:rPr lang="en-US" altLang="zh-CN" sz="2800" dirty="0">
                <a:solidFill>
                  <a:schemeClr val="folHlink"/>
                </a:solidFill>
              </a:rPr>
              <a:t>≥2.</a:t>
            </a:r>
            <a:endParaRPr lang="en-US" altLang="zh-CN" sz="2800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10000"/>
              </a:spcBef>
              <a:buNone/>
            </a:pPr>
            <a:r>
              <a:rPr lang="en-US" altLang="zh-CN" sz="2800" dirty="0">
                <a:solidFill>
                  <a:schemeClr val="folHlink"/>
                </a:solidFill>
              </a:rPr>
              <a:t>		</a:t>
            </a:r>
            <a:r>
              <a:rPr lang="zh-CN" altLang="en-US" sz="2800" dirty="0">
                <a:solidFill>
                  <a:schemeClr val="folHlink"/>
                </a:solidFill>
              </a:rPr>
              <a:t>不妨设</a:t>
            </a:r>
            <a:r>
              <a:rPr lang="en-US" altLang="zh-CN" sz="2800" i="1" dirty="0">
                <a:solidFill>
                  <a:schemeClr val="folHlink"/>
                </a:solidFill>
              </a:rPr>
              <a:t>v</a:t>
            </a:r>
            <a:r>
              <a:rPr lang="en-US" altLang="zh-CN" sz="2800" i="1" baseline="-25000" dirty="0">
                <a:solidFill>
                  <a:schemeClr val="folHlink"/>
                </a:solidFill>
              </a:rPr>
              <a:t>i</a:t>
            </a:r>
            <a:r>
              <a:rPr lang="en-US" altLang="zh-CN" sz="2800" baseline="-50000" dirty="0">
                <a:solidFill>
                  <a:schemeClr val="folHlink"/>
                </a:solidFill>
              </a:rPr>
              <a:t>1</a:t>
            </a:r>
            <a:r>
              <a:rPr lang="en-US" altLang="zh-CN" sz="2800" dirty="0">
                <a:solidFill>
                  <a:schemeClr val="folHlink"/>
                </a:solidFill>
              </a:rPr>
              <a:t>∈</a:t>
            </a:r>
            <a:r>
              <a:rPr lang="en-US" altLang="zh-CN" sz="2800" i="1" dirty="0">
                <a:solidFill>
                  <a:schemeClr val="folHlink"/>
                </a:solidFill>
              </a:rPr>
              <a:t>V</a:t>
            </a:r>
            <a:r>
              <a:rPr lang="en-US" altLang="zh-CN" sz="2800" baseline="-30000" dirty="0">
                <a:solidFill>
                  <a:schemeClr val="folHlink"/>
                </a:solidFill>
              </a:rPr>
              <a:t>1</a:t>
            </a:r>
            <a:r>
              <a:rPr lang="zh-CN" altLang="en-US" sz="2800" dirty="0">
                <a:solidFill>
                  <a:schemeClr val="folHlink"/>
                </a:solidFill>
              </a:rPr>
              <a:t>，则必有</a:t>
            </a:r>
            <a:r>
              <a:rPr lang="en-US" altLang="zh-CN" sz="2800" i="1" dirty="0">
                <a:solidFill>
                  <a:schemeClr val="folHlink"/>
                </a:solidFill>
              </a:rPr>
              <a:t>v</a:t>
            </a:r>
            <a:r>
              <a:rPr lang="en-US" altLang="zh-CN" sz="2800" i="1" baseline="-25000" dirty="0">
                <a:solidFill>
                  <a:schemeClr val="folHlink"/>
                </a:solidFill>
              </a:rPr>
              <a:t>i</a:t>
            </a:r>
            <a:r>
              <a:rPr lang="en-US" altLang="zh-CN" sz="2800" i="1" baseline="-50000" dirty="0">
                <a:solidFill>
                  <a:schemeClr val="folHlink"/>
                </a:solidFill>
              </a:rPr>
              <a:t>t</a:t>
            </a:r>
            <a:r>
              <a:rPr lang="en-US" altLang="zh-CN" sz="2800" dirty="0">
                <a:solidFill>
                  <a:schemeClr val="folHlink"/>
                </a:solidFill>
              </a:rPr>
              <a:t>∈</a:t>
            </a:r>
            <a:r>
              <a:rPr lang="en-US" altLang="zh-CN" sz="2800" i="1" dirty="0">
                <a:solidFill>
                  <a:schemeClr val="folHlink"/>
                </a:solidFill>
              </a:rPr>
              <a:t>V</a:t>
            </a:r>
            <a:r>
              <a:rPr lang="en-US" altLang="zh-CN" sz="2800" dirty="0">
                <a:solidFill>
                  <a:schemeClr val="folHlink"/>
                </a:solidFill>
              </a:rPr>
              <a:t>-</a:t>
            </a:r>
            <a:r>
              <a:rPr lang="en-US" altLang="zh-CN" sz="2800" i="1" dirty="0">
                <a:solidFill>
                  <a:schemeClr val="folHlink"/>
                </a:solidFill>
              </a:rPr>
              <a:t>V</a:t>
            </a:r>
            <a:r>
              <a:rPr lang="en-US" altLang="zh-CN" sz="2800" baseline="-30000" dirty="0">
                <a:solidFill>
                  <a:schemeClr val="folHlink"/>
                </a:solidFill>
              </a:rPr>
              <a:t>1</a:t>
            </a:r>
            <a:r>
              <a:rPr lang="en-US" altLang="zh-CN" sz="2800" dirty="0">
                <a:solidFill>
                  <a:schemeClr val="folHlink"/>
                </a:solidFill>
              </a:rPr>
              <a:t>=</a:t>
            </a:r>
            <a:r>
              <a:rPr lang="en-US" altLang="zh-CN" sz="2800" i="1" dirty="0">
                <a:solidFill>
                  <a:schemeClr val="folHlink"/>
                </a:solidFill>
              </a:rPr>
              <a:t>V</a:t>
            </a:r>
            <a:r>
              <a:rPr lang="en-US" altLang="zh-CN" sz="2800" baseline="-30000" dirty="0">
                <a:solidFill>
                  <a:schemeClr val="folHlink"/>
                </a:solidFill>
              </a:rPr>
              <a:t>2</a:t>
            </a:r>
            <a:r>
              <a:rPr lang="zh-CN" altLang="en-US" sz="2800" dirty="0">
                <a:solidFill>
                  <a:schemeClr val="folHlink"/>
                </a:solidFill>
              </a:rPr>
              <a:t>，</a:t>
            </a:r>
            <a:endParaRPr lang="zh-CN" altLang="en-US" sz="2800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10000"/>
              </a:spcBef>
              <a:buNone/>
            </a:pPr>
            <a:r>
              <a:rPr lang="zh-CN" altLang="en-US" sz="2800" dirty="0">
                <a:solidFill>
                  <a:schemeClr val="folHlink"/>
                </a:solidFill>
              </a:rPr>
              <a:t>		故</a:t>
            </a:r>
            <a:r>
              <a:rPr lang="en-US" altLang="zh-CN" sz="2800" i="1" dirty="0">
                <a:solidFill>
                  <a:schemeClr val="folHlink"/>
                </a:solidFill>
              </a:rPr>
              <a:t>t</a:t>
            </a:r>
            <a:r>
              <a:rPr lang="zh-CN" altLang="en-US" sz="2800" dirty="0">
                <a:solidFill>
                  <a:schemeClr val="folHlink"/>
                </a:solidFill>
              </a:rPr>
              <a:t>必为偶数，于是</a:t>
            </a:r>
            <a:r>
              <a:rPr lang="en-US" altLang="zh-CN" sz="2800" i="1" dirty="0">
                <a:solidFill>
                  <a:schemeClr val="folHlink"/>
                </a:solidFill>
              </a:rPr>
              <a:t>C</a:t>
            </a:r>
            <a:r>
              <a:rPr lang="zh-CN" altLang="en-US" sz="2800" dirty="0">
                <a:solidFill>
                  <a:schemeClr val="folHlink"/>
                </a:solidFill>
              </a:rPr>
              <a:t>为偶圈，</a:t>
            </a:r>
            <a:endParaRPr lang="zh-CN" altLang="en-US" sz="2800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10000"/>
              </a:spcBef>
              <a:buNone/>
            </a:pPr>
            <a:r>
              <a:rPr lang="zh-CN" altLang="en-US" sz="2800" dirty="0">
                <a:solidFill>
                  <a:schemeClr val="folHlink"/>
                </a:solidFill>
              </a:rPr>
              <a:t>		由</a:t>
            </a:r>
            <a:r>
              <a:rPr lang="en-US" altLang="zh-CN" sz="2800" i="1" dirty="0">
                <a:solidFill>
                  <a:schemeClr val="folHlink"/>
                </a:solidFill>
              </a:rPr>
              <a:t>C</a:t>
            </a:r>
            <a:r>
              <a:rPr lang="zh-CN" altLang="en-US" sz="2800" dirty="0">
                <a:solidFill>
                  <a:schemeClr val="folHlink"/>
                </a:solidFill>
              </a:rPr>
              <a:t>的任意性可知结论成立。</a:t>
            </a:r>
            <a:endParaRPr lang="zh-CN" altLang="en-US" sz="2800" dirty="0">
              <a:solidFill>
                <a:schemeClr val="folHlink"/>
              </a:solidFill>
            </a:endParaRPr>
          </a:p>
        </p:txBody>
      </p:sp>
      <p:sp>
        <p:nvSpPr>
          <p:cNvPr id="921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判别二部图的充要条件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38914" name="Rectangle 3"/>
          <p:cNvSpPr>
            <a:spLocks noGrp="1"/>
          </p:cNvSpPr>
          <p:nvPr>
            <p:ph idx="1"/>
          </p:nvPr>
        </p:nvSpPr>
        <p:spPr>
          <a:xfrm>
            <a:off x="395288" y="1341438"/>
            <a:ext cx="8596312" cy="5359400"/>
          </a:xfrm>
        </p:spPr>
        <p:txBody>
          <a:bodyPr vert="horz" wrap="square" lIns="91440" tIns="45720" rIns="91440" bIns="45720" anchor="t"/>
          <a:p>
            <a:pPr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1"/>
                </a:solidFill>
              </a:rPr>
              <a:t>	</a:t>
            </a:r>
            <a:r>
              <a:rPr lang="zh-CN" altLang="en-US" dirty="0">
                <a:solidFill>
                  <a:srgbClr val="FF00FF"/>
                </a:solidFill>
              </a:rPr>
              <a:t>充分性。</a:t>
            </a:r>
            <a:endParaRPr lang="zh-CN" altLang="en-US" dirty="0">
              <a:solidFill>
                <a:srgbClr val="FF00FF"/>
              </a:solidFill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dirty="0"/>
              <a:t>	</a:t>
            </a:r>
            <a:r>
              <a:rPr lang="zh-CN" altLang="en-US" dirty="0">
                <a:solidFill>
                  <a:schemeClr val="folHlink"/>
                </a:solidFill>
              </a:rPr>
              <a:t>不妨设</a:t>
            </a:r>
            <a:r>
              <a:rPr lang="en-US" altLang="zh-CN" i="1" dirty="0">
                <a:solidFill>
                  <a:schemeClr val="folHlink"/>
                </a:solidFill>
              </a:rPr>
              <a:t>G</a:t>
            </a:r>
            <a:r>
              <a:rPr lang="zh-CN" altLang="en-US" dirty="0">
                <a:solidFill>
                  <a:schemeClr val="folHlink"/>
                </a:solidFill>
              </a:rPr>
              <a:t>为连通图，否则可对每个连通分支进行讨论</a:t>
            </a:r>
            <a:r>
              <a:rPr lang="en-US" altLang="zh-CN" dirty="0">
                <a:solidFill>
                  <a:schemeClr val="folHlink"/>
                </a:solidFill>
              </a:rPr>
              <a:t>.</a:t>
            </a:r>
            <a:endParaRPr lang="en-US" altLang="zh-CN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folHlink"/>
                </a:solidFill>
              </a:rPr>
              <a:t>	</a:t>
            </a:r>
            <a:r>
              <a:rPr lang="zh-CN" altLang="en-US" dirty="0">
                <a:solidFill>
                  <a:schemeClr val="folHlink"/>
                </a:solidFill>
              </a:rPr>
              <a:t>设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30000" dirty="0">
                <a:solidFill>
                  <a:schemeClr val="folHlink"/>
                </a:solidFill>
              </a:rPr>
              <a:t>0</a:t>
            </a:r>
            <a:r>
              <a:rPr lang="zh-CN" altLang="en-US" dirty="0">
                <a:solidFill>
                  <a:schemeClr val="folHlink"/>
                </a:solidFill>
              </a:rPr>
              <a:t>为</a:t>
            </a:r>
            <a:r>
              <a:rPr lang="en-US" altLang="zh-CN" i="1" dirty="0">
                <a:solidFill>
                  <a:schemeClr val="folHlink"/>
                </a:solidFill>
              </a:rPr>
              <a:t>G</a:t>
            </a:r>
            <a:r>
              <a:rPr lang="zh-CN" altLang="en-US" dirty="0">
                <a:solidFill>
                  <a:schemeClr val="folHlink"/>
                </a:solidFill>
              </a:rPr>
              <a:t>中任意一个顶点，令</a:t>
            </a:r>
            <a:endParaRPr lang="zh-CN" altLang="en-US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folHlink"/>
                </a:solidFill>
              </a:rPr>
              <a:t>		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30000" dirty="0">
                <a:solidFill>
                  <a:schemeClr val="folHlink"/>
                </a:solidFill>
              </a:rPr>
              <a:t>1</a:t>
            </a:r>
            <a:r>
              <a:rPr lang="zh-CN" altLang="en-US" dirty="0">
                <a:solidFill>
                  <a:schemeClr val="folHlink"/>
                </a:solidFill>
              </a:rPr>
              <a:t>＝</a:t>
            </a:r>
            <a:r>
              <a:rPr lang="en-US" altLang="zh-CN" dirty="0">
                <a:solidFill>
                  <a:schemeClr val="folHlink"/>
                </a:solidFill>
              </a:rPr>
              <a:t>{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dirty="0">
                <a:solidFill>
                  <a:schemeClr val="folHlink"/>
                </a:solidFill>
              </a:rPr>
              <a:t>|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dirty="0">
                <a:solidFill>
                  <a:schemeClr val="folHlink"/>
                </a:solidFill>
              </a:rPr>
              <a:t>∈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dirty="0">
                <a:solidFill>
                  <a:schemeClr val="folHlink"/>
                </a:solidFill>
              </a:rPr>
              <a:t>(</a:t>
            </a:r>
            <a:r>
              <a:rPr lang="en-US" altLang="zh-CN" i="1" dirty="0">
                <a:solidFill>
                  <a:schemeClr val="folHlink"/>
                </a:solidFill>
              </a:rPr>
              <a:t>G</a:t>
            </a:r>
            <a:r>
              <a:rPr lang="en-US" altLang="zh-CN" dirty="0">
                <a:solidFill>
                  <a:schemeClr val="folHlink"/>
                </a:solidFill>
              </a:rPr>
              <a:t>)∧</a:t>
            </a:r>
            <a:r>
              <a:rPr lang="en-US" altLang="zh-CN" i="1" dirty="0">
                <a:solidFill>
                  <a:schemeClr val="folHlink"/>
                </a:solidFill>
              </a:rPr>
              <a:t>d</a:t>
            </a:r>
            <a:r>
              <a:rPr lang="en-US" altLang="zh-CN" dirty="0">
                <a:solidFill>
                  <a:schemeClr val="folHlink"/>
                </a:solidFill>
              </a:rPr>
              <a:t>(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30000" dirty="0">
                <a:solidFill>
                  <a:schemeClr val="folHlink"/>
                </a:solidFill>
              </a:rPr>
              <a:t>0</a:t>
            </a:r>
            <a:r>
              <a:rPr lang="en-US" altLang="zh-CN" dirty="0">
                <a:solidFill>
                  <a:schemeClr val="folHlink"/>
                </a:solidFill>
              </a:rPr>
              <a:t>,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dirty="0">
                <a:solidFill>
                  <a:schemeClr val="folHlink"/>
                </a:solidFill>
              </a:rPr>
              <a:t>)</a:t>
            </a:r>
            <a:r>
              <a:rPr lang="zh-CN" altLang="en-US" dirty="0">
                <a:solidFill>
                  <a:schemeClr val="folHlink"/>
                </a:solidFill>
              </a:rPr>
              <a:t>为偶数</a:t>
            </a:r>
            <a:r>
              <a:rPr lang="en-US" altLang="zh-CN" dirty="0">
                <a:solidFill>
                  <a:schemeClr val="folHlink"/>
                </a:solidFill>
              </a:rPr>
              <a:t>}</a:t>
            </a:r>
            <a:endParaRPr lang="en-US" altLang="zh-CN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folHlink"/>
                </a:solidFill>
              </a:rPr>
              <a:t>		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30000" dirty="0">
                <a:solidFill>
                  <a:schemeClr val="folHlink"/>
                </a:solidFill>
              </a:rPr>
              <a:t>2</a:t>
            </a:r>
            <a:r>
              <a:rPr lang="zh-CN" altLang="en-US" dirty="0">
                <a:solidFill>
                  <a:schemeClr val="folHlink"/>
                </a:solidFill>
              </a:rPr>
              <a:t>＝</a:t>
            </a:r>
            <a:r>
              <a:rPr lang="en-US" altLang="zh-CN" dirty="0">
                <a:solidFill>
                  <a:schemeClr val="folHlink"/>
                </a:solidFill>
              </a:rPr>
              <a:t>{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dirty="0">
                <a:solidFill>
                  <a:schemeClr val="folHlink"/>
                </a:solidFill>
              </a:rPr>
              <a:t>|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dirty="0">
                <a:solidFill>
                  <a:schemeClr val="folHlink"/>
                </a:solidFill>
              </a:rPr>
              <a:t>∈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dirty="0">
                <a:solidFill>
                  <a:schemeClr val="folHlink"/>
                </a:solidFill>
              </a:rPr>
              <a:t>(</a:t>
            </a:r>
            <a:r>
              <a:rPr lang="en-US" altLang="zh-CN" i="1" dirty="0">
                <a:solidFill>
                  <a:schemeClr val="folHlink"/>
                </a:solidFill>
              </a:rPr>
              <a:t>G</a:t>
            </a:r>
            <a:r>
              <a:rPr lang="en-US" altLang="zh-CN" dirty="0">
                <a:solidFill>
                  <a:schemeClr val="folHlink"/>
                </a:solidFill>
              </a:rPr>
              <a:t>)∧</a:t>
            </a:r>
            <a:r>
              <a:rPr lang="en-US" altLang="zh-CN" i="1" dirty="0">
                <a:solidFill>
                  <a:schemeClr val="folHlink"/>
                </a:solidFill>
              </a:rPr>
              <a:t>d</a:t>
            </a:r>
            <a:r>
              <a:rPr lang="en-US" altLang="zh-CN" dirty="0">
                <a:solidFill>
                  <a:schemeClr val="folHlink"/>
                </a:solidFill>
              </a:rPr>
              <a:t>(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30000" dirty="0">
                <a:solidFill>
                  <a:schemeClr val="folHlink"/>
                </a:solidFill>
              </a:rPr>
              <a:t>0</a:t>
            </a:r>
            <a:r>
              <a:rPr lang="en-US" altLang="zh-CN" dirty="0">
                <a:solidFill>
                  <a:schemeClr val="folHlink"/>
                </a:solidFill>
              </a:rPr>
              <a:t>,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dirty="0">
                <a:solidFill>
                  <a:schemeClr val="folHlink"/>
                </a:solidFill>
              </a:rPr>
              <a:t>)</a:t>
            </a:r>
            <a:r>
              <a:rPr lang="zh-CN" altLang="en-US" dirty="0">
                <a:solidFill>
                  <a:schemeClr val="folHlink"/>
                </a:solidFill>
              </a:rPr>
              <a:t>为奇数</a:t>
            </a:r>
            <a:r>
              <a:rPr lang="en-US" altLang="zh-CN" dirty="0">
                <a:solidFill>
                  <a:schemeClr val="folHlink"/>
                </a:solidFill>
              </a:rPr>
              <a:t>}</a:t>
            </a:r>
            <a:endParaRPr lang="en-US" altLang="zh-CN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folHlink"/>
                </a:solidFill>
              </a:rPr>
              <a:t>	</a:t>
            </a:r>
            <a:r>
              <a:rPr lang="zh-CN" altLang="en-US" dirty="0">
                <a:solidFill>
                  <a:schemeClr val="folHlink"/>
                </a:solidFill>
              </a:rPr>
              <a:t>易知，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30000" dirty="0">
                <a:solidFill>
                  <a:schemeClr val="folHlink"/>
                </a:solidFill>
              </a:rPr>
              <a:t>1</a:t>
            </a:r>
            <a:r>
              <a:rPr lang="en-US" altLang="zh-CN" dirty="0">
                <a:solidFill>
                  <a:schemeClr val="folHlink"/>
                </a:solidFill>
              </a:rPr>
              <a:t>≠</a:t>
            </a:r>
            <a:r>
              <a:rPr lang="en-US" altLang="zh-CN" dirty="0">
                <a:solidFill>
                  <a:schemeClr val="folHlink"/>
                </a:solidFill>
                <a:sym typeface="Symbol" panose="05050102010706020507" charset="2"/>
              </a:rPr>
              <a:t></a:t>
            </a:r>
            <a:r>
              <a:rPr lang="en-US" altLang="zh-CN" dirty="0">
                <a:solidFill>
                  <a:schemeClr val="folHlink"/>
                </a:solidFill>
              </a:rPr>
              <a:t>,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30000" dirty="0">
                <a:solidFill>
                  <a:schemeClr val="folHlink"/>
                </a:solidFill>
              </a:rPr>
              <a:t>2</a:t>
            </a:r>
            <a:r>
              <a:rPr lang="en-US" altLang="zh-CN" dirty="0">
                <a:solidFill>
                  <a:schemeClr val="folHlink"/>
                </a:solidFill>
              </a:rPr>
              <a:t>≠</a:t>
            </a:r>
            <a:r>
              <a:rPr lang="en-US" altLang="zh-CN" dirty="0">
                <a:solidFill>
                  <a:schemeClr val="folHlink"/>
                </a:solidFill>
                <a:sym typeface="Symbol" panose="05050102010706020507" charset="2"/>
              </a:rPr>
              <a:t></a:t>
            </a:r>
            <a:r>
              <a:rPr lang="en-US" altLang="zh-CN" dirty="0">
                <a:solidFill>
                  <a:schemeClr val="folHlink"/>
                </a:solidFill>
              </a:rPr>
              <a:t>,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30000" dirty="0">
                <a:solidFill>
                  <a:schemeClr val="folHlink"/>
                </a:solidFill>
              </a:rPr>
              <a:t>1</a:t>
            </a:r>
            <a:r>
              <a:rPr lang="en-US" altLang="zh-CN" dirty="0">
                <a:solidFill>
                  <a:schemeClr val="folHlink"/>
                </a:solidFill>
              </a:rPr>
              <a:t>∩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30000" dirty="0">
                <a:solidFill>
                  <a:schemeClr val="folHlink"/>
                </a:solidFill>
              </a:rPr>
              <a:t>2</a:t>
            </a:r>
            <a:r>
              <a:rPr lang="zh-CN" altLang="en-US" dirty="0">
                <a:solidFill>
                  <a:schemeClr val="folHlink"/>
                </a:solidFill>
              </a:rPr>
              <a:t>＝</a:t>
            </a:r>
            <a:r>
              <a:rPr lang="zh-CN" altLang="en-US" dirty="0">
                <a:solidFill>
                  <a:schemeClr val="folHlink"/>
                </a:solidFill>
                <a:sym typeface="Symbol" panose="05050102010706020507" charset="2"/>
              </a:rPr>
              <a:t></a:t>
            </a:r>
            <a:r>
              <a:rPr lang="zh-CN" altLang="en-US" dirty="0">
                <a:solidFill>
                  <a:schemeClr val="folHlink"/>
                </a:solidFill>
              </a:rPr>
              <a:t>，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30000" dirty="0">
                <a:solidFill>
                  <a:schemeClr val="folHlink"/>
                </a:solidFill>
              </a:rPr>
              <a:t>1</a:t>
            </a:r>
            <a:r>
              <a:rPr lang="en-US" altLang="zh-CN" dirty="0">
                <a:solidFill>
                  <a:schemeClr val="folHlink"/>
                </a:solidFill>
              </a:rPr>
              <a:t>∪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30000" dirty="0">
                <a:solidFill>
                  <a:schemeClr val="folHlink"/>
                </a:solidFill>
              </a:rPr>
              <a:t>2</a:t>
            </a:r>
            <a:r>
              <a:rPr lang="zh-CN" altLang="en-US" dirty="0">
                <a:solidFill>
                  <a:schemeClr val="folHlink"/>
                </a:solidFill>
              </a:rPr>
              <a:t>＝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dirty="0">
                <a:solidFill>
                  <a:schemeClr val="folHlink"/>
                </a:solidFill>
              </a:rPr>
              <a:t>(</a:t>
            </a:r>
            <a:r>
              <a:rPr lang="en-US" altLang="zh-CN" i="1" dirty="0">
                <a:solidFill>
                  <a:schemeClr val="folHlink"/>
                </a:solidFill>
              </a:rPr>
              <a:t>G</a:t>
            </a:r>
            <a:r>
              <a:rPr lang="en-US" altLang="zh-CN" dirty="0">
                <a:solidFill>
                  <a:schemeClr val="folHlink"/>
                </a:solidFill>
              </a:rPr>
              <a:t>)</a:t>
            </a:r>
            <a:r>
              <a:rPr lang="zh-CN" altLang="en-US" dirty="0">
                <a:solidFill>
                  <a:schemeClr val="folHlink"/>
                </a:solidFill>
              </a:rPr>
              <a:t>。</a:t>
            </a:r>
            <a:endParaRPr lang="zh-CN" altLang="en-US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folHlink"/>
                </a:solidFill>
              </a:rPr>
              <a:t>	</a:t>
            </a:r>
            <a:r>
              <a:rPr lang="zh-CN" altLang="en-US" dirty="0">
                <a:solidFill>
                  <a:srgbClr val="FF00FF"/>
                </a:solidFill>
              </a:rPr>
              <a:t>下面证明</a:t>
            </a:r>
            <a:r>
              <a:rPr lang="en-US" altLang="zh-CN" i="1" dirty="0">
                <a:solidFill>
                  <a:srgbClr val="FF00FF"/>
                </a:solidFill>
              </a:rPr>
              <a:t>V</a:t>
            </a:r>
            <a:r>
              <a:rPr lang="en-US" altLang="zh-CN" baseline="-30000" dirty="0">
                <a:solidFill>
                  <a:srgbClr val="FF00FF"/>
                </a:solidFill>
              </a:rPr>
              <a:t>1</a:t>
            </a:r>
            <a:r>
              <a:rPr lang="zh-CN" altLang="en-US" dirty="0">
                <a:solidFill>
                  <a:srgbClr val="FF00FF"/>
                </a:solidFill>
              </a:rPr>
              <a:t>中任意两顶点不相邻</a:t>
            </a:r>
            <a:r>
              <a:rPr lang="en-US" altLang="zh-CN" dirty="0">
                <a:solidFill>
                  <a:srgbClr val="FF00FF"/>
                </a:solidFill>
              </a:rPr>
              <a:t>,</a:t>
            </a:r>
            <a:r>
              <a:rPr lang="en-US" altLang="zh-CN" i="1" dirty="0">
                <a:solidFill>
                  <a:srgbClr val="FF00FF"/>
                </a:solidFill>
              </a:rPr>
              <a:t>V</a:t>
            </a:r>
            <a:r>
              <a:rPr lang="en-US" altLang="zh-CN" baseline="-30000" dirty="0">
                <a:solidFill>
                  <a:srgbClr val="FF00FF"/>
                </a:solidFill>
              </a:rPr>
              <a:t>2</a:t>
            </a:r>
            <a:r>
              <a:rPr lang="zh-CN" altLang="en-US" dirty="0">
                <a:solidFill>
                  <a:srgbClr val="FF00FF"/>
                </a:solidFill>
              </a:rPr>
              <a:t>中任意两点不相邻</a:t>
            </a:r>
            <a:r>
              <a:rPr lang="en-US" altLang="zh-CN" dirty="0">
                <a:solidFill>
                  <a:srgbClr val="FF00FF"/>
                </a:solidFill>
              </a:rPr>
              <a:t>.</a:t>
            </a:r>
            <a:endParaRPr lang="en-US" altLang="zh-CN" dirty="0">
              <a:solidFill>
                <a:srgbClr val="FF00FF"/>
              </a:solidFill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folHlink"/>
                </a:solidFill>
              </a:rPr>
              <a:t>	</a:t>
            </a:r>
            <a:r>
              <a:rPr lang="zh-CN" altLang="en-US" dirty="0">
                <a:solidFill>
                  <a:schemeClr val="folHlink"/>
                </a:solidFill>
              </a:rPr>
              <a:t>若存在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i </a:t>
            </a:r>
            <a:r>
              <a:rPr lang="en-US" altLang="zh-CN" dirty="0">
                <a:solidFill>
                  <a:schemeClr val="folHlink"/>
                </a:solidFill>
              </a:rPr>
              <a:t>, 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j</a:t>
            </a:r>
            <a:r>
              <a:rPr lang="en-US" altLang="zh-CN" dirty="0">
                <a:solidFill>
                  <a:schemeClr val="folHlink"/>
                </a:solidFill>
              </a:rPr>
              <a:t>∈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30000" dirty="0">
                <a:solidFill>
                  <a:schemeClr val="folHlink"/>
                </a:solidFill>
              </a:rPr>
              <a:t>1</a:t>
            </a:r>
            <a:r>
              <a:rPr lang="zh-CN" altLang="en-US" dirty="0">
                <a:solidFill>
                  <a:schemeClr val="folHlink"/>
                </a:solidFill>
              </a:rPr>
              <a:t>相邻，令</a:t>
            </a:r>
            <a:r>
              <a:rPr lang="en-US" altLang="zh-CN" dirty="0">
                <a:solidFill>
                  <a:schemeClr val="folHlink"/>
                </a:solidFill>
              </a:rPr>
              <a:t>(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30000" dirty="0">
                <a:solidFill>
                  <a:schemeClr val="folHlink"/>
                </a:solidFill>
              </a:rPr>
              <a:t>i</a:t>
            </a:r>
            <a:r>
              <a:rPr lang="en-US" altLang="zh-CN" dirty="0">
                <a:solidFill>
                  <a:schemeClr val="folHlink"/>
                </a:solidFill>
              </a:rPr>
              <a:t>,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j</a:t>
            </a:r>
            <a:r>
              <a:rPr lang="en-US" altLang="zh-CN" dirty="0">
                <a:solidFill>
                  <a:schemeClr val="folHlink"/>
                </a:solidFill>
              </a:rPr>
              <a:t>)</a:t>
            </a:r>
            <a:r>
              <a:rPr lang="zh-CN" altLang="en-US" dirty="0">
                <a:solidFill>
                  <a:schemeClr val="folHlink"/>
                </a:solidFill>
              </a:rPr>
              <a:t>＝</a:t>
            </a:r>
            <a:r>
              <a:rPr lang="en-US" altLang="zh-CN" i="1" dirty="0">
                <a:solidFill>
                  <a:schemeClr val="folHlink"/>
                </a:solidFill>
              </a:rPr>
              <a:t>e</a:t>
            </a:r>
            <a:r>
              <a:rPr lang="zh-CN" altLang="en-US" dirty="0">
                <a:solidFill>
                  <a:schemeClr val="folHlink"/>
                </a:solidFill>
              </a:rPr>
              <a:t>，</a:t>
            </a:r>
            <a:endParaRPr lang="zh-CN" altLang="en-US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folHlink"/>
                </a:solidFill>
              </a:rPr>
              <a:t>	设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30000" dirty="0">
                <a:solidFill>
                  <a:schemeClr val="folHlink"/>
                </a:solidFill>
              </a:rPr>
              <a:t>0</a:t>
            </a:r>
            <a:r>
              <a:rPr lang="zh-CN" altLang="en-US" dirty="0">
                <a:solidFill>
                  <a:schemeClr val="folHlink"/>
                </a:solidFill>
              </a:rPr>
              <a:t>到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i</a:t>
            </a:r>
            <a:r>
              <a:rPr lang="en-US" altLang="zh-CN" dirty="0">
                <a:solidFill>
                  <a:schemeClr val="folHlink"/>
                </a:solidFill>
              </a:rPr>
              <a:t>,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j</a:t>
            </a:r>
            <a:r>
              <a:rPr lang="zh-CN" altLang="en-US" dirty="0">
                <a:solidFill>
                  <a:schemeClr val="folHlink"/>
                </a:solidFill>
              </a:rPr>
              <a:t>的短线程分别为</a:t>
            </a:r>
            <a:r>
              <a:rPr lang="en-US" altLang="zh-CN" dirty="0">
                <a:solidFill>
                  <a:schemeClr val="folHlink"/>
                </a:solidFill>
              </a:rPr>
              <a:t>Г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i </a:t>
            </a:r>
            <a:r>
              <a:rPr lang="en-US" altLang="zh-CN" dirty="0">
                <a:solidFill>
                  <a:schemeClr val="folHlink"/>
                </a:solidFill>
              </a:rPr>
              <a:t>,Г</a:t>
            </a:r>
            <a:r>
              <a:rPr lang="en-US" altLang="zh-CN" i="1" baseline="-30000" dirty="0">
                <a:solidFill>
                  <a:schemeClr val="folHlink"/>
                </a:solidFill>
              </a:rPr>
              <a:t>j </a:t>
            </a:r>
            <a:r>
              <a:rPr lang="zh-CN" altLang="en-US" dirty="0">
                <a:solidFill>
                  <a:schemeClr val="folHlink"/>
                </a:solidFill>
              </a:rPr>
              <a:t>，</a:t>
            </a:r>
            <a:endParaRPr lang="zh-CN" altLang="en-US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folHlink"/>
                </a:solidFill>
              </a:rPr>
              <a:t>	则它们的长度</a:t>
            </a:r>
            <a:r>
              <a:rPr lang="en-US" altLang="zh-CN" i="1" dirty="0">
                <a:solidFill>
                  <a:schemeClr val="folHlink"/>
                </a:solidFill>
              </a:rPr>
              <a:t>d</a:t>
            </a:r>
            <a:r>
              <a:rPr lang="en-US" altLang="zh-CN" dirty="0">
                <a:solidFill>
                  <a:schemeClr val="folHlink"/>
                </a:solidFill>
              </a:rPr>
              <a:t>(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30000" dirty="0">
                <a:solidFill>
                  <a:schemeClr val="folHlink"/>
                </a:solidFill>
              </a:rPr>
              <a:t>0</a:t>
            </a:r>
            <a:r>
              <a:rPr lang="en-US" altLang="zh-CN" dirty="0">
                <a:solidFill>
                  <a:schemeClr val="folHlink"/>
                </a:solidFill>
              </a:rPr>
              <a:t>,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i</a:t>
            </a:r>
            <a:r>
              <a:rPr lang="en-US" altLang="zh-CN" dirty="0">
                <a:solidFill>
                  <a:schemeClr val="folHlink"/>
                </a:solidFill>
              </a:rPr>
              <a:t>),</a:t>
            </a:r>
            <a:r>
              <a:rPr lang="en-US" altLang="zh-CN" i="1" dirty="0">
                <a:solidFill>
                  <a:schemeClr val="folHlink"/>
                </a:solidFill>
              </a:rPr>
              <a:t>d</a:t>
            </a:r>
            <a:r>
              <a:rPr lang="en-US" altLang="zh-CN" dirty="0">
                <a:solidFill>
                  <a:schemeClr val="folHlink"/>
                </a:solidFill>
              </a:rPr>
              <a:t>(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30000" dirty="0">
                <a:solidFill>
                  <a:schemeClr val="folHlink"/>
                </a:solidFill>
              </a:rPr>
              <a:t>0</a:t>
            </a:r>
            <a:r>
              <a:rPr lang="en-US" altLang="zh-CN" dirty="0">
                <a:solidFill>
                  <a:schemeClr val="folHlink"/>
                </a:solidFill>
              </a:rPr>
              <a:t>,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j</a:t>
            </a:r>
            <a:r>
              <a:rPr lang="en-US" altLang="zh-CN" dirty="0">
                <a:solidFill>
                  <a:schemeClr val="folHlink"/>
                </a:solidFill>
              </a:rPr>
              <a:t>)</a:t>
            </a:r>
            <a:r>
              <a:rPr lang="zh-CN" altLang="en-US" dirty="0">
                <a:solidFill>
                  <a:schemeClr val="folHlink"/>
                </a:solidFill>
              </a:rPr>
              <a:t>都是偶数，</a:t>
            </a:r>
            <a:endParaRPr lang="zh-CN" altLang="en-US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folHlink"/>
                </a:solidFill>
              </a:rPr>
              <a:t>	故</a:t>
            </a:r>
            <a:r>
              <a:rPr lang="en-US" altLang="zh-CN" dirty="0">
                <a:solidFill>
                  <a:schemeClr val="folHlink"/>
                </a:solidFill>
              </a:rPr>
              <a:t>Г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i</a:t>
            </a:r>
            <a:r>
              <a:rPr lang="en-US" altLang="zh-CN" dirty="0">
                <a:solidFill>
                  <a:schemeClr val="folHlink"/>
                </a:solidFill>
              </a:rPr>
              <a:t>∪Г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j</a:t>
            </a:r>
            <a:r>
              <a:rPr lang="en-US" altLang="zh-CN" dirty="0">
                <a:solidFill>
                  <a:schemeClr val="folHlink"/>
                </a:solidFill>
              </a:rPr>
              <a:t>∪</a:t>
            </a:r>
            <a:r>
              <a:rPr lang="en-US" altLang="zh-CN" i="1" dirty="0">
                <a:solidFill>
                  <a:schemeClr val="folHlink"/>
                </a:solidFill>
              </a:rPr>
              <a:t>e</a:t>
            </a:r>
            <a:r>
              <a:rPr lang="zh-CN" altLang="en-US" dirty="0">
                <a:solidFill>
                  <a:schemeClr val="folHlink"/>
                </a:solidFill>
              </a:rPr>
              <a:t>构成含有奇圈的子图，这与已知条件矛盾。</a:t>
            </a:r>
            <a:endParaRPr lang="zh-CN" altLang="en-US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folHlink"/>
                </a:solidFill>
              </a:rPr>
              <a:t>	类似可证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30000" dirty="0">
                <a:solidFill>
                  <a:schemeClr val="folHlink"/>
                </a:solidFill>
              </a:rPr>
              <a:t>2</a:t>
            </a:r>
            <a:r>
              <a:rPr lang="zh-CN" altLang="en-US" dirty="0">
                <a:solidFill>
                  <a:schemeClr val="folHlink"/>
                </a:solidFill>
              </a:rPr>
              <a:t>中也不存在相邻的顶点</a:t>
            </a:r>
            <a:r>
              <a:rPr lang="en-US" altLang="zh-CN" dirty="0">
                <a:solidFill>
                  <a:schemeClr val="folHlink"/>
                </a:solidFill>
              </a:rPr>
              <a:t>.</a:t>
            </a:r>
            <a:endParaRPr lang="en-US" altLang="zh-CN" dirty="0">
              <a:solidFill>
                <a:schemeClr val="folHlink"/>
              </a:solidFill>
            </a:endParaRPr>
          </a:p>
        </p:txBody>
      </p:sp>
      <p:sp>
        <p:nvSpPr>
          <p:cNvPr id="921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961" name="Group 51"/>
          <p:cNvGrpSpPr/>
          <p:nvPr/>
        </p:nvGrpSpPr>
        <p:grpSpPr>
          <a:xfrm>
            <a:off x="2124075" y="1455738"/>
            <a:ext cx="4211638" cy="3505200"/>
            <a:chOff x="395766" y="1455167"/>
            <a:chExt cx="4211155" cy="3505223"/>
          </a:xfrm>
        </p:grpSpPr>
        <p:sp>
          <p:nvSpPr>
            <p:cNvPr id="40962" name="Oval 5"/>
            <p:cNvSpPr/>
            <p:nvPr/>
          </p:nvSpPr>
          <p:spPr>
            <a:xfrm>
              <a:off x="991096" y="1969219"/>
              <a:ext cx="215900" cy="2159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40963" name="Oval 6"/>
            <p:cNvSpPr/>
            <p:nvPr/>
          </p:nvSpPr>
          <p:spPr>
            <a:xfrm>
              <a:off x="1835820" y="1969219"/>
              <a:ext cx="215900" cy="2159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40964" name="Oval 7"/>
            <p:cNvSpPr/>
            <p:nvPr/>
          </p:nvSpPr>
          <p:spPr>
            <a:xfrm>
              <a:off x="3258046" y="1969219"/>
              <a:ext cx="215900" cy="2159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40965" name="Text Box 9"/>
            <p:cNvSpPr txBox="1"/>
            <p:nvPr/>
          </p:nvSpPr>
          <p:spPr>
            <a:xfrm>
              <a:off x="2051720" y="1700932"/>
              <a:ext cx="539750" cy="519113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Arial" panose="020B0604020202020204" pitchFamily="34" charset="0"/>
                </a:rPr>
                <a:t>…</a:t>
              </a:r>
              <a:endParaRPr lang="en-US" altLang="zh-CN" sz="2800" b="1" dirty="0">
                <a:latin typeface="Tahoma" panose="020B0604030504040204" charset="0"/>
              </a:endParaRPr>
            </a:p>
          </p:txBody>
        </p:sp>
        <p:sp>
          <p:nvSpPr>
            <p:cNvPr id="40966" name="Text Box 11"/>
            <p:cNvSpPr txBox="1"/>
            <p:nvPr/>
          </p:nvSpPr>
          <p:spPr>
            <a:xfrm>
              <a:off x="778484" y="1484908"/>
              <a:ext cx="420687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charset="0"/>
                </a:rPr>
                <a:t>v</a:t>
              </a:r>
              <a:r>
                <a:rPr lang="en-US" altLang="zh-CN" sz="2400" b="1" baseline="-25000" dirty="0">
                  <a:latin typeface="Times New Roman" panose="02020603050405020304" charset="0"/>
                </a:rPr>
                <a:t>0</a:t>
              </a:r>
              <a:endParaRPr lang="en-US" altLang="zh-CN" sz="2400" b="1" baseline="-25000" dirty="0">
                <a:latin typeface="Times New Roman" panose="02020603050405020304" charset="0"/>
              </a:endParaRPr>
            </a:p>
          </p:txBody>
        </p:sp>
        <p:sp>
          <p:nvSpPr>
            <p:cNvPr id="40967" name="Text Box 12"/>
            <p:cNvSpPr txBox="1"/>
            <p:nvPr/>
          </p:nvSpPr>
          <p:spPr>
            <a:xfrm>
              <a:off x="2477876" y="1455167"/>
              <a:ext cx="437940" cy="46166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charset="0"/>
                </a:rPr>
                <a:t>v</a:t>
              </a:r>
              <a:r>
                <a:rPr lang="en-US" altLang="zh-CN" sz="2400" b="1" i="1" baseline="-25000" dirty="0">
                  <a:latin typeface="Times New Roman" panose="02020603050405020304" charset="0"/>
                </a:rPr>
                <a:t>i</a:t>
              </a:r>
              <a:endParaRPr lang="en-US" altLang="zh-CN" sz="2400" b="1" baseline="-25000" dirty="0">
                <a:latin typeface="Times New Roman" panose="02020603050405020304" charset="0"/>
              </a:endParaRPr>
            </a:p>
          </p:txBody>
        </p:sp>
        <p:sp>
          <p:nvSpPr>
            <p:cNvPr id="40968" name="Text Box 13"/>
            <p:cNvSpPr txBox="1"/>
            <p:nvPr/>
          </p:nvSpPr>
          <p:spPr>
            <a:xfrm>
              <a:off x="3203848" y="1455291"/>
              <a:ext cx="454956" cy="46166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charset="0"/>
                </a:rPr>
                <a:t>v</a:t>
              </a:r>
              <a:r>
                <a:rPr lang="en-US" altLang="zh-CN" sz="2400" b="1" i="1" baseline="-25000" dirty="0">
                  <a:latin typeface="Times New Roman" panose="02020603050405020304" charset="0"/>
                </a:rPr>
                <a:t>j</a:t>
              </a:r>
              <a:endParaRPr lang="en-US" altLang="zh-CN" sz="2400" b="1" i="1" baseline="-25000" dirty="0">
                <a:latin typeface="Times New Roman" panose="02020603050405020304" charset="0"/>
              </a:endParaRPr>
            </a:p>
          </p:txBody>
        </p:sp>
        <p:sp>
          <p:nvSpPr>
            <p:cNvPr id="40969" name="Text Box 9"/>
            <p:cNvSpPr txBox="1"/>
            <p:nvPr/>
          </p:nvSpPr>
          <p:spPr>
            <a:xfrm>
              <a:off x="3600202" y="1700932"/>
              <a:ext cx="539750" cy="519113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Arial" panose="020B0604020202020204" pitchFamily="34" charset="0"/>
                </a:rPr>
                <a:t>…</a:t>
              </a:r>
              <a:endParaRPr lang="en-US" altLang="zh-CN" sz="2800" b="1" dirty="0">
                <a:latin typeface="Tahoma" panose="020B0604030504040204" charset="0"/>
              </a:endParaRPr>
            </a:p>
          </p:txBody>
        </p:sp>
        <p:sp>
          <p:nvSpPr>
            <p:cNvPr id="40970" name="Text Box 9"/>
            <p:cNvSpPr txBox="1"/>
            <p:nvPr/>
          </p:nvSpPr>
          <p:spPr>
            <a:xfrm>
              <a:off x="1187624" y="1700932"/>
              <a:ext cx="539750" cy="519113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Arial" panose="020B0604020202020204" pitchFamily="34" charset="0"/>
                </a:rPr>
                <a:t>…</a:t>
              </a:r>
              <a:endParaRPr lang="en-US" altLang="zh-CN" sz="2800" b="1" dirty="0">
                <a:latin typeface="Tahoma" panose="020B0604030504040204" charset="0"/>
              </a:endParaRPr>
            </a:p>
          </p:txBody>
        </p:sp>
        <p:sp>
          <p:nvSpPr>
            <p:cNvPr id="40971" name="Oval 5"/>
            <p:cNvSpPr/>
            <p:nvPr/>
          </p:nvSpPr>
          <p:spPr>
            <a:xfrm>
              <a:off x="539552" y="3112616"/>
              <a:ext cx="215900" cy="2159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40972" name="Oval 6"/>
            <p:cNvSpPr/>
            <p:nvPr/>
          </p:nvSpPr>
          <p:spPr>
            <a:xfrm>
              <a:off x="2267868" y="3112616"/>
              <a:ext cx="215900" cy="2159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40973" name="Oval 7"/>
            <p:cNvSpPr/>
            <p:nvPr/>
          </p:nvSpPr>
          <p:spPr>
            <a:xfrm>
              <a:off x="3258046" y="3112616"/>
              <a:ext cx="215900" cy="2159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40974" name="Oval 5"/>
            <p:cNvSpPr/>
            <p:nvPr/>
          </p:nvSpPr>
          <p:spPr>
            <a:xfrm>
              <a:off x="1331764" y="3119884"/>
              <a:ext cx="215900" cy="2159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40975" name="Oval 7"/>
            <p:cNvSpPr/>
            <p:nvPr/>
          </p:nvSpPr>
          <p:spPr>
            <a:xfrm>
              <a:off x="4212084" y="3141092"/>
              <a:ext cx="215900" cy="2159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cxnSp>
          <p:nvCxnSpPr>
            <p:cNvPr id="40976" name="Straight Connector 25"/>
            <p:cNvCxnSpPr>
              <a:stCxn id="40962" idx="5"/>
              <a:endCxn id="40974" idx="0"/>
            </p:cNvCxnSpPr>
            <p:nvPr/>
          </p:nvCxnSpPr>
          <p:spPr>
            <a:xfrm>
              <a:off x="1175378" y="2153501"/>
              <a:ext cx="264336" cy="966383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headEnd type="none" w="med" len="med"/>
              <a:tailEnd type="none" w="lg" len="lg"/>
            </a:ln>
          </p:spPr>
        </p:cxnSp>
        <p:cxnSp>
          <p:nvCxnSpPr>
            <p:cNvPr id="40977" name="Straight Connector 29"/>
            <p:cNvCxnSpPr>
              <a:stCxn id="40974" idx="7"/>
              <a:endCxn id="40963" idx="4"/>
            </p:cNvCxnSpPr>
            <p:nvPr/>
          </p:nvCxnSpPr>
          <p:spPr>
            <a:xfrm flipV="1">
              <a:off x="1516046" y="2185119"/>
              <a:ext cx="427724" cy="966383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headEnd type="none" w="med" len="med"/>
              <a:tailEnd type="none" w="lg" len="lg"/>
            </a:ln>
          </p:spPr>
        </p:cxnSp>
        <p:sp>
          <p:nvSpPr>
            <p:cNvPr id="40978" name="Oval 6"/>
            <p:cNvSpPr/>
            <p:nvPr/>
          </p:nvSpPr>
          <p:spPr>
            <a:xfrm>
              <a:off x="2627784" y="1988840"/>
              <a:ext cx="215900" cy="2159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cxnSp>
          <p:nvCxnSpPr>
            <p:cNvPr id="40979" name="Straight Connector 32"/>
            <p:cNvCxnSpPr>
              <a:stCxn id="40963" idx="5"/>
              <a:endCxn id="40973" idx="1"/>
            </p:cNvCxnSpPr>
            <p:nvPr/>
          </p:nvCxnSpPr>
          <p:spPr>
            <a:xfrm>
              <a:off x="2020102" y="2153501"/>
              <a:ext cx="1269562" cy="990733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headEnd type="none" w="med" len="med"/>
              <a:tailEnd type="none" w="lg" len="lg"/>
            </a:ln>
          </p:spPr>
        </p:cxnSp>
        <p:cxnSp>
          <p:nvCxnSpPr>
            <p:cNvPr id="40980" name="Straight Connector 34"/>
            <p:cNvCxnSpPr>
              <a:stCxn id="40973" idx="0"/>
              <a:endCxn id="40978" idx="4"/>
            </p:cNvCxnSpPr>
            <p:nvPr/>
          </p:nvCxnSpPr>
          <p:spPr>
            <a:xfrm flipH="1" flipV="1">
              <a:off x="2735734" y="2204740"/>
              <a:ext cx="630262" cy="907876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headEnd type="none" w="med" len="med"/>
              <a:tailEnd type="none" w="lg" len="lg"/>
            </a:ln>
          </p:spPr>
        </p:cxnSp>
        <p:sp>
          <p:nvSpPr>
            <p:cNvPr id="40981" name="Text Box 9"/>
            <p:cNvSpPr txBox="1"/>
            <p:nvPr/>
          </p:nvSpPr>
          <p:spPr>
            <a:xfrm>
              <a:off x="2771800" y="1700808"/>
              <a:ext cx="539750" cy="519113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Arial" panose="020B0604020202020204" pitchFamily="34" charset="0"/>
                </a:rPr>
                <a:t>…</a:t>
              </a:r>
              <a:endParaRPr lang="en-US" altLang="zh-CN" sz="2800" b="1" dirty="0">
                <a:latin typeface="Tahoma" panose="020B0604030504040204" charset="0"/>
              </a:endParaRPr>
            </a:p>
          </p:txBody>
        </p:sp>
        <p:cxnSp>
          <p:nvCxnSpPr>
            <p:cNvPr id="40982" name="Straight Connector 37"/>
            <p:cNvCxnSpPr>
              <a:stCxn id="40962" idx="3"/>
              <a:endCxn id="40971" idx="0"/>
            </p:cNvCxnSpPr>
            <p:nvPr/>
          </p:nvCxnSpPr>
          <p:spPr>
            <a:xfrm flipH="1">
              <a:off x="647502" y="2153501"/>
              <a:ext cx="375212" cy="959115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lg" len="lg"/>
            </a:ln>
          </p:spPr>
        </p:cxnSp>
        <p:cxnSp>
          <p:nvCxnSpPr>
            <p:cNvPr id="40983" name="Straight Connector 39"/>
            <p:cNvCxnSpPr>
              <a:stCxn id="40971" idx="7"/>
              <a:endCxn id="40964" idx="4"/>
            </p:cNvCxnSpPr>
            <p:nvPr/>
          </p:nvCxnSpPr>
          <p:spPr>
            <a:xfrm flipV="1">
              <a:off x="723834" y="2185119"/>
              <a:ext cx="2642162" cy="959115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lg" len="lg"/>
            </a:ln>
          </p:spPr>
        </p:cxnSp>
        <p:sp>
          <p:nvSpPr>
            <p:cNvPr id="40984" name="Freeform 44"/>
            <p:cNvSpPr/>
            <p:nvPr/>
          </p:nvSpPr>
          <p:spPr>
            <a:xfrm>
              <a:off x="2705100" y="1812122"/>
              <a:ext cx="647700" cy="156378"/>
            </a:xfrm>
            <a:custGeom>
              <a:avLst/>
              <a:gdLst/>
              <a:ahLst/>
              <a:cxnLst>
                <a:cxn ang="0">
                  <a:pos x="0" y="156378"/>
                </a:cxn>
                <a:cxn ang="0">
                  <a:pos x="203200" y="16678"/>
                </a:cxn>
                <a:cxn ang="0">
                  <a:pos x="457200" y="16678"/>
                </a:cxn>
                <a:cxn ang="0">
                  <a:pos x="647700" y="143678"/>
                </a:cxn>
              </a:cxnLst>
              <a:pathLst>
                <a:path w="647700" h="156378">
                  <a:moveTo>
                    <a:pt x="0" y="156378"/>
                  </a:moveTo>
                  <a:cubicBezTo>
                    <a:pt x="63500" y="98169"/>
                    <a:pt x="127000" y="39961"/>
                    <a:pt x="203200" y="16678"/>
                  </a:cubicBezTo>
                  <a:cubicBezTo>
                    <a:pt x="279400" y="-6605"/>
                    <a:pt x="383117" y="-4489"/>
                    <a:pt x="457200" y="16678"/>
                  </a:cubicBezTo>
                  <a:cubicBezTo>
                    <a:pt x="531283" y="37845"/>
                    <a:pt x="647700" y="143678"/>
                    <a:pt x="647700" y="143678"/>
                  </a:cubicBezTo>
                </a:path>
              </a:pathLst>
            </a:custGeom>
            <a:noFill/>
            <a:ln w="28575" cap="flat" cmpd="sng">
              <a:solidFill>
                <a:srgbClr val="6600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67544" y="3284295"/>
              <a:ext cx="439696" cy="46204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r>
                <a:rPr lang="en-US" altLang="zh-CN" sz="2400" b="1" i="1">
                  <a:latin typeface="Times New Roman" panose="02020603050405020304" charset="0"/>
                </a:rPr>
                <a:t>a</a:t>
              </a:r>
              <a:endParaRPr lang="en-US" altLang="zh-CN" sz="2400" b="1" i="1">
                <a:latin typeface="Times New Roman" panose="02020603050405020304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251695" y="3284295"/>
              <a:ext cx="439696" cy="46204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r>
                <a:rPr lang="en-US" altLang="zh-CN" sz="2400" b="1" i="1">
                  <a:latin typeface="Times New Roman" panose="02020603050405020304" charset="0"/>
                </a:rPr>
                <a:t>b</a:t>
              </a:r>
              <a:endParaRPr lang="en-US" altLang="zh-CN" sz="2400" b="1" i="1">
                <a:latin typeface="Times New Roman" panose="0202060305040502030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188232" y="3284295"/>
              <a:ext cx="422235" cy="46204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r>
                <a:rPr lang="en-US" altLang="zh-CN" sz="2400" b="1" i="1">
                  <a:latin typeface="Times New Roman" panose="02020603050405020304" charset="0"/>
                </a:rPr>
                <a:t>c</a:t>
              </a:r>
              <a:endParaRPr lang="en-US" altLang="zh-CN" sz="2400" b="1" i="1">
                <a:latin typeface="Times New Roman" panose="0202060305040502030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196200" y="3284295"/>
              <a:ext cx="439697" cy="46204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r>
                <a:rPr lang="en-US" altLang="zh-CN" sz="2400" b="1" i="1">
                  <a:latin typeface="Times New Roman" panose="02020603050405020304" charset="0"/>
                </a:rPr>
                <a:t>d</a:t>
              </a:r>
              <a:endParaRPr lang="en-US" altLang="zh-CN" sz="2400" b="1" i="1">
                <a:latin typeface="Times New Roman" panose="02020603050405020304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5766" y="4437076"/>
              <a:ext cx="4211155" cy="52331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r>
                <a:rPr lang="en-US" altLang="zh-CN" sz="2800" b="1" i="1">
                  <a:latin typeface="Times New Roman" panose="02020603050405020304" charset="0"/>
                </a:rPr>
                <a:t>v</a:t>
              </a:r>
              <a:r>
                <a:rPr lang="en-US" altLang="zh-CN" sz="2800" b="1" baseline="-25000">
                  <a:latin typeface="Times New Roman" panose="02020603050405020304" charset="0"/>
                </a:rPr>
                <a:t>0</a:t>
              </a:r>
              <a:r>
                <a:rPr lang="en-US" altLang="zh-CN" sz="2800" b="1" i="1">
                  <a:latin typeface="Times New Roman" panose="02020603050405020304" charset="0"/>
                </a:rPr>
                <a:t>av</a:t>
              </a:r>
              <a:r>
                <a:rPr lang="en-US" altLang="zh-CN" sz="2800" b="1" i="1" baseline="-25000">
                  <a:latin typeface="Times New Roman" panose="02020603050405020304" charset="0"/>
                </a:rPr>
                <a:t>j</a:t>
              </a:r>
              <a:r>
                <a:rPr lang="en-US" altLang="zh-CN" sz="2800" b="1" i="1">
                  <a:latin typeface="Times New Roman" panose="02020603050405020304" charset="0"/>
                </a:rPr>
                <a:t>v</a:t>
              </a:r>
              <a:r>
                <a:rPr lang="en-US" altLang="zh-CN" sz="2800" b="1" i="1" baseline="-25000">
                  <a:latin typeface="Times New Roman" panose="02020603050405020304" charset="0"/>
                </a:rPr>
                <a:t>i</a:t>
              </a:r>
              <a:r>
                <a:rPr lang="en-US" altLang="zh-CN" sz="2800" b="1" i="1">
                  <a:latin typeface="Times New Roman" panose="02020603050405020304" charset="0"/>
                </a:rPr>
                <a:t>dv</a:t>
              </a:r>
              <a:r>
                <a:rPr lang="en-US" altLang="zh-CN" sz="2800" b="1" i="1" baseline="-25000">
                  <a:latin typeface="Times New Roman" panose="02020603050405020304" charset="0"/>
                </a:rPr>
                <a:t>x</a:t>
              </a:r>
              <a:r>
                <a:rPr lang="en-US" altLang="zh-CN" sz="2800" b="1" i="1">
                  <a:latin typeface="Times New Roman" panose="02020603050405020304" charset="0"/>
                </a:rPr>
                <a:t>bv</a:t>
              </a:r>
              <a:r>
                <a:rPr lang="en-US" altLang="zh-CN" sz="2800" b="1" baseline="-25000">
                  <a:latin typeface="Times New Roman" panose="02020603050405020304" charset="0"/>
                </a:rPr>
                <a:t>0</a:t>
              </a:r>
              <a:r>
                <a:rPr lang="zh-CN" altLang="en-US" sz="2800" b="1">
                  <a:latin typeface="Times New Roman" panose="02020603050405020304" charset="0"/>
                </a:rPr>
                <a:t>构成一个奇圈</a:t>
              </a:r>
              <a:endParaRPr lang="en-US" altLang="zh-CN" sz="2800" b="1" baseline="-25000">
                <a:latin typeface="Times New Roman" panose="02020603050405020304" charset="0"/>
              </a:endParaRPr>
            </a:p>
          </p:txBody>
        </p:sp>
        <p:sp>
          <p:nvSpPr>
            <p:cNvPr id="40990" name="Text Box 11"/>
            <p:cNvSpPr txBox="1"/>
            <p:nvPr/>
          </p:nvSpPr>
          <p:spPr>
            <a:xfrm>
              <a:off x="1703041" y="1484784"/>
              <a:ext cx="461267" cy="46166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charset="0"/>
                </a:rPr>
                <a:t>v</a:t>
              </a:r>
              <a:r>
                <a:rPr lang="en-US" altLang="zh-CN" sz="2400" b="1" i="1" baseline="-25000" dirty="0">
                  <a:latin typeface="Times New Roman" panose="02020603050405020304" charset="0"/>
                </a:rPr>
                <a:t>x</a:t>
              </a:r>
              <a:endParaRPr lang="en-US" altLang="zh-CN" sz="2400" b="1" baseline="-25000" dirty="0">
                <a:latin typeface="Times New Roman" panose="02020603050405020304" charset="0"/>
              </a:endParaRPr>
            </a:p>
          </p:txBody>
        </p:sp>
      </p:grpSp>
      <p:sp>
        <p:nvSpPr>
          <p:cNvPr id="921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7.9</a:t>
            </a:r>
            <a:endParaRPr kumimoji="0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p>
            <a:pPr eaLnBrk="1" hangingPunct="1">
              <a:lnSpc>
                <a:spcPct val="100000"/>
              </a:lnSpc>
            </a:pPr>
            <a:r>
              <a:rPr lang="zh-CN" altLang="en-US" sz="2800">
                <a:solidFill>
                  <a:schemeClr val="hlink"/>
                </a:solidFill>
              </a:rPr>
              <a:t>定理</a:t>
            </a:r>
            <a:r>
              <a:rPr lang="en-US" altLang="zh-CN" sz="2800">
                <a:solidFill>
                  <a:schemeClr val="hlink"/>
                </a:solidFill>
              </a:rPr>
              <a:t>7.9</a:t>
            </a:r>
            <a:r>
              <a:rPr lang="zh-CN" altLang="en-US" sz="2800">
                <a:solidFill>
                  <a:schemeClr val="hlink"/>
                </a:solidFill>
              </a:rPr>
              <a:t>：</a:t>
            </a:r>
            <a:r>
              <a:rPr lang="zh-CN" altLang="en-US" sz="2800"/>
              <a:t>设</a:t>
            </a:r>
            <a:r>
              <a:rPr lang="en-US" altLang="zh-CN" sz="2800"/>
              <a:t>G</a:t>
            </a:r>
            <a:r>
              <a:rPr lang="zh-CN" altLang="en-US" sz="2800"/>
              <a:t>为</a:t>
            </a:r>
            <a:r>
              <a:rPr lang="en-US" altLang="zh-CN" sz="2800" i="1"/>
              <a:t>n</a:t>
            </a:r>
            <a:r>
              <a:rPr lang="zh-CN" altLang="en-US" sz="2800"/>
              <a:t>阶无向图</a:t>
            </a:r>
            <a:r>
              <a:rPr lang="en-US" altLang="zh-CN" sz="2800"/>
              <a:t>,</a:t>
            </a:r>
            <a:r>
              <a:rPr lang="zh-CN" altLang="en-US" sz="2800"/>
              <a:t>若</a:t>
            </a:r>
            <a:r>
              <a:rPr lang="en-US" altLang="zh-CN" sz="2800"/>
              <a:t>G</a:t>
            </a:r>
            <a:r>
              <a:rPr lang="zh-CN" altLang="en-US" sz="2800"/>
              <a:t>是连通图</a:t>
            </a:r>
            <a:r>
              <a:rPr lang="en-US" altLang="zh-CN" sz="2800"/>
              <a:t>,</a:t>
            </a:r>
            <a:r>
              <a:rPr lang="zh-CN" altLang="en-US" sz="2800"/>
              <a:t>则</a:t>
            </a:r>
            <a:r>
              <a:rPr lang="en-US" altLang="zh-CN" sz="2800"/>
              <a:t>G</a:t>
            </a:r>
            <a:r>
              <a:rPr lang="zh-CN" altLang="en-US" sz="2800"/>
              <a:t>的边数</a:t>
            </a:r>
            <a:r>
              <a:rPr lang="en-US" altLang="zh-CN" sz="2800" i="1"/>
              <a:t>m</a:t>
            </a:r>
            <a:r>
              <a:rPr lang="en-US" altLang="zh-CN" sz="2800">
                <a:sym typeface="Symbol" panose="05050102010706020507" charset="2"/>
              </a:rPr>
              <a:t></a:t>
            </a:r>
            <a:r>
              <a:rPr lang="en-US" altLang="zh-CN" sz="2800" i="1">
                <a:sym typeface="Symbol" panose="05050102010706020507" charset="2"/>
              </a:rPr>
              <a:t>n</a:t>
            </a:r>
            <a:r>
              <a:rPr lang="en-US" altLang="zh-CN" sz="2800">
                <a:sym typeface="Symbol" panose="05050102010706020507" charset="2"/>
              </a:rPr>
              <a:t>-1.</a:t>
            </a:r>
            <a:endParaRPr lang="en-US" altLang="zh-CN" sz="2800">
              <a:sym typeface="Symbol" panose="05050102010706020507" charset="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800">
                <a:sym typeface="Symbol" panose="05050102010706020507" charset="2"/>
              </a:rPr>
              <a:t>证 若</a:t>
            </a:r>
            <a:r>
              <a:rPr lang="en-US" altLang="zh-CN" sz="2800">
                <a:sym typeface="Symbol" panose="05050102010706020507" charset="2"/>
              </a:rPr>
              <a:t>G</a:t>
            </a:r>
            <a:r>
              <a:rPr lang="zh-CN" altLang="en-US" sz="2800">
                <a:sym typeface="Symbol" panose="05050102010706020507" charset="2"/>
              </a:rPr>
              <a:t>是简单图</a:t>
            </a:r>
            <a:r>
              <a:rPr lang="en-US" altLang="zh-CN" sz="2800">
                <a:sym typeface="Symbol" panose="05050102010706020507" charset="2"/>
              </a:rPr>
              <a:t>,G</a:t>
            </a:r>
            <a:r>
              <a:rPr lang="zh-CN" altLang="en-US" sz="2800">
                <a:sym typeface="Symbol" panose="05050102010706020507" charset="2"/>
              </a:rPr>
              <a:t>连通必有</a:t>
            </a:r>
            <a:r>
              <a:rPr lang="en-US" altLang="zh-CN" sz="2800" i="1"/>
              <a:t>m</a:t>
            </a:r>
            <a:r>
              <a:rPr lang="en-US" altLang="zh-CN" sz="2800">
                <a:sym typeface="Symbol" panose="05050102010706020507" charset="2"/>
              </a:rPr>
              <a:t></a:t>
            </a:r>
            <a:r>
              <a:rPr lang="en-US" altLang="zh-CN" sz="2800" i="1">
                <a:sym typeface="Symbol" panose="05050102010706020507" charset="2"/>
              </a:rPr>
              <a:t>n</a:t>
            </a:r>
            <a:r>
              <a:rPr lang="en-US" altLang="zh-CN" sz="2800">
                <a:sym typeface="Symbol" panose="05050102010706020507" charset="2"/>
              </a:rPr>
              <a:t>-1,</a:t>
            </a:r>
            <a:r>
              <a:rPr lang="zh-CN" altLang="en-US" sz="2800">
                <a:sym typeface="Symbol" panose="05050102010706020507" charset="2"/>
              </a:rPr>
              <a:t>当</a:t>
            </a:r>
            <a:r>
              <a:rPr lang="en-US" altLang="zh-CN" sz="2800">
                <a:sym typeface="Symbol" panose="05050102010706020507" charset="2"/>
              </a:rPr>
              <a:t>G</a:t>
            </a:r>
            <a:r>
              <a:rPr lang="zh-CN" altLang="en-US" sz="2800">
                <a:sym typeface="Symbol" panose="05050102010706020507" charset="2"/>
              </a:rPr>
              <a:t>是非简单图时，连通更要求</a:t>
            </a:r>
            <a:r>
              <a:rPr lang="en-US" altLang="zh-CN" sz="2800" i="1"/>
              <a:t>m</a:t>
            </a:r>
            <a:r>
              <a:rPr lang="en-US" altLang="zh-CN" sz="2800">
                <a:sym typeface="Symbol" panose="05050102010706020507" charset="2"/>
              </a:rPr>
              <a:t></a:t>
            </a:r>
            <a:r>
              <a:rPr lang="en-US" altLang="zh-CN" sz="2800" i="1">
                <a:sym typeface="Symbol" panose="05050102010706020507" charset="2"/>
              </a:rPr>
              <a:t>n</a:t>
            </a:r>
            <a:r>
              <a:rPr lang="en-US" altLang="zh-CN" sz="2800">
                <a:sym typeface="Symbol" panose="05050102010706020507" charset="2"/>
              </a:rPr>
              <a:t>-1.</a:t>
            </a:r>
            <a:r>
              <a:rPr lang="zh-CN" altLang="en-US" sz="2800">
                <a:sym typeface="Symbol" panose="05050102010706020507" charset="2"/>
              </a:rPr>
              <a:t>不妨设</a:t>
            </a:r>
            <a:r>
              <a:rPr lang="en-US" altLang="zh-CN" sz="2800">
                <a:sym typeface="Symbol" panose="05050102010706020507" charset="2"/>
              </a:rPr>
              <a:t>G</a:t>
            </a:r>
            <a:r>
              <a:rPr lang="zh-CN" altLang="en-US" sz="2800">
                <a:sym typeface="Symbol" panose="05050102010706020507" charset="2"/>
              </a:rPr>
              <a:t>是简单连通图</a:t>
            </a:r>
            <a:r>
              <a:rPr lang="en-US" altLang="zh-CN" sz="2800">
                <a:sym typeface="Symbol" panose="05050102010706020507" charset="2"/>
              </a:rPr>
              <a:t>.</a:t>
            </a:r>
            <a:endParaRPr lang="en-US" altLang="zh-CN" sz="2800">
              <a:sym typeface="Symbol" panose="05050102010706020507" charset="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800">
                <a:sym typeface="Symbol" panose="05050102010706020507" charset="2"/>
              </a:rPr>
              <a:t>对</a:t>
            </a:r>
            <a:r>
              <a:rPr lang="en-US" altLang="zh-CN" sz="2800" i="1">
                <a:sym typeface="Symbol" panose="05050102010706020507" charset="2"/>
              </a:rPr>
              <a:t>n</a:t>
            </a:r>
            <a:r>
              <a:rPr lang="zh-CN" altLang="en-US" sz="2800">
                <a:sym typeface="Symbol" panose="05050102010706020507" charset="2"/>
              </a:rPr>
              <a:t>作归纳法</a:t>
            </a:r>
            <a:r>
              <a:rPr lang="en-US" altLang="zh-CN" sz="2800">
                <a:sym typeface="Symbol" panose="05050102010706020507" charset="2"/>
              </a:rPr>
              <a:t>.</a:t>
            </a:r>
            <a:endParaRPr lang="en-US" altLang="zh-CN" sz="2800">
              <a:sym typeface="Symbol" panose="05050102010706020507" charset="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800">
                <a:sym typeface="Symbol" panose="05050102010706020507" charset="2"/>
              </a:rPr>
              <a:t>当</a:t>
            </a:r>
            <a:r>
              <a:rPr lang="en-US" altLang="zh-CN" sz="2800" i="1">
                <a:sym typeface="Symbol" panose="05050102010706020507" charset="2"/>
              </a:rPr>
              <a:t>n</a:t>
            </a:r>
            <a:r>
              <a:rPr lang="en-US" altLang="zh-CN" sz="2800">
                <a:sym typeface="Symbol" panose="05050102010706020507" charset="2"/>
              </a:rPr>
              <a:t>=1</a:t>
            </a:r>
            <a:r>
              <a:rPr lang="zh-CN" altLang="en-US" sz="2800">
                <a:sym typeface="Symbol" panose="05050102010706020507" charset="2"/>
              </a:rPr>
              <a:t>时，</a:t>
            </a:r>
            <a:r>
              <a:rPr lang="en-US" altLang="zh-CN" sz="2800">
                <a:sym typeface="Symbol" panose="05050102010706020507" charset="2"/>
              </a:rPr>
              <a:t>G</a:t>
            </a:r>
            <a:r>
              <a:rPr lang="zh-CN" altLang="en-US" sz="2800">
                <a:sym typeface="Symbol" panose="05050102010706020507" charset="2"/>
              </a:rPr>
              <a:t>是平凡图，</a:t>
            </a:r>
            <a:r>
              <a:rPr lang="en-US" altLang="zh-CN" sz="2800" i="1">
                <a:sym typeface="Symbol" panose="05050102010706020507" charset="2"/>
              </a:rPr>
              <a:t>m</a:t>
            </a:r>
            <a:r>
              <a:rPr lang="en-US" altLang="zh-CN" sz="2800">
                <a:sym typeface="Symbol" panose="05050102010706020507" charset="2"/>
              </a:rPr>
              <a:t>=0</a:t>
            </a:r>
            <a:r>
              <a:rPr lang="zh-CN" altLang="en-US" sz="2800">
                <a:sym typeface="Symbol" panose="05050102010706020507" charset="2"/>
              </a:rPr>
              <a:t>，</a:t>
            </a:r>
            <a:r>
              <a:rPr lang="zh-CN" altLang="en-US" sz="2800">
                <a:sym typeface="Symbol" panose="05050102010706020507" charset="2"/>
              </a:rPr>
              <a:t>结论成立</a:t>
            </a:r>
            <a:r>
              <a:rPr lang="en-US" altLang="zh-CN" sz="2800">
                <a:sym typeface="Symbol" panose="05050102010706020507" charset="2"/>
              </a:rPr>
              <a:t>.</a:t>
            </a:r>
            <a:endParaRPr lang="en-US" altLang="zh-CN" sz="2800">
              <a:sym typeface="Symbol" panose="05050102010706020507" charset="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800">
                <a:sym typeface="Symbol" panose="05050102010706020507" charset="2"/>
              </a:rPr>
              <a:t>设</a:t>
            </a:r>
            <a:r>
              <a:rPr lang="en-US" altLang="zh-CN" sz="2800" i="1" err="1">
                <a:sym typeface="Symbol" panose="05050102010706020507" charset="2"/>
              </a:rPr>
              <a:t>n</a:t>
            </a:r>
            <a:r>
              <a:rPr lang="en-US" altLang="zh-CN" sz="2800" err="1">
                <a:cs typeface="Times New Roman" panose="02020603050405020304" charset="0"/>
                <a:sym typeface="Symbol" panose="05050102010706020507" charset="2"/>
              </a:rPr>
              <a:t></a:t>
            </a:r>
            <a:r>
              <a:rPr lang="en-US" altLang="zh-CN" sz="2800" i="1" err="1">
                <a:cs typeface="Times New Roman" panose="02020603050405020304" charset="0"/>
                <a:sym typeface="Symbol" panose="05050102010706020507" charset="2"/>
              </a:rPr>
              <a:t>k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(k1)</a:t>
            </a:r>
            <a:r>
              <a:rPr lang="zh-CN" altLang="en-US" sz="2800">
                <a:cs typeface="Times New Roman" panose="02020603050405020304" charset="0"/>
                <a:sym typeface="Symbol" panose="05050102010706020507" charset="2"/>
              </a:rPr>
              <a:t>时结论成立，当</a:t>
            </a:r>
            <a:r>
              <a:rPr lang="en-US" altLang="zh-CN" sz="2800" i="1">
                <a:cs typeface="Times New Roman" panose="02020603050405020304" charset="0"/>
                <a:sym typeface="Symbol" panose="05050102010706020507" charset="2"/>
              </a:rPr>
              <a:t>n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=</a:t>
            </a:r>
            <a:r>
              <a:rPr lang="en-US" altLang="zh-CN" sz="2800" i="1">
                <a:cs typeface="Times New Roman" panose="02020603050405020304" charset="0"/>
                <a:sym typeface="Symbol" panose="05050102010706020507" charset="2"/>
              </a:rPr>
              <a:t>k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+1</a:t>
            </a:r>
            <a:r>
              <a:rPr lang="zh-CN" altLang="en-US" sz="2800">
                <a:cs typeface="Times New Roman" panose="02020603050405020304" charset="0"/>
                <a:sym typeface="Symbol" panose="05050102010706020507" charset="2"/>
              </a:rPr>
              <a:t>时，设</a:t>
            </a:r>
            <a:r>
              <a:rPr lang="en-US" altLang="zh-CN" sz="2800" i="1">
                <a:cs typeface="Times New Roman" panose="02020603050405020304" charset="0"/>
                <a:sym typeface="Symbol" panose="05050102010706020507" charset="2"/>
              </a:rPr>
              <a:t>v</a:t>
            </a:r>
            <a:r>
              <a:rPr lang="zh-CN" altLang="en-US" sz="2800">
                <a:cs typeface="Times New Roman" panose="02020603050405020304" charset="0"/>
                <a:sym typeface="Symbol" panose="05050102010706020507" charset="2"/>
              </a:rPr>
              <a:t>是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G</a:t>
            </a:r>
            <a:r>
              <a:rPr lang="zh-CN" altLang="en-US" sz="2800">
                <a:cs typeface="Times New Roman" panose="02020603050405020304" charset="0"/>
                <a:sym typeface="Symbol" panose="05050102010706020507" charset="2"/>
              </a:rPr>
              <a:t>中的任一结点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,G</a:t>
            </a:r>
            <a:r>
              <a:rPr lang="en-US" altLang="zh-CN" sz="2800">
                <a:latin typeface="Tahoma" panose="020B0604030504040204" charset="0"/>
                <a:cs typeface="Times New Roman" panose="02020603050405020304" charset="0"/>
                <a:sym typeface="Symbol" panose="05050102010706020507" charset="2"/>
              </a:rPr>
              <a:t>’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=G-</a:t>
            </a:r>
            <a:r>
              <a:rPr lang="en-US" altLang="zh-CN" sz="2800" i="1">
                <a:cs typeface="Times New Roman" panose="02020603050405020304" charset="0"/>
                <a:sym typeface="Symbol" panose="05050102010706020507" charset="2"/>
              </a:rPr>
              <a:t>v</a:t>
            </a:r>
            <a:r>
              <a:rPr lang="zh-CN" altLang="en-US" sz="2800">
                <a:cs typeface="Times New Roman" panose="02020603050405020304" charset="0"/>
                <a:sym typeface="Symbol" panose="05050102010706020507" charset="2"/>
              </a:rPr>
              <a:t>，设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G</a:t>
            </a:r>
            <a:r>
              <a:rPr lang="en-US" altLang="zh-CN" sz="2800">
                <a:latin typeface="Tahoma" panose="020B0604030504040204" charset="0"/>
                <a:cs typeface="Times New Roman" panose="02020603050405020304" charset="0"/>
                <a:sym typeface="Symbol" panose="05050102010706020507" charset="2"/>
              </a:rPr>
              <a:t>’</a:t>
            </a:r>
            <a:r>
              <a:rPr lang="zh-CN" altLang="en-US" sz="2800">
                <a:cs typeface="Times New Roman" panose="02020603050405020304" charset="0"/>
                <a:sym typeface="Symbol" panose="05050102010706020507" charset="2"/>
              </a:rPr>
              <a:t>有</a:t>
            </a:r>
            <a:r>
              <a:rPr lang="en-US" altLang="zh-CN" sz="2800" i="1">
                <a:cs typeface="Times New Roman" panose="02020603050405020304" charset="0"/>
                <a:sym typeface="Symbol" panose="05050102010706020507" charset="2"/>
              </a:rPr>
              <a:t>s</a:t>
            </a:r>
            <a:r>
              <a:rPr lang="zh-CN" altLang="en-US" sz="2800">
                <a:cs typeface="Times New Roman" panose="02020603050405020304" charset="0"/>
                <a:sym typeface="Symbol" panose="05050102010706020507" charset="2"/>
              </a:rPr>
              <a:t>个连通分支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G</a:t>
            </a:r>
            <a:r>
              <a:rPr lang="en-US" altLang="zh-CN" sz="2800" baseline="-25000">
                <a:cs typeface="Times New Roman" panose="02020603050405020304" charset="0"/>
                <a:sym typeface="Symbol" panose="05050102010706020507" charset="2"/>
              </a:rPr>
              <a:t>1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,G</a:t>
            </a:r>
            <a:r>
              <a:rPr lang="en-US" altLang="zh-CN" sz="2800" baseline="-25000">
                <a:cs typeface="Times New Roman" panose="02020603050405020304" charset="0"/>
                <a:sym typeface="Symbol" panose="05050102010706020507" charset="2"/>
              </a:rPr>
              <a:t>2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,…,</a:t>
            </a:r>
            <a:r>
              <a:rPr lang="en-US" altLang="zh-CN" sz="2800" err="1">
                <a:cs typeface="Times New Roman" panose="02020603050405020304" charset="0"/>
                <a:sym typeface="Symbol" panose="05050102010706020507" charset="2"/>
              </a:rPr>
              <a:t>G</a:t>
            </a:r>
            <a:r>
              <a:rPr lang="en-US" altLang="zh-CN" sz="2800" i="1" baseline="-25000" err="1">
                <a:cs typeface="Times New Roman" panose="02020603050405020304" charset="0"/>
                <a:sym typeface="Symbol" panose="05050102010706020507" charset="2"/>
              </a:rPr>
              <a:t>s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, </a:t>
            </a:r>
            <a:r>
              <a:rPr lang="en-US" altLang="zh-CN" sz="2800" i="1">
                <a:cs typeface="Times New Roman" panose="02020603050405020304" charset="0"/>
                <a:sym typeface="Symbol" panose="05050102010706020507" charset="2"/>
              </a:rPr>
              <a:t>s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1.</a:t>
            </a:r>
            <a:r>
              <a:rPr lang="zh-CN" altLang="en-US" sz="2800">
                <a:cs typeface="Times New Roman" panose="02020603050405020304" charset="0"/>
                <a:sym typeface="Symbol" panose="05050102010706020507" charset="2"/>
              </a:rPr>
              <a:t>设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|V(</a:t>
            </a:r>
            <a:r>
              <a:rPr lang="en-US" altLang="zh-CN" sz="2800" err="1">
                <a:cs typeface="Times New Roman" panose="02020603050405020304" charset="0"/>
                <a:sym typeface="Symbol" panose="05050102010706020507" charset="2"/>
              </a:rPr>
              <a:t>G</a:t>
            </a:r>
            <a:r>
              <a:rPr lang="en-US" altLang="zh-CN" sz="2800" i="1" baseline="-25000" err="1">
                <a:cs typeface="Times New Roman" panose="02020603050405020304" charset="0"/>
                <a:sym typeface="Symbol" panose="05050102010706020507" charset="2"/>
              </a:rPr>
              <a:t>i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)|=</a:t>
            </a:r>
            <a:r>
              <a:rPr lang="en-US" altLang="zh-CN" sz="2800" i="1" err="1">
                <a:cs typeface="Times New Roman" panose="02020603050405020304" charset="0"/>
                <a:sym typeface="Symbol" panose="05050102010706020507" charset="2"/>
              </a:rPr>
              <a:t>n</a:t>
            </a:r>
            <a:r>
              <a:rPr lang="en-US" altLang="zh-CN" sz="2800" i="1" baseline="-25000" err="1">
                <a:cs typeface="Times New Roman" panose="02020603050405020304" charset="0"/>
                <a:sym typeface="Symbol" panose="05050102010706020507" charset="2"/>
              </a:rPr>
              <a:t>i</a:t>
            </a:r>
            <a:r>
              <a:rPr lang="zh-CN" altLang="en-US" sz="2800">
                <a:cs typeface="Times New Roman" panose="02020603050405020304" charset="0"/>
                <a:sym typeface="Symbol" panose="05050102010706020507" charset="2"/>
              </a:rPr>
              <a:t>，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|V(</a:t>
            </a:r>
            <a:r>
              <a:rPr lang="en-US" altLang="zh-CN" sz="2800" err="1">
                <a:cs typeface="Times New Roman" panose="02020603050405020304" charset="0"/>
                <a:sym typeface="Symbol" panose="05050102010706020507" charset="2"/>
              </a:rPr>
              <a:t>E</a:t>
            </a:r>
            <a:r>
              <a:rPr lang="en-US" altLang="zh-CN" sz="2800" i="1" baseline="-25000" err="1">
                <a:cs typeface="Times New Roman" panose="02020603050405020304" charset="0"/>
                <a:sym typeface="Symbol" panose="05050102010706020507" charset="2"/>
              </a:rPr>
              <a:t>i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)|=</a:t>
            </a:r>
            <a:r>
              <a:rPr lang="en-US" altLang="zh-CN" sz="2800" i="1">
                <a:cs typeface="Times New Roman" panose="02020603050405020304" charset="0"/>
                <a:sym typeface="Symbol" panose="05050102010706020507" charset="2"/>
              </a:rPr>
              <a:t>m</a:t>
            </a:r>
            <a:r>
              <a:rPr lang="en-US" altLang="zh-CN" sz="2800" i="1" baseline="-25000">
                <a:cs typeface="Times New Roman" panose="02020603050405020304" charset="0"/>
                <a:sym typeface="Symbol" panose="05050102010706020507" charset="2"/>
              </a:rPr>
              <a:t>i</a:t>
            </a:r>
            <a:r>
              <a:rPr lang="zh-CN" altLang="en-US" sz="2800" i="1">
                <a:cs typeface="Times New Roman" panose="02020603050405020304" charset="0"/>
                <a:sym typeface="Symbol" panose="05050102010706020507" charset="2"/>
              </a:rPr>
              <a:t>，</a:t>
            </a:r>
            <a:r>
              <a:rPr lang="en-US" altLang="zh-CN" sz="2800" i="1" err="1">
                <a:cs typeface="Times New Roman" panose="02020603050405020304" charset="0"/>
                <a:sym typeface="Symbol" panose="05050102010706020507" charset="2"/>
              </a:rPr>
              <a:t>i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=1,2,…,</a:t>
            </a:r>
            <a:r>
              <a:rPr lang="en-US" altLang="zh-CN" sz="2800" i="1">
                <a:cs typeface="Times New Roman" panose="02020603050405020304" charset="0"/>
                <a:sym typeface="Symbol" panose="05050102010706020507" charset="2"/>
              </a:rPr>
              <a:t>s</a:t>
            </a:r>
            <a:r>
              <a:rPr lang="zh-CN" altLang="en-US" sz="2800">
                <a:cs typeface="Times New Roman" panose="02020603050405020304" charset="0"/>
                <a:sym typeface="Symbol" panose="05050102010706020507" charset="2"/>
              </a:rPr>
              <a:t>，则</a:t>
            </a:r>
            <a:r>
              <a:rPr lang="en-US" altLang="zh-CN" sz="2800" i="1" err="1">
                <a:cs typeface="Times New Roman" panose="02020603050405020304" charset="0"/>
                <a:sym typeface="Symbol" panose="05050102010706020507" charset="2"/>
              </a:rPr>
              <a:t>n</a:t>
            </a:r>
            <a:r>
              <a:rPr lang="en-US" altLang="zh-CN" sz="2800" i="1" baseline="-25000" err="1">
                <a:cs typeface="Times New Roman" panose="02020603050405020304" charset="0"/>
                <a:sym typeface="Symbol" panose="05050102010706020507" charset="2"/>
              </a:rPr>
              <a:t>i</a:t>
            </a:r>
            <a:r>
              <a:rPr lang="en-US" altLang="zh-CN" sz="2800" baseline="-25000">
                <a:cs typeface="Times New Roman" panose="02020603050405020304" charset="0"/>
                <a:sym typeface="Symbol" panose="05050102010706020507" charset="2"/>
              </a:rPr>
              <a:t> 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</a:t>
            </a:r>
            <a:r>
              <a:rPr lang="en-US" altLang="zh-CN" sz="2800" i="1">
                <a:cs typeface="Times New Roman" panose="02020603050405020304" charset="0"/>
                <a:sym typeface="Symbol" panose="05050102010706020507" charset="2"/>
              </a:rPr>
              <a:t>k</a:t>
            </a:r>
            <a:r>
              <a:rPr lang="zh-CN" altLang="en-US" sz="2800">
                <a:cs typeface="Times New Roman" panose="02020603050405020304" charset="0"/>
                <a:sym typeface="Symbol" panose="05050102010706020507" charset="2"/>
              </a:rPr>
              <a:t>，</a:t>
            </a:r>
            <a:r>
              <a:rPr lang="zh-CN" altLang="en-US" sz="2800">
                <a:cs typeface="Times New Roman" panose="02020603050405020304" charset="0"/>
                <a:sym typeface="Symbol" panose="05050102010706020507" charset="2"/>
              </a:rPr>
              <a:t>因此</a:t>
            </a:r>
            <a:r>
              <a:rPr lang="en-US" altLang="zh-CN" sz="2800" i="1">
                <a:cs typeface="Times New Roman" panose="02020603050405020304" charset="0"/>
                <a:sym typeface="Symbol" panose="05050102010706020507" charset="2"/>
              </a:rPr>
              <a:t>m</a:t>
            </a:r>
            <a:r>
              <a:rPr lang="en-US" altLang="zh-CN" sz="2800" i="1" baseline="-25000">
                <a:cs typeface="Times New Roman" panose="02020603050405020304" charset="0"/>
                <a:sym typeface="Symbol" panose="05050102010706020507" charset="2"/>
              </a:rPr>
              <a:t>i</a:t>
            </a:r>
            <a:r>
              <a:rPr lang="en-US" altLang="zh-CN" sz="2800" i="1">
                <a:cs typeface="Times New Roman" panose="02020603050405020304" charset="0"/>
                <a:sym typeface="Symbol" panose="05050102010706020507" charset="2"/>
              </a:rPr>
              <a:t> 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</a:t>
            </a:r>
            <a:r>
              <a:rPr lang="en-US" altLang="zh-CN" sz="2800" i="1">
                <a:cs typeface="Times New Roman" panose="02020603050405020304" charset="0"/>
                <a:sym typeface="Symbol" panose="05050102010706020507" charset="2"/>
              </a:rPr>
              <a:t>n</a:t>
            </a:r>
            <a:r>
              <a:rPr lang="en-US" altLang="zh-CN" sz="2800" i="1" baseline="-25000">
                <a:cs typeface="Times New Roman" panose="02020603050405020304" charset="0"/>
                <a:sym typeface="Symbol" panose="05050102010706020507" charset="2"/>
              </a:rPr>
              <a:t>i</a:t>
            </a:r>
            <a:r>
              <a:rPr lang="en-US" altLang="zh-CN" sz="2800">
                <a:cs typeface="Times New Roman" panose="02020603050405020304" charset="0"/>
                <a:sym typeface="Symbol" panose="05050102010706020507" charset="2"/>
              </a:rPr>
              <a:t>-1.</a:t>
            </a:r>
            <a:endParaRPr lang="en-US" altLang="zh-CN" sz="2800">
              <a:ea typeface="Times New Roman" panose="02020603050405020304" charset="0"/>
              <a:sym typeface="Symbol" panose="05050102010706020507" charset="2"/>
            </a:endParaRPr>
          </a:p>
        </p:txBody>
      </p:sp>
      <p:sp>
        <p:nvSpPr>
          <p:cNvPr id="921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p>
            <a:pPr eaLnBrk="1" hangingPunct="1"/>
            <a:r>
              <a:rPr lang="zh-CN" altLang="en-US"/>
              <a:t>定理</a:t>
            </a:r>
            <a:r>
              <a:rPr lang="en-US" altLang="zh-CN"/>
              <a:t>7.9</a:t>
            </a:r>
            <a:r>
              <a:rPr lang="zh-CN" altLang="en-US"/>
              <a:t>（续）</a:t>
            </a:r>
            <a:endParaRPr lang="en-US" altLang="zh-CN"/>
          </a:p>
        </p:txBody>
      </p:sp>
      <p:sp>
        <p:nvSpPr>
          <p:cNvPr id="4301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eaLnBrk="1" hangingPunct="1">
              <a:lnSpc>
                <a:spcPct val="100000"/>
              </a:lnSpc>
              <a:buNone/>
            </a:pPr>
            <a:r>
              <a:rPr lang="zh-CN" altLang="en-US" sz="2800" dirty="0">
                <a:cs typeface="Times New Roman" panose="02020603050405020304" charset="0"/>
                <a:sym typeface="Symbol" panose="05050102010706020507" charset="2"/>
              </a:rPr>
              <a:t>由于</a:t>
            </a:r>
            <a:r>
              <a:rPr lang="zh-CN" altLang="en-US" sz="2800" dirty="0">
                <a:solidFill>
                  <a:srgbClr val="FF00FF"/>
                </a:solidFill>
                <a:cs typeface="Times New Roman" panose="02020603050405020304" charset="0"/>
                <a:sym typeface="Symbol" panose="05050102010706020507" charset="2"/>
              </a:rPr>
              <a:t>删除</a:t>
            </a:r>
            <a:r>
              <a:rPr lang="en-US" altLang="zh-CN" sz="2800" i="1" dirty="0">
                <a:solidFill>
                  <a:srgbClr val="FF00FF"/>
                </a:solidFill>
                <a:cs typeface="Times New Roman" panose="02020603050405020304" charset="0"/>
                <a:sym typeface="Symbol" panose="05050102010706020507" charset="2"/>
              </a:rPr>
              <a:t>v</a:t>
            </a:r>
            <a:r>
              <a:rPr lang="zh-CN" altLang="en-US" sz="2800" dirty="0">
                <a:solidFill>
                  <a:srgbClr val="FF00FF"/>
                </a:solidFill>
                <a:cs typeface="Times New Roman" panose="02020603050405020304" charset="0"/>
                <a:sym typeface="Symbol" panose="05050102010706020507" charset="2"/>
              </a:rPr>
              <a:t>后产生了</a:t>
            </a:r>
            <a:r>
              <a:rPr lang="en-US" altLang="zh-CN" sz="2800" i="1" dirty="0">
                <a:solidFill>
                  <a:srgbClr val="FF00FF"/>
                </a:solidFill>
                <a:cs typeface="Times New Roman" panose="02020603050405020304" charset="0"/>
                <a:sym typeface="Symbol" panose="05050102010706020507" charset="2"/>
              </a:rPr>
              <a:t>s</a:t>
            </a:r>
            <a:r>
              <a:rPr lang="zh-CN" altLang="en-US" sz="2800" dirty="0">
                <a:solidFill>
                  <a:srgbClr val="FF00FF"/>
                </a:solidFill>
                <a:cs typeface="Times New Roman" panose="02020603050405020304" charset="0"/>
                <a:sym typeface="Symbol" panose="05050102010706020507" charset="2"/>
              </a:rPr>
              <a:t>个连通分支，因此至少删除了</a:t>
            </a:r>
            <a:r>
              <a:rPr lang="en-US" altLang="zh-CN" sz="2800" dirty="0">
                <a:solidFill>
                  <a:srgbClr val="FF00FF"/>
                </a:solidFill>
                <a:cs typeface="Times New Roman" panose="02020603050405020304" charset="0"/>
                <a:sym typeface="Symbol" panose="05050102010706020507" charset="2"/>
              </a:rPr>
              <a:t>G</a:t>
            </a:r>
            <a:r>
              <a:rPr lang="zh-CN" altLang="en-US" sz="2800" dirty="0">
                <a:solidFill>
                  <a:srgbClr val="FF00FF"/>
                </a:solidFill>
                <a:cs typeface="Times New Roman" panose="02020603050405020304" charset="0"/>
                <a:sym typeface="Symbol" panose="05050102010706020507" charset="2"/>
              </a:rPr>
              <a:t>中的</a:t>
            </a:r>
            <a:r>
              <a:rPr lang="en-US" altLang="zh-CN" sz="2800" i="1" dirty="0">
                <a:solidFill>
                  <a:srgbClr val="FF00FF"/>
                </a:solidFill>
                <a:cs typeface="Times New Roman" panose="02020603050405020304" charset="0"/>
                <a:sym typeface="Symbol" panose="05050102010706020507" charset="2"/>
              </a:rPr>
              <a:t>s</a:t>
            </a:r>
            <a:r>
              <a:rPr lang="zh-CN" altLang="en-US" sz="2800" dirty="0">
                <a:solidFill>
                  <a:srgbClr val="FF00FF"/>
                </a:solidFill>
                <a:cs typeface="Times New Roman" panose="02020603050405020304" charset="0"/>
                <a:sym typeface="Symbol" panose="05050102010706020507" charset="2"/>
              </a:rPr>
              <a:t>条边</a:t>
            </a:r>
            <a:r>
              <a:rPr lang="zh-CN" altLang="en-US" sz="2800" dirty="0">
                <a:cs typeface="Times New Roman" panose="02020603050405020304" charset="0"/>
                <a:sym typeface="Symbol" panose="05050102010706020507" charset="2"/>
              </a:rPr>
              <a:t>，</a:t>
            </a:r>
            <a:r>
              <a:rPr lang="zh-CN" altLang="en-US" sz="2800" dirty="0">
                <a:cs typeface="Times New Roman" panose="02020603050405020304" charset="0"/>
                <a:sym typeface="Symbol" panose="05050102010706020507" charset="2"/>
              </a:rPr>
              <a:t>故</a:t>
            </a:r>
            <a:endParaRPr lang="en-US" altLang="zh-CN" sz="2800" dirty="0">
              <a:cs typeface="Times New Roman" panose="02020603050405020304" charset="0"/>
              <a:sym typeface="Symbol" panose="05050102010706020507" charset="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800" i="1" dirty="0">
                <a:cs typeface="Times New Roman" panose="02020603050405020304" charset="0"/>
                <a:sym typeface="Symbol" panose="05050102010706020507" charset="2"/>
              </a:rPr>
              <a:t>m</a:t>
            </a:r>
            <a:r>
              <a:rPr lang="en-US" altLang="zh-CN" sz="2800" dirty="0">
                <a:cs typeface="Times New Roman" panose="02020603050405020304" charset="0"/>
                <a:sym typeface="Symbol" panose="05050102010706020507" charset="2"/>
              </a:rPr>
              <a:t> (</a:t>
            </a:r>
            <a:r>
              <a:rPr lang="en-US" altLang="zh-CN" sz="2800" i="1" baseline="-25000" dirty="0">
                <a:cs typeface="Times New Roman" panose="02020603050405020304" charset="0"/>
                <a:sym typeface="Symbol" panose="05050102010706020507" charset="2"/>
              </a:rPr>
              <a:t>i</a:t>
            </a:r>
            <a:r>
              <a:rPr lang="en-US" altLang="zh-CN" sz="2800" baseline="-25000" dirty="0">
                <a:cs typeface="Times New Roman" panose="02020603050405020304" charset="0"/>
                <a:sym typeface="Symbol" panose="05050102010706020507" charset="2"/>
              </a:rPr>
              <a:t>=1</a:t>
            </a:r>
            <a:r>
              <a:rPr lang="en-US" altLang="zh-CN" sz="2800" baseline="30000" dirty="0">
                <a:cs typeface="Times New Roman" panose="02020603050405020304" charset="0"/>
                <a:sym typeface="Symbol" panose="05050102010706020507" charset="2"/>
              </a:rPr>
              <a:t>s </a:t>
            </a:r>
            <a:r>
              <a:rPr lang="en-US" altLang="zh-CN" sz="2800" i="1" dirty="0">
                <a:cs typeface="Times New Roman" panose="02020603050405020304" charset="0"/>
                <a:sym typeface="Symbol" panose="05050102010706020507" charset="2"/>
              </a:rPr>
              <a:t>m</a:t>
            </a:r>
            <a:r>
              <a:rPr lang="en-US" altLang="zh-CN" sz="2800" i="1" baseline="-25000" dirty="0">
                <a:cs typeface="Times New Roman" panose="02020603050405020304" charset="0"/>
                <a:sym typeface="Symbol" panose="05050102010706020507" charset="2"/>
              </a:rPr>
              <a:t>i</a:t>
            </a:r>
            <a:r>
              <a:rPr lang="en-US" altLang="zh-CN" sz="2800" i="1" dirty="0">
                <a:cs typeface="Times New Roman" panose="02020603050405020304" charset="0"/>
                <a:sym typeface="Symbol" panose="05050102010706020507" charset="2"/>
              </a:rPr>
              <a:t> </a:t>
            </a:r>
            <a:r>
              <a:rPr lang="en-US" altLang="zh-CN" sz="2800" dirty="0">
                <a:cs typeface="Times New Roman" panose="02020603050405020304" charset="0"/>
                <a:sym typeface="Symbol" panose="05050102010706020507" charset="2"/>
              </a:rPr>
              <a:t>)+</a:t>
            </a:r>
            <a:r>
              <a:rPr lang="en-US" altLang="zh-CN" sz="2800" i="1" dirty="0">
                <a:cs typeface="Times New Roman" panose="02020603050405020304" charset="0"/>
                <a:sym typeface="Symbol" panose="05050102010706020507" charset="2"/>
              </a:rPr>
              <a:t>s</a:t>
            </a:r>
            <a:r>
              <a:rPr lang="en-US" altLang="zh-CN" sz="2800" dirty="0">
                <a:cs typeface="Times New Roman" panose="02020603050405020304" charset="0"/>
                <a:sym typeface="Symbol" panose="05050102010706020507" charset="2"/>
              </a:rPr>
              <a:t>  (</a:t>
            </a:r>
            <a:r>
              <a:rPr lang="en-US" altLang="zh-CN" sz="2800" i="1" baseline="-25000" dirty="0">
                <a:cs typeface="Times New Roman" panose="02020603050405020304" charset="0"/>
                <a:sym typeface="Symbol" panose="05050102010706020507" charset="2"/>
              </a:rPr>
              <a:t>i</a:t>
            </a:r>
            <a:r>
              <a:rPr lang="en-US" altLang="zh-CN" sz="2800" baseline="-25000" dirty="0">
                <a:cs typeface="Times New Roman" panose="02020603050405020304" charset="0"/>
                <a:sym typeface="Symbol" panose="05050102010706020507" charset="2"/>
              </a:rPr>
              <a:t>=1</a:t>
            </a:r>
            <a:r>
              <a:rPr lang="en-US" altLang="zh-CN" sz="2800" i="1" baseline="30000" dirty="0">
                <a:cs typeface="Times New Roman" panose="02020603050405020304" charset="0"/>
                <a:sym typeface="Symbol" panose="05050102010706020507" charset="2"/>
              </a:rPr>
              <a:t>s(</a:t>
            </a:r>
            <a:r>
              <a:rPr lang="en-US" altLang="zh-CN" sz="2800" baseline="30000" dirty="0">
                <a:cs typeface="Times New Roman" panose="02020603050405020304" charset="0"/>
                <a:sym typeface="Symbol" panose="05050102010706020507" charset="2"/>
              </a:rPr>
              <a:t> </a:t>
            </a:r>
            <a:r>
              <a:rPr lang="en-US" altLang="zh-CN" sz="2800" i="1" dirty="0">
                <a:cs typeface="Times New Roman" panose="02020603050405020304" charset="0"/>
                <a:sym typeface="Symbol" panose="05050102010706020507" charset="2"/>
              </a:rPr>
              <a:t>n</a:t>
            </a:r>
            <a:r>
              <a:rPr lang="en-US" altLang="zh-CN" sz="2800" i="1" baseline="-25000" dirty="0">
                <a:cs typeface="Times New Roman" panose="02020603050405020304" charset="0"/>
                <a:sym typeface="Symbol" panose="05050102010706020507" charset="2"/>
              </a:rPr>
              <a:t>i </a:t>
            </a:r>
            <a:r>
              <a:rPr lang="en-US" altLang="zh-CN" sz="2800" dirty="0">
                <a:cs typeface="Times New Roman" panose="02020603050405020304" charset="0"/>
                <a:sym typeface="Symbol" panose="05050102010706020507" charset="2"/>
              </a:rPr>
              <a:t>-1)+s (</a:t>
            </a:r>
            <a:r>
              <a:rPr lang="en-US" altLang="zh-CN" sz="2800" i="1" baseline="-25000" dirty="0">
                <a:cs typeface="Times New Roman" panose="02020603050405020304" charset="0"/>
                <a:sym typeface="Symbol" panose="05050102010706020507" charset="2"/>
              </a:rPr>
              <a:t>i</a:t>
            </a:r>
            <a:r>
              <a:rPr lang="en-US" altLang="zh-CN" sz="2800" baseline="-25000" dirty="0">
                <a:cs typeface="Times New Roman" panose="02020603050405020304" charset="0"/>
                <a:sym typeface="Symbol" panose="05050102010706020507" charset="2"/>
              </a:rPr>
              <a:t>=1</a:t>
            </a:r>
            <a:r>
              <a:rPr lang="en-US" altLang="zh-CN" sz="2800" i="1" baseline="30000" dirty="0">
                <a:cs typeface="Times New Roman" panose="02020603050405020304" charset="0"/>
                <a:sym typeface="Symbol" panose="05050102010706020507" charset="2"/>
              </a:rPr>
              <a:t>s</a:t>
            </a:r>
            <a:r>
              <a:rPr lang="en-US" altLang="zh-CN" sz="2800" baseline="30000" dirty="0">
                <a:cs typeface="Times New Roman" panose="02020603050405020304" charset="0"/>
                <a:sym typeface="Symbol" panose="05050102010706020507" charset="2"/>
              </a:rPr>
              <a:t> </a:t>
            </a:r>
            <a:r>
              <a:rPr lang="en-US" altLang="zh-CN" sz="2800" i="1" dirty="0">
                <a:cs typeface="Times New Roman" panose="02020603050405020304" charset="0"/>
                <a:sym typeface="Symbol" panose="05050102010706020507" charset="2"/>
              </a:rPr>
              <a:t>n</a:t>
            </a:r>
            <a:r>
              <a:rPr lang="en-US" altLang="zh-CN" sz="2800" i="1" baseline="-25000" dirty="0">
                <a:cs typeface="Times New Roman" panose="02020603050405020304" charset="0"/>
                <a:sym typeface="Symbol" panose="05050102010706020507" charset="2"/>
              </a:rPr>
              <a:t>i</a:t>
            </a:r>
            <a:r>
              <a:rPr lang="en-US" altLang="zh-CN" sz="2800" dirty="0">
                <a:cs typeface="Times New Roman" panose="02020603050405020304" charset="0"/>
                <a:sym typeface="Symbol" panose="05050102010706020507" charset="2"/>
              </a:rPr>
              <a:t>)-</a:t>
            </a:r>
            <a:r>
              <a:rPr lang="en-US" altLang="zh-CN" sz="2800" i="1" dirty="0">
                <a:cs typeface="Times New Roman" panose="02020603050405020304" charset="0"/>
                <a:sym typeface="Symbol" panose="05050102010706020507" charset="2"/>
              </a:rPr>
              <a:t>s</a:t>
            </a:r>
            <a:r>
              <a:rPr lang="en-US" altLang="zh-CN" sz="2800" dirty="0">
                <a:cs typeface="Times New Roman" panose="02020603050405020304" charset="0"/>
                <a:sym typeface="Symbol" panose="05050102010706020507" charset="2"/>
              </a:rPr>
              <a:t>+</a:t>
            </a:r>
            <a:r>
              <a:rPr lang="en-US" altLang="zh-CN" sz="2800" i="1" dirty="0">
                <a:cs typeface="Times New Roman" panose="02020603050405020304" charset="0"/>
                <a:sym typeface="Symbol" panose="05050102010706020507" charset="2"/>
              </a:rPr>
              <a:t>s</a:t>
            </a:r>
            <a:r>
              <a:rPr lang="en-US" altLang="zh-CN" sz="2800" dirty="0">
                <a:cs typeface="Times New Roman" panose="02020603050405020304" charset="0"/>
                <a:sym typeface="Symbol" panose="05050102010706020507" charset="2"/>
              </a:rPr>
              <a:t>=</a:t>
            </a:r>
            <a:r>
              <a:rPr lang="en-US" altLang="zh-CN" sz="2800" i="1" dirty="0">
                <a:cs typeface="Times New Roman" panose="02020603050405020304" charset="0"/>
                <a:sym typeface="Symbol" panose="05050102010706020507" charset="2"/>
              </a:rPr>
              <a:t>n</a:t>
            </a:r>
            <a:r>
              <a:rPr lang="en-US" altLang="zh-CN" sz="2800" dirty="0">
                <a:cs typeface="Times New Roman" panose="02020603050405020304" charset="0"/>
                <a:sym typeface="Symbol" panose="05050102010706020507" charset="2"/>
              </a:rPr>
              <a:t>-1</a:t>
            </a:r>
            <a:endParaRPr lang="en-US" altLang="zh-CN" sz="2800" dirty="0">
              <a:ea typeface="Times New Roman" panose="02020603050405020304" charset="0"/>
              <a:sym typeface="Symbol" panose="05050102010706020507" charset="2"/>
            </a:endParaRPr>
          </a:p>
        </p:txBody>
      </p:sp>
      <p:sp>
        <p:nvSpPr>
          <p:cNvPr id="921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"/>
          <p:cNvSpPr>
            <a:spLocks noGrp="1"/>
          </p:cNvSpPr>
          <p:nvPr>
            <p:ph type="title" idx="4294967295"/>
          </p:nvPr>
        </p:nvSpPr>
        <p:spPr/>
        <p:txBody>
          <a:bodyPr wrap="square" lIns="91440" tIns="45720" rIns="91440" bIns="45720" anchor="b" anchorCtr="0"/>
          <a:p>
            <a:pPr marL="0" indent="0" defTabSz="914400" eaLnBrk="1" latinLnBrk="0" hangingPunct="1">
              <a:lnSpc>
                <a:spcPct val="100000"/>
              </a:lnSpc>
              <a:buClrTx/>
              <a:buNone/>
            </a:pPr>
            <a:r>
              <a:rPr lang="zh-CN" altLang="en-US" sz="4000" dirty="0">
                <a:solidFill>
                  <a:srgbClr val="FF0000"/>
                </a:solidFill>
              </a:rPr>
              <a:t>课后作业四：</a:t>
            </a:r>
            <a:endParaRPr lang="zh-CN" altLang="en-US" sz="4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type="body" idx="4294967295"/>
          </p:nvPr>
        </p:nvSpPr>
        <p:spPr>
          <a:xfrm>
            <a:off x="467995" y="1485265"/>
            <a:ext cx="7854315" cy="1584325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书 </a:t>
            </a:r>
            <a:r>
              <a:rPr lang="en-US" altLang="zh-CN" dirty="0"/>
              <a:t>P131</a:t>
            </a:r>
            <a:endParaRPr lang="en-US" altLang="zh-CN" dirty="0"/>
          </a:p>
          <a:p>
            <a:pPr eaLnBrk="1" hangingPunct="1">
              <a:buNone/>
            </a:pPr>
            <a:r>
              <a:rPr lang="zh-CN" altLang="en-US" dirty="0"/>
              <a:t>习题七：</a:t>
            </a:r>
            <a:r>
              <a:rPr lang="en-US" altLang="zh-CN" dirty="0">
                <a:sym typeface="+mn-ea"/>
              </a:rPr>
              <a:t>13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21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24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/>
          </a:p>
        </p:txBody>
      </p:sp>
      <p:sp>
        <p:nvSpPr>
          <p:cNvPr id="17411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dirty="0">
                <a:latin typeface="Times New Roman" panose="02020603050405020304" charset="0"/>
              </a:rPr>
            </a:fld>
            <a:endParaRPr lang="en-US" altLang="zh-CN" sz="1400" dirty="0">
              <a:latin typeface="Times New Roman" panose="0202060305040502030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ldLvl="2" build="p"/>
    </p:bldLst>
  </p:timing>
</p:sld>
</file>

<file path=ppt/tags/tag1.xml><?xml version="1.0" encoding="utf-8"?>
<p:tagLst xmlns:p="http://schemas.openxmlformats.org/presentationml/2006/main">
  <p:tag name="COMMONDATA" val="eyJoZGlkIjoiY2JiMjJjNjEwZGVmNWM5ZTE4YjkzYzY1NDY4YzMyMmM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C0C0C0"/>
            </a:gs>
            <a:gs pos="100000">
              <a:srgbClr val="C0C0C0">
                <a:gamma/>
                <a:shade val="46275"/>
                <a:invGamma/>
              </a:srgbClr>
            </a:gs>
          </a:gsLst>
          <a:path path="rect">
            <a:fillToRect l="50000" t="50000" r="50000" b="50000"/>
          </a:path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C0C0C0"/>
            </a:gs>
            <a:gs pos="100000">
              <a:srgbClr val="C0C0C0">
                <a:gamma/>
                <a:shade val="46275"/>
                <a:invGamma/>
              </a:srgbClr>
            </a:gs>
          </a:gsLst>
          <a:path path="rect">
            <a:fillToRect l="50000" t="50000" r="50000" b="50000"/>
          </a:path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1514</Words>
  <Application>WPS 演示</Application>
  <PresentationFormat/>
  <Paragraphs>140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Tahoma</vt:lpstr>
      <vt:lpstr>黑体</vt:lpstr>
      <vt:lpstr>Wingdings</vt:lpstr>
      <vt:lpstr>Times New Roman</vt:lpstr>
      <vt:lpstr>Garamond</vt:lpstr>
      <vt:lpstr>Symbol</vt:lpstr>
      <vt:lpstr>MingLiU</vt:lpstr>
      <vt:lpstr>MingLiU-ExtB</vt:lpstr>
      <vt:lpstr>微软雅黑</vt:lpstr>
      <vt:lpstr>Arial Unicode MS</vt:lpstr>
      <vt:lpstr>Blends</vt:lpstr>
      <vt:lpstr>7.3 无向图的连通性</vt:lpstr>
      <vt:lpstr>短程线</vt:lpstr>
      <vt:lpstr>图G的直径d(G)</vt:lpstr>
      <vt:lpstr>课后作业三:</vt:lpstr>
      <vt:lpstr>判别二部图的充要条件</vt:lpstr>
      <vt:lpstr>判别二部图的充要条件(续)</vt:lpstr>
      <vt:lpstr>PowerPoint 演示文稿</vt:lpstr>
      <vt:lpstr>定理7.9</vt:lpstr>
      <vt:lpstr>定理7.9（续）</vt:lpstr>
      <vt:lpstr>课后作业四：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小天鹅</cp:lastModifiedBy>
  <cp:revision>19</cp:revision>
  <dcterms:created xsi:type="dcterms:W3CDTF">2008-01-04T07:39:00Z</dcterms:created>
  <dcterms:modified xsi:type="dcterms:W3CDTF">2023-09-27T15:40:22Z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E19809EB691C4C9EBF5EA97034643AB9</vt:lpwstr>
  </property>
</Properties>
</file>