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66" r:id="rId5"/>
    <p:sldId id="367" r:id="rId6"/>
    <p:sldId id="368" r:id="rId7"/>
    <p:sldId id="369" r:id="rId8"/>
    <p:sldId id="370" r:id="rId9"/>
    <p:sldId id="371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427" r:id="rId19"/>
    <p:sldId id="381" r:id="rId20"/>
    <p:sldId id="382" r:id="rId21"/>
    <p:sldId id="383" r:id="rId22"/>
    <p:sldId id="384" r:id="rId23"/>
    <p:sldId id="385" r:id="rId24"/>
    <p:sldId id="386" r:id="rId25"/>
    <p:sldId id="395" r:id="rId26"/>
    <p:sldId id="396" r:id="rId27"/>
    <p:sldId id="419" r:id="rId28"/>
    <p:sldId id="398" r:id="rId29"/>
    <p:sldId id="399" r:id="rId30"/>
    <p:sldId id="400" r:id="rId31"/>
    <p:sldId id="401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02" r:id="rId40"/>
    <p:sldId id="403" r:id="rId41"/>
    <p:sldId id="404" r:id="rId42"/>
    <p:sldId id="405" r:id="rId43"/>
    <p:sldId id="406" r:id="rId44"/>
    <p:sldId id="407" r:id="rId45"/>
    <p:sldId id="408" r:id="rId46"/>
    <p:sldId id="409" r:id="rId47"/>
    <p:sldId id="410" r:id="rId48"/>
    <p:sldId id="411" r:id="rId49"/>
    <p:sldId id="412" r:id="rId50"/>
    <p:sldId id="413" r:id="rId51"/>
    <p:sldId id="415" r:id="rId52"/>
    <p:sldId id="416" r:id="rId53"/>
    <p:sldId id="417" r:id="rId54"/>
    <p:sldId id="418" r:id="rId55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FF"/>
    <a:srgbClr val="808080"/>
    <a:srgbClr val="996633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-2280" y="-104"/>
      </p:cViewPr>
      <p:guideLst>
        <p:guide orient="horz" pos="2160"/>
        <p:guide pos="285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eaLnBrk="1" fontAlgn="base" hangingPunct="1"/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 algn="r" eaLnBrk="1" fontAlgn="base" hangingPunct="1"/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eaLnBrk="1" fontAlgn="base" hangingPunct="1"/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重点解释连通度的意义</a:t>
            </a:r>
            <a:endParaRPr lang="en-US" altLang="zh-CN" dirty="0"/>
          </a:p>
        </p:txBody>
      </p:sp>
      <p:sp>
        <p:nvSpPr>
          <p:cNvPr id="717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哪个图的连通性强？</a:t>
            </a:r>
            <a:endParaRPr lang="en-US" altLang="zh-CN" dirty="0"/>
          </a:p>
        </p:txBody>
      </p:sp>
      <p:sp>
        <p:nvSpPr>
          <p:cNvPr id="921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就上一页</a:t>
            </a:r>
            <a:r>
              <a:rPr lang="en-US" altLang="zh-CN" dirty="0"/>
              <a:t>ppt</a:t>
            </a:r>
            <a:r>
              <a:rPr lang="zh-CN" altLang="en-US" dirty="0"/>
              <a:t>中的图解释连通度的概念和意义</a:t>
            </a:r>
            <a:endParaRPr lang="en-US" altLang="zh-CN" dirty="0"/>
          </a:p>
        </p:txBody>
      </p:sp>
      <p:sp>
        <p:nvSpPr>
          <p:cNvPr id="1126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先让学生，自己读定义，然后给出一个图，求出点割集</a:t>
            </a:r>
            <a:endParaRPr lang="en-US" altLang="zh-CN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6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要求</a:t>
            </a:r>
            <a:r>
              <a:rPr lang="en-US" altLang="zh-CN" dirty="0"/>
              <a:t>3</a:t>
            </a:r>
            <a:r>
              <a:rPr lang="zh-CN" altLang="en-US" dirty="0"/>
              <a:t>个学生找出不同的点割集</a:t>
            </a:r>
            <a:endParaRPr lang="en-US" altLang="zh-CN" dirty="0"/>
          </a:p>
        </p:txBody>
      </p:sp>
      <p:sp>
        <p:nvSpPr>
          <p:cNvPr id="1638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同上</a:t>
            </a:r>
            <a:endParaRPr lang="zh-CN" altLang="en-US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要求</a:t>
            </a:r>
            <a:r>
              <a:rPr lang="en-US" altLang="zh-CN" dirty="0"/>
              <a:t>3</a:t>
            </a:r>
            <a:r>
              <a:rPr lang="zh-CN" altLang="en-US" dirty="0"/>
              <a:t>个学生找出不同的边割集</a:t>
            </a:r>
            <a:endParaRPr lang="en-US" altLang="zh-CN" dirty="0"/>
          </a:p>
        </p:txBody>
      </p:sp>
      <p:sp>
        <p:nvSpPr>
          <p:cNvPr id="2048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4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证明第</a:t>
            </a:r>
            <a:r>
              <a:rPr lang="en-US" altLang="zh-CN" dirty="0"/>
              <a:t>3</a:t>
            </a:r>
            <a:r>
              <a:rPr lang="zh-CN" altLang="en-US" dirty="0"/>
              <a:t>行的结论</a:t>
            </a:r>
            <a:endParaRPr lang="en-US" altLang="zh-CN" dirty="0"/>
          </a:p>
        </p:txBody>
      </p:sp>
      <p:sp>
        <p:nvSpPr>
          <p:cNvPr id="23555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自主学习定义，求给定图的点连通度</a:t>
            </a:r>
            <a:endParaRPr lang="zh-CN" altLang="en-US" dirty="0"/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同上</a:t>
            </a:r>
            <a:endParaRPr lang="zh-CN" altLang="en-US" dirty="0"/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b="1" dirty="0"/>
              <a:t>E’</a:t>
            </a:r>
            <a:r>
              <a:rPr lang="zh-CN" altLang="en-US" b="1" dirty="0">
                <a:ea typeface="黑体" panose="02010609060101010101" charset="-122"/>
              </a:rPr>
              <a:t>中的每条边选择一个顶点</a:t>
            </a:r>
            <a:r>
              <a:rPr lang="en-US" altLang="zh-CN" b="1" dirty="0"/>
              <a:t>,</a:t>
            </a:r>
            <a:r>
              <a:rPr lang="zh-CN" altLang="en-US" b="1" dirty="0">
                <a:ea typeface="黑体" panose="02010609060101010101" charset="-122"/>
              </a:rPr>
              <a:t>直到得到一个点割集</a:t>
            </a:r>
            <a:r>
              <a:rPr lang="en-US" altLang="zh-CN" b="1" dirty="0"/>
              <a:t>.</a:t>
            </a:r>
            <a:endParaRPr lang="zh-CN" altLang="en-US" dirty="0">
              <a:ea typeface="黑体" panose="02010609060101010101" charset="-122"/>
            </a:endParaRPr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怎样计算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charset="0"/>
              </a:rPr>
              <a:t>2δ-n+2≤κ</a:t>
            </a:r>
            <a:endParaRPr lang="zh-CN" altLang="en-US" dirty="0"/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给出定理</a:t>
            </a:r>
            <a:r>
              <a:rPr lang="en-US" altLang="zh-CN" dirty="0"/>
              <a:t>15</a:t>
            </a:r>
            <a:r>
              <a:rPr lang="zh-CN" altLang="en-US" dirty="0"/>
              <a:t>的证明</a:t>
            </a:r>
            <a:endParaRPr lang="en-US" altLang="zh-CN" dirty="0"/>
          </a:p>
        </p:txBody>
      </p:sp>
      <p:sp>
        <p:nvSpPr>
          <p:cNvPr id="5632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证明定理</a:t>
            </a:r>
            <a:r>
              <a:rPr lang="en-US" altLang="zh-CN" dirty="0"/>
              <a:t>16</a:t>
            </a:r>
            <a:endParaRPr lang="en-US" altLang="zh-CN" dirty="0"/>
          </a:p>
        </p:txBody>
      </p:sp>
      <p:sp>
        <p:nvSpPr>
          <p:cNvPr id="6144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如果一个图是块，则图是几连通？是几边连通？</a:t>
            </a:r>
            <a:endParaRPr lang="en-US" altLang="zh-CN" dirty="0"/>
          </a:p>
        </p:txBody>
      </p:sp>
      <p:sp>
        <p:nvSpPr>
          <p:cNvPr id="7065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52" name="Rectangle 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sz="18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3" name="Rectangle 5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sz="18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55" name="Rectangle 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sz="18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Rectangle 8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sz="18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57" name="Rectangle 9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sz="18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8" name="Rectangle 10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sz="18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9" name="Rectangle 11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sz="18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en-US" altLang="zh-CN" strike="noStrike" noProof="1" smtClean="0"/>
              <a:t>Click to edit Master subtitle style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fontAlgn="base"/>
            <a:endParaRPr lang="en-US" altLang="zh-CN" sz="1400" strike="noStrike" noProof="1" dirty="0">
              <a:solidFill>
                <a:schemeClr val="bg2"/>
              </a:solidFill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ctr" fontAlgn="base"/>
            <a:endParaRPr lang="en-US" altLang="zh-CN" sz="1400" strike="noStrike" noProof="1" dirty="0">
              <a:solidFill>
                <a:schemeClr val="bg2"/>
              </a:solidFill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chemeClr val="bg2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z="1400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charset="0"/>
              <a:buNone/>
              <a:defRPr/>
            </a:pPr>
            <a:r>
              <a:rPr kumimoji="0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charset="-122"/>
              </a:rPr>
              <a:t>Drag picture to placeholder or click icon to add</a:t>
            </a: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en-US" altLang="zh-CN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en-US" altLang="zh-CN" strike="noStrike" noProof="1" smtClean="0"/>
              <a:t>Click to edit Master text styles</a:t>
            </a:r>
            <a:endParaRPr lang="en-US" altLang="zh-CN" strike="noStrike" noProof="1" smtClean="0"/>
          </a:p>
          <a:p>
            <a:pPr lvl="1" fontAlgn="base"/>
            <a:r>
              <a:rPr lang="en-US" altLang="zh-CN" strike="noStrike" noProof="1" smtClean="0"/>
              <a:t>Second level</a:t>
            </a:r>
            <a:endParaRPr lang="en-US" altLang="zh-CN" strike="noStrike" noProof="1" smtClean="0"/>
          </a:p>
          <a:p>
            <a:pPr lvl="2" fontAlgn="base"/>
            <a:r>
              <a:rPr lang="en-US" altLang="zh-CN" strike="noStrike" noProof="1" smtClean="0"/>
              <a:t>Third level</a:t>
            </a:r>
            <a:endParaRPr lang="en-US" altLang="zh-CN" strike="noStrike" noProof="1" smtClean="0"/>
          </a:p>
          <a:p>
            <a:pPr lvl="3" fontAlgn="base"/>
            <a:r>
              <a:rPr lang="en-US" altLang="zh-CN" strike="noStrike" noProof="1" smtClean="0"/>
              <a:t>Fourth level</a:t>
            </a:r>
            <a:endParaRPr lang="en-US" altLang="zh-CN" strike="noStrike" noProof="1" smtClean="0"/>
          </a:p>
          <a:p>
            <a:pPr lvl="4" fontAlgn="base"/>
            <a:r>
              <a:rPr lang="en-US" altLang="zh-CN" strike="noStrike" noProof="1" smtClean="0"/>
              <a:t>Fifth level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 lvl="0" eaLnBrk="1" fontAlgn="base" hangingPunct="1"/>
            <a:endParaRPr lang="en-US" altLang="zh-CN" strike="noStrike" noProof="1" dirty="0">
              <a:latin typeface="Tahoma" panose="020B0604030504040204" charset="0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  <a:cs typeface="黑体" panose="0201060906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charset="0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charset="0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charset="0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charset="0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charset="0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charset="0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rtl="0" eaLnBrk="1" fontAlgn="base" hangingPunct="1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/>
          </p:nvPr>
        </p:nvSpPr>
        <p:spPr>
          <a:xfrm>
            <a:off x="827088" y="1700213"/>
            <a:ext cx="7772400" cy="1462087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p>
            <a:pPr algn="ctr" eaLnBrk="1" hangingPunct="1">
              <a:buClrTx/>
              <a:buSzTx/>
              <a:buFontTx/>
            </a:pPr>
            <a:r>
              <a:rPr lang="en-US" altLang="zh-CN" sz="4800" dirty="0">
                <a:latin typeface="+mj-lt"/>
                <a:ea typeface="+mj-ea"/>
                <a:cs typeface="黑体" panose="02010609060101010101" charset="-122"/>
              </a:rPr>
              <a:t>7.4 </a:t>
            </a:r>
            <a:r>
              <a:rPr lang="zh-CN" altLang="en-US" sz="4800" dirty="0">
                <a:latin typeface="+mj-lt"/>
                <a:ea typeface="+mj-ea"/>
                <a:cs typeface="黑体" panose="02010609060101010101" charset="-122"/>
              </a:rPr>
              <a:t>无向图的连通度</a:t>
            </a:r>
            <a:endParaRPr lang="zh-CN" altLang="en-US" sz="4800" dirty="0">
              <a:latin typeface="+mj-lt"/>
              <a:ea typeface="+mj-ea"/>
              <a:cs typeface="黑体" panose="02010609060101010101" charset="-122"/>
            </a:endParaRPr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4"/>
          <p:cNvSpPr txBox="1"/>
          <p:nvPr/>
        </p:nvSpPr>
        <p:spPr>
          <a:xfrm>
            <a:off x="611188" y="1484313"/>
            <a:ext cx="7232650" cy="157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</a:tabLst>
            </a:pP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1.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点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边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割集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点连通度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κ,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边连通度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λ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300355" algn="l"/>
              </a:tabLst>
            </a:pP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2. Whitney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简单连通图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κ,λ,δ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之间的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275"/>
              </a:lnSpc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	 关系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46" name="Rectangle 5"/>
          <p:cNvSpPr/>
          <p:nvPr/>
        </p:nvSpPr>
        <p:spPr>
          <a:xfrm>
            <a:off x="1258888" y="511175"/>
            <a:ext cx="36639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无向图的连通度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147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Text Box 4"/>
          <p:cNvSpPr txBox="1"/>
          <p:nvPr/>
        </p:nvSpPr>
        <p:spPr>
          <a:xfrm>
            <a:off x="611188" y="1484313"/>
            <a:ext cx="8456612" cy="4889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3850"/>
              </a:lnSpc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如何定量比较无向图连通性的强与弱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?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94" name="Oval 5"/>
          <p:cNvSpPr/>
          <p:nvPr/>
        </p:nvSpPr>
        <p:spPr>
          <a:xfrm>
            <a:off x="1979613" y="270827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195" name="Oval 6"/>
          <p:cNvSpPr/>
          <p:nvPr/>
        </p:nvSpPr>
        <p:spPr>
          <a:xfrm>
            <a:off x="2533650" y="2970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196" name="Oval 7"/>
          <p:cNvSpPr/>
          <p:nvPr/>
        </p:nvSpPr>
        <p:spPr>
          <a:xfrm>
            <a:off x="1363663" y="3100388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197" name="Oval 8"/>
          <p:cNvSpPr/>
          <p:nvPr/>
        </p:nvSpPr>
        <p:spPr>
          <a:xfrm>
            <a:off x="1917700" y="3232150"/>
            <a:ext cx="185738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198" name="Oval 9"/>
          <p:cNvSpPr/>
          <p:nvPr/>
        </p:nvSpPr>
        <p:spPr>
          <a:xfrm>
            <a:off x="1547813" y="37544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199" name="Oval 10"/>
          <p:cNvSpPr/>
          <p:nvPr/>
        </p:nvSpPr>
        <p:spPr>
          <a:xfrm>
            <a:off x="2409825" y="3752850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00" name="Line 11"/>
          <p:cNvSpPr/>
          <p:nvPr/>
        </p:nvSpPr>
        <p:spPr>
          <a:xfrm>
            <a:off x="2039938" y="2840038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01" name="Line 12"/>
          <p:cNvSpPr/>
          <p:nvPr/>
        </p:nvSpPr>
        <p:spPr>
          <a:xfrm flipV="1">
            <a:off x="2103438" y="3035300"/>
            <a:ext cx="430212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02" name="Line 13"/>
          <p:cNvSpPr/>
          <p:nvPr/>
        </p:nvSpPr>
        <p:spPr>
          <a:xfrm>
            <a:off x="2103438" y="3360738"/>
            <a:ext cx="368300" cy="393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03" name="Line 14"/>
          <p:cNvSpPr/>
          <p:nvPr/>
        </p:nvSpPr>
        <p:spPr>
          <a:xfrm flipH="1">
            <a:off x="1671638" y="3360738"/>
            <a:ext cx="307975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04" name="Line 15"/>
          <p:cNvSpPr/>
          <p:nvPr/>
        </p:nvSpPr>
        <p:spPr>
          <a:xfrm>
            <a:off x="1487488" y="3167063"/>
            <a:ext cx="430212" cy="130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05" name="Oval 16"/>
          <p:cNvSpPr/>
          <p:nvPr/>
        </p:nvSpPr>
        <p:spPr>
          <a:xfrm>
            <a:off x="4256088" y="270827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06" name="Oval 17"/>
          <p:cNvSpPr/>
          <p:nvPr/>
        </p:nvSpPr>
        <p:spPr>
          <a:xfrm>
            <a:off x="4810125" y="2970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07" name="Oval 18"/>
          <p:cNvSpPr/>
          <p:nvPr/>
        </p:nvSpPr>
        <p:spPr>
          <a:xfrm>
            <a:off x="3641725" y="3100388"/>
            <a:ext cx="122238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08" name="Oval 19"/>
          <p:cNvSpPr/>
          <p:nvPr/>
        </p:nvSpPr>
        <p:spPr>
          <a:xfrm>
            <a:off x="4194175" y="3232150"/>
            <a:ext cx="185738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09" name="Oval 20"/>
          <p:cNvSpPr/>
          <p:nvPr/>
        </p:nvSpPr>
        <p:spPr>
          <a:xfrm>
            <a:off x="3824288" y="37544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0" name="Oval 21"/>
          <p:cNvSpPr/>
          <p:nvPr/>
        </p:nvSpPr>
        <p:spPr>
          <a:xfrm>
            <a:off x="4564063" y="37544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1" name="Oval 22"/>
          <p:cNvSpPr/>
          <p:nvPr/>
        </p:nvSpPr>
        <p:spPr>
          <a:xfrm>
            <a:off x="6597650" y="270827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2" name="Oval 23"/>
          <p:cNvSpPr/>
          <p:nvPr/>
        </p:nvSpPr>
        <p:spPr>
          <a:xfrm>
            <a:off x="7151688" y="2970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3" name="Oval 24"/>
          <p:cNvSpPr/>
          <p:nvPr/>
        </p:nvSpPr>
        <p:spPr>
          <a:xfrm>
            <a:off x="5981700" y="3100388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4" name="Oval 25"/>
          <p:cNvSpPr/>
          <p:nvPr/>
        </p:nvSpPr>
        <p:spPr>
          <a:xfrm>
            <a:off x="6537325" y="3232150"/>
            <a:ext cx="184150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5" name="Oval 26"/>
          <p:cNvSpPr/>
          <p:nvPr/>
        </p:nvSpPr>
        <p:spPr>
          <a:xfrm>
            <a:off x="6165850" y="37544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6" name="Oval 27"/>
          <p:cNvSpPr/>
          <p:nvPr/>
        </p:nvSpPr>
        <p:spPr>
          <a:xfrm>
            <a:off x="7029450" y="37544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17" name="Line 28"/>
          <p:cNvSpPr/>
          <p:nvPr/>
        </p:nvSpPr>
        <p:spPr>
          <a:xfrm>
            <a:off x="6657975" y="2840038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18" name="Line 29"/>
          <p:cNvSpPr/>
          <p:nvPr/>
        </p:nvSpPr>
        <p:spPr>
          <a:xfrm flipV="1">
            <a:off x="6721475" y="3035300"/>
            <a:ext cx="430213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19" name="Line 30"/>
          <p:cNvSpPr/>
          <p:nvPr/>
        </p:nvSpPr>
        <p:spPr>
          <a:xfrm>
            <a:off x="6721475" y="3360738"/>
            <a:ext cx="368300" cy="4587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0" name="Line 31"/>
          <p:cNvSpPr/>
          <p:nvPr/>
        </p:nvSpPr>
        <p:spPr>
          <a:xfrm flipH="1">
            <a:off x="6291263" y="3427413"/>
            <a:ext cx="246062" cy="32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1" name="Line 32"/>
          <p:cNvSpPr/>
          <p:nvPr/>
        </p:nvSpPr>
        <p:spPr>
          <a:xfrm>
            <a:off x="6105525" y="3167063"/>
            <a:ext cx="430213" cy="130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2" name="Line 33"/>
          <p:cNvSpPr/>
          <p:nvPr/>
        </p:nvSpPr>
        <p:spPr>
          <a:xfrm>
            <a:off x="3763963" y="3165475"/>
            <a:ext cx="430212" cy="130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3" name="Line 34"/>
          <p:cNvSpPr/>
          <p:nvPr/>
        </p:nvSpPr>
        <p:spPr>
          <a:xfrm flipV="1">
            <a:off x="4318000" y="2840038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4" name="Line 35"/>
          <p:cNvSpPr/>
          <p:nvPr/>
        </p:nvSpPr>
        <p:spPr>
          <a:xfrm>
            <a:off x="4379913" y="2773363"/>
            <a:ext cx="431800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5" name="Line 36"/>
          <p:cNvSpPr/>
          <p:nvPr/>
        </p:nvSpPr>
        <p:spPr>
          <a:xfrm flipH="1">
            <a:off x="4687888" y="3100388"/>
            <a:ext cx="184150" cy="654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6" name="Line 37"/>
          <p:cNvSpPr/>
          <p:nvPr/>
        </p:nvSpPr>
        <p:spPr>
          <a:xfrm flipV="1">
            <a:off x="3949700" y="3819525"/>
            <a:ext cx="6143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7" name="Line 38"/>
          <p:cNvSpPr/>
          <p:nvPr/>
        </p:nvSpPr>
        <p:spPr>
          <a:xfrm>
            <a:off x="3702050" y="3232150"/>
            <a:ext cx="123825" cy="522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8" name="Line 39"/>
          <p:cNvSpPr/>
          <p:nvPr/>
        </p:nvSpPr>
        <p:spPr>
          <a:xfrm flipV="1">
            <a:off x="6105525" y="2773363"/>
            <a:ext cx="493713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29" name="Line 40"/>
          <p:cNvSpPr/>
          <p:nvPr/>
        </p:nvSpPr>
        <p:spPr>
          <a:xfrm>
            <a:off x="6721475" y="2773363"/>
            <a:ext cx="492125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30" name="Line 41"/>
          <p:cNvSpPr/>
          <p:nvPr/>
        </p:nvSpPr>
        <p:spPr>
          <a:xfrm flipH="1">
            <a:off x="7089775" y="3035300"/>
            <a:ext cx="123825" cy="719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31" name="Line 42"/>
          <p:cNvSpPr/>
          <p:nvPr/>
        </p:nvSpPr>
        <p:spPr>
          <a:xfrm flipV="1">
            <a:off x="6291263" y="3819525"/>
            <a:ext cx="798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32" name="Line 43"/>
          <p:cNvSpPr/>
          <p:nvPr/>
        </p:nvSpPr>
        <p:spPr>
          <a:xfrm>
            <a:off x="6043613" y="3232150"/>
            <a:ext cx="123825" cy="522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33" name="Oval 44"/>
          <p:cNvSpPr/>
          <p:nvPr/>
        </p:nvSpPr>
        <p:spPr>
          <a:xfrm>
            <a:off x="1731963" y="4210050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34" name="Oval 45"/>
          <p:cNvSpPr/>
          <p:nvPr/>
        </p:nvSpPr>
        <p:spPr>
          <a:xfrm>
            <a:off x="2286000" y="447357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35" name="Oval 46"/>
          <p:cNvSpPr/>
          <p:nvPr/>
        </p:nvSpPr>
        <p:spPr>
          <a:xfrm>
            <a:off x="1116013" y="460216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36" name="Oval 47"/>
          <p:cNvSpPr/>
          <p:nvPr/>
        </p:nvSpPr>
        <p:spPr>
          <a:xfrm>
            <a:off x="1671638" y="4733925"/>
            <a:ext cx="184150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37" name="Oval 48"/>
          <p:cNvSpPr/>
          <p:nvPr/>
        </p:nvSpPr>
        <p:spPr>
          <a:xfrm>
            <a:off x="1300163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38" name="Oval 49"/>
          <p:cNvSpPr/>
          <p:nvPr/>
        </p:nvSpPr>
        <p:spPr>
          <a:xfrm>
            <a:off x="2163763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39" name="Line 50"/>
          <p:cNvSpPr/>
          <p:nvPr/>
        </p:nvSpPr>
        <p:spPr>
          <a:xfrm>
            <a:off x="1793875" y="4341813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0" name="Line 51"/>
          <p:cNvSpPr/>
          <p:nvPr/>
        </p:nvSpPr>
        <p:spPr>
          <a:xfrm flipV="1">
            <a:off x="1855788" y="4537075"/>
            <a:ext cx="430212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1" name="Line 52"/>
          <p:cNvSpPr/>
          <p:nvPr/>
        </p:nvSpPr>
        <p:spPr>
          <a:xfrm>
            <a:off x="1855788" y="4862513"/>
            <a:ext cx="369887" cy="4587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2" name="Line 53"/>
          <p:cNvSpPr/>
          <p:nvPr/>
        </p:nvSpPr>
        <p:spPr>
          <a:xfrm flipH="1">
            <a:off x="1425575" y="4929188"/>
            <a:ext cx="246063" cy="32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3" name="Line 54"/>
          <p:cNvSpPr/>
          <p:nvPr/>
        </p:nvSpPr>
        <p:spPr>
          <a:xfrm>
            <a:off x="1239838" y="4668838"/>
            <a:ext cx="430212" cy="130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4" name="Line 55"/>
          <p:cNvSpPr/>
          <p:nvPr/>
        </p:nvSpPr>
        <p:spPr>
          <a:xfrm flipV="1">
            <a:off x="1241425" y="4275138"/>
            <a:ext cx="492125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5" name="Line 56"/>
          <p:cNvSpPr/>
          <p:nvPr/>
        </p:nvSpPr>
        <p:spPr>
          <a:xfrm>
            <a:off x="1855788" y="4275138"/>
            <a:ext cx="493712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6" name="Line 57"/>
          <p:cNvSpPr/>
          <p:nvPr/>
        </p:nvSpPr>
        <p:spPr>
          <a:xfrm flipH="1">
            <a:off x="2225675" y="4537075"/>
            <a:ext cx="123825" cy="719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7" name="Line 58"/>
          <p:cNvSpPr/>
          <p:nvPr/>
        </p:nvSpPr>
        <p:spPr>
          <a:xfrm flipV="1">
            <a:off x="1425575" y="5321300"/>
            <a:ext cx="800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8" name="Line 59"/>
          <p:cNvSpPr/>
          <p:nvPr/>
        </p:nvSpPr>
        <p:spPr>
          <a:xfrm>
            <a:off x="1177925" y="4733925"/>
            <a:ext cx="123825" cy="522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49" name="Oval 60"/>
          <p:cNvSpPr/>
          <p:nvPr/>
        </p:nvSpPr>
        <p:spPr>
          <a:xfrm>
            <a:off x="2963863" y="4210050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50" name="Oval 61"/>
          <p:cNvSpPr/>
          <p:nvPr/>
        </p:nvSpPr>
        <p:spPr>
          <a:xfrm>
            <a:off x="3517900" y="447357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51" name="Oval 62"/>
          <p:cNvSpPr/>
          <p:nvPr/>
        </p:nvSpPr>
        <p:spPr>
          <a:xfrm>
            <a:off x="2901950" y="4733925"/>
            <a:ext cx="185738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52" name="Oval 63"/>
          <p:cNvSpPr/>
          <p:nvPr/>
        </p:nvSpPr>
        <p:spPr>
          <a:xfrm>
            <a:off x="2532063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53" name="Oval 64"/>
          <p:cNvSpPr/>
          <p:nvPr/>
        </p:nvSpPr>
        <p:spPr>
          <a:xfrm>
            <a:off x="3395663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54" name="Line 65"/>
          <p:cNvSpPr/>
          <p:nvPr/>
        </p:nvSpPr>
        <p:spPr>
          <a:xfrm>
            <a:off x="3024188" y="4341813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55" name="Line 66"/>
          <p:cNvSpPr/>
          <p:nvPr/>
        </p:nvSpPr>
        <p:spPr>
          <a:xfrm flipV="1">
            <a:off x="3087688" y="4537075"/>
            <a:ext cx="430212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56" name="Line 67"/>
          <p:cNvSpPr/>
          <p:nvPr/>
        </p:nvSpPr>
        <p:spPr>
          <a:xfrm>
            <a:off x="3087688" y="4862513"/>
            <a:ext cx="368300" cy="4587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57" name="Line 68"/>
          <p:cNvSpPr/>
          <p:nvPr/>
        </p:nvSpPr>
        <p:spPr>
          <a:xfrm flipH="1">
            <a:off x="2657475" y="4929188"/>
            <a:ext cx="244475" cy="32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58" name="Line 69"/>
          <p:cNvSpPr/>
          <p:nvPr/>
        </p:nvSpPr>
        <p:spPr>
          <a:xfrm>
            <a:off x="2409825" y="4537075"/>
            <a:ext cx="492125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59" name="Line 70"/>
          <p:cNvSpPr/>
          <p:nvPr/>
        </p:nvSpPr>
        <p:spPr>
          <a:xfrm flipV="1">
            <a:off x="2409825" y="4275138"/>
            <a:ext cx="554038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60" name="Line 71"/>
          <p:cNvSpPr/>
          <p:nvPr/>
        </p:nvSpPr>
        <p:spPr>
          <a:xfrm>
            <a:off x="3087688" y="4275138"/>
            <a:ext cx="492125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61" name="Line 72"/>
          <p:cNvSpPr/>
          <p:nvPr/>
        </p:nvSpPr>
        <p:spPr>
          <a:xfrm flipH="1">
            <a:off x="3455988" y="4537075"/>
            <a:ext cx="123825" cy="719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62" name="Line 73"/>
          <p:cNvSpPr/>
          <p:nvPr/>
        </p:nvSpPr>
        <p:spPr>
          <a:xfrm flipV="1">
            <a:off x="2657475" y="5321300"/>
            <a:ext cx="7985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63" name="Line 74"/>
          <p:cNvSpPr/>
          <p:nvPr/>
        </p:nvSpPr>
        <p:spPr>
          <a:xfrm>
            <a:off x="2349500" y="4602163"/>
            <a:ext cx="184150" cy="654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64" name="Oval 75"/>
          <p:cNvSpPr/>
          <p:nvPr/>
        </p:nvSpPr>
        <p:spPr>
          <a:xfrm>
            <a:off x="5549900" y="4210050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65" name="Oval 76"/>
          <p:cNvSpPr/>
          <p:nvPr/>
        </p:nvSpPr>
        <p:spPr>
          <a:xfrm>
            <a:off x="6103938" y="447357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66" name="Oval 77"/>
          <p:cNvSpPr/>
          <p:nvPr/>
        </p:nvSpPr>
        <p:spPr>
          <a:xfrm>
            <a:off x="4933950" y="4602163"/>
            <a:ext cx="122238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67" name="Oval 78"/>
          <p:cNvSpPr/>
          <p:nvPr/>
        </p:nvSpPr>
        <p:spPr>
          <a:xfrm>
            <a:off x="5487988" y="4733925"/>
            <a:ext cx="185737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68" name="Oval 79"/>
          <p:cNvSpPr/>
          <p:nvPr/>
        </p:nvSpPr>
        <p:spPr>
          <a:xfrm>
            <a:off x="5118100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69" name="Oval 80"/>
          <p:cNvSpPr/>
          <p:nvPr/>
        </p:nvSpPr>
        <p:spPr>
          <a:xfrm>
            <a:off x="5918200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70" name="Line 81"/>
          <p:cNvSpPr/>
          <p:nvPr/>
        </p:nvSpPr>
        <p:spPr>
          <a:xfrm>
            <a:off x="5610225" y="4341813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1" name="Line 82"/>
          <p:cNvSpPr/>
          <p:nvPr/>
        </p:nvSpPr>
        <p:spPr>
          <a:xfrm flipV="1">
            <a:off x="5673725" y="4537075"/>
            <a:ext cx="430213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2" name="Line 83"/>
          <p:cNvSpPr/>
          <p:nvPr/>
        </p:nvSpPr>
        <p:spPr>
          <a:xfrm>
            <a:off x="5673725" y="4864100"/>
            <a:ext cx="306388" cy="3921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3" name="Line 84"/>
          <p:cNvSpPr/>
          <p:nvPr/>
        </p:nvSpPr>
        <p:spPr>
          <a:xfrm flipH="1">
            <a:off x="5243513" y="4929188"/>
            <a:ext cx="244475" cy="32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4" name="Line 85"/>
          <p:cNvSpPr/>
          <p:nvPr/>
        </p:nvSpPr>
        <p:spPr>
          <a:xfrm>
            <a:off x="5056188" y="4668838"/>
            <a:ext cx="431800" cy="130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5" name="Line 86"/>
          <p:cNvSpPr/>
          <p:nvPr/>
        </p:nvSpPr>
        <p:spPr>
          <a:xfrm flipV="1">
            <a:off x="5057775" y="4275138"/>
            <a:ext cx="493713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6" name="Line 87"/>
          <p:cNvSpPr/>
          <p:nvPr/>
        </p:nvSpPr>
        <p:spPr>
          <a:xfrm>
            <a:off x="5673725" y="4275138"/>
            <a:ext cx="430213" cy="198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7" name="Line 88"/>
          <p:cNvSpPr/>
          <p:nvPr/>
        </p:nvSpPr>
        <p:spPr>
          <a:xfrm flipV="1">
            <a:off x="5241925" y="5321300"/>
            <a:ext cx="6762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8" name="Line 89"/>
          <p:cNvSpPr/>
          <p:nvPr/>
        </p:nvSpPr>
        <p:spPr>
          <a:xfrm>
            <a:off x="4995863" y="4733925"/>
            <a:ext cx="123825" cy="522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79" name="Oval 90"/>
          <p:cNvSpPr/>
          <p:nvPr/>
        </p:nvSpPr>
        <p:spPr>
          <a:xfrm>
            <a:off x="6780213" y="4210050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80" name="Oval 91"/>
          <p:cNvSpPr/>
          <p:nvPr/>
        </p:nvSpPr>
        <p:spPr>
          <a:xfrm>
            <a:off x="7334250" y="447357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81" name="Oval 92"/>
          <p:cNvSpPr/>
          <p:nvPr/>
        </p:nvSpPr>
        <p:spPr>
          <a:xfrm>
            <a:off x="6719888" y="4733925"/>
            <a:ext cx="184150" cy="1952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82" name="Oval 93"/>
          <p:cNvSpPr/>
          <p:nvPr/>
        </p:nvSpPr>
        <p:spPr>
          <a:xfrm>
            <a:off x="6350000" y="5256213"/>
            <a:ext cx="122238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83" name="Oval 94"/>
          <p:cNvSpPr/>
          <p:nvPr/>
        </p:nvSpPr>
        <p:spPr>
          <a:xfrm>
            <a:off x="7212013" y="5256213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8284" name="Line 95"/>
          <p:cNvSpPr/>
          <p:nvPr/>
        </p:nvSpPr>
        <p:spPr>
          <a:xfrm>
            <a:off x="6842125" y="4341813"/>
            <a:ext cx="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85" name="Line 96"/>
          <p:cNvSpPr/>
          <p:nvPr/>
        </p:nvSpPr>
        <p:spPr>
          <a:xfrm flipV="1">
            <a:off x="6904038" y="4537075"/>
            <a:ext cx="430212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86" name="Line 97"/>
          <p:cNvSpPr/>
          <p:nvPr/>
        </p:nvSpPr>
        <p:spPr>
          <a:xfrm>
            <a:off x="6904038" y="4862513"/>
            <a:ext cx="369887" cy="4587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87" name="Line 98"/>
          <p:cNvSpPr/>
          <p:nvPr/>
        </p:nvSpPr>
        <p:spPr>
          <a:xfrm flipH="1">
            <a:off x="6473825" y="4929188"/>
            <a:ext cx="246063" cy="32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88" name="Line 99"/>
          <p:cNvSpPr/>
          <p:nvPr/>
        </p:nvSpPr>
        <p:spPr>
          <a:xfrm>
            <a:off x="6227763" y="4537075"/>
            <a:ext cx="490537" cy="2619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89" name="Line 100"/>
          <p:cNvSpPr/>
          <p:nvPr/>
        </p:nvSpPr>
        <p:spPr>
          <a:xfrm>
            <a:off x="6904038" y="4275138"/>
            <a:ext cx="493712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0" name="Line 101"/>
          <p:cNvSpPr/>
          <p:nvPr/>
        </p:nvSpPr>
        <p:spPr>
          <a:xfrm flipH="1">
            <a:off x="7273925" y="4537075"/>
            <a:ext cx="123825" cy="719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1" name="Line 102"/>
          <p:cNvSpPr/>
          <p:nvPr/>
        </p:nvSpPr>
        <p:spPr>
          <a:xfrm flipV="1">
            <a:off x="6473825" y="5321300"/>
            <a:ext cx="800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2" name="Line 103"/>
          <p:cNvSpPr/>
          <p:nvPr/>
        </p:nvSpPr>
        <p:spPr>
          <a:xfrm>
            <a:off x="6165850" y="4602163"/>
            <a:ext cx="184150" cy="654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3" name="Line 104"/>
          <p:cNvSpPr/>
          <p:nvPr/>
        </p:nvSpPr>
        <p:spPr>
          <a:xfrm>
            <a:off x="5673725" y="4275138"/>
            <a:ext cx="11064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4" name="Line 105"/>
          <p:cNvSpPr/>
          <p:nvPr/>
        </p:nvSpPr>
        <p:spPr>
          <a:xfrm>
            <a:off x="6042025" y="5321300"/>
            <a:ext cx="307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295" name="Rectangle 108"/>
          <p:cNvSpPr/>
          <p:nvPr/>
        </p:nvSpPr>
        <p:spPr>
          <a:xfrm>
            <a:off x="1187450" y="404813"/>
            <a:ext cx="2447925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4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问题</a:t>
            </a:r>
            <a:endParaRPr lang="zh-CN" altLang="en-US" sz="40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296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ext Box 4"/>
          <p:cNvSpPr txBox="1"/>
          <p:nvPr/>
        </p:nvSpPr>
        <p:spPr>
          <a:xfrm>
            <a:off x="468313" y="1412875"/>
            <a:ext cx="8251825" cy="28368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marL="457200" indent="-457200" defTabSz="802005">
              <a:lnSpc>
                <a:spcPct val="110000"/>
              </a:lnSpc>
              <a:buFont typeface="Wingdings" panose="05000000000000000000" pitchFamily="2" charset="2"/>
              <a:buChar char="Ø"/>
              <a:tabLst>
                <a:tab pos="300355" algn="l"/>
              </a:tabLst>
            </a:pPr>
            <a:r>
              <a:rPr lang="zh-CN" altLang="en-US" sz="2800" b="1">
                <a:solidFill>
                  <a:schemeClr val="hlink"/>
                </a:solidFill>
                <a:latin typeface="黑体" panose="02010609060101010101" charset="-122"/>
                <a:ea typeface="黑体" panose="02010609060101010101" charset="-122"/>
              </a:rPr>
              <a:t>点连通度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为了破坏连通性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至少需要删除多少个顶点？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defTabSz="802005">
              <a:lnSpc>
                <a:spcPct val="110000"/>
              </a:lnSpc>
              <a:buFont typeface="Wingdings" panose="05000000000000000000" pitchFamily="2" charset="2"/>
              <a:buChar char="Ø"/>
              <a:tabLst>
                <a:tab pos="300355" algn="l"/>
              </a:tabLst>
            </a:pPr>
            <a:r>
              <a:rPr lang="zh-CN" altLang="en-US" sz="2800" b="1">
                <a:solidFill>
                  <a:schemeClr val="hlink"/>
                </a:solidFill>
                <a:latin typeface="黑体" panose="02010609060101010101" charset="-122"/>
                <a:ea typeface="黑体" panose="02010609060101010101" charset="-122"/>
              </a:rPr>
              <a:t>边连通度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为了破坏连通性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至少需要删除多少条边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?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defTabSz="802005">
              <a:lnSpc>
                <a:spcPct val="110000"/>
              </a:lnSpc>
              <a:buFont typeface="Wingdings" panose="05000000000000000000" pitchFamily="2" charset="2"/>
              <a:buChar char="Ø"/>
              <a:tabLst>
                <a:tab pos="300355" algn="l"/>
              </a:tabLst>
            </a:pP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说明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“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破坏连通性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”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指ρ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(G-V</a:t>
            </a:r>
            <a:r>
              <a:rPr lang="en-US" altLang="zh-CN" sz="2800" b="1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)&gt;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ρ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(G),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或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  <a:p>
            <a:pPr marL="457200" indent="-457200" defTabSz="802005">
              <a:lnSpc>
                <a:spcPct val="110000"/>
              </a:lnSpc>
              <a:tabLst>
                <a:tab pos="300355" algn="l"/>
              </a:tabLst>
            </a:pP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	ρ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G-E</a:t>
            </a:r>
            <a:r>
              <a:rPr lang="en-US" altLang="zh-CN" sz="2800" b="1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)&gt;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ρ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(G),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即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“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变得更加不连通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”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242" name="Rectangle 5"/>
          <p:cNvSpPr/>
          <p:nvPr/>
        </p:nvSpPr>
        <p:spPr>
          <a:xfrm>
            <a:off x="1187450" y="476250"/>
            <a:ext cx="366236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如何定义连通度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243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Text Box 4"/>
          <p:cNvSpPr txBox="1"/>
          <p:nvPr/>
        </p:nvSpPr>
        <p:spPr>
          <a:xfrm>
            <a:off x="323850" y="1412875"/>
            <a:ext cx="7172325" cy="20764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	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点割集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vertex cut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边割集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edge cut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	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割点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cut vertex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	 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割边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cut edge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)(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桥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)(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bridge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290" name="Rectangle 5"/>
          <p:cNvSpPr/>
          <p:nvPr/>
        </p:nvSpPr>
        <p:spPr>
          <a:xfrm>
            <a:off x="1258888" y="476250"/>
            <a:ext cx="3171825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割集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(cutset)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291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Text Box 4"/>
          <p:cNvSpPr txBox="1"/>
          <p:nvPr/>
        </p:nvSpPr>
        <p:spPr>
          <a:xfrm>
            <a:off x="468313" y="1538288"/>
            <a:ext cx="8135937" cy="30876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无向图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G=&lt;V,E&gt;, ∅≠V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⊂V,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满足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(1)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(G-V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)&gt;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(G);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(2)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极小性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∀ 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⊂V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(G-V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则称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为点割集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说明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“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极小性”是为了保证点割集概念的非平凡性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13314" name="Rectangle 6"/>
          <p:cNvSpPr/>
          <p:nvPr/>
        </p:nvSpPr>
        <p:spPr>
          <a:xfrm>
            <a:off x="1116013" y="479425"/>
            <a:ext cx="5413375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点割集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(vertex cutset)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315" name="Text Box 4"/>
          <p:cNvSpPr txBox="1"/>
          <p:nvPr/>
        </p:nvSpPr>
        <p:spPr>
          <a:xfrm>
            <a:off x="539750" y="5072063"/>
            <a:ext cx="7469188" cy="11858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915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割点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是割点 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{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}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是割集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Text Box 4"/>
          <p:cNvSpPr txBox="1"/>
          <p:nvPr/>
        </p:nvSpPr>
        <p:spPr>
          <a:xfrm>
            <a:off x="539750" y="1268413"/>
            <a:ext cx="5537200" cy="13208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6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6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6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3475"/>
              </a:lnSpc>
              <a:tabLst>
                <a:tab pos="300355" algn="l"/>
              </a:tabLst>
            </a:pP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	G</a:t>
            </a:r>
            <a:r>
              <a:rPr lang="en-US" altLang="zh-CN" sz="26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: 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},{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},{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},{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h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zh-CN" sz="26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6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3150"/>
              </a:lnSpc>
              <a:tabLst>
                <a:tab pos="300355" algn="l"/>
              </a:tabLst>
            </a:pP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	G</a:t>
            </a:r>
            <a:r>
              <a:rPr lang="en-US" altLang="zh-CN" sz="26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: 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},{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},{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},{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600" b="1" i="1" dirty="0">
                <a:latin typeface="Times New Roman" panose="02020603050405020304" charset="0"/>
                <a:ea typeface="宋体" panose="02010600030101010101" pitchFamily="2" charset="-122"/>
              </a:rPr>
              <a:t>h</a:t>
            </a:r>
            <a:r>
              <a:rPr lang="en-US" altLang="zh-CN" sz="2600" b="1" dirty="0">
                <a:latin typeface="Times New Roman" panose="02020603050405020304" charset="0"/>
                <a:ea typeface="宋体" panose="02010600030101010101" pitchFamily="2" charset="-122"/>
              </a:rPr>
              <a:t>}</a:t>
            </a:r>
            <a:endParaRPr lang="en-US" altLang="zh-CN" sz="26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5362" name="Group 94"/>
          <p:cNvGrpSpPr/>
          <p:nvPr/>
        </p:nvGrpSpPr>
        <p:grpSpPr>
          <a:xfrm>
            <a:off x="5003800" y="3213100"/>
            <a:ext cx="2794000" cy="2205038"/>
            <a:chOff x="2893" y="2022"/>
            <a:chExt cx="1760" cy="1389"/>
          </a:xfrm>
        </p:grpSpPr>
        <p:sp>
          <p:nvSpPr>
            <p:cNvPr id="15363" name="Text Box 46"/>
            <p:cNvSpPr txBox="1"/>
            <p:nvPr/>
          </p:nvSpPr>
          <p:spPr>
            <a:xfrm>
              <a:off x="3368" y="2055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4" name="Text Box 47"/>
            <p:cNvSpPr txBox="1"/>
            <p:nvPr/>
          </p:nvSpPr>
          <p:spPr>
            <a:xfrm>
              <a:off x="2893" y="2345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5" name="Text Box 48"/>
            <p:cNvSpPr txBox="1"/>
            <p:nvPr/>
          </p:nvSpPr>
          <p:spPr>
            <a:xfrm>
              <a:off x="3009" y="2880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6" name="Text Box 49"/>
            <p:cNvSpPr txBox="1"/>
            <p:nvPr/>
          </p:nvSpPr>
          <p:spPr>
            <a:xfrm>
              <a:off x="3358" y="2591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7" name="Text Box 50"/>
            <p:cNvSpPr txBox="1"/>
            <p:nvPr/>
          </p:nvSpPr>
          <p:spPr>
            <a:xfrm>
              <a:off x="3823" y="2262"/>
              <a:ext cx="5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8" name="Text Box 51"/>
            <p:cNvSpPr txBox="1"/>
            <p:nvPr/>
          </p:nvSpPr>
          <p:spPr>
            <a:xfrm>
              <a:off x="3594" y="292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69" name="Text Box 52"/>
            <p:cNvSpPr txBox="1"/>
            <p:nvPr/>
          </p:nvSpPr>
          <p:spPr>
            <a:xfrm>
              <a:off x="3901" y="2927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j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0" name="Text Box 53"/>
            <p:cNvSpPr txBox="1"/>
            <p:nvPr/>
          </p:nvSpPr>
          <p:spPr>
            <a:xfrm>
              <a:off x="4522" y="2880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1" name="Text Box 54"/>
            <p:cNvSpPr txBox="1"/>
            <p:nvPr/>
          </p:nvSpPr>
          <p:spPr>
            <a:xfrm>
              <a:off x="4211" y="2022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2" name="Text Box 55"/>
            <p:cNvSpPr txBox="1"/>
            <p:nvPr/>
          </p:nvSpPr>
          <p:spPr>
            <a:xfrm>
              <a:off x="4560" y="2262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3" name="Text Box 56"/>
            <p:cNvSpPr txBox="1"/>
            <p:nvPr/>
          </p:nvSpPr>
          <p:spPr>
            <a:xfrm>
              <a:off x="4172" y="235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4" name="Text Box 57"/>
            <p:cNvSpPr txBox="1"/>
            <p:nvPr/>
          </p:nvSpPr>
          <p:spPr>
            <a:xfrm>
              <a:off x="3820" y="3187"/>
              <a:ext cx="187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375" name="Oval 58"/>
            <p:cNvSpPr/>
            <p:nvPr/>
          </p:nvSpPr>
          <p:spPr>
            <a:xfrm>
              <a:off x="3358" y="2221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76" name="Oval 59"/>
            <p:cNvSpPr/>
            <p:nvPr/>
          </p:nvSpPr>
          <p:spPr>
            <a:xfrm>
              <a:off x="3707" y="2386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77" name="Oval 60"/>
            <p:cNvSpPr/>
            <p:nvPr/>
          </p:nvSpPr>
          <p:spPr>
            <a:xfrm>
              <a:off x="2970" y="2468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78" name="Oval 61"/>
            <p:cNvSpPr/>
            <p:nvPr/>
          </p:nvSpPr>
          <p:spPr>
            <a:xfrm>
              <a:off x="3320" y="2551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79" name="Oval 62"/>
            <p:cNvSpPr/>
            <p:nvPr/>
          </p:nvSpPr>
          <p:spPr>
            <a:xfrm>
              <a:off x="3086" y="2880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80" name="Oval 63"/>
            <p:cNvSpPr/>
            <p:nvPr/>
          </p:nvSpPr>
          <p:spPr>
            <a:xfrm>
              <a:off x="3591" y="2880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81" name="Line 64"/>
            <p:cNvSpPr/>
            <p:nvPr/>
          </p:nvSpPr>
          <p:spPr>
            <a:xfrm>
              <a:off x="3397" y="2304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2" name="Line 65"/>
            <p:cNvSpPr/>
            <p:nvPr/>
          </p:nvSpPr>
          <p:spPr>
            <a:xfrm flipV="1">
              <a:off x="3436" y="2427"/>
              <a:ext cx="27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3" name="Line 66"/>
            <p:cNvSpPr/>
            <p:nvPr/>
          </p:nvSpPr>
          <p:spPr>
            <a:xfrm>
              <a:off x="3436" y="2633"/>
              <a:ext cx="193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4" name="Line 67"/>
            <p:cNvSpPr/>
            <p:nvPr/>
          </p:nvSpPr>
          <p:spPr>
            <a:xfrm flipH="1">
              <a:off x="3165" y="2674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5" name="Line 68"/>
            <p:cNvSpPr/>
            <p:nvPr/>
          </p:nvSpPr>
          <p:spPr>
            <a:xfrm>
              <a:off x="3048" y="2510"/>
              <a:ext cx="271" cy="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6" name="Line 69"/>
            <p:cNvSpPr/>
            <p:nvPr/>
          </p:nvSpPr>
          <p:spPr>
            <a:xfrm flipV="1">
              <a:off x="3049" y="2262"/>
              <a:ext cx="310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7" name="Line 70"/>
            <p:cNvSpPr/>
            <p:nvPr/>
          </p:nvSpPr>
          <p:spPr>
            <a:xfrm>
              <a:off x="3436" y="2262"/>
              <a:ext cx="271" cy="1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8" name="Line 71"/>
            <p:cNvSpPr/>
            <p:nvPr/>
          </p:nvSpPr>
          <p:spPr>
            <a:xfrm flipV="1">
              <a:off x="3164" y="2921"/>
              <a:ext cx="4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9" name="Line 72"/>
            <p:cNvSpPr/>
            <p:nvPr/>
          </p:nvSpPr>
          <p:spPr>
            <a:xfrm>
              <a:off x="3009" y="2551"/>
              <a:ext cx="78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0" name="Oval 73"/>
            <p:cNvSpPr/>
            <p:nvPr/>
          </p:nvSpPr>
          <p:spPr>
            <a:xfrm>
              <a:off x="4134" y="2221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91" name="Oval 74"/>
            <p:cNvSpPr/>
            <p:nvPr/>
          </p:nvSpPr>
          <p:spPr>
            <a:xfrm>
              <a:off x="4483" y="2386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92" name="Oval 75"/>
            <p:cNvSpPr/>
            <p:nvPr/>
          </p:nvSpPr>
          <p:spPr>
            <a:xfrm>
              <a:off x="4095" y="2551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93" name="Oval 76"/>
            <p:cNvSpPr/>
            <p:nvPr/>
          </p:nvSpPr>
          <p:spPr>
            <a:xfrm>
              <a:off x="3862" y="2880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94" name="Oval 77"/>
            <p:cNvSpPr/>
            <p:nvPr/>
          </p:nvSpPr>
          <p:spPr>
            <a:xfrm>
              <a:off x="4406" y="2880"/>
              <a:ext cx="77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395" name="Line 78"/>
            <p:cNvSpPr/>
            <p:nvPr/>
          </p:nvSpPr>
          <p:spPr>
            <a:xfrm>
              <a:off x="4172" y="2304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6" name="Line 79"/>
            <p:cNvSpPr/>
            <p:nvPr/>
          </p:nvSpPr>
          <p:spPr>
            <a:xfrm flipV="1">
              <a:off x="4211" y="2427"/>
              <a:ext cx="272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7" name="Line 80"/>
            <p:cNvSpPr/>
            <p:nvPr/>
          </p:nvSpPr>
          <p:spPr>
            <a:xfrm>
              <a:off x="4211" y="2632"/>
              <a:ext cx="233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8" name="Line 81"/>
            <p:cNvSpPr/>
            <p:nvPr/>
          </p:nvSpPr>
          <p:spPr>
            <a:xfrm flipH="1">
              <a:off x="3940" y="2632"/>
              <a:ext cx="155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9" name="Line 82"/>
            <p:cNvSpPr/>
            <p:nvPr/>
          </p:nvSpPr>
          <p:spPr>
            <a:xfrm>
              <a:off x="3785" y="2427"/>
              <a:ext cx="309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0" name="Line 83"/>
            <p:cNvSpPr/>
            <p:nvPr/>
          </p:nvSpPr>
          <p:spPr>
            <a:xfrm>
              <a:off x="4211" y="2262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1" name="Line 84"/>
            <p:cNvSpPr/>
            <p:nvPr/>
          </p:nvSpPr>
          <p:spPr>
            <a:xfrm flipH="1">
              <a:off x="4444" y="2427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2" name="Line 85"/>
            <p:cNvSpPr/>
            <p:nvPr/>
          </p:nvSpPr>
          <p:spPr>
            <a:xfrm flipV="1">
              <a:off x="3940" y="2921"/>
              <a:ext cx="5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3" name="Line 86"/>
            <p:cNvSpPr/>
            <p:nvPr/>
          </p:nvSpPr>
          <p:spPr>
            <a:xfrm>
              <a:off x="3745" y="2468"/>
              <a:ext cx="117" cy="4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4" name="Line 87"/>
            <p:cNvSpPr/>
            <p:nvPr/>
          </p:nvSpPr>
          <p:spPr>
            <a:xfrm>
              <a:off x="3436" y="2262"/>
              <a:ext cx="6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05" name="Line 88"/>
            <p:cNvSpPr/>
            <p:nvPr/>
          </p:nvSpPr>
          <p:spPr>
            <a:xfrm>
              <a:off x="3669" y="2921"/>
              <a:ext cx="1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5406" name="Rectangle 90"/>
          <p:cNvSpPr/>
          <p:nvPr/>
        </p:nvSpPr>
        <p:spPr>
          <a:xfrm>
            <a:off x="1184275" y="476250"/>
            <a:ext cx="316706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点割集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举例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407" name="Line 91"/>
          <p:cNvSpPr/>
          <p:nvPr/>
        </p:nvSpPr>
        <p:spPr>
          <a:xfrm flipH="1">
            <a:off x="3779838" y="1844675"/>
            <a:ext cx="1584325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5408" name="Group 95"/>
          <p:cNvGrpSpPr/>
          <p:nvPr/>
        </p:nvGrpSpPr>
        <p:grpSpPr>
          <a:xfrm>
            <a:off x="827088" y="2349500"/>
            <a:ext cx="2820987" cy="2978150"/>
            <a:chOff x="521" y="1480"/>
            <a:chExt cx="1777" cy="1876"/>
          </a:xfrm>
        </p:grpSpPr>
        <p:sp>
          <p:nvSpPr>
            <p:cNvPr id="15409" name="Text Box 5"/>
            <p:cNvSpPr txBox="1"/>
            <p:nvPr/>
          </p:nvSpPr>
          <p:spPr>
            <a:xfrm>
              <a:off x="987" y="1975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0" name="Text Box 6"/>
            <p:cNvSpPr txBox="1"/>
            <p:nvPr/>
          </p:nvSpPr>
          <p:spPr>
            <a:xfrm>
              <a:off x="521" y="2309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1" name="Text Box 7"/>
            <p:cNvSpPr txBox="1"/>
            <p:nvPr/>
          </p:nvSpPr>
          <p:spPr>
            <a:xfrm>
              <a:off x="636" y="2838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2" name="Text Box 8"/>
            <p:cNvSpPr txBox="1"/>
            <p:nvPr/>
          </p:nvSpPr>
          <p:spPr>
            <a:xfrm>
              <a:off x="945" y="2345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3" name="Text Box 9"/>
            <p:cNvSpPr txBox="1"/>
            <p:nvPr/>
          </p:nvSpPr>
          <p:spPr>
            <a:xfrm>
              <a:off x="1793" y="1933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4" name="Text Box 10"/>
            <p:cNvSpPr txBox="1"/>
            <p:nvPr/>
          </p:nvSpPr>
          <p:spPr>
            <a:xfrm>
              <a:off x="2205" y="222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5" name="Text Box 11"/>
            <p:cNvSpPr txBox="1"/>
            <p:nvPr/>
          </p:nvSpPr>
          <p:spPr>
            <a:xfrm>
              <a:off x="1711" y="235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6" name="Text Box 12"/>
            <p:cNvSpPr txBox="1"/>
            <p:nvPr/>
          </p:nvSpPr>
          <p:spPr>
            <a:xfrm>
              <a:off x="1506" y="2880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j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7" name="Text Box 13"/>
            <p:cNvSpPr txBox="1"/>
            <p:nvPr/>
          </p:nvSpPr>
          <p:spPr>
            <a:xfrm>
              <a:off x="2079" y="2921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8" name="Text Box 14"/>
            <p:cNvSpPr txBox="1"/>
            <p:nvPr/>
          </p:nvSpPr>
          <p:spPr>
            <a:xfrm>
              <a:off x="1255" y="2180"/>
              <a:ext cx="229" cy="1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  <a:tabLst>
                  <a:tab pos="66675" algn="l"/>
                  <a:tab pos="200025" algn="l"/>
                </a:tabLst>
              </a:pPr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		</a:t>
              </a: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2625"/>
                </a:lnSpc>
                <a:tabLst>
                  <a:tab pos="66675" algn="l"/>
                  <a:tab pos="200025" algn="l"/>
                </a:tabLst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540"/>
                </a:lnSpc>
                <a:tabLst>
                  <a:tab pos="66675" algn="l"/>
                  <a:tab pos="200025" algn="l"/>
                </a:tabLst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	G</a:t>
              </a: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5419" name="Oval 15"/>
            <p:cNvSpPr/>
            <p:nvPr/>
          </p:nvSpPr>
          <p:spPr>
            <a:xfrm>
              <a:off x="984" y="2180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20" name="Oval 16"/>
            <p:cNvSpPr/>
            <p:nvPr/>
          </p:nvSpPr>
          <p:spPr>
            <a:xfrm>
              <a:off x="1342" y="2346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21" name="Oval 17"/>
            <p:cNvSpPr/>
            <p:nvPr/>
          </p:nvSpPr>
          <p:spPr>
            <a:xfrm>
              <a:off x="605" y="2427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22" name="Oval 18"/>
            <p:cNvSpPr/>
            <p:nvPr/>
          </p:nvSpPr>
          <p:spPr>
            <a:xfrm>
              <a:off x="954" y="2511"/>
              <a:ext cx="117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23" name="Oval 19"/>
            <p:cNvSpPr/>
            <p:nvPr/>
          </p:nvSpPr>
          <p:spPr>
            <a:xfrm>
              <a:off x="721" y="2839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24" name="Oval 20"/>
            <p:cNvSpPr/>
            <p:nvPr/>
          </p:nvSpPr>
          <p:spPr>
            <a:xfrm>
              <a:off x="1265" y="2839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25" name="Line 21"/>
            <p:cNvSpPr/>
            <p:nvPr/>
          </p:nvSpPr>
          <p:spPr>
            <a:xfrm>
              <a:off x="1031" y="2263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26" name="Line 22"/>
            <p:cNvSpPr/>
            <p:nvPr/>
          </p:nvSpPr>
          <p:spPr>
            <a:xfrm flipV="1">
              <a:off x="1071" y="2386"/>
              <a:ext cx="271" cy="1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27" name="Line 23"/>
            <p:cNvSpPr/>
            <p:nvPr/>
          </p:nvSpPr>
          <p:spPr>
            <a:xfrm>
              <a:off x="1071" y="2591"/>
              <a:ext cx="232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28" name="Line 24"/>
            <p:cNvSpPr/>
            <p:nvPr/>
          </p:nvSpPr>
          <p:spPr>
            <a:xfrm flipH="1">
              <a:off x="800" y="2633"/>
              <a:ext cx="154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29" name="Line 25"/>
            <p:cNvSpPr/>
            <p:nvPr/>
          </p:nvSpPr>
          <p:spPr>
            <a:xfrm>
              <a:off x="683" y="2469"/>
              <a:ext cx="271" cy="8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0" name="Line 26"/>
            <p:cNvSpPr/>
            <p:nvPr/>
          </p:nvSpPr>
          <p:spPr>
            <a:xfrm flipV="1">
              <a:off x="683" y="2221"/>
              <a:ext cx="311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1" name="Line 27"/>
            <p:cNvSpPr/>
            <p:nvPr/>
          </p:nvSpPr>
          <p:spPr>
            <a:xfrm>
              <a:off x="1071" y="2221"/>
              <a:ext cx="310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2" name="Line 28"/>
            <p:cNvSpPr/>
            <p:nvPr/>
          </p:nvSpPr>
          <p:spPr>
            <a:xfrm flipH="1">
              <a:off x="1303" y="2386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3" name="Line 29"/>
            <p:cNvSpPr/>
            <p:nvPr/>
          </p:nvSpPr>
          <p:spPr>
            <a:xfrm flipV="1">
              <a:off x="799" y="2881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4" name="Line 30"/>
            <p:cNvSpPr/>
            <p:nvPr/>
          </p:nvSpPr>
          <p:spPr>
            <a:xfrm>
              <a:off x="644" y="2510"/>
              <a:ext cx="78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5" name="Oval 31"/>
            <p:cNvSpPr/>
            <p:nvPr/>
          </p:nvSpPr>
          <p:spPr>
            <a:xfrm>
              <a:off x="1769" y="2180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36" name="Oval 32"/>
            <p:cNvSpPr/>
            <p:nvPr/>
          </p:nvSpPr>
          <p:spPr>
            <a:xfrm>
              <a:off x="2117" y="2346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37" name="Oval 33"/>
            <p:cNvSpPr/>
            <p:nvPr/>
          </p:nvSpPr>
          <p:spPr>
            <a:xfrm>
              <a:off x="1722" y="2509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38" name="Oval 34"/>
            <p:cNvSpPr/>
            <p:nvPr/>
          </p:nvSpPr>
          <p:spPr>
            <a:xfrm>
              <a:off x="1497" y="2839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39" name="Oval 35"/>
            <p:cNvSpPr/>
            <p:nvPr/>
          </p:nvSpPr>
          <p:spPr>
            <a:xfrm>
              <a:off x="2040" y="2839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5440" name="Line 36"/>
            <p:cNvSpPr/>
            <p:nvPr/>
          </p:nvSpPr>
          <p:spPr>
            <a:xfrm>
              <a:off x="1807" y="2263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1" name="Line 37"/>
            <p:cNvSpPr/>
            <p:nvPr/>
          </p:nvSpPr>
          <p:spPr>
            <a:xfrm flipV="1">
              <a:off x="1846" y="2386"/>
              <a:ext cx="271" cy="1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2" name="Line 38"/>
            <p:cNvSpPr/>
            <p:nvPr/>
          </p:nvSpPr>
          <p:spPr>
            <a:xfrm>
              <a:off x="1846" y="2591"/>
              <a:ext cx="233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3" name="Line 39"/>
            <p:cNvSpPr/>
            <p:nvPr/>
          </p:nvSpPr>
          <p:spPr>
            <a:xfrm flipH="1">
              <a:off x="1575" y="2633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4" name="Line 40"/>
            <p:cNvSpPr/>
            <p:nvPr/>
          </p:nvSpPr>
          <p:spPr>
            <a:xfrm>
              <a:off x="1411" y="2386"/>
              <a:ext cx="310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5" name="Line 41"/>
            <p:cNvSpPr/>
            <p:nvPr/>
          </p:nvSpPr>
          <p:spPr>
            <a:xfrm flipV="1">
              <a:off x="1420" y="2221"/>
              <a:ext cx="349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6" name="Line 42"/>
            <p:cNvSpPr/>
            <p:nvPr/>
          </p:nvSpPr>
          <p:spPr>
            <a:xfrm>
              <a:off x="1846" y="2221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7" name="Line 43"/>
            <p:cNvSpPr/>
            <p:nvPr/>
          </p:nvSpPr>
          <p:spPr>
            <a:xfrm flipH="1">
              <a:off x="2079" y="2386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8" name="Line 44"/>
            <p:cNvSpPr/>
            <p:nvPr/>
          </p:nvSpPr>
          <p:spPr>
            <a:xfrm flipV="1">
              <a:off x="1575" y="2880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9" name="Line 45"/>
            <p:cNvSpPr/>
            <p:nvPr/>
          </p:nvSpPr>
          <p:spPr>
            <a:xfrm>
              <a:off x="1381" y="2427"/>
              <a:ext cx="116" cy="4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50" name="Line 92"/>
            <p:cNvSpPr/>
            <p:nvPr/>
          </p:nvSpPr>
          <p:spPr>
            <a:xfrm flipH="1">
              <a:off x="839" y="1480"/>
              <a:ext cx="272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5451" name="矩形 92"/>
          <p:cNvSpPr/>
          <p:nvPr/>
        </p:nvSpPr>
        <p:spPr>
          <a:xfrm>
            <a:off x="785813" y="5572125"/>
            <a:ext cx="4814887" cy="5492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defTabSz="802005">
              <a:lnSpc>
                <a:spcPts val="36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例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G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G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中无割点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15452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3"/>
          <p:cNvSpPr txBox="1"/>
          <p:nvPr/>
        </p:nvSpPr>
        <p:spPr>
          <a:xfrm>
            <a:off x="8058150" y="6546850"/>
            <a:ext cx="762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411" name="Text Box 4"/>
          <p:cNvSpPr txBox="1"/>
          <p:nvPr/>
        </p:nvSpPr>
        <p:spPr>
          <a:xfrm>
            <a:off x="323850" y="1420813"/>
            <a:ext cx="8135938" cy="3194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无向图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G=&lt;V,E&gt;, ∅≠E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⊂E,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满足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(1)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(G-E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)&gt;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(G);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00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(2)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极小性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∀E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⊂E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(G-E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则称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为边割集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spcBef>
                <a:spcPct val="20000"/>
              </a:spcBef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说明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“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极小性”是为了保证边割集概念的非平凡性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17412" name="Rectangle 6"/>
          <p:cNvSpPr/>
          <p:nvPr/>
        </p:nvSpPr>
        <p:spPr>
          <a:xfrm>
            <a:off x="1241425" y="476250"/>
            <a:ext cx="491490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边割集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(edge cutset)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413" name="Text Box 4"/>
          <p:cNvSpPr txBox="1"/>
          <p:nvPr/>
        </p:nvSpPr>
        <p:spPr>
          <a:xfrm>
            <a:off x="401638" y="5072063"/>
            <a:ext cx="7656512" cy="6397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割边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（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桥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是割边 ⇔</a:t>
            </a:r>
            <a:r>
              <a:rPr lang="zh-CN" altLang="en-US" sz="2800" b="1" dirty="0">
                <a:latin typeface="Symbol" panose="05050102010706020507" charset="2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)}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是边割集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zh-CN" altLang="en-US" sz="2800" b="1" dirty="0">
              <a:solidFill>
                <a:schemeClr val="tx2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Text Box 3"/>
          <p:cNvSpPr txBox="1"/>
          <p:nvPr/>
        </p:nvSpPr>
        <p:spPr>
          <a:xfrm>
            <a:off x="8080375" y="6546850"/>
            <a:ext cx="762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9458" name="Text Box 4"/>
          <p:cNvSpPr txBox="1"/>
          <p:nvPr/>
        </p:nvSpPr>
        <p:spPr>
          <a:xfrm>
            <a:off x="539750" y="1127125"/>
            <a:ext cx="6704013" cy="18462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3475"/>
              </a:lnSpc>
              <a:tabLst>
                <a:tab pos="300355" algn="l"/>
              </a:tabLst>
            </a:pPr>
            <a:r>
              <a:rPr lang="en-US" altLang="zh-CN" sz="3900" b="1" dirty="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{(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a,f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)}, {(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)}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265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{(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j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)}, {(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)}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365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	G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{(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)}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9459" name="Rectangle 90"/>
          <p:cNvSpPr/>
          <p:nvPr/>
        </p:nvSpPr>
        <p:spPr>
          <a:xfrm>
            <a:off x="1187450" y="476250"/>
            <a:ext cx="316706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边割集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举例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460" name="Line 91"/>
          <p:cNvSpPr/>
          <p:nvPr/>
        </p:nvSpPr>
        <p:spPr>
          <a:xfrm flipH="1">
            <a:off x="395288" y="2206625"/>
            <a:ext cx="58340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9461" name="Group 92"/>
          <p:cNvGrpSpPr/>
          <p:nvPr/>
        </p:nvGrpSpPr>
        <p:grpSpPr>
          <a:xfrm>
            <a:off x="5003800" y="3284538"/>
            <a:ext cx="2794000" cy="2205037"/>
            <a:chOff x="2893" y="2022"/>
            <a:chExt cx="1760" cy="1389"/>
          </a:xfrm>
        </p:grpSpPr>
        <p:sp>
          <p:nvSpPr>
            <p:cNvPr id="19462" name="Text Box 93"/>
            <p:cNvSpPr txBox="1"/>
            <p:nvPr/>
          </p:nvSpPr>
          <p:spPr>
            <a:xfrm>
              <a:off x="3368" y="2055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3" name="Text Box 94"/>
            <p:cNvSpPr txBox="1"/>
            <p:nvPr/>
          </p:nvSpPr>
          <p:spPr>
            <a:xfrm>
              <a:off x="2893" y="2345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4" name="Text Box 95"/>
            <p:cNvSpPr txBox="1"/>
            <p:nvPr/>
          </p:nvSpPr>
          <p:spPr>
            <a:xfrm>
              <a:off x="3009" y="2880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5" name="Text Box 96"/>
            <p:cNvSpPr txBox="1"/>
            <p:nvPr/>
          </p:nvSpPr>
          <p:spPr>
            <a:xfrm>
              <a:off x="3358" y="2591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6" name="Text Box 97"/>
            <p:cNvSpPr txBox="1"/>
            <p:nvPr/>
          </p:nvSpPr>
          <p:spPr>
            <a:xfrm>
              <a:off x="3823" y="2262"/>
              <a:ext cx="5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7" name="Text Box 98"/>
            <p:cNvSpPr txBox="1"/>
            <p:nvPr/>
          </p:nvSpPr>
          <p:spPr>
            <a:xfrm>
              <a:off x="3594" y="292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8" name="Text Box 99"/>
            <p:cNvSpPr txBox="1"/>
            <p:nvPr/>
          </p:nvSpPr>
          <p:spPr>
            <a:xfrm>
              <a:off x="3901" y="2927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j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69" name="Text Box 100"/>
            <p:cNvSpPr txBox="1"/>
            <p:nvPr/>
          </p:nvSpPr>
          <p:spPr>
            <a:xfrm>
              <a:off x="4522" y="2880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70" name="Text Box 101"/>
            <p:cNvSpPr txBox="1"/>
            <p:nvPr/>
          </p:nvSpPr>
          <p:spPr>
            <a:xfrm>
              <a:off x="4211" y="2022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71" name="Text Box 102"/>
            <p:cNvSpPr txBox="1"/>
            <p:nvPr/>
          </p:nvSpPr>
          <p:spPr>
            <a:xfrm>
              <a:off x="4560" y="2262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72" name="Text Box 103"/>
            <p:cNvSpPr txBox="1"/>
            <p:nvPr/>
          </p:nvSpPr>
          <p:spPr>
            <a:xfrm>
              <a:off x="4172" y="235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73" name="Text Box 104"/>
            <p:cNvSpPr txBox="1"/>
            <p:nvPr/>
          </p:nvSpPr>
          <p:spPr>
            <a:xfrm>
              <a:off x="3820" y="3187"/>
              <a:ext cx="187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474" name="Oval 105"/>
            <p:cNvSpPr/>
            <p:nvPr/>
          </p:nvSpPr>
          <p:spPr>
            <a:xfrm>
              <a:off x="3358" y="2221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75" name="Oval 106"/>
            <p:cNvSpPr/>
            <p:nvPr/>
          </p:nvSpPr>
          <p:spPr>
            <a:xfrm>
              <a:off x="3707" y="2386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76" name="Oval 107"/>
            <p:cNvSpPr/>
            <p:nvPr/>
          </p:nvSpPr>
          <p:spPr>
            <a:xfrm>
              <a:off x="2970" y="2468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77" name="Oval 108"/>
            <p:cNvSpPr/>
            <p:nvPr/>
          </p:nvSpPr>
          <p:spPr>
            <a:xfrm>
              <a:off x="3320" y="2551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78" name="Oval 109"/>
            <p:cNvSpPr/>
            <p:nvPr/>
          </p:nvSpPr>
          <p:spPr>
            <a:xfrm>
              <a:off x="3086" y="2880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79" name="Oval 110"/>
            <p:cNvSpPr/>
            <p:nvPr/>
          </p:nvSpPr>
          <p:spPr>
            <a:xfrm>
              <a:off x="3591" y="2880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80" name="Line 111"/>
            <p:cNvSpPr/>
            <p:nvPr/>
          </p:nvSpPr>
          <p:spPr>
            <a:xfrm>
              <a:off x="3397" y="2304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1" name="Line 112"/>
            <p:cNvSpPr/>
            <p:nvPr/>
          </p:nvSpPr>
          <p:spPr>
            <a:xfrm flipV="1">
              <a:off x="3436" y="2427"/>
              <a:ext cx="27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2" name="Line 113"/>
            <p:cNvSpPr/>
            <p:nvPr/>
          </p:nvSpPr>
          <p:spPr>
            <a:xfrm>
              <a:off x="3436" y="2633"/>
              <a:ext cx="193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3" name="Line 114"/>
            <p:cNvSpPr/>
            <p:nvPr/>
          </p:nvSpPr>
          <p:spPr>
            <a:xfrm flipH="1">
              <a:off x="3165" y="2674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4" name="Line 115"/>
            <p:cNvSpPr/>
            <p:nvPr/>
          </p:nvSpPr>
          <p:spPr>
            <a:xfrm>
              <a:off x="3048" y="2510"/>
              <a:ext cx="271" cy="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5" name="Line 116"/>
            <p:cNvSpPr/>
            <p:nvPr/>
          </p:nvSpPr>
          <p:spPr>
            <a:xfrm flipV="1">
              <a:off x="3049" y="2262"/>
              <a:ext cx="310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6" name="Line 117"/>
            <p:cNvSpPr/>
            <p:nvPr/>
          </p:nvSpPr>
          <p:spPr>
            <a:xfrm>
              <a:off x="3436" y="2262"/>
              <a:ext cx="271" cy="1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7" name="Line 118"/>
            <p:cNvSpPr/>
            <p:nvPr/>
          </p:nvSpPr>
          <p:spPr>
            <a:xfrm flipV="1">
              <a:off x="3164" y="2921"/>
              <a:ext cx="4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8" name="Line 119"/>
            <p:cNvSpPr/>
            <p:nvPr/>
          </p:nvSpPr>
          <p:spPr>
            <a:xfrm>
              <a:off x="3009" y="2551"/>
              <a:ext cx="78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9" name="Oval 120"/>
            <p:cNvSpPr/>
            <p:nvPr/>
          </p:nvSpPr>
          <p:spPr>
            <a:xfrm>
              <a:off x="4134" y="2221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90" name="Oval 121"/>
            <p:cNvSpPr/>
            <p:nvPr/>
          </p:nvSpPr>
          <p:spPr>
            <a:xfrm>
              <a:off x="4483" y="2386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91" name="Oval 122"/>
            <p:cNvSpPr/>
            <p:nvPr/>
          </p:nvSpPr>
          <p:spPr>
            <a:xfrm>
              <a:off x="4095" y="2551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92" name="Oval 123"/>
            <p:cNvSpPr/>
            <p:nvPr/>
          </p:nvSpPr>
          <p:spPr>
            <a:xfrm>
              <a:off x="3862" y="2880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93" name="Oval 124"/>
            <p:cNvSpPr/>
            <p:nvPr/>
          </p:nvSpPr>
          <p:spPr>
            <a:xfrm>
              <a:off x="4406" y="2880"/>
              <a:ext cx="77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494" name="Line 125"/>
            <p:cNvSpPr/>
            <p:nvPr/>
          </p:nvSpPr>
          <p:spPr>
            <a:xfrm>
              <a:off x="4172" y="2304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5" name="Line 126"/>
            <p:cNvSpPr/>
            <p:nvPr/>
          </p:nvSpPr>
          <p:spPr>
            <a:xfrm flipV="1">
              <a:off x="4211" y="2427"/>
              <a:ext cx="272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6" name="Line 127"/>
            <p:cNvSpPr/>
            <p:nvPr/>
          </p:nvSpPr>
          <p:spPr>
            <a:xfrm>
              <a:off x="4211" y="2632"/>
              <a:ext cx="233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7" name="Line 128"/>
            <p:cNvSpPr/>
            <p:nvPr/>
          </p:nvSpPr>
          <p:spPr>
            <a:xfrm flipH="1">
              <a:off x="3940" y="2632"/>
              <a:ext cx="155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8" name="Line 129"/>
            <p:cNvSpPr/>
            <p:nvPr/>
          </p:nvSpPr>
          <p:spPr>
            <a:xfrm>
              <a:off x="3785" y="2427"/>
              <a:ext cx="309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9" name="Line 130"/>
            <p:cNvSpPr/>
            <p:nvPr/>
          </p:nvSpPr>
          <p:spPr>
            <a:xfrm>
              <a:off x="4211" y="2262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00" name="Line 131"/>
            <p:cNvSpPr/>
            <p:nvPr/>
          </p:nvSpPr>
          <p:spPr>
            <a:xfrm flipH="1">
              <a:off x="4444" y="2427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01" name="Line 132"/>
            <p:cNvSpPr/>
            <p:nvPr/>
          </p:nvSpPr>
          <p:spPr>
            <a:xfrm flipV="1">
              <a:off x="3940" y="2921"/>
              <a:ext cx="5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02" name="Line 133"/>
            <p:cNvSpPr/>
            <p:nvPr/>
          </p:nvSpPr>
          <p:spPr>
            <a:xfrm>
              <a:off x="3745" y="2468"/>
              <a:ext cx="117" cy="4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03" name="Line 134"/>
            <p:cNvSpPr/>
            <p:nvPr/>
          </p:nvSpPr>
          <p:spPr>
            <a:xfrm>
              <a:off x="3436" y="2262"/>
              <a:ext cx="6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04" name="Line 135"/>
            <p:cNvSpPr/>
            <p:nvPr/>
          </p:nvSpPr>
          <p:spPr>
            <a:xfrm>
              <a:off x="3669" y="2921"/>
              <a:ext cx="1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05" name="Group 136"/>
          <p:cNvGrpSpPr/>
          <p:nvPr/>
        </p:nvGrpSpPr>
        <p:grpSpPr>
          <a:xfrm>
            <a:off x="755650" y="3141663"/>
            <a:ext cx="2820988" cy="2259012"/>
            <a:chOff x="521" y="3175"/>
            <a:chExt cx="1777" cy="1423"/>
          </a:xfrm>
        </p:grpSpPr>
        <p:sp>
          <p:nvSpPr>
            <p:cNvPr id="19506" name="Text Box 137"/>
            <p:cNvSpPr txBox="1"/>
            <p:nvPr/>
          </p:nvSpPr>
          <p:spPr>
            <a:xfrm>
              <a:off x="987" y="3217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07" name="Text Box 138"/>
            <p:cNvSpPr txBox="1"/>
            <p:nvPr/>
          </p:nvSpPr>
          <p:spPr>
            <a:xfrm>
              <a:off x="521" y="355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08" name="Text Box 139"/>
            <p:cNvSpPr txBox="1"/>
            <p:nvPr/>
          </p:nvSpPr>
          <p:spPr>
            <a:xfrm>
              <a:off x="636" y="4080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09" name="Text Box 140"/>
            <p:cNvSpPr txBox="1"/>
            <p:nvPr/>
          </p:nvSpPr>
          <p:spPr>
            <a:xfrm>
              <a:off x="945" y="3587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0" name="Text Box 141"/>
            <p:cNvSpPr txBox="1"/>
            <p:nvPr/>
          </p:nvSpPr>
          <p:spPr>
            <a:xfrm>
              <a:off x="1793" y="3175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1" name="Text Box 142"/>
            <p:cNvSpPr txBox="1"/>
            <p:nvPr/>
          </p:nvSpPr>
          <p:spPr>
            <a:xfrm>
              <a:off x="2205" y="3463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2" name="Text Box 143"/>
            <p:cNvSpPr txBox="1"/>
            <p:nvPr/>
          </p:nvSpPr>
          <p:spPr>
            <a:xfrm>
              <a:off x="1711" y="3593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3" name="Text Box 144"/>
            <p:cNvSpPr txBox="1"/>
            <p:nvPr/>
          </p:nvSpPr>
          <p:spPr>
            <a:xfrm>
              <a:off x="1506" y="4122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j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4" name="Text Box 145"/>
            <p:cNvSpPr txBox="1"/>
            <p:nvPr/>
          </p:nvSpPr>
          <p:spPr>
            <a:xfrm>
              <a:off x="2079" y="4163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5" name="Text Box 146"/>
            <p:cNvSpPr txBox="1"/>
            <p:nvPr/>
          </p:nvSpPr>
          <p:spPr>
            <a:xfrm>
              <a:off x="1255" y="3422"/>
              <a:ext cx="229" cy="1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  <a:tabLst>
                  <a:tab pos="66675" algn="l"/>
                  <a:tab pos="200025" algn="l"/>
                </a:tabLst>
              </a:pPr>
              <a:r>
                <a:rPr lang="zh-CN" altLang="en-US" sz="16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		</a:t>
              </a:r>
              <a:r>
                <a:rPr lang="en-US" altLang="zh-CN" sz="2100" b="1" i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1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66675" algn="l"/>
                  <a:tab pos="200025" algn="l"/>
                </a:tabLst>
              </a:pP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2625"/>
                </a:lnSpc>
                <a:tabLst>
                  <a:tab pos="66675" algn="l"/>
                  <a:tab pos="200025" algn="l"/>
                </a:tabLst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540"/>
                </a:lnSpc>
                <a:tabLst>
                  <a:tab pos="66675" algn="l"/>
                  <a:tab pos="200025" algn="l"/>
                </a:tabLst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	G</a:t>
              </a: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9516" name="Oval 147"/>
            <p:cNvSpPr/>
            <p:nvPr/>
          </p:nvSpPr>
          <p:spPr>
            <a:xfrm>
              <a:off x="984" y="3422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17" name="Oval 148"/>
            <p:cNvSpPr/>
            <p:nvPr/>
          </p:nvSpPr>
          <p:spPr>
            <a:xfrm>
              <a:off x="1342" y="3588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18" name="Oval 149"/>
            <p:cNvSpPr/>
            <p:nvPr/>
          </p:nvSpPr>
          <p:spPr>
            <a:xfrm>
              <a:off x="605" y="3669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19" name="Oval 150"/>
            <p:cNvSpPr/>
            <p:nvPr/>
          </p:nvSpPr>
          <p:spPr>
            <a:xfrm>
              <a:off x="954" y="3753"/>
              <a:ext cx="117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20" name="Oval 151"/>
            <p:cNvSpPr/>
            <p:nvPr/>
          </p:nvSpPr>
          <p:spPr>
            <a:xfrm>
              <a:off x="721" y="4081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21" name="Oval 152"/>
            <p:cNvSpPr/>
            <p:nvPr/>
          </p:nvSpPr>
          <p:spPr>
            <a:xfrm>
              <a:off x="1265" y="4081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22" name="Line 153"/>
            <p:cNvSpPr/>
            <p:nvPr/>
          </p:nvSpPr>
          <p:spPr>
            <a:xfrm>
              <a:off x="1031" y="3505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3" name="Line 154"/>
            <p:cNvSpPr/>
            <p:nvPr/>
          </p:nvSpPr>
          <p:spPr>
            <a:xfrm flipV="1">
              <a:off x="1071" y="3628"/>
              <a:ext cx="271" cy="1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4" name="Line 155"/>
            <p:cNvSpPr/>
            <p:nvPr/>
          </p:nvSpPr>
          <p:spPr>
            <a:xfrm>
              <a:off x="1071" y="3833"/>
              <a:ext cx="232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5" name="Line 156"/>
            <p:cNvSpPr/>
            <p:nvPr/>
          </p:nvSpPr>
          <p:spPr>
            <a:xfrm flipH="1">
              <a:off x="800" y="3875"/>
              <a:ext cx="154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6" name="Line 157"/>
            <p:cNvSpPr/>
            <p:nvPr/>
          </p:nvSpPr>
          <p:spPr>
            <a:xfrm>
              <a:off x="683" y="3711"/>
              <a:ext cx="271" cy="8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7" name="Line 158"/>
            <p:cNvSpPr/>
            <p:nvPr/>
          </p:nvSpPr>
          <p:spPr>
            <a:xfrm flipV="1">
              <a:off x="683" y="3463"/>
              <a:ext cx="311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8" name="Line 159"/>
            <p:cNvSpPr/>
            <p:nvPr/>
          </p:nvSpPr>
          <p:spPr>
            <a:xfrm>
              <a:off x="1071" y="3463"/>
              <a:ext cx="310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29" name="Line 160"/>
            <p:cNvSpPr/>
            <p:nvPr/>
          </p:nvSpPr>
          <p:spPr>
            <a:xfrm flipH="1">
              <a:off x="1303" y="3628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30" name="Line 161"/>
            <p:cNvSpPr/>
            <p:nvPr/>
          </p:nvSpPr>
          <p:spPr>
            <a:xfrm flipV="1">
              <a:off x="799" y="4123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31" name="Line 162"/>
            <p:cNvSpPr/>
            <p:nvPr/>
          </p:nvSpPr>
          <p:spPr>
            <a:xfrm>
              <a:off x="644" y="3752"/>
              <a:ext cx="78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32" name="Oval 163"/>
            <p:cNvSpPr/>
            <p:nvPr/>
          </p:nvSpPr>
          <p:spPr>
            <a:xfrm>
              <a:off x="1769" y="3422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33" name="Oval 164"/>
            <p:cNvSpPr/>
            <p:nvPr/>
          </p:nvSpPr>
          <p:spPr>
            <a:xfrm>
              <a:off x="2117" y="3588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34" name="Oval 165"/>
            <p:cNvSpPr/>
            <p:nvPr/>
          </p:nvSpPr>
          <p:spPr>
            <a:xfrm>
              <a:off x="1722" y="3751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35" name="Oval 166"/>
            <p:cNvSpPr/>
            <p:nvPr/>
          </p:nvSpPr>
          <p:spPr>
            <a:xfrm>
              <a:off x="1497" y="4081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36" name="Oval 167"/>
            <p:cNvSpPr/>
            <p:nvPr/>
          </p:nvSpPr>
          <p:spPr>
            <a:xfrm>
              <a:off x="2040" y="4081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9537" name="Line 168"/>
            <p:cNvSpPr/>
            <p:nvPr/>
          </p:nvSpPr>
          <p:spPr>
            <a:xfrm>
              <a:off x="1807" y="3505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38" name="Line 169"/>
            <p:cNvSpPr/>
            <p:nvPr/>
          </p:nvSpPr>
          <p:spPr>
            <a:xfrm flipV="1">
              <a:off x="1846" y="3628"/>
              <a:ext cx="271" cy="1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39" name="Line 170"/>
            <p:cNvSpPr/>
            <p:nvPr/>
          </p:nvSpPr>
          <p:spPr>
            <a:xfrm>
              <a:off x="1846" y="3833"/>
              <a:ext cx="233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0" name="Line 171"/>
            <p:cNvSpPr/>
            <p:nvPr/>
          </p:nvSpPr>
          <p:spPr>
            <a:xfrm flipH="1">
              <a:off x="1575" y="3875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1" name="Line 172"/>
            <p:cNvSpPr/>
            <p:nvPr/>
          </p:nvSpPr>
          <p:spPr>
            <a:xfrm>
              <a:off x="1411" y="3628"/>
              <a:ext cx="310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2" name="Line 173"/>
            <p:cNvSpPr/>
            <p:nvPr/>
          </p:nvSpPr>
          <p:spPr>
            <a:xfrm flipV="1">
              <a:off x="1420" y="3463"/>
              <a:ext cx="349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3" name="Line 174"/>
            <p:cNvSpPr/>
            <p:nvPr/>
          </p:nvSpPr>
          <p:spPr>
            <a:xfrm>
              <a:off x="1846" y="3463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4" name="Line 175"/>
            <p:cNvSpPr/>
            <p:nvPr/>
          </p:nvSpPr>
          <p:spPr>
            <a:xfrm flipH="1">
              <a:off x="2079" y="3628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5" name="Line 176"/>
            <p:cNvSpPr/>
            <p:nvPr/>
          </p:nvSpPr>
          <p:spPr>
            <a:xfrm flipV="1">
              <a:off x="1575" y="4122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546" name="Line 177"/>
            <p:cNvSpPr/>
            <p:nvPr/>
          </p:nvSpPr>
          <p:spPr>
            <a:xfrm>
              <a:off x="1381" y="3669"/>
              <a:ext cx="116" cy="4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9547" name="Text Box 4"/>
          <p:cNvSpPr txBox="1"/>
          <p:nvPr/>
        </p:nvSpPr>
        <p:spPr>
          <a:xfrm>
            <a:off x="714375" y="5643563"/>
            <a:ext cx="6257925" cy="5254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中无桥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10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1507" name="Group 96"/>
          <p:cNvGrpSpPr/>
          <p:nvPr/>
        </p:nvGrpSpPr>
        <p:grpSpPr>
          <a:xfrm>
            <a:off x="4645025" y="1728788"/>
            <a:ext cx="2794000" cy="2205037"/>
            <a:chOff x="2926" y="1931"/>
            <a:chExt cx="1760" cy="1389"/>
          </a:xfrm>
        </p:grpSpPr>
        <p:sp>
          <p:nvSpPr>
            <p:cNvPr id="21508" name="Text Box 14"/>
            <p:cNvSpPr txBox="1"/>
            <p:nvPr/>
          </p:nvSpPr>
          <p:spPr>
            <a:xfrm>
              <a:off x="3401" y="1964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09" name="Text Box 15"/>
            <p:cNvSpPr txBox="1"/>
            <p:nvPr/>
          </p:nvSpPr>
          <p:spPr>
            <a:xfrm>
              <a:off x="2926" y="2254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0" name="Text Box 16"/>
            <p:cNvSpPr txBox="1"/>
            <p:nvPr/>
          </p:nvSpPr>
          <p:spPr>
            <a:xfrm>
              <a:off x="3042" y="2789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1" name="Text Box 17"/>
            <p:cNvSpPr txBox="1"/>
            <p:nvPr/>
          </p:nvSpPr>
          <p:spPr>
            <a:xfrm>
              <a:off x="3391" y="2500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2" name="Text Box 18"/>
            <p:cNvSpPr txBox="1"/>
            <p:nvPr/>
          </p:nvSpPr>
          <p:spPr>
            <a:xfrm>
              <a:off x="3856" y="2171"/>
              <a:ext cx="5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3" name="Text Box 19"/>
            <p:cNvSpPr txBox="1"/>
            <p:nvPr/>
          </p:nvSpPr>
          <p:spPr>
            <a:xfrm>
              <a:off x="3627" y="2830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d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4" name="Text Box 20"/>
            <p:cNvSpPr txBox="1"/>
            <p:nvPr/>
          </p:nvSpPr>
          <p:spPr>
            <a:xfrm>
              <a:off x="3934" y="2836"/>
              <a:ext cx="5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j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5" name="Text Box 21"/>
            <p:cNvSpPr txBox="1"/>
            <p:nvPr/>
          </p:nvSpPr>
          <p:spPr>
            <a:xfrm>
              <a:off x="4555" y="2789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6" name="Text Box 22"/>
            <p:cNvSpPr txBox="1"/>
            <p:nvPr/>
          </p:nvSpPr>
          <p:spPr>
            <a:xfrm>
              <a:off x="4244" y="1931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7" name="Text Box 23"/>
            <p:cNvSpPr txBox="1"/>
            <p:nvPr/>
          </p:nvSpPr>
          <p:spPr>
            <a:xfrm>
              <a:off x="4593" y="2171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8" name="Text Box 24"/>
            <p:cNvSpPr txBox="1"/>
            <p:nvPr/>
          </p:nvSpPr>
          <p:spPr>
            <a:xfrm>
              <a:off x="4205" y="2260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19" name="Text Box 25"/>
            <p:cNvSpPr txBox="1"/>
            <p:nvPr/>
          </p:nvSpPr>
          <p:spPr>
            <a:xfrm>
              <a:off x="3853" y="3096"/>
              <a:ext cx="187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20" name="Oval 57"/>
            <p:cNvSpPr/>
            <p:nvPr/>
          </p:nvSpPr>
          <p:spPr>
            <a:xfrm>
              <a:off x="3391" y="2130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21" name="Oval 58"/>
            <p:cNvSpPr/>
            <p:nvPr/>
          </p:nvSpPr>
          <p:spPr>
            <a:xfrm>
              <a:off x="3740" y="2295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22" name="Oval 59"/>
            <p:cNvSpPr/>
            <p:nvPr/>
          </p:nvSpPr>
          <p:spPr>
            <a:xfrm>
              <a:off x="3003" y="2377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23" name="Oval 60"/>
            <p:cNvSpPr/>
            <p:nvPr/>
          </p:nvSpPr>
          <p:spPr>
            <a:xfrm>
              <a:off x="3353" y="2460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24" name="Oval 61"/>
            <p:cNvSpPr/>
            <p:nvPr/>
          </p:nvSpPr>
          <p:spPr>
            <a:xfrm>
              <a:off x="3119" y="2789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25" name="Oval 62"/>
            <p:cNvSpPr/>
            <p:nvPr/>
          </p:nvSpPr>
          <p:spPr>
            <a:xfrm>
              <a:off x="3624" y="2789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26" name="Line 63"/>
            <p:cNvSpPr/>
            <p:nvPr/>
          </p:nvSpPr>
          <p:spPr>
            <a:xfrm>
              <a:off x="3430" y="2213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7" name="Line 64"/>
            <p:cNvSpPr/>
            <p:nvPr/>
          </p:nvSpPr>
          <p:spPr>
            <a:xfrm flipV="1">
              <a:off x="3469" y="2336"/>
              <a:ext cx="27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8" name="Line 65"/>
            <p:cNvSpPr/>
            <p:nvPr/>
          </p:nvSpPr>
          <p:spPr>
            <a:xfrm>
              <a:off x="3469" y="2542"/>
              <a:ext cx="193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29" name="Line 66"/>
            <p:cNvSpPr/>
            <p:nvPr/>
          </p:nvSpPr>
          <p:spPr>
            <a:xfrm flipH="1">
              <a:off x="3198" y="2583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0" name="Line 67"/>
            <p:cNvSpPr/>
            <p:nvPr/>
          </p:nvSpPr>
          <p:spPr>
            <a:xfrm>
              <a:off x="3081" y="2419"/>
              <a:ext cx="271" cy="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1" name="Line 68"/>
            <p:cNvSpPr/>
            <p:nvPr/>
          </p:nvSpPr>
          <p:spPr>
            <a:xfrm flipV="1">
              <a:off x="3082" y="2171"/>
              <a:ext cx="310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2" name="Line 69"/>
            <p:cNvSpPr/>
            <p:nvPr/>
          </p:nvSpPr>
          <p:spPr>
            <a:xfrm>
              <a:off x="3469" y="2171"/>
              <a:ext cx="271" cy="1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3" name="Line 70"/>
            <p:cNvSpPr/>
            <p:nvPr/>
          </p:nvSpPr>
          <p:spPr>
            <a:xfrm flipV="1">
              <a:off x="3197" y="2830"/>
              <a:ext cx="4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4" name="Line 71"/>
            <p:cNvSpPr/>
            <p:nvPr/>
          </p:nvSpPr>
          <p:spPr>
            <a:xfrm>
              <a:off x="3042" y="2460"/>
              <a:ext cx="78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5" name="Oval 72"/>
            <p:cNvSpPr/>
            <p:nvPr/>
          </p:nvSpPr>
          <p:spPr>
            <a:xfrm>
              <a:off x="4167" y="2130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36" name="Oval 73"/>
            <p:cNvSpPr/>
            <p:nvPr/>
          </p:nvSpPr>
          <p:spPr>
            <a:xfrm>
              <a:off x="4516" y="2295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37" name="Oval 74"/>
            <p:cNvSpPr/>
            <p:nvPr/>
          </p:nvSpPr>
          <p:spPr>
            <a:xfrm>
              <a:off x="4128" y="2460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38" name="Oval 75"/>
            <p:cNvSpPr/>
            <p:nvPr/>
          </p:nvSpPr>
          <p:spPr>
            <a:xfrm>
              <a:off x="3895" y="2789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39" name="Oval 76"/>
            <p:cNvSpPr/>
            <p:nvPr/>
          </p:nvSpPr>
          <p:spPr>
            <a:xfrm>
              <a:off x="4439" y="2789"/>
              <a:ext cx="77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40" name="Line 77"/>
            <p:cNvSpPr/>
            <p:nvPr/>
          </p:nvSpPr>
          <p:spPr>
            <a:xfrm>
              <a:off x="4205" y="2213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1" name="Line 78"/>
            <p:cNvSpPr/>
            <p:nvPr/>
          </p:nvSpPr>
          <p:spPr>
            <a:xfrm flipV="1">
              <a:off x="4244" y="2336"/>
              <a:ext cx="272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2" name="Line 79"/>
            <p:cNvSpPr/>
            <p:nvPr/>
          </p:nvSpPr>
          <p:spPr>
            <a:xfrm>
              <a:off x="4244" y="2541"/>
              <a:ext cx="233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3" name="Line 80"/>
            <p:cNvSpPr/>
            <p:nvPr/>
          </p:nvSpPr>
          <p:spPr>
            <a:xfrm flipH="1">
              <a:off x="3973" y="2541"/>
              <a:ext cx="155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4" name="Line 81"/>
            <p:cNvSpPr/>
            <p:nvPr/>
          </p:nvSpPr>
          <p:spPr>
            <a:xfrm>
              <a:off x="3818" y="2336"/>
              <a:ext cx="309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5" name="Line 82"/>
            <p:cNvSpPr/>
            <p:nvPr/>
          </p:nvSpPr>
          <p:spPr>
            <a:xfrm>
              <a:off x="4244" y="2171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6" name="Line 83"/>
            <p:cNvSpPr/>
            <p:nvPr/>
          </p:nvSpPr>
          <p:spPr>
            <a:xfrm flipH="1">
              <a:off x="4477" y="2336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7" name="Line 84"/>
            <p:cNvSpPr/>
            <p:nvPr/>
          </p:nvSpPr>
          <p:spPr>
            <a:xfrm flipV="1">
              <a:off x="3973" y="2830"/>
              <a:ext cx="5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8" name="Line 85"/>
            <p:cNvSpPr/>
            <p:nvPr/>
          </p:nvSpPr>
          <p:spPr>
            <a:xfrm>
              <a:off x="3778" y="2377"/>
              <a:ext cx="117" cy="4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9" name="Line 86"/>
            <p:cNvSpPr/>
            <p:nvPr/>
          </p:nvSpPr>
          <p:spPr>
            <a:xfrm>
              <a:off x="3469" y="2171"/>
              <a:ext cx="6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50" name="Line 87"/>
            <p:cNvSpPr/>
            <p:nvPr/>
          </p:nvSpPr>
          <p:spPr>
            <a:xfrm>
              <a:off x="3702" y="2830"/>
              <a:ext cx="1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1551" name="Group 95"/>
          <p:cNvGrpSpPr/>
          <p:nvPr/>
        </p:nvGrpSpPr>
        <p:grpSpPr>
          <a:xfrm>
            <a:off x="827088" y="1587500"/>
            <a:ext cx="3378200" cy="2314575"/>
            <a:chOff x="521" y="1842"/>
            <a:chExt cx="2128" cy="1458"/>
          </a:xfrm>
        </p:grpSpPr>
        <p:sp>
          <p:nvSpPr>
            <p:cNvPr id="21552" name="Text Box 5"/>
            <p:cNvSpPr txBox="1"/>
            <p:nvPr/>
          </p:nvSpPr>
          <p:spPr>
            <a:xfrm>
              <a:off x="1025" y="1842"/>
              <a:ext cx="84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3" name="Text Box 6"/>
            <p:cNvSpPr txBox="1"/>
            <p:nvPr/>
          </p:nvSpPr>
          <p:spPr>
            <a:xfrm>
              <a:off x="521" y="2213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4" name="Text Box 7"/>
            <p:cNvSpPr txBox="1"/>
            <p:nvPr/>
          </p:nvSpPr>
          <p:spPr>
            <a:xfrm>
              <a:off x="987" y="2747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5" name="Text Box 8"/>
            <p:cNvSpPr txBox="1"/>
            <p:nvPr/>
          </p:nvSpPr>
          <p:spPr>
            <a:xfrm>
              <a:off x="947" y="2254"/>
              <a:ext cx="75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6" name="Text Box 9"/>
            <p:cNvSpPr txBox="1"/>
            <p:nvPr/>
          </p:nvSpPr>
          <p:spPr>
            <a:xfrm>
              <a:off x="2144" y="1842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7" name="Text Box 10"/>
            <p:cNvSpPr txBox="1"/>
            <p:nvPr/>
          </p:nvSpPr>
          <p:spPr>
            <a:xfrm>
              <a:off x="2556" y="2130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h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8" name="Text Box 11"/>
            <p:cNvSpPr txBox="1"/>
            <p:nvPr/>
          </p:nvSpPr>
          <p:spPr>
            <a:xfrm>
              <a:off x="2062" y="2260"/>
              <a:ext cx="93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59" name="Text Box 12"/>
            <p:cNvSpPr txBox="1"/>
            <p:nvPr/>
          </p:nvSpPr>
          <p:spPr>
            <a:xfrm>
              <a:off x="1857" y="2836"/>
              <a:ext cx="56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j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60" name="Text Box 13"/>
            <p:cNvSpPr txBox="1"/>
            <p:nvPr/>
          </p:nvSpPr>
          <p:spPr>
            <a:xfrm>
              <a:off x="2430" y="2830"/>
              <a:ext cx="47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i</a:t>
              </a:r>
              <a:endParaRPr lang="en-US" altLang="zh-CN" sz="21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61" name="Oval 26"/>
            <p:cNvSpPr/>
            <p:nvPr/>
          </p:nvSpPr>
          <p:spPr>
            <a:xfrm>
              <a:off x="1025" y="2089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62" name="Oval 27"/>
            <p:cNvSpPr/>
            <p:nvPr/>
          </p:nvSpPr>
          <p:spPr>
            <a:xfrm>
              <a:off x="1693" y="2255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63" name="Oval 28"/>
            <p:cNvSpPr/>
            <p:nvPr/>
          </p:nvSpPr>
          <p:spPr>
            <a:xfrm>
              <a:off x="645" y="2336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64" name="Oval 29"/>
            <p:cNvSpPr/>
            <p:nvPr/>
          </p:nvSpPr>
          <p:spPr>
            <a:xfrm>
              <a:off x="987" y="2418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65" name="Oval 30"/>
            <p:cNvSpPr/>
            <p:nvPr/>
          </p:nvSpPr>
          <p:spPr>
            <a:xfrm>
              <a:off x="762" y="2748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66" name="Oval 31"/>
            <p:cNvSpPr/>
            <p:nvPr/>
          </p:nvSpPr>
          <p:spPr>
            <a:xfrm>
              <a:off x="1296" y="2747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67" name="Line 32"/>
            <p:cNvSpPr/>
            <p:nvPr/>
          </p:nvSpPr>
          <p:spPr>
            <a:xfrm>
              <a:off x="1072" y="2172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68" name="Line 33"/>
            <p:cNvSpPr/>
            <p:nvPr/>
          </p:nvSpPr>
          <p:spPr>
            <a:xfrm flipV="1">
              <a:off x="1111" y="2295"/>
              <a:ext cx="271" cy="1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69" name="Line 34"/>
            <p:cNvSpPr/>
            <p:nvPr/>
          </p:nvSpPr>
          <p:spPr>
            <a:xfrm>
              <a:off x="1103" y="2500"/>
              <a:ext cx="232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0" name="Line 35"/>
            <p:cNvSpPr/>
            <p:nvPr/>
          </p:nvSpPr>
          <p:spPr>
            <a:xfrm flipH="1">
              <a:off x="840" y="2542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1" name="Line 36"/>
            <p:cNvSpPr/>
            <p:nvPr/>
          </p:nvSpPr>
          <p:spPr>
            <a:xfrm>
              <a:off x="723" y="2378"/>
              <a:ext cx="271" cy="8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2" name="Line 37"/>
            <p:cNvSpPr/>
            <p:nvPr/>
          </p:nvSpPr>
          <p:spPr>
            <a:xfrm flipV="1">
              <a:off x="715" y="2130"/>
              <a:ext cx="310" cy="20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3" name="Line 38"/>
            <p:cNvSpPr/>
            <p:nvPr/>
          </p:nvSpPr>
          <p:spPr>
            <a:xfrm>
              <a:off x="1111" y="2130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4" name="Line 39"/>
            <p:cNvSpPr/>
            <p:nvPr/>
          </p:nvSpPr>
          <p:spPr>
            <a:xfrm flipH="1">
              <a:off x="1344" y="2295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5" name="Line 40"/>
            <p:cNvSpPr/>
            <p:nvPr/>
          </p:nvSpPr>
          <p:spPr>
            <a:xfrm flipV="1">
              <a:off x="831" y="2789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6" name="Line 41"/>
            <p:cNvSpPr/>
            <p:nvPr/>
          </p:nvSpPr>
          <p:spPr>
            <a:xfrm>
              <a:off x="685" y="2419"/>
              <a:ext cx="78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77" name="Oval 42"/>
            <p:cNvSpPr/>
            <p:nvPr/>
          </p:nvSpPr>
          <p:spPr>
            <a:xfrm>
              <a:off x="2120" y="2089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78" name="Oval 43"/>
            <p:cNvSpPr/>
            <p:nvPr/>
          </p:nvSpPr>
          <p:spPr>
            <a:xfrm>
              <a:off x="2468" y="2255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79" name="Oval 44"/>
            <p:cNvSpPr/>
            <p:nvPr/>
          </p:nvSpPr>
          <p:spPr>
            <a:xfrm>
              <a:off x="2073" y="2418"/>
              <a:ext cx="116" cy="12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80" name="Oval 45"/>
            <p:cNvSpPr/>
            <p:nvPr/>
          </p:nvSpPr>
          <p:spPr>
            <a:xfrm>
              <a:off x="1848" y="2748"/>
              <a:ext cx="77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81" name="Oval 46"/>
            <p:cNvSpPr/>
            <p:nvPr/>
          </p:nvSpPr>
          <p:spPr>
            <a:xfrm>
              <a:off x="2391" y="2748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82" name="Line 47"/>
            <p:cNvSpPr/>
            <p:nvPr/>
          </p:nvSpPr>
          <p:spPr>
            <a:xfrm>
              <a:off x="2158" y="2172"/>
              <a:ext cx="0" cy="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3" name="Line 48"/>
            <p:cNvSpPr/>
            <p:nvPr/>
          </p:nvSpPr>
          <p:spPr>
            <a:xfrm flipV="1">
              <a:off x="2197" y="2295"/>
              <a:ext cx="271" cy="1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4" name="Line 49"/>
            <p:cNvSpPr/>
            <p:nvPr/>
          </p:nvSpPr>
          <p:spPr>
            <a:xfrm>
              <a:off x="2197" y="2500"/>
              <a:ext cx="233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5" name="Line 50"/>
            <p:cNvSpPr/>
            <p:nvPr/>
          </p:nvSpPr>
          <p:spPr>
            <a:xfrm flipH="1">
              <a:off x="1926" y="2542"/>
              <a:ext cx="155" cy="20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6" name="Line 51"/>
            <p:cNvSpPr/>
            <p:nvPr/>
          </p:nvSpPr>
          <p:spPr>
            <a:xfrm>
              <a:off x="1762" y="2295"/>
              <a:ext cx="310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7" name="Line 52"/>
            <p:cNvSpPr/>
            <p:nvPr/>
          </p:nvSpPr>
          <p:spPr>
            <a:xfrm flipV="1">
              <a:off x="1771" y="2130"/>
              <a:ext cx="349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8" name="Line 53"/>
            <p:cNvSpPr/>
            <p:nvPr/>
          </p:nvSpPr>
          <p:spPr>
            <a:xfrm>
              <a:off x="2197" y="2130"/>
              <a:ext cx="311" cy="16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89" name="Line 54"/>
            <p:cNvSpPr/>
            <p:nvPr/>
          </p:nvSpPr>
          <p:spPr>
            <a:xfrm flipH="1">
              <a:off x="2430" y="2295"/>
              <a:ext cx="78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90" name="Line 55"/>
            <p:cNvSpPr/>
            <p:nvPr/>
          </p:nvSpPr>
          <p:spPr>
            <a:xfrm flipV="1">
              <a:off x="1926" y="2789"/>
              <a:ext cx="5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91" name="Line 56"/>
            <p:cNvSpPr/>
            <p:nvPr/>
          </p:nvSpPr>
          <p:spPr>
            <a:xfrm>
              <a:off x="1732" y="2336"/>
              <a:ext cx="116" cy="4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92" name="Oval 88"/>
            <p:cNvSpPr/>
            <p:nvPr/>
          </p:nvSpPr>
          <p:spPr>
            <a:xfrm>
              <a:off x="1413" y="2254"/>
              <a:ext cx="77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1593" name="Text Box 89"/>
            <p:cNvSpPr txBox="1"/>
            <p:nvPr/>
          </p:nvSpPr>
          <p:spPr>
            <a:xfrm>
              <a:off x="1374" y="2085"/>
              <a:ext cx="116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80156" tIns="40078" rIns="80156" bIns="40078" anchor="t" anchorCtr="0">
              <a:spAutoFit/>
            </a:bodyPr>
            <a:p>
              <a:pPr defTabSz="802005">
                <a:spcBef>
                  <a:spcPct val="50000"/>
                </a:spcBef>
              </a:pPr>
              <a:r>
                <a:rPr lang="en-US" altLang="zh-CN" sz="16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16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94" name="Rectangle 90"/>
            <p:cNvSpPr/>
            <p:nvPr/>
          </p:nvSpPr>
          <p:spPr>
            <a:xfrm>
              <a:off x="1646" y="2009"/>
              <a:ext cx="164" cy="2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80156" tIns="40078" rIns="80156" bIns="40078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16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95" name="Line 91"/>
            <p:cNvSpPr/>
            <p:nvPr/>
          </p:nvSpPr>
          <p:spPr>
            <a:xfrm>
              <a:off x="1490" y="2295"/>
              <a:ext cx="19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96" name="Text Box 92"/>
            <p:cNvSpPr txBox="1"/>
            <p:nvPr/>
          </p:nvSpPr>
          <p:spPr>
            <a:xfrm>
              <a:off x="1530" y="3076"/>
              <a:ext cx="187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en-US" altLang="zh-CN" sz="1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97" name="Rectangle 94"/>
          <p:cNvSpPr/>
          <p:nvPr/>
        </p:nvSpPr>
        <p:spPr>
          <a:xfrm>
            <a:off x="1349375" y="404813"/>
            <a:ext cx="4665663" cy="6143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割边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(cut-edge)(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桥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598" name="Text Box 4"/>
          <p:cNvSpPr txBox="1"/>
          <p:nvPr/>
        </p:nvSpPr>
        <p:spPr>
          <a:xfrm>
            <a:off x="1143000" y="4365625"/>
            <a:ext cx="6257925" cy="5254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是桥，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中无桥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ext Box 3"/>
          <p:cNvSpPr txBox="1"/>
          <p:nvPr/>
        </p:nvSpPr>
        <p:spPr>
          <a:xfrm>
            <a:off x="7958138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11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2530" name="Text Box 4"/>
          <p:cNvSpPr txBox="1"/>
          <p:nvPr/>
        </p:nvSpPr>
        <p:spPr>
          <a:xfrm>
            <a:off x="811213" y="1412875"/>
            <a:ext cx="6856412" cy="31369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10000"/>
              </a:lnSpc>
              <a:spcBef>
                <a:spcPct val="15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I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的关联集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 ⊆E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spcBef>
                <a:spcPct val="15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I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不一定是边割集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不一定极小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spcBef>
                <a:spcPct val="15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I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不是边割集 ⇔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是割点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spcBef>
                <a:spcPct val="15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扇形割集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是边割集∧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⊆I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spcBef>
                <a:spcPct val="15000"/>
              </a:spcBef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例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)},{(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)},{(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)},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spcBef>
                <a:spcPct val="15000"/>
              </a:spcBef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)}, 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c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)}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22531" name="Group 30"/>
          <p:cNvGrpSpPr/>
          <p:nvPr/>
        </p:nvGrpSpPr>
        <p:grpSpPr>
          <a:xfrm>
            <a:off x="2760663" y="4518025"/>
            <a:ext cx="2862262" cy="1785938"/>
            <a:chOff x="1739" y="2846"/>
            <a:chExt cx="1803" cy="1125"/>
          </a:xfrm>
        </p:grpSpPr>
        <p:sp>
          <p:nvSpPr>
            <p:cNvPr id="22532" name="Text Box 5"/>
            <p:cNvSpPr txBox="1"/>
            <p:nvPr/>
          </p:nvSpPr>
          <p:spPr>
            <a:xfrm>
              <a:off x="1739" y="3281"/>
              <a:ext cx="76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a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3" name="Text Box 6"/>
            <p:cNvSpPr txBox="1"/>
            <p:nvPr/>
          </p:nvSpPr>
          <p:spPr>
            <a:xfrm>
              <a:off x="2232" y="3771"/>
              <a:ext cx="75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b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4" name="Text Box 7"/>
            <p:cNvSpPr txBox="1"/>
            <p:nvPr/>
          </p:nvSpPr>
          <p:spPr>
            <a:xfrm>
              <a:off x="2658" y="3442"/>
              <a:ext cx="67" cy="1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c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5" name="Text Box 8"/>
            <p:cNvSpPr txBox="1"/>
            <p:nvPr/>
          </p:nvSpPr>
          <p:spPr>
            <a:xfrm>
              <a:off x="2259" y="2859"/>
              <a:ext cx="75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g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6" name="Text Box 9"/>
            <p:cNvSpPr txBox="1"/>
            <p:nvPr/>
          </p:nvSpPr>
          <p:spPr>
            <a:xfrm>
              <a:off x="3094" y="2846"/>
              <a:ext cx="75" cy="1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d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7" name="Text Box 10"/>
            <p:cNvSpPr txBox="1"/>
            <p:nvPr/>
          </p:nvSpPr>
          <p:spPr>
            <a:xfrm>
              <a:off x="3504" y="3325"/>
              <a:ext cx="38" cy="1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f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8" name="Text Box 11"/>
            <p:cNvSpPr txBox="1"/>
            <p:nvPr/>
          </p:nvSpPr>
          <p:spPr>
            <a:xfrm>
              <a:off x="2996" y="3765"/>
              <a:ext cx="76" cy="1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e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2539" name="Oval 12"/>
            <p:cNvSpPr/>
            <p:nvPr/>
          </p:nvSpPr>
          <p:spPr>
            <a:xfrm>
              <a:off x="2221" y="3065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0" name="Oval 13"/>
            <p:cNvSpPr/>
            <p:nvPr/>
          </p:nvSpPr>
          <p:spPr>
            <a:xfrm>
              <a:off x="1794" y="3395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1" name="Oval 14"/>
            <p:cNvSpPr/>
            <p:nvPr/>
          </p:nvSpPr>
          <p:spPr>
            <a:xfrm>
              <a:off x="2647" y="3395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2" name="Oval 15"/>
            <p:cNvSpPr/>
            <p:nvPr/>
          </p:nvSpPr>
          <p:spPr>
            <a:xfrm>
              <a:off x="2221" y="3723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3" name="Oval 16"/>
            <p:cNvSpPr/>
            <p:nvPr/>
          </p:nvSpPr>
          <p:spPr>
            <a:xfrm>
              <a:off x="3035" y="3065"/>
              <a:ext cx="78" cy="8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4" name="Oval 17"/>
            <p:cNvSpPr/>
            <p:nvPr/>
          </p:nvSpPr>
          <p:spPr>
            <a:xfrm>
              <a:off x="3423" y="3395"/>
              <a:ext cx="77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5" name="Oval 18"/>
            <p:cNvSpPr/>
            <p:nvPr/>
          </p:nvSpPr>
          <p:spPr>
            <a:xfrm>
              <a:off x="3074" y="3765"/>
              <a:ext cx="78" cy="8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2546" name="Line 19"/>
            <p:cNvSpPr/>
            <p:nvPr/>
          </p:nvSpPr>
          <p:spPr>
            <a:xfrm flipV="1">
              <a:off x="1872" y="3106"/>
              <a:ext cx="387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7" name="Line 20"/>
            <p:cNvSpPr/>
            <p:nvPr/>
          </p:nvSpPr>
          <p:spPr>
            <a:xfrm flipH="1" flipV="1">
              <a:off x="2259" y="3106"/>
              <a:ext cx="388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8" name="Line 21"/>
            <p:cNvSpPr/>
            <p:nvPr/>
          </p:nvSpPr>
          <p:spPr>
            <a:xfrm>
              <a:off x="1872" y="3477"/>
              <a:ext cx="387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9" name="Line 22"/>
            <p:cNvSpPr/>
            <p:nvPr/>
          </p:nvSpPr>
          <p:spPr>
            <a:xfrm flipV="1">
              <a:off x="2299" y="3435"/>
              <a:ext cx="387" cy="3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0" name="Line 23"/>
            <p:cNvSpPr/>
            <p:nvPr/>
          </p:nvSpPr>
          <p:spPr>
            <a:xfrm>
              <a:off x="2259" y="3148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1" name="Line 24"/>
            <p:cNvSpPr/>
            <p:nvPr/>
          </p:nvSpPr>
          <p:spPr>
            <a:xfrm flipV="1">
              <a:off x="2725" y="3106"/>
              <a:ext cx="349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2" name="Line 25"/>
            <p:cNvSpPr/>
            <p:nvPr/>
          </p:nvSpPr>
          <p:spPr>
            <a:xfrm>
              <a:off x="3113" y="3106"/>
              <a:ext cx="348" cy="2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3" name="Line 26"/>
            <p:cNvSpPr/>
            <p:nvPr/>
          </p:nvSpPr>
          <p:spPr>
            <a:xfrm flipV="1">
              <a:off x="3152" y="3435"/>
              <a:ext cx="309" cy="3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4" name="Line 27"/>
            <p:cNvSpPr/>
            <p:nvPr/>
          </p:nvSpPr>
          <p:spPr>
            <a:xfrm flipH="1" flipV="1">
              <a:off x="3074" y="3148"/>
              <a:ext cx="39" cy="6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2555" name="Rectangle 29"/>
          <p:cNvSpPr/>
          <p:nvPr/>
        </p:nvSpPr>
        <p:spPr>
          <a:xfrm>
            <a:off x="1258888" y="438150"/>
            <a:ext cx="51625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扇形割集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(fan cutset)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Text Box 3"/>
          <p:cNvSpPr txBox="1"/>
          <p:nvPr/>
        </p:nvSpPr>
        <p:spPr>
          <a:xfrm>
            <a:off x="7958138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12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4578" name="Text Box 4"/>
          <p:cNvSpPr txBox="1"/>
          <p:nvPr/>
        </p:nvSpPr>
        <p:spPr>
          <a:xfrm>
            <a:off x="450850" y="1196975"/>
            <a:ext cx="7866063" cy="275145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  <a:tab pos="679450" algn="l"/>
              </a:tabLst>
            </a:pPr>
            <a:endParaRPr lang="en-US" altLang="zh-CN" sz="39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1.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点连通度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是无向连通非完全图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0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	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 =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min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{ |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 |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的点割集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}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0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2.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-(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(G)≥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endParaRPr lang="en-US" altLang="zh-CN" sz="2800" b="1" i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49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3.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规定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=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-1,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非连通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(G)=0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300355" algn="l"/>
                <a:tab pos="67945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  <a:sym typeface="+mn-ea"/>
              </a:rPr>
              <a:t>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H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  <a:sym typeface="+mn-ea"/>
              </a:rPr>
              <a:t>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  <a:sym typeface="+mn-ea"/>
              </a:rPr>
              <a:t>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 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  <a:sym typeface="+mn-ea"/>
              </a:rPr>
              <a:t>  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  <a:sym typeface="+mn-ea"/>
              </a:rPr>
              <a:t>。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24579" name="Rectangle 63"/>
          <p:cNvSpPr/>
          <p:nvPr/>
        </p:nvSpPr>
        <p:spPr>
          <a:xfrm>
            <a:off x="1198563" y="404813"/>
            <a:ext cx="7405687" cy="6143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点连通度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(vertex-connectivity)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4580" name="Group 1"/>
          <p:cNvGrpSpPr/>
          <p:nvPr/>
        </p:nvGrpSpPr>
        <p:grpSpPr>
          <a:xfrm>
            <a:off x="1554163" y="4148138"/>
            <a:ext cx="6465887" cy="1738312"/>
            <a:chOff x="1554163" y="4148138"/>
            <a:chExt cx="6465887" cy="1738426"/>
          </a:xfrm>
        </p:grpSpPr>
        <p:sp>
          <p:nvSpPr>
            <p:cNvPr id="24581" name="Text Box 5"/>
            <p:cNvSpPr txBox="1"/>
            <p:nvPr/>
          </p:nvSpPr>
          <p:spPr>
            <a:xfrm>
              <a:off x="2239963" y="5554663"/>
              <a:ext cx="166687" cy="317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G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4582" name="Text Box 6"/>
            <p:cNvSpPr txBox="1"/>
            <p:nvPr/>
          </p:nvSpPr>
          <p:spPr>
            <a:xfrm>
              <a:off x="3933825" y="5554663"/>
              <a:ext cx="155575" cy="317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H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Text Box 7"/>
            <p:cNvSpPr txBox="1"/>
            <p:nvPr/>
          </p:nvSpPr>
          <p:spPr>
            <a:xfrm>
              <a:off x="5627688" y="5554663"/>
              <a:ext cx="130175" cy="317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F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4584" name="Oval 8"/>
            <p:cNvSpPr/>
            <p:nvPr/>
          </p:nvSpPr>
          <p:spPr>
            <a:xfrm>
              <a:off x="2170113" y="42132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85" name="Oval 9"/>
            <p:cNvSpPr/>
            <p:nvPr/>
          </p:nvSpPr>
          <p:spPr>
            <a:xfrm>
              <a:off x="2724150" y="44751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86" name="Oval 10"/>
            <p:cNvSpPr/>
            <p:nvPr/>
          </p:nvSpPr>
          <p:spPr>
            <a:xfrm>
              <a:off x="1554163" y="46037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87" name="Oval 11"/>
            <p:cNvSpPr/>
            <p:nvPr/>
          </p:nvSpPr>
          <p:spPr>
            <a:xfrm>
              <a:off x="2109788" y="4735513"/>
              <a:ext cx="184150" cy="1952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88" name="Oval 12"/>
            <p:cNvSpPr/>
            <p:nvPr/>
          </p:nvSpPr>
          <p:spPr>
            <a:xfrm>
              <a:off x="1738313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89" name="Oval 13"/>
            <p:cNvSpPr/>
            <p:nvPr/>
          </p:nvSpPr>
          <p:spPr>
            <a:xfrm>
              <a:off x="2600325" y="525621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90" name="Line 14"/>
            <p:cNvSpPr/>
            <p:nvPr/>
          </p:nvSpPr>
          <p:spPr>
            <a:xfrm>
              <a:off x="2232025" y="4343400"/>
              <a:ext cx="0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1" name="Line 15"/>
            <p:cNvSpPr/>
            <p:nvPr/>
          </p:nvSpPr>
          <p:spPr>
            <a:xfrm flipV="1">
              <a:off x="2293938" y="4538663"/>
              <a:ext cx="430212" cy="263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2" name="Line 16"/>
            <p:cNvSpPr/>
            <p:nvPr/>
          </p:nvSpPr>
          <p:spPr>
            <a:xfrm>
              <a:off x="2293938" y="4864100"/>
              <a:ext cx="369887" cy="393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3" name="Line 17"/>
            <p:cNvSpPr/>
            <p:nvPr/>
          </p:nvSpPr>
          <p:spPr>
            <a:xfrm flipH="1">
              <a:off x="1862138" y="4864100"/>
              <a:ext cx="307975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4" name="Line 18"/>
            <p:cNvSpPr/>
            <p:nvPr/>
          </p:nvSpPr>
          <p:spPr>
            <a:xfrm>
              <a:off x="1677988" y="4670425"/>
              <a:ext cx="430212" cy="1317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5" name="Oval 19"/>
            <p:cNvSpPr/>
            <p:nvPr/>
          </p:nvSpPr>
          <p:spPr>
            <a:xfrm>
              <a:off x="3956050" y="42132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96" name="Oval 20"/>
            <p:cNvSpPr/>
            <p:nvPr/>
          </p:nvSpPr>
          <p:spPr>
            <a:xfrm>
              <a:off x="4510088" y="4475163"/>
              <a:ext cx="122237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97" name="Oval 21"/>
            <p:cNvSpPr/>
            <p:nvPr/>
          </p:nvSpPr>
          <p:spPr>
            <a:xfrm>
              <a:off x="3340100" y="46037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98" name="Oval 22"/>
            <p:cNvSpPr/>
            <p:nvPr/>
          </p:nvSpPr>
          <p:spPr>
            <a:xfrm>
              <a:off x="3894138" y="4735513"/>
              <a:ext cx="185737" cy="1952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599" name="Oval 23"/>
            <p:cNvSpPr/>
            <p:nvPr/>
          </p:nvSpPr>
          <p:spPr>
            <a:xfrm>
              <a:off x="3524250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0" name="Oval 24"/>
            <p:cNvSpPr/>
            <p:nvPr/>
          </p:nvSpPr>
          <p:spPr>
            <a:xfrm>
              <a:off x="4264025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1" name="Oval 25"/>
            <p:cNvSpPr/>
            <p:nvPr/>
          </p:nvSpPr>
          <p:spPr>
            <a:xfrm>
              <a:off x="5619750" y="42132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2" name="Oval 26"/>
            <p:cNvSpPr/>
            <p:nvPr/>
          </p:nvSpPr>
          <p:spPr>
            <a:xfrm>
              <a:off x="6172200" y="44751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3" name="Oval 27"/>
            <p:cNvSpPr/>
            <p:nvPr/>
          </p:nvSpPr>
          <p:spPr>
            <a:xfrm>
              <a:off x="5003800" y="46037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4" name="Oval 28"/>
            <p:cNvSpPr/>
            <p:nvPr/>
          </p:nvSpPr>
          <p:spPr>
            <a:xfrm>
              <a:off x="5559425" y="4735513"/>
              <a:ext cx="184150" cy="1952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5" name="Oval 29"/>
            <p:cNvSpPr/>
            <p:nvPr/>
          </p:nvSpPr>
          <p:spPr>
            <a:xfrm>
              <a:off x="5187950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6" name="Oval 30"/>
            <p:cNvSpPr/>
            <p:nvPr/>
          </p:nvSpPr>
          <p:spPr>
            <a:xfrm>
              <a:off x="6051550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07" name="Line 31"/>
            <p:cNvSpPr/>
            <p:nvPr/>
          </p:nvSpPr>
          <p:spPr>
            <a:xfrm>
              <a:off x="5681663" y="4343400"/>
              <a:ext cx="0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8" name="Line 32"/>
            <p:cNvSpPr/>
            <p:nvPr/>
          </p:nvSpPr>
          <p:spPr>
            <a:xfrm flipV="1">
              <a:off x="5743575" y="4538663"/>
              <a:ext cx="430213" cy="263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9" name="Line 33"/>
            <p:cNvSpPr/>
            <p:nvPr/>
          </p:nvSpPr>
          <p:spPr>
            <a:xfrm>
              <a:off x="5743575" y="4864100"/>
              <a:ext cx="369888" cy="4587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0" name="Line 34"/>
            <p:cNvSpPr/>
            <p:nvPr/>
          </p:nvSpPr>
          <p:spPr>
            <a:xfrm flipH="1">
              <a:off x="5313363" y="4930775"/>
              <a:ext cx="246062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1" name="Line 35"/>
            <p:cNvSpPr/>
            <p:nvPr/>
          </p:nvSpPr>
          <p:spPr>
            <a:xfrm>
              <a:off x="5127625" y="4670425"/>
              <a:ext cx="430213" cy="1317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2" name="Line 36"/>
            <p:cNvSpPr/>
            <p:nvPr/>
          </p:nvSpPr>
          <p:spPr>
            <a:xfrm>
              <a:off x="3463925" y="4668838"/>
              <a:ext cx="430213" cy="1317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3" name="Line 37"/>
            <p:cNvSpPr/>
            <p:nvPr/>
          </p:nvSpPr>
          <p:spPr>
            <a:xfrm flipV="1">
              <a:off x="4017963" y="4343400"/>
              <a:ext cx="0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4" name="Line 38"/>
            <p:cNvSpPr/>
            <p:nvPr/>
          </p:nvSpPr>
          <p:spPr>
            <a:xfrm>
              <a:off x="4079875" y="4276725"/>
              <a:ext cx="431800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5" name="Line 39"/>
            <p:cNvSpPr/>
            <p:nvPr/>
          </p:nvSpPr>
          <p:spPr>
            <a:xfrm flipH="1">
              <a:off x="4387850" y="4603750"/>
              <a:ext cx="184150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6" name="Line 40"/>
            <p:cNvSpPr/>
            <p:nvPr/>
          </p:nvSpPr>
          <p:spPr>
            <a:xfrm flipV="1">
              <a:off x="3649663" y="5322888"/>
              <a:ext cx="6143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7" name="Line 41"/>
            <p:cNvSpPr/>
            <p:nvPr/>
          </p:nvSpPr>
          <p:spPr>
            <a:xfrm>
              <a:off x="3402013" y="4735513"/>
              <a:ext cx="12382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8" name="Line 42"/>
            <p:cNvSpPr/>
            <p:nvPr/>
          </p:nvSpPr>
          <p:spPr>
            <a:xfrm flipV="1">
              <a:off x="5129213" y="4276725"/>
              <a:ext cx="492125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9" name="Line 43"/>
            <p:cNvSpPr/>
            <p:nvPr/>
          </p:nvSpPr>
          <p:spPr>
            <a:xfrm>
              <a:off x="5743575" y="4276725"/>
              <a:ext cx="492125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0" name="Line 44"/>
            <p:cNvSpPr/>
            <p:nvPr/>
          </p:nvSpPr>
          <p:spPr>
            <a:xfrm flipH="1">
              <a:off x="6111875" y="4538663"/>
              <a:ext cx="123825" cy="7191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1" name="Line 45"/>
            <p:cNvSpPr/>
            <p:nvPr/>
          </p:nvSpPr>
          <p:spPr>
            <a:xfrm flipV="1">
              <a:off x="5313363" y="5322888"/>
              <a:ext cx="8001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2" name="Line 46"/>
            <p:cNvSpPr/>
            <p:nvPr/>
          </p:nvSpPr>
          <p:spPr>
            <a:xfrm>
              <a:off x="5065713" y="4735513"/>
              <a:ext cx="12382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3" name="Oval 47"/>
            <p:cNvSpPr/>
            <p:nvPr/>
          </p:nvSpPr>
          <p:spPr>
            <a:xfrm>
              <a:off x="7343775" y="4148138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24" name="Oval 48"/>
            <p:cNvSpPr/>
            <p:nvPr/>
          </p:nvSpPr>
          <p:spPr>
            <a:xfrm>
              <a:off x="7896225" y="441007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25" name="Oval 49"/>
            <p:cNvSpPr/>
            <p:nvPr/>
          </p:nvSpPr>
          <p:spPr>
            <a:xfrm>
              <a:off x="6727825" y="45386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26" name="Oval 50"/>
            <p:cNvSpPr/>
            <p:nvPr/>
          </p:nvSpPr>
          <p:spPr>
            <a:xfrm>
              <a:off x="6911975" y="519271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27" name="Oval 51"/>
            <p:cNvSpPr/>
            <p:nvPr/>
          </p:nvSpPr>
          <p:spPr>
            <a:xfrm>
              <a:off x="7775575" y="519271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4628" name="Line 52"/>
            <p:cNvSpPr/>
            <p:nvPr/>
          </p:nvSpPr>
          <p:spPr>
            <a:xfrm flipV="1">
              <a:off x="6853238" y="4213225"/>
              <a:ext cx="492125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9" name="Line 53"/>
            <p:cNvSpPr/>
            <p:nvPr/>
          </p:nvSpPr>
          <p:spPr>
            <a:xfrm>
              <a:off x="7467600" y="4213225"/>
              <a:ext cx="492125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0" name="Line 54"/>
            <p:cNvSpPr/>
            <p:nvPr/>
          </p:nvSpPr>
          <p:spPr>
            <a:xfrm flipH="1">
              <a:off x="7835900" y="4475163"/>
              <a:ext cx="122238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1" name="Line 55"/>
            <p:cNvSpPr/>
            <p:nvPr/>
          </p:nvSpPr>
          <p:spPr>
            <a:xfrm flipV="1">
              <a:off x="7037388" y="5257800"/>
              <a:ext cx="8001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2" name="Line 56"/>
            <p:cNvSpPr/>
            <p:nvPr/>
          </p:nvSpPr>
          <p:spPr>
            <a:xfrm>
              <a:off x="6789738" y="4670425"/>
              <a:ext cx="123825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3" name="Line 57"/>
            <p:cNvSpPr/>
            <p:nvPr/>
          </p:nvSpPr>
          <p:spPr>
            <a:xfrm flipH="1">
              <a:off x="6973888" y="4213225"/>
              <a:ext cx="431800" cy="979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4" name="Line 58"/>
            <p:cNvSpPr/>
            <p:nvPr/>
          </p:nvSpPr>
          <p:spPr>
            <a:xfrm flipV="1">
              <a:off x="6850063" y="4475163"/>
              <a:ext cx="1046162" cy="1285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5" name="Line 59"/>
            <p:cNvSpPr/>
            <p:nvPr/>
          </p:nvSpPr>
          <p:spPr>
            <a:xfrm>
              <a:off x="7405688" y="4278313"/>
              <a:ext cx="368300" cy="914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6" name="Line 60"/>
            <p:cNvSpPr/>
            <p:nvPr/>
          </p:nvSpPr>
          <p:spPr>
            <a:xfrm>
              <a:off x="6850063" y="4603750"/>
              <a:ext cx="923925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7" name="Line 61"/>
            <p:cNvSpPr/>
            <p:nvPr/>
          </p:nvSpPr>
          <p:spPr>
            <a:xfrm flipV="1">
              <a:off x="7034213" y="4475163"/>
              <a:ext cx="862012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38" name="TextBox 61"/>
            <p:cNvSpPr txBox="1"/>
            <p:nvPr/>
          </p:nvSpPr>
          <p:spPr>
            <a:xfrm>
              <a:off x="7164288" y="5517232"/>
              <a:ext cx="40437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Tahoma" panose="020B0604030504040204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 dirty="0">
                  <a:latin typeface="Tahoma" panose="020B0604030504040204" charset="0"/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639" name="文本框 1"/>
          <p:cNvSpPr txBox="1"/>
          <p:nvPr/>
        </p:nvSpPr>
        <p:spPr>
          <a:xfrm>
            <a:off x="3635375" y="5948363"/>
            <a:ext cx="24161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rgbClr val="FF0000"/>
                </a:solidFill>
                <a:latin typeface="Tahoma" panose="020B0604030504040204" charset="0"/>
                <a:ea typeface="宋体" panose="02010600030101010101" pitchFamily="2" charset="-122"/>
              </a:rPr>
              <a:t>课堂测试二</a:t>
            </a:r>
            <a:endParaRPr lang="zh-CN" altLang="en-US" sz="2800" b="1">
              <a:solidFill>
                <a:srgbClr val="FF000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Text Box 3"/>
          <p:cNvSpPr txBox="1"/>
          <p:nvPr/>
        </p:nvSpPr>
        <p:spPr>
          <a:xfrm>
            <a:off x="7958138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13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6626" name="Text Box 4"/>
          <p:cNvSpPr txBox="1"/>
          <p:nvPr/>
        </p:nvSpPr>
        <p:spPr>
          <a:xfrm>
            <a:off x="323850" y="1268413"/>
            <a:ext cx="6724650" cy="2857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  <a:tab pos="679450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  <a:tab pos="679450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1.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边连通度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是无向连通图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0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	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 =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min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{ |E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 | 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的边割集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}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2.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l-GR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(G)≥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300355" algn="l"/>
                <a:tab pos="67945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</a:rPr>
              <a:t>.规定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非连通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)=0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500"/>
              </a:lnSpc>
              <a:tabLst>
                <a:tab pos="300355" algn="l"/>
                <a:tab pos="67945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</a:rPr>
              <a:t>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H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</a:rPr>
              <a:t>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F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</a:rPr>
              <a:t>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5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</a:rPr>
              <a:t>  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。</a:t>
            </a:r>
            <a:r>
              <a:rPr lang="en-US" altLang="zh-CN" sz="2800" b="1" u="sng" dirty="0">
                <a:latin typeface="Times New Roman" panose="02020603050405020304" charset="0"/>
                <a:ea typeface="黑体" panose="02010609060101010101" charset="-122"/>
              </a:rPr>
              <a:t>  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26627" name="Rectangle 63"/>
          <p:cNvSpPr/>
          <p:nvPr/>
        </p:nvSpPr>
        <p:spPr>
          <a:xfrm>
            <a:off x="1187450" y="476250"/>
            <a:ext cx="690721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边连通度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(edge-connectivity)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6628" name="Group 2"/>
          <p:cNvGrpSpPr/>
          <p:nvPr/>
        </p:nvGrpSpPr>
        <p:grpSpPr>
          <a:xfrm>
            <a:off x="971550" y="4498975"/>
            <a:ext cx="6465888" cy="1738313"/>
            <a:chOff x="1554163" y="4148138"/>
            <a:chExt cx="6465887" cy="1738426"/>
          </a:xfrm>
        </p:grpSpPr>
        <p:sp>
          <p:nvSpPr>
            <p:cNvPr id="26629" name="Text Box 5"/>
            <p:cNvSpPr txBox="1"/>
            <p:nvPr/>
          </p:nvSpPr>
          <p:spPr>
            <a:xfrm>
              <a:off x="2239963" y="5554663"/>
              <a:ext cx="166687" cy="317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G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6630" name="Text Box 6"/>
            <p:cNvSpPr txBox="1"/>
            <p:nvPr/>
          </p:nvSpPr>
          <p:spPr>
            <a:xfrm>
              <a:off x="3933825" y="5554663"/>
              <a:ext cx="155575" cy="317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H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6631" name="Text Box 7"/>
            <p:cNvSpPr txBox="1"/>
            <p:nvPr/>
          </p:nvSpPr>
          <p:spPr>
            <a:xfrm>
              <a:off x="5627688" y="5554663"/>
              <a:ext cx="130175" cy="317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dirty="0">
                  <a:latin typeface="Arial Narrow" panose="020B0606020202030204" charset="0"/>
                  <a:ea typeface="宋体" panose="02010600030101010101" pitchFamily="2" charset="-122"/>
                </a:rPr>
                <a:t>F</a:t>
              </a:r>
              <a:endParaRPr lang="en-US" altLang="zh-CN" sz="2100" dirty="0">
                <a:latin typeface="Arial Narrow" panose="020B0606020202030204" charset="0"/>
                <a:ea typeface="宋体" panose="02010600030101010101" pitchFamily="2" charset="-122"/>
              </a:endParaRPr>
            </a:p>
          </p:txBody>
        </p:sp>
        <p:sp>
          <p:nvSpPr>
            <p:cNvPr id="26632" name="Oval 8"/>
            <p:cNvSpPr/>
            <p:nvPr/>
          </p:nvSpPr>
          <p:spPr>
            <a:xfrm>
              <a:off x="2170113" y="42132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33" name="Oval 9"/>
            <p:cNvSpPr/>
            <p:nvPr/>
          </p:nvSpPr>
          <p:spPr>
            <a:xfrm>
              <a:off x="2724150" y="44751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34" name="Oval 10"/>
            <p:cNvSpPr/>
            <p:nvPr/>
          </p:nvSpPr>
          <p:spPr>
            <a:xfrm>
              <a:off x="1554163" y="46037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35" name="Oval 11"/>
            <p:cNvSpPr/>
            <p:nvPr/>
          </p:nvSpPr>
          <p:spPr>
            <a:xfrm>
              <a:off x="2109788" y="4735513"/>
              <a:ext cx="184150" cy="1952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36" name="Oval 12"/>
            <p:cNvSpPr/>
            <p:nvPr/>
          </p:nvSpPr>
          <p:spPr>
            <a:xfrm>
              <a:off x="1738313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37" name="Oval 13"/>
            <p:cNvSpPr/>
            <p:nvPr/>
          </p:nvSpPr>
          <p:spPr>
            <a:xfrm>
              <a:off x="2600325" y="525621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38" name="Line 14"/>
            <p:cNvSpPr/>
            <p:nvPr/>
          </p:nvSpPr>
          <p:spPr>
            <a:xfrm>
              <a:off x="2232025" y="4343400"/>
              <a:ext cx="0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9" name="Line 15"/>
            <p:cNvSpPr/>
            <p:nvPr/>
          </p:nvSpPr>
          <p:spPr>
            <a:xfrm flipV="1">
              <a:off x="2293938" y="4538663"/>
              <a:ext cx="430212" cy="263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0" name="Line 16"/>
            <p:cNvSpPr/>
            <p:nvPr/>
          </p:nvSpPr>
          <p:spPr>
            <a:xfrm>
              <a:off x="2293938" y="4864100"/>
              <a:ext cx="369887" cy="393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1" name="Line 17"/>
            <p:cNvSpPr/>
            <p:nvPr/>
          </p:nvSpPr>
          <p:spPr>
            <a:xfrm flipH="1">
              <a:off x="1862138" y="4864100"/>
              <a:ext cx="307975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2" name="Line 18"/>
            <p:cNvSpPr/>
            <p:nvPr/>
          </p:nvSpPr>
          <p:spPr>
            <a:xfrm>
              <a:off x="1677988" y="4670425"/>
              <a:ext cx="430212" cy="1317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3" name="Oval 19"/>
            <p:cNvSpPr/>
            <p:nvPr/>
          </p:nvSpPr>
          <p:spPr>
            <a:xfrm>
              <a:off x="3956050" y="42132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44" name="Oval 20"/>
            <p:cNvSpPr/>
            <p:nvPr/>
          </p:nvSpPr>
          <p:spPr>
            <a:xfrm>
              <a:off x="4510088" y="4475163"/>
              <a:ext cx="122237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45" name="Oval 21"/>
            <p:cNvSpPr/>
            <p:nvPr/>
          </p:nvSpPr>
          <p:spPr>
            <a:xfrm>
              <a:off x="3340100" y="46037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46" name="Oval 22"/>
            <p:cNvSpPr/>
            <p:nvPr/>
          </p:nvSpPr>
          <p:spPr>
            <a:xfrm>
              <a:off x="3894138" y="4735513"/>
              <a:ext cx="185737" cy="1952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47" name="Oval 23"/>
            <p:cNvSpPr/>
            <p:nvPr/>
          </p:nvSpPr>
          <p:spPr>
            <a:xfrm>
              <a:off x="3524250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48" name="Oval 24"/>
            <p:cNvSpPr/>
            <p:nvPr/>
          </p:nvSpPr>
          <p:spPr>
            <a:xfrm>
              <a:off x="4264025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49" name="Oval 25"/>
            <p:cNvSpPr/>
            <p:nvPr/>
          </p:nvSpPr>
          <p:spPr>
            <a:xfrm>
              <a:off x="5619750" y="42132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50" name="Oval 26"/>
            <p:cNvSpPr/>
            <p:nvPr/>
          </p:nvSpPr>
          <p:spPr>
            <a:xfrm>
              <a:off x="6172200" y="44751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51" name="Oval 27"/>
            <p:cNvSpPr/>
            <p:nvPr/>
          </p:nvSpPr>
          <p:spPr>
            <a:xfrm>
              <a:off x="5003800" y="46037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52" name="Oval 28"/>
            <p:cNvSpPr/>
            <p:nvPr/>
          </p:nvSpPr>
          <p:spPr>
            <a:xfrm>
              <a:off x="5559425" y="4735513"/>
              <a:ext cx="184150" cy="1952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53" name="Oval 29"/>
            <p:cNvSpPr/>
            <p:nvPr/>
          </p:nvSpPr>
          <p:spPr>
            <a:xfrm>
              <a:off x="5187950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54" name="Oval 30"/>
            <p:cNvSpPr/>
            <p:nvPr/>
          </p:nvSpPr>
          <p:spPr>
            <a:xfrm>
              <a:off x="6051550" y="52578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55" name="Line 31"/>
            <p:cNvSpPr/>
            <p:nvPr/>
          </p:nvSpPr>
          <p:spPr>
            <a:xfrm>
              <a:off x="5681663" y="4343400"/>
              <a:ext cx="0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6" name="Line 32"/>
            <p:cNvSpPr/>
            <p:nvPr/>
          </p:nvSpPr>
          <p:spPr>
            <a:xfrm flipV="1">
              <a:off x="5743575" y="4538663"/>
              <a:ext cx="430213" cy="263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7" name="Line 33"/>
            <p:cNvSpPr/>
            <p:nvPr/>
          </p:nvSpPr>
          <p:spPr>
            <a:xfrm>
              <a:off x="5743575" y="4864100"/>
              <a:ext cx="369888" cy="4587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8" name="Line 34"/>
            <p:cNvSpPr/>
            <p:nvPr/>
          </p:nvSpPr>
          <p:spPr>
            <a:xfrm flipH="1">
              <a:off x="5313363" y="4930775"/>
              <a:ext cx="246062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9" name="Line 35"/>
            <p:cNvSpPr/>
            <p:nvPr/>
          </p:nvSpPr>
          <p:spPr>
            <a:xfrm>
              <a:off x="5127625" y="4670425"/>
              <a:ext cx="430213" cy="1317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0" name="Line 36"/>
            <p:cNvSpPr/>
            <p:nvPr/>
          </p:nvSpPr>
          <p:spPr>
            <a:xfrm>
              <a:off x="3463925" y="4668838"/>
              <a:ext cx="430213" cy="1317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1" name="Line 37"/>
            <p:cNvSpPr/>
            <p:nvPr/>
          </p:nvSpPr>
          <p:spPr>
            <a:xfrm flipV="1">
              <a:off x="4017963" y="4343400"/>
              <a:ext cx="0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2" name="Line 38"/>
            <p:cNvSpPr/>
            <p:nvPr/>
          </p:nvSpPr>
          <p:spPr>
            <a:xfrm>
              <a:off x="4079875" y="4276725"/>
              <a:ext cx="431800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3" name="Line 39"/>
            <p:cNvSpPr/>
            <p:nvPr/>
          </p:nvSpPr>
          <p:spPr>
            <a:xfrm flipH="1">
              <a:off x="4387850" y="4603750"/>
              <a:ext cx="184150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4" name="Line 40"/>
            <p:cNvSpPr/>
            <p:nvPr/>
          </p:nvSpPr>
          <p:spPr>
            <a:xfrm flipV="1">
              <a:off x="3649663" y="5322888"/>
              <a:ext cx="6143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5" name="Line 41"/>
            <p:cNvSpPr/>
            <p:nvPr/>
          </p:nvSpPr>
          <p:spPr>
            <a:xfrm>
              <a:off x="3402013" y="4735513"/>
              <a:ext cx="12382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6" name="Line 42"/>
            <p:cNvSpPr/>
            <p:nvPr/>
          </p:nvSpPr>
          <p:spPr>
            <a:xfrm flipV="1">
              <a:off x="5129213" y="4276725"/>
              <a:ext cx="492125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7" name="Line 43"/>
            <p:cNvSpPr/>
            <p:nvPr/>
          </p:nvSpPr>
          <p:spPr>
            <a:xfrm>
              <a:off x="5743575" y="4276725"/>
              <a:ext cx="492125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8" name="Line 44"/>
            <p:cNvSpPr/>
            <p:nvPr/>
          </p:nvSpPr>
          <p:spPr>
            <a:xfrm flipH="1">
              <a:off x="6111875" y="4538663"/>
              <a:ext cx="123825" cy="7191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69" name="Line 45"/>
            <p:cNvSpPr/>
            <p:nvPr/>
          </p:nvSpPr>
          <p:spPr>
            <a:xfrm flipV="1">
              <a:off x="5313363" y="5322888"/>
              <a:ext cx="8001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0" name="Line 46"/>
            <p:cNvSpPr/>
            <p:nvPr/>
          </p:nvSpPr>
          <p:spPr>
            <a:xfrm>
              <a:off x="5065713" y="4735513"/>
              <a:ext cx="12382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1" name="Oval 47"/>
            <p:cNvSpPr/>
            <p:nvPr/>
          </p:nvSpPr>
          <p:spPr>
            <a:xfrm>
              <a:off x="7343775" y="4148138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72" name="Oval 48"/>
            <p:cNvSpPr/>
            <p:nvPr/>
          </p:nvSpPr>
          <p:spPr>
            <a:xfrm>
              <a:off x="7896225" y="441007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73" name="Oval 49"/>
            <p:cNvSpPr/>
            <p:nvPr/>
          </p:nvSpPr>
          <p:spPr>
            <a:xfrm>
              <a:off x="6727825" y="45386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74" name="Oval 50"/>
            <p:cNvSpPr/>
            <p:nvPr/>
          </p:nvSpPr>
          <p:spPr>
            <a:xfrm>
              <a:off x="6911975" y="519271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75" name="Oval 51"/>
            <p:cNvSpPr/>
            <p:nvPr/>
          </p:nvSpPr>
          <p:spPr>
            <a:xfrm>
              <a:off x="7775575" y="519271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6676" name="Line 52"/>
            <p:cNvSpPr/>
            <p:nvPr/>
          </p:nvSpPr>
          <p:spPr>
            <a:xfrm flipV="1">
              <a:off x="6853238" y="4213225"/>
              <a:ext cx="492125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7" name="Line 53"/>
            <p:cNvSpPr/>
            <p:nvPr/>
          </p:nvSpPr>
          <p:spPr>
            <a:xfrm>
              <a:off x="7467600" y="4213225"/>
              <a:ext cx="492125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8" name="Line 54"/>
            <p:cNvSpPr/>
            <p:nvPr/>
          </p:nvSpPr>
          <p:spPr>
            <a:xfrm flipH="1">
              <a:off x="7835900" y="4475163"/>
              <a:ext cx="122238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79" name="Line 55"/>
            <p:cNvSpPr/>
            <p:nvPr/>
          </p:nvSpPr>
          <p:spPr>
            <a:xfrm flipV="1">
              <a:off x="7037388" y="5257800"/>
              <a:ext cx="8001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0" name="Line 56"/>
            <p:cNvSpPr/>
            <p:nvPr/>
          </p:nvSpPr>
          <p:spPr>
            <a:xfrm>
              <a:off x="6789738" y="4670425"/>
              <a:ext cx="123825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1" name="Line 57"/>
            <p:cNvSpPr/>
            <p:nvPr/>
          </p:nvSpPr>
          <p:spPr>
            <a:xfrm flipH="1">
              <a:off x="6973888" y="4213225"/>
              <a:ext cx="431800" cy="979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2" name="Line 58"/>
            <p:cNvSpPr/>
            <p:nvPr/>
          </p:nvSpPr>
          <p:spPr>
            <a:xfrm flipV="1">
              <a:off x="6850063" y="4475163"/>
              <a:ext cx="1046162" cy="1285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3" name="Line 59"/>
            <p:cNvSpPr/>
            <p:nvPr/>
          </p:nvSpPr>
          <p:spPr>
            <a:xfrm>
              <a:off x="7405688" y="4278313"/>
              <a:ext cx="368300" cy="914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4" name="Line 60"/>
            <p:cNvSpPr/>
            <p:nvPr/>
          </p:nvSpPr>
          <p:spPr>
            <a:xfrm>
              <a:off x="6850063" y="4603750"/>
              <a:ext cx="923925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5" name="Line 61"/>
            <p:cNvSpPr/>
            <p:nvPr/>
          </p:nvSpPr>
          <p:spPr>
            <a:xfrm flipV="1">
              <a:off x="7034213" y="4475163"/>
              <a:ext cx="862012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86" name="TextBox 1"/>
            <p:cNvSpPr txBox="1"/>
            <p:nvPr/>
          </p:nvSpPr>
          <p:spPr>
            <a:xfrm>
              <a:off x="7164288" y="5517232"/>
              <a:ext cx="404378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Tahoma" panose="020B0604030504040204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 dirty="0">
                  <a:latin typeface="Tahoma" panose="020B0604030504040204" charset="0"/>
                  <a:ea typeface="宋体" panose="02010600030101010101" pitchFamily="2" charset="-122"/>
                </a:rPr>
                <a:t>5</a:t>
              </a:r>
              <a:endParaRPr lang="en-US" altLang="zh-CN" baseline="-25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87" name="文本框 2"/>
          <p:cNvSpPr txBox="1"/>
          <p:nvPr/>
        </p:nvSpPr>
        <p:spPr>
          <a:xfrm>
            <a:off x="3311525" y="6308725"/>
            <a:ext cx="23780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rgbClr val="FF0000"/>
                </a:solidFill>
                <a:latin typeface="Tahoma" panose="020B0604030504040204" charset="0"/>
                <a:ea typeface="宋体" panose="02010600030101010101" pitchFamily="2" charset="-122"/>
              </a:rPr>
              <a:t>课堂测试三</a:t>
            </a:r>
            <a:endParaRPr lang="zh-CN" altLang="en-US" sz="2800" b="1">
              <a:solidFill>
                <a:srgbClr val="FF000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Text Box 4"/>
          <p:cNvSpPr txBox="1"/>
          <p:nvPr/>
        </p:nvSpPr>
        <p:spPr>
          <a:xfrm>
            <a:off x="571500" y="1214438"/>
            <a:ext cx="8208963" cy="25384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zh-CN" altLang="en-US" sz="39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4000"/>
              </a:lnSpc>
              <a:spcBef>
                <a:spcPct val="30000"/>
              </a:spcBef>
              <a:tabLst>
                <a:tab pos="300355" algn="l"/>
              </a:tabLst>
            </a:pP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彼得森图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=3,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=3; </a:t>
            </a:r>
            <a:endParaRPr lang="el-GR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4000"/>
              </a:lnSpc>
              <a:spcBef>
                <a:spcPct val="30000"/>
              </a:spcBef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但不是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4-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; 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4000"/>
              </a:lnSpc>
              <a:spcBef>
                <a:spcPct val="30000"/>
              </a:spcBef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边连通图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边连通图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边连通图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但不是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4-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边连通图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674" name="Text Box 3"/>
          <p:cNvSpPr txBox="1"/>
          <p:nvPr/>
        </p:nvSpPr>
        <p:spPr>
          <a:xfrm>
            <a:off x="7905750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14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8675" name="Group 2"/>
          <p:cNvGrpSpPr/>
          <p:nvPr/>
        </p:nvGrpSpPr>
        <p:grpSpPr>
          <a:xfrm>
            <a:off x="3276600" y="3789363"/>
            <a:ext cx="2378075" cy="2232025"/>
            <a:chOff x="6228184" y="4408488"/>
            <a:chExt cx="1601788" cy="1503362"/>
          </a:xfrm>
        </p:grpSpPr>
        <p:sp>
          <p:nvSpPr>
            <p:cNvPr id="28676" name="Oval 5"/>
            <p:cNvSpPr/>
            <p:nvPr/>
          </p:nvSpPr>
          <p:spPr>
            <a:xfrm>
              <a:off x="6966372" y="4408488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77" name="Oval 6"/>
            <p:cNvSpPr/>
            <p:nvPr/>
          </p:nvSpPr>
          <p:spPr>
            <a:xfrm>
              <a:off x="7706147" y="4930775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78" name="Oval 7"/>
            <p:cNvSpPr/>
            <p:nvPr/>
          </p:nvSpPr>
          <p:spPr>
            <a:xfrm>
              <a:off x="6228184" y="4930775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Oval 8"/>
            <p:cNvSpPr/>
            <p:nvPr/>
          </p:nvSpPr>
          <p:spPr>
            <a:xfrm>
              <a:off x="6598072" y="5780088"/>
              <a:ext cx="122237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0" name="Oval 9"/>
            <p:cNvSpPr/>
            <p:nvPr/>
          </p:nvSpPr>
          <p:spPr>
            <a:xfrm>
              <a:off x="7337847" y="5780088"/>
              <a:ext cx="122237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1" name="Oval 10"/>
            <p:cNvSpPr/>
            <p:nvPr/>
          </p:nvSpPr>
          <p:spPr>
            <a:xfrm>
              <a:off x="6782222" y="54530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Oval 11"/>
            <p:cNvSpPr/>
            <p:nvPr/>
          </p:nvSpPr>
          <p:spPr>
            <a:xfrm>
              <a:off x="6966372" y="4802188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Oval 12"/>
            <p:cNvSpPr/>
            <p:nvPr/>
          </p:nvSpPr>
          <p:spPr>
            <a:xfrm>
              <a:off x="7150522" y="54530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Oval 13"/>
            <p:cNvSpPr/>
            <p:nvPr/>
          </p:nvSpPr>
          <p:spPr>
            <a:xfrm>
              <a:off x="7274347" y="5062538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Oval 14"/>
            <p:cNvSpPr/>
            <p:nvPr/>
          </p:nvSpPr>
          <p:spPr>
            <a:xfrm>
              <a:off x="6659984" y="499745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Line 15"/>
            <p:cNvSpPr/>
            <p:nvPr/>
          </p:nvSpPr>
          <p:spPr>
            <a:xfrm>
              <a:off x="6288509" y="5062538"/>
              <a:ext cx="371475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7" name="Line 16"/>
            <p:cNvSpPr/>
            <p:nvPr/>
          </p:nvSpPr>
          <p:spPr>
            <a:xfrm>
              <a:off x="6720309" y="5845175"/>
              <a:ext cx="6175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8" name="Line 17"/>
            <p:cNvSpPr/>
            <p:nvPr/>
          </p:nvSpPr>
          <p:spPr>
            <a:xfrm flipV="1">
              <a:off x="7398172" y="4997450"/>
              <a:ext cx="369887" cy="7826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9" name="Line 18"/>
            <p:cNvSpPr/>
            <p:nvPr/>
          </p:nvSpPr>
          <p:spPr>
            <a:xfrm flipV="1">
              <a:off x="6288509" y="4475163"/>
              <a:ext cx="677863" cy="4556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0" name="Line 19"/>
            <p:cNvSpPr/>
            <p:nvPr/>
          </p:nvSpPr>
          <p:spPr>
            <a:xfrm>
              <a:off x="7090197" y="4475163"/>
              <a:ext cx="677862" cy="4556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1" name="Line 20"/>
            <p:cNvSpPr/>
            <p:nvPr/>
          </p:nvSpPr>
          <p:spPr>
            <a:xfrm>
              <a:off x="6352009" y="4997450"/>
              <a:ext cx="307975" cy="650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2" name="Line 21"/>
            <p:cNvSpPr/>
            <p:nvPr/>
          </p:nvSpPr>
          <p:spPr>
            <a:xfrm flipV="1">
              <a:off x="7028284" y="4538663"/>
              <a:ext cx="0" cy="263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3" name="Line 22"/>
            <p:cNvSpPr/>
            <p:nvPr/>
          </p:nvSpPr>
          <p:spPr>
            <a:xfrm flipV="1">
              <a:off x="6720309" y="5519738"/>
              <a:ext cx="123825" cy="2603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4" name="Line 23"/>
            <p:cNvSpPr/>
            <p:nvPr/>
          </p:nvSpPr>
          <p:spPr>
            <a:xfrm>
              <a:off x="7214022" y="5584825"/>
              <a:ext cx="123825" cy="1952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5" name="Line 24"/>
            <p:cNvSpPr/>
            <p:nvPr/>
          </p:nvSpPr>
          <p:spPr>
            <a:xfrm flipV="1">
              <a:off x="7398172" y="4997450"/>
              <a:ext cx="307975" cy="130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6" name="Line 25"/>
            <p:cNvSpPr/>
            <p:nvPr/>
          </p:nvSpPr>
          <p:spPr>
            <a:xfrm>
              <a:off x="6782222" y="5062538"/>
              <a:ext cx="555625" cy="650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7" name="Line 26"/>
            <p:cNvSpPr/>
            <p:nvPr/>
          </p:nvSpPr>
          <p:spPr>
            <a:xfrm flipH="1">
              <a:off x="6844134" y="4802188"/>
              <a:ext cx="184150" cy="650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8" name="Line 27"/>
            <p:cNvSpPr/>
            <p:nvPr/>
          </p:nvSpPr>
          <p:spPr>
            <a:xfrm>
              <a:off x="7028284" y="4930775"/>
              <a:ext cx="185738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9" name="Line 28"/>
            <p:cNvSpPr/>
            <p:nvPr/>
          </p:nvSpPr>
          <p:spPr>
            <a:xfrm flipV="1">
              <a:off x="6906047" y="5127625"/>
              <a:ext cx="431800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0" name="Line 29"/>
            <p:cNvSpPr/>
            <p:nvPr/>
          </p:nvSpPr>
          <p:spPr>
            <a:xfrm>
              <a:off x="6720309" y="5127625"/>
              <a:ext cx="430213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8701" name="Rectangle 31"/>
          <p:cNvSpPr/>
          <p:nvPr/>
        </p:nvSpPr>
        <p:spPr>
          <a:xfrm>
            <a:off x="1214438" y="438150"/>
            <a:ext cx="6186487" cy="631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Petsen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的连通度和边连通度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Text Box 4"/>
          <p:cNvSpPr txBox="1"/>
          <p:nvPr/>
        </p:nvSpPr>
        <p:spPr>
          <a:xfrm>
            <a:off x="1247775" y="404813"/>
            <a:ext cx="4926330" cy="6191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Whitney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定理（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P124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9698" name="组合 55"/>
          <p:cNvGrpSpPr/>
          <p:nvPr/>
        </p:nvGrpSpPr>
        <p:grpSpPr>
          <a:xfrm>
            <a:off x="4922520" y="1014413"/>
            <a:ext cx="3359150" cy="1466850"/>
            <a:chOff x="5029200" y="919163"/>
            <a:chExt cx="3359150" cy="1466850"/>
          </a:xfrm>
        </p:grpSpPr>
        <p:sp>
          <p:nvSpPr>
            <p:cNvPr id="29699" name="Oval 5"/>
            <p:cNvSpPr>
              <a:spLocks noChangeAspect="1"/>
            </p:cNvSpPr>
            <p:nvPr/>
          </p:nvSpPr>
          <p:spPr>
            <a:xfrm>
              <a:off x="7218363" y="1246188"/>
              <a:ext cx="115887" cy="12382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00" name="Oval 6"/>
            <p:cNvSpPr>
              <a:spLocks noChangeAspect="1"/>
            </p:cNvSpPr>
            <p:nvPr/>
          </p:nvSpPr>
          <p:spPr>
            <a:xfrm>
              <a:off x="5926138" y="2030413"/>
              <a:ext cx="115887" cy="122237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Oval 7"/>
            <p:cNvSpPr>
              <a:spLocks noChangeAspect="1"/>
            </p:cNvSpPr>
            <p:nvPr/>
          </p:nvSpPr>
          <p:spPr>
            <a:xfrm>
              <a:off x="7281863" y="2030413"/>
              <a:ext cx="115887" cy="122237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Oval 8"/>
            <p:cNvSpPr>
              <a:spLocks noChangeAspect="1"/>
            </p:cNvSpPr>
            <p:nvPr/>
          </p:nvSpPr>
          <p:spPr>
            <a:xfrm>
              <a:off x="5926138" y="1181100"/>
              <a:ext cx="115887" cy="12382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03" name="Oval 9"/>
            <p:cNvSpPr>
              <a:spLocks noChangeAspect="1"/>
            </p:cNvSpPr>
            <p:nvPr/>
          </p:nvSpPr>
          <p:spPr>
            <a:xfrm>
              <a:off x="6604000" y="1638300"/>
              <a:ext cx="115888" cy="123825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04" name="Line 10"/>
            <p:cNvSpPr>
              <a:spLocks noChangeAspect="1"/>
            </p:cNvSpPr>
            <p:nvPr/>
          </p:nvSpPr>
          <p:spPr>
            <a:xfrm flipV="1">
              <a:off x="6049963" y="1704975"/>
              <a:ext cx="579437" cy="3063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5" name="Line 11"/>
            <p:cNvSpPr>
              <a:spLocks noChangeAspect="1"/>
            </p:cNvSpPr>
            <p:nvPr/>
          </p:nvSpPr>
          <p:spPr>
            <a:xfrm>
              <a:off x="6727825" y="1704975"/>
              <a:ext cx="520700" cy="3667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6" name="Line 12"/>
            <p:cNvSpPr>
              <a:spLocks noChangeAspect="1"/>
            </p:cNvSpPr>
            <p:nvPr/>
          </p:nvSpPr>
          <p:spPr>
            <a:xfrm flipV="1">
              <a:off x="6727825" y="1377950"/>
              <a:ext cx="460375" cy="2444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7" name="Line 13"/>
            <p:cNvSpPr>
              <a:spLocks noChangeAspect="1"/>
            </p:cNvSpPr>
            <p:nvPr/>
          </p:nvSpPr>
          <p:spPr>
            <a:xfrm>
              <a:off x="6049963" y="1311275"/>
              <a:ext cx="579437" cy="3698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8" name="Oval 14"/>
            <p:cNvSpPr>
              <a:spLocks noChangeAspect="1"/>
            </p:cNvSpPr>
            <p:nvPr/>
          </p:nvSpPr>
          <p:spPr>
            <a:xfrm>
              <a:off x="5029200" y="919163"/>
              <a:ext cx="982663" cy="552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Oval 15"/>
            <p:cNvSpPr>
              <a:spLocks noChangeAspect="1"/>
            </p:cNvSpPr>
            <p:nvPr/>
          </p:nvSpPr>
          <p:spPr>
            <a:xfrm>
              <a:off x="7342188" y="985838"/>
              <a:ext cx="984250" cy="552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Oval 16"/>
            <p:cNvSpPr>
              <a:spLocks noChangeAspect="1"/>
            </p:cNvSpPr>
            <p:nvPr/>
          </p:nvSpPr>
          <p:spPr>
            <a:xfrm>
              <a:off x="5029200" y="1833563"/>
              <a:ext cx="982663" cy="552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Oval 17"/>
            <p:cNvSpPr>
              <a:spLocks noChangeAspect="1"/>
            </p:cNvSpPr>
            <p:nvPr/>
          </p:nvSpPr>
          <p:spPr>
            <a:xfrm>
              <a:off x="7405688" y="1770063"/>
              <a:ext cx="982662" cy="552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712" name="Rectangle 18"/>
          <p:cNvSpPr/>
          <p:nvPr/>
        </p:nvSpPr>
        <p:spPr>
          <a:xfrm>
            <a:off x="496888" y="1939925"/>
            <a:ext cx="7820025" cy="3182938"/>
          </a:xfrm>
          <a:prstGeom prst="rect">
            <a:avLst/>
          </a:prstGeom>
          <a:noFill/>
          <a:ln w="9525">
            <a:noFill/>
          </a:ln>
        </p:spPr>
        <p:txBody>
          <a:bodyPr lIns="80156" tIns="40078" rIns="80156" bIns="40078" anchor="t" anchorCtr="0">
            <a:spAutoFit/>
          </a:bodyPr>
          <a:p>
            <a:pPr defTabSz="802005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不妨设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阶以上连通简单非完全图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(λ≤δ)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16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14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中一定包含有边割集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λ≤|E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|≤|I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)|=δ.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(κ≤λ)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,|E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|=λ,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V(E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中找出点割集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’(</a:t>
            </a:r>
            <a:r>
              <a:rPr lang="zh-CN" altLang="en-US" sz="2800" b="1" dirty="0">
                <a:solidFill>
                  <a:srgbClr val="FF00FF"/>
                </a:solidFill>
                <a:latin typeface="Tahoma" panose="020B0604030504040204" charset="0"/>
                <a:ea typeface="黑体" panose="02010609060101010101" charset="-122"/>
              </a:rPr>
              <a:t>怎样选择</a:t>
            </a:r>
            <a:r>
              <a:rPr lang="en-US" altLang="zh-CN" sz="2800" b="1" dirty="0">
                <a:solidFill>
                  <a:srgbClr val="FF00FF"/>
                </a:solidFill>
                <a:latin typeface="Tahoma" panose="020B0604030504040204" charset="0"/>
                <a:ea typeface="黑体" panose="02010609060101010101" charset="-122"/>
              </a:rPr>
              <a:t>?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)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使得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|≤λ,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κ≤|V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|≤λ.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29713" name="组合 52"/>
          <p:cNvGrpSpPr/>
          <p:nvPr/>
        </p:nvGrpSpPr>
        <p:grpSpPr>
          <a:xfrm>
            <a:off x="939800" y="5218113"/>
            <a:ext cx="2092325" cy="1568450"/>
            <a:chOff x="939800" y="4735513"/>
            <a:chExt cx="2092325" cy="1568450"/>
          </a:xfrm>
        </p:grpSpPr>
        <p:sp>
          <p:nvSpPr>
            <p:cNvPr id="29714" name="Oval 19"/>
            <p:cNvSpPr/>
            <p:nvPr/>
          </p:nvSpPr>
          <p:spPr>
            <a:xfrm>
              <a:off x="1308100" y="4997450"/>
              <a:ext cx="123825" cy="130175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Oval 20"/>
            <p:cNvSpPr/>
            <p:nvPr/>
          </p:nvSpPr>
          <p:spPr>
            <a:xfrm>
              <a:off x="1308100" y="5453063"/>
              <a:ext cx="123825" cy="13176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Oval 21"/>
            <p:cNvSpPr/>
            <p:nvPr/>
          </p:nvSpPr>
          <p:spPr>
            <a:xfrm>
              <a:off x="1308100" y="5911850"/>
              <a:ext cx="123825" cy="131763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7" name="Oval 22"/>
            <p:cNvSpPr/>
            <p:nvPr/>
          </p:nvSpPr>
          <p:spPr>
            <a:xfrm>
              <a:off x="2540000" y="54530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8" name="Oval 23"/>
            <p:cNvSpPr/>
            <p:nvPr/>
          </p:nvSpPr>
          <p:spPr>
            <a:xfrm>
              <a:off x="2540000" y="59118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19" name="Oval 24"/>
            <p:cNvSpPr/>
            <p:nvPr/>
          </p:nvSpPr>
          <p:spPr>
            <a:xfrm>
              <a:off x="2540000" y="499745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20" name="Line 36"/>
            <p:cNvSpPr/>
            <p:nvPr/>
          </p:nvSpPr>
          <p:spPr>
            <a:xfrm>
              <a:off x="1431925" y="5062538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1" name="Line 37"/>
            <p:cNvSpPr/>
            <p:nvPr/>
          </p:nvSpPr>
          <p:spPr>
            <a:xfrm>
              <a:off x="1431925" y="5519738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2" name="Line 38"/>
            <p:cNvSpPr/>
            <p:nvPr/>
          </p:nvSpPr>
          <p:spPr>
            <a:xfrm>
              <a:off x="1431925" y="5976938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3" name="Oval 39"/>
            <p:cNvSpPr/>
            <p:nvPr/>
          </p:nvSpPr>
          <p:spPr>
            <a:xfrm>
              <a:off x="939800" y="4735513"/>
              <a:ext cx="862013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24" name="Oval 40"/>
            <p:cNvSpPr/>
            <p:nvPr/>
          </p:nvSpPr>
          <p:spPr>
            <a:xfrm>
              <a:off x="2170113" y="4735513"/>
              <a:ext cx="862012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725" name="组合 53"/>
          <p:cNvGrpSpPr/>
          <p:nvPr/>
        </p:nvGrpSpPr>
        <p:grpSpPr>
          <a:xfrm>
            <a:off x="3649663" y="5597525"/>
            <a:ext cx="1354137" cy="1046163"/>
            <a:chOff x="3649663" y="5597547"/>
            <a:chExt cx="1354137" cy="1046163"/>
          </a:xfrm>
        </p:grpSpPr>
        <p:sp>
          <p:nvSpPr>
            <p:cNvPr id="29726" name="Oval 25"/>
            <p:cNvSpPr/>
            <p:nvPr/>
          </p:nvSpPr>
          <p:spPr>
            <a:xfrm>
              <a:off x="3649663" y="5597547"/>
              <a:ext cx="122237" cy="130175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Oval 26"/>
            <p:cNvSpPr/>
            <p:nvPr/>
          </p:nvSpPr>
          <p:spPr>
            <a:xfrm>
              <a:off x="3649663" y="6053160"/>
              <a:ext cx="122237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28" name="Oval 27"/>
            <p:cNvSpPr/>
            <p:nvPr/>
          </p:nvSpPr>
          <p:spPr>
            <a:xfrm>
              <a:off x="3649663" y="6511947"/>
              <a:ext cx="122237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29" name="Oval 28"/>
            <p:cNvSpPr/>
            <p:nvPr/>
          </p:nvSpPr>
          <p:spPr>
            <a:xfrm>
              <a:off x="4879975" y="6053160"/>
              <a:ext cx="123825" cy="13176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30" name="Oval 29"/>
            <p:cNvSpPr/>
            <p:nvPr/>
          </p:nvSpPr>
          <p:spPr>
            <a:xfrm>
              <a:off x="4879975" y="6511947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31" name="Oval 30"/>
            <p:cNvSpPr/>
            <p:nvPr/>
          </p:nvSpPr>
          <p:spPr>
            <a:xfrm>
              <a:off x="4879975" y="5597547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Line 41"/>
            <p:cNvSpPr/>
            <p:nvPr/>
          </p:nvSpPr>
          <p:spPr>
            <a:xfrm>
              <a:off x="3770313" y="5662635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3" name="Line 42"/>
            <p:cNvSpPr/>
            <p:nvPr/>
          </p:nvSpPr>
          <p:spPr>
            <a:xfrm>
              <a:off x="3771900" y="6119835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4" name="Line 43"/>
            <p:cNvSpPr/>
            <p:nvPr/>
          </p:nvSpPr>
          <p:spPr>
            <a:xfrm>
              <a:off x="3771900" y="6577035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5" name="Line 44"/>
            <p:cNvSpPr/>
            <p:nvPr/>
          </p:nvSpPr>
          <p:spPr>
            <a:xfrm>
              <a:off x="3709988" y="5727722"/>
              <a:ext cx="0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6" name="Line 45"/>
            <p:cNvSpPr/>
            <p:nvPr/>
          </p:nvSpPr>
          <p:spPr>
            <a:xfrm>
              <a:off x="3709988" y="6184922"/>
              <a:ext cx="0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7" name="Line 46"/>
            <p:cNvSpPr/>
            <p:nvPr/>
          </p:nvSpPr>
          <p:spPr>
            <a:xfrm>
              <a:off x="4941888" y="5727722"/>
              <a:ext cx="0" cy="3254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8" name="Line 47"/>
            <p:cNvSpPr/>
            <p:nvPr/>
          </p:nvSpPr>
          <p:spPr>
            <a:xfrm>
              <a:off x="4941888" y="6184922"/>
              <a:ext cx="0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9739" name="组合 54"/>
          <p:cNvGrpSpPr/>
          <p:nvPr/>
        </p:nvGrpSpPr>
        <p:grpSpPr>
          <a:xfrm>
            <a:off x="5865813" y="5167313"/>
            <a:ext cx="2092325" cy="1568450"/>
            <a:chOff x="5865813" y="5167339"/>
            <a:chExt cx="2092325" cy="1568450"/>
          </a:xfrm>
        </p:grpSpPr>
        <p:sp>
          <p:nvSpPr>
            <p:cNvPr id="29740" name="Oval 31"/>
            <p:cNvSpPr/>
            <p:nvPr/>
          </p:nvSpPr>
          <p:spPr>
            <a:xfrm>
              <a:off x="6235700" y="5884889"/>
              <a:ext cx="122238" cy="131762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1" name="Oval 32"/>
            <p:cNvSpPr/>
            <p:nvPr/>
          </p:nvSpPr>
          <p:spPr>
            <a:xfrm>
              <a:off x="6235700" y="6343676"/>
              <a:ext cx="122238" cy="1317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2" name="Oval 33"/>
            <p:cNvSpPr/>
            <p:nvPr/>
          </p:nvSpPr>
          <p:spPr>
            <a:xfrm>
              <a:off x="7466013" y="5884889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3" name="Oval 34"/>
            <p:cNvSpPr/>
            <p:nvPr/>
          </p:nvSpPr>
          <p:spPr>
            <a:xfrm>
              <a:off x="7466013" y="6343676"/>
              <a:ext cx="123825" cy="131763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4" name="Oval 35"/>
            <p:cNvSpPr/>
            <p:nvPr/>
          </p:nvSpPr>
          <p:spPr>
            <a:xfrm>
              <a:off x="7466013" y="5429276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5" name="Oval 48"/>
            <p:cNvSpPr/>
            <p:nvPr/>
          </p:nvSpPr>
          <p:spPr>
            <a:xfrm>
              <a:off x="5865813" y="5167339"/>
              <a:ext cx="862012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6" name="Oval 49"/>
            <p:cNvSpPr/>
            <p:nvPr/>
          </p:nvSpPr>
          <p:spPr>
            <a:xfrm>
              <a:off x="7096125" y="5167339"/>
              <a:ext cx="862013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747" name="Line 50"/>
            <p:cNvSpPr/>
            <p:nvPr/>
          </p:nvSpPr>
          <p:spPr>
            <a:xfrm flipV="1">
              <a:off x="6356350" y="5494364"/>
              <a:ext cx="1109663" cy="390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48" name="Line 51"/>
            <p:cNvSpPr/>
            <p:nvPr/>
          </p:nvSpPr>
          <p:spPr>
            <a:xfrm>
              <a:off x="6356350" y="5951564"/>
              <a:ext cx="11096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49" name="Line 52"/>
            <p:cNvSpPr/>
            <p:nvPr/>
          </p:nvSpPr>
          <p:spPr>
            <a:xfrm>
              <a:off x="6356350" y="6408764"/>
              <a:ext cx="11096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9750" name="Rectangle 54"/>
          <p:cNvSpPr/>
          <p:nvPr/>
        </p:nvSpPr>
        <p:spPr>
          <a:xfrm>
            <a:off x="549275" y="1412875"/>
            <a:ext cx="339979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b="1" dirty="0">
                <a:solidFill>
                  <a:schemeClr val="hlink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黑体" panose="02010609060101010101" charset="-122"/>
                <a:ea typeface="黑体" panose="02010609060101010101" charset="-122"/>
              </a:rPr>
              <a:t>7.10: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751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求下面图的</a:t>
            </a:r>
            <a:r>
              <a:rPr lang="el-GR" altLang="zh-CN" dirty="0"/>
              <a:t>κ,λ</a:t>
            </a:r>
            <a:endParaRPr lang="zh-CN" altLang="en-US" dirty="0"/>
          </a:p>
        </p:txBody>
      </p:sp>
      <p:grpSp>
        <p:nvGrpSpPr>
          <p:cNvPr id="31746" name="Group 60"/>
          <p:cNvGrpSpPr/>
          <p:nvPr/>
        </p:nvGrpSpPr>
        <p:grpSpPr>
          <a:xfrm>
            <a:off x="539750" y="1916113"/>
            <a:ext cx="2089150" cy="1152525"/>
            <a:chOff x="2562" y="2886"/>
            <a:chExt cx="1316" cy="726"/>
          </a:xfrm>
        </p:grpSpPr>
        <p:sp>
          <p:nvSpPr>
            <p:cNvPr id="31747" name="Oval 35"/>
            <p:cNvSpPr/>
            <p:nvPr/>
          </p:nvSpPr>
          <p:spPr>
            <a:xfrm>
              <a:off x="2562" y="34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48" name="Oval 36"/>
            <p:cNvSpPr/>
            <p:nvPr/>
          </p:nvSpPr>
          <p:spPr>
            <a:xfrm>
              <a:off x="3153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49" name="Oval 37"/>
            <p:cNvSpPr/>
            <p:nvPr/>
          </p:nvSpPr>
          <p:spPr>
            <a:xfrm>
              <a:off x="2563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50" name="Oval 38"/>
            <p:cNvSpPr/>
            <p:nvPr/>
          </p:nvSpPr>
          <p:spPr>
            <a:xfrm>
              <a:off x="3152" y="347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51" name="Oval 39"/>
            <p:cNvSpPr/>
            <p:nvPr/>
          </p:nvSpPr>
          <p:spPr>
            <a:xfrm>
              <a:off x="3742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52" name="Oval 50"/>
            <p:cNvSpPr/>
            <p:nvPr/>
          </p:nvSpPr>
          <p:spPr>
            <a:xfrm>
              <a:off x="3742" y="34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Line 51"/>
            <p:cNvSpPr/>
            <p:nvPr/>
          </p:nvSpPr>
          <p:spPr>
            <a:xfrm>
              <a:off x="265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54" name="Line 52"/>
            <p:cNvSpPr/>
            <p:nvPr/>
          </p:nvSpPr>
          <p:spPr>
            <a:xfrm>
              <a:off x="2653" y="3022"/>
              <a:ext cx="545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55" name="Line 53"/>
            <p:cNvSpPr/>
            <p:nvPr/>
          </p:nvSpPr>
          <p:spPr>
            <a:xfrm>
              <a:off x="2699" y="2976"/>
              <a:ext cx="1088" cy="54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56" name="Line 54"/>
            <p:cNvSpPr/>
            <p:nvPr/>
          </p:nvSpPr>
          <p:spPr>
            <a:xfrm flipV="1">
              <a:off x="2653" y="2976"/>
              <a:ext cx="545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57" name="Line 55"/>
            <p:cNvSpPr/>
            <p:nvPr/>
          </p:nvSpPr>
          <p:spPr>
            <a:xfrm>
              <a:off x="324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58" name="Line 56"/>
            <p:cNvSpPr/>
            <p:nvPr/>
          </p:nvSpPr>
          <p:spPr>
            <a:xfrm flipV="1">
              <a:off x="3243" y="2976"/>
              <a:ext cx="54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59" name="Line 57"/>
            <p:cNvSpPr/>
            <p:nvPr/>
          </p:nvSpPr>
          <p:spPr>
            <a:xfrm>
              <a:off x="3243" y="3022"/>
              <a:ext cx="54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60" name="Line 58"/>
            <p:cNvSpPr/>
            <p:nvPr/>
          </p:nvSpPr>
          <p:spPr>
            <a:xfrm>
              <a:off x="383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61" name="Line 59"/>
            <p:cNvSpPr/>
            <p:nvPr/>
          </p:nvSpPr>
          <p:spPr>
            <a:xfrm flipV="1">
              <a:off x="2653" y="2976"/>
              <a:ext cx="113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</p:grpSp>
      <p:grpSp>
        <p:nvGrpSpPr>
          <p:cNvPr id="31762" name="Group 1"/>
          <p:cNvGrpSpPr/>
          <p:nvPr/>
        </p:nvGrpSpPr>
        <p:grpSpPr>
          <a:xfrm>
            <a:off x="5938838" y="1916113"/>
            <a:ext cx="2089150" cy="1152525"/>
            <a:chOff x="5867226" y="4293096"/>
            <a:chExt cx="2089150" cy="1152525"/>
          </a:xfrm>
        </p:grpSpPr>
        <p:grpSp>
          <p:nvGrpSpPr>
            <p:cNvPr id="31763" name="Group 60"/>
            <p:cNvGrpSpPr/>
            <p:nvPr/>
          </p:nvGrpSpPr>
          <p:grpSpPr>
            <a:xfrm>
              <a:off x="5867226" y="4293096"/>
              <a:ext cx="2089150" cy="1152525"/>
              <a:chOff x="2562" y="2886"/>
              <a:chExt cx="1316" cy="726"/>
            </a:xfrm>
          </p:grpSpPr>
          <p:sp>
            <p:nvSpPr>
              <p:cNvPr id="31764" name="Oval 35"/>
              <p:cNvSpPr/>
              <p:nvPr/>
            </p:nvSpPr>
            <p:spPr>
              <a:xfrm>
                <a:off x="2562" y="3475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i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5" name="Oval 36"/>
              <p:cNvSpPr/>
              <p:nvPr/>
            </p:nvSpPr>
            <p:spPr>
              <a:xfrm>
                <a:off x="3153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i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6" name="Oval 37"/>
              <p:cNvSpPr/>
              <p:nvPr/>
            </p:nvSpPr>
            <p:spPr>
              <a:xfrm>
                <a:off x="2563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i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7" name="Oval 38"/>
              <p:cNvSpPr/>
              <p:nvPr/>
            </p:nvSpPr>
            <p:spPr>
              <a:xfrm>
                <a:off x="3152" y="347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i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8" name="Oval 39"/>
              <p:cNvSpPr/>
              <p:nvPr/>
            </p:nvSpPr>
            <p:spPr>
              <a:xfrm>
                <a:off x="3742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i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9" name="Oval 50"/>
              <p:cNvSpPr/>
              <p:nvPr/>
            </p:nvSpPr>
            <p:spPr>
              <a:xfrm>
                <a:off x="3742" y="3475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i="1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0" name="Line 51"/>
              <p:cNvSpPr/>
              <p:nvPr/>
            </p:nvSpPr>
            <p:spPr>
              <a:xfrm>
                <a:off x="2653" y="3022"/>
                <a:ext cx="0" cy="45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1" name="Line 52"/>
              <p:cNvSpPr/>
              <p:nvPr/>
            </p:nvSpPr>
            <p:spPr>
              <a:xfrm>
                <a:off x="2653" y="3022"/>
                <a:ext cx="545" cy="499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2" name="Line 53"/>
              <p:cNvSpPr/>
              <p:nvPr/>
            </p:nvSpPr>
            <p:spPr>
              <a:xfrm>
                <a:off x="2699" y="2976"/>
                <a:ext cx="453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3" name="Line 54"/>
              <p:cNvSpPr/>
              <p:nvPr/>
            </p:nvSpPr>
            <p:spPr>
              <a:xfrm flipV="1">
                <a:off x="2653" y="2977"/>
                <a:ext cx="1134" cy="499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4" name="Line 55"/>
              <p:cNvSpPr/>
              <p:nvPr/>
            </p:nvSpPr>
            <p:spPr>
              <a:xfrm>
                <a:off x="3243" y="3022"/>
                <a:ext cx="0" cy="45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5" name="Line 56"/>
              <p:cNvSpPr/>
              <p:nvPr/>
            </p:nvSpPr>
            <p:spPr>
              <a:xfrm>
                <a:off x="3243" y="3539"/>
                <a:ext cx="544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6" name="Line 57"/>
              <p:cNvSpPr/>
              <p:nvPr/>
            </p:nvSpPr>
            <p:spPr>
              <a:xfrm>
                <a:off x="3243" y="2982"/>
                <a:ext cx="544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7" name="Line 58"/>
              <p:cNvSpPr/>
              <p:nvPr/>
            </p:nvSpPr>
            <p:spPr>
              <a:xfrm>
                <a:off x="3833" y="3022"/>
                <a:ext cx="0" cy="453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  <p:sp>
            <p:nvSpPr>
              <p:cNvPr id="31778" name="Line 59"/>
              <p:cNvSpPr/>
              <p:nvPr/>
            </p:nvSpPr>
            <p:spPr>
              <a:xfrm>
                <a:off x="2653" y="3531"/>
                <a:ext cx="545" cy="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:ln>
            </p:spPr>
          </p:sp>
        </p:grpSp>
        <p:sp>
          <p:nvSpPr>
            <p:cNvPr id="31779" name="Line 52"/>
            <p:cNvSpPr/>
            <p:nvPr/>
          </p:nvSpPr>
          <p:spPr>
            <a:xfrm>
              <a:off x="6948264" y="4437112"/>
              <a:ext cx="865188" cy="79216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</p:grpSp>
      <p:grpSp>
        <p:nvGrpSpPr>
          <p:cNvPr id="31780" name="Group 60"/>
          <p:cNvGrpSpPr/>
          <p:nvPr/>
        </p:nvGrpSpPr>
        <p:grpSpPr>
          <a:xfrm>
            <a:off x="3203575" y="1916113"/>
            <a:ext cx="2089150" cy="1152525"/>
            <a:chOff x="2562" y="2886"/>
            <a:chExt cx="1316" cy="726"/>
          </a:xfrm>
        </p:grpSpPr>
        <p:sp>
          <p:nvSpPr>
            <p:cNvPr id="31781" name="Oval 35"/>
            <p:cNvSpPr/>
            <p:nvPr/>
          </p:nvSpPr>
          <p:spPr>
            <a:xfrm>
              <a:off x="2562" y="34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82" name="Oval 36"/>
            <p:cNvSpPr/>
            <p:nvPr/>
          </p:nvSpPr>
          <p:spPr>
            <a:xfrm>
              <a:off x="3153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83" name="Oval 37"/>
            <p:cNvSpPr/>
            <p:nvPr/>
          </p:nvSpPr>
          <p:spPr>
            <a:xfrm>
              <a:off x="2563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84" name="Oval 38"/>
            <p:cNvSpPr/>
            <p:nvPr/>
          </p:nvSpPr>
          <p:spPr>
            <a:xfrm>
              <a:off x="3152" y="347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85" name="Oval 39"/>
            <p:cNvSpPr/>
            <p:nvPr/>
          </p:nvSpPr>
          <p:spPr>
            <a:xfrm>
              <a:off x="3742" y="2886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86" name="Oval 50"/>
            <p:cNvSpPr/>
            <p:nvPr/>
          </p:nvSpPr>
          <p:spPr>
            <a:xfrm>
              <a:off x="3742" y="3475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i="1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1787" name="Line 51"/>
            <p:cNvSpPr/>
            <p:nvPr/>
          </p:nvSpPr>
          <p:spPr>
            <a:xfrm>
              <a:off x="265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88" name="Line 52"/>
            <p:cNvSpPr/>
            <p:nvPr/>
          </p:nvSpPr>
          <p:spPr>
            <a:xfrm>
              <a:off x="2653" y="3022"/>
              <a:ext cx="545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89" name="Line 53"/>
            <p:cNvSpPr/>
            <p:nvPr/>
          </p:nvSpPr>
          <p:spPr>
            <a:xfrm>
              <a:off x="2699" y="2976"/>
              <a:ext cx="1088" cy="54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90" name="Line 55"/>
            <p:cNvSpPr/>
            <p:nvPr/>
          </p:nvSpPr>
          <p:spPr>
            <a:xfrm>
              <a:off x="324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91" name="Line 56"/>
            <p:cNvSpPr/>
            <p:nvPr/>
          </p:nvSpPr>
          <p:spPr>
            <a:xfrm flipV="1">
              <a:off x="3243" y="2976"/>
              <a:ext cx="54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92" name="Line 57"/>
            <p:cNvSpPr/>
            <p:nvPr/>
          </p:nvSpPr>
          <p:spPr>
            <a:xfrm>
              <a:off x="3243" y="3022"/>
              <a:ext cx="544" cy="49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  <p:sp>
          <p:nvSpPr>
            <p:cNvPr id="31793" name="Line 58"/>
            <p:cNvSpPr/>
            <p:nvPr/>
          </p:nvSpPr>
          <p:spPr>
            <a:xfrm>
              <a:off x="3833" y="3022"/>
              <a:ext cx="0" cy="45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</p:spPr>
        </p:sp>
      </p:grpSp>
      <p:sp>
        <p:nvSpPr>
          <p:cNvPr id="31794" name="文本框 1"/>
          <p:cNvSpPr txBox="1"/>
          <p:nvPr/>
        </p:nvSpPr>
        <p:spPr>
          <a:xfrm>
            <a:off x="1346200" y="3511550"/>
            <a:ext cx="476250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b="1">
                <a:latin typeface="Tahoma" panose="020B0604030504040204" charset="0"/>
                <a:ea typeface="宋体" panose="02010600030101010101" pitchFamily="2" charset="-122"/>
              </a:rPr>
              <a:t>G</a:t>
            </a:r>
            <a:r>
              <a:rPr lang="en-US" altLang="zh-CN" sz="2000" b="1" baseline="-25000">
                <a:latin typeface="Tahoma" panose="020B0604030504040204" charset="0"/>
                <a:ea typeface="宋体" panose="02010600030101010101" pitchFamily="2" charset="-122"/>
              </a:rPr>
              <a:t>1</a:t>
            </a:r>
            <a:endParaRPr lang="en-US" altLang="zh-CN" sz="2000" b="1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31795" name="文本框 2"/>
          <p:cNvSpPr txBox="1"/>
          <p:nvPr/>
        </p:nvSpPr>
        <p:spPr>
          <a:xfrm>
            <a:off x="4046538" y="3511550"/>
            <a:ext cx="477837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b="1">
                <a:latin typeface="Tahoma" panose="020B0604030504040204" charset="0"/>
                <a:ea typeface="宋体" panose="02010600030101010101" pitchFamily="2" charset="-122"/>
              </a:rPr>
              <a:t>G</a:t>
            </a:r>
            <a:r>
              <a:rPr lang="en-US" altLang="zh-CN" sz="2000" b="1" baseline="-25000">
                <a:latin typeface="Tahoma" panose="020B0604030504040204" charset="0"/>
                <a:ea typeface="宋体" panose="02010600030101010101" pitchFamily="2" charset="-122"/>
              </a:rPr>
              <a:t>2</a:t>
            </a:r>
            <a:endParaRPr lang="en-US" altLang="zh-CN" sz="2000" b="1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31796" name="文本框 3"/>
          <p:cNvSpPr txBox="1"/>
          <p:nvPr/>
        </p:nvSpPr>
        <p:spPr>
          <a:xfrm>
            <a:off x="6746875" y="3511550"/>
            <a:ext cx="476250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000" b="1">
                <a:latin typeface="Tahoma" panose="020B0604030504040204" charset="0"/>
                <a:ea typeface="宋体" panose="02010600030101010101" pitchFamily="2" charset="-122"/>
              </a:rPr>
              <a:t>G</a:t>
            </a:r>
            <a:r>
              <a:rPr lang="en-US" altLang="zh-CN" sz="2000" b="1" baseline="-25000">
                <a:latin typeface="Tahoma" panose="020B0604030504040204" charset="0"/>
                <a:ea typeface="宋体" panose="02010600030101010101" pitchFamily="2" charset="-122"/>
              </a:rPr>
              <a:t>3</a:t>
            </a:r>
            <a:endParaRPr lang="en-US" altLang="zh-CN" sz="2000" b="1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317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</a:endParaRPr>
          </a:p>
        </p:txBody>
      </p:sp>
      <p:sp>
        <p:nvSpPr>
          <p:cNvPr id="31798" name="文本框 4"/>
          <p:cNvSpPr txBox="1"/>
          <p:nvPr/>
        </p:nvSpPr>
        <p:spPr>
          <a:xfrm>
            <a:off x="3348038" y="1268413"/>
            <a:ext cx="200025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rgbClr val="FF0000"/>
                </a:solidFill>
                <a:latin typeface="Tahoma" panose="020B0604030504040204" charset="0"/>
                <a:ea typeface="宋体" panose="02010600030101010101" pitchFamily="2" charset="-122"/>
              </a:rPr>
              <a:t>课后作业五：</a:t>
            </a:r>
            <a:endParaRPr lang="zh-CN" altLang="en-US" sz="2800" b="1">
              <a:solidFill>
                <a:srgbClr val="FF0000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Text Box 4"/>
          <p:cNvSpPr txBox="1"/>
          <p:nvPr/>
        </p:nvSpPr>
        <p:spPr>
          <a:xfrm>
            <a:off x="250825" y="1196975"/>
            <a:ext cx="8208963" cy="2452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solidFill>
                <a:schemeClr val="hlink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3900" b="1" dirty="0">
              <a:solidFill>
                <a:schemeClr val="hlink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300355" algn="l"/>
              </a:tabLst>
            </a:pPr>
            <a:r>
              <a:rPr lang="en-US" altLang="zh-CN" sz="39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引理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)+1.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如果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)&gt;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)+1,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不是边割集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因为不满足定义中的极小性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点割集无此性质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32770" name="组合 35"/>
          <p:cNvGrpSpPr/>
          <p:nvPr/>
        </p:nvGrpSpPr>
        <p:grpSpPr>
          <a:xfrm>
            <a:off x="1255713" y="4125913"/>
            <a:ext cx="3078162" cy="1501775"/>
            <a:chOff x="1255713" y="4125913"/>
            <a:chExt cx="3078162" cy="1501775"/>
          </a:xfrm>
        </p:grpSpPr>
        <p:sp>
          <p:nvSpPr>
            <p:cNvPr id="32771" name="Oval 5"/>
            <p:cNvSpPr/>
            <p:nvPr/>
          </p:nvSpPr>
          <p:spPr>
            <a:xfrm>
              <a:off x="3348038" y="4452938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72" name="Oval 6"/>
            <p:cNvSpPr/>
            <p:nvPr/>
          </p:nvSpPr>
          <p:spPr>
            <a:xfrm>
              <a:off x="2055813" y="5235575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73" name="Oval 7"/>
            <p:cNvSpPr/>
            <p:nvPr/>
          </p:nvSpPr>
          <p:spPr>
            <a:xfrm>
              <a:off x="3409950" y="5235575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Oval 8"/>
            <p:cNvSpPr/>
            <p:nvPr/>
          </p:nvSpPr>
          <p:spPr>
            <a:xfrm>
              <a:off x="2055813" y="438785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75" name="Oval 9"/>
            <p:cNvSpPr/>
            <p:nvPr/>
          </p:nvSpPr>
          <p:spPr>
            <a:xfrm>
              <a:off x="2732088" y="4843463"/>
              <a:ext cx="123825" cy="13176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76" name="Line 10"/>
            <p:cNvSpPr/>
            <p:nvPr/>
          </p:nvSpPr>
          <p:spPr>
            <a:xfrm flipV="1">
              <a:off x="2179638" y="4910138"/>
              <a:ext cx="614362" cy="3254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7" name="Line 11"/>
            <p:cNvSpPr/>
            <p:nvPr/>
          </p:nvSpPr>
          <p:spPr>
            <a:xfrm>
              <a:off x="2855913" y="4910138"/>
              <a:ext cx="554037" cy="392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8" name="Line 12"/>
            <p:cNvSpPr/>
            <p:nvPr/>
          </p:nvSpPr>
          <p:spPr>
            <a:xfrm flipV="1">
              <a:off x="2855913" y="4583113"/>
              <a:ext cx="492125" cy="2603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9" name="Line 13"/>
            <p:cNvSpPr/>
            <p:nvPr/>
          </p:nvSpPr>
          <p:spPr>
            <a:xfrm>
              <a:off x="2179638" y="4518025"/>
              <a:ext cx="614362" cy="392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0" name="Oval 14"/>
            <p:cNvSpPr/>
            <p:nvPr/>
          </p:nvSpPr>
          <p:spPr>
            <a:xfrm>
              <a:off x="1255713" y="4125913"/>
              <a:ext cx="800100" cy="5873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1" name="Oval 15"/>
            <p:cNvSpPr/>
            <p:nvPr/>
          </p:nvSpPr>
          <p:spPr>
            <a:xfrm>
              <a:off x="3471863" y="4191000"/>
              <a:ext cx="862012" cy="58896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Oval 16"/>
            <p:cNvSpPr/>
            <p:nvPr/>
          </p:nvSpPr>
          <p:spPr>
            <a:xfrm>
              <a:off x="1317625" y="5040313"/>
              <a:ext cx="738188" cy="5873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3" name="Oval 17"/>
            <p:cNvSpPr/>
            <p:nvPr/>
          </p:nvSpPr>
          <p:spPr>
            <a:xfrm>
              <a:off x="3533775" y="4975225"/>
              <a:ext cx="738188" cy="5873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784" name="组合 36"/>
          <p:cNvGrpSpPr/>
          <p:nvPr/>
        </p:nvGrpSpPr>
        <p:grpSpPr>
          <a:xfrm>
            <a:off x="5689600" y="3668713"/>
            <a:ext cx="2338388" cy="2352675"/>
            <a:chOff x="5689600" y="3668713"/>
            <a:chExt cx="2338388" cy="2352675"/>
          </a:xfrm>
        </p:grpSpPr>
        <p:sp>
          <p:nvSpPr>
            <p:cNvPr id="32785" name="Oval 18"/>
            <p:cNvSpPr/>
            <p:nvPr/>
          </p:nvSpPr>
          <p:spPr>
            <a:xfrm>
              <a:off x="6057900" y="3929063"/>
              <a:ext cx="123825" cy="1317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6" name="Oval 19"/>
            <p:cNvSpPr/>
            <p:nvPr/>
          </p:nvSpPr>
          <p:spPr>
            <a:xfrm>
              <a:off x="7537450" y="3929063"/>
              <a:ext cx="122238" cy="1317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7" name="Oval 20"/>
            <p:cNvSpPr/>
            <p:nvPr/>
          </p:nvSpPr>
          <p:spPr>
            <a:xfrm>
              <a:off x="6057900" y="4321175"/>
              <a:ext cx="123825" cy="131763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Oval 21"/>
            <p:cNvSpPr/>
            <p:nvPr/>
          </p:nvSpPr>
          <p:spPr>
            <a:xfrm>
              <a:off x="7537450" y="4321175"/>
              <a:ext cx="122238" cy="131763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89" name="Oval 22"/>
            <p:cNvSpPr/>
            <p:nvPr/>
          </p:nvSpPr>
          <p:spPr>
            <a:xfrm>
              <a:off x="6057900" y="4843463"/>
              <a:ext cx="123825" cy="1317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Oval 23"/>
            <p:cNvSpPr/>
            <p:nvPr/>
          </p:nvSpPr>
          <p:spPr>
            <a:xfrm>
              <a:off x="7537450" y="4843463"/>
              <a:ext cx="122238" cy="13176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91" name="Oval 24"/>
            <p:cNvSpPr/>
            <p:nvPr/>
          </p:nvSpPr>
          <p:spPr>
            <a:xfrm>
              <a:off x="6057900" y="5235575"/>
              <a:ext cx="123825" cy="131763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92" name="Oval 25"/>
            <p:cNvSpPr/>
            <p:nvPr/>
          </p:nvSpPr>
          <p:spPr>
            <a:xfrm>
              <a:off x="7537450" y="5235575"/>
              <a:ext cx="122238" cy="131763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93" name="Oval 26"/>
            <p:cNvSpPr/>
            <p:nvPr/>
          </p:nvSpPr>
          <p:spPr>
            <a:xfrm>
              <a:off x="6057900" y="5627688"/>
              <a:ext cx="123825" cy="130175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94" name="Oval 27"/>
            <p:cNvSpPr/>
            <p:nvPr/>
          </p:nvSpPr>
          <p:spPr>
            <a:xfrm>
              <a:off x="7537450" y="5627688"/>
              <a:ext cx="122238" cy="130175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795" name="Line 28"/>
            <p:cNvSpPr/>
            <p:nvPr/>
          </p:nvSpPr>
          <p:spPr>
            <a:xfrm>
              <a:off x="6181725" y="3994150"/>
              <a:ext cx="1355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6" name="Line 29"/>
            <p:cNvSpPr/>
            <p:nvPr/>
          </p:nvSpPr>
          <p:spPr>
            <a:xfrm>
              <a:off x="6181725" y="4387850"/>
              <a:ext cx="1355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7" name="Line 30"/>
            <p:cNvSpPr/>
            <p:nvPr/>
          </p:nvSpPr>
          <p:spPr>
            <a:xfrm>
              <a:off x="6181725" y="4908550"/>
              <a:ext cx="1355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8" name="Line 31"/>
            <p:cNvSpPr/>
            <p:nvPr/>
          </p:nvSpPr>
          <p:spPr>
            <a:xfrm>
              <a:off x="6181725" y="5302250"/>
              <a:ext cx="1355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9" name="Line 32"/>
            <p:cNvSpPr/>
            <p:nvPr/>
          </p:nvSpPr>
          <p:spPr>
            <a:xfrm>
              <a:off x="6181725" y="5694363"/>
              <a:ext cx="13557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0" name="Oval 33"/>
            <p:cNvSpPr/>
            <p:nvPr/>
          </p:nvSpPr>
          <p:spPr>
            <a:xfrm>
              <a:off x="5689600" y="3733800"/>
              <a:ext cx="862013" cy="9144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801" name="Oval 34"/>
            <p:cNvSpPr/>
            <p:nvPr/>
          </p:nvSpPr>
          <p:spPr>
            <a:xfrm>
              <a:off x="5689600" y="4714875"/>
              <a:ext cx="862013" cy="1306513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2802" name="Oval 35"/>
            <p:cNvSpPr/>
            <p:nvPr/>
          </p:nvSpPr>
          <p:spPr>
            <a:xfrm>
              <a:off x="7165975" y="3668713"/>
              <a:ext cx="862013" cy="23526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803" name="Rectangle 37"/>
          <p:cNvSpPr/>
          <p:nvPr/>
        </p:nvSpPr>
        <p:spPr>
          <a:xfrm>
            <a:off x="1187450" y="476250"/>
            <a:ext cx="142716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引理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804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Text Box 4"/>
          <p:cNvSpPr txBox="1"/>
          <p:nvPr/>
        </p:nvSpPr>
        <p:spPr>
          <a:xfrm>
            <a:off x="428625" y="-71437"/>
            <a:ext cx="8280400" cy="6165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endParaRPr lang="en-US" altLang="zh-CN" sz="3900" b="1" dirty="0">
              <a:solidFill>
                <a:schemeClr val="tx2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endParaRPr lang="en-US" altLang="zh-CN" sz="39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引理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2:  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是非完全图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	λ(G)=|E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 G-E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个连通分支是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存在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∈V(G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∈V(G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使得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)∉E(G)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spcBef>
                <a:spcPct val="20000"/>
              </a:spcBef>
              <a:tabLst>
                <a:tab pos="300355" algn="l"/>
                <a:tab pos="69088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反证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否则，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λ(G)=|E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|=|V(G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)|×|V(G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</a:t>
            </a:r>
            <a:endParaRPr lang="el-GR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      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≥|V(G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)|+|V(G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)|-1=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非完全图相矛盾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!  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endParaRPr lang="el-GR" altLang="zh-CN" sz="2800" b="1" dirty="0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不等式的证明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endParaRPr lang="el-GR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690880" algn="l"/>
              </a:tabLst>
            </a:pP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≥1∧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≥1⇒(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-1)(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+1≥0⇔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≥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a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b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33794" name="组合 21"/>
          <p:cNvGrpSpPr/>
          <p:nvPr/>
        </p:nvGrpSpPr>
        <p:grpSpPr>
          <a:xfrm>
            <a:off x="6588125" y="3773488"/>
            <a:ext cx="2092325" cy="1568450"/>
            <a:chOff x="5988050" y="4735513"/>
            <a:chExt cx="2092325" cy="1568450"/>
          </a:xfrm>
        </p:grpSpPr>
        <p:sp>
          <p:nvSpPr>
            <p:cNvPr id="33795" name="Oval 5"/>
            <p:cNvSpPr/>
            <p:nvPr/>
          </p:nvSpPr>
          <p:spPr>
            <a:xfrm>
              <a:off x="6356350" y="4997450"/>
              <a:ext cx="123825" cy="130175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796" name="Oval 6"/>
            <p:cNvSpPr/>
            <p:nvPr/>
          </p:nvSpPr>
          <p:spPr>
            <a:xfrm>
              <a:off x="6356350" y="5453063"/>
              <a:ext cx="123825" cy="131762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797" name="Oval 7"/>
            <p:cNvSpPr/>
            <p:nvPr/>
          </p:nvSpPr>
          <p:spPr>
            <a:xfrm>
              <a:off x="6356350" y="5911850"/>
              <a:ext cx="123825" cy="131763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798" name="Oval 8"/>
            <p:cNvSpPr/>
            <p:nvPr/>
          </p:nvSpPr>
          <p:spPr>
            <a:xfrm>
              <a:off x="7588250" y="54530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799" name="Oval 9"/>
            <p:cNvSpPr/>
            <p:nvPr/>
          </p:nvSpPr>
          <p:spPr>
            <a:xfrm>
              <a:off x="7588250" y="591185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800" name="Oval 10"/>
            <p:cNvSpPr/>
            <p:nvPr/>
          </p:nvSpPr>
          <p:spPr>
            <a:xfrm>
              <a:off x="7588250" y="499745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801" name="Line 11"/>
            <p:cNvSpPr/>
            <p:nvPr/>
          </p:nvSpPr>
          <p:spPr>
            <a:xfrm>
              <a:off x="6480175" y="5062538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2" name="Line 12"/>
            <p:cNvSpPr/>
            <p:nvPr/>
          </p:nvSpPr>
          <p:spPr>
            <a:xfrm>
              <a:off x="6480175" y="5519738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3" name="Line 13"/>
            <p:cNvSpPr/>
            <p:nvPr/>
          </p:nvSpPr>
          <p:spPr>
            <a:xfrm>
              <a:off x="6480175" y="5976938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4" name="Oval 14"/>
            <p:cNvSpPr/>
            <p:nvPr/>
          </p:nvSpPr>
          <p:spPr>
            <a:xfrm>
              <a:off x="5988050" y="4735513"/>
              <a:ext cx="862013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805" name="Oval 15"/>
            <p:cNvSpPr/>
            <p:nvPr/>
          </p:nvSpPr>
          <p:spPr>
            <a:xfrm>
              <a:off x="7218363" y="4735513"/>
              <a:ext cx="862012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3806" name="Line 16"/>
            <p:cNvSpPr/>
            <p:nvPr/>
          </p:nvSpPr>
          <p:spPr>
            <a:xfrm>
              <a:off x="6419850" y="5062538"/>
              <a:ext cx="1169988" cy="457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7" name="Line 17"/>
            <p:cNvSpPr/>
            <p:nvPr/>
          </p:nvSpPr>
          <p:spPr>
            <a:xfrm>
              <a:off x="6480175" y="5127625"/>
              <a:ext cx="1169988" cy="8493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8" name="Line 18"/>
            <p:cNvSpPr/>
            <p:nvPr/>
          </p:nvSpPr>
          <p:spPr>
            <a:xfrm flipV="1">
              <a:off x="6480175" y="5062538"/>
              <a:ext cx="1169988" cy="457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09" name="Line 19"/>
            <p:cNvSpPr/>
            <p:nvPr/>
          </p:nvSpPr>
          <p:spPr>
            <a:xfrm>
              <a:off x="6480175" y="5519738"/>
              <a:ext cx="1169988" cy="457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0" name="Line 20"/>
            <p:cNvSpPr/>
            <p:nvPr/>
          </p:nvSpPr>
          <p:spPr>
            <a:xfrm flipV="1">
              <a:off x="6480175" y="5519738"/>
              <a:ext cx="1169988" cy="457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1" name="Line 21"/>
            <p:cNvSpPr/>
            <p:nvPr/>
          </p:nvSpPr>
          <p:spPr>
            <a:xfrm flipV="1">
              <a:off x="6480175" y="5127625"/>
              <a:ext cx="1109663" cy="784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3812" name="Rectangle 23"/>
          <p:cNvSpPr/>
          <p:nvPr/>
        </p:nvSpPr>
        <p:spPr>
          <a:xfrm>
            <a:off x="1187450" y="476250"/>
            <a:ext cx="142716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引理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813" name="灯片编号占位符 3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r" eaLnBrk="0" hangingPunct="0"/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Text Box 2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18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4818" name="Text Box 3"/>
          <p:cNvSpPr txBox="1"/>
          <p:nvPr/>
        </p:nvSpPr>
        <p:spPr>
          <a:xfrm>
            <a:off x="539750" y="1290638"/>
            <a:ext cx="8280400" cy="30765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err="1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κ≤λ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G-E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的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个连通分支是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,G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.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所以必存在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∈V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(G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),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∈V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(G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),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使得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)∉E(G). 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如下构造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zh-CN" sz="2800" b="1" baseline="-2500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:  ∀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∈E</a:t>
            </a:r>
            <a:r>
              <a:rPr lang="en-US" altLang="zh-CN" sz="2800" b="1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选择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的异于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的一个端点放入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zh-CN" sz="2800" b="1" baseline="-25000">
                <a:latin typeface="Tahoma" panose="020B06040305040402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. |V</a:t>
            </a:r>
            <a:r>
              <a:rPr lang="zh-CN" altLang="zh-CN" sz="2800" b="1" baseline="-25000">
                <a:latin typeface="Tahoma" panose="020B06040305040402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|≤|E</a:t>
            </a:r>
            <a:r>
              <a:rPr lang="en-US" altLang="zh-CN" sz="2800" b="1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|.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G-V</a:t>
            </a:r>
            <a:r>
              <a:rPr lang="zh-CN" altLang="zh-CN" sz="2800" b="1" baseline="-25000">
                <a:latin typeface="Tahoma" panose="020B06040305040402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⊆G-E</a:t>
            </a:r>
            <a:r>
              <a:rPr lang="en-US" altLang="zh-CN" sz="2800" b="1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=G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∪G</a:t>
            </a:r>
            <a:r>
              <a:rPr lang="en-US" altLang="zh-CN" b="1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在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G-V</a:t>
            </a:r>
            <a:r>
              <a:rPr lang="zh-CN" altLang="zh-CN" sz="2800" b="1" baseline="-25000">
                <a:latin typeface="Tahoma" panose="020B0604030504040204" charset="0"/>
                <a:ea typeface="黑体" panose="02010609060101010101" charset="-122"/>
              </a:rPr>
              <a:t>1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中不连通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所以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zh-CN" sz="2800" b="1" baseline="-25000">
                <a:latin typeface="Tahoma" panose="020B0604030504040204" charset="0"/>
                <a:ea typeface="黑体" panose="02010609060101010101" charset="-122"/>
              </a:rPr>
              <a:t>1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中含有点割集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34819" name="Text Box 4"/>
          <p:cNvSpPr txBox="1"/>
          <p:nvPr/>
        </p:nvSpPr>
        <p:spPr>
          <a:xfrm>
            <a:off x="539750" y="4581525"/>
            <a:ext cx="5572125" cy="434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3425"/>
              </a:lnSpc>
              <a:tabLst>
                <a:tab pos="217043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κ≤|V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|≤|V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|≤|E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|=λ.	</a:t>
            </a:r>
            <a:endParaRPr lang="en-US" altLang="zh-CN" sz="12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34820" name="组合 18"/>
          <p:cNvGrpSpPr/>
          <p:nvPr/>
        </p:nvGrpSpPr>
        <p:grpSpPr>
          <a:xfrm>
            <a:off x="6419850" y="4473575"/>
            <a:ext cx="2092325" cy="1568450"/>
            <a:chOff x="6419850" y="4473575"/>
            <a:chExt cx="2092325" cy="1568450"/>
          </a:xfrm>
        </p:grpSpPr>
        <p:sp>
          <p:nvSpPr>
            <p:cNvPr id="34821" name="Text Box 5"/>
            <p:cNvSpPr txBox="1"/>
            <p:nvPr/>
          </p:nvSpPr>
          <p:spPr>
            <a:xfrm>
              <a:off x="6610350" y="4538663"/>
              <a:ext cx="147638" cy="3063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en-US" altLang="zh-CN" sz="21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4822" name="Text Box 6"/>
            <p:cNvSpPr txBox="1"/>
            <p:nvPr/>
          </p:nvSpPr>
          <p:spPr>
            <a:xfrm>
              <a:off x="8204200" y="5127625"/>
              <a:ext cx="120226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1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4823" name="Oval 7"/>
            <p:cNvSpPr/>
            <p:nvPr/>
          </p:nvSpPr>
          <p:spPr>
            <a:xfrm>
              <a:off x="6788150" y="4735513"/>
              <a:ext cx="123825" cy="130175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24" name="Oval 8"/>
            <p:cNvSpPr/>
            <p:nvPr/>
          </p:nvSpPr>
          <p:spPr>
            <a:xfrm>
              <a:off x="6788150" y="5191125"/>
              <a:ext cx="123825" cy="131763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25" name="Oval 9"/>
            <p:cNvSpPr/>
            <p:nvPr/>
          </p:nvSpPr>
          <p:spPr>
            <a:xfrm>
              <a:off x="6788150" y="5649913"/>
              <a:ext cx="123825" cy="130175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26" name="Oval 10"/>
            <p:cNvSpPr/>
            <p:nvPr/>
          </p:nvSpPr>
          <p:spPr>
            <a:xfrm>
              <a:off x="8020050" y="5191125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27" name="Oval 11"/>
            <p:cNvSpPr/>
            <p:nvPr/>
          </p:nvSpPr>
          <p:spPr>
            <a:xfrm>
              <a:off x="8020050" y="564991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28" name="Oval 12"/>
            <p:cNvSpPr/>
            <p:nvPr/>
          </p:nvSpPr>
          <p:spPr>
            <a:xfrm>
              <a:off x="8020050" y="473551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29" name="Line 13"/>
            <p:cNvSpPr/>
            <p:nvPr/>
          </p:nvSpPr>
          <p:spPr>
            <a:xfrm>
              <a:off x="6911975" y="4800600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0" name="Line 14"/>
            <p:cNvSpPr/>
            <p:nvPr/>
          </p:nvSpPr>
          <p:spPr>
            <a:xfrm>
              <a:off x="6911975" y="5257800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1" name="Line 15"/>
            <p:cNvSpPr/>
            <p:nvPr/>
          </p:nvSpPr>
          <p:spPr>
            <a:xfrm>
              <a:off x="6911975" y="5715000"/>
              <a:ext cx="11080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2" name="Oval 16"/>
            <p:cNvSpPr/>
            <p:nvPr/>
          </p:nvSpPr>
          <p:spPr>
            <a:xfrm>
              <a:off x="6419850" y="4473575"/>
              <a:ext cx="862013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4833" name="Oval 17"/>
            <p:cNvSpPr/>
            <p:nvPr/>
          </p:nvSpPr>
          <p:spPr>
            <a:xfrm>
              <a:off x="7650163" y="4473575"/>
              <a:ext cx="862012" cy="156845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4834" name="Rectangle 20"/>
          <p:cNvSpPr/>
          <p:nvPr/>
        </p:nvSpPr>
        <p:spPr>
          <a:xfrm>
            <a:off x="1258888" y="511175"/>
            <a:ext cx="39179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Whitney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续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19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5842" name="Text Box 4"/>
          <p:cNvSpPr txBox="1"/>
          <p:nvPr/>
        </p:nvSpPr>
        <p:spPr>
          <a:xfrm>
            <a:off x="250825" y="1355725"/>
            <a:ext cx="7469188" cy="19637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3850"/>
              </a:lnSpc>
              <a:tabLst>
                <a:tab pos="300355" algn="l"/>
              </a:tabLst>
            </a:pPr>
            <a:r>
              <a:rPr lang="zh-CN" altLang="en-US" sz="2800" b="1">
                <a:solidFill>
                  <a:schemeClr val="hlink"/>
                </a:solidFill>
                <a:latin typeface="黑体" panose="02010609060101010101" charset="-122"/>
                <a:ea typeface="黑体" panose="02010609060101010101" charset="-122"/>
              </a:rPr>
              <a:t>推论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连通图一定是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边连通图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. </a:t>
            </a:r>
            <a:endParaRPr lang="el-GR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300355" algn="l"/>
              </a:tabLst>
            </a:pP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证明：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err="1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 err="1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，且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err="1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，所以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err="1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 err="1">
                <a:latin typeface="黑体" panose="02010609060101010101" charset="-122"/>
                <a:ea typeface="黑体" panose="02010609060101010101" charset="-122"/>
              </a:rPr>
              <a:t>≤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λ</a:t>
            </a:r>
            <a:endParaRPr lang="el-GR" altLang="zh-CN" sz="2800" b="1" i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300355" algn="l"/>
              </a:tabLst>
            </a:pP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因此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连通图一定是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边连通图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l-GR" altLang="zh-CN" sz="2800" b="1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300355" algn="l"/>
              </a:tabLst>
            </a:pPr>
            <a:endParaRPr lang="en-US" altLang="zh-CN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843" name="Rectangle 6"/>
          <p:cNvSpPr/>
          <p:nvPr/>
        </p:nvSpPr>
        <p:spPr>
          <a:xfrm>
            <a:off x="1233488" y="511175"/>
            <a:ext cx="1177925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推论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20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6866" name="Text Box 4"/>
          <p:cNvSpPr txBox="1"/>
          <p:nvPr/>
        </p:nvSpPr>
        <p:spPr>
          <a:xfrm>
            <a:off x="395288" y="1412875"/>
            <a:ext cx="8424862" cy="30876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美国数学家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曾获得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Wolf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奖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 主要研究拓扑学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. 20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世纪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30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年代发表了十几篇图论论文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定义了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“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对偶图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”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概念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推动了四色定理的研究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一生的最后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20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年致力于数学教育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提倡应当让年轻人用自己的直觉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(intuition)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来解决问题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而不是教一些与他们的经验无关的技巧和结果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867" name="Rectangle 6"/>
          <p:cNvSpPr/>
          <p:nvPr/>
        </p:nvSpPr>
        <p:spPr>
          <a:xfrm>
            <a:off x="1187450" y="404813"/>
            <a:ext cx="6664325" cy="6143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Hassler Whitney(1907~1989)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21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7890" name="Text Box 4"/>
          <p:cNvSpPr txBox="1"/>
          <p:nvPr/>
        </p:nvSpPr>
        <p:spPr>
          <a:xfrm>
            <a:off x="468313" y="1219200"/>
            <a:ext cx="7848600" cy="4225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300355" algn="l"/>
                <a:tab pos="646430" algn="l"/>
              </a:tabLst>
            </a:pPr>
            <a:endParaRPr lang="zh-CN" altLang="en-US" sz="39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  <a:tab pos="646430" algn="l"/>
              </a:tabLst>
            </a:pPr>
            <a:endParaRPr lang="zh-CN" altLang="en-US" sz="39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575"/>
              </a:lnSpc>
              <a:tabLst>
                <a:tab pos="300355" algn="l"/>
                <a:tab pos="646430" algn="l"/>
              </a:tabLst>
            </a:pPr>
            <a:r>
              <a:rPr lang="zh-CN" altLang="en-US" sz="3900" b="1" dirty="0">
                <a:latin typeface="黑体" panose="02010609060101010101" charset="-122"/>
                <a:ea typeface="黑体" panose="02010609060101010101" charset="-122"/>
              </a:rPr>
              <a:t>	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应当让年轻人用自己的直觉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(intuition)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来解决问题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而不是教一些与他们的经验无关的技巧和结果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690"/>
              </a:lnSpc>
              <a:tabLst>
                <a:tab pos="300355" algn="l"/>
                <a:tab pos="646430" algn="l"/>
              </a:tabLst>
            </a:pP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	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什么是直觉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?------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习惯成自然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熟能生巧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240"/>
              </a:lnSpc>
              <a:tabLst>
                <a:tab pos="300355" algn="l"/>
                <a:tab pos="646430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		</a:t>
            </a: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骑自行车</a:t>
            </a:r>
            <a:r>
              <a:rPr lang="en-US" altLang="zh-CN" sz="2500" b="1" dirty="0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2500" b="1" dirty="0">
                <a:latin typeface="Times New Roman" panose="02020603050405020304" charset="0"/>
                <a:ea typeface="黑体" panose="02010609060101010101" charset="-122"/>
              </a:rPr>
              <a:t>“</a:t>
            </a: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平衡感</a:t>
            </a:r>
            <a:r>
              <a:rPr lang="zh-CN" altLang="en-US" sz="2500" b="1" dirty="0">
                <a:latin typeface="Times New Roman" panose="02020603050405020304" charset="0"/>
                <a:ea typeface="黑体" panose="02010609060101010101" charset="-122"/>
              </a:rPr>
              <a:t>”</a:t>
            </a:r>
            <a:endParaRPr lang="zh-CN" altLang="en-US" sz="25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240"/>
              </a:lnSpc>
              <a:tabLst>
                <a:tab pos="300355" algn="l"/>
                <a:tab pos="646430" algn="l"/>
              </a:tabLst>
            </a:pP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		游泳</a:t>
            </a:r>
            <a:r>
              <a:rPr lang="en-US" altLang="zh-CN" sz="2500" b="1" dirty="0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2500" b="1" dirty="0">
                <a:latin typeface="Times New Roman" panose="02020603050405020304" charset="0"/>
                <a:ea typeface="黑体" panose="02010609060101010101" charset="-122"/>
              </a:rPr>
              <a:t>“</a:t>
            </a: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水感</a:t>
            </a:r>
            <a:r>
              <a:rPr lang="zh-CN" altLang="en-US" sz="2500" b="1" dirty="0">
                <a:latin typeface="Times New Roman" panose="02020603050405020304" charset="0"/>
                <a:ea typeface="黑体" panose="02010609060101010101" charset="-122"/>
              </a:rPr>
              <a:t>”</a:t>
            </a:r>
            <a:endParaRPr lang="zh-CN" altLang="en-US" sz="25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240"/>
              </a:lnSpc>
              <a:tabLst>
                <a:tab pos="300355" algn="l"/>
                <a:tab pos="646430" algn="l"/>
              </a:tabLst>
            </a:pP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		学外语</a:t>
            </a:r>
            <a:r>
              <a:rPr lang="en-US" altLang="zh-CN" sz="2500" b="1" dirty="0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2500" b="1" dirty="0">
                <a:latin typeface="Times New Roman" panose="02020603050405020304" charset="0"/>
                <a:ea typeface="黑体" panose="02010609060101010101" charset="-122"/>
              </a:rPr>
              <a:t>“</a:t>
            </a: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语感</a:t>
            </a:r>
            <a:r>
              <a:rPr lang="zh-CN" altLang="en-US" sz="2500" b="1" dirty="0">
                <a:latin typeface="Times New Roman" panose="02020603050405020304" charset="0"/>
                <a:ea typeface="黑体" panose="02010609060101010101" charset="-122"/>
              </a:rPr>
              <a:t>”</a:t>
            </a:r>
            <a:endParaRPr lang="zh-CN" altLang="en-US" sz="25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700"/>
              </a:lnSpc>
              <a:tabLst>
                <a:tab pos="300355" algn="l"/>
                <a:tab pos="646430" algn="l"/>
              </a:tabLst>
            </a:pP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	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如何取得经验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</a:rPr>
              <a:t>?------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自己动手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defTabSz="802005">
              <a:lnSpc>
                <a:spcPts val="3700"/>
              </a:lnSpc>
              <a:tabLst>
                <a:tab pos="300355" algn="l"/>
                <a:tab pos="646430" algn="l"/>
              </a:tabLst>
            </a:pP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</a:rPr>
              <a:t>		</a:t>
            </a: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练习</a:t>
            </a:r>
            <a:r>
              <a:rPr lang="en-US" altLang="zh-CN" sz="2500" b="1" dirty="0">
                <a:latin typeface="黑体" panose="02010609060101010101" charset="-122"/>
                <a:ea typeface="黑体" panose="02010609060101010101" charset="-122"/>
              </a:rPr>
              <a:t>! </a:t>
            </a:r>
            <a:r>
              <a:rPr lang="zh-CN" altLang="en-US" sz="2500" b="1" dirty="0">
                <a:latin typeface="黑体" panose="02010609060101010101" charset="-122"/>
                <a:ea typeface="黑体" panose="02010609060101010101" charset="-122"/>
              </a:rPr>
              <a:t>不能只听不做</a:t>
            </a:r>
            <a:r>
              <a:rPr lang="en-US" altLang="zh-CN" sz="2500" b="1" dirty="0">
                <a:latin typeface="黑体" panose="02010609060101010101" charset="-122"/>
                <a:ea typeface="黑体" panose="02010609060101010101" charset="-122"/>
              </a:rPr>
              <a:t>.</a:t>
            </a:r>
            <a:endParaRPr lang="en-US" altLang="zh-CN" sz="25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891" name="Rectangle 6"/>
          <p:cNvSpPr/>
          <p:nvPr/>
        </p:nvSpPr>
        <p:spPr>
          <a:xfrm>
            <a:off x="1296988" y="582613"/>
            <a:ext cx="3419475" cy="6143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Whitney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的看法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30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8914" name="Text Box 4"/>
          <p:cNvSpPr txBox="1"/>
          <p:nvPr/>
        </p:nvSpPr>
        <p:spPr>
          <a:xfrm>
            <a:off x="468313" y="1333500"/>
            <a:ext cx="8351837" cy="17795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11</a:t>
            </a:r>
            <a:r>
              <a:rPr lang="el-GR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(≥6)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阶简单无向连通图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λ(G)&lt;δ(G),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则存在图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G*,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它以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为生成子图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由完全图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baseline="-50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baseline="-50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以及它们之间的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λ(G)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条边组成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λ(G)+2≤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≤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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 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 .</a:t>
            </a:r>
            <a:endParaRPr lang="en-US" altLang="zh-CN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38915" name="Group 1"/>
          <p:cNvGrpSpPr/>
          <p:nvPr/>
        </p:nvGrpSpPr>
        <p:grpSpPr>
          <a:xfrm>
            <a:off x="900113" y="3716338"/>
            <a:ext cx="6340475" cy="1958975"/>
            <a:chOff x="2663825" y="4278313"/>
            <a:chExt cx="3386138" cy="1046162"/>
          </a:xfrm>
        </p:grpSpPr>
        <p:sp>
          <p:nvSpPr>
            <p:cNvPr id="38916" name="Text Box 5"/>
            <p:cNvSpPr txBox="1"/>
            <p:nvPr/>
          </p:nvSpPr>
          <p:spPr>
            <a:xfrm>
              <a:off x="2928938" y="4586288"/>
              <a:ext cx="455612" cy="358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400" b="1" dirty="0">
                  <a:latin typeface="Times New Roman" panose="02020603050405020304" charset="0"/>
                  <a:ea typeface="黑体" panose="02010609060101010101" charset="-122"/>
                </a:rPr>
                <a:t>K</a:t>
              </a:r>
              <a:r>
                <a:rPr lang="en-US" altLang="zh-CN" sz="2400" b="1" baseline="-25000" dirty="0">
                  <a:latin typeface="Times New Roman" panose="02020603050405020304" charset="0"/>
                  <a:ea typeface="黑体" panose="02010609060101010101" charset="-122"/>
                </a:rPr>
                <a:t>n</a:t>
              </a:r>
              <a:r>
                <a:rPr lang="en-US" altLang="zh-CN" sz="2400" b="1" baseline="-50000" dirty="0">
                  <a:latin typeface="Times New Roman" panose="02020603050405020304" charset="0"/>
                  <a:ea typeface="黑体" panose="02010609060101010101" charset="-122"/>
                </a:rPr>
                <a:t>1</a:t>
              </a:r>
              <a:endParaRPr lang="en-US" altLang="zh-CN" sz="1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8917" name="Text Box 6"/>
            <p:cNvSpPr txBox="1"/>
            <p:nvPr/>
          </p:nvSpPr>
          <p:spPr>
            <a:xfrm>
              <a:off x="5286375" y="4656138"/>
              <a:ext cx="638175" cy="360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400" b="1" dirty="0">
                  <a:latin typeface="Times New Roman" panose="02020603050405020304" charset="0"/>
                  <a:ea typeface="黑体" panose="02010609060101010101" charset="-122"/>
                </a:rPr>
                <a:t>K</a:t>
              </a:r>
              <a:r>
                <a:rPr lang="en-US" altLang="zh-CN" sz="2400" b="1" baseline="-25000" dirty="0">
                  <a:latin typeface="Times New Roman" panose="02020603050405020304" charset="0"/>
                  <a:ea typeface="黑体" panose="02010609060101010101" charset="-122"/>
                </a:rPr>
                <a:t>n-n</a:t>
              </a:r>
              <a:r>
                <a:rPr lang="en-US" altLang="zh-CN" sz="2400" b="1" baseline="-50000" dirty="0">
                  <a:latin typeface="Times New Roman" panose="02020603050405020304" charset="0"/>
                  <a:ea typeface="黑体" panose="02010609060101010101" charset="-122"/>
                </a:rPr>
                <a:t>1</a:t>
              </a:r>
              <a:endParaRPr lang="en-US" altLang="zh-CN" sz="1400" b="1" baseline="-50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8918" name="Oval 7"/>
            <p:cNvSpPr/>
            <p:nvPr/>
          </p:nvSpPr>
          <p:spPr>
            <a:xfrm>
              <a:off x="4941888" y="4278313"/>
              <a:ext cx="1108075" cy="10461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19" name="Oval 8"/>
            <p:cNvSpPr/>
            <p:nvPr/>
          </p:nvSpPr>
          <p:spPr>
            <a:xfrm>
              <a:off x="2663825" y="4278313"/>
              <a:ext cx="1108075" cy="10461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8920" name="Line 9"/>
            <p:cNvSpPr/>
            <p:nvPr/>
          </p:nvSpPr>
          <p:spPr>
            <a:xfrm>
              <a:off x="3463925" y="4475163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1" name="Line 10"/>
            <p:cNvSpPr/>
            <p:nvPr/>
          </p:nvSpPr>
          <p:spPr>
            <a:xfrm>
              <a:off x="3463925" y="4670425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2" name="Line 11"/>
            <p:cNvSpPr/>
            <p:nvPr/>
          </p:nvSpPr>
          <p:spPr>
            <a:xfrm>
              <a:off x="3463925" y="4865688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3" name="Line 12"/>
            <p:cNvSpPr/>
            <p:nvPr/>
          </p:nvSpPr>
          <p:spPr>
            <a:xfrm>
              <a:off x="3463925" y="5062538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8924" name="Rectangle 15"/>
          <p:cNvSpPr/>
          <p:nvPr/>
        </p:nvSpPr>
        <p:spPr>
          <a:xfrm>
            <a:off x="1277938" y="476250"/>
            <a:ext cx="167640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11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8925" name="TextBox 2"/>
          <p:cNvSpPr txBox="1"/>
          <p:nvPr/>
        </p:nvSpPr>
        <p:spPr>
          <a:xfrm>
            <a:off x="3497263" y="5373688"/>
            <a:ext cx="1081087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l-GR" altLang="zh-CN" sz="2800" dirty="0">
                <a:latin typeface="Tahoma" panose="020B0604030504040204" charset="0"/>
                <a:ea typeface="宋体" panose="02010600030101010101" pitchFamily="2" charset="-122"/>
              </a:rPr>
              <a:t>λ</a:t>
            </a:r>
            <a:r>
              <a:rPr lang="zh-CN" altLang="en-US" sz="2800" dirty="0">
                <a:latin typeface="Tahoma" panose="020B0604030504040204" charset="0"/>
                <a:ea typeface="宋体" panose="02010600030101010101" pitchFamily="2" charset="-122"/>
              </a:rPr>
              <a:t>条边</a:t>
            </a:r>
            <a:endParaRPr lang="en-US" altLang="zh-CN" sz="280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Text Box 4"/>
          <p:cNvSpPr txBox="1"/>
          <p:nvPr/>
        </p:nvSpPr>
        <p:spPr>
          <a:xfrm>
            <a:off x="395288" y="1341438"/>
            <a:ext cx="8497887" cy="29876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40000"/>
              </a:lnSpc>
              <a:tabLst>
                <a:tab pos="300355" algn="l"/>
                <a:tab pos="890905" algn="l"/>
                <a:tab pos="99060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,|E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|=λ(G)</a:t>
            </a:r>
            <a:r>
              <a:rPr lang="zh-CN" altLang="ja-JP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G-E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个连通分支是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不妨设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  <a:tab pos="890905" algn="l"/>
                <a:tab pos="99060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显然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</a:rPr>
              <a:t>≤ </a:t>
            </a:r>
            <a:r>
              <a:rPr lang="en-US" altLang="zh-CN" sz="2800" b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 </a:t>
            </a:r>
            <a:r>
              <a:rPr lang="en-US" altLang="zh-CN" sz="2800" b="1" i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 dirty="0">
                <a:solidFill>
                  <a:srgbClr val="000090"/>
                </a:solidFill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 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  <a:tab pos="890905" algn="l"/>
                <a:tab pos="99060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加新边使它成为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baseline="-20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加新边使它成为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baseline="-20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令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G*=K</a:t>
            </a:r>
            <a:r>
              <a:rPr lang="en-US" altLang="zh-CN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∪E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∪K</a:t>
            </a:r>
            <a:r>
              <a:rPr lang="en-US" altLang="zh-CN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baseline="-25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39938" name="Rectangle 27"/>
          <p:cNvSpPr/>
          <p:nvPr/>
        </p:nvSpPr>
        <p:spPr>
          <a:xfrm>
            <a:off x="1233488" y="476250"/>
            <a:ext cx="3186112" cy="631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11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的证明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39939" name="Group 4"/>
          <p:cNvGrpSpPr/>
          <p:nvPr/>
        </p:nvGrpSpPr>
        <p:grpSpPr>
          <a:xfrm>
            <a:off x="900113" y="4508500"/>
            <a:ext cx="3141662" cy="2016125"/>
            <a:chOff x="899592" y="4509120"/>
            <a:chExt cx="3141662" cy="2016224"/>
          </a:xfrm>
        </p:grpSpPr>
        <p:grpSp>
          <p:nvGrpSpPr>
            <p:cNvPr id="39940" name="Group 2"/>
            <p:cNvGrpSpPr/>
            <p:nvPr/>
          </p:nvGrpSpPr>
          <p:grpSpPr>
            <a:xfrm>
              <a:off x="899592" y="4509120"/>
              <a:ext cx="3141662" cy="1469777"/>
              <a:chOff x="899592" y="4911551"/>
              <a:chExt cx="3141662" cy="1469777"/>
            </a:xfrm>
          </p:grpSpPr>
          <p:grpSp>
            <p:nvGrpSpPr>
              <p:cNvPr id="39941" name="Group 1"/>
              <p:cNvGrpSpPr/>
              <p:nvPr/>
            </p:nvGrpSpPr>
            <p:grpSpPr>
              <a:xfrm>
                <a:off x="899592" y="5132982"/>
                <a:ext cx="3141662" cy="1176338"/>
                <a:chOff x="1122363" y="5132982"/>
                <a:chExt cx="3141662" cy="1176338"/>
              </a:xfrm>
            </p:grpSpPr>
            <p:sp>
              <p:nvSpPr>
                <p:cNvPr id="39942" name="Text Box 5"/>
                <p:cNvSpPr txBox="1"/>
                <p:nvPr/>
              </p:nvSpPr>
              <p:spPr>
                <a:xfrm>
                  <a:off x="1536700" y="5480645"/>
                  <a:ext cx="296863" cy="3556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p>
                  <a:pPr defTabSz="802005">
                    <a:lnSpc>
                      <a:spcPts val="2800"/>
                    </a:lnSpc>
                  </a:pPr>
                  <a:r>
                    <a:rPr lang="en-US" altLang="zh-CN" sz="21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G</a:t>
                  </a:r>
                  <a:r>
                    <a:rPr lang="en-US" altLang="zh-CN" sz="14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1400" b="1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43" name="Text Box 6"/>
                <p:cNvSpPr txBox="1"/>
                <p:nvPr/>
              </p:nvSpPr>
              <p:spPr>
                <a:xfrm>
                  <a:off x="3817938" y="5548907"/>
                  <a:ext cx="296862" cy="3556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p>
                  <a:pPr defTabSz="802005">
                    <a:lnSpc>
                      <a:spcPts val="2800"/>
                    </a:lnSpc>
                  </a:pPr>
                  <a:r>
                    <a:rPr lang="en-US" altLang="zh-CN" sz="21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G</a:t>
                  </a:r>
                  <a:r>
                    <a:rPr lang="en-US" altLang="zh-CN" sz="14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2</a:t>
                  </a:r>
                  <a:endParaRPr lang="en-US" altLang="zh-CN" sz="1400" b="1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44" name="Oval 10"/>
                <p:cNvSpPr/>
                <p:nvPr/>
              </p:nvSpPr>
              <p:spPr>
                <a:xfrm>
                  <a:off x="1122363" y="5134570"/>
                  <a:ext cx="1109662" cy="117475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45" name="Oval 11"/>
                <p:cNvSpPr/>
                <p:nvPr/>
              </p:nvSpPr>
              <p:spPr>
                <a:xfrm>
                  <a:off x="3154363" y="5132982"/>
                  <a:ext cx="1109662" cy="117633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46" name="Line 14"/>
                <p:cNvSpPr/>
                <p:nvPr/>
              </p:nvSpPr>
              <p:spPr>
                <a:xfrm>
                  <a:off x="1862138" y="5460007"/>
                  <a:ext cx="147796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47" name="Line 15"/>
                <p:cNvSpPr/>
                <p:nvPr/>
              </p:nvSpPr>
              <p:spPr>
                <a:xfrm>
                  <a:off x="1862138" y="5655270"/>
                  <a:ext cx="147796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48" name="Line 16"/>
                <p:cNvSpPr/>
                <p:nvPr/>
              </p:nvSpPr>
              <p:spPr>
                <a:xfrm>
                  <a:off x="1862138" y="5852120"/>
                  <a:ext cx="147796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49" name="Line 17"/>
                <p:cNvSpPr/>
                <p:nvPr/>
              </p:nvSpPr>
              <p:spPr>
                <a:xfrm>
                  <a:off x="1860550" y="6047382"/>
                  <a:ext cx="147955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9950" name="TextBox 27"/>
              <p:cNvSpPr txBox="1"/>
              <p:nvPr/>
            </p:nvSpPr>
            <p:spPr>
              <a:xfrm>
                <a:off x="2033717" y="4911551"/>
                <a:ext cx="954107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l-GR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λ</a:t>
                </a:r>
                <a:r>
                  <a:rPr lang="zh-CN" altLang="en-US" sz="2400" dirty="0">
                    <a:latin typeface="Tahoma" panose="020B0604030504040204" charset="0"/>
                    <a:ea typeface="宋体" panose="02010600030101010101" pitchFamily="2" charset="-122"/>
                  </a:rPr>
                  <a:t>条边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1" name="Text Box 7"/>
              <p:cNvSpPr txBox="1"/>
              <p:nvPr/>
            </p:nvSpPr>
            <p:spPr>
              <a:xfrm>
                <a:off x="2361084" y="6025728"/>
                <a:ext cx="266700" cy="3556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defTabSz="802005">
                  <a:lnSpc>
                    <a:spcPts val="2800"/>
                  </a:lnSpc>
                </a:pPr>
                <a:r>
                  <a:rPr lang="en-US" altLang="zh-CN" sz="2100" b="1" dirty="0"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400" b="1" dirty="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1400" b="1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952" name="Text Box 7"/>
            <p:cNvSpPr txBox="1"/>
            <p:nvPr/>
          </p:nvSpPr>
          <p:spPr>
            <a:xfrm>
              <a:off x="2361084" y="6164561"/>
              <a:ext cx="239398" cy="3607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400" b="1" dirty="0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53" name="Group 5"/>
          <p:cNvGrpSpPr/>
          <p:nvPr/>
        </p:nvGrpSpPr>
        <p:grpSpPr>
          <a:xfrm>
            <a:off x="4754563" y="4437063"/>
            <a:ext cx="3371850" cy="2089150"/>
            <a:chOff x="4754563" y="4437112"/>
            <a:chExt cx="3371850" cy="2088975"/>
          </a:xfrm>
        </p:grpSpPr>
        <p:grpSp>
          <p:nvGrpSpPr>
            <p:cNvPr id="39954" name="Group 3"/>
            <p:cNvGrpSpPr/>
            <p:nvPr/>
          </p:nvGrpSpPr>
          <p:grpSpPr>
            <a:xfrm>
              <a:off x="4754563" y="4437112"/>
              <a:ext cx="3371850" cy="1897336"/>
              <a:chOff x="4754563" y="4797152"/>
              <a:chExt cx="3371850" cy="1897336"/>
            </a:xfrm>
          </p:grpSpPr>
          <p:sp>
            <p:nvSpPr>
              <p:cNvPr id="39955" name="Text Box 3"/>
              <p:cNvSpPr txBox="1"/>
              <p:nvPr/>
            </p:nvSpPr>
            <p:spPr>
              <a:xfrm>
                <a:off x="7974013" y="6546850"/>
                <a:ext cx="152400" cy="1476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p>
                <a:pPr defTabSz="802005">
                  <a:lnSpc>
                    <a:spcPts val="1125"/>
                  </a:lnSpc>
                </a:pPr>
                <a:r>
                  <a:rPr lang="en-US" altLang="zh-CN" sz="1200" dirty="0">
                    <a:latin typeface="Times New Roman" panose="02020603050405020304" charset="0"/>
                    <a:ea typeface="宋体" panose="02010600030101010101" pitchFamily="2" charset="-122"/>
                  </a:rPr>
                  <a:t>31</a:t>
                </a:r>
                <a:endParaRPr lang="en-US" altLang="zh-CN" sz="12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9956" name="组合 25"/>
              <p:cNvGrpSpPr/>
              <p:nvPr/>
            </p:nvGrpSpPr>
            <p:grpSpPr>
              <a:xfrm>
                <a:off x="4754563" y="5067895"/>
                <a:ext cx="3265487" cy="1177925"/>
                <a:chOff x="4754563" y="4865688"/>
                <a:chExt cx="3265487" cy="1177925"/>
              </a:xfrm>
            </p:grpSpPr>
            <p:sp>
              <p:nvSpPr>
                <p:cNvPr id="39957" name="Text Box 7"/>
                <p:cNvSpPr txBox="1"/>
                <p:nvPr/>
              </p:nvSpPr>
              <p:spPr>
                <a:xfrm>
                  <a:off x="6357938" y="5675313"/>
                  <a:ext cx="266700" cy="3556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p>
                  <a:pPr defTabSz="802005">
                    <a:lnSpc>
                      <a:spcPts val="2800"/>
                    </a:lnSpc>
                  </a:pPr>
                  <a:r>
                    <a:rPr lang="en-US" altLang="zh-CN" sz="21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E</a:t>
                  </a:r>
                  <a:r>
                    <a:rPr lang="en-US" altLang="zh-CN" sz="14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1</a:t>
                  </a:r>
                  <a:endParaRPr lang="en-US" altLang="zh-CN" sz="1400" b="1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58" name="Text Box 8"/>
                <p:cNvSpPr txBox="1"/>
                <p:nvPr/>
              </p:nvSpPr>
              <p:spPr>
                <a:xfrm>
                  <a:off x="5054600" y="5346700"/>
                  <a:ext cx="395288" cy="3556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p>
                  <a:pPr defTabSz="802005">
                    <a:lnSpc>
                      <a:spcPts val="2800"/>
                    </a:lnSpc>
                  </a:pPr>
                  <a:r>
                    <a:rPr lang="en-US" altLang="zh-CN" sz="21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K</a:t>
                  </a:r>
                  <a:r>
                    <a:rPr lang="en-US" altLang="zh-CN" sz="14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n1</a:t>
                  </a:r>
                  <a:endParaRPr lang="en-US" altLang="zh-CN" sz="1400" b="1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59" name="Text Box 9"/>
                <p:cNvSpPr txBox="1"/>
                <p:nvPr/>
              </p:nvSpPr>
              <p:spPr>
                <a:xfrm>
                  <a:off x="7335838" y="5416550"/>
                  <a:ext cx="395287" cy="35560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p>
                  <a:pPr defTabSz="802005">
                    <a:lnSpc>
                      <a:spcPts val="2800"/>
                    </a:lnSpc>
                  </a:pPr>
                  <a:r>
                    <a:rPr lang="en-US" altLang="zh-CN" sz="21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K</a:t>
                  </a:r>
                  <a:r>
                    <a:rPr lang="en-US" altLang="zh-CN" sz="1400" b="1" dirty="0">
                      <a:latin typeface="Times New Roman" panose="02020603050405020304" charset="0"/>
                      <a:ea typeface="宋体" panose="02010600030101010101" pitchFamily="2" charset="-122"/>
                    </a:rPr>
                    <a:t>n2</a:t>
                  </a:r>
                  <a:endParaRPr lang="en-US" altLang="zh-CN" sz="1400" b="1" dirty="0">
                    <a:latin typeface="Times New Roman" panose="020206030504050203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60" name="Oval 12"/>
                <p:cNvSpPr/>
                <p:nvPr/>
              </p:nvSpPr>
              <p:spPr>
                <a:xfrm>
                  <a:off x="4754563" y="4865688"/>
                  <a:ext cx="1109662" cy="117792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61" name="Oval 13"/>
                <p:cNvSpPr/>
                <p:nvPr/>
              </p:nvSpPr>
              <p:spPr>
                <a:xfrm>
                  <a:off x="6910388" y="4865688"/>
                  <a:ext cx="1109662" cy="117633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ahoma" panose="020B060403050404020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962" name="Line 18"/>
                <p:cNvSpPr/>
                <p:nvPr/>
              </p:nvSpPr>
              <p:spPr>
                <a:xfrm>
                  <a:off x="5680075" y="5127625"/>
                  <a:ext cx="1477963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3" name="Line 19"/>
                <p:cNvSpPr/>
                <p:nvPr/>
              </p:nvSpPr>
              <p:spPr>
                <a:xfrm>
                  <a:off x="5680075" y="5322888"/>
                  <a:ext cx="1477963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4" name="Line 20"/>
                <p:cNvSpPr/>
                <p:nvPr/>
              </p:nvSpPr>
              <p:spPr>
                <a:xfrm>
                  <a:off x="5680075" y="5518150"/>
                  <a:ext cx="1477963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5" name="Line 21"/>
                <p:cNvSpPr/>
                <p:nvPr/>
              </p:nvSpPr>
              <p:spPr>
                <a:xfrm>
                  <a:off x="5678488" y="5715000"/>
                  <a:ext cx="147796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6" name="Line 22"/>
                <p:cNvSpPr/>
                <p:nvPr/>
              </p:nvSpPr>
              <p:spPr>
                <a:xfrm flipV="1">
                  <a:off x="5002213" y="5062538"/>
                  <a:ext cx="369887" cy="19526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7" name="Line 23"/>
                <p:cNvSpPr/>
                <p:nvPr/>
              </p:nvSpPr>
              <p:spPr>
                <a:xfrm>
                  <a:off x="5064125" y="5780088"/>
                  <a:ext cx="492125" cy="6508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8" name="Line 24"/>
                <p:cNvSpPr/>
                <p:nvPr/>
              </p:nvSpPr>
              <p:spPr>
                <a:xfrm>
                  <a:off x="7464425" y="5127625"/>
                  <a:ext cx="307975" cy="26193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9969" name="Line 25"/>
                <p:cNvSpPr/>
                <p:nvPr/>
              </p:nvSpPr>
              <p:spPr>
                <a:xfrm>
                  <a:off x="7280275" y="5845175"/>
                  <a:ext cx="4318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9970" name="TextBox 28"/>
              <p:cNvSpPr txBox="1"/>
              <p:nvPr/>
            </p:nvSpPr>
            <p:spPr>
              <a:xfrm>
                <a:off x="5940152" y="4797152"/>
                <a:ext cx="954107" cy="4616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l-GR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λ</a:t>
                </a:r>
                <a:r>
                  <a:rPr lang="zh-CN" altLang="en-US" sz="2400" dirty="0">
                    <a:latin typeface="Tahoma" panose="020B0604030504040204" charset="0"/>
                    <a:ea typeface="宋体" panose="02010600030101010101" pitchFamily="2" charset="-122"/>
                  </a:rPr>
                  <a:t>条边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971" name="Text Box 7"/>
            <p:cNvSpPr txBox="1"/>
            <p:nvPr/>
          </p:nvSpPr>
          <p:spPr>
            <a:xfrm>
              <a:off x="6348826" y="6165304"/>
              <a:ext cx="341991" cy="3607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400" b="1" dirty="0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r>
                <a:rPr lang="zh-CN" altLang="en-US" sz="2400" b="1" baseline="30000" dirty="0">
                  <a:latin typeface="Times New Roman" panose="02020603050405020304" charset="0"/>
                  <a:ea typeface="宋体" panose="02010600030101010101" pitchFamily="2" charset="-122"/>
                </a:rPr>
                <a:t>*</a:t>
              </a:r>
              <a:endParaRPr lang="en-US" altLang="zh-CN" sz="2400" b="1" baseline="30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定理</a:t>
            </a:r>
            <a:r>
              <a:rPr lang="en-US" altLang="zh-CN" dirty="0"/>
              <a:t>11</a:t>
            </a:r>
            <a:r>
              <a:rPr lang="zh-CN" altLang="en-US" dirty="0"/>
              <a:t>的证明</a:t>
            </a:r>
            <a:endParaRPr lang="zh-CN" altLang="en-US" dirty="0"/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下面证明</a:t>
            </a:r>
            <a:r>
              <a:rPr lang="en-US" altLang="zh-CN" err="1">
                <a:solidFill>
                  <a:srgbClr val="000090"/>
                </a:solidFill>
              </a:rPr>
              <a:t>λ</a:t>
            </a:r>
            <a:r>
              <a:rPr lang="en-US" altLang="zh-CN">
                <a:solidFill>
                  <a:srgbClr val="000090"/>
                </a:solidFill>
              </a:rPr>
              <a:t>(G)+2≤</a:t>
            </a:r>
            <a:r>
              <a:rPr lang="en-US" altLang="zh-CN" i="1">
                <a:solidFill>
                  <a:srgbClr val="000090"/>
                </a:solidFill>
              </a:rPr>
              <a:t>n</a:t>
            </a:r>
            <a:r>
              <a:rPr lang="en-US" altLang="zh-CN" sz="1800">
                <a:solidFill>
                  <a:srgbClr val="000090"/>
                </a:solidFill>
              </a:rPr>
              <a:t>1</a:t>
            </a:r>
            <a:endParaRPr lang="en-US" altLang="zh-CN">
              <a:solidFill>
                <a:srgbClr val="000090"/>
              </a:solidFill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err="1"/>
              <a:t>λ</a:t>
            </a:r>
            <a:r>
              <a:rPr lang="en-US" altLang="zh-CN"/>
              <a:t>(G)&lt;</a:t>
            </a:r>
            <a:r>
              <a:rPr lang="en-US" altLang="zh-CN" err="1"/>
              <a:t>δ</a:t>
            </a:r>
            <a:r>
              <a:rPr lang="en-US" altLang="zh-CN"/>
              <a:t>(G)≤</a:t>
            </a:r>
            <a:r>
              <a:rPr lang="en-US" altLang="zh-CN" err="1"/>
              <a:t>δ</a:t>
            </a:r>
            <a:r>
              <a:rPr lang="en-US" altLang="zh-CN"/>
              <a:t>(G*)≤</a:t>
            </a:r>
            <a:r>
              <a:rPr lang="en-US" altLang="zh-CN">
                <a:solidFill>
                  <a:srgbClr val="000090"/>
                </a:solidFill>
              </a:rPr>
              <a:t>n</a:t>
            </a:r>
            <a:r>
              <a:rPr lang="en-US" altLang="zh-CN" baseline="-25000">
                <a:solidFill>
                  <a:srgbClr val="000090"/>
                </a:solidFill>
              </a:rPr>
              <a:t>1</a:t>
            </a:r>
            <a:r>
              <a:rPr lang="en-US" altLang="zh-CN">
                <a:solidFill>
                  <a:srgbClr val="000090"/>
                </a:solidFill>
              </a:rPr>
              <a:t>-1+</a:t>
            </a:r>
            <a:r>
              <a:rPr lang="en-US" altLang="zh-CN">
                <a:solidFill>
                  <a:srgbClr val="000090"/>
                </a:solidFill>
                <a:sym typeface="Symbol" panose="05050102010706020507" charset="2"/>
              </a:rPr>
              <a:t> </a:t>
            </a:r>
            <a:r>
              <a:rPr lang="en-US" altLang="zh-CN" err="1">
                <a:solidFill>
                  <a:srgbClr val="000090"/>
                </a:solidFill>
              </a:rPr>
              <a:t>λ</a:t>
            </a:r>
            <a:r>
              <a:rPr lang="en-US" altLang="zh-CN">
                <a:solidFill>
                  <a:srgbClr val="000090"/>
                </a:solidFill>
              </a:rPr>
              <a:t>(G)/n</a:t>
            </a:r>
            <a:r>
              <a:rPr lang="en-US" altLang="zh-CN" baseline="-25000">
                <a:solidFill>
                  <a:srgbClr val="000090"/>
                </a:solidFill>
              </a:rPr>
              <a:t>1</a:t>
            </a:r>
            <a:r>
              <a:rPr lang="en-US" altLang="zh-CN">
                <a:solidFill>
                  <a:srgbClr val="000090"/>
                </a:solidFill>
                <a:sym typeface="Symbol" panose="05050102010706020507" charset="2"/>
              </a:rPr>
              <a:t></a:t>
            </a:r>
            <a:r>
              <a:rPr lang="en-US" altLang="zh-CN">
                <a:sym typeface="Symbol" panose="05050102010706020507" charset="2"/>
              </a:rPr>
              <a:t>(</a:t>
            </a:r>
            <a:r>
              <a:rPr lang="zh-CN" altLang="en-US" sz="2000">
                <a:solidFill>
                  <a:srgbClr val="FF00FF"/>
                </a:solidFill>
                <a:sym typeface="Symbol" panose="05050102010706020507" charset="2"/>
              </a:rPr>
              <a:t>抽屉原理</a:t>
            </a:r>
            <a:r>
              <a:rPr lang="en-US" altLang="zh-CN">
                <a:sym typeface="Symbol" panose="05050102010706020507" charset="2"/>
              </a:rPr>
              <a:t>)</a:t>
            </a:r>
            <a:endParaRPr lang="en-US" altLang="zh-CN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⇒ </a:t>
            </a:r>
            <a:r>
              <a:rPr lang="en-US" altLang="zh-CN" err="1"/>
              <a:t>λ</a:t>
            </a:r>
            <a:r>
              <a:rPr lang="en-US" altLang="zh-CN"/>
              <a:t>(G)&lt;n</a:t>
            </a:r>
            <a:r>
              <a:rPr lang="en-US" altLang="zh-CN" baseline="-25000"/>
              <a:t>1</a:t>
            </a:r>
            <a:r>
              <a:rPr lang="en-US" altLang="zh-CN"/>
              <a:t>-1+λ(G)/n</a:t>
            </a:r>
            <a:r>
              <a:rPr lang="en-US" altLang="zh-CN" baseline="-25000"/>
              <a:t>1</a:t>
            </a:r>
            <a:r>
              <a:rPr lang="en-US" altLang="zh-CN"/>
              <a:t> ⇔ (n</a:t>
            </a:r>
            <a:r>
              <a:rPr lang="en-US" altLang="zh-CN" baseline="-25000"/>
              <a:t>1</a:t>
            </a:r>
            <a:r>
              <a:rPr lang="en-US" altLang="zh-CN"/>
              <a:t>-1)(n</a:t>
            </a:r>
            <a:r>
              <a:rPr lang="en-US" altLang="zh-CN" baseline="-25000"/>
              <a:t>1</a:t>
            </a:r>
            <a:r>
              <a:rPr lang="en-US" altLang="zh-CN"/>
              <a:t>-λ(G))&gt;0</a:t>
            </a:r>
            <a:r>
              <a:rPr lang="en-US" altLang="zh-CN">
                <a:sym typeface="Symbol" panose="05050102010706020507" charset="2"/>
              </a:rPr>
              <a:t> </a:t>
            </a:r>
            <a:endParaRPr lang="en-US" altLang="zh-CN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⇒ </a:t>
            </a:r>
            <a:r>
              <a:rPr lang="en-US" altLang="zh-CN" err="1"/>
              <a:t>λ</a:t>
            </a:r>
            <a:r>
              <a:rPr lang="en-US" altLang="zh-CN"/>
              <a:t>(G)&lt;n</a:t>
            </a:r>
            <a:r>
              <a:rPr lang="en-US" altLang="zh-CN" baseline="-25000"/>
              <a:t>1</a:t>
            </a:r>
            <a:r>
              <a:rPr lang="en-US" altLang="zh-CN"/>
              <a:t> ⇒ </a:t>
            </a:r>
            <a:r>
              <a:rPr lang="en-US" altLang="zh-CN" err="1"/>
              <a:t>λ</a:t>
            </a:r>
            <a:r>
              <a:rPr lang="en-US" altLang="zh-CN"/>
              <a:t>(G) ≤ n</a:t>
            </a:r>
            <a:r>
              <a:rPr lang="en-US" altLang="zh-CN" baseline="-25000"/>
              <a:t>1</a:t>
            </a:r>
            <a:r>
              <a:rPr lang="en-US" altLang="zh-CN"/>
              <a:t>-1.</a:t>
            </a:r>
            <a:endParaRPr lang="en-US" altLang="zh-CN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err="1"/>
              <a:t>λ</a:t>
            </a:r>
            <a:r>
              <a:rPr lang="en-US" altLang="zh-CN"/>
              <a:t>(G)=n</a:t>
            </a:r>
            <a:r>
              <a:rPr lang="en-US" altLang="zh-CN" baseline="-25000"/>
              <a:t>1</a:t>
            </a:r>
            <a:r>
              <a:rPr lang="en-US" altLang="zh-CN"/>
              <a:t>-1 ⇒</a:t>
            </a:r>
            <a:r>
              <a:rPr lang="en-US" altLang="zh-CN">
                <a:sym typeface="Symbol" panose="05050102010706020507" charset="2"/>
              </a:rPr>
              <a:t></a:t>
            </a:r>
            <a:r>
              <a:rPr lang="en-US" altLang="zh-CN" err="1"/>
              <a:t>λ</a:t>
            </a:r>
            <a:r>
              <a:rPr lang="en-US" altLang="zh-CN"/>
              <a:t>(G)/n</a:t>
            </a:r>
            <a:r>
              <a:rPr lang="en-US" altLang="zh-CN" baseline="-25000"/>
              <a:t>1</a:t>
            </a:r>
            <a:r>
              <a:rPr lang="en-US" altLang="zh-CN">
                <a:sym typeface="Symbol" panose="05050102010706020507" charset="2"/>
              </a:rPr>
              <a:t>=0</a:t>
            </a:r>
            <a:r>
              <a:rPr lang="en-US" altLang="zh-CN"/>
              <a:t>⇒</a:t>
            </a:r>
            <a:r>
              <a:rPr lang="en-US" altLang="zh-CN">
                <a:solidFill>
                  <a:srgbClr val="000090"/>
                </a:solidFill>
              </a:rPr>
              <a:t>n</a:t>
            </a:r>
            <a:r>
              <a:rPr lang="en-US" altLang="zh-CN" baseline="-25000">
                <a:solidFill>
                  <a:srgbClr val="000090"/>
                </a:solidFill>
              </a:rPr>
              <a:t>1</a:t>
            </a:r>
            <a:r>
              <a:rPr lang="en-US" altLang="zh-CN">
                <a:solidFill>
                  <a:srgbClr val="000090"/>
                </a:solidFill>
              </a:rPr>
              <a:t>-1+ </a:t>
            </a:r>
            <a:r>
              <a:rPr lang="en-US" altLang="zh-CN">
                <a:solidFill>
                  <a:srgbClr val="000090"/>
                </a:solidFill>
                <a:sym typeface="Symbol" panose="05050102010706020507" charset="2"/>
              </a:rPr>
              <a:t></a:t>
            </a:r>
            <a:r>
              <a:rPr lang="en-US" altLang="zh-CN" err="1">
                <a:solidFill>
                  <a:srgbClr val="000090"/>
                </a:solidFill>
              </a:rPr>
              <a:t>λ</a:t>
            </a:r>
            <a:r>
              <a:rPr lang="en-US" altLang="zh-CN">
                <a:solidFill>
                  <a:srgbClr val="000090"/>
                </a:solidFill>
              </a:rPr>
              <a:t>(G)/n</a:t>
            </a:r>
            <a:r>
              <a:rPr lang="en-US" altLang="zh-CN" baseline="-25000">
                <a:solidFill>
                  <a:srgbClr val="000090"/>
                </a:solidFill>
              </a:rPr>
              <a:t>1</a:t>
            </a:r>
            <a:r>
              <a:rPr lang="en-US" altLang="zh-CN">
                <a:solidFill>
                  <a:srgbClr val="000090"/>
                </a:solidFill>
                <a:sym typeface="Symbol" panose="05050102010706020507" charset="2"/>
              </a:rPr>
              <a:t></a:t>
            </a:r>
            <a:r>
              <a:rPr lang="en-US" altLang="zh-CN">
                <a:sym typeface="Symbol" panose="05050102010706020507" charset="2"/>
              </a:rPr>
              <a:t>=</a:t>
            </a:r>
            <a:r>
              <a:rPr lang="en-US" altLang="zh-CN"/>
              <a:t>n</a:t>
            </a:r>
            <a:r>
              <a:rPr lang="en-US" altLang="zh-CN" baseline="-25000"/>
              <a:t>1</a:t>
            </a:r>
            <a:r>
              <a:rPr lang="en-US" altLang="zh-CN"/>
              <a:t>-1</a:t>
            </a:r>
            <a:r>
              <a:rPr lang="en-US" altLang="zh-CN">
                <a:solidFill>
                  <a:srgbClr val="000090"/>
                </a:solidFill>
                <a:sym typeface="Symbol" panose="05050102010706020507" charset="2"/>
              </a:rPr>
              <a:t>=</a:t>
            </a:r>
            <a:r>
              <a:rPr lang="en-US" altLang="zh-CN" err="1">
                <a:solidFill>
                  <a:srgbClr val="000090"/>
                </a:solidFill>
              </a:rPr>
              <a:t>λ</a:t>
            </a:r>
            <a:r>
              <a:rPr lang="en-US" altLang="zh-CN">
                <a:solidFill>
                  <a:srgbClr val="000090"/>
                </a:solidFill>
              </a:rPr>
              <a:t>(G)</a:t>
            </a:r>
            <a:r>
              <a:rPr lang="en-US" altLang="zh-CN"/>
              <a:t>. </a:t>
            </a:r>
            <a:endParaRPr lang="en-US" altLang="zh-CN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⇒ </a:t>
            </a:r>
            <a:r>
              <a:rPr lang="en-US" altLang="zh-CN" err="1"/>
              <a:t>λ</a:t>
            </a:r>
            <a:r>
              <a:rPr lang="en-US" altLang="zh-CN"/>
              <a:t>(G)&lt;</a:t>
            </a:r>
            <a:r>
              <a:rPr lang="en-US" altLang="zh-CN" err="1"/>
              <a:t>δ</a:t>
            </a:r>
            <a:r>
              <a:rPr lang="en-US" altLang="zh-CN"/>
              <a:t>(G)≤</a:t>
            </a:r>
            <a:r>
              <a:rPr lang="en-US" altLang="zh-CN" err="1"/>
              <a:t>δ</a:t>
            </a:r>
            <a:r>
              <a:rPr lang="en-US" altLang="zh-CN"/>
              <a:t>(G*)≤</a:t>
            </a:r>
            <a:r>
              <a:rPr lang="en-US" altLang="zh-CN" err="1"/>
              <a:t>λ</a:t>
            </a:r>
            <a:r>
              <a:rPr lang="en-US" altLang="zh-CN"/>
              <a:t>(G) </a:t>
            </a:r>
            <a:r>
              <a:rPr lang="zh-CN" altLang="en-US"/>
              <a:t>,显然矛盾</a:t>
            </a:r>
            <a:r>
              <a:rPr lang="zh-CN" altLang="zh-CN"/>
              <a:t>.</a:t>
            </a:r>
            <a:endParaRPr lang="en-US" altLang="zh-CN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所以</a:t>
            </a:r>
            <a:r>
              <a:rPr lang="en-US" altLang="zh-CN" err="1"/>
              <a:t>λ</a:t>
            </a:r>
            <a:r>
              <a:rPr lang="en-US" altLang="zh-CN"/>
              <a:t>(G)&lt;n</a:t>
            </a:r>
            <a:r>
              <a:rPr lang="en-US" altLang="zh-CN" baseline="-25000"/>
              <a:t>1</a:t>
            </a:r>
            <a:r>
              <a:rPr lang="en-US" altLang="zh-CN"/>
              <a:t>-1 ⇒ </a:t>
            </a:r>
            <a:r>
              <a:rPr lang="en-US" altLang="zh-CN" err="1"/>
              <a:t>λ</a:t>
            </a:r>
            <a:r>
              <a:rPr lang="en-US" altLang="zh-CN"/>
              <a:t>(G) ≤ n</a:t>
            </a:r>
            <a:r>
              <a:rPr lang="en-US" altLang="zh-CN" baseline="-25000"/>
              <a:t>1</a:t>
            </a:r>
            <a:r>
              <a:rPr lang="en-US" altLang="zh-CN"/>
              <a:t>-2 ⇒</a:t>
            </a:r>
            <a:r>
              <a:rPr lang="en-US" altLang="zh-CN" err="1"/>
              <a:t>λ</a:t>
            </a:r>
            <a:r>
              <a:rPr lang="en-US" altLang="zh-CN"/>
              <a:t>(G)+2≤n</a:t>
            </a:r>
            <a:r>
              <a:rPr lang="en-US" altLang="zh-CN" baseline="-25000"/>
              <a:t>1</a:t>
            </a:r>
            <a:r>
              <a:rPr lang="en-US" altLang="zh-CN"/>
              <a:t>. </a:t>
            </a:r>
            <a:endParaRPr lang="zh-CN" altLang="en-US"/>
          </a:p>
        </p:txBody>
      </p:sp>
      <p:grpSp>
        <p:nvGrpSpPr>
          <p:cNvPr id="40963" name="组合 4"/>
          <p:cNvGrpSpPr/>
          <p:nvPr/>
        </p:nvGrpSpPr>
        <p:grpSpPr>
          <a:xfrm>
            <a:off x="1979613" y="5300663"/>
            <a:ext cx="3265487" cy="1177925"/>
            <a:chOff x="4754563" y="4865688"/>
            <a:chExt cx="3265487" cy="1177925"/>
          </a:xfrm>
        </p:grpSpPr>
        <p:sp>
          <p:nvSpPr>
            <p:cNvPr id="40964" name="Text Box 7"/>
            <p:cNvSpPr txBox="1"/>
            <p:nvPr/>
          </p:nvSpPr>
          <p:spPr>
            <a:xfrm>
              <a:off x="6357938" y="5675313"/>
              <a:ext cx="266700" cy="355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E</a:t>
              </a:r>
              <a:r>
                <a:rPr lang="en-US" altLang="zh-CN" sz="1400" b="1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0965" name="Text Box 8"/>
            <p:cNvSpPr txBox="1"/>
            <p:nvPr/>
          </p:nvSpPr>
          <p:spPr>
            <a:xfrm>
              <a:off x="5054600" y="5346700"/>
              <a:ext cx="395288" cy="355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sz="1400" b="1" dirty="0">
                  <a:latin typeface="Times New Roman" panose="02020603050405020304" charset="0"/>
                  <a:ea typeface="宋体" panose="02010600030101010101" pitchFamily="2" charset="-122"/>
                </a:rPr>
                <a:t>n1</a:t>
              </a:r>
              <a:endParaRPr lang="en-US" altLang="zh-CN" sz="1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0966" name="Text Box 9"/>
            <p:cNvSpPr txBox="1"/>
            <p:nvPr/>
          </p:nvSpPr>
          <p:spPr>
            <a:xfrm>
              <a:off x="7335838" y="5416550"/>
              <a:ext cx="395287" cy="355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sz="1400" b="1" dirty="0">
                  <a:latin typeface="Times New Roman" panose="02020603050405020304" charset="0"/>
                  <a:ea typeface="宋体" panose="02010600030101010101" pitchFamily="2" charset="-122"/>
                </a:rPr>
                <a:t>n2</a:t>
              </a:r>
              <a:endParaRPr lang="en-US" altLang="zh-CN" sz="1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0967" name="Oval 12"/>
            <p:cNvSpPr/>
            <p:nvPr/>
          </p:nvSpPr>
          <p:spPr>
            <a:xfrm>
              <a:off x="4754563" y="4865688"/>
              <a:ext cx="1109662" cy="117792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0968" name="Oval 13"/>
            <p:cNvSpPr/>
            <p:nvPr/>
          </p:nvSpPr>
          <p:spPr>
            <a:xfrm>
              <a:off x="6910388" y="4865688"/>
              <a:ext cx="1109662" cy="117633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0969" name="Line 18"/>
            <p:cNvSpPr/>
            <p:nvPr/>
          </p:nvSpPr>
          <p:spPr>
            <a:xfrm>
              <a:off x="5680075" y="5127625"/>
              <a:ext cx="14779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0" name="Line 19"/>
            <p:cNvSpPr/>
            <p:nvPr/>
          </p:nvSpPr>
          <p:spPr>
            <a:xfrm>
              <a:off x="5680075" y="5322888"/>
              <a:ext cx="14779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1" name="Line 20"/>
            <p:cNvSpPr/>
            <p:nvPr/>
          </p:nvSpPr>
          <p:spPr>
            <a:xfrm>
              <a:off x="5680075" y="5518150"/>
              <a:ext cx="14779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2" name="Line 21"/>
            <p:cNvSpPr/>
            <p:nvPr/>
          </p:nvSpPr>
          <p:spPr>
            <a:xfrm>
              <a:off x="5678488" y="5715000"/>
              <a:ext cx="14779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3" name="Line 22"/>
            <p:cNvSpPr/>
            <p:nvPr/>
          </p:nvSpPr>
          <p:spPr>
            <a:xfrm flipV="1">
              <a:off x="5002213" y="5062538"/>
              <a:ext cx="369887" cy="1952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4" name="Line 23"/>
            <p:cNvSpPr/>
            <p:nvPr/>
          </p:nvSpPr>
          <p:spPr>
            <a:xfrm>
              <a:off x="5064125" y="5780088"/>
              <a:ext cx="492125" cy="650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5" name="Line 24"/>
            <p:cNvSpPr/>
            <p:nvPr/>
          </p:nvSpPr>
          <p:spPr>
            <a:xfrm>
              <a:off x="7464425" y="5127625"/>
              <a:ext cx="307975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6" name="Line 25"/>
            <p:cNvSpPr/>
            <p:nvPr/>
          </p:nvSpPr>
          <p:spPr>
            <a:xfrm>
              <a:off x="7280275" y="5845175"/>
              <a:ext cx="4318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0977" name="Text Box 3"/>
          <p:cNvSpPr txBox="1"/>
          <p:nvPr/>
        </p:nvSpPr>
        <p:spPr>
          <a:xfrm>
            <a:off x="7974013" y="6186488"/>
            <a:ext cx="152400" cy="1476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31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33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1986" name="Text Box 4"/>
          <p:cNvSpPr txBox="1"/>
          <p:nvPr/>
        </p:nvSpPr>
        <p:spPr>
          <a:xfrm>
            <a:off x="539750" y="1360488"/>
            <a:ext cx="8135938" cy="44592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200025" algn="l"/>
                <a:tab pos="288925" algn="l"/>
                <a:tab pos="300355" algn="l"/>
                <a:tab pos="790575" algn="l"/>
                <a:tab pos="1968500" algn="l"/>
              </a:tabLst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(1) δ(G)≤δ(G*)≤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-1≤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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00025" algn="l"/>
                <a:tab pos="288925" algn="l"/>
                <a:tab pos="300355" algn="l"/>
                <a:tab pos="790575" algn="l"/>
                <a:tab pos="196850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(2) G*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中有不相邻顶点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使得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)+d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-2	(3) d(G)≥d(G*)≥3</a:t>
            </a:r>
            <a:endParaRPr lang="el-GR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00025" algn="l"/>
                <a:tab pos="288925" algn="l"/>
                <a:tab pos="300355" algn="l"/>
                <a:tab pos="790575" algn="l"/>
                <a:tab pos="1968500" algn="l"/>
              </a:tabLst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(2)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因为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λ(G)&lt;δ(G),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不是完全图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必存在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∈G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∈G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在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中不相邻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那么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在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中仍然不相邻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d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≤n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-1, d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)≤n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故而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00025" algn="l"/>
                <a:tab pos="288925" algn="l"/>
                <a:tab pos="300355" algn="l"/>
                <a:tab pos="790575" algn="l"/>
                <a:tab pos="196850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d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)+d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G*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)≤n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-1+n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-2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00025" algn="l"/>
                <a:tab pos="288925" algn="l"/>
                <a:tab pos="300355" algn="l"/>
                <a:tab pos="790575" algn="l"/>
                <a:tab pos="196850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 d(G)≥d(G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*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)≥d(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≥3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1987" name="Rectangle 17"/>
          <p:cNvSpPr/>
          <p:nvPr/>
        </p:nvSpPr>
        <p:spPr>
          <a:xfrm>
            <a:off x="1292225" y="404813"/>
            <a:ext cx="3165475" cy="692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9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11</a:t>
            </a:r>
            <a:r>
              <a:rPr lang="zh-CN" altLang="en-US" sz="39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的推论</a:t>
            </a:r>
            <a:endParaRPr lang="zh-CN" altLang="en-US" sz="3900" b="1" dirty="0">
              <a:solidFill>
                <a:schemeClr val="tx2"/>
              </a:solidFill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41988" name="Group 3"/>
          <p:cNvGrpSpPr/>
          <p:nvPr/>
        </p:nvGrpSpPr>
        <p:grpSpPr>
          <a:xfrm>
            <a:off x="5926138" y="4937125"/>
            <a:ext cx="2525712" cy="1371600"/>
            <a:chOff x="5926138" y="4937720"/>
            <a:chExt cx="2525712" cy="1371600"/>
          </a:xfrm>
        </p:grpSpPr>
        <p:grpSp>
          <p:nvGrpSpPr>
            <p:cNvPr id="41989" name="Group 1"/>
            <p:cNvGrpSpPr/>
            <p:nvPr/>
          </p:nvGrpSpPr>
          <p:grpSpPr>
            <a:xfrm>
              <a:off x="5926138" y="4937720"/>
              <a:ext cx="2525712" cy="1371600"/>
              <a:chOff x="5926138" y="4937720"/>
              <a:chExt cx="2525712" cy="1371600"/>
            </a:xfrm>
          </p:grpSpPr>
          <p:sp>
            <p:nvSpPr>
              <p:cNvPr id="41990" name="Oval 5"/>
              <p:cNvSpPr/>
              <p:nvPr/>
            </p:nvSpPr>
            <p:spPr>
              <a:xfrm>
                <a:off x="6235700" y="5329832"/>
                <a:ext cx="122238" cy="128588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91" name="Oval 6"/>
              <p:cNvSpPr/>
              <p:nvPr/>
            </p:nvSpPr>
            <p:spPr>
              <a:xfrm>
                <a:off x="6727825" y="5591770"/>
                <a:ext cx="123825" cy="128587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92" name="Oval 7"/>
              <p:cNvSpPr/>
              <p:nvPr/>
            </p:nvSpPr>
            <p:spPr>
              <a:xfrm>
                <a:off x="7527925" y="5591770"/>
                <a:ext cx="122238" cy="128587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93" name="Oval 8"/>
              <p:cNvSpPr/>
              <p:nvPr/>
            </p:nvSpPr>
            <p:spPr>
              <a:xfrm>
                <a:off x="7958138" y="5132982"/>
                <a:ext cx="123825" cy="130175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94" name="Line 9"/>
              <p:cNvSpPr/>
              <p:nvPr/>
            </p:nvSpPr>
            <p:spPr>
              <a:xfrm>
                <a:off x="6356350" y="5394920"/>
                <a:ext cx="431800" cy="26035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95" name="Line 10"/>
              <p:cNvSpPr/>
              <p:nvPr/>
            </p:nvSpPr>
            <p:spPr>
              <a:xfrm>
                <a:off x="6850063" y="5655270"/>
                <a:ext cx="73977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96" name="Line 11"/>
              <p:cNvSpPr/>
              <p:nvPr/>
            </p:nvSpPr>
            <p:spPr>
              <a:xfrm flipV="1">
                <a:off x="7650163" y="5199657"/>
                <a:ext cx="369887" cy="45561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997" name="Oval 12"/>
              <p:cNvSpPr/>
              <p:nvPr/>
            </p:nvSpPr>
            <p:spPr>
              <a:xfrm>
                <a:off x="5926138" y="4937720"/>
                <a:ext cx="985837" cy="1371600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98" name="Oval 13"/>
              <p:cNvSpPr/>
              <p:nvPr/>
            </p:nvSpPr>
            <p:spPr>
              <a:xfrm>
                <a:off x="7466013" y="4937720"/>
                <a:ext cx="985837" cy="1371600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99" name="Line 14"/>
              <p:cNvSpPr/>
              <p:nvPr/>
            </p:nvSpPr>
            <p:spPr>
              <a:xfrm>
                <a:off x="6788150" y="5460007"/>
                <a:ext cx="8016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00" name="Line 15"/>
              <p:cNvSpPr/>
              <p:nvPr/>
            </p:nvSpPr>
            <p:spPr>
              <a:xfrm>
                <a:off x="6788150" y="5852120"/>
                <a:ext cx="86201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01" name="TextBox 2"/>
            <p:cNvSpPr txBox="1"/>
            <p:nvPr/>
          </p:nvSpPr>
          <p:spPr>
            <a:xfrm>
              <a:off x="6156325" y="5301258"/>
              <a:ext cx="457200" cy="4619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i="1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en-US" altLang="zh-CN" sz="2400" b="1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2002" name="TextBox 17"/>
            <p:cNvSpPr txBox="1"/>
            <p:nvPr/>
          </p:nvSpPr>
          <p:spPr>
            <a:xfrm>
              <a:off x="7948613" y="5156795"/>
              <a:ext cx="422275" cy="4619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i="1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400" b="1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34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3010" name="Text Box 4"/>
          <p:cNvSpPr txBox="1"/>
          <p:nvPr/>
        </p:nvSpPr>
        <p:spPr>
          <a:xfrm>
            <a:off x="684213" y="1411288"/>
            <a:ext cx="7572375" cy="334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300355" algn="l"/>
                <a:tab pos="138112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6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阶及以上连通简单无向图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  <a:tab pos="13811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(1) δ(G)≥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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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⇒ λ(G)=δ(G)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  <a:tab pos="13811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若任意一对不相邻顶点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都有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d(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)+d(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)≥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  <a:tab pos="138112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  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λ(G)=δ(G).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  <a:tab pos="13811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 d(G)≤2 ⇒ λ(G)=δ(G).   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  <a:tab pos="1381125" algn="l"/>
              </a:tabLst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7.11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的推论的逆否命题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3011" name="Rectangle 6"/>
          <p:cNvSpPr/>
          <p:nvPr/>
        </p:nvSpPr>
        <p:spPr>
          <a:xfrm>
            <a:off x="1176338" y="404813"/>
            <a:ext cx="5902325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12(λ=δ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的充分条件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Text Box 4"/>
          <p:cNvSpPr txBox="1"/>
          <p:nvPr/>
        </p:nvSpPr>
        <p:spPr>
          <a:xfrm>
            <a:off x="754063" y="1139825"/>
            <a:ext cx="7100887" cy="692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</a:tabLst>
            </a:pPr>
            <a:endParaRPr lang="en-US" altLang="zh-CN" sz="3900" b="1" dirty="0">
              <a:solidFill>
                <a:schemeClr val="hlink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13: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阶简单连通无向非完全图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4034" name="Text Box 6"/>
          <p:cNvSpPr txBox="1"/>
          <p:nvPr/>
        </p:nvSpPr>
        <p:spPr>
          <a:xfrm>
            <a:off x="2700338" y="1916113"/>
            <a:ext cx="2774950" cy="4365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3425"/>
              </a:lnSpc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2δ(G)-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+2 ≤ κ(G).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4035" name="Text Box 7"/>
          <p:cNvSpPr txBox="1"/>
          <p:nvPr/>
        </p:nvSpPr>
        <p:spPr>
          <a:xfrm>
            <a:off x="684213" y="2492375"/>
            <a:ext cx="8064500" cy="2051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1503680" algn="l"/>
                <a:tab pos="424180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|V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|=κ(G),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G-V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的连通分支是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,…,G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(s≥2),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1503680" algn="l"/>
                <a:tab pos="424180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)|+…+|V(G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1503680" algn="l"/>
                <a:tab pos="4241800" algn="l"/>
              </a:tabLst>
            </a:pP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+κ(G)=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4036" name="Rectangle 32"/>
          <p:cNvSpPr/>
          <p:nvPr/>
        </p:nvSpPr>
        <p:spPr>
          <a:xfrm>
            <a:off x="1239838" y="511175"/>
            <a:ext cx="167640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13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4037" name="Group 4"/>
          <p:cNvGrpSpPr/>
          <p:nvPr/>
        </p:nvGrpSpPr>
        <p:grpSpPr>
          <a:xfrm>
            <a:off x="2293938" y="4076700"/>
            <a:ext cx="5832475" cy="2617788"/>
            <a:chOff x="2293938" y="4077072"/>
            <a:chExt cx="5832475" cy="2617416"/>
          </a:xfrm>
        </p:grpSpPr>
        <p:sp>
          <p:nvSpPr>
            <p:cNvPr id="44038" name="Text Box 3"/>
            <p:cNvSpPr txBox="1"/>
            <p:nvPr/>
          </p:nvSpPr>
          <p:spPr>
            <a:xfrm>
              <a:off x="7974013" y="6546850"/>
              <a:ext cx="152400" cy="1476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1125"/>
                </a:lnSpc>
              </a:pPr>
              <a:r>
                <a:rPr lang="en-US" altLang="zh-CN" sz="1200" dirty="0">
                  <a:latin typeface="Times New Roman" panose="02020603050405020304" charset="0"/>
                  <a:ea typeface="宋体" panose="02010600030101010101" pitchFamily="2" charset="-122"/>
                </a:rPr>
                <a:t>35</a:t>
              </a:r>
              <a:endParaRPr lang="en-US" altLang="zh-CN" sz="12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44039" name="Group 1"/>
            <p:cNvGrpSpPr/>
            <p:nvPr/>
          </p:nvGrpSpPr>
          <p:grpSpPr>
            <a:xfrm>
              <a:off x="2293938" y="4592638"/>
              <a:ext cx="4171473" cy="1628196"/>
              <a:chOff x="2293938" y="4592638"/>
              <a:chExt cx="4171473" cy="1628196"/>
            </a:xfrm>
          </p:grpSpPr>
          <p:sp>
            <p:nvSpPr>
              <p:cNvPr id="44040" name="Oval 8"/>
              <p:cNvSpPr/>
              <p:nvPr/>
            </p:nvSpPr>
            <p:spPr>
              <a:xfrm>
                <a:off x="2722563" y="4722813"/>
                <a:ext cx="617537" cy="130651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1" name="Oval 9"/>
              <p:cNvSpPr/>
              <p:nvPr/>
            </p:nvSpPr>
            <p:spPr>
              <a:xfrm>
                <a:off x="5494338" y="4656138"/>
                <a:ext cx="431800" cy="45878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2" name="Oval 10"/>
              <p:cNvSpPr/>
              <p:nvPr/>
            </p:nvSpPr>
            <p:spPr>
              <a:xfrm>
                <a:off x="5494338" y="5114925"/>
                <a:ext cx="431800" cy="457200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3" name="Oval 11"/>
              <p:cNvSpPr/>
              <p:nvPr/>
            </p:nvSpPr>
            <p:spPr>
              <a:xfrm>
                <a:off x="5494338" y="5572125"/>
                <a:ext cx="431800" cy="45878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4" name="Rectangle 12"/>
              <p:cNvSpPr/>
              <p:nvPr/>
            </p:nvSpPr>
            <p:spPr>
              <a:xfrm>
                <a:off x="2293938" y="5118100"/>
                <a:ext cx="503868" cy="479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0156" tIns="40078" rIns="80156" bIns="40078" anchor="t" anchorCtr="0">
                <a:spAutoFit/>
              </a:bodyPr>
              <a:p>
                <a:pPr defTabSz="802005">
                  <a:lnSpc>
                    <a:spcPts val="3150"/>
                  </a:lnSpc>
                </a:pPr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="1" baseline="-25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5" name="Rectangle 13"/>
              <p:cNvSpPr/>
              <p:nvPr/>
            </p:nvSpPr>
            <p:spPr>
              <a:xfrm>
                <a:off x="5865813" y="5770563"/>
                <a:ext cx="599598" cy="450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0156" tIns="40078" rIns="80156" bIns="40078" anchor="t" anchorCtr="0">
                <a:spAutoFit/>
              </a:bodyPr>
              <a:p>
                <a:pPr defTabSz="802005"/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i="1" dirty="0">
                    <a:latin typeface="Times New Roman" panose="02020603050405020304" charset="0"/>
                    <a:ea typeface="宋体" panose="02010600030101010101" pitchFamily="2" charset="-122"/>
                  </a:rPr>
                  <a:t>s</a:t>
                </a:r>
                <a:endParaRPr lang="en-US" altLang="zh-CN" sz="2400" b="1" i="1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6" name="Rectangle 14"/>
              <p:cNvSpPr/>
              <p:nvPr/>
            </p:nvSpPr>
            <p:spPr>
              <a:xfrm>
                <a:off x="5865813" y="4592638"/>
                <a:ext cx="503868" cy="450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0156" tIns="40078" rIns="80156" bIns="40078" anchor="t" anchorCtr="0">
                <a:spAutoFit/>
              </a:bodyPr>
              <a:p>
                <a:pPr defTabSz="802005"/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="1" baseline="-25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7" name="Line 15"/>
              <p:cNvSpPr/>
              <p:nvPr/>
            </p:nvSpPr>
            <p:spPr>
              <a:xfrm>
                <a:off x="6049963" y="4918075"/>
                <a:ext cx="0" cy="8509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48" name="Rectangle 16"/>
              <p:cNvSpPr/>
              <p:nvPr/>
            </p:nvSpPr>
            <p:spPr>
              <a:xfrm>
                <a:off x="4202113" y="4656138"/>
                <a:ext cx="430212" cy="137318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49" name="Oval 17"/>
              <p:cNvSpPr/>
              <p:nvPr/>
            </p:nvSpPr>
            <p:spPr>
              <a:xfrm>
                <a:off x="4325938" y="4854575"/>
                <a:ext cx="122237" cy="128588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0" name="Oval 18"/>
              <p:cNvSpPr/>
              <p:nvPr/>
            </p:nvSpPr>
            <p:spPr>
              <a:xfrm>
                <a:off x="4325938" y="5180013"/>
                <a:ext cx="122237" cy="128587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1" name="Oval 19"/>
              <p:cNvSpPr/>
              <p:nvPr/>
            </p:nvSpPr>
            <p:spPr>
              <a:xfrm>
                <a:off x="4325938" y="5572125"/>
                <a:ext cx="122237" cy="130175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2" name="Line 20"/>
              <p:cNvSpPr/>
              <p:nvPr/>
            </p:nvSpPr>
            <p:spPr>
              <a:xfrm>
                <a:off x="3155950" y="4918075"/>
                <a:ext cx="11699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3" name="Line 21"/>
              <p:cNvSpPr/>
              <p:nvPr/>
            </p:nvSpPr>
            <p:spPr>
              <a:xfrm>
                <a:off x="4448175" y="4918075"/>
                <a:ext cx="12319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4" name="Line 22"/>
              <p:cNvSpPr/>
              <p:nvPr/>
            </p:nvSpPr>
            <p:spPr>
              <a:xfrm>
                <a:off x="3155950" y="5049838"/>
                <a:ext cx="1169988" cy="1301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5" name="Line 23"/>
              <p:cNvSpPr/>
              <p:nvPr/>
            </p:nvSpPr>
            <p:spPr>
              <a:xfrm flipV="1">
                <a:off x="3155950" y="5245100"/>
                <a:ext cx="1169988" cy="650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6" name="Line 24"/>
              <p:cNvSpPr/>
              <p:nvPr/>
            </p:nvSpPr>
            <p:spPr>
              <a:xfrm flipV="1">
                <a:off x="4448175" y="4918075"/>
                <a:ext cx="1231900" cy="3270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7" name="Line 25"/>
              <p:cNvSpPr/>
              <p:nvPr/>
            </p:nvSpPr>
            <p:spPr>
              <a:xfrm>
                <a:off x="4448175" y="5245100"/>
                <a:ext cx="1231900" cy="5873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8" name="Line 26"/>
              <p:cNvSpPr/>
              <p:nvPr/>
            </p:nvSpPr>
            <p:spPr>
              <a:xfrm>
                <a:off x="4387850" y="4918075"/>
                <a:ext cx="1354138" cy="457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59" name="Line 27"/>
              <p:cNvSpPr/>
              <p:nvPr/>
            </p:nvSpPr>
            <p:spPr>
              <a:xfrm>
                <a:off x="3155950" y="5441950"/>
                <a:ext cx="1169988" cy="1952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0" name="Line 28"/>
              <p:cNvSpPr/>
              <p:nvPr/>
            </p:nvSpPr>
            <p:spPr>
              <a:xfrm flipV="1">
                <a:off x="3155950" y="5637213"/>
                <a:ext cx="1169988" cy="6508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1" name="Line 29"/>
              <p:cNvSpPr/>
              <p:nvPr/>
            </p:nvSpPr>
            <p:spPr>
              <a:xfrm flipV="1">
                <a:off x="4448175" y="5375275"/>
                <a:ext cx="1293813" cy="26193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4062" name="Line 30"/>
              <p:cNvSpPr/>
              <p:nvPr/>
            </p:nvSpPr>
            <p:spPr>
              <a:xfrm>
                <a:off x="4387850" y="5637213"/>
                <a:ext cx="1292225" cy="1952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4063" name="Rectangle 2"/>
            <p:cNvSpPr/>
            <p:nvPr/>
          </p:nvSpPr>
          <p:spPr>
            <a:xfrm>
              <a:off x="4283968" y="4077072"/>
              <a:ext cx="35553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dirty="0">
                  <a:latin typeface="Times New Roman" panose="02020603050405020304" charset="0"/>
                  <a:ea typeface="黑体" panose="02010609060101010101" charset="-122"/>
                </a:rPr>
                <a:t>κ</a:t>
              </a:r>
              <a:endParaRPr lang="en-US" altLang="zh-CN" sz="24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064" name="Rectangle 3"/>
            <p:cNvSpPr/>
            <p:nvPr/>
          </p:nvSpPr>
          <p:spPr>
            <a:xfrm>
              <a:off x="2747756" y="6021288"/>
              <a:ext cx="471253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  <a:ea typeface="黑体" panose="02010609060101010101" charset="-122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charset="0"/>
                  <a:ea typeface="黑体" panose="02010609060101010101" charset="-122"/>
                </a:rPr>
                <a:t>1</a:t>
              </a:r>
              <a:endParaRPr lang="en-US" altLang="zh-CN" sz="2400" baseline="-25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065" name="Rectangle 33"/>
            <p:cNvSpPr/>
            <p:nvPr/>
          </p:nvSpPr>
          <p:spPr>
            <a:xfrm>
              <a:off x="5506671" y="6021288"/>
              <a:ext cx="54541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  <a:ea typeface="黑体" panose="02010609060101010101" charset="-122"/>
                </a:rPr>
                <a:t>n</a:t>
              </a:r>
              <a:r>
                <a:rPr lang="en-US" altLang="zh-CN" sz="2400" b="1" baseline="-25000" dirty="0">
                  <a:latin typeface="Times New Roman" panose="02020603050405020304" charset="0"/>
                  <a:ea typeface="黑体" panose="02010609060101010101" charset="-122"/>
                </a:rPr>
                <a:t>2</a:t>
              </a:r>
              <a:endParaRPr lang="en-US" altLang="zh-CN" sz="2400" baseline="-25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36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5058" name="Text Box 4"/>
          <p:cNvSpPr txBox="1"/>
          <p:nvPr/>
        </p:nvSpPr>
        <p:spPr>
          <a:xfrm>
            <a:off x="611188" y="1368425"/>
            <a:ext cx="7515225" cy="2222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288925" algn="l"/>
                <a:tab pos="300355" algn="l"/>
                <a:tab pos="1603375" algn="l"/>
                <a:tab pos="434213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δ(G)≤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-1+κ(G)=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+κ(G)-1,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88925" algn="l"/>
                <a:tab pos="300355" algn="l"/>
                <a:tab pos="1603375" algn="l"/>
                <a:tab pos="434213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同理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δ(G)≤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+κ(G)-1,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88925" algn="l"/>
                <a:tab pos="300355" algn="l"/>
                <a:tab pos="1603375" algn="l"/>
                <a:tab pos="434213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2δ(G) ≤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+κ(G)+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+κ(G)-2 =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+κ(G)-2,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288925" algn="l"/>
                <a:tab pos="300355" algn="l"/>
                <a:tab pos="1603375" algn="l"/>
                <a:tab pos="434213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即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κ(G) ≥ 2δ(G)-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+2.  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5059" name="Rectangle 30"/>
          <p:cNvSpPr/>
          <p:nvPr/>
        </p:nvSpPr>
        <p:spPr>
          <a:xfrm>
            <a:off x="1176338" y="444500"/>
            <a:ext cx="3186112" cy="692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13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的证明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5060" name="Group 28"/>
          <p:cNvGrpSpPr/>
          <p:nvPr/>
        </p:nvGrpSpPr>
        <p:grpSpPr>
          <a:xfrm>
            <a:off x="1476375" y="3789363"/>
            <a:ext cx="5832475" cy="2617787"/>
            <a:chOff x="2293938" y="4077072"/>
            <a:chExt cx="5832475" cy="2617416"/>
          </a:xfrm>
        </p:grpSpPr>
        <p:sp>
          <p:nvSpPr>
            <p:cNvPr id="45061" name="Text Box 3"/>
            <p:cNvSpPr txBox="1"/>
            <p:nvPr/>
          </p:nvSpPr>
          <p:spPr>
            <a:xfrm>
              <a:off x="7974013" y="6546850"/>
              <a:ext cx="152400" cy="1476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1125"/>
                </a:lnSpc>
              </a:pPr>
              <a:r>
                <a:rPr lang="en-US" altLang="zh-CN" sz="1200" dirty="0">
                  <a:latin typeface="Times New Roman" panose="02020603050405020304" charset="0"/>
                  <a:ea typeface="宋体" panose="02010600030101010101" pitchFamily="2" charset="-122"/>
                </a:rPr>
                <a:t>35</a:t>
              </a:r>
              <a:endParaRPr lang="en-US" altLang="zh-CN" sz="12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45062" name="Group 30"/>
            <p:cNvGrpSpPr/>
            <p:nvPr/>
          </p:nvGrpSpPr>
          <p:grpSpPr>
            <a:xfrm>
              <a:off x="2293938" y="4592638"/>
              <a:ext cx="4171473" cy="1628196"/>
              <a:chOff x="2293938" y="4592638"/>
              <a:chExt cx="4171473" cy="1628196"/>
            </a:xfrm>
          </p:grpSpPr>
          <p:sp>
            <p:nvSpPr>
              <p:cNvPr id="45063" name="Oval 8"/>
              <p:cNvSpPr/>
              <p:nvPr/>
            </p:nvSpPr>
            <p:spPr>
              <a:xfrm>
                <a:off x="2722563" y="4722813"/>
                <a:ext cx="617537" cy="130651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64" name="Oval 9"/>
              <p:cNvSpPr/>
              <p:nvPr/>
            </p:nvSpPr>
            <p:spPr>
              <a:xfrm>
                <a:off x="5494338" y="4656138"/>
                <a:ext cx="431800" cy="45878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65" name="Oval 10"/>
              <p:cNvSpPr/>
              <p:nvPr/>
            </p:nvSpPr>
            <p:spPr>
              <a:xfrm>
                <a:off x="5494338" y="5114925"/>
                <a:ext cx="431800" cy="457200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66" name="Oval 11"/>
              <p:cNvSpPr/>
              <p:nvPr/>
            </p:nvSpPr>
            <p:spPr>
              <a:xfrm>
                <a:off x="5494338" y="5572125"/>
                <a:ext cx="431800" cy="45878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67" name="Rectangle 12"/>
              <p:cNvSpPr/>
              <p:nvPr/>
            </p:nvSpPr>
            <p:spPr>
              <a:xfrm>
                <a:off x="2293938" y="5118100"/>
                <a:ext cx="503868" cy="4791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0156" tIns="40078" rIns="80156" bIns="40078" anchor="t" anchorCtr="0">
                <a:spAutoFit/>
              </a:bodyPr>
              <a:p>
                <a:pPr defTabSz="802005">
                  <a:lnSpc>
                    <a:spcPts val="3150"/>
                  </a:lnSpc>
                </a:pPr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2400" b="1" baseline="-25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68" name="Rectangle 13"/>
              <p:cNvSpPr/>
              <p:nvPr/>
            </p:nvSpPr>
            <p:spPr>
              <a:xfrm>
                <a:off x="5865813" y="5770563"/>
                <a:ext cx="599598" cy="450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0156" tIns="40078" rIns="80156" bIns="40078" anchor="t" anchorCtr="0">
                <a:spAutoFit/>
              </a:bodyPr>
              <a:p>
                <a:pPr defTabSz="802005"/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i="1" dirty="0">
                    <a:latin typeface="Times New Roman" panose="02020603050405020304" charset="0"/>
                    <a:ea typeface="宋体" panose="02010600030101010101" pitchFamily="2" charset="-122"/>
                  </a:rPr>
                  <a:t>s</a:t>
                </a:r>
                <a:endParaRPr lang="en-US" altLang="zh-CN" sz="2400" b="1" i="1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69" name="Rectangle 14"/>
              <p:cNvSpPr/>
              <p:nvPr/>
            </p:nvSpPr>
            <p:spPr>
              <a:xfrm>
                <a:off x="5865813" y="4592638"/>
                <a:ext cx="503868" cy="450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80156" tIns="40078" rIns="80156" bIns="40078" anchor="t" anchorCtr="0">
                <a:spAutoFit/>
              </a:bodyPr>
              <a:p>
                <a:pPr defTabSz="802005"/>
                <a:r>
                  <a:rPr lang="en-US" altLang="zh-CN" sz="2400" b="1" dirty="0"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b="1" baseline="-25000" dirty="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2400" b="1" baseline="-25000" dirty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70" name="Line 15"/>
              <p:cNvSpPr/>
              <p:nvPr/>
            </p:nvSpPr>
            <p:spPr>
              <a:xfrm>
                <a:off x="6049963" y="4918075"/>
                <a:ext cx="0" cy="8509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1" name="Rectangle 16"/>
              <p:cNvSpPr/>
              <p:nvPr/>
            </p:nvSpPr>
            <p:spPr>
              <a:xfrm>
                <a:off x="4202113" y="4656138"/>
                <a:ext cx="430212" cy="1373187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72" name="Oval 17"/>
              <p:cNvSpPr/>
              <p:nvPr/>
            </p:nvSpPr>
            <p:spPr>
              <a:xfrm>
                <a:off x="4325938" y="4854575"/>
                <a:ext cx="122237" cy="128588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73" name="Oval 18"/>
              <p:cNvSpPr/>
              <p:nvPr/>
            </p:nvSpPr>
            <p:spPr>
              <a:xfrm>
                <a:off x="4325938" y="5180013"/>
                <a:ext cx="122237" cy="128587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74" name="Oval 19"/>
              <p:cNvSpPr/>
              <p:nvPr/>
            </p:nvSpPr>
            <p:spPr>
              <a:xfrm>
                <a:off x="4325938" y="5572125"/>
                <a:ext cx="122237" cy="130175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75" name="Line 20"/>
              <p:cNvSpPr/>
              <p:nvPr/>
            </p:nvSpPr>
            <p:spPr>
              <a:xfrm>
                <a:off x="3155950" y="4918075"/>
                <a:ext cx="11699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6" name="Line 21"/>
              <p:cNvSpPr/>
              <p:nvPr/>
            </p:nvSpPr>
            <p:spPr>
              <a:xfrm>
                <a:off x="4448175" y="4918075"/>
                <a:ext cx="123190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7" name="Line 22"/>
              <p:cNvSpPr/>
              <p:nvPr/>
            </p:nvSpPr>
            <p:spPr>
              <a:xfrm>
                <a:off x="3155950" y="5049838"/>
                <a:ext cx="1169988" cy="1301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8" name="Line 23"/>
              <p:cNvSpPr/>
              <p:nvPr/>
            </p:nvSpPr>
            <p:spPr>
              <a:xfrm flipV="1">
                <a:off x="3155950" y="5245100"/>
                <a:ext cx="1169988" cy="650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79" name="Line 24"/>
              <p:cNvSpPr/>
              <p:nvPr/>
            </p:nvSpPr>
            <p:spPr>
              <a:xfrm flipV="1">
                <a:off x="4448175" y="4918075"/>
                <a:ext cx="1231900" cy="32702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0" name="Line 25"/>
              <p:cNvSpPr/>
              <p:nvPr/>
            </p:nvSpPr>
            <p:spPr>
              <a:xfrm>
                <a:off x="4448175" y="5245100"/>
                <a:ext cx="1231900" cy="5873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1" name="Line 26"/>
              <p:cNvSpPr/>
              <p:nvPr/>
            </p:nvSpPr>
            <p:spPr>
              <a:xfrm>
                <a:off x="4387850" y="4918075"/>
                <a:ext cx="1354138" cy="457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2" name="Line 27"/>
              <p:cNvSpPr/>
              <p:nvPr/>
            </p:nvSpPr>
            <p:spPr>
              <a:xfrm>
                <a:off x="3155950" y="5441950"/>
                <a:ext cx="1169988" cy="1952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3" name="Line 28"/>
              <p:cNvSpPr/>
              <p:nvPr/>
            </p:nvSpPr>
            <p:spPr>
              <a:xfrm flipV="1">
                <a:off x="3155950" y="5637213"/>
                <a:ext cx="1169988" cy="6508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4" name="Line 29"/>
              <p:cNvSpPr/>
              <p:nvPr/>
            </p:nvSpPr>
            <p:spPr>
              <a:xfrm flipV="1">
                <a:off x="4448175" y="5375275"/>
                <a:ext cx="1293813" cy="26193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5" name="Line 30"/>
              <p:cNvSpPr/>
              <p:nvPr/>
            </p:nvSpPr>
            <p:spPr>
              <a:xfrm>
                <a:off x="4387850" y="5637213"/>
                <a:ext cx="1292225" cy="19526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086" name="Rectangle 31"/>
            <p:cNvSpPr/>
            <p:nvPr/>
          </p:nvSpPr>
          <p:spPr>
            <a:xfrm>
              <a:off x="4283968" y="4077072"/>
              <a:ext cx="35553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dirty="0">
                  <a:latin typeface="Times New Roman" panose="02020603050405020304" charset="0"/>
                  <a:ea typeface="黑体" panose="02010609060101010101" charset="-122"/>
                </a:rPr>
                <a:t>κ</a:t>
              </a:r>
              <a:endParaRPr lang="en-US" altLang="zh-CN" sz="24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5087" name="Rectangle 32"/>
            <p:cNvSpPr/>
            <p:nvPr/>
          </p:nvSpPr>
          <p:spPr>
            <a:xfrm>
              <a:off x="2747756" y="6021288"/>
              <a:ext cx="471253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  <a:ea typeface="黑体" panose="02010609060101010101" charset="-122"/>
                </a:rPr>
                <a:t>n</a:t>
              </a:r>
              <a:r>
                <a:rPr lang="en-US" altLang="zh-CN" sz="2000" b="1" baseline="-25000" dirty="0">
                  <a:latin typeface="Times New Roman" panose="02020603050405020304" charset="0"/>
                  <a:ea typeface="黑体" panose="02010609060101010101" charset="-122"/>
                </a:rPr>
                <a:t>1</a:t>
              </a:r>
              <a:endParaRPr lang="en-US" altLang="zh-CN" sz="2400" baseline="-25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5088" name="Rectangle 33"/>
            <p:cNvSpPr/>
            <p:nvPr/>
          </p:nvSpPr>
          <p:spPr>
            <a:xfrm>
              <a:off x="5506671" y="6021288"/>
              <a:ext cx="54541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b="1" i="1" dirty="0">
                  <a:latin typeface="Times New Roman" panose="02020603050405020304" charset="0"/>
                  <a:ea typeface="黑体" panose="02010609060101010101" charset="-122"/>
                </a:rPr>
                <a:t>n</a:t>
              </a:r>
              <a:r>
                <a:rPr lang="en-US" altLang="zh-CN" sz="2400" b="1" baseline="-25000" dirty="0">
                  <a:latin typeface="Times New Roman" panose="02020603050405020304" charset="0"/>
                  <a:ea typeface="黑体" panose="02010609060101010101" charset="-122"/>
                </a:rPr>
                <a:t>2</a:t>
              </a:r>
              <a:endParaRPr lang="en-US" altLang="zh-CN" sz="2400" baseline="-25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Text Box 2"/>
          <p:cNvSpPr txBox="1"/>
          <p:nvPr/>
        </p:nvSpPr>
        <p:spPr>
          <a:xfrm>
            <a:off x="4052888" y="6459538"/>
            <a:ext cx="1524000" cy="165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300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《</a:t>
            </a:r>
            <a:r>
              <a:rPr lang="zh-CN" altLang="en-US" sz="1200" dirty="0">
                <a:latin typeface="Times New Roman" panose="02020603050405020304" charset="0"/>
                <a:ea typeface="宋体" panose="02010600030101010101" pitchFamily="2" charset="-122"/>
              </a:rPr>
              <a:t>集合论与图论</a:t>
            </a: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》16</a:t>
            </a:r>
            <a:r>
              <a:rPr lang="zh-CN" altLang="en-US" sz="1200" dirty="0">
                <a:latin typeface="Times New Roman" panose="02020603050405020304" charset="0"/>
                <a:ea typeface="宋体" panose="02010600030101010101" pitchFamily="2" charset="-122"/>
              </a:rPr>
              <a:t>讲</a:t>
            </a:r>
            <a:endParaRPr lang="zh-CN" altLang="en-US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6082" name="Text Box 3"/>
          <p:cNvSpPr txBox="1"/>
          <p:nvPr/>
        </p:nvSpPr>
        <p:spPr>
          <a:xfrm>
            <a:off x="7974013" y="6481763"/>
            <a:ext cx="152400" cy="1492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22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6083" name="Text Box 4"/>
          <p:cNvSpPr txBox="1"/>
          <p:nvPr/>
        </p:nvSpPr>
        <p:spPr>
          <a:xfrm>
            <a:off x="466725" y="1397000"/>
            <a:ext cx="8353425" cy="47164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725"/>
              </a:lnSpc>
              <a:tabLst>
                <a:tab pos="288925" algn="l"/>
                <a:tab pos="300355" algn="l"/>
              </a:tabLst>
            </a:pPr>
            <a:r>
              <a:rPr lang="zh-CN" altLang="en-US" sz="2800" b="1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14: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阶简单连通图的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κ,λ,δ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之间关系有且仅有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种可能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: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	(1)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=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=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= 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-1 (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≥ 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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</a:t>
            </a: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,G</a:t>
            </a:r>
            <a:r>
              <a:rPr lang="zh-CN" altLang="en-US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是完全图时</a:t>
            </a:r>
            <a:r>
              <a:rPr lang="en-US" altLang="zh-CN" sz="2800"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288925" algn="l"/>
                <a:tab pos="300355" algn="l"/>
              </a:tabLst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	(2) 1 ≤ 2δ-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+2 ≤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≤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= </a:t>
            </a:r>
            <a:r>
              <a:rPr lang="en-US" altLang="zh-CN" sz="2800" b="1" i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≤ 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-2 (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≥ 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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</a:t>
            </a:r>
            <a:r>
              <a:rPr lang="en-US" altLang="zh-CN" sz="2800" b="1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,G</a:t>
            </a:r>
            <a:r>
              <a:rPr lang="zh-CN" altLang="en-US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是非完全图时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288925" algn="l"/>
                <a:tab pos="300355" algn="l"/>
              </a:tabLst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	(3) 0 ≤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κ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≤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λ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≤ 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&lt; </a:t>
            </a:r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</a:t>
            </a:r>
            <a:r>
              <a:rPr lang="en-US" altLang="zh-CN"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</a:t>
            </a:r>
            <a:r>
              <a:rPr lang="en-US" altLang="zh-CN"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err="1">
                <a:latin typeface="Times New Roman" panose="02020603050405020304" charset="0"/>
                <a:ea typeface="黑体" panose="02010609060101010101" charset="-122"/>
              </a:rPr>
              <a:t>δ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 &lt; 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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</a:t>
            </a:r>
            <a:r>
              <a:rPr lang="zh-CN" altLang="en-US" sz="2800" b="1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时</a:t>
            </a:r>
            <a:r>
              <a:rPr lang="en-US" altLang="zh-CN" sz="2800">
                <a:latin typeface="Tahoma" panose="020B0604030504040204" charset="0"/>
                <a:ea typeface="宋体" panose="02010600030101010101" pitchFamily="2" charset="-122"/>
              </a:rPr>
              <a:t> 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</a:t>
            </a:r>
            <a:endParaRPr lang="en-US" altLang="zh-CN" sz="2800" b="1">
              <a:latin typeface="jpn_boot" pitchFamily="34" charset="-128"/>
              <a:ea typeface="jpn_boot" pitchFamily="34" charset="-128"/>
            </a:endParaRPr>
          </a:p>
          <a:p>
            <a:pPr defTabSz="802005">
              <a:lnSpc>
                <a:spcPts val="875"/>
              </a:lnSpc>
              <a:tabLst>
                <a:tab pos="288925" algn="l"/>
                <a:tab pos="300355" algn="l"/>
              </a:tabLst>
            </a:pP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tabLst>
                <a:tab pos="288925" algn="l"/>
                <a:tab pos="300355" algn="l"/>
              </a:tabLst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必要性：定理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10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、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12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、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13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可得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tabLst>
                <a:tab pos="288925" algn="l"/>
                <a:tab pos="300355" algn="l"/>
              </a:tabLst>
            </a:pP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充分性：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):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构造出满足上述关系的图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;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288925" algn="l"/>
                <a:tab pos="300355" algn="l"/>
              </a:tabLst>
            </a:pPr>
            <a:endParaRPr lang="zh-CN" altLang="en-US" sz="2800" b="1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288925" algn="l"/>
                <a:tab pos="300355" algn="l"/>
              </a:tabLst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			     (</a:t>
            </a:r>
            <a:r>
              <a:rPr lang="zh-CN" altLang="en-US" sz="2800" b="1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仅有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):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任意简单连通图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可以归入以上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类</a:t>
            </a: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46084" name="Rectangle 6"/>
          <p:cNvSpPr/>
          <p:nvPr/>
        </p:nvSpPr>
        <p:spPr>
          <a:xfrm>
            <a:off x="1289050" y="476250"/>
            <a:ext cx="5154613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简单连通图的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κ,λ,δ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23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7106" name="Text Box 4"/>
          <p:cNvSpPr txBox="1"/>
          <p:nvPr/>
        </p:nvSpPr>
        <p:spPr>
          <a:xfrm>
            <a:off x="684213" y="1343025"/>
            <a:ext cx="7615237" cy="2051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300355" algn="l"/>
                <a:tab pos="127952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(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): (1) κ = λ = δ = 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-1.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12795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		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令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 = K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即可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12795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注意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κ(K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)=λ(K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)=δ(K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)=0,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但是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连通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  <a:tab pos="12795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所以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非连通 ⇒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κ=λ=0,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反之不然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7107" name="Oval 5"/>
          <p:cNvSpPr/>
          <p:nvPr/>
        </p:nvSpPr>
        <p:spPr>
          <a:xfrm>
            <a:off x="1493838" y="4664075"/>
            <a:ext cx="122237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47108" name="组合 39"/>
          <p:cNvGrpSpPr/>
          <p:nvPr/>
        </p:nvGrpSpPr>
        <p:grpSpPr>
          <a:xfrm>
            <a:off x="2355850" y="4208463"/>
            <a:ext cx="122238" cy="1109662"/>
            <a:chOff x="2355850" y="4208463"/>
            <a:chExt cx="122238" cy="1109662"/>
          </a:xfrm>
        </p:grpSpPr>
        <p:sp>
          <p:nvSpPr>
            <p:cNvPr id="47109" name="Oval 6"/>
            <p:cNvSpPr/>
            <p:nvPr/>
          </p:nvSpPr>
          <p:spPr>
            <a:xfrm>
              <a:off x="2355850" y="4208463"/>
              <a:ext cx="122238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10" name="Oval 7"/>
            <p:cNvSpPr/>
            <p:nvPr/>
          </p:nvSpPr>
          <p:spPr>
            <a:xfrm>
              <a:off x="2355850" y="5186363"/>
              <a:ext cx="122238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11" name="Line 15"/>
            <p:cNvSpPr/>
            <p:nvPr/>
          </p:nvSpPr>
          <p:spPr>
            <a:xfrm>
              <a:off x="2416175" y="4337050"/>
              <a:ext cx="0" cy="8493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7112" name="组合 40"/>
          <p:cNvGrpSpPr/>
          <p:nvPr/>
        </p:nvGrpSpPr>
        <p:grpSpPr>
          <a:xfrm>
            <a:off x="3217863" y="4271963"/>
            <a:ext cx="984250" cy="1046162"/>
            <a:chOff x="3217863" y="4271963"/>
            <a:chExt cx="984250" cy="1046162"/>
          </a:xfrm>
        </p:grpSpPr>
        <p:sp>
          <p:nvSpPr>
            <p:cNvPr id="47113" name="Oval 12"/>
            <p:cNvSpPr/>
            <p:nvPr/>
          </p:nvSpPr>
          <p:spPr>
            <a:xfrm>
              <a:off x="3649663" y="4271963"/>
              <a:ext cx="122237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14" name="Oval 13"/>
            <p:cNvSpPr/>
            <p:nvPr/>
          </p:nvSpPr>
          <p:spPr>
            <a:xfrm>
              <a:off x="3217863" y="5186363"/>
              <a:ext cx="122237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15" name="Oval 14"/>
            <p:cNvSpPr/>
            <p:nvPr/>
          </p:nvSpPr>
          <p:spPr>
            <a:xfrm>
              <a:off x="4079875" y="5186363"/>
              <a:ext cx="122238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16" name="Line 16"/>
            <p:cNvSpPr/>
            <p:nvPr/>
          </p:nvSpPr>
          <p:spPr>
            <a:xfrm flipH="1">
              <a:off x="3278188" y="4403725"/>
              <a:ext cx="371475" cy="7826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7" name="Line 17"/>
            <p:cNvSpPr/>
            <p:nvPr/>
          </p:nvSpPr>
          <p:spPr>
            <a:xfrm>
              <a:off x="3340100" y="5253038"/>
              <a:ext cx="7397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8" name="Line 18"/>
            <p:cNvSpPr/>
            <p:nvPr/>
          </p:nvSpPr>
          <p:spPr>
            <a:xfrm>
              <a:off x="3709988" y="4403725"/>
              <a:ext cx="430212" cy="7826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7119" name="组合 41"/>
          <p:cNvGrpSpPr/>
          <p:nvPr/>
        </p:nvGrpSpPr>
        <p:grpSpPr>
          <a:xfrm>
            <a:off x="4879975" y="4208463"/>
            <a:ext cx="985838" cy="1109662"/>
            <a:chOff x="4879975" y="4208463"/>
            <a:chExt cx="985838" cy="1109662"/>
          </a:xfrm>
        </p:grpSpPr>
        <p:sp>
          <p:nvSpPr>
            <p:cNvPr id="47120" name="Oval 8"/>
            <p:cNvSpPr/>
            <p:nvPr/>
          </p:nvSpPr>
          <p:spPr>
            <a:xfrm>
              <a:off x="4879975" y="42084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21" name="Oval 9"/>
            <p:cNvSpPr/>
            <p:nvPr/>
          </p:nvSpPr>
          <p:spPr>
            <a:xfrm>
              <a:off x="5741988" y="42084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22" name="Oval 10"/>
            <p:cNvSpPr/>
            <p:nvPr/>
          </p:nvSpPr>
          <p:spPr>
            <a:xfrm>
              <a:off x="5741988" y="51863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23" name="Oval 11"/>
            <p:cNvSpPr/>
            <p:nvPr/>
          </p:nvSpPr>
          <p:spPr>
            <a:xfrm>
              <a:off x="4879975" y="51863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24" name="Line 19"/>
            <p:cNvSpPr/>
            <p:nvPr/>
          </p:nvSpPr>
          <p:spPr>
            <a:xfrm>
              <a:off x="5003800" y="4271963"/>
              <a:ext cx="738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5" name="Line 20"/>
            <p:cNvSpPr/>
            <p:nvPr/>
          </p:nvSpPr>
          <p:spPr>
            <a:xfrm>
              <a:off x="5003800" y="5253038"/>
              <a:ext cx="7381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6" name="Line 21"/>
            <p:cNvSpPr/>
            <p:nvPr/>
          </p:nvSpPr>
          <p:spPr>
            <a:xfrm>
              <a:off x="4941888" y="4337050"/>
              <a:ext cx="0" cy="8493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7" name="Line 22"/>
            <p:cNvSpPr/>
            <p:nvPr/>
          </p:nvSpPr>
          <p:spPr>
            <a:xfrm>
              <a:off x="5803900" y="4337050"/>
              <a:ext cx="0" cy="8493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8" name="Line 23"/>
            <p:cNvSpPr/>
            <p:nvPr/>
          </p:nvSpPr>
          <p:spPr>
            <a:xfrm flipV="1">
              <a:off x="5003800" y="4271963"/>
              <a:ext cx="800100" cy="914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9" name="Line 24"/>
            <p:cNvSpPr/>
            <p:nvPr/>
          </p:nvSpPr>
          <p:spPr>
            <a:xfrm>
              <a:off x="5003800" y="4337050"/>
              <a:ext cx="738188" cy="8493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7130" name="组合 42"/>
          <p:cNvGrpSpPr/>
          <p:nvPr/>
        </p:nvGrpSpPr>
        <p:grpSpPr>
          <a:xfrm>
            <a:off x="6665913" y="4076700"/>
            <a:ext cx="1292225" cy="1241425"/>
            <a:chOff x="6665913" y="4076700"/>
            <a:chExt cx="1292225" cy="1241425"/>
          </a:xfrm>
        </p:grpSpPr>
        <p:sp>
          <p:nvSpPr>
            <p:cNvPr id="47131" name="Oval 25"/>
            <p:cNvSpPr/>
            <p:nvPr/>
          </p:nvSpPr>
          <p:spPr>
            <a:xfrm>
              <a:off x="7218363" y="4076700"/>
              <a:ext cx="123825" cy="131763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32" name="Oval 26"/>
            <p:cNvSpPr/>
            <p:nvPr/>
          </p:nvSpPr>
          <p:spPr>
            <a:xfrm>
              <a:off x="7835900" y="4468813"/>
              <a:ext cx="122238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33" name="Oval 27"/>
            <p:cNvSpPr/>
            <p:nvPr/>
          </p:nvSpPr>
          <p:spPr>
            <a:xfrm>
              <a:off x="6665913" y="4533900"/>
              <a:ext cx="122237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34" name="Oval 28"/>
            <p:cNvSpPr/>
            <p:nvPr/>
          </p:nvSpPr>
          <p:spPr>
            <a:xfrm>
              <a:off x="6850063" y="51863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35" name="Oval 29"/>
            <p:cNvSpPr/>
            <p:nvPr/>
          </p:nvSpPr>
          <p:spPr>
            <a:xfrm>
              <a:off x="7650163" y="5186363"/>
              <a:ext cx="123825" cy="131762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7136" name="Line 30"/>
            <p:cNvSpPr/>
            <p:nvPr/>
          </p:nvSpPr>
          <p:spPr>
            <a:xfrm flipV="1">
              <a:off x="6789738" y="4206875"/>
              <a:ext cx="493712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7" name="Line 31"/>
            <p:cNvSpPr/>
            <p:nvPr/>
          </p:nvSpPr>
          <p:spPr>
            <a:xfrm>
              <a:off x="7342188" y="4208463"/>
              <a:ext cx="493712" cy="2619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8" name="Line 32"/>
            <p:cNvSpPr/>
            <p:nvPr/>
          </p:nvSpPr>
          <p:spPr>
            <a:xfrm flipH="1">
              <a:off x="7712075" y="4535488"/>
              <a:ext cx="185738" cy="650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9" name="Line 33"/>
            <p:cNvSpPr/>
            <p:nvPr/>
          </p:nvSpPr>
          <p:spPr>
            <a:xfrm flipV="1">
              <a:off x="6973888" y="5253038"/>
              <a:ext cx="6762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40" name="Line 34"/>
            <p:cNvSpPr/>
            <p:nvPr/>
          </p:nvSpPr>
          <p:spPr>
            <a:xfrm>
              <a:off x="6727825" y="4664075"/>
              <a:ext cx="123825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41" name="Line 35"/>
            <p:cNvSpPr/>
            <p:nvPr/>
          </p:nvSpPr>
          <p:spPr>
            <a:xfrm flipH="1">
              <a:off x="6911975" y="4208463"/>
              <a:ext cx="369888" cy="9794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42" name="Line 36"/>
            <p:cNvSpPr/>
            <p:nvPr/>
          </p:nvSpPr>
          <p:spPr>
            <a:xfrm flipV="1">
              <a:off x="6788150" y="4535488"/>
              <a:ext cx="1047750" cy="635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43" name="Line 37"/>
            <p:cNvSpPr/>
            <p:nvPr/>
          </p:nvSpPr>
          <p:spPr>
            <a:xfrm>
              <a:off x="7281863" y="4208463"/>
              <a:ext cx="368300" cy="9779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44" name="Line 38"/>
            <p:cNvSpPr/>
            <p:nvPr/>
          </p:nvSpPr>
          <p:spPr>
            <a:xfrm>
              <a:off x="6788150" y="4597400"/>
              <a:ext cx="923925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45" name="Line 39"/>
            <p:cNvSpPr/>
            <p:nvPr/>
          </p:nvSpPr>
          <p:spPr>
            <a:xfrm flipV="1">
              <a:off x="6973888" y="4535488"/>
              <a:ext cx="862012" cy="650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7146" name="Rectangle 41"/>
          <p:cNvSpPr/>
          <p:nvPr/>
        </p:nvSpPr>
        <p:spPr>
          <a:xfrm>
            <a:off x="1230313" y="511175"/>
            <a:ext cx="5435600" cy="631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的证明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——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(1)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Text Box 3"/>
          <p:cNvSpPr txBox="1"/>
          <p:nvPr/>
        </p:nvSpPr>
        <p:spPr>
          <a:xfrm>
            <a:off x="468313" y="1300163"/>
            <a:ext cx="8175625" cy="27797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200025" algn="l"/>
                <a:tab pos="300355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		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: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)(2)1≤2δ-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+2≤κ≤λ=δ≤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-2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ct val="130000"/>
              </a:lnSpc>
              <a:tabLst>
                <a:tab pos="2000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令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= 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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-κ)/2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 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jpn_boot" pitchFamily="34" charset="-128"/>
              </a:rPr>
              <a:t>,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s= 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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-κ-1)/2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 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则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-1.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ct val="130000"/>
              </a:lnSpc>
              <a:tabLst>
                <a:tab pos="2000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令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=K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+(K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∪K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).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给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增加顶点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使得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="1" baseline="-25000" dirty="0">
                <a:latin typeface="Tahoma" panose="020B0604030504040204" charset="0"/>
                <a:ea typeface="宋体" panose="02010600030101010101" pitchFamily="2" charset="-122"/>
              </a:rPr>
              <a:t>κ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中所有顶点相邻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与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s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中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δ-κ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个顶点相邻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得到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G.(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并图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(G</a:t>
            </a:r>
            <a:r>
              <a:rPr lang="en-US" altLang="zh-CN" sz="2000" b="1" baseline="-25000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∪G</a:t>
            </a:r>
            <a:r>
              <a:rPr lang="en-US" altLang="zh-CN" sz="2000" b="1" baseline="-25000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的定义见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P117,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联图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(G1+G2)</a:t>
            </a:r>
            <a:r>
              <a:rPr lang="zh-CN" altLang="en-US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的定义见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P11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48130" name="组合 36"/>
          <p:cNvGrpSpPr/>
          <p:nvPr/>
        </p:nvGrpSpPr>
        <p:grpSpPr>
          <a:xfrm>
            <a:off x="2232025" y="4572000"/>
            <a:ext cx="5816600" cy="2173288"/>
            <a:chOff x="2232025" y="4538663"/>
            <a:chExt cx="5816600" cy="2173287"/>
          </a:xfrm>
        </p:grpSpPr>
        <p:sp>
          <p:nvSpPr>
            <p:cNvPr id="48131" name="Text Box 2"/>
            <p:cNvSpPr txBox="1"/>
            <p:nvPr/>
          </p:nvSpPr>
          <p:spPr>
            <a:xfrm>
              <a:off x="7896225" y="6564313"/>
              <a:ext cx="152400" cy="1476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1125"/>
                </a:lnSpc>
              </a:pPr>
              <a:r>
                <a:rPr lang="en-US" altLang="zh-CN" sz="1200" dirty="0">
                  <a:latin typeface="Times New Roman" panose="02020603050405020304" charset="0"/>
                  <a:ea typeface="宋体" panose="02010600030101010101" pitchFamily="2" charset="-122"/>
                </a:rPr>
                <a:t>24</a:t>
              </a:r>
              <a:endParaRPr lang="en-US" altLang="zh-CN" sz="12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8132" name="Text Box 4"/>
            <p:cNvSpPr txBox="1"/>
            <p:nvPr/>
          </p:nvSpPr>
          <p:spPr>
            <a:xfrm>
              <a:off x="4572000" y="4876800"/>
              <a:ext cx="506413" cy="395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3115"/>
                </a:lnSpc>
                <a:tabLst>
                  <a:tab pos="601980" algn="l"/>
                </a:tabLst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κ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8133" name="Text Box 5"/>
            <p:cNvSpPr txBox="1"/>
            <p:nvPr/>
          </p:nvSpPr>
          <p:spPr>
            <a:xfrm>
              <a:off x="2663825" y="4802188"/>
              <a:ext cx="377825" cy="392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3090"/>
                </a:lnSpc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r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8134" name="Text Box 6"/>
            <p:cNvSpPr txBox="1"/>
            <p:nvPr/>
          </p:nvSpPr>
          <p:spPr>
            <a:xfrm>
              <a:off x="6665913" y="4600575"/>
              <a:ext cx="812800" cy="8620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3090"/>
                </a:lnSpc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s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700"/>
                </a:lnSpc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δ-κ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8135" name="Text Box 7"/>
            <p:cNvSpPr txBox="1"/>
            <p:nvPr/>
          </p:nvSpPr>
          <p:spPr>
            <a:xfrm>
              <a:off x="5865813" y="6107113"/>
              <a:ext cx="237595" cy="3194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400" b="1" i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4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8136" name="Oval 8"/>
            <p:cNvSpPr/>
            <p:nvPr/>
          </p:nvSpPr>
          <p:spPr>
            <a:xfrm>
              <a:off x="6235700" y="4538663"/>
              <a:ext cx="1108075" cy="10461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8137" name="Oval 9"/>
            <p:cNvSpPr/>
            <p:nvPr/>
          </p:nvSpPr>
          <p:spPr>
            <a:xfrm>
              <a:off x="4264025" y="4538663"/>
              <a:ext cx="1109663" cy="10461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8138" name="Oval 10"/>
            <p:cNvSpPr/>
            <p:nvPr/>
          </p:nvSpPr>
          <p:spPr>
            <a:xfrm>
              <a:off x="2232025" y="4538663"/>
              <a:ext cx="1108075" cy="1046162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8139" name="Oval 11"/>
            <p:cNvSpPr/>
            <p:nvPr/>
          </p:nvSpPr>
          <p:spPr>
            <a:xfrm>
              <a:off x="6542088" y="4997450"/>
              <a:ext cx="615950" cy="5873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8140" name="Line 12"/>
            <p:cNvSpPr/>
            <p:nvPr/>
          </p:nvSpPr>
          <p:spPr>
            <a:xfrm>
              <a:off x="2724150" y="5584825"/>
              <a:ext cx="41878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8141" name="Line 13"/>
            <p:cNvSpPr/>
            <p:nvPr/>
          </p:nvSpPr>
          <p:spPr>
            <a:xfrm>
              <a:off x="2724150" y="4538663"/>
              <a:ext cx="41878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8142" name="Oval 14"/>
            <p:cNvSpPr/>
            <p:nvPr/>
          </p:nvSpPr>
          <p:spPr>
            <a:xfrm>
              <a:off x="5865813" y="6042025"/>
              <a:ext cx="123825" cy="128588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8143" name="Line 15"/>
            <p:cNvSpPr/>
            <p:nvPr/>
          </p:nvSpPr>
          <p:spPr>
            <a:xfrm flipV="1">
              <a:off x="5988050" y="5127625"/>
              <a:ext cx="615950" cy="914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4" name="Line 16"/>
            <p:cNvSpPr/>
            <p:nvPr/>
          </p:nvSpPr>
          <p:spPr>
            <a:xfrm flipV="1">
              <a:off x="5926138" y="5322888"/>
              <a:ext cx="801687" cy="7842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5" name="Line 17"/>
            <p:cNvSpPr/>
            <p:nvPr/>
          </p:nvSpPr>
          <p:spPr>
            <a:xfrm flipV="1">
              <a:off x="5926138" y="5453063"/>
              <a:ext cx="923925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6" name="Line 18"/>
            <p:cNvSpPr/>
            <p:nvPr/>
          </p:nvSpPr>
          <p:spPr>
            <a:xfrm flipV="1">
              <a:off x="5988050" y="5519738"/>
              <a:ext cx="985838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7" name="Line 19"/>
            <p:cNvSpPr/>
            <p:nvPr/>
          </p:nvSpPr>
          <p:spPr>
            <a:xfrm flipH="1" flipV="1">
              <a:off x="5373688" y="4930775"/>
              <a:ext cx="552450" cy="11112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8" name="Line 20"/>
            <p:cNvSpPr/>
            <p:nvPr/>
          </p:nvSpPr>
          <p:spPr>
            <a:xfrm flipH="1" flipV="1">
              <a:off x="4695825" y="5584825"/>
              <a:ext cx="1169988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9" name="Line 21"/>
            <p:cNvSpPr/>
            <p:nvPr/>
          </p:nvSpPr>
          <p:spPr>
            <a:xfrm flipH="1" flipV="1">
              <a:off x="5187950" y="5062538"/>
              <a:ext cx="738188" cy="9794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0" name="Line 22"/>
            <p:cNvSpPr/>
            <p:nvPr/>
          </p:nvSpPr>
          <p:spPr>
            <a:xfrm flipH="1" flipV="1">
              <a:off x="5064125" y="5257800"/>
              <a:ext cx="862013" cy="8493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1" name="Line 23"/>
            <p:cNvSpPr/>
            <p:nvPr/>
          </p:nvSpPr>
          <p:spPr>
            <a:xfrm flipH="1" flipV="1">
              <a:off x="4879975" y="5389563"/>
              <a:ext cx="985838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2" name="Line 24"/>
            <p:cNvSpPr/>
            <p:nvPr/>
          </p:nvSpPr>
          <p:spPr>
            <a:xfrm flipV="1">
              <a:off x="5126038" y="4538663"/>
              <a:ext cx="1601787" cy="523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3" name="Line 25"/>
            <p:cNvSpPr/>
            <p:nvPr/>
          </p:nvSpPr>
          <p:spPr>
            <a:xfrm>
              <a:off x="5003800" y="5062538"/>
              <a:ext cx="190817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4" name="Line 26"/>
            <p:cNvSpPr/>
            <p:nvPr/>
          </p:nvSpPr>
          <p:spPr>
            <a:xfrm flipH="1" flipV="1">
              <a:off x="5003800" y="4538663"/>
              <a:ext cx="1476375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5" name="Line 27"/>
            <p:cNvSpPr/>
            <p:nvPr/>
          </p:nvSpPr>
          <p:spPr>
            <a:xfrm flipH="1" flipV="1">
              <a:off x="5003800" y="4865688"/>
              <a:ext cx="14763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6" name="Line 28"/>
            <p:cNvSpPr/>
            <p:nvPr/>
          </p:nvSpPr>
          <p:spPr>
            <a:xfrm flipH="1">
              <a:off x="5003800" y="4865688"/>
              <a:ext cx="1476375" cy="2619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7" name="Line 29"/>
            <p:cNvSpPr/>
            <p:nvPr/>
          </p:nvSpPr>
          <p:spPr>
            <a:xfrm flipH="1">
              <a:off x="5003800" y="4865688"/>
              <a:ext cx="1476375" cy="7191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8" name="Line 30"/>
            <p:cNvSpPr/>
            <p:nvPr/>
          </p:nvSpPr>
          <p:spPr>
            <a:xfrm flipH="1" flipV="1">
              <a:off x="2908300" y="4603750"/>
              <a:ext cx="1539875" cy="4587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9" name="Line 31"/>
            <p:cNvSpPr/>
            <p:nvPr/>
          </p:nvSpPr>
          <p:spPr>
            <a:xfrm flipH="1">
              <a:off x="2908300" y="5062538"/>
              <a:ext cx="153987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0" name="Line 32"/>
            <p:cNvSpPr/>
            <p:nvPr/>
          </p:nvSpPr>
          <p:spPr>
            <a:xfrm flipV="1">
              <a:off x="3155950" y="4603750"/>
              <a:ext cx="1416050" cy="393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1" name="Line 33"/>
            <p:cNvSpPr/>
            <p:nvPr/>
          </p:nvSpPr>
          <p:spPr>
            <a:xfrm flipV="1">
              <a:off x="3155950" y="4865688"/>
              <a:ext cx="1416050" cy="1317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2" name="Line 34"/>
            <p:cNvSpPr/>
            <p:nvPr/>
          </p:nvSpPr>
          <p:spPr>
            <a:xfrm>
              <a:off x="3155950" y="4997450"/>
              <a:ext cx="1416050" cy="1952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3" name="Line 35"/>
            <p:cNvSpPr/>
            <p:nvPr/>
          </p:nvSpPr>
          <p:spPr>
            <a:xfrm>
              <a:off x="3217863" y="4997450"/>
              <a:ext cx="1414462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8164" name="Rectangle 38"/>
          <p:cNvSpPr/>
          <p:nvPr/>
        </p:nvSpPr>
        <p:spPr>
          <a:xfrm>
            <a:off x="1374775" y="476250"/>
            <a:ext cx="3935413" cy="631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14——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(2)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Text Box 2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25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9154" name="Text Box 3"/>
          <p:cNvSpPr txBox="1"/>
          <p:nvPr/>
        </p:nvSpPr>
        <p:spPr>
          <a:xfrm>
            <a:off x="579438" y="1484313"/>
            <a:ext cx="7880350" cy="4206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: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)(2) 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分析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 δ(G)=δ: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4525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d(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)=κ-1+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+1=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-1≥δ,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4015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d(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-1+κ≥δ, 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4015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d(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-1+κ≥δ,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3575"/>
              </a:lnSpc>
              <a:tabLst>
                <a:tab pos="300355" algn="l"/>
              </a:tabLst>
            </a:pP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: d(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)=δ.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459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κ(G)=κ: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删除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K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κ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4015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λ(G)=λ=δ: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删除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).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ts val="4015"/>
              </a:lnSpc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显然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κ≤λ=δ ≤n-2,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49155" name="组合 36"/>
          <p:cNvGrpSpPr/>
          <p:nvPr/>
        </p:nvGrpSpPr>
        <p:grpSpPr>
          <a:xfrm>
            <a:off x="3571875" y="2714625"/>
            <a:ext cx="5246688" cy="1874838"/>
            <a:chOff x="1547813" y="4625996"/>
            <a:chExt cx="5246687" cy="1874838"/>
          </a:xfrm>
        </p:grpSpPr>
        <p:sp>
          <p:nvSpPr>
            <p:cNvPr id="49156" name="Text Box 5"/>
            <p:cNvSpPr txBox="1"/>
            <p:nvPr/>
          </p:nvSpPr>
          <p:spPr>
            <a:xfrm>
              <a:off x="3887788" y="4962546"/>
              <a:ext cx="506412" cy="395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3115"/>
                </a:lnSpc>
                <a:tabLst>
                  <a:tab pos="601980" algn="l"/>
                </a:tabLst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κ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57" name="Text Box 6"/>
            <p:cNvSpPr txBox="1"/>
            <p:nvPr/>
          </p:nvSpPr>
          <p:spPr>
            <a:xfrm>
              <a:off x="1979613" y="4887934"/>
              <a:ext cx="377825" cy="3921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3090"/>
                </a:lnSpc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r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58" name="Text Box 7"/>
            <p:cNvSpPr txBox="1"/>
            <p:nvPr/>
          </p:nvSpPr>
          <p:spPr>
            <a:xfrm>
              <a:off x="5981700" y="4687909"/>
              <a:ext cx="812800" cy="8620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3090"/>
                </a:lnSpc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s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700"/>
                </a:lnSpc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δ-κ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59" name="Text Box 8"/>
            <p:cNvSpPr txBox="1"/>
            <p:nvPr/>
          </p:nvSpPr>
          <p:spPr>
            <a:xfrm>
              <a:off x="5181600" y="6194446"/>
              <a:ext cx="133350" cy="306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9160" name="Oval 9"/>
            <p:cNvSpPr/>
            <p:nvPr/>
          </p:nvSpPr>
          <p:spPr>
            <a:xfrm>
              <a:off x="5551488" y="4625996"/>
              <a:ext cx="1109662" cy="10445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9161" name="Oval 10"/>
            <p:cNvSpPr/>
            <p:nvPr/>
          </p:nvSpPr>
          <p:spPr>
            <a:xfrm>
              <a:off x="3579813" y="4625996"/>
              <a:ext cx="1109662" cy="10445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9162" name="Oval 11"/>
            <p:cNvSpPr/>
            <p:nvPr/>
          </p:nvSpPr>
          <p:spPr>
            <a:xfrm>
              <a:off x="1547813" y="4625996"/>
              <a:ext cx="1109662" cy="10445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9163" name="Oval 12"/>
            <p:cNvSpPr/>
            <p:nvPr/>
          </p:nvSpPr>
          <p:spPr>
            <a:xfrm>
              <a:off x="5857875" y="5083196"/>
              <a:ext cx="615950" cy="5873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9164" name="Line 13"/>
            <p:cNvSpPr/>
            <p:nvPr/>
          </p:nvSpPr>
          <p:spPr>
            <a:xfrm>
              <a:off x="2041525" y="5670571"/>
              <a:ext cx="41878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9165" name="Line 14"/>
            <p:cNvSpPr/>
            <p:nvPr/>
          </p:nvSpPr>
          <p:spPr>
            <a:xfrm>
              <a:off x="2041525" y="4625996"/>
              <a:ext cx="41878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9166" name="Oval 15"/>
            <p:cNvSpPr/>
            <p:nvPr/>
          </p:nvSpPr>
          <p:spPr>
            <a:xfrm>
              <a:off x="5181600" y="6127771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9167" name="Line 16"/>
            <p:cNvSpPr/>
            <p:nvPr/>
          </p:nvSpPr>
          <p:spPr>
            <a:xfrm flipV="1">
              <a:off x="5303838" y="5213371"/>
              <a:ext cx="617537" cy="9144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8" name="Line 17"/>
            <p:cNvSpPr/>
            <p:nvPr/>
          </p:nvSpPr>
          <p:spPr>
            <a:xfrm flipV="1">
              <a:off x="5243513" y="5408634"/>
              <a:ext cx="800100" cy="7858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69" name="Line 18"/>
            <p:cNvSpPr/>
            <p:nvPr/>
          </p:nvSpPr>
          <p:spPr>
            <a:xfrm flipV="1">
              <a:off x="5243513" y="5540396"/>
              <a:ext cx="922337" cy="6540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0" name="Line 19"/>
            <p:cNvSpPr/>
            <p:nvPr/>
          </p:nvSpPr>
          <p:spPr>
            <a:xfrm flipV="1">
              <a:off x="5303838" y="5607071"/>
              <a:ext cx="985837" cy="520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1" name="Line 20"/>
            <p:cNvSpPr/>
            <p:nvPr/>
          </p:nvSpPr>
          <p:spPr>
            <a:xfrm flipH="1" flipV="1">
              <a:off x="4689475" y="5018109"/>
              <a:ext cx="554038" cy="11096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2" name="Line 21"/>
            <p:cNvSpPr/>
            <p:nvPr/>
          </p:nvSpPr>
          <p:spPr>
            <a:xfrm flipH="1" flipV="1">
              <a:off x="4011613" y="5670571"/>
              <a:ext cx="1169987" cy="523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3" name="Line 22"/>
            <p:cNvSpPr/>
            <p:nvPr/>
          </p:nvSpPr>
          <p:spPr>
            <a:xfrm flipH="1" flipV="1">
              <a:off x="4505325" y="5148284"/>
              <a:ext cx="738188" cy="9794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4" name="Line 23"/>
            <p:cNvSpPr/>
            <p:nvPr/>
          </p:nvSpPr>
          <p:spPr>
            <a:xfrm flipH="1" flipV="1">
              <a:off x="4381500" y="5345134"/>
              <a:ext cx="862013" cy="849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5" name="Line 24"/>
            <p:cNvSpPr/>
            <p:nvPr/>
          </p:nvSpPr>
          <p:spPr>
            <a:xfrm flipH="1" flipV="1">
              <a:off x="4197350" y="5475309"/>
              <a:ext cx="984250" cy="7191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6" name="Line 25"/>
            <p:cNvSpPr/>
            <p:nvPr/>
          </p:nvSpPr>
          <p:spPr>
            <a:xfrm flipV="1">
              <a:off x="4441825" y="4625996"/>
              <a:ext cx="1601788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7" name="Line 26"/>
            <p:cNvSpPr/>
            <p:nvPr/>
          </p:nvSpPr>
          <p:spPr>
            <a:xfrm>
              <a:off x="4319588" y="5148284"/>
              <a:ext cx="1909762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8" name="Line 27"/>
            <p:cNvSpPr/>
            <p:nvPr/>
          </p:nvSpPr>
          <p:spPr>
            <a:xfrm flipH="1" flipV="1">
              <a:off x="4319588" y="4625996"/>
              <a:ext cx="1477962" cy="3270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79" name="Line 28"/>
            <p:cNvSpPr/>
            <p:nvPr/>
          </p:nvSpPr>
          <p:spPr>
            <a:xfrm flipH="1" flipV="1">
              <a:off x="4319588" y="4953021"/>
              <a:ext cx="14779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0" name="Line 29"/>
            <p:cNvSpPr/>
            <p:nvPr/>
          </p:nvSpPr>
          <p:spPr>
            <a:xfrm flipH="1">
              <a:off x="4319588" y="4953021"/>
              <a:ext cx="1477962" cy="2603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1" name="Line 30"/>
            <p:cNvSpPr/>
            <p:nvPr/>
          </p:nvSpPr>
          <p:spPr>
            <a:xfrm flipH="1">
              <a:off x="4319588" y="4953021"/>
              <a:ext cx="1477962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2" name="Line 31"/>
            <p:cNvSpPr/>
            <p:nvPr/>
          </p:nvSpPr>
          <p:spPr>
            <a:xfrm flipH="1" flipV="1">
              <a:off x="2225675" y="4691084"/>
              <a:ext cx="1539875" cy="457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3" name="Line 32"/>
            <p:cNvSpPr/>
            <p:nvPr/>
          </p:nvSpPr>
          <p:spPr>
            <a:xfrm flipH="1">
              <a:off x="2225675" y="5148284"/>
              <a:ext cx="1539875" cy="5222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4" name="Line 33"/>
            <p:cNvSpPr/>
            <p:nvPr/>
          </p:nvSpPr>
          <p:spPr>
            <a:xfrm flipV="1">
              <a:off x="2473325" y="4691084"/>
              <a:ext cx="1414463" cy="392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5" name="Line 34"/>
            <p:cNvSpPr/>
            <p:nvPr/>
          </p:nvSpPr>
          <p:spPr>
            <a:xfrm flipV="1">
              <a:off x="2473325" y="4953021"/>
              <a:ext cx="1414463" cy="130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6" name="Line 35"/>
            <p:cNvSpPr/>
            <p:nvPr/>
          </p:nvSpPr>
          <p:spPr>
            <a:xfrm>
              <a:off x="2473325" y="5083196"/>
              <a:ext cx="1414463" cy="1968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87" name="Line 36"/>
            <p:cNvSpPr/>
            <p:nvPr/>
          </p:nvSpPr>
          <p:spPr>
            <a:xfrm>
              <a:off x="2533650" y="5083196"/>
              <a:ext cx="1416050" cy="5238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188" name="Rectangle 38"/>
          <p:cNvSpPr/>
          <p:nvPr/>
        </p:nvSpPr>
        <p:spPr>
          <a:xfrm>
            <a:off x="1206500" y="407988"/>
            <a:ext cx="4913313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14((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)(2)(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续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Text Box 2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27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1202" name="Text Box 3"/>
          <p:cNvSpPr txBox="1"/>
          <p:nvPr/>
        </p:nvSpPr>
        <p:spPr>
          <a:xfrm>
            <a:off x="571500" y="1357313"/>
            <a:ext cx="7923213" cy="25860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)(3) 0 ≤ κ ≤ λ ≤ δ &lt; </a:t>
            </a:r>
            <a:r>
              <a:rPr lang="en-US" altLang="zh-CN" b="1" dirty="0">
                <a:solidFill>
                  <a:srgbClr val="FF00FF"/>
                </a:solidFill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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n/2 </a:t>
            </a:r>
            <a:r>
              <a:rPr lang="en-US" altLang="zh-CN" b="1" dirty="0">
                <a:solidFill>
                  <a:srgbClr val="FF00FF"/>
                </a:solidFill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 </a:t>
            </a:r>
            <a:r>
              <a:rPr lang="en-US" altLang="zh-CN" dirty="0">
                <a:solidFill>
                  <a:srgbClr val="FF00FF"/>
                </a:solidFill>
                <a:latin typeface="Tahoma" panose="020B0604030504040204" charset="0"/>
                <a:ea typeface="宋体" panose="02010600030101010101" pitchFamily="2" charset="-122"/>
              </a:rPr>
              <a:t> .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构造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令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δ+1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∪K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n-δ-1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V(K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δ+1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)={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,…,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δ+1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},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V(K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n-δ-1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)={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,…,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n-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δ-1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},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en-US" altLang="zh-CN" sz="2800" b="1" dirty="0">
                <a:latin typeface="Tahoma" panose="020B0604030504040204" charset="0"/>
                <a:ea typeface="黑体" panose="02010609060101010101" charset="-122"/>
              </a:rPr>
              <a:t>’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增加边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=1,2,…,κ,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以及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),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=2,3,…,λ-κ+1,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就得到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51203" name="组合 17"/>
          <p:cNvGrpSpPr/>
          <p:nvPr/>
        </p:nvGrpSpPr>
        <p:grpSpPr>
          <a:xfrm>
            <a:off x="3214688" y="4214813"/>
            <a:ext cx="3508375" cy="1957387"/>
            <a:chOff x="3132138" y="4149725"/>
            <a:chExt cx="3508375" cy="1957388"/>
          </a:xfrm>
        </p:grpSpPr>
        <p:sp>
          <p:nvSpPr>
            <p:cNvPr id="51204" name="Text Box 4"/>
            <p:cNvSpPr txBox="1"/>
            <p:nvPr/>
          </p:nvSpPr>
          <p:spPr>
            <a:xfrm>
              <a:off x="3594100" y="4260850"/>
              <a:ext cx="750888" cy="1501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  <a:tabLst>
                  <a:tab pos="200025" algn="l"/>
                </a:tabLst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1575"/>
                </a:lnSpc>
                <a:tabLst>
                  <a:tab pos="200025" algn="l"/>
                </a:tabLst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200025" algn="l"/>
                </a:tabLst>
              </a:pP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200025" algn="l"/>
                </a:tabLst>
              </a:pP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015"/>
                </a:lnSpc>
                <a:tabLst>
                  <a:tab pos="200025" algn="l"/>
                </a:tabLst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κ</a:t>
              </a: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075"/>
                </a:lnSpc>
                <a:tabLst>
                  <a:tab pos="200025" algn="l"/>
                </a:tabLst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δ+1</a:t>
              </a:r>
              <a:endParaRPr lang="en-US" altLang="zh-CN" sz="12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1205" name="Text Box 5"/>
            <p:cNvSpPr txBox="1"/>
            <p:nvPr/>
          </p:nvSpPr>
          <p:spPr>
            <a:xfrm>
              <a:off x="5548313" y="4468813"/>
              <a:ext cx="989012" cy="13430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  <a:tabLst>
                  <a:tab pos="78105" algn="l"/>
                </a:tabLst>
              </a:pPr>
              <a:r>
                <a:rPr lang="zh-CN" altLang="en-US" sz="1600" b="1" dirty="0">
                  <a:latin typeface="Times New Roman" panose="02020603050405020304" charset="0"/>
                  <a:ea typeface="宋体" panose="02010600030101010101" pitchFamily="2" charset="-122"/>
                </a:rPr>
                <a:t>	</a:t>
              </a: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190"/>
                </a:lnSpc>
                <a:tabLst>
                  <a:tab pos="78105" algn="l"/>
                </a:tabLst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	λ-κ+1</a:t>
              </a: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78105" algn="l"/>
                </a:tabLst>
              </a:pP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875"/>
                </a:lnSpc>
                <a:tabLst>
                  <a:tab pos="78105" algn="l"/>
                </a:tabLst>
              </a:pPr>
              <a:endParaRPr lang="en-US" altLang="zh-CN" sz="2100" b="1" dirty="0"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defTabSz="802005">
                <a:lnSpc>
                  <a:spcPts val="3225"/>
                </a:lnSpc>
                <a:tabLst>
                  <a:tab pos="78105" algn="l"/>
                </a:tabLst>
              </a:pPr>
              <a:r>
                <a:rPr lang="en-US" altLang="zh-CN" sz="2800" b="1" dirty="0">
                  <a:latin typeface="Times New Roman" panose="02020603050405020304" charset="0"/>
                  <a:ea typeface="宋体" panose="02010600030101010101" pitchFamily="2" charset="-122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</a:rPr>
                <a:t>n-δ-1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1206" name="Oval 6"/>
            <p:cNvSpPr/>
            <p:nvPr/>
          </p:nvSpPr>
          <p:spPr>
            <a:xfrm>
              <a:off x="5348288" y="4149725"/>
              <a:ext cx="1292225" cy="19573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1207" name="Oval 7"/>
            <p:cNvSpPr/>
            <p:nvPr/>
          </p:nvSpPr>
          <p:spPr>
            <a:xfrm>
              <a:off x="3132138" y="4149725"/>
              <a:ext cx="1292225" cy="19573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51208" name="Line 8"/>
            <p:cNvSpPr/>
            <p:nvPr/>
          </p:nvSpPr>
          <p:spPr>
            <a:xfrm>
              <a:off x="3686175" y="4802188"/>
              <a:ext cx="0" cy="3254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1209" name="Line 9"/>
            <p:cNvSpPr/>
            <p:nvPr/>
          </p:nvSpPr>
          <p:spPr>
            <a:xfrm>
              <a:off x="3871913" y="4410075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0" name="Line 10"/>
            <p:cNvSpPr/>
            <p:nvPr/>
          </p:nvSpPr>
          <p:spPr>
            <a:xfrm>
              <a:off x="3870325" y="4672013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1" name="Line 11"/>
            <p:cNvSpPr/>
            <p:nvPr/>
          </p:nvSpPr>
          <p:spPr>
            <a:xfrm>
              <a:off x="3870325" y="4932363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2" name="Line 12"/>
            <p:cNvSpPr/>
            <p:nvPr/>
          </p:nvSpPr>
          <p:spPr>
            <a:xfrm>
              <a:off x="3870325" y="5127625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3" name="Line 13"/>
            <p:cNvSpPr/>
            <p:nvPr/>
          </p:nvSpPr>
          <p:spPr>
            <a:xfrm>
              <a:off x="3870325" y="5324475"/>
              <a:ext cx="17240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4" name="Line 14"/>
            <p:cNvSpPr/>
            <p:nvPr/>
          </p:nvSpPr>
          <p:spPr>
            <a:xfrm>
              <a:off x="3932238" y="4410075"/>
              <a:ext cx="1663700" cy="2619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5" name="Line 15"/>
            <p:cNvSpPr/>
            <p:nvPr/>
          </p:nvSpPr>
          <p:spPr>
            <a:xfrm>
              <a:off x="3932238" y="4410075"/>
              <a:ext cx="1663700" cy="522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6" name="Line 16"/>
            <p:cNvSpPr/>
            <p:nvPr/>
          </p:nvSpPr>
          <p:spPr>
            <a:xfrm>
              <a:off x="3932238" y="4410075"/>
              <a:ext cx="1663700" cy="7175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1217" name="Rectangle 19"/>
          <p:cNvSpPr/>
          <p:nvPr/>
        </p:nvSpPr>
        <p:spPr>
          <a:xfrm>
            <a:off x="1301750" y="511175"/>
            <a:ext cx="39179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14((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)(3))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2"/>
          <p:cNvSpPr txBox="1"/>
          <p:nvPr/>
        </p:nvSpPr>
        <p:spPr>
          <a:xfrm>
            <a:off x="3868738" y="4794250"/>
            <a:ext cx="236537" cy="355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</a:pPr>
            <a:r>
              <a:rPr lang="en-US" altLang="zh-CN" sz="2100" b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14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2226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28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2227" name="Text Box 4"/>
          <p:cNvSpPr txBox="1"/>
          <p:nvPr/>
        </p:nvSpPr>
        <p:spPr>
          <a:xfrm>
            <a:off x="820738" y="1228725"/>
            <a:ext cx="8143875" cy="29924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)(3) 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分析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): δ(G)=δ: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δ+1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d(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)≥δ,    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n-δ-1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d(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)≥n-δ-2≥δ.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κ(G)=κ: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删除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{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b="1" i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|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=1,2,…,κ },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λ(G)=λ: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删除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=1,2,…,κ}∪{(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2800" b="1" baseline="-25000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i="1" baseline="-25000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)|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i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=2,3,…,λ-κ+1}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2228" name="Text Box 5"/>
          <p:cNvSpPr txBox="1"/>
          <p:nvPr/>
        </p:nvSpPr>
        <p:spPr>
          <a:xfrm>
            <a:off x="3868738" y="4586288"/>
            <a:ext cx="236537" cy="355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</a:pPr>
            <a:r>
              <a:rPr lang="en-US" altLang="zh-CN" sz="2100" b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14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2229" name="Text Box 6"/>
          <p:cNvSpPr txBox="1"/>
          <p:nvPr/>
        </p:nvSpPr>
        <p:spPr>
          <a:xfrm>
            <a:off x="3863975" y="5416550"/>
            <a:ext cx="750888" cy="7016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  <a:tabLst>
                <a:tab pos="200025" algn="l"/>
              </a:tabLst>
            </a:pPr>
            <a:r>
              <a:rPr lang="en-US" altLang="zh-CN" sz="2100" b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en-US" altLang="zh-CN" sz="1400" b="1" dirty="0">
                <a:latin typeface="Times New Roman" panose="02020603050405020304" charset="0"/>
                <a:ea typeface="黑体" panose="02010609060101010101" charset="-122"/>
              </a:rPr>
              <a:t>κ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2725"/>
              </a:lnSpc>
              <a:tabLst>
                <a:tab pos="20002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δ+1</a:t>
            </a:r>
            <a:endParaRPr lang="en-US" altLang="zh-CN" sz="12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2230" name="Text Box 7"/>
          <p:cNvSpPr txBox="1"/>
          <p:nvPr/>
        </p:nvSpPr>
        <p:spPr>
          <a:xfrm>
            <a:off x="5888038" y="4794250"/>
            <a:ext cx="222250" cy="355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</a:pPr>
            <a:r>
              <a:rPr lang="en-US" altLang="zh-CN" sz="21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14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2231" name="Text Box 8"/>
          <p:cNvSpPr txBox="1"/>
          <p:nvPr/>
        </p:nvSpPr>
        <p:spPr>
          <a:xfrm>
            <a:off x="5818188" y="5692775"/>
            <a:ext cx="900112" cy="7429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  <a:tabLst>
                <a:tab pos="78105" algn="l"/>
              </a:tabLst>
            </a:pPr>
            <a:r>
              <a:rPr lang="zh-CN" altLang="en-US" sz="16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1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1400" b="1" dirty="0">
                <a:latin typeface="Times New Roman" panose="02020603050405020304" charset="0"/>
                <a:ea typeface="黑体" panose="02010609060101010101" charset="-122"/>
              </a:rPr>
              <a:t>λ-κ+1</a:t>
            </a:r>
            <a:endParaRPr lang="en-US" altLang="zh-CN" sz="14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50"/>
              </a:lnSpc>
              <a:tabLst>
                <a:tab pos="7810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n-δ-1</a:t>
            </a:r>
            <a:endParaRPr lang="en-US" altLang="zh-CN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2232" name="Oval 9"/>
          <p:cNvSpPr/>
          <p:nvPr/>
        </p:nvSpPr>
        <p:spPr>
          <a:xfrm>
            <a:off x="5494338" y="4475163"/>
            <a:ext cx="1293812" cy="1957387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2233" name="Oval 10"/>
          <p:cNvSpPr/>
          <p:nvPr/>
        </p:nvSpPr>
        <p:spPr>
          <a:xfrm>
            <a:off x="3463925" y="4476750"/>
            <a:ext cx="1292225" cy="1957388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2234" name="Line 11"/>
          <p:cNvSpPr/>
          <p:nvPr/>
        </p:nvSpPr>
        <p:spPr>
          <a:xfrm>
            <a:off x="3956050" y="5192713"/>
            <a:ext cx="0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52235" name="Line 12"/>
          <p:cNvSpPr/>
          <p:nvPr/>
        </p:nvSpPr>
        <p:spPr>
          <a:xfrm>
            <a:off x="4202113" y="4802188"/>
            <a:ext cx="1724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36" name="Line 13"/>
          <p:cNvSpPr/>
          <p:nvPr/>
        </p:nvSpPr>
        <p:spPr>
          <a:xfrm>
            <a:off x="4202113" y="4997450"/>
            <a:ext cx="1724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37" name="Line 14"/>
          <p:cNvSpPr/>
          <p:nvPr/>
        </p:nvSpPr>
        <p:spPr>
          <a:xfrm>
            <a:off x="4202113" y="5192713"/>
            <a:ext cx="1724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38" name="Line 15"/>
          <p:cNvSpPr/>
          <p:nvPr/>
        </p:nvSpPr>
        <p:spPr>
          <a:xfrm>
            <a:off x="4202113" y="5584825"/>
            <a:ext cx="1724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39" name="Line 16"/>
          <p:cNvSpPr/>
          <p:nvPr/>
        </p:nvSpPr>
        <p:spPr>
          <a:xfrm>
            <a:off x="4264025" y="4802188"/>
            <a:ext cx="1601788" cy="1952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40" name="Line 17"/>
          <p:cNvSpPr/>
          <p:nvPr/>
        </p:nvSpPr>
        <p:spPr>
          <a:xfrm>
            <a:off x="4264025" y="4802188"/>
            <a:ext cx="1601788" cy="390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41" name="Line 18"/>
          <p:cNvSpPr/>
          <p:nvPr/>
        </p:nvSpPr>
        <p:spPr>
          <a:xfrm>
            <a:off x="5988050" y="5127625"/>
            <a:ext cx="0" cy="6524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52242" name="Line 19"/>
          <p:cNvSpPr/>
          <p:nvPr/>
        </p:nvSpPr>
        <p:spPr>
          <a:xfrm>
            <a:off x="4264025" y="4802188"/>
            <a:ext cx="1601788" cy="5873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43" name="Line 20"/>
          <p:cNvSpPr/>
          <p:nvPr/>
        </p:nvSpPr>
        <p:spPr>
          <a:xfrm>
            <a:off x="4202113" y="5389563"/>
            <a:ext cx="1724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44" name="Line 21"/>
          <p:cNvSpPr/>
          <p:nvPr/>
        </p:nvSpPr>
        <p:spPr>
          <a:xfrm>
            <a:off x="4264025" y="4802188"/>
            <a:ext cx="1662113" cy="7826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45" name="Line 22"/>
          <p:cNvSpPr/>
          <p:nvPr/>
        </p:nvSpPr>
        <p:spPr>
          <a:xfrm>
            <a:off x="4264025" y="4802188"/>
            <a:ext cx="1601788" cy="977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246" name="Rectangle 25"/>
          <p:cNvSpPr/>
          <p:nvPr/>
        </p:nvSpPr>
        <p:spPr>
          <a:xfrm>
            <a:off x="1116013" y="511175"/>
            <a:ext cx="4913312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14((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)(3)(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续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29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3250" name="Text Box 4"/>
          <p:cNvSpPr txBox="1"/>
          <p:nvPr/>
        </p:nvSpPr>
        <p:spPr>
          <a:xfrm>
            <a:off x="755650" y="1439863"/>
            <a:ext cx="6196013" cy="1206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 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仅有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):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 (1)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如果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是完全图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则</a:t>
            </a:r>
            <a:endParaRPr lang="zh-CN" altLang="en-US" sz="2800" b="1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defTabSz="802005">
              <a:lnSpc>
                <a:spcPct val="14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G=K</a:t>
            </a:r>
            <a:r>
              <a:rPr lang="en-US" altLang="zh-CN" b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宋体" panose="02010600030101010101" pitchFamily="2" charset="-122"/>
              </a:rPr>
              <a:t>所以 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κ = λ = δ = </a:t>
            </a:r>
            <a:r>
              <a:rPr lang="en-US" altLang="zh-CN" sz="2800" b="1" i="1" dirty="0"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宋体" panose="02010600030101010101" pitchFamily="2" charset="-122"/>
              </a:rPr>
              <a:t>-1.</a:t>
            </a:r>
            <a:endParaRPr lang="en-US" altLang="zh-CN" sz="28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3251" name="Oval 5"/>
          <p:cNvSpPr/>
          <p:nvPr/>
        </p:nvSpPr>
        <p:spPr>
          <a:xfrm>
            <a:off x="1247775" y="41608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2" name="Oval 6"/>
          <p:cNvSpPr/>
          <p:nvPr/>
        </p:nvSpPr>
        <p:spPr>
          <a:xfrm>
            <a:off x="2109788" y="3703638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3" name="Oval 7"/>
          <p:cNvSpPr/>
          <p:nvPr/>
        </p:nvSpPr>
        <p:spPr>
          <a:xfrm>
            <a:off x="2109788" y="46831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4" name="Oval 8"/>
          <p:cNvSpPr/>
          <p:nvPr/>
        </p:nvSpPr>
        <p:spPr>
          <a:xfrm>
            <a:off x="4633913" y="3703638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5" name="Oval 9"/>
          <p:cNvSpPr/>
          <p:nvPr/>
        </p:nvSpPr>
        <p:spPr>
          <a:xfrm>
            <a:off x="5495925" y="3703638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6" name="Oval 10"/>
          <p:cNvSpPr/>
          <p:nvPr/>
        </p:nvSpPr>
        <p:spPr>
          <a:xfrm>
            <a:off x="5495925" y="46831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7" name="Oval 11"/>
          <p:cNvSpPr/>
          <p:nvPr/>
        </p:nvSpPr>
        <p:spPr>
          <a:xfrm>
            <a:off x="4633913" y="46831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8" name="Oval 12"/>
          <p:cNvSpPr/>
          <p:nvPr/>
        </p:nvSpPr>
        <p:spPr>
          <a:xfrm>
            <a:off x="3403600" y="37687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59" name="Oval 13"/>
          <p:cNvSpPr/>
          <p:nvPr/>
        </p:nvSpPr>
        <p:spPr>
          <a:xfrm>
            <a:off x="2971800" y="46831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60" name="Oval 14"/>
          <p:cNvSpPr/>
          <p:nvPr/>
        </p:nvSpPr>
        <p:spPr>
          <a:xfrm>
            <a:off x="3833813" y="46831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61" name="Line 15"/>
          <p:cNvSpPr/>
          <p:nvPr/>
        </p:nvSpPr>
        <p:spPr>
          <a:xfrm>
            <a:off x="2170113" y="3833813"/>
            <a:ext cx="0" cy="849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2" name="Line 16"/>
          <p:cNvSpPr/>
          <p:nvPr/>
        </p:nvSpPr>
        <p:spPr>
          <a:xfrm flipH="1">
            <a:off x="3032125" y="3900488"/>
            <a:ext cx="371475" cy="7826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3" name="Line 17"/>
          <p:cNvSpPr/>
          <p:nvPr/>
        </p:nvSpPr>
        <p:spPr>
          <a:xfrm>
            <a:off x="3095625" y="4749800"/>
            <a:ext cx="7381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4" name="Line 18"/>
          <p:cNvSpPr/>
          <p:nvPr/>
        </p:nvSpPr>
        <p:spPr>
          <a:xfrm>
            <a:off x="3463925" y="3900488"/>
            <a:ext cx="430213" cy="7826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5" name="Line 19"/>
          <p:cNvSpPr/>
          <p:nvPr/>
        </p:nvSpPr>
        <p:spPr>
          <a:xfrm>
            <a:off x="4757738" y="3768725"/>
            <a:ext cx="7381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6" name="Line 20"/>
          <p:cNvSpPr/>
          <p:nvPr/>
        </p:nvSpPr>
        <p:spPr>
          <a:xfrm>
            <a:off x="4757738" y="4749800"/>
            <a:ext cx="7381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7" name="Line 21"/>
          <p:cNvSpPr/>
          <p:nvPr/>
        </p:nvSpPr>
        <p:spPr>
          <a:xfrm>
            <a:off x="4695825" y="3833813"/>
            <a:ext cx="0" cy="849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8" name="Line 22"/>
          <p:cNvSpPr/>
          <p:nvPr/>
        </p:nvSpPr>
        <p:spPr>
          <a:xfrm>
            <a:off x="5557838" y="3833813"/>
            <a:ext cx="0" cy="849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69" name="Line 23"/>
          <p:cNvSpPr/>
          <p:nvPr/>
        </p:nvSpPr>
        <p:spPr>
          <a:xfrm flipV="1">
            <a:off x="4757738" y="3768725"/>
            <a:ext cx="8001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70" name="Line 24"/>
          <p:cNvSpPr/>
          <p:nvPr/>
        </p:nvSpPr>
        <p:spPr>
          <a:xfrm>
            <a:off x="4757738" y="3833813"/>
            <a:ext cx="738187" cy="849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71" name="Oval 25"/>
          <p:cNvSpPr/>
          <p:nvPr/>
        </p:nvSpPr>
        <p:spPr>
          <a:xfrm>
            <a:off x="6973888" y="3573463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72" name="Oval 26"/>
          <p:cNvSpPr/>
          <p:nvPr/>
        </p:nvSpPr>
        <p:spPr>
          <a:xfrm>
            <a:off x="7589838" y="3963988"/>
            <a:ext cx="123825" cy="131762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73" name="Oval 27"/>
          <p:cNvSpPr/>
          <p:nvPr/>
        </p:nvSpPr>
        <p:spPr>
          <a:xfrm>
            <a:off x="6419850" y="402907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74" name="Oval 28"/>
          <p:cNvSpPr/>
          <p:nvPr/>
        </p:nvSpPr>
        <p:spPr>
          <a:xfrm>
            <a:off x="6604000" y="4683125"/>
            <a:ext cx="123825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75" name="Oval 29"/>
          <p:cNvSpPr/>
          <p:nvPr/>
        </p:nvSpPr>
        <p:spPr>
          <a:xfrm>
            <a:off x="7405688" y="4683125"/>
            <a:ext cx="122237" cy="131763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3276" name="Line 30"/>
          <p:cNvSpPr/>
          <p:nvPr/>
        </p:nvSpPr>
        <p:spPr>
          <a:xfrm flipV="1">
            <a:off x="6543675" y="3702050"/>
            <a:ext cx="493713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77" name="Line 31"/>
          <p:cNvSpPr/>
          <p:nvPr/>
        </p:nvSpPr>
        <p:spPr>
          <a:xfrm>
            <a:off x="7096125" y="3703638"/>
            <a:ext cx="493713" cy="2619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78" name="Line 32"/>
          <p:cNvSpPr/>
          <p:nvPr/>
        </p:nvSpPr>
        <p:spPr>
          <a:xfrm flipH="1">
            <a:off x="7466013" y="4030663"/>
            <a:ext cx="185737" cy="6524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79" name="Line 33"/>
          <p:cNvSpPr/>
          <p:nvPr/>
        </p:nvSpPr>
        <p:spPr>
          <a:xfrm flipV="1">
            <a:off x="6727825" y="4749800"/>
            <a:ext cx="67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0" name="Line 34"/>
          <p:cNvSpPr/>
          <p:nvPr/>
        </p:nvSpPr>
        <p:spPr>
          <a:xfrm>
            <a:off x="6481763" y="4160838"/>
            <a:ext cx="123825" cy="5222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1" name="Line 35"/>
          <p:cNvSpPr/>
          <p:nvPr/>
        </p:nvSpPr>
        <p:spPr>
          <a:xfrm flipH="1">
            <a:off x="6665913" y="3703638"/>
            <a:ext cx="369887" cy="9810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2" name="Line 36"/>
          <p:cNvSpPr/>
          <p:nvPr/>
        </p:nvSpPr>
        <p:spPr>
          <a:xfrm flipV="1">
            <a:off x="6543675" y="4032250"/>
            <a:ext cx="1046163" cy="635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3" name="Line 37"/>
          <p:cNvSpPr/>
          <p:nvPr/>
        </p:nvSpPr>
        <p:spPr>
          <a:xfrm>
            <a:off x="7035800" y="3703638"/>
            <a:ext cx="369888" cy="9794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4" name="Line 38"/>
          <p:cNvSpPr/>
          <p:nvPr/>
        </p:nvSpPr>
        <p:spPr>
          <a:xfrm>
            <a:off x="6542088" y="4094163"/>
            <a:ext cx="923925" cy="654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5" name="Line 39"/>
          <p:cNvSpPr/>
          <p:nvPr/>
        </p:nvSpPr>
        <p:spPr>
          <a:xfrm flipV="1">
            <a:off x="6727825" y="4030663"/>
            <a:ext cx="862013" cy="6524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3286" name="Rectangle 41"/>
          <p:cNvSpPr/>
          <p:nvPr/>
        </p:nvSpPr>
        <p:spPr>
          <a:xfrm>
            <a:off x="1309688" y="438150"/>
            <a:ext cx="4414837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14((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仅有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)(1))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37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4274" name="Text Box 4"/>
          <p:cNvSpPr txBox="1"/>
          <p:nvPr/>
        </p:nvSpPr>
        <p:spPr>
          <a:xfrm>
            <a:off x="757238" y="1381125"/>
            <a:ext cx="7343775" cy="11207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仅有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): (2) δ≥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 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 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时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12,13.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 δ&lt;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 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/2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 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时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10. #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4275" name="Rectangle 6"/>
          <p:cNvSpPr/>
          <p:nvPr/>
        </p:nvSpPr>
        <p:spPr>
          <a:xfrm>
            <a:off x="1209675" y="511175"/>
            <a:ext cx="51625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14((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仅有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)(2)(3))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38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5298" name="Text Box 4"/>
          <p:cNvSpPr txBox="1"/>
          <p:nvPr/>
        </p:nvSpPr>
        <p:spPr>
          <a:xfrm>
            <a:off x="611188" y="1363663"/>
            <a:ext cx="7799387" cy="334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15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阶以上无向简单连通图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 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中任意两个顶点共圈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独立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(independent)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两条除起点和终点外无其他公共顶点的路径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15</a:t>
            </a:r>
            <a:r>
              <a:rPr lang="en-US" altLang="zh-CN" sz="2800" b="1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阶以上无向简单连通图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 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中任意两个顶点之间有两条以上独立路径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5299" name="Oval 5"/>
          <p:cNvSpPr/>
          <p:nvPr/>
        </p:nvSpPr>
        <p:spPr>
          <a:xfrm>
            <a:off x="2663825" y="56499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5300" name="Oval 6"/>
          <p:cNvSpPr/>
          <p:nvPr/>
        </p:nvSpPr>
        <p:spPr>
          <a:xfrm>
            <a:off x="5865813" y="56499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5301" name="Freeform 7"/>
          <p:cNvSpPr/>
          <p:nvPr/>
        </p:nvSpPr>
        <p:spPr>
          <a:xfrm>
            <a:off x="2787650" y="5737225"/>
            <a:ext cx="3138488" cy="5667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313" h="393">
                <a:moveTo>
                  <a:pt x="0" y="30"/>
                </a:moveTo>
                <a:cubicBezTo>
                  <a:pt x="378" y="211"/>
                  <a:pt x="756" y="393"/>
                  <a:pt x="1043" y="393"/>
                </a:cubicBezTo>
                <a:cubicBezTo>
                  <a:pt x="1330" y="393"/>
                  <a:pt x="1549" y="60"/>
                  <a:pt x="1723" y="30"/>
                </a:cubicBezTo>
                <a:cubicBezTo>
                  <a:pt x="1897" y="0"/>
                  <a:pt x="1988" y="211"/>
                  <a:pt x="2086" y="211"/>
                </a:cubicBezTo>
                <a:cubicBezTo>
                  <a:pt x="2184" y="211"/>
                  <a:pt x="2248" y="120"/>
                  <a:pt x="2313" y="3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02" name="Freeform 8"/>
          <p:cNvSpPr/>
          <p:nvPr/>
        </p:nvSpPr>
        <p:spPr>
          <a:xfrm>
            <a:off x="2787650" y="5040313"/>
            <a:ext cx="3138488" cy="6096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313" h="423">
                <a:moveTo>
                  <a:pt x="0" y="423"/>
                </a:moveTo>
                <a:cubicBezTo>
                  <a:pt x="200" y="272"/>
                  <a:pt x="400" y="121"/>
                  <a:pt x="589" y="106"/>
                </a:cubicBezTo>
                <a:cubicBezTo>
                  <a:pt x="778" y="91"/>
                  <a:pt x="968" y="348"/>
                  <a:pt x="1134" y="333"/>
                </a:cubicBezTo>
                <a:cubicBezTo>
                  <a:pt x="1300" y="318"/>
                  <a:pt x="1391" y="0"/>
                  <a:pt x="1587" y="15"/>
                </a:cubicBezTo>
                <a:cubicBezTo>
                  <a:pt x="1783" y="30"/>
                  <a:pt x="2048" y="226"/>
                  <a:pt x="2313" y="42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5303" name="Rectangle 10"/>
          <p:cNvSpPr/>
          <p:nvPr/>
        </p:nvSpPr>
        <p:spPr>
          <a:xfrm>
            <a:off x="1204913" y="511175"/>
            <a:ext cx="5154612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2-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连通的充分必要条件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39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7346" name="Text Box 4"/>
          <p:cNvSpPr txBox="1"/>
          <p:nvPr/>
        </p:nvSpPr>
        <p:spPr>
          <a:xfrm>
            <a:off x="676275" y="1412875"/>
            <a:ext cx="8143875" cy="40767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15</a:t>
            </a:r>
            <a:r>
              <a:rPr lang="en-US" altLang="zh-CN" sz="2800" b="1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阶以上无向简单连通图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15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中任意两个顶点之间有两条以上独立路径。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25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25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   (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⇐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显然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是连通的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并且删除任何一个顶点不破坏连通性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κ≥2.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(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⇒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分情况讨论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在两个顶点之间有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(1) 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  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(2) 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 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288925" algn="l"/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(4) 4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7347" name="Rectangle 6"/>
          <p:cNvSpPr/>
          <p:nvPr/>
        </p:nvSpPr>
        <p:spPr>
          <a:xfrm>
            <a:off x="1331913" y="476250"/>
            <a:ext cx="333375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15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40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8370" name="Text Box 4"/>
          <p:cNvSpPr txBox="1"/>
          <p:nvPr/>
        </p:nvSpPr>
        <p:spPr>
          <a:xfrm>
            <a:off x="611188" y="1446213"/>
            <a:ext cx="7345362" cy="31416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200025" algn="l"/>
                <a:tab pos="300355" algn="l"/>
                <a:tab pos="690880" algn="l"/>
              </a:tabLst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续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):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⇒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15"/>
              </a:lnSpc>
              <a:tabLst>
                <a:tab pos="200025" algn="l"/>
                <a:tab pos="300355" algn="l"/>
                <a:tab pos="69088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(1)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一条路径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不可能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200025" algn="l"/>
                <a:tab pos="300355" algn="l"/>
                <a:tab pos="690880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tabLst>
                <a:tab pos="200025" algn="l"/>
                <a:tab pos="300355" algn="l"/>
                <a:tab pos="69088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两条路径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200025" algn="l"/>
                <a:tab pos="300355" algn="l"/>
                <a:tab pos="690880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200025" algn="l"/>
                <a:tab pos="300355" algn="l"/>
                <a:tab pos="69088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	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(2a)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独立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成立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200025" algn="l"/>
                <a:tab pos="300355" algn="l"/>
                <a:tab pos="690880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200025" algn="l"/>
                <a:tab pos="300355" algn="l"/>
                <a:tab pos="690880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		(2b)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非独立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不可能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200025" algn="l"/>
                <a:tab pos="300355" algn="l"/>
                <a:tab pos="690880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200025" algn="l"/>
                <a:tab pos="300355" algn="l"/>
                <a:tab pos="690880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假设两两非独立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否则同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(2a)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8371" name="Oval 5"/>
          <p:cNvSpPr/>
          <p:nvPr/>
        </p:nvSpPr>
        <p:spPr>
          <a:xfrm>
            <a:off x="1539875" y="526732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8372" name="Oval 6"/>
          <p:cNvSpPr/>
          <p:nvPr/>
        </p:nvSpPr>
        <p:spPr>
          <a:xfrm>
            <a:off x="3633788" y="5267325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8373" name="Oval 7"/>
          <p:cNvSpPr/>
          <p:nvPr/>
        </p:nvSpPr>
        <p:spPr>
          <a:xfrm>
            <a:off x="2586038" y="5267325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8374" name="Oval 8"/>
          <p:cNvSpPr/>
          <p:nvPr/>
        </p:nvSpPr>
        <p:spPr>
          <a:xfrm>
            <a:off x="4803775" y="526732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8375" name="Oval 9"/>
          <p:cNvSpPr/>
          <p:nvPr/>
        </p:nvSpPr>
        <p:spPr>
          <a:xfrm>
            <a:off x="6896100" y="526732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8376" name="Oval 10"/>
          <p:cNvSpPr/>
          <p:nvPr/>
        </p:nvSpPr>
        <p:spPr>
          <a:xfrm>
            <a:off x="5789613" y="5267325"/>
            <a:ext cx="122237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8377" name="Line 11"/>
          <p:cNvSpPr/>
          <p:nvPr/>
        </p:nvSpPr>
        <p:spPr>
          <a:xfrm>
            <a:off x="1663700" y="5332413"/>
            <a:ext cx="922338" cy="0"/>
          </a:xfrm>
          <a:prstGeom prst="line">
            <a:avLst/>
          </a:prstGeom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8378" name="Line 12"/>
          <p:cNvSpPr/>
          <p:nvPr/>
        </p:nvSpPr>
        <p:spPr>
          <a:xfrm>
            <a:off x="2709863" y="5332413"/>
            <a:ext cx="923925" cy="0"/>
          </a:xfrm>
          <a:prstGeom prst="line">
            <a:avLst/>
          </a:prstGeom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8379" name="Line 13"/>
          <p:cNvSpPr/>
          <p:nvPr/>
        </p:nvSpPr>
        <p:spPr>
          <a:xfrm>
            <a:off x="4927600" y="5332413"/>
            <a:ext cx="8620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8380" name="Line 14"/>
          <p:cNvSpPr/>
          <p:nvPr/>
        </p:nvSpPr>
        <p:spPr>
          <a:xfrm>
            <a:off x="5910263" y="5332413"/>
            <a:ext cx="9858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8381" name="Freeform 15"/>
          <p:cNvSpPr/>
          <p:nvPr/>
        </p:nvSpPr>
        <p:spPr>
          <a:xfrm>
            <a:off x="4864100" y="4940300"/>
            <a:ext cx="2095500" cy="93662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43" h="650">
                <a:moveTo>
                  <a:pt x="0" y="287"/>
                </a:moveTo>
                <a:cubicBezTo>
                  <a:pt x="148" y="154"/>
                  <a:pt x="296" y="22"/>
                  <a:pt x="409" y="15"/>
                </a:cubicBezTo>
                <a:cubicBezTo>
                  <a:pt x="522" y="8"/>
                  <a:pt x="628" y="189"/>
                  <a:pt x="681" y="242"/>
                </a:cubicBezTo>
                <a:cubicBezTo>
                  <a:pt x="734" y="295"/>
                  <a:pt x="673" y="271"/>
                  <a:pt x="726" y="332"/>
                </a:cubicBezTo>
                <a:cubicBezTo>
                  <a:pt x="779" y="393"/>
                  <a:pt x="907" y="650"/>
                  <a:pt x="998" y="605"/>
                </a:cubicBezTo>
                <a:cubicBezTo>
                  <a:pt x="1089" y="560"/>
                  <a:pt x="1179" y="120"/>
                  <a:pt x="1270" y="60"/>
                </a:cubicBezTo>
                <a:cubicBezTo>
                  <a:pt x="1361" y="0"/>
                  <a:pt x="1452" y="121"/>
                  <a:pt x="1543" y="242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8382" name="Rectangle 16"/>
          <p:cNvSpPr/>
          <p:nvPr/>
        </p:nvSpPr>
        <p:spPr>
          <a:xfrm>
            <a:off x="1292225" y="476250"/>
            <a:ext cx="333375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15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41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9394" name="Text Box 4"/>
          <p:cNvSpPr txBox="1"/>
          <p:nvPr/>
        </p:nvSpPr>
        <p:spPr>
          <a:xfrm>
            <a:off x="539750" y="1320800"/>
            <a:ext cx="7704138" cy="28209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875"/>
              </a:lnSpc>
              <a:tabLst>
                <a:tab pos="100330" algn="l"/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100330" algn="l"/>
                <a:tab pos="300355" algn="l"/>
              </a:tabLst>
            </a:pPr>
            <a:endParaRPr lang="en-US" altLang="zh-CN" sz="39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915"/>
              </a:lnSpc>
              <a:tabLst>
                <a:tab pos="100330" algn="l"/>
                <a:tab pos="300355" algn="l"/>
              </a:tabLst>
            </a:pPr>
            <a:r>
              <a:rPr lang="en-US" altLang="zh-CN" sz="39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续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charset="0"/>
                <a:ea typeface="黑体" panose="02010609060101010101" charset="-122"/>
              </a:rPr>
              <a:t>):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⇒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100330" algn="l"/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	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(3a)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路径有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个公共交点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不可能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100330" algn="l"/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	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(3b)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个交点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(2a)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条独立路径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100330" algn="l"/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	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(3c)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个以上交点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产生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条独立路径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100330" algn="l"/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100330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	(4) 4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(3). #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59395" name="Oval 5"/>
          <p:cNvSpPr/>
          <p:nvPr/>
        </p:nvSpPr>
        <p:spPr>
          <a:xfrm>
            <a:off x="815975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396" name="Oval 6"/>
          <p:cNvSpPr/>
          <p:nvPr/>
        </p:nvSpPr>
        <p:spPr>
          <a:xfrm>
            <a:off x="2847975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397" name="Oval 7"/>
          <p:cNvSpPr/>
          <p:nvPr/>
        </p:nvSpPr>
        <p:spPr>
          <a:xfrm>
            <a:off x="1616075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398" name="Oval 8"/>
          <p:cNvSpPr/>
          <p:nvPr/>
        </p:nvSpPr>
        <p:spPr>
          <a:xfrm>
            <a:off x="3649663" y="5214938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399" name="Oval 9"/>
          <p:cNvSpPr/>
          <p:nvPr/>
        </p:nvSpPr>
        <p:spPr>
          <a:xfrm>
            <a:off x="5741988" y="5214938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0" name="Oval 10"/>
          <p:cNvSpPr/>
          <p:nvPr/>
        </p:nvSpPr>
        <p:spPr>
          <a:xfrm>
            <a:off x="5064125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1" name="Oval 11"/>
          <p:cNvSpPr/>
          <p:nvPr/>
        </p:nvSpPr>
        <p:spPr>
          <a:xfrm>
            <a:off x="6542088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2" name="Oval 12"/>
          <p:cNvSpPr/>
          <p:nvPr/>
        </p:nvSpPr>
        <p:spPr>
          <a:xfrm>
            <a:off x="8451850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3" name="Oval 13"/>
          <p:cNvSpPr/>
          <p:nvPr/>
        </p:nvSpPr>
        <p:spPr>
          <a:xfrm>
            <a:off x="7896225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4" name="Oval 14"/>
          <p:cNvSpPr/>
          <p:nvPr/>
        </p:nvSpPr>
        <p:spPr>
          <a:xfrm>
            <a:off x="4448175" y="4735513"/>
            <a:ext cx="123825" cy="128587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5" name="Oval 15"/>
          <p:cNvSpPr/>
          <p:nvPr/>
        </p:nvSpPr>
        <p:spPr>
          <a:xfrm>
            <a:off x="7281863" y="4670425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6" name="Oval 16"/>
          <p:cNvSpPr/>
          <p:nvPr/>
        </p:nvSpPr>
        <p:spPr>
          <a:xfrm>
            <a:off x="8143875" y="4867275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9407" name="Freeform 17"/>
          <p:cNvSpPr/>
          <p:nvPr/>
        </p:nvSpPr>
        <p:spPr>
          <a:xfrm>
            <a:off x="876300" y="4930775"/>
            <a:ext cx="739775" cy="29527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45" h="205">
                <a:moveTo>
                  <a:pt x="0" y="205"/>
                </a:moveTo>
                <a:cubicBezTo>
                  <a:pt x="38" y="125"/>
                  <a:pt x="76" y="46"/>
                  <a:pt x="137" y="23"/>
                </a:cubicBezTo>
                <a:cubicBezTo>
                  <a:pt x="198" y="0"/>
                  <a:pt x="295" y="39"/>
                  <a:pt x="363" y="69"/>
                </a:cubicBezTo>
                <a:cubicBezTo>
                  <a:pt x="431" y="99"/>
                  <a:pt x="515" y="182"/>
                  <a:pt x="545" y="205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08" name="Freeform 18"/>
          <p:cNvSpPr/>
          <p:nvPr/>
        </p:nvSpPr>
        <p:spPr>
          <a:xfrm>
            <a:off x="939800" y="5062538"/>
            <a:ext cx="676275" cy="14128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499" h="98">
                <a:moveTo>
                  <a:pt x="0" y="98"/>
                </a:moveTo>
                <a:cubicBezTo>
                  <a:pt x="64" y="56"/>
                  <a:pt x="128" y="14"/>
                  <a:pt x="181" y="7"/>
                </a:cubicBezTo>
                <a:cubicBezTo>
                  <a:pt x="234" y="0"/>
                  <a:pt x="264" y="38"/>
                  <a:pt x="317" y="53"/>
                </a:cubicBezTo>
                <a:cubicBezTo>
                  <a:pt x="370" y="68"/>
                  <a:pt x="434" y="83"/>
                  <a:pt x="499" y="98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09" name="Freeform 19"/>
          <p:cNvSpPr/>
          <p:nvPr/>
        </p:nvSpPr>
        <p:spPr>
          <a:xfrm>
            <a:off x="876300" y="5322888"/>
            <a:ext cx="801688" cy="3698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90" h="257">
                <a:moveTo>
                  <a:pt x="0" y="0"/>
                </a:moveTo>
                <a:cubicBezTo>
                  <a:pt x="42" y="98"/>
                  <a:pt x="84" y="197"/>
                  <a:pt x="137" y="227"/>
                </a:cubicBezTo>
                <a:cubicBezTo>
                  <a:pt x="190" y="257"/>
                  <a:pt x="265" y="205"/>
                  <a:pt x="318" y="182"/>
                </a:cubicBezTo>
                <a:cubicBezTo>
                  <a:pt x="371" y="159"/>
                  <a:pt x="409" y="121"/>
                  <a:pt x="454" y="91"/>
                </a:cubicBezTo>
                <a:cubicBezTo>
                  <a:pt x="499" y="61"/>
                  <a:pt x="544" y="30"/>
                  <a:pt x="590" y="0"/>
                </a:cubicBez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0" name="Freeform 20"/>
          <p:cNvSpPr/>
          <p:nvPr/>
        </p:nvSpPr>
        <p:spPr>
          <a:xfrm>
            <a:off x="1677988" y="4865688"/>
            <a:ext cx="1230312" cy="3492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907" h="242">
                <a:moveTo>
                  <a:pt x="0" y="242"/>
                </a:moveTo>
                <a:cubicBezTo>
                  <a:pt x="53" y="136"/>
                  <a:pt x="106" y="30"/>
                  <a:pt x="182" y="15"/>
                </a:cubicBezTo>
                <a:cubicBezTo>
                  <a:pt x="258" y="0"/>
                  <a:pt x="371" y="144"/>
                  <a:pt x="454" y="151"/>
                </a:cubicBezTo>
                <a:cubicBezTo>
                  <a:pt x="537" y="158"/>
                  <a:pt x="606" y="45"/>
                  <a:pt x="681" y="60"/>
                </a:cubicBezTo>
                <a:cubicBezTo>
                  <a:pt x="756" y="75"/>
                  <a:pt x="831" y="158"/>
                  <a:pt x="907" y="242"/>
                </a:cubicBezTo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1" name="Freeform 21"/>
          <p:cNvSpPr/>
          <p:nvPr/>
        </p:nvSpPr>
        <p:spPr>
          <a:xfrm>
            <a:off x="1738313" y="5173663"/>
            <a:ext cx="1169987" cy="14922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862" h="104">
                <a:moveTo>
                  <a:pt x="0" y="52"/>
                </a:moveTo>
                <a:cubicBezTo>
                  <a:pt x="151" y="26"/>
                  <a:pt x="303" y="0"/>
                  <a:pt x="409" y="7"/>
                </a:cubicBezTo>
                <a:cubicBezTo>
                  <a:pt x="515" y="14"/>
                  <a:pt x="561" y="90"/>
                  <a:pt x="636" y="97"/>
                </a:cubicBezTo>
                <a:cubicBezTo>
                  <a:pt x="711" y="104"/>
                  <a:pt x="786" y="78"/>
                  <a:pt x="862" y="52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2" name="Freeform 22"/>
          <p:cNvSpPr/>
          <p:nvPr/>
        </p:nvSpPr>
        <p:spPr>
          <a:xfrm>
            <a:off x="1677988" y="5322888"/>
            <a:ext cx="1230312" cy="327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907" h="227">
                <a:moveTo>
                  <a:pt x="0" y="0"/>
                </a:moveTo>
                <a:cubicBezTo>
                  <a:pt x="83" y="113"/>
                  <a:pt x="167" y="227"/>
                  <a:pt x="318" y="227"/>
                </a:cubicBezTo>
                <a:cubicBezTo>
                  <a:pt x="469" y="227"/>
                  <a:pt x="688" y="113"/>
                  <a:pt x="907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3" name="Freeform 23"/>
          <p:cNvSpPr/>
          <p:nvPr/>
        </p:nvSpPr>
        <p:spPr>
          <a:xfrm>
            <a:off x="5126038" y="4987925"/>
            <a:ext cx="614362" cy="26987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453" h="188">
                <a:moveTo>
                  <a:pt x="0" y="143"/>
                </a:moveTo>
                <a:cubicBezTo>
                  <a:pt x="53" y="71"/>
                  <a:pt x="106" y="0"/>
                  <a:pt x="181" y="7"/>
                </a:cubicBezTo>
                <a:cubicBezTo>
                  <a:pt x="256" y="14"/>
                  <a:pt x="354" y="101"/>
                  <a:pt x="453" y="1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4" name="Freeform 24"/>
          <p:cNvSpPr/>
          <p:nvPr/>
        </p:nvSpPr>
        <p:spPr>
          <a:xfrm>
            <a:off x="3709988" y="5257800"/>
            <a:ext cx="1416050" cy="66357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043" h="461">
                <a:moveTo>
                  <a:pt x="0" y="45"/>
                </a:moveTo>
                <a:cubicBezTo>
                  <a:pt x="140" y="253"/>
                  <a:pt x="280" y="461"/>
                  <a:pt x="454" y="454"/>
                </a:cubicBezTo>
                <a:cubicBezTo>
                  <a:pt x="628" y="447"/>
                  <a:pt x="835" y="223"/>
                  <a:pt x="1043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5" name="Freeform 25"/>
          <p:cNvSpPr/>
          <p:nvPr/>
        </p:nvSpPr>
        <p:spPr>
          <a:xfrm>
            <a:off x="3709988" y="4538663"/>
            <a:ext cx="2093912" cy="11874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42" h="824">
                <a:moveTo>
                  <a:pt x="0" y="499"/>
                </a:moveTo>
                <a:cubicBezTo>
                  <a:pt x="37" y="294"/>
                  <a:pt x="75" y="90"/>
                  <a:pt x="181" y="45"/>
                </a:cubicBezTo>
                <a:cubicBezTo>
                  <a:pt x="287" y="0"/>
                  <a:pt x="491" y="151"/>
                  <a:pt x="635" y="227"/>
                </a:cubicBezTo>
                <a:cubicBezTo>
                  <a:pt x="779" y="303"/>
                  <a:pt x="937" y="401"/>
                  <a:pt x="1043" y="499"/>
                </a:cubicBezTo>
                <a:cubicBezTo>
                  <a:pt x="1149" y="597"/>
                  <a:pt x="1187" y="810"/>
                  <a:pt x="1270" y="817"/>
                </a:cubicBezTo>
                <a:cubicBezTo>
                  <a:pt x="1353" y="824"/>
                  <a:pt x="1447" y="684"/>
                  <a:pt x="1542" y="544"/>
                </a:cubicBezTo>
              </a:path>
            </a:pathLst>
          </a:custGeom>
          <a:noFill/>
          <a:ln w="9525" cap="flat" cmpd="sng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6" name="Freeform 26"/>
          <p:cNvSpPr/>
          <p:nvPr/>
        </p:nvSpPr>
        <p:spPr>
          <a:xfrm>
            <a:off x="3709988" y="4343400"/>
            <a:ext cx="2093912" cy="92551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542" h="643">
                <a:moveTo>
                  <a:pt x="0" y="643"/>
                </a:moveTo>
                <a:cubicBezTo>
                  <a:pt x="219" y="514"/>
                  <a:pt x="438" y="386"/>
                  <a:pt x="544" y="326"/>
                </a:cubicBezTo>
                <a:cubicBezTo>
                  <a:pt x="650" y="266"/>
                  <a:pt x="559" y="325"/>
                  <a:pt x="635" y="280"/>
                </a:cubicBezTo>
                <a:cubicBezTo>
                  <a:pt x="711" y="235"/>
                  <a:pt x="847" y="0"/>
                  <a:pt x="998" y="53"/>
                </a:cubicBezTo>
                <a:cubicBezTo>
                  <a:pt x="1149" y="106"/>
                  <a:pt x="1345" y="352"/>
                  <a:pt x="1542" y="598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7" name="Freeform 27"/>
          <p:cNvSpPr/>
          <p:nvPr/>
        </p:nvSpPr>
        <p:spPr>
          <a:xfrm>
            <a:off x="6604000" y="4518025"/>
            <a:ext cx="1908175" cy="107791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406" h="749">
                <a:moveTo>
                  <a:pt x="0" y="469"/>
                </a:moveTo>
                <a:cubicBezTo>
                  <a:pt x="45" y="294"/>
                  <a:pt x="90" y="120"/>
                  <a:pt x="181" y="60"/>
                </a:cubicBezTo>
                <a:cubicBezTo>
                  <a:pt x="272" y="0"/>
                  <a:pt x="416" y="30"/>
                  <a:pt x="544" y="106"/>
                </a:cubicBezTo>
                <a:cubicBezTo>
                  <a:pt x="672" y="182"/>
                  <a:pt x="839" y="408"/>
                  <a:pt x="952" y="514"/>
                </a:cubicBezTo>
                <a:cubicBezTo>
                  <a:pt x="1065" y="620"/>
                  <a:pt x="1149" y="733"/>
                  <a:pt x="1225" y="741"/>
                </a:cubicBezTo>
                <a:cubicBezTo>
                  <a:pt x="1301" y="749"/>
                  <a:pt x="1353" y="654"/>
                  <a:pt x="1406" y="559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8" name="Freeform 28"/>
          <p:cNvSpPr/>
          <p:nvPr/>
        </p:nvSpPr>
        <p:spPr>
          <a:xfrm>
            <a:off x="6604000" y="4321175"/>
            <a:ext cx="1847850" cy="99218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361" h="688">
                <a:moveTo>
                  <a:pt x="0" y="650"/>
                </a:moveTo>
                <a:cubicBezTo>
                  <a:pt x="200" y="544"/>
                  <a:pt x="400" y="439"/>
                  <a:pt x="544" y="333"/>
                </a:cubicBezTo>
                <a:cubicBezTo>
                  <a:pt x="688" y="227"/>
                  <a:pt x="756" y="0"/>
                  <a:pt x="862" y="15"/>
                </a:cubicBezTo>
                <a:cubicBezTo>
                  <a:pt x="968" y="30"/>
                  <a:pt x="1119" y="317"/>
                  <a:pt x="1179" y="423"/>
                </a:cubicBezTo>
                <a:cubicBezTo>
                  <a:pt x="1239" y="529"/>
                  <a:pt x="1195" y="612"/>
                  <a:pt x="1225" y="650"/>
                </a:cubicBezTo>
                <a:cubicBezTo>
                  <a:pt x="1255" y="688"/>
                  <a:pt x="1308" y="669"/>
                  <a:pt x="1361" y="650"/>
                </a:cubicBezTo>
              </a:path>
            </a:pathLst>
          </a:cu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19" name="Freeform 29"/>
          <p:cNvSpPr/>
          <p:nvPr/>
        </p:nvSpPr>
        <p:spPr>
          <a:xfrm>
            <a:off x="6604000" y="4876800"/>
            <a:ext cx="1970088" cy="7826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451" h="544">
                <a:moveTo>
                  <a:pt x="0" y="310"/>
                </a:moveTo>
                <a:cubicBezTo>
                  <a:pt x="166" y="427"/>
                  <a:pt x="333" y="544"/>
                  <a:pt x="499" y="537"/>
                </a:cubicBezTo>
                <a:cubicBezTo>
                  <a:pt x="665" y="530"/>
                  <a:pt x="892" y="348"/>
                  <a:pt x="998" y="265"/>
                </a:cubicBezTo>
                <a:cubicBezTo>
                  <a:pt x="1104" y="182"/>
                  <a:pt x="1066" y="76"/>
                  <a:pt x="1134" y="38"/>
                </a:cubicBezTo>
                <a:cubicBezTo>
                  <a:pt x="1202" y="0"/>
                  <a:pt x="1361" y="0"/>
                  <a:pt x="1406" y="38"/>
                </a:cubicBezTo>
                <a:cubicBezTo>
                  <a:pt x="1451" y="76"/>
                  <a:pt x="1428" y="170"/>
                  <a:pt x="1406" y="265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9420" name="Rectangle 30"/>
          <p:cNvSpPr/>
          <p:nvPr/>
        </p:nvSpPr>
        <p:spPr>
          <a:xfrm>
            <a:off x="1262063" y="549275"/>
            <a:ext cx="33337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15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42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0418" name="Text Box 4"/>
          <p:cNvSpPr txBox="1"/>
          <p:nvPr/>
        </p:nvSpPr>
        <p:spPr>
          <a:xfrm>
            <a:off x="395288" y="1470025"/>
            <a:ext cx="8267700" cy="334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16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边连通图⇔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中任意两个顶点共简单回路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边不交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(edge-disjoint)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两条无公共边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但可能有公共顶点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16</a:t>
            </a:r>
            <a:r>
              <a:rPr lang="en-US" altLang="zh-CN" sz="2800" b="1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边连通图⇔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中任意两个顶点之间有两条以上边不交路径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0419" name="Rectangle 5"/>
          <p:cNvSpPr/>
          <p:nvPr/>
        </p:nvSpPr>
        <p:spPr>
          <a:xfrm>
            <a:off x="1331913" y="511175"/>
            <a:ext cx="565150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2-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边连通的充分必要条件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43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2466" name="Text Box 4"/>
          <p:cNvSpPr txBox="1"/>
          <p:nvPr/>
        </p:nvSpPr>
        <p:spPr>
          <a:xfrm>
            <a:off x="611188" y="1435100"/>
            <a:ext cx="8064500" cy="3619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16</a:t>
            </a:r>
            <a:r>
              <a:rPr lang="en-US" altLang="zh-CN" sz="2800" b="1" dirty="0">
                <a:solidFill>
                  <a:schemeClr val="hlink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阶以上无向简单连通图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边连通图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中任意两个顶点之间有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条以上边不交路径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	证明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⇐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显然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是连通的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并且删除任何一条边不破坏连通性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所以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λ≥2.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(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charset="0"/>
                <a:ea typeface="黑体" panose="02010609060101010101" charset="-122"/>
              </a:rPr>
              <a:t>⇒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分情况讨论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在两个顶点之间有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(1)1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   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(2)2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    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(4)4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以上条路径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2467" name="Rectangle 5"/>
          <p:cNvSpPr/>
          <p:nvPr/>
        </p:nvSpPr>
        <p:spPr>
          <a:xfrm>
            <a:off x="1258888" y="549275"/>
            <a:ext cx="33337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16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44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3490" name="Text Box 4"/>
          <p:cNvSpPr txBox="1"/>
          <p:nvPr/>
        </p:nvSpPr>
        <p:spPr>
          <a:xfrm>
            <a:off x="539750" y="1341438"/>
            <a:ext cx="7704138" cy="31416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4115"/>
              </a:lnSpc>
              <a:tabLst>
                <a:tab pos="300355" algn="l"/>
                <a:tab pos="4908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续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):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(⇒)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115"/>
              </a:lnSpc>
              <a:tabLst>
                <a:tab pos="300355" algn="l"/>
                <a:tab pos="4908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(1)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一条路径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不可能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  <a:tab pos="4908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090"/>
              </a:lnSpc>
              <a:tabLst>
                <a:tab pos="300355" algn="l"/>
                <a:tab pos="4908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(2)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两条路径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  <a:tab pos="4908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300355" algn="l"/>
                <a:tab pos="4908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(2a)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边不交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OK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  <a:tab pos="490855" algn="l"/>
              </a:tabLst>
            </a:pP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300355" algn="l"/>
                <a:tab pos="4908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	(2b)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有公共边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不可能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tabLst>
                <a:tab pos="300355" algn="l"/>
                <a:tab pos="4908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150"/>
              </a:lnSpc>
              <a:tabLst>
                <a:tab pos="300355" algn="l"/>
                <a:tab pos="4908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(3)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假设两两有公共边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否则同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(2a)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3491" name="Oval 5"/>
          <p:cNvSpPr/>
          <p:nvPr/>
        </p:nvSpPr>
        <p:spPr>
          <a:xfrm>
            <a:off x="1123950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2" name="Oval 6"/>
          <p:cNvSpPr/>
          <p:nvPr/>
        </p:nvSpPr>
        <p:spPr>
          <a:xfrm>
            <a:off x="3217863" y="5192713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3" name="Oval 7"/>
          <p:cNvSpPr/>
          <p:nvPr/>
        </p:nvSpPr>
        <p:spPr>
          <a:xfrm>
            <a:off x="2170113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4" name="Oval 8"/>
          <p:cNvSpPr/>
          <p:nvPr/>
        </p:nvSpPr>
        <p:spPr>
          <a:xfrm>
            <a:off x="5126038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5" name="Oval 9"/>
          <p:cNvSpPr/>
          <p:nvPr/>
        </p:nvSpPr>
        <p:spPr>
          <a:xfrm>
            <a:off x="1738313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6" name="Oval 10"/>
          <p:cNvSpPr/>
          <p:nvPr/>
        </p:nvSpPr>
        <p:spPr>
          <a:xfrm>
            <a:off x="5865813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7" name="Oval 11"/>
          <p:cNvSpPr/>
          <p:nvPr/>
        </p:nvSpPr>
        <p:spPr>
          <a:xfrm>
            <a:off x="7281863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8" name="Oval 12"/>
          <p:cNvSpPr/>
          <p:nvPr/>
        </p:nvSpPr>
        <p:spPr>
          <a:xfrm>
            <a:off x="6604000" y="51927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3499" name="Line 13"/>
          <p:cNvSpPr/>
          <p:nvPr/>
        </p:nvSpPr>
        <p:spPr>
          <a:xfrm>
            <a:off x="1247775" y="5257800"/>
            <a:ext cx="4905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500" name="Line 14"/>
          <p:cNvSpPr/>
          <p:nvPr/>
        </p:nvSpPr>
        <p:spPr>
          <a:xfrm>
            <a:off x="1862138" y="5257800"/>
            <a:ext cx="307975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501" name="Line 15"/>
          <p:cNvSpPr/>
          <p:nvPr/>
        </p:nvSpPr>
        <p:spPr>
          <a:xfrm>
            <a:off x="2293938" y="5257800"/>
            <a:ext cx="9239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502" name="Line 16"/>
          <p:cNvSpPr/>
          <p:nvPr/>
        </p:nvSpPr>
        <p:spPr>
          <a:xfrm>
            <a:off x="5988050" y="5257800"/>
            <a:ext cx="61595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503" name="Freeform 17"/>
          <p:cNvSpPr/>
          <p:nvPr/>
        </p:nvSpPr>
        <p:spPr>
          <a:xfrm>
            <a:off x="5187950" y="4930775"/>
            <a:ext cx="738188" cy="26193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544" h="182">
                <a:moveTo>
                  <a:pt x="0" y="182"/>
                </a:moveTo>
                <a:cubicBezTo>
                  <a:pt x="45" y="91"/>
                  <a:pt x="90" y="0"/>
                  <a:pt x="181" y="0"/>
                </a:cubicBezTo>
                <a:cubicBezTo>
                  <a:pt x="272" y="0"/>
                  <a:pt x="408" y="91"/>
                  <a:pt x="544" y="182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3504" name="Freeform 18"/>
          <p:cNvSpPr/>
          <p:nvPr/>
        </p:nvSpPr>
        <p:spPr>
          <a:xfrm>
            <a:off x="5187950" y="5257800"/>
            <a:ext cx="738188" cy="2730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44" h="190">
                <a:moveTo>
                  <a:pt x="0" y="45"/>
                </a:moveTo>
                <a:cubicBezTo>
                  <a:pt x="67" y="117"/>
                  <a:pt x="135" y="190"/>
                  <a:pt x="226" y="182"/>
                </a:cubicBezTo>
                <a:cubicBezTo>
                  <a:pt x="317" y="174"/>
                  <a:pt x="430" y="87"/>
                  <a:pt x="54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3505" name="Freeform 19"/>
          <p:cNvSpPr/>
          <p:nvPr/>
        </p:nvSpPr>
        <p:spPr>
          <a:xfrm>
            <a:off x="6665913" y="4921250"/>
            <a:ext cx="676275" cy="3365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499" h="234">
                <a:moveTo>
                  <a:pt x="0" y="234"/>
                </a:moveTo>
                <a:cubicBezTo>
                  <a:pt x="49" y="124"/>
                  <a:pt x="99" y="14"/>
                  <a:pt x="182" y="7"/>
                </a:cubicBezTo>
                <a:cubicBezTo>
                  <a:pt x="265" y="0"/>
                  <a:pt x="382" y="94"/>
                  <a:pt x="499" y="18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3506" name="Freeform 20"/>
          <p:cNvSpPr/>
          <p:nvPr/>
        </p:nvSpPr>
        <p:spPr>
          <a:xfrm>
            <a:off x="6665913" y="5322888"/>
            <a:ext cx="676275" cy="196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499" h="137">
                <a:moveTo>
                  <a:pt x="0" y="0"/>
                </a:moveTo>
                <a:cubicBezTo>
                  <a:pt x="72" y="68"/>
                  <a:pt x="144" y="137"/>
                  <a:pt x="227" y="137"/>
                </a:cubicBezTo>
                <a:cubicBezTo>
                  <a:pt x="310" y="137"/>
                  <a:pt x="404" y="68"/>
                  <a:pt x="499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3507" name="Rectangle 21"/>
          <p:cNvSpPr/>
          <p:nvPr/>
        </p:nvSpPr>
        <p:spPr>
          <a:xfrm>
            <a:off x="1258888" y="511175"/>
            <a:ext cx="33337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16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45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4514" name="Text Box 4"/>
          <p:cNvSpPr txBox="1"/>
          <p:nvPr/>
        </p:nvSpPr>
        <p:spPr>
          <a:xfrm>
            <a:off x="611188" y="1341438"/>
            <a:ext cx="6916737" cy="30019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10000"/>
              </a:lnSpc>
              <a:tabLst>
                <a:tab pos="100330" algn="l"/>
                <a:tab pos="300355" algn="l"/>
              </a:tabLst>
            </a:pPr>
            <a:r>
              <a:rPr lang="en-US" altLang="zh-CN" sz="39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证明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续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):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(⇒)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条路径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(3a)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条公共边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不可能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(3b)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条公共边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(2a)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100330" algn="l"/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	(3c)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条以上公共边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产生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条边不交路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	径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100330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(4) 4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条以上路径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同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(3). #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4515" name="Oval 5"/>
          <p:cNvSpPr/>
          <p:nvPr/>
        </p:nvSpPr>
        <p:spPr>
          <a:xfrm>
            <a:off x="1063625" y="5453063"/>
            <a:ext cx="122238" cy="130175"/>
          </a:xfrm>
          <a:prstGeom prst="ellipse">
            <a:avLst/>
          </a:prstGeom>
          <a:solidFill>
            <a:schemeClr val="hlink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16" name="Oval 6"/>
          <p:cNvSpPr/>
          <p:nvPr/>
        </p:nvSpPr>
        <p:spPr>
          <a:xfrm>
            <a:off x="1801813" y="5441950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17" name="Oval 7"/>
          <p:cNvSpPr/>
          <p:nvPr/>
        </p:nvSpPr>
        <p:spPr>
          <a:xfrm>
            <a:off x="3217863" y="5453063"/>
            <a:ext cx="122237" cy="130175"/>
          </a:xfrm>
          <a:prstGeom prst="ellipse">
            <a:avLst/>
          </a:prstGeom>
          <a:solidFill>
            <a:schemeClr val="hlink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18" name="Oval 8"/>
          <p:cNvSpPr/>
          <p:nvPr/>
        </p:nvSpPr>
        <p:spPr>
          <a:xfrm>
            <a:off x="2540000" y="5441950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19" name="Line 9"/>
          <p:cNvSpPr/>
          <p:nvPr/>
        </p:nvSpPr>
        <p:spPr>
          <a:xfrm>
            <a:off x="1925638" y="5519738"/>
            <a:ext cx="615950" cy="0"/>
          </a:xfrm>
          <a:prstGeom prst="line">
            <a:avLst/>
          </a:prstGeom>
          <a:ln w="19050" cap="flat" cmpd="sng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20" name="Freeform 10"/>
          <p:cNvSpPr/>
          <p:nvPr/>
        </p:nvSpPr>
        <p:spPr>
          <a:xfrm>
            <a:off x="1123950" y="5192713"/>
            <a:ext cx="738188" cy="261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544" h="182">
                <a:moveTo>
                  <a:pt x="0" y="182"/>
                </a:moveTo>
                <a:cubicBezTo>
                  <a:pt x="45" y="91"/>
                  <a:pt x="90" y="0"/>
                  <a:pt x="181" y="0"/>
                </a:cubicBezTo>
                <a:cubicBezTo>
                  <a:pt x="272" y="0"/>
                  <a:pt x="408" y="91"/>
                  <a:pt x="544" y="182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1" name="Freeform 11"/>
          <p:cNvSpPr/>
          <p:nvPr/>
        </p:nvSpPr>
        <p:spPr>
          <a:xfrm>
            <a:off x="1123950" y="5519738"/>
            <a:ext cx="738188" cy="2746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44" h="190">
                <a:moveTo>
                  <a:pt x="0" y="45"/>
                </a:moveTo>
                <a:cubicBezTo>
                  <a:pt x="67" y="117"/>
                  <a:pt x="135" y="190"/>
                  <a:pt x="226" y="182"/>
                </a:cubicBezTo>
                <a:cubicBezTo>
                  <a:pt x="317" y="174"/>
                  <a:pt x="430" y="87"/>
                  <a:pt x="544" y="0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2" name="Freeform 12"/>
          <p:cNvSpPr/>
          <p:nvPr/>
        </p:nvSpPr>
        <p:spPr>
          <a:xfrm>
            <a:off x="2601913" y="5183188"/>
            <a:ext cx="677862" cy="3365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499" h="234">
                <a:moveTo>
                  <a:pt x="0" y="234"/>
                </a:moveTo>
                <a:cubicBezTo>
                  <a:pt x="49" y="124"/>
                  <a:pt x="99" y="14"/>
                  <a:pt x="182" y="7"/>
                </a:cubicBezTo>
                <a:cubicBezTo>
                  <a:pt x="265" y="0"/>
                  <a:pt x="382" y="94"/>
                  <a:pt x="499" y="189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3" name="Freeform 13"/>
          <p:cNvSpPr/>
          <p:nvPr/>
        </p:nvSpPr>
        <p:spPr>
          <a:xfrm>
            <a:off x="2601913" y="5584825"/>
            <a:ext cx="677862" cy="196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499" h="137">
                <a:moveTo>
                  <a:pt x="0" y="0"/>
                </a:moveTo>
                <a:cubicBezTo>
                  <a:pt x="72" y="68"/>
                  <a:pt x="144" y="137"/>
                  <a:pt x="227" y="137"/>
                </a:cubicBezTo>
                <a:cubicBezTo>
                  <a:pt x="310" y="137"/>
                  <a:pt x="404" y="68"/>
                  <a:pt x="499" y="0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24" name="Line 14"/>
          <p:cNvSpPr/>
          <p:nvPr/>
        </p:nvSpPr>
        <p:spPr>
          <a:xfrm>
            <a:off x="1185863" y="5519738"/>
            <a:ext cx="61595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25" name="Line 15"/>
          <p:cNvSpPr/>
          <p:nvPr/>
        </p:nvSpPr>
        <p:spPr>
          <a:xfrm>
            <a:off x="2663825" y="5519738"/>
            <a:ext cx="614363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26" name="Oval 16"/>
          <p:cNvSpPr/>
          <p:nvPr/>
        </p:nvSpPr>
        <p:spPr>
          <a:xfrm>
            <a:off x="5249863" y="5319713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27" name="Oval 17"/>
          <p:cNvSpPr/>
          <p:nvPr/>
        </p:nvSpPr>
        <p:spPr>
          <a:xfrm>
            <a:off x="5680075" y="5319713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28" name="Oval 18"/>
          <p:cNvSpPr/>
          <p:nvPr/>
        </p:nvSpPr>
        <p:spPr>
          <a:xfrm>
            <a:off x="6111875" y="5319713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29" name="Oval 19"/>
          <p:cNvSpPr/>
          <p:nvPr/>
        </p:nvSpPr>
        <p:spPr>
          <a:xfrm>
            <a:off x="6543675" y="5319713"/>
            <a:ext cx="122238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30" name="Oval 20"/>
          <p:cNvSpPr/>
          <p:nvPr/>
        </p:nvSpPr>
        <p:spPr>
          <a:xfrm>
            <a:off x="6911975" y="5319713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31" name="Oval 21"/>
          <p:cNvSpPr/>
          <p:nvPr/>
        </p:nvSpPr>
        <p:spPr>
          <a:xfrm>
            <a:off x="4818063" y="5319713"/>
            <a:ext cx="123825" cy="130175"/>
          </a:xfrm>
          <a:prstGeom prst="ellipse">
            <a:avLst/>
          </a:prstGeom>
          <a:solidFill>
            <a:schemeClr val="hlink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32" name="Oval 22"/>
          <p:cNvSpPr/>
          <p:nvPr/>
        </p:nvSpPr>
        <p:spPr>
          <a:xfrm>
            <a:off x="7650163" y="5319713"/>
            <a:ext cx="123825" cy="130175"/>
          </a:xfrm>
          <a:prstGeom prst="ellipse">
            <a:avLst/>
          </a:prstGeom>
          <a:solidFill>
            <a:schemeClr val="hlink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33" name="Oval 23"/>
          <p:cNvSpPr/>
          <p:nvPr/>
        </p:nvSpPr>
        <p:spPr>
          <a:xfrm>
            <a:off x="7281863" y="5319713"/>
            <a:ext cx="123825" cy="130175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4534" name="Line 24"/>
          <p:cNvSpPr/>
          <p:nvPr/>
        </p:nvSpPr>
        <p:spPr>
          <a:xfrm>
            <a:off x="4941888" y="5386388"/>
            <a:ext cx="307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35" name="Line 25"/>
          <p:cNvSpPr/>
          <p:nvPr/>
        </p:nvSpPr>
        <p:spPr>
          <a:xfrm>
            <a:off x="5373688" y="5386388"/>
            <a:ext cx="306387" cy="0"/>
          </a:xfrm>
          <a:prstGeom prst="line">
            <a:avLst/>
          </a:prstGeom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36" name="Line 26"/>
          <p:cNvSpPr/>
          <p:nvPr/>
        </p:nvSpPr>
        <p:spPr>
          <a:xfrm>
            <a:off x="5803900" y="5386388"/>
            <a:ext cx="307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37" name="Line 27"/>
          <p:cNvSpPr/>
          <p:nvPr/>
        </p:nvSpPr>
        <p:spPr>
          <a:xfrm>
            <a:off x="6235700" y="5386388"/>
            <a:ext cx="307975" cy="0"/>
          </a:xfrm>
          <a:prstGeom prst="line">
            <a:avLst/>
          </a:prstGeom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38" name="Line 28"/>
          <p:cNvSpPr/>
          <p:nvPr/>
        </p:nvSpPr>
        <p:spPr>
          <a:xfrm>
            <a:off x="6665913" y="5386388"/>
            <a:ext cx="307975" cy="0"/>
          </a:xfrm>
          <a:prstGeom prst="line">
            <a:avLst/>
          </a:prstGeom>
          <a:ln w="19050">
            <a:noFill/>
          </a:ln>
        </p:spPr>
      </p:sp>
      <p:sp>
        <p:nvSpPr>
          <p:cNvPr id="64539" name="Line 29"/>
          <p:cNvSpPr/>
          <p:nvPr/>
        </p:nvSpPr>
        <p:spPr>
          <a:xfrm>
            <a:off x="7034213" y="5386388"/>
            <a:ext cx="247650" cy="0"/>
          </a:xfrm>
          <a:prstGeom prst="line">
            <a:avLst/>
          </a:prstGeom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540" name="Freeform 30"/>
          <p:cNvSpPr/>
          <p:nvPr/>
        </p:nvSpPr>
        <p:spPr>
          <a:xfrm>
            <a:off x="4879975" y="5059363"/>
            <a:ext cx="430213" cy="2603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317" h="181">
                <a:moveTo>
                  <a:pt x="0" y="181"/>
                </a:moveTo>
                <a:cubicBezTo>
                  <a:pt x="41" y="90"/>
                  <a:pt x="83" y="0"/>
                  <a:pt x="136" y="0"/>
                </a:cubicBezTo>
                <a:cubicBezTo>
                  <a:pt x="189" y="0"/>
                  <a:pt x="253" y="90"/>
                  <a:pt x="317" y="181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41" name="Freeform 31"/>
          <p:cNvSpPr/>
          <p:nvPr/>
        </p:nvSpPr>
        <p:spPr>
          <a:xfrm>
            <a:off x="5741988" y="4929188"/>
            <a:ext cx="1231900" cy="39052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907" h="272">
                <a:moveTo>
                  <a:pt x="0" y="272"/>
                </a:moveTo>
                <a:cubicBezTo>
                  <a:pt x="106" y="136"/>
                  <a:pt x="212" y="0"/>
                  <a:pt x="363" y="0"/>
                </a:cubicBezTo>
                <a:cubicBezTo>
                  <a:pt x="514" y="0"/>
                  <a:pt x="710" y="136"/>
                  <a:pt x="907" y="272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42" name="Freeform 32"/>
          <p:cNvSpPr/>
          <p:nvPr/>
        </p:nvSpPr>
        <p:spPr>
          <a:xfrm>
            <a:off x="7342188" y="5124450"/>
            <a:ext cx="369887" cy="19526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272" h="136">
                <a:moveTo>
                  <a:pt x="0" y="136"/>
                </a:moveTo>
                <a:cubicBezTo>
                  <a:pt x="23" y="68"/>
                  <a:pt x="46" y="0"/>
                  <a:pt x="91" y="0"/>
                </a:cubicBezTo>
                <a:cubicBezTo>
                  <a:pt x="136" y="0"/>
                  <a:pt x="204" y="68"/>
                  <a:pt x="272" y="136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43" name="Freeform 33"/>
          <p:cNvSpPr/>
          <p:nvPr/>
        </p:nvSpPr>
        <p:spPr>
          <a:xfrm>
            <a:off x="7342188" y="5386388"/>
            <a:ext cx="369887" cy="1397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272" h="97">
                <a:moveTo>
                  <a:pt x="0" y="45"/>
                </a:moveTo>
                <a:cubicBezTo>
                  <a:pt x="45" y="71"/>
                  <a:pt x="91" y="97"/>
                  <a:pt x="136" y="90"/>
                </a:cubicBezTo>
                <a:cubicBezTo>
                  <a:pt x="181" y="83"/>
                  <a:pt x="226" y="41"/>
                  <a:pt x="27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44" name="Freeform 34"/>
          <p:cNvSpPr/>
          <p:nvPr/>
        </p:nvSpPr>
        <p:spPr>
          <a:xfrm>
            <a:off x="4879975" y="5451475"/>
            <a:ext cx="1292225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952" h="317">
                <a:moveTo>
                  <a:pt x="0" y="0"/>
                </a:moveTo>
                <a:cubicBezTo>
                  <a:pt x="30" y="113"/>
                  <a:pt x="60" y="227"/>
                  <a:pt x="181" y="272"/>
                </a:cubicBezTo>
                <a:cubicBezTo>
                  <a:pt x="302" y="317"/>
                  <a:pt x="598" y="317"/>
                  <a:pt x="726" y="272"/>
                </a:cubicBezTo>
                <a:cubicBezTo>
                  <a:pt x="854" y="227"/>
                  <a:pt x="903" y="113"/>
                  <a:pt x="952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45" name="Freeform 35"/>
          <p:cNvSpPr/>
          <p:nvPr/>
        </p:nvSpPr>
        <p:spPr>
          <a:xfrm>
            <a:off x="6604000" y="5451475"/>
            <a:ext cx="1108075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816" h="317">
                <a:moveTo>
                  <a:pt x="0" y="0"/>
                </a:moveTo>
                <a:cubicBezTo>
                  <a:pt x="15" y="113"/>
                  <a:pt x="30" y="227"/>
                  <a:pt x="136" y="272"/>
                </a:cubicBezTo>
                <a:cubicBezTo>
                  <a:pt x="242" y="317"/>
                  <a:pt x="522" y="317"/>
                  <a:pt x="635" y="272"/>
                </a:cubicBezTo>
                <a:cubicBezTo>
                  <a:pt x="748" y="227"/>
                  <a:pt x="782" y="113"/>
                  <a:pt x="816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46" name="Rectangle 36"/>
          <p:cNvSpPr/>
          <p:nvPr/>
        </p:nvSpPr>
        <p:spPr>
          <a:xfrm>
            <a:off x="1258888" y="476250"/>
            <a:ext cx="33337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定理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16</a:t>
            </a:r>
            <a:r>
              <a:rPr lang="en-US" altLang="zh-CN" sz="2800" b="1" dirty="0">
                <a:solidFill>
                  <a:schemeClr val="tx2"/>
                </a:solidFill>
                <a:latin typeface="Tahoma" panose="020B0604030504040204" charset="0"/>
                <a:ea typeface="宋体" panose="02010600030101010101" pitchFamily="2" charset="-122"/>
              </a:rPr>
              <a:t>’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证明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7" name="直接连接符 36"/>
          <p:cNvCxnSpPr>
            <a:stCxn id="64529" idx="6"/>
            <a:endCxn id="64530" idx="2"/>
          </p:cNvCxnSpPr>
          <p:nvPr/>
        </p:nvCxnSpPr>
        <p:spPr>
          <a:xfrm>
            <a:off x="6665913" y="5384800"/>
            <a:ext cx="246063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46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5538" name="Text Box 4"/>
          <p:cNvSpPr txBox="1"/>
          <p:nvPr/>
        </p:nvSpPr>
        <p:spPr>
          <a:xfrm>
            <a:off x="395288" y="1393825"/>
            <a:ext cx="5818187" cy="10985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块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(block):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极大无割点连通子图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3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显然，若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是块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κ≥2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5539" name="Oval 5"/>
          <p:cNvSpPr/>
          <p:nvPr/>
        </p:nvSpPr>
        <p:spPr>
          <a:xfrm>
            <a:off x="1801813" y="362426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0" name="Oval 6"/>
          <p:cNvSpPr/>
          <p:nvPr/>
        </p:nvSpPr>
        <p:spPr>
          <a:xfrm>
            <a:off x="2847975" y="356076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1" name="Oval 7"/>
          <p:cNvSpPr/>
          <p:nvPr/>
        </p:nvSpPr>
        <p:spPr>
          <a:xfrm>
            <a:off x="4140200" y="362426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2" name="Oval 8"/>
          <p:cNvSpPr/>
          <p:nvPr/>
        </p:nvSpPr>
        <p:spPr>
          <a:xfrm>
            <a:off x="5372100" y="3624263"/>
            <a:ext cx="122238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3" name="Oval 9"/>
          <p:cNvSpPr/>
          <p:nvPr/>
        </p:nvSpPr>
        <p:spPr>
          <a:xfrm>
            <a:off x="6480175" y="362426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4" name="Freeform 10"/>
          <p:cNvSpPr/>
          <p:nvPr/>
        </p:nvSpPr>
        <p:spPr>
          <a:xfrm>
            <a:off x="1924050" y="3287713"/>
            <a:ext cx="4618038" cy="4127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402" h="287">
                <a:moveTo>
                  <a:pt x="0" y="280"/>
                </a:moveTo>
                <a:cubicBezTo>
                  <a:pt x="144" y="170"/>
                  <a:pt x="288" y="61"/>
                  <a:pt x="409" y="53"/>
                </a:cubicBezTo>
                <a:cubicBezTo>
                  <a:pt x="530" y="45"/>
                  <a:pt x="598" y="234"/>
                  <a:pt x="726" y="234"/>
                </a:cubicBezTo>
                <a:cubicBezTo>
                  <a:pt x="854" y="234"/>
                  <a:pt x="1021" y="53"/>
                  <a:pt x="1180" y="53"/>
                </a:cubicBezTo>
                <a:cubicBezTo>
                  <a:pt x="1339" y="53"/>
                  <a:pt x="1528" y="234"/>
                  <a:pt x="1679" y="234"/>
                </a:cubicBezTo>
                <a:cubicBezTo>
                  <a:pt x="1830" y="234"/>
                  <a:pt x="1936" y="45"/>
                  <a:pt x="2087" y="53"/>
                </a:cubicBezTo>
                <a:cubicBezTo>
                  <a:pt x="2238" y="61"/>
                  <a:pt x="2435" y="287"/>
                  <a:pt x="2586" y="280"/>
                </a:cubicBezTo>
                <a:cubicBezTo>
                  <a:pt x="2737" y="273"/>
                  <a:pt x="2858" y="16"/>
                  <a:pt x="2994" y="8"/>
                </a:cubicBezTo>
                <a:cubicBezTo>
                  <a:pt x="3130" y="0"/>
                  <a:pt x="3266" y="117"/>
                  <a:pt x="3402" y="234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5545" name="Freeform 11"/>
          <p:cNvSpPr/>
          <p:nvPr/>
        </p:nvSpPr>
        <p:spPr>
          <a:xfrm>
            <a:off x="1924050" y="3681413"/>
            <a:ext cx="4618038" cy="28098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3402" h="195">
                <a:moveTo>
                  <a:pt x="0" y="52"/>
                </a:moveTo>
                <a:cubicBezTo>
                  <a:pt x="117" y="123"/>
                  <a:pt x="235" y="195"/>
                  <a:pt x="363" y="188"/>
                </a:cubicBezTo>
                <a:cubicBezTo>
                  <a:pt x="491" y="181"/>
                  <a:pt x="635" y="7"/>
                  <a:pt x="771" y="7"/>
                </a:cubicBezTo>
                <a:cubicBezTo>
                  <a:pt x="907" y="7"/>
                  <a:pt x="1029" y="188"/>
                  <a:pt x="1180" y="188"/>
                </a:cubicBezTo>
                <a:cubicBezTo>
                  <a:pt x="1331" y="188"/>
                  <a:pt x="1528" y="7"/>
                  <a:pt x="1679" y="7"/>
                </a:cubicBezTo>
                <a:cubicBezTo>
                  <a:pt x="1830" y="7"/>
                  <a:pt x="1936" y="188"/>
                  <a:pt x="2087" y="188"/>
                </a:cubicBezTo>
                <a:cubicBezTo>
                  <a:pt x="2238" y="188"/>
                  <a:pt x="2442" y="14"/>
                  <a:pt x="2586" y="7"/>
                </a:cubicBezTo>
                <a:cubicBezTo>
                  <a:pt x="2730" y="0"/>
                  <a:pt x="2813" y="143"/>
                  <a:pt x="2949" y="143"/>
                </a:cubicBezTo>
                <a:cubicBezTo>
                  <a:pt x="3085" y="143"/>
                  <a:pt x="3243" y="75"/>
                  <a:pt x="3402" y="7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5546" name="Oval 12"/>
          <p:cNvSpPr/>
          <p:nvPr/>
        </p:nvSpPr>
        <p:spPr>
          <a:xfrm>
            <a:off x="1493838" y="3036888"/>
            <a:ext cx="1352550" cy="12414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7" name="Oval 13"/>
          <p:cNvSpPr/>
          <p:nvPr/>
        </p:nvSpPr>
        <p:spPr>
          <a:xfrm>
            <a:off x="2908300" y="3036888"/>
            <a:ext cx="1293813" cy="12414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8" name="Oval 14"/>
          <p:cNvSpPr/>
          <p:nvPr/>
        </p:nvSpPr>
        <p:spPr>
          <a:xfrm>
            <a:off x="4202113" y="3036888"/>
            <a:ext cx="1231900" cy="12414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49" name="Oval 15"/>
          <p:cNvSpPr/>
          <p:nvPr/>
        </p:nvSpPr>
        <p:spPr>
          <a:xfrm>
            <a:off x="5434013" y="3101975"/>
            <a:ext cx="1476375" cy="124142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0" name="Oval 16"/>
          <p:cNvSpPr/>
          <p:nvPr/>
        </p:nvSpPr>
        <p:spPr>
          <a:xfrm>
            <a:off x="939800" y="5257800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1" name="Oval 17"/>
          <p:cNvSpPr/>
          <p:nvPr/>
        </p:nvSpPr>
        <p:spPr>
          <a:xfrm>
            <a:off x="1370013" y="558482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2" name="Oval 18"/>
          <p:cNvSpPr/>
          <p:nvPr/>
        </p:nvSpPr>
        <p:spPr>
          <a:xfrm>
            <a:off x="2109788" y="4670425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3" name="Oval 19"/>
          <p:cNvSpPr/>
          <p:nvPr/>
        </p:nvSpPr>
        <p:spPr>
          <a:xfrm>
            <a:off x="1739900" y="5127625"/>
            <a:ext cx="123825" cy="12858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4" name="Oval 20"/>
          <p:cNvSpPr/>
          <p:nvPr/>
        </p:nvSpPr>
        <p:spPr>
          <a:xfrm>
            <a:off x="2478088" y="51927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5" name="Oval 21"/>
          <p:cNvSpPr/>
          <p:nvPr/>
        </p:nvSpPr>
        <p:spPr>
          <a:xfrm>
            <a:off x="2047875" y="5584825"/>
            <a:ext cx="122238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56" name="Line 22"/>
          <p:cNvSpPr/>
          <p:nvPr/>
        </p:nvSpPr>
        <p:spPr>
          <a:xfrm>
            <a:off x="1063625" y="5389563"/>
            <a:ext cx="306388" cy="1952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57" name="Line 23"/>
          <p:cNvSpPr/>
          <p:nvPr/>
        </p:nvSpPr>
        <p:spPr>
          <a:xfrm flipV="1">
            <a:off x="1493838" y="5257800"/>
            <a:ext cx="246062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58" name="Line 24"/>
          <p:cNvSpPr/>
          <p:nvPr/>
        </p:nvSpPr>
        <p:spPr>
          <a:xfrm flipV="1">
            <a:off x="1862138" y="4802188"/>
            <a:ext cx="247650" cy="3254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59" name="Line 25"/>
          <p:cNvSpPr/>
          <p:nvPr/>
        </p:nvSpPr>
        <p:spPr>
          <a:xfrm>
            <a:off x="1862138" y="5257800"/>
            <a:ext cx="247650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60" name="Line 26"/>
          <p:cNvSpPr/>
          <p:nvPr/>
        </p:nvSpPr>
        <p:spPr>
          <a:xfrm flipV="1">
            <a:off x="2170113" y="5257800"/>
            <a:ext cx="369887" cy="3921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61" name="Oval 27"/>
          <p:cNvSpPr/>
          <p:nvPr/>
        </p:nvSpPr>
        <p:spPr>
          <a:xfrm>
            <a:off x="631825" y="4997450"/>
            <a:ext cx="984250" cy="979488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2" name="Oval 28"/>
          <p:cNvSpPr/>
          <p:nvPr/>
        </p:nvSpPr>
        <p:spPr>
          <a:xfrm>
            <a:off x="1123950" y="4865688"/>
            <a:ext cx="985838" cy="979487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3" name="Oval 29"/>
          <p:cNvSpPr/>
          <p:nvPr/>
        </p:nvSpPr>
        <p:spPr>
          <a:xfrm>
            <a:off x="1616075" y="4930775"/>
            <a:ext cx="677863" cy="9144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4" name="Oval 30"/>
          <p:cNvSpPr/>
          <p:nvPr/>
        </p:nvSpPr>
        <p:spPr>
          <a:xfrm>
            <a:off x="1431925" y="4343400"/>
            <a:ext cx="985838" cy="979488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5" name="Oval 31"/>
          <p:cNvSpPr/>
          <p:nvPr/>
        </p:nvSpPr>
        <p:spPr>
          <a:xfrm>
            <a:off x="1985963" y="5127625"/>
            <a:ext cx="985837" cy="9779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6" name="Oval 32"/>
          <p:cNvSpPr/>
          <p:nvPr/>
        </p:nvSpPr>
        <p:spPr>
          <a:xfrm>
            <a:off x="4573588" y="4802188"/>
            <a:ext cx="123825" cy="128587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7" name="Oval 33"/>
          <p:cNvSpPr/>
          <p:nvPr/>
        </p:nvSpPr>
        <p:spPr>
          <a:xfrm>
            <a:off x="4573588" y="5716588"/>
            <a:ext cx="123825" cy="128587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8" name="Oval 34"/>
          <p:cNvSpPr/>
          <p:nvPr/>
        </p:nvSpPr>
        <p:spPr>
          <a:xfrm>
            <a:off x="3649663" y="5584825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69" name="Oval 35"/>
          <p:cNvSpPr/>
          <p:nvPr/>
        </p:nvSpPr>
        <p:spPr>
          <a:xfrm>
            <a:off x="3649663" y="4997450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70" name="Oval 36"/>
          <p:cNvSpPr/>
          <p:nvPr/>
        </p:nvSpPr>
        <p:spPr>
          <a:xfrm>
            <a:off x="4941888" y="5257800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71" name="Oval 37"/>
          <p:cNvSpPr/>
          <p:nvPr/>
        </p:nvSpPr>
        <p:spPr>
          <a:xfrm>
            <a:off x="5373688" y="4932363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72" name="Oval 38"/>
          <p:cNvSpPr/>
          <p:nvPr/>
        </p:nvSpPr>
        <p:spPr>
          <a:xfrm>
            <a:off x="4141788" y="5257800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73" name="Line 39"/>
          <p:cNvSpPr/>
          <p:nvPr/>
        </p:nvSpPr>
        <p:spPr>
          <a:xfrm>
            <a:off x="3709988" y="512762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74" name="Line 40"/>
          <p:cNvSpPr/>
          <p:nvPr/>
        </p:nvSpPr>
        <p:spPr>
          <a:xfrm flipV="1">
            <a:off x="3709988" y="5322888"/>
            <a:ext cx="431800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75" name="Line 41"/>
          <p:cNvSpPr/>
          <p:nvPr/>
        </p:nvSpPr>
        <p:spPr>
          <a:xfrm>
            <a:off x="3770313" y="5062538"/>
            <a:ext cx="371475" cy="1952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76" name="Line 42"/>
          <p:cNvSpPr/>
          <p:nvPr/>
        </p:nvSpPr>
        <p:spPr>
          <a:xfrm flipV="1">
            <a:off x="4202113" y="4865688"/>
            <a:ext cx="430212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77" name="Line 43"/>
          <p:cNvSpPr/>
          <p:nvPr/>
        </p:nvSpPr>
        <p:spPr>
          <a:xfrm>
            <a:off x="4632325" y="4865688"/>
            <a:ext cx="371475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78" name="Line 44"/>
          <p:cNvSpPr/>
          <p:nvPr/>
        </p:nvSpPr>
        <p:spPr>
          <a:xfrm>
            <a:off x="4264025" y="5389563"/>
            <a:ext cx="307975" cy="390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79" name="Line 45"/>
          <p:cNvSpPr/>
          <p:nvPr/>
        </p:nvSpPr>
        <p:spPr>
          <a:xfrm flipV="1">
            <a:off x="4695825" y="5389563"/>
            <a:ext cx="307975" cy="3905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80" name="Line 46"/>
          <p:cNvSpPr/>
          <p:nvPr/>
        </p:nvSpPr>
        <p:spPr>
          <a:xfrm>
            <a:off x="4264025" y="5322888"/>
            <a:ext cx="7397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81" name="Line 47"/>
          <p:cNvSpPr/>
          <p:nvPr/>
        </p:nvSpPr>
        <p:spPr>
          <a:xfrm>
            <a:off x="4632325" y="4930775"/>
            <a:ext cx="0" cy="8493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82" name="Line 48"/>
          <p:cNvSpPr/>
          <p:nvPr/>
        </p:nvSpPr>
        <p:spPr>
          <a:xfrm flipV="1">
            <a:off x="5064125" y="4997450"/>
            <a:ext cx="369888" cy="3254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83" name="Oval 49"/>
          <p:cNvSpPr/>
          <p:nvPr/>
        </p:nvSpPr>
        <p:spPr>
          <a:xfrm>
            <a:off x="3340100" y="4865688"/>
            <a:ext cx="985838" cy="979487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84" name="Oval 50"/>
          <p:cNvSpPr/>
          <p:nvPr/>
        </p:nvSpPr>
        <p:spPr>
          <a:xfrm>
            <a:off x="4017963" y="4668838"/>
            <a:ext cx="1109662" cy="1373187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85" name="Oval 51"/>
          <p:cNvSpPr/>
          <p:nvPr/>
        </p:nvSpPr>
        <p:spPr>
          <a:xfrm>
            <a:off x="4879975" y="4735513"/>
            <a:ext cx="801688" cy="849312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86" name="Oval 52"/>
          <p:cNvSpPr/>
          <p:nvPr/>
        </p:nvSpPr>
        <p:spPr>
          <a:xfrm>
            <a:off x="7466013" y="4864100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87" name="Oval 53"/>
          <p:cNvSpPr/>
          <p:nvPr/>
        </p:nvSpPr>
        <p:spPr>
          <a:xfrm>
            <a:off x="6726238" y="56499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88" name="Oval 54"/>
          <p:cNvSpPr/>
          <p:nvPr/>
        </p:nvSpPr>
        <p:spPr>
          <a:xfrm>
            <a:off x="7466013" y="56499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89" name="Oval 55"/>
          <p:cNvSpPr/>
          <p:nvPr/>
        </p:nvSpPr>
        <p:spPr>
          <a:xfrm>
            <a:off x="6234113" y="5256213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80156" tIns="40078" rIns="80156" bIns="40078" anchor="ctr" anchorCtr="0"/>
          <a:p>
            <a:pPr algn="ctr" defTabSz="802005"/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90" name="Oval 56"/>
          <p:cNvSpPr/>
          <p:nvPr/>
        </p:nvSpPr>
        <p:spPr>
          <a:xfrm>
            <a:off x="8204200" y="5649913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91" name="Oval 57"/>
          <p:cNvSpPr/>
          <p:nvPr/>
        </p:nvSpPr>
        <p:spPr>
          <a:xfrm>
            <a:off x="7896225" y="5324475"/>
            <a:ext cx="123825" cy="12858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92" name="Oval 58"/>
          <p:cNvSpPr/>
          <p:nvPr/>
        </p:nvSpPr>
        <p:spPr>
          <a:xfrm>
            <a:off x="6726238" y="4864100"/>
            <a:ext cx="123825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593" name="Line 59"/>
          <p:cNvSpPr/>
          <p:nvPr/>
        </p:nvSpPr>
        <p:spPr>
          <a:xfrm flipV="1">
            <a:off x="6296025" y="4930775"/>
            <a:ext cx="492125" cy="3254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94" name="Line 60"/>
          <p:cNvSpPr/>
          <p:nvPr/>
        </p:nvSpPr>
        <p:spPr>
          <a:xfrm>
            <a:off x="6356350" y="5322888"/>
            <a:ext cx="431800" cy="392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95" name="Line 61"/>
          <p:cNvSpPr/>
          <p:nvPr/>
        </p:nvSpPr>
        <p:spPr>
          <a:xfrm>
            <a:off x="6850063" y="5715000"/>
            <a:ext cx="6159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96" name="Line 62"/>
          <p:cNvSpPr/>
          <p:nvPr/>
        </p:nvSpPr>
        <p:spPr>
          <a:xfrm>
            <a:off x="6788150" y="4930775"/>
            <a:ext cx="67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97" name="Line 63"/>
          <p:cNvSpPr/>
          <p:nvPr/>
        </p:nvSpPr>
        <p:spPr>
          <a:xfrm>
            <a:off x="7527925" y="4995863"/>
            <a:ext cx="0" cy="654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98" name="Line 64"/>
          <p:cNvSpPr/>
          <p:nvPr/>
        </p:nvSpPr>
        <p:spPr>
          <a:xfrm>
            <a:off x="6788150" y="4995863"/>
            <a:ext cx="0" cy="654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599" name="Line 65"/>
          <p:cNvSpPr/>
          <p:nvPr/>
        </p:nvSpPr>
        <p:spPr>
          <a:xfrm flipV="1">
            <a:off x="6788150" y="4930775"/>
            <a:ext cx="739775" cy="719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600" name="Line 66"/>
          <p:cNvSpPr/>
          <p:nvPr/>
        </p:nvSpPr>
        <p:spPr>
          <a:xfrm>
            <a:off x="7527925" y="4930775"/>
            <a:ext cx="430213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601" name="Line 67"/>
          <p:cNvSpPr/>
          <p:nvPr/>
        </p:nvSpPr>
        <p:spPr>
          <a:xfrm flipV="1">
            <a:off x="7589838" y="5387975"/>
            <a:ext cx="368300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602" name="Line 68"/>
          <p:cNvSpPr/>
          <p:nvPr/>
        </p:nvSpPr>
        <p:spPr>
          <a:xfrm>
            <a:off x="7958138" y="5387975"/>
            <a:ext cx="309562" cy="3270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603" name="Oval 69"/>
          <p:cNvSpPr/>
          <p:nvPr/>
        </p:nvSpPr>
        <p:spPr>
          <a:xfrm>
            <a:off x="6049963" y="4735513"/>
            <a:ext cx="2093912" cy="1239837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604" name="Oval 70"/>
          <p:cNvSpPr/>
          <p:nvPr/>
        </p:nvSpPr>
        <p:spPr>
          <a:xfrm>
            <a:off x="7712075" y="5126038"/>
            <a:ext cx="800100" cy="849312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605" name="Rectangle 71"/>
          <p:cNvSpPr/>
          <p:nvPr/>
        </p:nvSpPr>
        <p:spPr>
          <a:xfrm>
            <a:off x="1176338" y="511175"/>
            <a:ext cx="684212" cy="6318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块</a:t>
            </a:r>
            <a:endParaRPr lang="en-US" altLang="zh-CN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5606" name="文本框 1"/>
          <p:cNvSpPr txBox="1"/>
          <p:nvPr/>
        </p:nvSpPr>
        <p:spPr>
          <a:xfrm>
            <a:off x="1370013" y="6178550"/>
            <a:ext cx="8397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</a:rPr>
              <a:t>5</a:t>
            </a:r>
            <a:r>
              <a:rPr lang="zh-CN" altLang="en-US" b="1">
                <a:latin typeface="Tahoma" panose="020B0604030504040204" charset="0"/>
                <a:ea typeface="宋体" panose="02010600030101010101" pitchFamily="2" charset="-122"/>
              </a:rPr>
              <a:t>个</a:t>
            </a:r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</a:rPr>
              <a:t>K</a:t>
            </a:r>
            <a:r>
              <a:rPr lang="en-US" altLang="zh-CN" b="1" baseline="-25000">
                <a:latin typeface="Tahoma" panose="020B0604030504040204" charset="0"/>
                <a:ea typeface="宋体" panose="02010600030101010101" pitchFamily="2" charset="-122"/>
              </a:rPr>
              <a:t>2</a:t>
            </a:r>
            <a:endParaRPr lang="en-US" altLang="zh-CN" b="1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607" name="文本框 2"/>
          <p:cNvSpPr txBox="1"/>
          <p:nvPr/>
        </p:nvSpPr>
        <p:spPr>
          <a:xfrm>
            <a:off x="3876675" y="6178550"/>
            <a:ext cx="13938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K</a:t>
            </a:r>
            <a:r>
              <a:rPr lang="en-US" altLang="zh-CN" b="1" baseline="-25000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2</a:t>
            </a:r>
            <a:r>
              <a:rPr lang="zh-CN" altLang="en-US" b="1" baseline="-25000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，</a:t>
            </a:r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K</a:t>
            </a:r>
            <a:r>
              <a:rPr lang="en-US" altLang="zh-CN" b="1" baseline="-25000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3</a:t>
            </a:r>
            <a:r>
              <a:rPr lang="zh-CN" altLang="en-US" b="1" baseline="-25000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，</a:t>
            </a:r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</a:rPr>
              <a:t>K</a:t>
            </a:r>
            <a:r>
              <a:rPr lang="en-US" altLang="zh-CN" b="1" baseline="-25000">
                <a:latin typeface="Tahoma" panose="020B0604030504040204" charset="0"/>
                <a:ea typeface="宋体" panose="02010600030101010101" pitchFamily="2" charset="-122"/>
              </a:rPr>
              <a:t>4</a:t>
            </a:r>
            <a:endParaRPr lang="en-US" altLang="zh-CN" b="1" baseline="-2500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5608" name="文本框 3"/>
          <p:cNvSpPr txBox="1"/>
          <p:nvPr/>
        </p:nvSpPr>
        <p:spPr>
          <a:xfrm>
            <a:off x="6049963" y="6159500"/>
            <a:ext cx="25923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2</a:t>
            </a:r>
            <a:r>
              <a:rPr lang="zh-CN" altLang="en-US" b="1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个块，其中一个是</a:t>
            </a:r>
            <a:r>
              <a:rPr lang="en-US" altLang="zh-CN" b="1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K</a:t>
            </a:r>
            <a:r>
              <a:rPr lang="en-US" altLang="zh-CN" b="1" baseline="-25000">
                <a:latin typeface="Tahoma" panose="020B0604030504040204" charset="0"/>
                <a:ea typeface="宋体" panose="02010600030101010101" pitchFamily="2" charset="-122"/>
                <a:sym typeface="黑体" panose="02010609060101010101" charset="-122"/>
              </a:rPr>
              <a:t>2</a:t>
            </a:r>
            <a:endParaRPr lang="zh-CN" altLang="en-US">
              <a:latin typeface="Tahoma" panose="020B060403050404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47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6562" name="Text Box 4"/>
          <p:cNvSpPr txBox="1"/>
          <p:nvPr/>
        </p:nvSpPr>
        <p:spPr>
          <a:xfrm>
            <a:off x="684213" y="1366838"/>
            <a:ext cx="7859712" cy="23495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1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中任意两个顶点之间有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条以上独立路径。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k-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边连通图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10000"/>
              </a:lnSpc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中任意两个顶点之间有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条以上边不交路径。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6563" name="Oval 5"/>
          <p:cNvSpPr/>
          <p:nvPr/>
        </p:nvSpPr>
        <p:spPr>
          <a:xfrm>
            <a:off x="2540000" y="4605338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64" name="Oval 6"/>
          <p:cNvSpPr/>
          <p:nvPr/>
        </p:nvSpPr>
        <p:spPr>
          <a:xfrm>
            <a:off x="3770313" y="5127625"/>
            <a:ext cx="123825" cy="12858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65" name="Oval 7"/>
          <p:cNvSpPr/>
          <p:nvPr/>
        </p:nvSpPr>
        <p:spPr>
          <a:xfrm>
            <a:off x="2540000" y="5127625"/>
            <a:ext cx="123825" cy="128588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66" name="Oval 8"/>
          <p:cNvSpPr/>
          <p:nvPr/>
        </p:nvSpPr>
        <p:spPr>
          <a:xfrm>
            <a:off x="1308100" y="5127625"/>
            <a:ext cx="123825" cy="12858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67" name="Oval 9"/>
          <p:cNvSpPr/>
          <p:nvPr/>
        </p:nvSpPr>
        <p:spPr>
          <a:xfrm>
            <a:off x="2540000" y="4867275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68" name="Oval 10"/>
          <p:cNvSpPr/>
          <p:nvPr/>
        </p:nvSpPr>
        <p:spPr>
          <a:xfrm>
            <a:off x="2540000" y="5649913"/>
            <a:ext cx="123825" cy="130175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69" name="Oval 11"/>
          <p:cNvSpPr/>
          <p:nvPr/>
        </p:nvSpPr>
        <p:spPr>
          <a:xfrm>
            <a:off x="2540000" y="5389563"/>
            <a:ext cx="123825" cy="128587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70" name="Oval 12"/>
          <p:cNvSpPr/>
          <p:nvPr/>
        </p:nvSpPr>
        <p:spPr>
          <a:xfrm>
            <a:off x="5310188" y="5127625"/>
            <a:ext cx="123825" cy="12858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71" name="Oval 13"/>
          <p:cNvSpPr/>
          <p:nvPr/>
        </p:nvSpPr>
        <p:spPr>
          <a:xfrm>
            <a:off x="7835900" y="5127625"/>
            <a:ext cx="122238" cy="128588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6572" name="Freeform 14"/>
          <p:cNvSpPr/>
          <p:nvPr/>
        </p:nvSpPr>
        <p:spPr>
          <a:xfrm>
            <a:off x="1431925" y="4659313"/>
            <a:ext cx="2338388" cy="468312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723" h="325">
                <a:moveTo>
                  <a:pt x="0" y="325"/>
                </a:moveTo>
                <a:cubicBezTo>
                  <a:pt x="64" y="215"/>
                  <a:pt x="128" y="106"/>
                  <a:pt x="272" y="53"/>
                </a:cubicBezTo>
                <a:cubicBezTo>
                  <a:pt x="416" y="0"/>
                  <a:pt x="696" y="8"/>
                  <a:pt x="862" y="8"/>
                </a:cubicBezTo>
                <a:cubicBezTo>
                  <a:pt x="1028" y="8"/>
                  <a:pt x="1142" y="15"/>
                  <a:pt x="1270" y="53"/>
                </a:cubicBezTo>
                <a:cubicBezTo>
                  <a:pt x="1398" y="91"/>
                  <a:pt x="1558" y="190"/>
                  <a:pt x="1633" y="235"/>
                </a:cubicBezTo>
                <a:cubicBezTo>
                  <a:pt x="1708" y="280"/>
                  <a:pt x="1715" y="302"/>
                  <a:pt x="1723" y="325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3" name="Freeform 15"/>
          <p:cNvSpPr/>
          <p:nvPr/>
        </p:nvSpPr>
        <p:spPr>
          <a:xfrm>
            <a:off x="1431925" y="4802188"/>
            <a:ext cx="2338388" cy="390525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723" h="272">
                <a:moveTo>
                  <a:pt x="0" y="272"/>
                </a:moveTo>
                <a:cubicBezTo>
                  <a:pt x="79" y="200"/>
                  <a:pt x="158" y="128"/>
                  <a:pt x="226" y="90"/>
                </a:cubicBezTo>
                <a:cubicBezTo>
                  <a:pt x="294" y="52"/>
                  <a:pt x="333" y="60"/>
                  <a:pt x="408" y="45"/>
                </a:cubicBezTo>
                <a:cubicBezTo>
                  <a:pt x="483" y="30"/>
                  <a:pt x="604" y="0"/>
                  <a:pt x="680" y="0"/>
                </a:cubicBezTo>
                <a:cubicBezTo>
                  <a:pt x="756" y="0"/>
                  <a:pt x="824" y="30"/>
                  <a:pt x="862" y="45"/>
                </a:cubicBezTo>
                <a:cubicBezTo>
                  <a:pt x="900" y="60"/>
                  <a:pt x="832" y="75"/>
                  <a:pt x="907" y="90"/>
                </a:cubicBezTo>
                <a:cubicBezTo>
                  <a:pt x="982" y="105"/>
                  <a:pt x="1209" y="121"/>
                  <a:pt x="1315" y="136"/>
                </a:cubicBezTo>
                <a:cubicBezTo>
                  <a:pt x="1421" y="151"/>
                  <a:pt x="1474" y="158"/>
                  <a:pt x="1542" y="181"/>
                </a:cubicBezTo>
                <a:cubicBezTo>
                  <a:pt x="1610" y="204"/>
                  <a:pt x="1666" y="238"/>
                  <a:pt x="1723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4" name="Freeform 16"/>
          <p:cNvSpPr/>
          <p:nvPr/>
        </p:nvSpPr>
        <p:spPr>
          <a:xfrm>
            <a:off x="1493838" y="5114925"/>
            <a:ext cx="2276475" cy="90488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678" h="62">
                <a:moveTo>
                  <a:pt x="0" y="54"/>
                </a:moveTo>
                <a:cubicBezTo>
                  <a:pt x="132" y="35"/>
                  <a:pt x="265" y="16"/>
                  <a:pt x="363" y="8"/>
                </a:cubicBezTo>
                <a:cubicBezTo>
                  <a:pt x="461" y="0"/>
                  <a:pt x="522" y="0"/>
                  <a:pt x="590" y="8"/>
                </a:cubicBezTo>
                <a:cubicBezTo>
                  <a:pt x="658" y="16"/>
                  <a:pt x="726" y="46"/>
                  <a:pt x="771" y="54"/>
                </a:cubicBezTo>
                <a:cubicBezTo>
                  <a:pt x="816" y="62"/>
                  <a:pt x="802" y="54"/>
                  <a:pt x="862" y="54"/>
                </a:cubicBezTo>
                <a:cubicBezTo>
                  <a:pt x="922" y="54"/>
                  <a:pt x="1036" y="54"/>
                  <a:pt x="1134" y="54"/>
                </a:cubicBezTo>
                <a:cubicBezTo>
                  <a:pt x="1232" y="54"/>
                  <a:pt x="1361" y="54"/>
                  <a:pt x="1452" y="54"/>
                </a:cubicBezTo>
                <a:cubicBezTo>
                  <a:pt x="1543" y="54"/>
                  <a:pt x="1610" y="54"/>
                  <a:pt x="1678" y="5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5" name="Freeform 17"/>
          <p:cNvSpPr/>
          <p:nvPr/>
        </p:nvSpPr>
        <p:spPr>
          <a:xfrm>
            <a:off x="1431925" y="5257800"/>
            <a:ext cx="2338388" cy="2174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723" h="151">
                <a:moveTo>
                  <a:pt x="0" y="0"/>
                </a:moveTo>
                <a:cubicBezTo>
                  <a:pt x="86" y="11"/>
                  <a:pt x="173" y="22"/>
                  <a:pt x="226" y="45"/>
                </a:cubicBezTo>
                <a:cubicBezTo>
                  <a:pt x="279" y="68"/>
                  <a:pt x="226" y="121"/>
                  <a:pt x="317" y="136"/>
                </a:cubicBezTo>
                <a:cubicBezTo>
                  <a:pt x="408" y="151"/>
                  <a:pt x="665" y="136"/>
                  <a:pt x="771" y="136"/>
                </a:cubicBezTo>
                <a:cubicBezTo>
                  <a:pt x="877" y="136"/>
                  <a:pt x="861" y="144"/>
                  <a:pt x="952" y="136"/>
                </a:cubicBezTo>
                <a:cubicBezTo>
                  <a:pt x="1043" y="128"/>
                  <a:pt x="1187" y="114"/>
                  <a:pt x="1315" y="91"/>
                </a:cubicBezTo>
                <a:cubicBezTo>
                  <a:pt x="1443" y="68"/>
                  <a:pt x="1583" y="34"/>
                  <a:pt x="1723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6" name="Freeform 18"/>
          <p:cNvSpPr/>
          <p:nvPr/>
        </p:nvSpPr>
        <p:spPr>
          <a:xfrm>
            <a:off x="1370013" y="5257800"/>
            <a:ext cx="2463800" cy="5349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1815" h="371">
                <a:moveTo>
                  <a:pt x="0" y="0"/>
                </a:moveTo>
                <a:cubicBezTo>
                  <a:pt x="98" y="106"/>
                  <a:pt x="197" y="212"/>
                  <a:pt x="318" y="272"/>
                </a:cubicBezTo>
                <a:cubicBezTo>
                  <a:pt x="439" y="332"/>
                  <a:pt x="635" y="355"/>
                  <a:pt x="726" y="363"/>
                </a:cubicBezTo>
                <a:cubicBezTo>
                  <a:pt x="817" y="371"/>
                  <a:pt x="756" y="333"/>
                  <a:pt x="862" y="318"/>
                </a:cubicBezTo>
                <a:cubicBezTo>
                  <a:pt x="968" y="303"/>
                  <a:pt x="1225" y="310"/>
                  <a:pt x="1361" y="272"/>
                </a:cubicBezTo>
                <a:cubicBezTo>
                  <a:pt x="1497" y="234"/>
                  <a:pt x="1603" y="136"/>
                  <a:pt x="1679" y="91"/>
                </a:cubicBezTo>
                <a:cubicBezTo>
                  <a:pt x="1755" y="46"/>
                  <a:pt x="1785" y="23"/>
                  <a:pt x="1815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7" name="Freeform 19"/>
          <p:cNvSpPr/>
          <p:nvPr/>
        </p:nvSpPr>
        <p:spPr>
          <a:xfrm>
            <a:off x="5373688" y="4887913"/>
            <a:ext cx="2462212" cy="512762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814" h="356">
                <a:moveTo>
                  <a:pt x="0" y="166"/>
                </a:moveTo>
                <a:cubicBezTo>
                  <a:pt x="56" y="106"/>
                  <a:pt x="113" y="46"/>
                  <a:pt x="226" y="76"/>
                </a:cubicBezTo>
                <a:cubicBezTo>
                  <a:pt x="339" y="106"/>
                  <a:pt x="491" y="356"/>
                  <a:pt x="680" y="348"/>
                </a:cubicBezTo>
                <a:cubicBezTo>
                  <a:pt x="869" y="340"/>
                  <a:pt x="1171" y="60"/>
                  <a:pt x="1360" y="30"/>
                </a:cubicBezTo>
                <a:cubicBezTo>
                  <a:pt x="1549" y="0"/>
                  <a:pt x="1681" y="83"/>
                  <a:pt x="1814" y="16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8" name="Freeform 20"/>
          <p:cNvSpPr/>
          <p:nvPr/>
        </p:nvSpPr>
        <p:spPr>
          <a:xfrm>
            <a:off x="5373688" y="4625975"/>
            <a:ext cx="2522537" cy="116681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859" h="810">
                <a:moveTo>
                  <a:pt x="0" y="348"/>
                </a:moveTo>
                <a:cubicBezTo>
                  <a:pt x="79" y="174"/>
                  <a:pt x="159" y="0"/>
                  <a:pt x="272" y="76"/>
                </a:cubicBezTo>
                <a:cubicBezTo>
                  <a:pt x="385" y="152"/>
                  <a:pt x="536" y="794"/>
                  <a:pt x="680" y="802"/>
                </a:cubicBezTo>
                <a:cubicBezTo>
                  <a:pt x="824" y="810"/>
                  <a:pt x="998" y="137"/>
                  <a:pt x="1134" y="122"/>
                </a:cubicBezTo>
                <a:cubicBezTo>
                  <a:pt x="1270" y="107"/>
                  <a:pt x="1376" y="666"/>
                  <a:pt x="1497" y="711"/>
                </a:cubicBezTo>
                <a:cubicBezTo>
                  <a:pt x="1618" y="756"/>
                  <a:pt x="1738" y="575"/>
                  <a:pt x="1859" y="39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79" name="Freeform 21"/>
          <p:cNvSpPr/>
          <p:nvPr/>
        </p:nvSpPr>
        <p:spPr>
          <a:xfrm>
            <a:off x="5373688" y="4451350"/>
            <a:ext cx="2522537" cy="170021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859" h="1180">
                <a:moveTo>
                  <a:pt x="0" y="560"/>
                </a:moveTo>
                <a:cubicBezTo>
                  <a:pt x="136" y="870"/>
                  <a:pt x="272" y="1180"/>
                  <a:pt x="499" y="1104"/>
                </a:cubicBezTo>
                <a:cubicBezTo>
                  <a:pt x="726" y="1028"/>
                  <a:pt x="1133" y="212"/>
                  <a:pt x="1360" y="106"/>
                </a:cubicBezTo>
                <a:cubicBezTo>
                  <a:pt x="1587" y="0"/>
                  <a:pt x="1723" y="234"/>
                  <a:pt x="1859" y="469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80" name="Freeform 22"/>
          <p:cNvSpPr/>
          <p:nvPr/>
        </p:nvSpPr>
        <p:spPr>
          <a:xfrm>
            <a:off x="5434013" y="4462463"/>
            <a:ext cx="2401887" cy="149225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1769" h="1036">
                <a:moveTo>
                  <a:pt x="0" y="507"/>
                </a:moveTo>
                <a:cubicBezTo>
                  <a:pt x="144" y="771"/>
                  <a:pt x="288" y="1036"/>
                  <a:pt x="454" y="960"/>
                </a:cubicBezTo>
                <a:cubicBezTo>
                  <a:pt x="620" y="884"/>
                  <a:pt x="824" y="106"/>
                  <a:pt x="998" y="53"/>
                </a:cubicBezTo>
                <a:cubicBezTo>
                  <a:pt x="1172" y="0"/>
                  <a:pt x="1369" y="567"/>
                  <a:pt x="1497" y="643"/>
                </a:cubicBezTo>
                <a:cubicBezTo>
                  <a:pt x="1625" y="719"/>
                  <a:pt x="1697" y="613"/>
                  <a:pt x="1769" y="507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6581" name="Rectangle 23"/>
          <p:cNvSpPr/>
          <p:nvPr/>
        </p:nvSpPr>
        <p:spPr>
          <a:xfrm>
            <a:off x="1258888" y="476250"/>
            <a:ext cx="6149975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k-(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边</a:t>
            </a:r>
            <a:r>
              <a:rPr lang="en-US" altLang="zh-CN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连通的充分必要条件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48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7586" name="Text Box 4"/>
          <p:cNvSpPr txBox="1"/>
          <p:nvPr/>
        </p:nvSpPr>
        <p:spPr>
          <a:xfrm>
            <a:off x="250825" y="1377950"/>
            <a:ext cx="8677275" cy="15382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17</a:t>
            </a:r>
            <a:r>
              <a:rPr lang="el-GR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 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无向连通图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是割点⇔可以把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V(G)-{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}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划分成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与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使得从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到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w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的路径都要经过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67587" name="Group 1"/>
          <p:cNvGrpSpPr/>
          <p:nvPr/>
        </p:nvGrpSpPr>
        <p:grpSpPr>
          <a:xfrm>
            <a:off x="2484438" y="4368800"/>
            <a:ext cx="3325812" cy="2012950"/>
            <a:chOff x="2540000" y="3821113"/>
            <a:chExt cx="3325813" cy="2012950"/>
          </a:xfrm>
        </p:grpSpPr>
        <p:sp>
          <p:nvSpPr>
            <p:cNvPr id="67588" name="Text Box 5"/>
            <p:cNvSpPr txBox="1"/>
            <p:nvPr/>
          </p:nvSpPr>
          <p:spPr>
            <a:xfrm>
              <a:off x="4156075" y="4745038"/>
              <a:ext cx="120650" cy="307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en-US" altLang="zh-CN" sz="21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7589" name="Text Box 6"/>
            <p:cNvSpPr txBox="1"/>
            <p:nvPr/>
          </p:nvSpPr>
          <p:spPr>
            <a:xfrm>
              <a:off x="2974975" y="4678363"/>
              <a:ext cx="147638" cy="3063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</a:pPr>
              <a:r>
                <a:rPr lang="en-US" altLang="zh-CN" sz="2100" b="1" i="1" dirty="0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en-US" altLang="zh-CN" sz="21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7590" name="Text Box 7"/>
            <p:cNvSpPr txBox="1"/>
            <p:nvPr/>
          </p:nvSpPr>
          <p:spPr>
            <a:xfrm>
              <a:off x="3340100" y="5478463"/>
              <a:ext cx="280988" cy="355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1400" b="1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7591" name="Text Box 8"/>
            <p:cNvSpPr txBox="1"/>
            <p:nvPr/>
          </p:nvSpPr>
          <p:spPr>
            <a:xfrm>
              <a:off x="5213350" y="4614863"/>
              <a:ext cx="247650" cy="307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415"/>
                </a:lnSpc>
                <a:tabLst>
                  <a:tab pos="66675" algn="l"/>
                </a:tabLst>
              </a:pPr>
              <a:r>
                <a:rPr lang="zh-CN" altLang="en-US" sz="1600" b="1" dirty="0">
                  <a:latin typeface="Times New Roman" panose="02020603050405020304" charset="0"/>
                  <a:ea typeface="宋体" panose="02010600030101010101" pitchFamily="2" charset="-122"/>
                </a:rPr>
                <a:t>	</a:t>
              </a:r>
              <a:r>
                <a:rPr lang="en-US" altLang="zh-CN" sz="2100" b="1" i="1" dirty="0">
                  <a:latin typeface="Times New Roman" panose="02020603050405020304" charset="0"/>
                  <a:ea typeface="宋体" panose="02010600030101010101" pitchFamily="2" charset="-122"/>
                </a:rPr>
                <a:t>w</a:t>
              </a:r>
              <a:endParaRPr lang="en-US" altLang="zh-CN" sz="1400" b="1" i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7592" name="Oval 9"/>
            <p:cNvSpPr/>
            <p:nvPr/>
          </p:nvSpPr>
          <p:spPr>
            <a:xfrm>
              <a:off x="4140200" y="45386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7593" name="Oval 10"/>
            <p:cNvSpPr/>
            <p:nvPr/>
          </p:nvSpPr>
          <p:spPr>
            <a:xfrm>
              <a:off x="5310188" y="45386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7594" name="Oval 11"/>
            <p:cNvSpPr/>
            <p:nvPr/>
          </p:nvSpPr>
          <p:spPr>
            <a:xfrm>
              <a:off x="2971800" y="4538663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7595" name="Oval 12"/>
            <p:cNvSpPr/>
            <p:nvPr/>
          </p:nvSpPr>
          <p:spPr>
            <a:xfrm>
              <a:off x="2540000" y="3821113"/>
              <a:ext cx="1662113" cy="15017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7596" name="Oval 13"/>
            <p:cNvSpPr/>
            <p:nvPr/>
          </p:nvSpPr>
          <p:spPr>
            <a:xfrm>
              <a:off x="4202113" y="3821113"/>
              <a:ext cx="1663700" cy="150177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7597" name="Text Box 14"/>
            <p:cNvSpPr txBox="1"/>
            <p:nvPr/>
          </p:nvSpPr>
          <p:spPr>
            <a:xfrm>
              <a:off x="5089525" y="5453063"/>
              <a:ext cx="280988" cy="355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p>
              <a:pPr defTabSz="802005">
                <a:lnSpc>
                  <a:spcPts val="2800"/>
                </a:lnSpc>
              </a:pPr>
              <a:r>
                <a:rPr lang="en-US" altLang="zh-CN" sz="2100" b="1" dirty="0"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r>
                <a:rPr lang="en-US" altLang="zh-CN" sz="1400" b="1" dirty="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400" b="1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7598" name="Freeform 15"/>
            <p:cNvSpPr/>
            <p:nvPr/>
          </p:nvSpPr>
          <p:spPr>
            <a:xfrm>
              <a:off x="3094038" y="4278313"/>
              <a:ext cx="2279650" cy="3683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679" h="256">
                  <a:moveTo>
                    <a:pt x="0" y="226"/>
                  </a:moveTo>
                  <a:cubicBezTo>
                    <a:pt x="91" y="113"/>
                    <a:pt x="182" y="0"/>
                    <a:pt x="318" y="0"/>
                  </a:cubicBezTo>
                  <a:cubicBezTo>
                    <a:pt x="454" y="0"/>
                    <a:pt x="711" y="196"/>
                    <a:pt x="817" y="226"/>
                  </a:cubicBezTo>
                  <a:cubicBezTo>
                    <a:pt x="923" y="256"/>
                    <a:pt x="893" y="211"/>
                    <a:pt x="953" y="181"/>
                  </a:cubicBezTo>
                  <a:cubicBezTo>
                    <a:pt x="1013" y="151"/>
                    <a:pt x="1059" y="45"/>
                    <a:pt x="1180" y="45"/>
                  </a:cubicBezTo>
                  <a:cubicBezTo>
                    <a:pt x="1301" y="45"/>
                    <a:pt x="1490" y="113"/>
                    <a:pt x="1679" y="18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599" name="Freeform 16"/>
            <p:cNvSpPr/>
            <p:nvPr/>
          </p:nvSpPr>
          <p:spPr>
            <a:xfrm>
              <a:off x="3094038" y="4583113"/>
              <a:ext cx="2216150" cy="152400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633" h="106">
                  <a:moveTo>
                    <a:pt x="0" y="15"/>
                  </a:moveTo>
                  <a:cubicBezTo>
                    <a:pt x="155" y="60"/>
                    <a:pt x="310" y="106"/>
                    <a:pt x="454" y="106"/>
                  </a:cubicBezTo>
                  <a:cubicBezTo>
                    <a:pt x="598" y="106"/>
                    <a:pt x="771" y="15"/>
                    <a:pt x="862" y="15"/>
                  </a:cubicBezTo>
                  <a:cubicBezTo>
                    <a:pt x="953" y="15"/>
                    <a:pt x="938" y="106"/>
                    <a:pt x="998" y="106"/>
                  </a:cubicBezTo>
                  <a:cubicBezTo>
                    <a:pt x="1058" y="106"/>
                    <a:pt x="1119" y="30"/>
                    <a:pt x="1225" y="15"/>
                  </a:cubicBezTo>
                  <a:cubicBezTo>
                    <a:pt x="1331" y="0"/>
                    <a:pt x="1482" y="7"/>
                    <a:pt x="1633" y="15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600" name="Freeform 17"/>
            <p:cNvSpPr/>
            <p:nvPr/>
          </p:nvSpPr>
          <p:spPr>
            <a:xfrm>
              <a:off x="3032125" y="4060825"/>
              <a:ext cx="2401888" cy="1012825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769" h="703">
                  <a:moveTo>
                    <a:pt x="0" y="423"/>
                  </a:moveTo>
                  <a:cubicBezTo>
                    <a:pt x="106" y="563"/>
                    <a:pt x="212" y="703"/>
                    <a:pt x="363" y="695"/>
                  </a:cubicBezTo>
                  <a:cubicBezTo>
                    <a:pt x="514" y="687"/>
                    <a:pt x="779" y="475"/>
                    <a:pt x="907" y="377"/>
                  </a:cubicBezTo>
                  <a:cubicBezTo>
                    <a:pt x="1035" y="279"/>
                    <a:pt x="1043" y="165"/>
                    <a:pt x="1134" y="105"/>
                  </a:cubicBezTo>
                  <a:cubicBezTo>
                    <a:pt x="1225" y="45"/>
                    <a:pt x="1384" y="0"/>
                    <a:pt x="1452" y="15"/>
                  </a:cubicBezTo>
                  <a:cubicBezTo>
                    <a:pt x="1520" y="30"/>
                    <a:pt x="1497" y="166"/>
                    <a:pt x="1542" y="196"/>
                  </a:cubicBezTo>
                  <a:cubicBezTo>
                    <a:pt x="1587" y="226"/>
                    <a:pt x="1686" y="173"/>
                    <a:pt x="1724" y="196"/>
                  </a:cubicBezTo>
                  <a:cubicBezTo>
                    <a:pt x="1762" y="219"/>
                    <a:pt x="1765" y="275"/>
                    <a:pt x="1769" y="3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7601" name="Rectangle 18"/>
          <p:cNvSpPr/>
          <p:nvPr/>
        </p:nvSpPr>
        <p:spPr>
          <a:xfrm>
            <a:off x="1187450" y="476250"/>
            <a:ext cx="4656138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割点的充分必要条件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7602" name="Text Box 4"/>
          <p:cNvSpPr txBox="1"/>
          <p:nvPr/>
        </p:nvSpPr>
        <p:spPr>
          <a:xfrm>
            <a:off x="323850" y="3141663"/>
            <a:ext cx="8496300" cy="1019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推论</a:t>
            </a:r>
            <a:r>
              <a:rPr lang="el-GR" altLang="zh-CN" sz="2800" b="1" dirty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无向连通图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是割点⇔存在与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不同的顶点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和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w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使得从顶点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到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w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的路径都要经过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Text Box 2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50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8610" name="Text Box 3"/>
          <p:cNvSpPr txBox="1"/>
          <p:nvPr/>
        </p:nvSpPr>
        <p:spPr>
          <a:xfrm>
            <a:off x="611188" y="1412875"/>
            <a:ext cx="7705725" cy="2586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18</a:t>
            </a:r>
            <a:r>
              <a:rPr lang="el-GR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无向连通图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是桥⇔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的任何圈都不经过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tabLst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19</a:t>
            </a:r>
            <a:r>
              <a:rPr lang="el-GR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 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无向连通图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是桥⇔可以把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V(G)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划分成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使得从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u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到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中任意顶点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v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的路径都要经过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e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68611" name="Text Box 4"/>
          <p:cNvSpPr txBox="1"/>
          <p:nvPr/>
        </p:nvSpPr>
        <p:spPr>
          <a:xfrm>
            <a:off x="4324350" y="5137150"/>
            <a:ext cx="119063" cy="3063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415"/>
              </a:lnSpc>
              <a:tabLst>
                <a:tab pos="546100" algn="l"/>
              </a:tabLst>
            </a:pPr>
            <a:r>
              <a:rPr lang="en-US" altLang="zh-CN" sz="2100" b="1" dirty="0"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endParaRPr lang="en-US" altLang="zh-CN" sz="12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8612" name="Text Box 5"/>
          <p:cNvSpPr txBox="1"/>
          <p:nvPr/>
        </p:nvSpPr>
        <p:spPr>
          <a:xfrm>
            <a:off x="2779713" y="5070475"/>
            <a:ext cx="147637" cy="3063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415"/>
              </a:lnSpc>
            </a:pPr>
            <a:r>
              <a:rPr lang="en-US" altLang="zh-CN" sz="2100" b="1" dirty="0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endParaRPr lang="en-US" altLang="zh-CN" sz="21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8613" name="Text Box 6"/>
          <p:cNvSpPr txBox="1"/>
          <p:nvPr/>
        </p:nvSpPr>
        <p:spPr>
          <a:xfrm>
            <a:off x="2974975" y="5805488"/>
            <a:ext cx="280988" cy="355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</a:pPr>
            <a:r>
              <a:rPr lang="en-US" altLang="zh-CN" sz="2100" b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1400" b="1" dirty="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endParaRPr lang="en-US" altLang="zh-CN" sz="1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8614" name="Text Box 7"/>
          <p:cNvSpPr txBox="1"/>
          <p:nvPr/>
        </p:nvSpPr>
        <p:spPr>
          <a:xfrm>
            <a:off x="6111875" y="5072063"/>
            <a:ext cx="200025" cy="3063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415"/>
              </a:lnSpc>
              <a:tabLst>
                <a:tab pos="66675" algn="l"/>
              </a:tabLst>
            </a:pPr>
            <a:r>
              <a:rPr lang="zh-CN" altLang="en-US" sz="1600" b="1" dirty="0">
                <a:latin typeface="Times New Roman" panose="02020603050405020304" charset="0"/>
                <a:ea typeface="宋体" panose="02010600030101010101" pitchFamily="2" charset="-122"/>
              </a:rPr>
              <a:t>	</a:t>
            </a:r>
            <a:r>
              <a:rPr lang="en-US" altLang="zh-CN" sz="2100" b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endParaRPr lang="en-US" altLang="zh-CN" sz="1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8615" name="Oval 9"/>
          <p:cNvSpPr/>
          <p:nvPr/>
        </p:nvSpPr>
        <p:spPr>
          <a:xfrm>
            <a:off x="3832225" y="5062538"/>
            <a:ext cx="123825" cy="128587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616" name="Oval 10"/>
          <p:cNvSpPr/>
          <p:nvPr/>
        </p:nvSpPr>
        <p:spPr>
          <a:xfrm>
            <a:off x="5988050" y="5062538"/>
            <a:ext cx="123825" cy="128587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617" name="Oval 11"/>
          <p:cNvSpPr/>
          <p:nvPr/>
        </p:nvSpPr>
        <p:spPr>
          <a:xfrm>
            <a:off x="2663825" y="5062538"/>
            <a:ext cx="123825" cy="128587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618" name="Oval 12"/>
          <p:cNvSpPr/>
          <p:nvPr/>
        </p:nvSpPr>
        <p:spPr>
          <a:xfrm>
            <a:off x="2232025" y="4343400"/>
            <a:ext cx="1662113" cy="15017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619" name="Oval 13"/>
          <p:cNvSpPr/>
          <p:nvPr/>
        </p:nvSpPr>
        <p:spPr>
          <a:xfrm>
            <a:off x="4879975" y="4343400"/>
            <a:ext cx="1663700" cy="15017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620" name="Oval 14"/>
          <p:cNvSpPr/>
          <p:nvPr/>
        </p:nvSpPr>
        <p:spPr>
          <a:xfrm>
            <a:off x="4818063" y="5062538"/>
            <a:ext cx="123825" cy="128587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8621" name="Line 15"/>
          <p:cNvSpPr/>
          <p:nvPr/>
        </p:nvSpPr>
        <p:spPr>
          <a:xfrm>
            <a:off x="3956050" y="5127625"/>
            <a:ext cx="923925" cy="0"/>
          </a:xfrm>
          <a:prstGeom prst="line">
            <a:avLst/>
          </a:prstGeom>
          <a:ln w="9525" cap="flat" cmpd="sng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622" name="Text Box 16"/>
          <p:cNvSpPr txBox="1"/>
          <p:nvPr/>
        </p:nvSpPr>
        <p:spPr>
          <a:xfrm>
            <a:off x="5703888" y="5780088"/>
            <a:ext cx="280987" cy="355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2800"/>
              </a:lnSpc>
            </a:pPr>
            <a:r>
              <a:rPr lang="en-US" altLang="zh-CN" sz="2100" b="1" dirty="0">
                <a:latin typeface="Times New Roman" panose="02020603050405020304" charset="0"/>
                <a:ea typeface="宋体" panose="02010600030101010101" pitchFamily="2" charset="-122"/>
              </a:rPr>
              <a:t>V</a:t>
            </a:r>
            <a:r>
              <a:rPr lang="en-US" altLang="zh-CN" sz="1400" b="1" dirty="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endParaRPr lang="en-US" altLang="zh-CN" sz="1400" b="1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8623" name="Freeform 17"/>
          <p:cNvSpPr/>
          <p:nvPr/>
        </p:nvSpPr>
        <p:spPr>
          <a:xfrm>
            <a:off x="2787650" y="4670425"/>
            <a:ext cx="1046163" cy="392113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771" h="272">
                <a:moveTo>
                  <a:pt x="0" y="272"/>
                </a:moveTo>
                <a:cubicBezTo>
                  <a:pt x="72" y="136"/>
                  <a:pt x="144" y="0"/>
                  <a:pt x="272" y="0"/>
                </a:cubicBezTo>
                <a:cubicBezTo>
                  <a:pt x="400" y="0"/>
                  <a:pt x="585" y="136"/>
                  <a:pt x="771" y="272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4" name="Freeform 18"/>
          <p:cNvSpPr/>
          <p:nvPr/>
        </p:nvSpPr>
        <p:spPr>
          <a:xfrm>
            <a:off x="4879975" y="4802188"/>
            <a:ext cx="1169988" cy="3254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pathLst>
              <a:path w="862" h="226">
                <a:moveTo>
                  <a:pt x="0" y="226"/>
                </a:moveTo>
                <a:cubicBezTo>
                  <a:pt x="64" y="113"/>
                  <a:pt x="128" y="0"/>
                  <a:pt x="272" y="0"/>
                </a:cubicBezTo>
                <a:cubicBezTo>
                  <a:pt x="416" y="0"/>
                  <a:pt x="639" y="113"/>
                  <a:pt x="862" y="226"/>
                </a:cubicBez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5" name="Freeform 19"/>
          <p:cNvSpPr/>
          <p:nvPr/>
        </p:nvSpPr>
        <p:spPr>
          <a:xfrm>
            <a:off x="2787650" y="5051425"/>
            <a:ext cx="1106488" cy="2159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816" h="150">
                <a:moveTo>
                  <a:pt x="0" y="52"/>
                </a:moveTo>
                <a:cubicBezTo>
                  <a:pt x="64" y="101"/>
                  <a:pt x="128" y="150"/>
                  <a:pt x="181" y="143"/>
                </a:cubicBezTo>
                <a:cubicBezTo>
                  <a:pt x="234" y="136"/>
                  <a:pt x="257" y="14"/>
                  <a:pt x="317" y="7"/>
                </a:cubicBezTo>
                <a:cubicBezTo>
                  <a:pt x="377" y="0"/>
                  <a:pt x="461" y="91"/>
                  <a:pt x="544" y="98"/>
                </a:cubicBezTo>
                <a:cubicBezTo>
                  <a:pt x="627" y="105"/>
                  <a:pt x="721" y="78"/>
                  <a:pt x="816" y="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6" name="Freeform 20"/>
          <p:cNvSpPr/>
          <p:nvPr/>
        </p:nvSpPr>
        <p:spPr>
          <a:xfrm>
            <a:off x="4941888" y="5051425"/>
            <a:ext cx="1108075" cy="2159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817" h="150">
                <a:moveTo>
                  <a:pt x="0" y="52"/>
                </a:moveTo>
                <a:cubicBezTo>
                  <a:pt x="83" y="101"/>
                  <a:pt x="166" y="150"/>
                  <a:pt x="227" y="143"/>
                </a:cubicBezTo>
                <a:cubicBezTo>
                  <a:pt x="288" y="136"/>
                  <a:pt x="302" y="14"/>
                  <a:pt x="363" y="7"/>
                </a:cubicBezTo>
                <a:cubicBezTo>
                  <a:pt x="424" y="0"/>
                  <a:pt x="514" y="90"/>
                  <a:pt x="590" y="98"/>
                </a:cubicBezTo>
                <a:cubicBezTo>
                  <a:pt x="666" y="106"/>
                  <a:pt x="741" y="79"/>
                  <a:pt x="817" y="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7" name="Freeform 21"/>
          <p:cNvSpPr/>
          <p:nvPr/>
        </p:nvSpPr>
        <p:spPr>
          <a:xfrm>
            <a:off x="2787650" y="5192713"/>
            <a:ext cx="1046163" cy="3381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771" h="234">
                <a:moveTo>
                  <a:pt x="0" y="0"/>
                </a:moveTo>
                <a:cubicBezTo>
                  <a:pt x="106" y="110"/>
                  <a:pt x="212" y="220"/>
                  <a:pt x="272" y="227"/>
                </a:cubicBezTo>
                <a:cubicBezTo>
                  <a:pt x="332" y="234"/>
                  <a:pt x="301" y="68"/>
                  <a:pt x="362" y="45"/>
                </a:cubicBezTo>
                <a:cubicBezTo>
                  <a:pt x="423" y="22"/>
                  <a:pt x="567" y="97"/>
                  <a:pt x="635" y="90"/>
                </a:cubicBezTo>
                <a:cubicBezTo>
                  <a:pt x="703" y="83"/>
                  <a:pt x="737" y="41"/>
                  <a:pt x="771" y="0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8" name="Freeform 22"/>
          <p:cNvSpPr/>
          <p:nvPr/>
        </p:nvSpPr>
        <p:spPr>
          <a:xfrm>
            <a:off x="4941888" y="5127625"/>
            <a:ext cx="1108075" cy="347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817" h="242">
                <a:moveTo>
                  <a:pt x="0" y="0"/>
                </a:moveTo>
                <a:cubicBezTo>
                  <a:pt x="61" y="106"/>
                  <a:pt x="122" y="212"/>
                  <a:pt x="182" y="227"/>
                </a:cubicBezTo>
                <a:cubicBezTo>
                  <a:pt x="242" y="242"/>
                  <a:pt x="288" y="91"/>
                  <a:pt x="363" y="91"/>
                </a:cubicBezTo>
                <a:cubicBezTo>
                  <a:pt x="438" y="91"/>
                  <a:pt x="559" y="234"/>
                  <a:pt x="635" y="227"/>
                </a:cubicBezTo>
                <a:cubicBezTo>
                  <a:pt x="711" y="220"/>
                  <a:pt x="764" y="133"/>
                  <a:pt x="817" y="46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8629" name="Rectangle 23"/>
          <p:cNvSpPr/>
          <p:nvPr/>
        </p:nvSpPr>
        <p:spPr>
          <a:xfrm>
            <a:off x="1187450" y="476250"/>
            <a:ext cx="41592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桥的充分必要条件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51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9634" name="Text Box 4"/>
          <p:cNvSpPr txBox="1"/>
          <p:nvPr/>
        </p:nvSpPr>
        <p:spPr>
          <a:xfrm>
            <a:off x="395288" y="1476375"/>
            <a:ext cx="8353425" cy="4432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20: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阶以上无向简单连通图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是块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顶点共圈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顶点与任意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边共圈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边共圈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顶点与任意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有路径连接这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顶点并经  过这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1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 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有路径连接其中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顶点并经过第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点</a:t>
            </a:r>
            <a:endParaRPr lang="el-GR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850"/>
              </a:lnSpc>
              <a:tabLst>
                <a:tab pos="288925" algn="l"/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⇔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G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中任意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有路径连接其中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顶点并不经过第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3	 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. 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69635" name="组合 13"/>
          <p:cNvGrpSpPr/>
          <p:nvPr/>
        </p:nvGrpSpPr>
        <p:grpSpPr>
          <a:xfrm>
            <a:off x="2147888" y="6021388"/>
            <a:ext cx="2155825" cy="622300"/>
            <a:chOff x="2147888" y="5686425"/>
            <a:chExt cx="2155825" cy="622300"/>
          </a:xfrm>
        </p:grpSpPr>
        <p:sp>
          <p:nvSpPr>
            <p:cNvPr id="69636" name="Oval 5"/>
            <p:cNvSpPr/>
            <p:nvPr/>
          </p:nvSpPr>
          <p:spPr>
            <a:xfrm>
              <a:off x="3194050" y="5826125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37" name="Oval 6"/>
            <p:cNvSpPr/>
            <p:nvPr/>
          </p:nvSpPr>
          <p:spPr>
            <a:xfrm>
              <a:off x="4179888" y="617855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38" name="Oval 7"/>
            <p:cNvSpPr/>
            <p:nvPr/>
          </p:nvSpPr>
          <p:spPr>
            <a:xfrm>
              <a:off x="2147888" y="617855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39" name="Freeform 11"/>
            <p:cNvSpPr/>
            <p:nvPr/>
          </p:nvSpPr>
          <p:spPr>
            <a:xfrm>
              <a:off x="2209800" y="5686425"/>
              <a:ext cx="2033588" cy="490538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497" h="341">
                  <a:moveTo>
                    <a:pt x="0" y="341"/>
                  </a:moveTo>
                  <a:cubicBezTo>
                    <a:pt x="90" y="216"/>
                    <a:pt x="181" y="92"/>
                    <a:pt x="272" y="69"/>
                  </a:cubicBezTo>
                  <a:cubicBezTo>
                    <a:pt x="363" y="46"/>
                    <a:pt x="400" y="213"/>
                    <a:pt x="544" y="205"/>
                  </a:cubicBezTo>
                  <a:cubicBezTo>
                    <a:pt x="688" y="197"/>
                    <a:pt x="975" y="0"/>
                    <a:pt x="1134" y="23"/>
                  </a:cubicBezTo>
                  <a:cubicBezTo>
                    <a:pt x="1293" y="46"/>
                    <a:pt x="1395" y="193"/>
                    <a:pt x="1497" y="34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9640" name="组合 15"/>
          <p:cNvGrpSpPr/>
          <p:nvPr/>
        </p:nvGrpSpPr>
        <p:grpSpPr>
          <a:xfrm>
            <a:off x="5597525" y="5930900"/>
            <a:ext cx="2214563" cy="784225"/>
            <a:chOff x="5597525" y="5524500"/>
            <a:chExt cx="2214563" cy="784225"/>
          </a:xfrm>
        </p:grpSpPr>
        <p:sp>
          <p:nvSpPr>
            <p:cNvPr id="69641" name="Oval 8"/>
            <p:cNvSpPr/>
            <p:nvPr/>
          </p:nvSpPr>
          <p:spPr>
            <a:xfrm>
              <a:off x="7689850" y="5916613"/>
              <a:ext cx="122238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42" name="Oval 9"/>
            <p:cNvSpPr/>
            <p:nvPr/>
          </p:nvSpPr>
          <p:spPr>
            <a:xfrm>
              <a:off x="6643688" y="6113463"/>
              <a:ext cx="123825" cy="128587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43" name="Oval 10"/>
            <p:cNvSpPr/>
            <p:nvPr/>
          </p:nvSpPr>
          <p:spPr>
            <a:xfrm>
              <a:off x="5597525" y="5981700"/>
              <a:ext cx="123825" cy="130175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69644" name="Freeform 12"/>
            <p:cNvSpPr/>
            <p:nvPr/>
          </p:nvSpPr>
          <p:spPr>
            <a:xfrm>
              <a:off x="5719763" y="5524500"/>
              <a:ext cx="2032000" cy="490538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pathLst>
                <a:path w="1497" h="341">
                  <a:moveTo>
                    <a:pt x="0" y="341"/>
                  </a:moveTo>
                  <a:cubicBezTo>
                    <a:pt x="90" y="216"/>
                    <a:pt x="181" y="92"/>
                    <a:pt x="272" y="69"/>
                  </a:cubicBezTo>
                  <a:cubicBezTo>
                    <a:pt x="363" y="46"/>
                    <a:pt x="400" y="213"/>
                    <a:pt x="544" y="205"/>
                  </a:cubicBezTo>
                  <a:cubicBezTo>
                    <a:pt x="688" y="197"/>
                    <a:pt x="975" y="0"/>
                    <a:pt x="1134" y="23"/>
                  </a:cubicBezTo>
                  <a:cubicBezTo>
                    <a:pt x="1293" y="46"/>
                    <a:pt x="1395" y="193"/>
                    <a:pt x="1497" y="34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45" name="Freeform 13"/>
            <p:cNvSpPr/>
            <p:nvPr/>
          </p:nvSpPr>
          <p:spPr>
            <a:xfrm>
              <a:off x="5719763" y="6046788"/>
              <a:ext cx="2032000" cy="261937"/>
            </a:xfrm>
            <a:custGeom>
              <a:avLst/>
              <a:gdLst/>
              <a:ahLst/>
              <a:cxnLst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pathLst>
                <a:path w="1497" h="182">
                  <a:moveTo>
                    <a:pt x="0" y="46"/>
                  </a:moveTo>
                  <a:cubicBezTo>
                    <a:pt x="94" y="114"/>
                    <a:pt x="189" y="182"/>
                    <a:pt x="363" y="182"/>
                  </a:cubicBezTo>
                  <a:cubicBezTo>
                    <a:pt x="537" y="182"/>
                    <a:pt x="878" y="69"/>
                    <a:pt x="1044" y="46"/>
                  </a:cubicBezTo>
                  <a:cubicBezTo>
                    <a:pt x="1210" y="23"/>
                    <a:pt x="1286" y="54"/>
                    <a:pt x="1361" y="46"/>
                  </a:cubicBezTo>
                  <a:cubicBezTo>
                    <a:pt x="1436" y="38"/>
                    <a:pt x="1466" y="19"/>
                    <a:pt x="1497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9646" name="Rectangle 14"/>
          <p:cNvSpPr/>
          <p:nvPr/>
        </p:nvSpPr>
        <p:spPr>
          <a:xfrm>
            <a:off x="1187450" y="511175"/>
            <a:ext cx="4159250" cy="614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块的充分必要条件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52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1682" name="Text Box 4"/>
          <p:cNvSpPr txBox="1"/>
          <p:nvPr/>
        </p:nvSpPr>
        <p:spPr>
          <a:xfrm>
            <a:off x="684213" y="1528763"/>
            <a:ext cx="5672137" cy="25130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ts val="385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κ≥2,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连通无割点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404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: λ≥2,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连通无桥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875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6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	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K</a:t>
            </a:r>
            <a:r>
              <a:rPr lang="en-US" altLang="zh-CN" b="1" dirty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是块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但不是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2-(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6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 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 ⊂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边连通图</a:t>
            </a:r>
            <a:endParaRPr lang="en-US" altLang="zh-CN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ts val="3600"/>
              </a:lnSpc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 </a:t>
            </a:r>
            <a:r>
              <a:rPr lang="en-US" altLang="zh-CN" sz="2800" b="1" i="1" dirty="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3, 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连通图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块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71683" name="Oval 5"/>
          <p:cNvSpPr/>
          <p:nvPr/>
        </p:nvSpPr>
        <p:spPr>
          <a:xfrm>
            <a:off x="6235700" y="3689350"/>
            <a:ext cx="122238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1684" name="Oval 6"/>
          <p:cNvSpPr/>
          <p:nvPr/>
        </p:nvSpPr>
        <p:spPr>
          <a:xfrm>
            <a:off x="7405688" y="3689350"/>
            <a:ext cx="122237" cy="130175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1685" name="Line 7"/>
          <p:cNvSpPr/>
          <p:nvPr/>
        </p:nvSpPr>
        <p:spPr>
          <a:xfrm>
            <a:off x="6356350" y="3756025"/>
            <a:ext cx="10493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686" name="Rectangle 8"/>
          <p:cNvSpPr/>
          <p:nvPr/>
        </p:nvSpPr>
        <p:spPr>
          <a:xfrm>
            <a:off x="1258888" y="511175"/>
            <a:ext cx="3384550" cy="6143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比较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Text Box 3"/>
          <p:cNvSpPr txBox="1"/>
          <p:nvPr/>
        </p:nvSpPr>
        <p:spPr>
          <a:xfrm>
            <a:off x="7974013" y="6546850"/>
            <a:ext cx="152400" cy="147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p>
            <a:pPr defTabSz="802005">
              <a:lnSpc>
                <a:spcPts val="1125"/>
              </a:lnSpc>
            </a:pPr>
            <a:r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  <a:t>53</a:t>
            </a:r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2706" name="Text Box 4"/>
          <p:cNvSpPr txBox="1"/>
          <p:nvPr/>
        </p:nvSpPr>
        <p:spPr>
          <a:xfrm>
            <a:off x="876300" y="1484313"/>
            <a:ext cx="7296150" cy="25844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defTabSz="802005">
              <a:lnSpc>
                <a:spcPct val="120000"/>
              </a:lnSpc>
              <a:buClr>
                <a:schemeClr val="tx2"/>
              </a:buClr>
              <a:buSzPct val="65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边割集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割点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块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buClr>
                <a:schemeClr val="tx2"/>
              </a:buClr>
              <a:buSzPct val="65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点连通度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边连通度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,Whitney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定理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buClr>
                <a:schemeClr val="tx2"/>
              </a:buClr>
              <a:buSzPct val="65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连通简单图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κ,λ,δ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之间的关系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buClr>
                <a:schemeClr val="tx2"/>
              </a:buClr>
              <a:buSzPct val="65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 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连通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2-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边连通的充要条件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  <a:p>
            <a:pPr defTabSz="802005">
              <a:lnSpc>
                <a:spcPct val="120000"/>
              </a:lnSpc>
              <a:buClr>
                <a:schemeClr val="tx2"/>
              </a:buClr>
              <a:buSzPct val="65000"/>
              <a:buFont typeface="Wingdings" panose="05000000000000000000" pitchFamily="2" charset="2"/>
              <a:buChar char="n"/>
              <a:tabLst>
                <a:tab pos="300355" algn="l"/>
              </a:tabLst>
            </a:pP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 割点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桥</a:t>
            </a:r>
            <a:r>
              <a:rPr lang="en-US" altLang="zh-CN" sz="2800" b="1" dirty="0">
                <a:latin typeface="Times New Roman" panose="02020603050405020304" charset="0"/>
                <a:ea typeface="黑体" panose="02010609060101010101" charset="-122"/>
              </a:rPr>
              <a:t>, </a:t>
            </a:r>
            <a:r>
              <a:rPr lang="zh-CN" altLang="en-US" sz="2800" b="1" dirty="0">
                <a:latin typeface="Times New Roman" panose="02020603050405020304" charset="0"/>
                <a:ea typeface="黑体" panose="02010609060101010101" charset="-122"/>
              </a:rPr>
              <a:t>块的充要条件</a:t>
            </a:r>
            <a:endParaRPr lang="zh-CN" altLang="en-US" sz="2800" b="1" dirty="0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72707" name="Rectangle 5"/>
          <p:cNvSpPr/>
          <p:nvPr/>
        </p:nvSpPr>
        <p:spPr>
          <a:xfrm>
            <a:off x="1219200" y="549275"/>
            <a:ext cx="2489200" cy="6143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ts val="4115"/>
              </a:lnSpc>
            </a:pPr>
            <a:r>
              <a:rPr lang="zh-CN" altLang="en-US" sz="39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总结</a:t>
            </a:r>
            <a:endParaRPr lang="zh-CN" altLang="en-US" sz="39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2JiMjJjNjEwZGVmNWM5ZTE4YjkzYzY1NDY4YzMyMmMifQ=="/>
</p:tagLst>
</file>

<file path=ppt/theme/theme1.xml><?xml version="1.0" encoding="utf-8"?>
<a:theme xmlns:a="http://schemas.openxmlformats.org/drawingml/2006/main" name="my style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6955</Words>
  <Application>WPS 演示</Application>
  <PresentationFormat/>
  <Paragraphs>864</Paragraphs>
  <Slides>52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6" baseType="lpstr">
      <vt:lpstr>Arial</vt:lpstr>
      <vt:lpstr>宋体</vt:lpstr>
      <vt:lpstr>Wingdings</vt:lpstr>
      <vt:lpstr>Tahoma</vt:lpstr>
      <vt:lpstr>黑体</vt:lpstr>
      <vt:lpstr>Wingdings</vt:lpstr>
      <vt:lpstr>Times New Roman</vt:lpstr>
      <vt:lpstr>Symbol</vt:lpstr>
      <vt:lpstr>微软雅黑</vt:lpstr>
      <vt:lpstr>Arial Unicode MS</vt:lpstr>
      <vt:lpstr>Arial Narrow</vt:lpstr>
      <vt:lpstr>jpn_boot</vt:lpstr>
      <vt:lpstr>Yu Gothic</vt:lpstr>
      <vt:lpstr>my style</vt:lpstr>
      <vt:lpstr>7.4 无向图的连通度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求下面图的κ,λ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定理11的证明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WPS_1709687041</cp:lastModifiedBy>
  <cp:revision>23</cp:revision>
  <dcterms:created xsi:type="dcterms:W3CDTF">2008-01-04T07:39:00Z</dcterms:created>
  <dcterms:modified xsi:type="dcterms:W3CDTF">2025-09-29T15:27:08Z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77067BFEB87D4163AEA88193E301AC4D</vt:lpwstr>
  </property>
</Properties>
</file>