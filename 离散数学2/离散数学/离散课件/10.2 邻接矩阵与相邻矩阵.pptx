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258" r:id="rId3"/>
    <p:sldId id="341" r:id="rId4"/>
    <p:sldId id="277" r:id="rId5"/>
    <p:sldId id="278" r:id="rId7"/>
    <p:sldId id="279" r:id="rId8"/>
    <p:sldId id="302" r:id="rId9"/>
    <p:sldId id="280" r:id="rId10"/>
    <p:sldId id="281" r:id="rId11"/>
    <p:sldId id="282" r:id="rId12"/>
    <p:sldId id="283" r:id="rId13"/>
    <p:sldId id="284" r:id="rId14"/>
    <p:sldId id="285" r:id="rId15"/>
    <p:sldId id="287" r:id="rId16"/>
    <p:sldId id="288" r:id="rId17"/>
    <p:sldId id="289" r:id="rId18"/>
    <p:sldId id="290" r:id="rId19"/>
    <p:sldId id="291" r:id="rId20"/>
    <p:sldId id="293" r:id="rId21"/>
    <p:sldId id="294" r:id="rId22"/>
    <p:sldId id="295" r:id="rId23"/>
    <p:sldId id="296" r:id="rId24"/>
    <p:sldId id="297" r:id="rId25"/>
    <p:sldId id="446" r:id="rId26"/>
    <p:sldId id="414" r:id="rId27"/>
    <p:sldId id="387" r:id="rId28"/>
    <p:sldId id="412" r:id="rId29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FF"/>
    <a:srgbClr val="0066FF"/>
    <a:srgbClr val="808080"/>
    <a:srgbClr val="5F5F5F"/>
    <a:srgbClr val="996633"/>
    <a:srgbClr val="C7F9F1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105" d="100"/>
          <a:sy n="105" d="100"/>
        </p:scale>
        <p:origin x="1716" y="108"/>
      </p:cViewPr>
      <p:guideLst>
        <p:guide orient="horz" pos="214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.emf"/><Relationship Id="rId6" Type="http://schemas.openxmlformats.org/officeDocument/2006/relationships/image" Target="../media/image11.emf"/><Relationship Id="rId5" Type="http://schemas.openxmlformats.org/officeDocument/2006/relationships/image" Target="../media/image10.wmf"/><Relationship Id="rId4" Type="http://schemas.openxmlformats.org/officeDocument/2006/relationships/image" Target="../media/image9.emf"/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.wmf"/><Relationship Id="rId5" Type="http://schemas.openxmlformats.org/officeDocument/2006/relationships/image" Target="../media/image11.emf"/><Relationship Id="rId4" Type="http://schemas.openxmlformats.org/officeDocument/2006/relationships/image" Target="../media/image16.wmf"/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.emf"/><Relationship Id="rId5" Type="http://schemas.openxmlformats.org/officeDocument/2006/relationships/image" Target="../media/image10.wmf"/><Relationship Id="rId4" Type="http://schemas.openxmlformats.org/officeDocument/2006/relationships/image" Target="../media/image20.wmf"/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7" Type="http://schemas.openxmlformats.org/officeDocument/2006/relationships/image" Target="../media/image29.emf"/><Relationship Id="rId6" Type="http://schemas.openxmlformats.org/officeDocument/2006/relationships/image" Target="../media/image28.wmf"/><Relationship Id="rId5" Type="http://schemas.openxmlformats.org/officeDocument/2006/relationships/image" Target="../media/image27.emf"/><Relationship Id="rId4" Type="http://schemas.openxmlformats.org/officeDocument/2006/relationships/image" Target="../media/image26.emf"/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37.emf"/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200" noProof="1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/>
          </p:cNvSpPr>
          <p:nvPr>
            <p:ph type="dt" idx="1"/>
          </p:nvPr>
        </p:nvSpPr>
        <p:spPr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buFont typeface="Arial" panose="020B0604020202020204" pitchFamily="34" charset="0"/>
              <a:buNone/>
              <a:defRPr sz="1200" noProof="1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/>
          </p:cNvSpPr>
          <p:nvPr>
            <p:ph type="sldNum" sz="quarter" idx="5"/>
          </p:nvPr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 eaLnBrk="1" hangingPunct="1">
              <a:buFont typeface="Arial" panose="020B0604020202020204" pitchFamily="34" charset="0"/>
              <a:buNone/>
              <a:defRPr sz="1200" noProof="1" dirty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8C242E-C1D2-4DEE-9764-3FD097D0B6F7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举例说明：</a:t>
            </a:r>
            <a:r>
              <a:rPr lang="en-US" altLang="zh-CN" dirty="0"/>
              <a:t>1</a:t>
            </a:r>
            <a:r>
              <a:rPr lang="zh-CN" altLang="en-US" dirty="0"/>
              <a:t>）邻接矩阵的概念；</a:t>
            </a:r>
            <a:r>
              <a:rPr lang="en-US" altLang="zh-CN" dirty="0"/>
              <a:t>2</a:t>
            </a:r>
            <a:r>
              <a:rPr lang="zh-CN" altLang="en-US" dirty="0"/>
              <a:t>）邻接矩阵的性质</a:t>
            </a:r>
            <a:endParaRPr lang="en-US" altLang="zh-CN" dirty="0"/>
          </a:p>
        </p:txBody>
      </p:sp>
      <p:sp>
        <p:nvSpPr>
          <p:cNvPr id="28676" name="Slide Number Placeholder 3"/>
          <p:cNvSpPr txBox="1">
            <a:spLocks noGrp="1"/>
          </p:cNvSpPr>
          <p:nvPr/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回答问题：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v2</a:t>
            </a:r>
            <a:r>
              <a:rPr lang="zh-CN" altLang="en-US" dirty="0"/>
              <a:t>到</a:t>
            </a:r>
            <a:r>
              <a:rPr lang="en-US" altLang="zh-CN" dirty="0"/>
              <a:t>v4</a:t>
            </a:r>
            <a:r>
              <a:rPr lang="zh-CN" altLang="en-US" dirty="0"/>
              <a:t>长度为</a:t>
            </a:r>
            <a:r>
              <a:rPr lang="en-US" altLang="zh-CN" dirty="0"/>
              <a:t>3</a:t>
            </a:r>
            <a:r>
              <a:rPr lang="zh-CN" altLang="en-US" dirty="0"/>
              <a:t>的通路数；</a:t>
            </a:r>
            <a:r>
              <a:rPr lang="en-US" altLang="zh-CN" dirty="0"/>
              <a:t>2</a:t>
            </a:r>
            <a:r>
              <a:rPr lang="zh-CN" altLang="en-US" dirty="0"/>
              <a:t>）长度为</a:t>
            </a:r>
            <a:r>
              <a:rPr lang="en-US" altLang="zh-CN" dirty="0"/>
              <a:t>3</a:t>
            </a:r>
            <a:r>
              <a:rPr lang="zh-CN" altLang="en-US" dirty="0"/>
              <a:t>的通路数；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v2</a:t>
            </a:r>
            <a:r>
              <a:rPr lang="zh-CN" altLang="en-US" dirty="0"/>
              <a:t>到</a:t>
            </a:r>
            <a:r>
              <a:rPr lang="en-US" altLang="zh-CN" dirty="0"/>
              <a:t>v4</a:t>
            </a:r>
            <a:r>
              <a:rPr lang="zh-CN" altLang="en-US" dirty="0"/>
              <a:t>长度小于等于</a:t>
            </a:r>
            <a:r>
              <a:rPr lang="en-US" altLang="zh-CN" dirty="0"/>
              <a:t>3</a:t>
            </a:r>
            <a:r>
              <a:rPr lang="zh-CN" altLang="en-US" dirty="0"/>
              <a:t>的通路数；</a:t>
            </a:r>
            <a:r>
              <a:rPr lang="en-US" altLang="zh-CN" dirty="0"/>
              <a:t>4</a:t>
            </a:r>
            <a:r>
              <a:rPr lang="zh-CN" altLang="en-US" dirty="0"/>
              <a:t>）图中长度小于等于</a:t>
            </a:r>
            <a:r>
              <a:rPr lang="en-US" altLang="zh-CN" dirty="0"/>
              <a:t>3</a:t>
            </a:r>
            <a:r>
              <a:rPr lang="zh-CN" altLang="en-US" dirty="0"/>
              <a:t>的通路数；</a:t>
            </a:r>
            <a:r>
              <a:rPr lang="en-US" altLang="zh-CN" dirty="0"/>
              <a:t>5</a:t>
            </a:r>
            <a:r>
              <a:rPr lang="zh-CN" altLang="en-US" dirty="0"/>
              <a:t>）经过</a:t>
            </a:r>
            <a:r>
              <a:rPr lang="en-US" altLang="zh-CN" dirty="0"/>
              <a:t>v3</a:t>
            </a:r>
            <a:r>
              <a:rPr lang="zh-CN" altLang="en-US" dirty="0"/>
              <a:t>的通路长度为4的回路数；</a:t>
            </a:r>
            <a:r>
              <a:rPr lang="en-US" altLang="zh-CN" dirty="0"/>
              <a:t>6</a:t>
            </a:r>
            <a:r>
              <a:rPr lang="zh-CN" altLang="en-US" dirty="0"/>
              <a:t>）长度为</a:t>
            </a:r>
            <a:r>
              <a:rPr lang="en-US" altLang="zh-CN" dirty="0"/>
              <a:t>3</a:t>
            </a:r>
            <a:r>
              <a:rPr lang="zh-CN" altLang="en-US" dirty="0"/>
              <a:t>的回路总数</a:t>
            </a:r>
            <a:endParaRPr lang="en-US" altLang="zh-CN" dirty="0"/>
          </a:p>
        </p:txBody>
      </p:sp>
      <p:sp>
        <p:nvSpPr>
          <p:cNvPr id="34820" name="Slide Number Placeholder 3"/>
          <p:cNvSpPr txBox="1">
            <a:spLocks noGrp="1"/>
          </p:cNvSpPr>
          <p:nvPr/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59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提问：</a:t>
            </a:r>
            <a:endParaRPr lang="en-US" altLang="zh-CN" dirty="0"/>
          </a:p>
          <a:p>
            <a:pPr lvl="0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如何求出图中长度为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的通路总数？ </a:t>
            </a:r>
            <a:endParaRPr lang="en-US" altLang="zh-CN" dirty="0"/>
          </a:p>
        </p:txBody>
      </p:sp>
      <p:sp>
        <p:nvSpPr>
          <p:cNvPr id="45060" name="Slide Number Placeholder 3"/>
          <p:cNvSpPr txBox="1">
            <a:spLocks noGrp="1"/>
          </p:cNvSpPr>
          <p:nvPr/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根据图，回答下列问题：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v3</a:t>
            </a:r>
            <a:r>
              <a:rPr lang="zh-CN" altLang="en-US" dirty="0"/>
              <a:t>到</a:t>
            </a:r>
            <a:r>
              <a:rPr lang="en-US" altLang="zh-CN" dirty="0"/>
              <a:t>v4</a:t>
            </a:r>
            <a:r>
              <a:rPr lang="zh-CN" altLang="en-US" dirty="0"/>
              <a:t>长度为</a:t>
            </a:r>
            <a:r>
              <a:rPr lang="en-US" altLang="zh-CN" dirty="0"/>
              <a:t>3</a:t>
            </a:r>
            <a:r>
              <a:rPr lang="zh-CN" altLang="en-US" dirty="0"/>
              <a:t>的通路数；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v3</a:t>
            </a:r>
            <a:r>
              <a:rPr lang="zh-CN" altLang="en-US" dirty="0"/>
              <a:t>到</a:t>
            </a:r>
            <a:r>
              <a:rPr lang="en-US" altLang="zh-CN" dirty="0"/>
              <a:t>v4</a:t>
            </a:r>
            <a:r>
              <a:rPr lang="zh-CN" altLang="en-US" dirty="0"/>
              <a:t>长度小于等于</a:t>
            </a:r>
            <a:r>
              <a:rPr lang="en-US" altLang="zh-CN" dirty="0"/>
              <a:t>3</a:t>
            </a:r>
            <a:r>
              <a:rPr lang="zh-CN" altLang="en-US" dirty="0"/>
              <a:t>的通路数；</a:t>
            </a:r>
            <a:r>
              <a:rPr lang="en-US" altLang="zh-CN" dirty="0"/>
              <a:t>3</a:t>
            </a:r>
            <a:r>
              <a:rPr lang="zh-CN" altLang="en-US" dirty="0"/>
              <a:t>）图中长度为</a:t>
            </a:r>
            <a:r>
              <a:rPr lang="en-US" altLang="zh-CN" dirty="0"/>
              <a:t>3</a:t>
            </a:r>
            <a:r>
              <a:rPr lang="zh-CN" altLang="en-US" dirty="0"/>
              <a:t>的通路数；</a:t>
            </a:r>
            <a:r>
              <a:rPr lang="en-US" altLang="zh-CN" dirty="0"/>
              <a:t>4</a:t>
            </a:r>
            <a:r>
              <a:rPr lang="zh-CN" altLang="en-US" dirty="0"/>
              <a:t>）图中长度小于等于</a:t>
            </a:r>
            <a:r>
              <a:rPr lang="en-US" altLang="zh-CN" dirty="0"/>
              <a:t>3</a:t>
            </a:r>
            <a:r>
              <a:rPr lang="zh-CN" altLang="en-US" dirty="0"/>
              <a:t>的通路数；</a:t>
            </a:r>
            <a:r>
              <a:rPr lang="en-US" altLang="zh-CN" dirty="0"/>
              <a:t>5</a:t>
            </a:r>
            <a:r>
              <a:rPr lang="zh-CN" altLang="en-US" dirty="0"/>
              <a:t>）经过</a:t>
            </a:r>
            <a:r>
              <a:rPr lang="en-US" altLang="zh-CN" dirty="0"/>
              <a:t>v1</a:t>
            </a:r>
            <a:r>
              <a:rPr lang="zh-CN" altLang="en-US" dirty="0"/>
              <a:t>的回路数</a:t>
            </a:r>
            <a:endParaRPr lang="en-US" altLang="zh-CN" dirty="0"/>
          </a:p>
        </p:txBody>
      </p:sp>
      <p:sp>
        <p:nvSpPr>
          <p:cNvPr id="47108" name="Slide Number Placeholder 3"/>
          <p:cNvSpPr txBox="1">
            <a:spLocks noGrp="1"/>
          </p:cNvSpPr>
          <p:nvPr/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63187" cy="525621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6963" y="1412875"/>
            <a:ext cx="4163187" cy="525621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7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7763" y="6092825"/>
            <a:ext cx="2324100" cy="636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Rectangle 11"/>
          <p:cNvSpPr>
            <a:spLocks noGrp="1"/>
          </p:cNvSpPr>
          <p:nvPr>
            <p:ph type="dt" sz="half" idx="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2"/>
          <p:cNvSpPr>
            <a:spLocks noGrp="1"/>
          </p:cNvSpPr>
          <p:nvPr>
            <p:ph type="ftr" sz="quarter" idx="3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3"/>
          <p:cNvSpPr>
            <a:spLocks noGrp="1"/>
          </p:cNvSpPr>
          <p:nvPr>
            <p:ph type="sldNum" sz="quarter" idx="4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 anchor="b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AC2DA9E-C8CC-41FC-A1BA-00DA0DF7ADDD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944" y="69850"/>
            <a:ext cx="2155031" cy="65992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40164" cy="65992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5" name="Rectangle 11"/>
          <p:cNvSpPr>
            <a:spLocks noGrp="1"/>
          </p:cNvSpPr>
          <p:nvPr>
            <p:ph type="dt" sz="half" idx="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/>
          </p:cNvSpPr>
          <p:nvPr>
            <p:ph type="ftr" sz="quarter" idx="3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7" name="Rectangle 13"/>
          <p:cNvSpPr>
            <a:spLocks noGrp="1"/>
          </p:cNvSpPr>
          <p:nvPr>
            <p:ph type="sldNum" sz="quarter" idx="4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 eaLnBrk="1" hangingPunct="1">
              <a:buFont typeface="Arial" panose="020B0604020202020204" pitchFamily="34" charset="0"/>
              <a:buNone/>
              <a:defRPr sz="1400" noProof="1" dirty="0"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emf"/><Relationship Id="rId8" Type="http://schemas.openxmlformats.org/officeDocument/2006/relationships/oleObject" Target="../embeddings/oleObject6.bin"/><Relationship Id="rId7" Type="http://schemas.openxmlformats.org/officeDocument/2006/relationships/image" Target="../media/image8.emf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8" Type="http://schemas.openxmlformats.org/officeDocument/2006/relationships/notesSlide" Target="../notesSlides/notesSlide2.xml"/><Relationship Id="rId17" Type="http://schemas.openxmlformats.org/officeDocument/2006/relationships/vmlDrawing" Target="../drawings/vmlDrawing3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2.emf"/><Relationship Id="rId14" Type="http://schemas.openxmlformats.org/officeDocument/2006/relationships/oleObject" Target="../embeddings/oleObject9.bin"/><Relationship Id="rId13" Type="http://schemas.openxmlformats.org/officeDocument/2006/relationships/image" Target="../media/image11.emf"/><Relationship Id="rId12" Type="http://schemas.openxmlformats.org/officeDocument/2006/relationships/oleObject" Target="../embeddings/oleObject8.bin"/><Relationship Id="rId11" Type="http://schemas.openxmlformats.org/officeDocument/2006/relationships/image" Target="../media/image10.wmf"/><Relationship Id="rId10" Type="http://schemas.openxmlformats.org/officeDocument/2006/relationships/oleObject" Target="../embeddings/oleObject7.bin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4.e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3.emf"/><Relationship Id="rId14" Type="http://schemas.openxmlformats.org/officeDocument/2006/relationships/vmlDrawing" Target="../drawings/vmlDrawing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11.emf"/><Relationship Id="rId1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8.e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7.emf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1.emf"/><Relationship Id="rId11" Type="http://schemas.openxmlformats.org/officeDocument/2006/relationships/oleObject" Target="../embeddings/oleObject21.bin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16.bin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22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23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emf"/><Relationship Id="rId8" Type="http://schemas.openxmlformats.org/officeDocument/2006/relationships/oleObject" Target="../embeddings/oleObject27.bin"/><Relationship Id="rId7" Type="http://schemas.openxmlformats.org/officeDocument/2006/relationships/image" Target="../media/image25.emf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25.bin"/><Relationship Id="rId3" Type="http://schemas.openxmlformats.org/officeDocument/2006/relationships/image" Target="../media/image23.emf"/><Relationship Id="rId2" Type="http://schemas.openxmlformats.org/officeDocument/2006/relationships/oleObject" Target="../embeddings/oleObject24.bin"/><Relationship Id="rId19" Type="http://schemas.openxmlformats.org/officeDocument/2006/relationships/vmlDrawing" Target="../drawings/vmlDrawing8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30.emf"/><Relationship Id="rId16" Type="http://schemas.openxmlformats.org/officeDocument/2006/relationships/oleObject" Target="../embeddings/oleObject31.bin"/><Relationship Id="rId15" Type="http://schemas.openxmlformats.org/officeDocument/2006/relationships/image" Target="../media/image29.emf"/><Relationship Id="rId14" Type="http://schemas.openxmlformats.org/officeDocument/2006/relationships/oleObject" Target="../embeddings/oleObject30.bin"/><Relationship Id="rId13" Type="http://schemas.openxmlformats.org/officeDocument/2006/relationships/image" Target="../media/image28.wmf"/><Relationship Id="rId12" Type="http://schemas.openxmlformats.org/officeDocument/2006/relationships/oleObject" Target="../embeddings/oleObject29.bin"/><Relationship Id="rId11" Type="http://schemas.openxmlformats.org/officeDocument/2006/relationships/image" Target="../media/image27.emf"/><Relationship Id="rId10" Type="http://schemas.openxmlformats.org/officeDocument/2006/relationships/oleObject" Target="../embeddings/oleObject28.bin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2.e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1.wmf"/><Relationship Id="rId1" Type="http://schemas.openxmlformats.org/officeDocument/2006/relationships/oleObject" Target="../embeddings/oleObject32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emf"/><Relationship Id="rId1" Type="http://schemas.openxmlformats.org/officeDocument/2006/relationships/oleObject" Target="../embeddings/oleObject34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7.e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6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5.e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4.emf"/><Relationship Id="rId11" Type="http://schemas.openxmlformats.org/officeDocument/2006/relationships/notesSlide" Target="../notesSlides/notesSlide4.xml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3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39.e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38.emf"/><Relationship Id="rId1" Type="http://schemas.openxmlformats.org/officeDocument/2006/relationships/oleObject" Target="../embeddings/oleObject39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wmf"/><Relationship Id="rId1" Type="http://schemas.openxmlformats.org/officeDocument/2006/relationships/oleObject" Target="../embeddings/oleObject42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wmf"/><Relationship Id="rId1" Type="http://schemas.openxmlformats.org/officeDocument/2006/relationships/oleObject" Target="../embeddings/oleObject43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3.wmf"/><Relationship Id="rId1" Type="http://schemas.openxmlformats.org/officeDocument/2006/relationships/oleObject" Target="../embeddings/oleObject4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关联矩阵M(D), M(G)</a:t>
            </a:r>
            <a:endParaRPr lang="en-US" altLang="zh-CN" dirty="0"/>
          </a:p>
          <a:p>
            <a:r>
              <a:rPr lang="en-US" altLang="zh-CN" dirty="0"/>
              <a:t>用基本联矩阵M</a:t>
            </a:r>
            <a:r>
              <a:rPr lang="en-US" altLang="zh-CN" i="1" baseline="-25000" dirty="0"/>
              <a:t>f</a:t>
            </a:r>
            <a:r>
              <a:rPr lang="en-US" altLang="zh-CN" dirty="0"/>
              <a:t>(G)求所有生成树</a:t>
            </a:r>
            <a:endParaRPr lang="en-US" altLang="zh-CN" dirty="0"/>
          </a:p>
          <a:p>
            <a:r>
              <a:rPr lang="en-US" altLang="zh-CN" dirty="0"/>
              <a:t>邻接矩阵A(D), 相邻矩阵A(G)</a:t>
            </a:r>
            <a:endParaRPr lang="en-US" altLang="zh-CN" dirty="0"/>
          </a:p>
          <a:p>
            <a:r>
              <a:rPr lang="en-US" altLang="zh-CN" dirty="0"/>
              <a:t>用A的幂求不同长度通路(回路)总数</a:t>
            </a:r>
            <a:endParaRPr lang="en-US" altLang="zh-CN" dirty="0"/>
          </a:p>
          <a:p>
            <a:r>
              <a:rPr lang="en-US" altLang="zh-CN" dirty="0"/>
              <a:t>可达矩阵P(D), 连通矩阵P(G)</a:t>
            </a:r>
            <a:endParaRPr lang="en-US" altLang="zh-CN" dirty="0"/>
          </a:p>
          <a:p>
            <a:r>
              <a:rPr lang="en-US" altLang="zh-CN" dirty="0"/>
              <a:t>单源最短路径问题, Dijkstra算法</a:t>
            </a:r>
            <a:endParaRPr lang="en-US" altLang="zh-CN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00" name="Rectangle 2"/>
          <p:cNvSpPr>
            <a:spLocks noGrp="1"/>
          </p:cNvSpPr>
          <p:nvPr/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b="0" dirty="0">
                <a:solidFill>
                  <a:schemeClr val="tx2"/>
                </a:solidFill>
                <a:latin typeface="Tahoma" panose="020B0604030504040204" pitchFamily="34" charset="0"/>
              </a:rPr>
              <a:t>第</a:t>
            </a:r>
            <a:r>
              <a:rPr lang="en-US" altLang="zh-CN" sz="4400" b="0" dirty="0">
                <a:solidFill>
                  <a:schemeClr val="tx2"/>
                </a:solidFill>
                <a:latin typeface="Tahoma" panose="020B0604030504040204" pitchFamily="34" charset="0"/>
              </a:rPr>
              <a:t>10</a:t>
            </a:r>
            <a:r>
              <a:rPr lang="zh-CN" altLang="en-US" sz="4400" b="0" dirty="0">
                <a:solidFill>
                  <a:schemeClr val="tx2"/>
                </a:solidFill>
                <a:latin typeface="Tahoma" panose="020B0604030504040204" pitchFamily="34" charset="0"/>
              </a:rPr>
              <a:t>章  图的矩阵表示</a:t>
            </a:r>
            <a:endParaRPr lang="zh-CN" altLang="en-US" sz="44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3"/>
          <p:cNvSpPr>
            <a:spLocks noGrp="1"/>
          </p:cNvSpPr>
          <p:nvPr>
            <p:ph type="body" idx="4294967295"/>
          </p:nvPr>
        </p:nvSpPr>
        <p:spPr>
          <a:xfrm>
            <a:off x="323850" y="1412875"/>
            <a:ext cx="8569325" cy="4972050"/>
          </a:xfrm>
        </p:spPr>
        <p:txBody>
          <a:bodyPr vert="horz" wrap="square" lIns="91440" tIns="45720" rIns="91440" bIns="45720" anchor="t" anchorCtr="0"/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zh-CN" altLang="en-US" sz="2800" dirty="0">
                <a:solidFill>
                  <a:srgbClr val="FF00FF"/>
                </a:solidFill>
              </a:rPr>
              <a:t>前提条件：标定图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500" dirty="0"/>
              <a:t>无环图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500" dirty="0"/>
              <a:t>简单图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500" dirty="0"/>
              <a:t>矩阵中的元素为</a:t>
            </a:r>
            <a:r>
              <a:rPr lang="en-US" altLang="zh-CN" sz="2500" dirty="0"/>
              <a:t>0,1(</a:t>
            </a:r>
            <a:r>
              <a:rPr lang="zh-CN" altLang="en-US" sz="2500" dirty="0"/>
              <a:t>或</a:t>
            </a:r>
            <a:r>
              <a:rPr lang="en-US" altLang="zh-CN" sz="2500" dirty="0"/>
              <a:t>-1)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500" dirty="0"/>
              <a:t>运算在数域</a:t>
            </a:r>
            <a:r>
              <a:rPr lang="en-US" altLang="zh-CN" sz="2500" dirty="0"/>
              <a:t>F={0,1}</a:t>
            </a:r>
            <a:r>
              <a:rPr lang="zh-CN" altLang="en-US" sz="2500" dirty="0"/>
              <a:t>上进行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500" dirty="0"/>
              <a:t>加法使用模</a:t>
            </a:r>
            <a:r>
              <a:rPr lang="en-US" altLang="zh-CN" sz="2500" dirty="0"/>
              <a:t>2</a:t>
            </a:r>
            <a:r>
              <a:rPr lang="zh-CN" altLang="en-US" sz="2500" dirty="0"/>
              <a:t>加法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en-US" altLang="zh-CN" sz="2500" dirty="0"/>
              <a:t>...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</a:pPr>
            <a:endParaRPr lang="zh-CN" altLang="en-US" sz="2500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有向图邻接矩阵</a:t>
            </a:r>
            <a:endParaRPr lang="zh-CN" altLang="en-US" dirty="0"/>
          </a:p>
        </p:txBody>
      </p:sp>
      <p:sp>
        <p:nvSpPr>
          <p:cNvPr id="27651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设</a:t>
            </a:r>
            <a:r>
              <a:rPr lang="en-US" altLang="zh-CN" dirty="0"/>
              <a:t>D=&lt;V,E&gt;</a:t>
            </a:r>
            <a:r>
              <a:rPr lang="zh-CN" altLang="en-US" dirty="0"/>
              <a:t>是有向图</a:t>
            </a:r>
            <a:r>
              <a:rPr lang="en-US" altLang="zh-CN" dirty="0"/>
              <a:t>,V={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n</a:t>
            </a:r>
            <a:r>
              <a:rPr lang="en-US" altLang="zh-CN" dirty="0"/>
              <a:t>}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邻接矩阵</a:t>
            </a:r>
            <a:r>
              <a:rPr lang="en-US" altLang="zh-CN" dirty="0"/>
              <a:t>(adjacency matrix):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A(D)=[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ij</a:t>
            </a:r>
            <a:r>
              <a:rPr lang="en-US" altLang="zh-CN" dirty="0"/>
              <a:t>]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×</a:t>
            </a:r>
            <a:r>
              <a:rPr lang="en-US" altLang="zh-CN" i="1" baseline="-25000" dirty="0"/>
              <a:t>n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ij</a:t>
            </a:r>
            <a:r>
              <a:rPr lang="en-US" altLang="zh-CN" dirty="0"/>
              <a:t> = </a:t>
            </a:r>
            <a:r>
              <a:rPr lang="zh-CN" altLang="en-US" dirty="0"/>
              <a:t>从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zh-CN" altLang="en-US" dirty="0"/>
              <a:t>的边数</a:t>
            </a:r>
            <a:endParaRPr lang="zh-CN" altLang="en-US" dirty="0"/>
          </a:p>
        </p:txBody>
      </p:sp>
      <p:pic>
        <p:nvPicPr>
          <p:cNvPr id="26628" name="Picture 4" descr="图7-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8700" y="3438525"/>
            <a:ext cx="2390775" cy="24384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6629" name="对象 26628"/>
          <p:cNvGraphicFramePr>
            <a:graphicFrameLocks noChangeAspect="1"/>
          </p:cNvGraphicFramePr>
          <p:nvPr/>
        </p:nvGraphicFramePr>
        <p:xfrm>
          <a:off x="3924300" y="3429000"/>
          <a:ext cx="4103688" cy="234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1733550" imgH="1133475" progId="">
                  <p:embed/>
                </p:oleObj>
              </mc:Choice>
              <mc:Fallback>
                <p:oleObj name="" r:id="rId2" imgW="1733550" imgH="1133475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24300" y="3429000"/>
                        <a:ext cx="4103688" cy="2344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表格 26629"/>
          <p:cNvGraphicFramePr/>
          <p:nvPr/>
        </p:nvGraphicFramePr>
        <p:xfrm>
          <a:off x="5043488" y="3328988"/>
          <a:ext cx="503238" cy="3090863"/>
        </p:xfrm>
        <a:graphic>
          <a:graphicData uri="http://schemas.openxmlformats.org/drawingml/2006/table">
            <a:tbl>
              <a:tblPr/>
              <a:tblGrid>
                <a:gridCol w="503237"/>
              </a:tblGrid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636" name="表格 26635"/>
          <p:cNvGraphicFramePr/>
          <p:nvPr/>
        </p:nvGraphicFramePr>
        <p:xfrm>
          <a:off x="5508625" y="2997200"/>
          <a:ext cx="2324100" cy="631825"/>
        </p:xfrm>
        <a:graphic>
          <a:graphicData uri="http://schemas.openxmlformats.org/drawingml/2006/table">
            <a:tbl>
              <a:tblPr/>
              <a:tblGrid>
                <a:gridCol w="690563"/>
                <a:gridCol w="561975"/>
                <a:gridCol w="522287"/>
                <a:gridCol w="549275"/>
              </a:tblGrid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有向图邻接矩阵</a:t>
            </a:r>
            <a:r>
              <a:rPr lang="en-US" altLang="zh-CN" dirty="0"/>
              <a:t>(</a:t>
            </a:r>
            <a:r>
              <a:rPr lang="zh-CN" altLang="en-US" dirty="0"/>
              <a:t>性质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每行和为出度</a:t>
            </a:r>
            <a:r>
              <a:rPr lang="en-US" altLang="zh-CN" dirty="0"/>
              <a:t>: Σ</a:t>
            </a:r>
            <a:r>
              <a:rPr lang="en-US" altLang="zh-CN" i="1" baseline="40000" dirty="0"/>
              <a:t>n</a:t>
            </a:r>
            <a:r>
              <a:rPr lang="en-US" altLang="zh-CN" i="1" baseline="-40000" dirty="0"/>
              <a:t>j</a:t>
            </a:r>
            <a:r>
              <a:rPr lang="en-US" altLang="zh-CN" baseline="-40000" dirty="0"/>
              <a:t>=1</a:t>
            </a:r>
            <a:r>
              <a:rPr lang="en-US" altLang="zh-CN" b="0" i="1" dirty="0"/>
              <a:t>a</a:t>
            </a:r>
            <a:r>
              <a:rPr lang="en-US" altLang="zh-CN" i="1" baseline="-25000" dirty="0"/>
              <a:t>ij</a:t>
            </a:r>
            <a:r>
              <a:rPr lang="en-US" altLang="zh-CN" dirty="0"/>
              <a:t>=d</a:t>
            </a:r>
            <a:r>
              <a:rPr lang="en-US" altLang="zh-CN" baseline="30000" dirty="0"/>
              <a:t>+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zh-CN" altLang="en-US" dirty="0"/>
              <a:t>每列和为入度</a:t>
            </a:r>
            <a:r>
              <a:rPr lang="en-US" altLang="zh-CN" dirty="0"/>
              <a:t>: Σ</a:t>
            </a:r>
            <a:r>
              <a:rPr lang="en-US" altLang="zh-CN" i="1" baseline="40000" dirty="0"/>
              <a:t>n</a:t>
            </a:r>
            <a:r>
              <a:rPr lang="en-US" altLang="zh-CN" i="1" baseline="-40000" dirty="0"/>
              <a:t>i</a:t>
            </a:r>
            <a:r>
              <a:rPr lang="en-US" altLang="zh-CN" baseline="-40000" dirty="0"/>
              <a:t>=1</a:t>
            </a:r>
            <a:r>
              <a:rPr lang="en-US" altLang="zh-CN" b="0" i="1" dirty="0"/>
              <a:t>a</a:t>
            </a:r>
            <a:r>
              <a:rPr lang="en-US" altLang="zh-CN" i="1" baseline="-25000" dirty="0"/>
              <a:t>ij</a:t>
            </a:r>
            <a:r>
              <a:rPr lang="en-US" altLang="zh-CN" dirty="0"/>
              <a:t>=d</a:t>
            </a:r>
            <a:r>
              <a:rPr lang="zh-CN" altLang="en-US" baseline="30000" dirty="0"/>
              <a:t>-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en-US" altLang="zh-CN" dirty="0"/>
              <a:t>) </a:t>
            </a:r>
            <a:endParaRPr lang="zh-CN" altLang="en-US" dirty="0"/>
          </a:p>
          <a:p>
            <a:r>
              <a:rPr lang="zh-CN" altLang="en-US" dirty="0"/>
              <a:t>握手定理</a:t>
            </a:r>
            <a:r>
              <a:rPr lang="en-US" altLang="zh-CN" dirty="0"/>
              <a:t>: Σ</a:t>
            </a:r>
            <a:r>
              <a:rPr lang="en-US" altLang="zh-CN" i="1" baseline="40000" dirty="0"/>
              <a:t>n</a:t>
            </a:r>
            <a:r>
              <a:rPr lang="en-US" altLang="zh-CN" i="1" baseline="-40000" dirty="0"/>
              <a:t>i=</a:t>
            </a:r>
            <a:r>
              <a:rPr lang="en-US" altLang="zh-CN" baseline="-40000" dirty="0"/>
              <a:t>1</a:t>
            </a:r>
            <a:r>
              <a:rPr lang="en-US" altLang="zh-CN" dirty="0"/>
              <a:t>Σ</a:t>
            </a:r>
            <a:r>
              <a:rPr lang="en-US" altLang="zh-CN" i="1" baseline="40000" dirty="0"/>
              <a:t>n</a:t>
            </a:r>
            <a:r>
              <a:rPr lang="en-US" altLang="zh-CN" i="1" baseline="-40000" dirty="0"/>
              <a:t>j</a:t>
            </a:r>
            <a:r>
              <a:rPr lang="en-US" altLang="zh-CN" baseline="-40000" dirty="0"/>
              <a:t>=1</a:t>
            </a:r>
            <a:r>
              <a:rPr lang="en-US" altLang="zh-CN" b="0" i="1" dirty="0"/>
              <a:t>a</a:t>
            </a:r>
            <a:r>
              <a:rPr lang="en-US" altLang="zh-CN" i="1" baseline="-25000" dirty="0"/>
              <a:t>ij</a:t>
            </a:r>
            <a:r>
              <a:rPr lang="en-US" altLang="zh-CN" dirty="0"/>
              <a:t>=Σ</a:t>
            </a:r>
            <a:r>
              <a:rPr lang="en-US" altLang="zh-CN" i="1" baseline="40000" dirty="0"/>
              <a:t>n</a:t>
            </a:r>
            <a:r>
              <a:rPr lang="en-US" altLang="zh-CN" i="1" baseline="-40000" dirty="0"/>
              <a:t>i</a:t>
            </a:r>
            <a:r>
              <a:rPr lang="en-US" altLang="zh-CN" baseline="-40000" dirty="0"/>
              <a:t>=1</a:t>
            </a:r>
            <a:r>
              <a:rPr lang="en-US" altLang="zh-CN" dirty="0"/>
              <a:t>d</a:t>
            </a:r>
            <a:r>
              <a:rPr lang="en-US" altLang="zh-CN" baseline="30000" dirty="0"/>
              <a:t>+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)</a:t>
            </a:r>
            <a:r>
              <a:rPr lang="zh-CN" altLang="en-US" dirty="0"/>
              <a:t>=</a:t>
            </a:r>
            <a:r>
              <a:rPr lang="en-US" altLang="zh-CN" dirty="0"/>
              <a:t>Σ</a:t>
            </a:r>
            <a:r>
              <a:rPr lang="en-US" altLang="zh-CN" i="1" baseline="40000" dirty="0"/>
              <a:t>n</a:t>
            </a:r>
            <a:r>
              <a:rPr lang="zh-CN" altLang="en-US" i="1" baseline="-40000" dirty="0"/>
              <a:t>j</a:t>
            </a:r>
            <a:r>
              <a:rPr lang="en-US" altLang="zh-CN" baseline="-40000" dirty="0"/>
              <a:t>=1</a:t>
            </a:r>
            <a:r>
              <a:rPr lang="en-US" altLang="zh-CN" dirty="0"/>
              <a:t>d</a:t>
            </a:r>
            <a:r>
              <a:rPr lang="zh-CN" altLang="en-US" baseline="30000" dirty="0"/>
              <a:t>-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zh-CN" altLang="en-US" i="1" baseline="-25000" dirty="0"/>
              <a:t>j</a:t>
            </a:r>
            <a:r>
              <a:rPr lang="en-US" altLang="zh-CN" dirty="0"/>
              <a:t>)=</a:t>
            </a:r>
            <a:r>
              <a:rPr lang="en-US" altLang="zh-CN" i="1" dirty="0"/>
              <a:t>m</a:t>
            </a:r>
            <a:endParaRPr lang="en-US" altLang="zh-CN" i="1" dirty="0"/>
          </a:p>
          <a:p>
            <a:r>
              <a:rPr lang="zh-CN" altLang="en-US" dirty="0"/>
              <a:t>环个数</a:t>
            </a:r>
            <a:r>
              <a:rPr lang="en-US" altLang="zh-CN" dirty="0"/>
              <a:t>: Σ</a:t>
            </a:r>
            <a:r>
              <a:rPr lang="en-US" altLang="zh-CN" i="1" baseline="40000" dirty="0"/>
              <a:t>n</a:t>
            </a:r>
            <a:r>
              <a:rPr lang="en-US" altLang="zh-CN" i="1" baseline="-40000" dirty="0"/>
              <a:t>i</a:t>
            </a:r>
            <a:r>
              <a:rPr lang="en-US" altLang="zh-CN" baseline="-40000" dirty="0"/>
              <a:t>=1</a:t>
            </a:r>
            <a:r>
              <a:rPr lang="en-US" altLang="zh-CN" b="0" i="1" dirty="0"/>
              <a:t>a</a:t>
            </a:r>
            <a:r>
              <a:rPr lang="en-US" altLang="zh-CN" i="1" baseline="-25000" dirty="0"/>
              <a:t>ii</a:t>
            </a:r>
            <a:endParaRPr lang="en-US" altLang="zh-CN" i="1" baseline="-25000" dirty="0"/>
          </a:p>
        </p:txBody>
      </p:sp>
      <p:pic>
        <p:nvPicPr>
          <p:cNvPr id="28676" name="Picture 4" descr="图7-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8700" y="4303713"/>
            <a:ext cx="2390775" cy="24384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8677" name="对象 28676"/>
          <p:cNvGraphicFramePr>
            <a:graphicFrameLocks noChangeAspect="1"/>
          </p:cNvGraphicFramePr>
          <p:nvPr/>
        </p:nvGraphicFramePr>
        <p:xfrm>
          <a:off x="3852863" y="4356100"/>
          <a:ext cx="4103687" cy="234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" imgW="1733550" imgH="1133475" progId="">
                  <p:embed/>
                </p:oleObj>
              </mc:Choice>
              <mc:Fallback>
                <p:oleObj name="" r:id="rId2" imgW="1733550" imgH="1133475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52863" y="4356100"/>
                        <a:ext cx="4103687" cy="2344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邻接矩阵与通路数</a:t>
            </a:r>
            <a:endParaRPr lang="zh-CN" altLang="en-US" dirty="0"/>
          </a:p>
        </p:txBody>
      </p:sp>
      <p:pic>
        <p:nvPicPr>
          <p:cNvPr id="30723" name="Rectangle 3"/>
          <p:cNvPicPr>
            <a:picLocks noGrp="1"/>
          </p:cNvPicPr>
          <p:nvPr>
            <p:ph type="body" idx="4294967295"/>
          </p:nvPr>
        </p:nvPicPr>
        <p:blipFill>
          <a:blip r:embed="rId1"/>
          <a:srcRect/>
          <a:stretch>
            <a:fillRect/>
          </a:stretch>
        </p:blipFill>
        <p:spPr>
          <a:xfrm>
            <a:off x="201613" y="1355725"/>
            <a:ext cx="8618537" cy="5303838"/>
          </a:xfrm>
        </p:spPr>
      </p:pic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邻接矩阵与通路数</a:t>
            </a:r>
            <a:endParaRPr lang="zh-CN" altLang="en-US" dirty="0"/>
          </a:p>
        </p:txBody>
      </p:sp>
      <p:sp>
        <p:nvSpPr>
          <p:cNvPr id="31747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hlink"/>
                </a:solidFill>
              </a:rPr>
              <a:t>定理10.</a:t>
            </a:r>
            <a:r>
              <a:rPr lang="en-US" altLang="zh-CN" dirty="0">
                <a:solidFill>
                  <a:schemeClr val="hlink"/>
                </a:solidFill>
              </a:rPr>
              <a:t>4: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r</a:t>
            </a:r>
            <a:r>
              <a:rPr lang="en-US" altLang="zh-CN" baseline="30000" dirty="0"/>
              <a:t>)</a:t>
            </a:r>
            <a:r>
              <a:rPr lang="en-US" altLang="zh-CN" i="1" baseline="-25000" dirty="0"/>
              <a:t>ij</a:t>
            </a:r>
            <a:r>
              <a:rPr lang="en-US" altLang="zh-CN" dirty="0"/>
              <a:t> =</a:t>
            </a:r>
            <a:r>
              <a:rPr lang="zh-CN" altLang="en-US" dirty="0"/>
              <a:t>从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zh-CN" altLang="en-US" dirty="0"/>
              <a:t>长度为</a:t>
            </a:r>
            <a:r>
              <a:rPr lang="en-US" altLang="zh-CN" i="1" dirty="0"/>
              <a:t>r</a:t>
            </a:r>
            <a:r>
              <a:rPr lang="zh-CN" altLang="en-US" dirty="0"/>
              <a:t>的通路数          </a:t>
            </a:r>
            <a:endParaRPr lang="zh-CN" altLang="en-US" dirty="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                </a:t>
            </a:r>
            <a:r>
              <a:rPr lang="en-US" altLang="zh-CN" dirty="0"/>
              <a:t>Σ</a:t>
            </a:r>
            <a:r>
              <a:rPr lang="en-US" altLang="zh-CN" i="1" baseline="40000" dirty="0"/>
              <a:t>n</a:t>
            </a:r>
            <a:r>
              <a:rPr lang="en-US" altLang="zh-CN" i="1" baseline="-40000" dirty="0"/>
              <a:t>i</a:t>
            </a:r>
            <a:r>
              <a:rPr lang="en-US" altLang="zh-CN" baseline="-40000" dirty="0"/>
              <a:t>=1</a:t>
            </a:r>
            <a:r>
              <a:rPr lang="en-US" altLang="zh-CN" dirty="0"/>
              <a:t>Σ</a:t>
            </a:r>
            <a:r>
              <a:rPr lang="en-US" altLang="zh-CN" i="1" baseline="40000" dirty="0"/>
              <a:t>n</a:t>
            </a:r>
            <a:r>
              <a:rPr lang="en-US" altLang="zh-CN" i="1" baseline="-40000" dirty="0"/>
              <a:t>j</a:t>
            </a:r>
            <a:r>
              <a:rPr lang="en-US" altLang="zh-CN" baseline="-40000" dirty="0"/>
              <a:t>=1 </a:t>
            </a:r>
            <a:r>
              <a:rPr lang="en-US" altLang="zh-CN" i="1" dirty="0"/>
              <a:t>a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r</a:t>
            </a:r>
            <a:r>
              <a:rPr lang="en-US" altLang="zh-CN" baseline="30000" dirty="0"/>
              <a:t>)</a:t>
            </a:r>
            <a:r>
              <a:rPr lang="en-US" altLang="zh-CN" i="1" baseline="-25000" dirty="0"/>
              <a:t>ij</a:t>
            </a:r>
            <a:r>
              <a:rPr lang="en-US" altLang="zh-CN" dirty="0"/>
              <a:t> =</a:t>
            </a:r>
            <a:r>
              <a:rPr lang="zh-CN" altLang="en-US" dirty="0"/>
              <a:t>长度为</a:t>
            </a:r>
            <a:r>
              <a:rPr lang="en-US" altLang="zh-CN" i="1" dirty="0"/>
              <a:t>r</a:t>
            </a:r>
            <a:r>
              <a:rPr lang="zh-CN" altLang="en-US" dirty="0"/>
              <a:t>的通路总数</a:t>
            </a:r>
            <a:endParaRPr lang="zh-CN" altLang="en-US" dirty="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                </a:t>
            </a:r>
            <a:r>
              <a:rPr lang="en-US" altLang="zh-CN" dirty="0"/>
              <a:t>Σ</a:t>
            </a:r>
            <a:r>
              <a:rPr lang="en-US" altLang="zh-CN" i="1" baseline="40000" dirty="0"/>
              <a:t>n</a:t>
            </a:r>
            <a:r>
              <a:rPr lang="en-US" altLang="zh-CN" i="1" baseline="-40000" dirty="0"/>
              <a:t>i</a:t>
            </a:r>
            <a:r>
              <a:rPr lang="en-US" altLang="zh-CN" baseline="-40000" dirty="0"/>
              <a:t>=1 </a:t>
            </a:r>
            <a:r>
              <a:rPr lang="en-US" altLang="zh-CN" i="1" dirty="0"/>
              <a:t>a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r</a:t>
            </a:r>
            <a:r>
              <a:rPr lang="en-US" altLang="zh-CN" baseline="30000" dirty="0"/>
              <a:t>)</a:t>
            </a:r>
            <a:r>
              <a:rPr lang="en-US" altLang="zh-CN" i="1" baseline="-25000" dirty="0"/>
              <a:t>ii</a:t>
            </a:r>
            <a:r>
              <a:rPr lang="en-US" altLang="zh-CN" dirty="0"/>
              <a:t> =</a:t>
            </a:r>
            <a:r>
              <a:rPr lang="zh-CN" altLang="en-US" dirty="0"/>
              <a:t>长度为</a:t>
            </a:r>
            <a:r>
              <a:rPr lang="en-US" altLang="zh-CN" i="1" dirty="0"/>
              <a:t>r</a:t>
            </a:r>
            <a:r>
              <a:rPr lang="zh-CN" altLang="en-US" dirty="0"/>
              <a:t>的回路总数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/>
              <a:t>B</a:t>
            </a:r>
            <a:r>
              <a:rPr lang="en-US" altLang="zh-CN" i="1" baseline="-25000" dirty="0"/>
              <a:t>r</a:t>
            </a:r>
            <a:r>
              <a:rPr lang="en-US" altLang="zh-CN" dirty="0"/>
              <a:t>=</a:t>
            </a:r>
            <a:r>
              <a:rPr lang="en-US" altLang="zh-CN" i="1" dirty="0"/>
              <a:t>A</a:t>
            </a:r>
            <a:r>
              <a:rPr lang="en-US" altLang="zh-CN" dirty="0"/>
              <a:t>+</a:t>
            </a:r>
            <a:r>
              <a:rPr lang="en-US" altLang="zh-CN" i="1" dirty="0"/>
              <a:t>A</a:t>
            </a:r>
            <a:r>
              <a:rPr lang="en-US" altLang="zh-CN" baseline="30000" dirty="0"/>
              <a:t>2</a:t>
            </a:r>
            <a:r>
              <a:rPr lang="en-US" altLang="zh-CN" dirty="0"/>
              <a:t>+…+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r</a:t>
            </a:r>
            <a:r>
              <a:rPr lang="en-US" altLang="zh-CN" dirty="0"/>
              <a:t>=[</a:t>
            </a:r>
            <a:r>
              <a:rPr lang="en-US" altLang="zh-CN" i="1" dirty="0"/>
              <a:t>b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r</a:t>
            </a:r>
            <a:r>
              <a:rPr lang="en-US" altLang="zh-CN" baseline="30000" dirty="0"/>
              <a:t>)</a:t>
            </a:r>
            <a:r>
              <a:rPr lang="en-US" altLang="zh-CN" i="1" baseline="-25000" dirty="0"/>
              <a:t>ij</a:t>
            </a:r>
            <a:r>
              <a:rPr lang="en-US" altLang="zh-CN" dirty="0"/>
              <a:t>] 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×</a:t>
            </a:r>
            <a:r>
              <a:rPr lang="en-US" altLang="zh-CN" i="1" baseline="-25000" dirty="0"/>
              <a:t>n</a:t>
            </a:r>
            <a:endParaRPr lang="zh-CN" altLang="en-US" dirty="0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hlink"/>
                </a:solidFill>
              </a:rPr>
              <a:t>推论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b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r</a:t>
            </a:r>
            <a:r>
              <a:rPr lang="en-US" altLang="zh-CN" baseline="30000" dirty="0"/>
              <a:t>)</a:t>
            </a:r>
            <a:r>
              <a:rPr lang="en-US" altLang="zh-CN" i="1" baseline="-25000" dirty="0"/>
              <a:t>ij</a:t>
            </a:r>
            <a:r>
              <a:rPr lang="en-US" altLang="zh-CN" dirty="0"/>
              <a:t> =</a:t>
            </a:r>
            <a:r>
              <a:rPr lang="zh-CN" altLang="en-US" dirty="0"/>
              <a:t>从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zh-CN" altLang="en-US" dirty="0"/>
              <a:t>长度</a:t>
            </a:r>
            <a:r>
              <a:rPr lang="zh-CN" altLang="en-US" dirty="0">
                <a:solidFill>
                  <a:srgbClr val="FF00FF"/>
                </a:solidFill>
              </a:rPr>
              <a:t>≤</a:t>
            </a:r>
            <a:r>
              <a:rPr lang="en-US" altLang="zh-CN" i="1" dirty="0"/>
              <a:t>r</a:t>
            </a:r>
            <a:r>
              <a:rPr lang="zh-CN" altLang="en-US" dirty="0"/>
              <a:t>的通路数</a:t>
            </a:r>
            <a:endParaRPr lang="zh-CN" altLang="en-US" dirty="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              </a:t>
            </a:r>
            <a:r>
              <a:rPr lang="en-US" altLang="zh-CN" dirty="0"/>
              <a:t>Σ</a:t>
            </a:r>
            <a:r>
              <a:rPr lang="en-US" altLang="zh-CN" i="1" baseline="40000" dirty="0"/>
              <a:t>n</a:t>
            </a:r>
            <a:r>
              <a:rPr lang="en-US" altLang="zh-CN" i="1" baseline="-40000" dirty="0"/>
              <a:t>i=1</a:t>
            </a:r>
            <a:r>
              <a:rPr lang="en-US" altLang="zh-CN" dirty="0"/>
              <a:t>Σ</a:t>
            </a:r>
            <a:r>
              <a:rPr lang="en-US" altLang="zh-CN" i="1" baseline="40000" dirty="0"/>
              <a:t>n</a:t>
            </a:r>
            <a:r>
              <a:rPr lang="en-US" altLang="zh-CN" i="1" baseline="-40000" dirty="0"/>
              <a:t>j=1</a:t>
            </a:r>
            <a:r>
              <a:rPr lang="en-US" altLang="zh-CN" baseline="-40000" dirty="0"/>
              <a:t> </a:t>
            </a:r>
            <a:r>
              <a:rPr lang="en-US" altLang="zh-CN" dirty="0"/>
              <a:t>b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r</a:t>
            </a:r>
            <a:r>
              <a:rPr lang="en-US" altLang="zh-CN" baseline="30000" dirty="0"/>
              <a:t>)</a:t>
            </a:r>
            <a:r>
              <a:rPr lang="en-US" altLang="zh-CN" i="1" baseline="-25000" dirty="0"/>
              <a:t>ij</a:t>
            </a:r>
            <a:r>
              <a:rPr lang="en-US" altLang="zh-CN" dirty="0"/>
              <a:t> =</a:t>
            </a:r>
            <a:r>
              <a:rPr lang="zh-CN" altLang="en-US" dirty="0"/>
              <a:t>长度</a:t>
            </a:r>
            <a:r>
              <a:rPr lang="zh-CN" altLang="en-US" dirty="0">
                <a:solidFill>
                  <a:srgbClr val="FF00FF"/>
                </a:solidFill>
              </a:rPr>
              <a:t>≤</a:t>
            </a:r>
            <a:r>
              <a:rPr lang="en-US" altLang="zh-CN" i="1" dirty="0"/>
              <a:t>r</a:t>
            </a:r>
            <a:r>
              <a:rPr lang="zh-CN" altLang="en-US" dirty="0"/>
              <a:t>的通路总数</a:t>
            </a:r>
            <a:endParaRPr lang="zh-CN" altLang="en-US" dirty="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              </a:t>
            </a:r>
            <a:r>
              <a:rPr lang="en-US" altLang="zh-CN" dirty="0"/>
              <a:t>Σ</a:t>
            </a:r>
            <a:r>
              <a:rPr lang="en-US" altLang="zh-CN" baseline="40000" dirty="0"/>
              <a:t>n</a:t>
            </a:r>
            <a:r>
              <a:rPr lang="en-US" altLang="zh-CN" i="1" baseline="-40000" dirty="0"/>
              <a:t>i</a:t>
            </a:r>
            <a:r>
              <a:rPr lang="en-US" altLang="zh-CN" baseline="-40000" dirty="0"/>
              <a:t>=1 </a:t>
            </a:r>
            <a:r>
              <a:rPr lang="en-US" altLang="zh-CN" i="1" dirty="0"/>
              <a:t>b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r</a:t>
            </a:r>
            <a:r>
              <a:rPr lang="en-US" altLang="zh-CN" baseline="30000" dirty="0"/>
              <a:t>)</a:t>
            </a:r>
            <a:r>
              <a:rPr lang="en-US" altLang="zh-CN" i="1" baseline="-25000" dirty="0"/>
              <a:t>ii</a:t>
            </a:r>
            <a:r>
              <a:rPr lang="en-US" altLang="zh-CN" dirty="0"/>
              <a:t> =</a:t>
            </a:r>
            <a:r>
              <a:rPr lang="zh-CN" altLang="en-US" dirty="0"/>
              <a:t>长度</a:t>
            </a:r>
            <a:r>
              <a:rPr lang="zh-CN" altLang="en-US" dirty="0">
                <a:solidFill>
                  <a:srgbClr val="FF00FF"/>
                </a:solidFill>
              </a:rPr>
              <a:t>≤</a:t>
            </a:r>
            <a:r>
              <a:rPr lang="en-US" altLang="zh-CN" i="1" dirty="0"/>
              <a:t>r</a:t>
            </a:r>
            <a:r>
              <a:rPr lang="zh-CN" altLang="en-US" dirty="0"/>
              <a:t>的回路总数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定理</a:t>
            </a:r>
            <a:r>
              <a:rPr lang="en-US" altLang="zh-CN" dirty="0"/>
              <a:t>4(</a:t>
            </a:r>
            <a:r>
              <a:rPr lang="zh-CN" altLang="en-US" dirty="0"/>
              <a:t>证明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2771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(</a:t>
            </a:r>
            <a:r>
              <a:rPr lang="zh-CN" altLang="en-US" dirty="0">
                <a:solidFill>
                  <a:srgbClr val="FF00FF"/>
                </a:solidFill>
              </a:rPr>
              <a:t>归纳法</a:t>
            </a:r>
            <a:r>
              <a:rPr lang="en-US" altLang="zh-CN" dirty="0"/>
              <a:t>) (1)</a:t>
            </a:r>
            <a:r>
              <a:rPr lang="en-US" altLang="zh-CN" i="1" dirty="0"/>
              <a:t>r</a:t>
            </a:r>
            <a:r>
              <a:rPr lang="en-US" altLang="zh-CN" dirty="0"/>
              <a:t>=1: </a:t>
            </a:r>
            <a:r>
              <a:rPr lang="en-US" altLang="zh-CN" i="1" dirty="0"/>
              <a:t>a</a:t>
            </a:r>
            <a:r>
              <a:rPr lang="en-US" altLang="zh-CN" baseline="30000" dirty="0"/>
              <a:t>(1)</a:t>
            </a:r>
            <a:r>
              <a:rPr lang="en-US" altLang="zh-CN" i="1" baseline="-25000" dirty="0"/>
              <a:t>ij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ij</a:t>
            </a:r>
            <a:r>
              <a:rPr lang="en-US" altLang="zh-CN" dirty="0"/>
              <a:t>, </a:t>
            </a:r>
            <a:r>
              <a:rPr lang="zh-CN" altLang="en-US" dirty="0"/>
              <a:t>结论显然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(2)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en-US" altLang="zh-CN" dirty="0"/>
              <a:t>≤</a:t>
            </a:r>
            <a:r>
              <a:rPr lang="en-US" altLang="zh-CN" i="1" dirty="0"/>
              <a:t>k</a:t>
            </a:r>
            <a:r>
              <a:rPr lang="zh-CN" altLang="en-US" dirty="0"/>
              <a:t>时结论成立</a:t>
            </a:r>
            <a:r>
              <a:rPr lang="en-US" altLang="zh-CN" dirty="0"/>
              <a:t>, </a:t>
            </a:r>
            <a:r>
              <a:rPr lang="zh-CN" altLang="en-US" dirty="0"/>
              <a:t>当</a:t>
            </a:r>
            <a:r>
              <a:rPr lang="en-US" altLang="zh-CN" i="1" dirty="0"/>
              <a:t>r</a:t>
            </a:r>
            <a:r>
              <a:rPr lang="en-US" altLang="zh-CN" dirty="0"/>
              <a:t>=</a:t>
            </a:r>
            <a:r>
              <a:rPr lang="en-US" altLang="zh-CN" i="1" dirty="0"/>
              <a:t>k</a:t>
            </a:r>
            <a:r>
              <a:rPr lang="en-US" altLang="zh-CN" dirty="0"/>
              <a:t>+1</a:t>
            </a:r>
            <a:r>
              <a:rPr lang="zh-CN" altLang="en-US" dirty="0"/>
              <a:t>时</a:t>
            </a:r>
            <a:r>
              <a:rPr lang="en-US" altLang="zh-CN" dirty="0"/>
              <a:t>,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i="1" dirty="0"/>
              <a:t>a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k</a:t>
            </a:r>
            <a:r>
              <a:rPr lang="en-US" altLang="zh-CN" baseline="30000" dirty="0"/>
              <a:t>)</a:t>
            </a:r>
            <a:r>
              <a:rPr lang="en-US" altLang="zh-CN" i="1" baseline="-25000" dirty="0"/>
              <a:t>i</a:t>
            </a:r>
            <a:r>
              <a:rPr lang="en-US" altLang="zh-CN" i="1" baseline="-25000" dirty="0">
                <a:solidFill>
                  <a:schemeClr val="hlink"/>
                </a:solidFill>
              </a:rPr>
              <a:t>t</a:t>
            </a:r>
            <a:r>
              <a:rPr lang="en-US" altLang="zh-CN" dirty="0"/>
              <a:t> • </a:t>
            </a:r>
            <a:r>
              <a:rPr lang="en-US" altLang="zh-CN" i="1" dirty="0"/>
              <a:t>a</a:t>
            </a:r>
            <a:r>
              <a:rPr lang="en-US" altLang="zh-CN" baseline="30000" dirty="0"/>
              <a:t>(1)</a:t>
            </a:r>
            <a:r>
              <a:rPr lang="en-US" altLang="zh-CN" i="1" baseline="-25000" dirty="0">
                <a:solidFill>
                  <a:schemeClr val="hlink"/>
                </a:solidFill>
              </a:rPr>
              <a:t>t</a:t>
            </a:r>
            <a:r>
              <a:rPr lang="en-US" altLang="zh-CN" i="1" baseline="-25000" dirty="0"/>
              <a:t>j</a:t>
            </a:r>
            <a:r>
              <a:rPr lang="en-US" altLang="zh-CN" dirty="0"/>
              <a:t> =</a:t>
            </a:r>
            <a:r>
              <a:rPr lang="zh-CN" altLang="en-US" dirty="0"/>
              <a:t>从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zh-CN" altLang="en-US" dirty="0"/>
              <a:t>最后经过</a:t>
            </a:r>
            <a:r>
              <a:rPr lang="en-US" altLang="zh-CN" i="1" dirty="0">
                <a:solidFill>
                  <a:schemeClr val="hlink"/>
                </a:solidFill>
              </a:rPr>
              <a:t>v</a:t>
            </a:r>
            <a:r>
              <a:rPr lang="en-US" altLang="zh-CN" i="1" baseline="-25000" dirty="0">
                <a:solidFill>
                  <a:schemeClr val="hlink"/>
                </a:solidFill>
              </a:rPr>
              <a:t>t</a:t>
            </a:r>
            <a:r>
              <a:rPr lang="zh-CN" altLang="en-US" dirty="0"/>
              <a:t>的长度为</a:t>
            </a:r>
            <a:r>
              <a:rPr lang="en-US" altLang="zh-CN" i="1" dirty="0"/>
              <a:t>k</a:t>
            </a:r>
            <a:r>
              <a:rPr lang="en-US" altLang="zh-CN" dirty="0"/>
              <a:t>+1</a:t>
            </a:r>
            <a:r>
              <a:rPr lang="zh-CN" altLang="en-US" dirty="0"/>
              <a:t>的通路总数</a:t>
            </a:r>
            <a:r>
              <a:rPr lang="en-US" altLang="zh-CN" dirty="0"/>
              <a:t>,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i="1" dirty="0"/>
              <a:t>a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k</a:t>
            </a:r>
            <a:r>
              <a:rPr lang="en-US" altLang="zh-CN" baseline="30000" dirty="0"/>
              <a:t>+1)</a:t>
            </a:r>
            <a:r>
              <a:rPr lang="en-US" altLang="zh-CN" i="1" baseline="-25000" dirty="0"/>
              <a:t>ij</a:t>
            </a:r>
            <a:r>
              <a:rPr lang="en-US" altLang="zh-CN" dirty="0"/>
              <a:t> =</a:t>
            </a:r>
            <a:r>
              <a:rPr lang="en-US" altLang="zh-CN" dirty="0">
                <a:solidFill>
                  <a:srgbClr val="FF0000"/>
                </a:solidFill>
              </a:rPr>
              <a:t>Σ</a:t>
            </a:r>
            <a:r>
              <a:rPr lang="en-US" altLang="zh-CN" baseline="40000" dirty="0">
                <a:solidFill>
                  <a:srgbClr val="FF0000"/>
                </a:solidFill>
              </a:rPr>
              <a:t>n</a:t>
            </a:r>
            <a:r>
              <a:rPr lang="en-US" altLang="zh-CN" i="1" baseline="-40000" dirty="0">
                <a:solidFill>
                  <a:srgbClr val="FF0000"/>
                </a:solidFill>
              </a:rPr>
              <a:t>t</a:t>
            </a:r>
            <a:r>
              <a:rPr lang="en-US" altLang="zh-CN" baseline="-40000" dirty="0">
                <a:solidFill>
                  <a:srgbClr val="FF0000"/>
                </a:solidFill>
              </a:rPr>
              <a:t>=1</a:t>
            </a:r>
            <a:r>
              <a:rPr lang="en-US" altLang="zh-CN" baseline="-40000" dirty="0">
                <a:solidFill>
                  <a:srgbClr val="FF00FF"/>
                </a:solidFill>
              </a:rPr>
              <a:t> </a:t>
            </a:r>
            <a:r>
              <a:rPr lang="en-US" altLang="zh-CN" i="1" dirty="0"/>
              <a:t>a</a:t>
            </a:r>
            <a:r>
              <a:rPr lang="en-US" altLang="zh-CN" baseline="30000" dirty="0"/>
              <a:t>(k)</a:t>
            </a:r>
            <a:r>
              <a:rPr lang="en-US" altLang="zh-CN" i="1" baseline="-25000" dirty="0"/>
              <a:t>it</a:t>
            </a:r>
            <a:r>
              <a:rPr lang="en-US" altLang="zh-CN" dirty="0"/>
              <a:t> • </a:t>
            </a:r>
            <a:r>
              <a:rPr lang="en-US" altLang="zh-CN" i="1" dirty="0"/>
              <a:t>a</a:t>
            </a:r>
            <a:r>
              <a:rPr lang="en-US" altLang="zh-CN" baseline="30000" dirty="0"/>
              <a:t>(1)</a:t>
            </a:r>
            <a:r>
              <a:rPr lang="en-US" altLang="zh-CN" i="1" baseline="-25000" dirty="0"/>
              <a:t>tj</a:t>
            </a:r>
            <a:r>
              <a:rPr lang="en-US" altLang="zh-CN" dirty="0"/>
              <a:t> =</a:t>
            </a:r>
            <a:r>
              <a:rPr lang="zh-CN" altLang="en-US" dirty="0"/>
              <a:t>从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zh-CN" altLang="en-US" dirty="0"/>
              <a:t>的长度为</a:t>
            </a:r>
            <a:r>
              <a:rPr lang="en-US" altLang="zh-CN" i="1" dirty="0"/>
              <a:t>k</a:t>
            </a:r>
            <a:r>
              <a:rPr lang="en-US" altLang="zh-CN" dirty="0"/>
              <a:t>+1</a:t>
            </a:r>
            <a:r>
              <a:rPr lang="zh-CN" altLang="en-US" dirty="0"/>
              <a:t>的通路总数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grpSp>
        <p:nvGrpSpPr>
          <p:cNvPr id="32772" name="Group 32"/>
          <p:cNvGrpSpPr/>
          <p:nvPr/>
        </p:nvGrpSpPr>
        <p:grpSpPr>
          <a:xfrm>
            <a:off x="2628900" y="4508500"/>
            <a:ext cx="3671888" cy="2089150"/>
            <a:chOff x="0" y="0"/>
            <a:chExt cx="2313" cy="1316"/>
          </a:xfrm>
        </p:grpSpPr>
        <p:sp>
          <p:nvSpPr>
            <p:cNvPr id="32773" name="Freeform 12"/>
            <p:cNvSpPr/>
            <p:nvPr/>
          </p:nvSpPr>
          <p:spPr>
            <a:xfrm>
              <a:off x="136" y="46"/>
              <a:ext cx="2131" cy="317"/>
            </a:xfrm>
            <a:custGeom>
              <a:avLst/>
              <a:gdLst/>
              <a:ahLst/>
              <a:cxnLst>
                <a:cxn ang="0">
                  <a:pos x="0" y="243"/>
                </a:cxn>
                <a:cxn ang="0">
                  <a:pos x="396" y="69"/>
                </a:cxn>
                <a:cxn ang="0">
                  <a:pos x="1250" y="0"/>
                </a:cxn>
                <a:cxn ang="0">
                  <a:pos x="1909" y="69"/>
                </a:cxn>
                <a:cxn ang="0">
                  <a:pos x="2567" y="278"/>
                </a:cxn>
              </a:cxnLst>
              <a:pathLst>
                <a:path w="1769" h="362">
                  <a:moveTo>
                    <a:pt x="0" y="317"/>
                  </a:moveTo>
                  <a:cubicBezTo>
                    <a:pt x="64" y="230"/>
                    <a:pt x="129" y="143"/>
                    <a:pt x="273" y="90"/>
                  </a:cubicBezTo>
                  <a:cubicBezTo>
                    <a:pt x="417" y="37"/>
                    <a:pt x="688" y="0"/>
                    <a:pt x="862" y="0"/>
                  </a:cubicBezTo>
                  <a:cubicBezTo>
                    <a:pt x="1036" y="0"/>
                    <a:pt x="1165" y="30"/>
                    <a:pt x="1316" y="90"/>
                  </a:cubicBezTo>
                  <a:cubicBezTo>
                    <a:pt x="1467" y="150"/>
                    <a:pt x="1618" y="256"/>
                    <a:pt x="1769" y="362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32774" name="AutoShape 14"/>
            <p:cNvCxnSpPr>
              <a:stCxn id="32777" idx="6"/>
              <a:endCxn id="32778" idx="4"/>
            </p:cNvCxnSpPr>
            <p:nvPr/>
          </p:nvCxnSpPr>
          <p:spPr>
            <a:xfrm>
              <a:off x="136" y="431"/>
              <a:ext cx="2109" cy="68"/>
            </a:xfrm>
            <a:prstGeom prst="curvedConnector4">
              <a:avLst>
                <a:gd name="adj1" fmla="val 47509"/>
                <a:gd name="adj2" fmla="val -172060"/>
              </a:avLst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775" name="AutoShape 15"/>
            <p:cNvCxnSpPr>
              <a:stCxn id="32777" idx="5"/>
              <a:endCxn id="32778" idx="3"/>
            </p:cNvCxnSpPr>
            <p:nvPr/>
          </p:nvCxnSpPr>
          <p:spPr>
            <a:xfrm rot="-5400000" flipH="1">
              <a:off x="1150" y="-567"/>
              <a:ext cx="1" cy="2081"/>
            </a:xfrm>
            <a:prstGeom prst="curvedConnector3">
              <a:avLst>
                <a:gd name="adj1" fmla="val 10300005"/>
              </a:avLst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2776" name="AutoShape 16"/>
            <p:cNvCxnSpPr>
              <a:stCxn id="32777" idx="4"/>
              <a:endCxn id="32778" idx="4"/>
            </p:cNvCxnSpPr>
            <p:nvPr/>
          </p:nvCxnSpPr>
          <p:spPr>
            <a:xfrm rot="-5400000" flipH="1">
              <a:off x="1150" y="-595"/>
              <a:ext cx="1" cy="2177"/>
            </a:xfrm>
            <a:prstGeom prst="curvedConnector3">
              <a:avLst>
                <a:gd name="adj1" fmla="val 41900014"/>
              </a:avLst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2777" name="Oval 4"/>
            <p:cNvSpPr/>
            <p:nvPr/>
          </p:nvSpPr>
          <p:spPr>
            <a:xfrm>
              <a:off x="0" y="363"/>
              <a:ext cx="136" cy="136"/>
            </a:xfrm>
            <a:prstGeom prst="ellipse">
              <a:avLst/>
            </a:prstGeom>
            <a:solidFill>
              <a:srgbClr val="996633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78" name="Oval 5"/>
            <p:cNvSpPr/>
            <p:nvPr/>
          </p:nvSpPr>
          <p:spPr>
            <a:xfrm>
              <a:off x="2177" y="363"/>
              <a:ext cx="136" cy="136"/>
            </a:xfrm>
            <a:prstGeom prst="ellipse">
              <a:avLst/>
            </a:prstGeom>
            <a:solidFill>
              <a:srgbClr val="996633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79" name="Oval 6"/>
            <p:cNvSpPr/>
            <p:nvPr/>
          </p:nvSpPr>
          <p:spPr>
            <a:xfrm>
              <a:off x="1360" y="0"/>
              <a:ext cx="136" cy="136"/>
            </a:xfrm>
            <a:prstGeom prst="ellipse">
              <a:avLst/>
            </a:prstGeom>
            <a:solidFill>
              <a:srgbClr val="996633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0" name="Oval 7"/>
            <p:cNvSpPr/>
            <p:nvPr/>
          </p:nvSpPr>
          <p:spPr>
            <a:xfrm>
              <a:off x="1342" y="272"/>
              <a:ext cx="136" cy="136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1" name="Oval 8"/>
            <p:cNvSpPr/>
            <p:nvPr/>
          </p:nvSpPr>
          <p:spPr>
            <a:xfrm>
              <a:off x="1342" y="544"/>
              <a:ext cx="136" cy="136"/>
            </a:xfrm>
            <a:prstGeom prst="ellipse">
              <a:avLst/>
            </a:prstGeom>
            <a:solidFill>
              <a:srgbClr val="996633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2" name="Oval 9"/>
            <p:cNvSpPr/>
            <p:nvPr/>
          </p:nvSpPr>
          <p:spPr>
            <a:xfrm>
              <a:off x="1333" y="816"/>
              <a:ext cx="136" cy="136"/>
            </a:xfrm>
            <a:prstGeom prst="ellipse">
              <a:avLst/>
            </a:prstGeom>
            <a:solidFill>
              <a:srgbClr val="996633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3" name="AutoShape 17"/>
            <p:cNvSpPr/>
            <p:nvPr/>
          </p:nvSpPr>
          <p:spPr>
            <a:xfrm rot="5167898">
              <a:off x="1020" y="0"/>
              <a:ext cx="86" cy="13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4" name="AutoShape 18"/>
            <p:cNvSpPr/>
            <p:nvPr/>
          </p:nvSpPr>
          <p:spPr>
            <a:xfrm rot="6263056">
              <a:off x="1706" y="41"/>
              <a:ext cx="86" cy="13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5" name="AutoShape 19"/>
            <p:cNvSpPr/>
            <p:nvPr/>
          </p:nvSpPr>
          <p:spPr>
            <a:xfrm rot="5167898">
              <a:off x="926" y="503"/>
              <a:ext cx="86" cy="13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6" name="AutoShape 20"/>
            <p:cNvSpPr/>
            <p:nvPr/>
          </p:nvSpPr>
          <p:spPr>
            <a:xfrm rot="5167898">
              <a:off x="1742" y="494"/>
              <a:ext cx="86" cy="13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7" name="AutoShape 21"/>
            <p:cNvSpPr/>
            <p:nvPr/>
          </p:nvSpPr>
          <p:spPr>
            <a:xfrm rot="6160140">
              <a:off x="736" y="808"/>
              <a:ext cx="86" cy="13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8" name="AutoShape 22"/>
            <p:cNvSpPr/>
            <p:nvPr/>
          </p:nvSpPr>
          <p:spPr>
            <a:xfrm rot="3790139">
              <a:off x="1842" y="720"/>
              <a:ext cx="86" cy="13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9" name="AutoShape 23"/>
            <p:cNvSpPr/>
            <p:nvPr/>
          </p:nvSpPr>
          <p:spPr>
            <a:xfrm rot="5167898">
              <a:off x="926" y="331"/>
              <a:ext cx="86" cy="137"/>
            </a:xfrm>
            <a:prstGeom prst="triangle">
              <a:avLst>
                <a:gd name="adj" fmla="val 50000"/>
              </a:avLst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90" name="AutoShape 24"/>
            <p:cNvSpPr/>
            <p:nvPr/>
          </p:nvSpPr>
          <p:spPr>
            <a:xfrm rot="5699318">
              <a:off x="1651" y="249"/>
              <a:ext cx="86" cy="137"/>
            </a:xfrm>
            <a:prstGeom prst="triangle">
              <a:avLst>
                <a:gd name="adj" fmla="val 50000"/>
              </a:avLst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91" name="Line 25"/>
            <p:cNvSpPr/>
            <p:nvPr/>
          </p:nvSpPr>
          <p:spPr>
            <a:xfrm>
              <a:off x="45" y="499"/>
              <a:ext cx="0" cy="817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2792" name="Line 26"/>
            <p:cNvSpPr/>
            <p:nvPr/>
          </p:nvSpPr>
          <p:spPr>
            <a:xfrm>
              <a:off x="1405" y="998"/>
              <a:ext cx="0" cy="318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2793" name="Line 27"/>
            <p:cNvSpPr/>
            <p:nvPr/>
          </p:nvSpPr>
          <p:spPr>
            <a:xfrm>
              <a:off x="45" y="1225"/>
              <a:ext cx="1360" cy="0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dash"/>
              <a:headEnd type="triangle" w="med" len="med"/>
              <a:tailEnd type="triangle" w="med" len="med"/>
            </a:ln>
          </p:spPr>
        </p:sp>
        <p:sp>
          <p:nvSpPr>
            <p:cNvPr id="32794" name="Text Box 28"/>
            <p:cNvSpPr txBox="1"/>
            <p:nvPr/>
          </p:nvSpPr>
          <p:spPr>
            <a:xfrm>
              <a:off x="531" y="920"/>
              <a:ext cx="213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k</a:t>
              </a:r>
              <a:endParaRPr lang="en-US" altLang="zh-CN" sz="2400" i="1" dirty="0">
                <a:ea typeface="宋体" panose="02010600030101010101" pitchFamily="2" charset="-122"/>
              </a:endParaRPr>
            </a:p>
          </p:txBody>
        </p:sp>
        <p:sp>
          <p:nvSpPr>
            <p:cNvPr id="32795" name="Line 29"/>
            <p:cNvSpPr/>
            <p:nvPr/>
          </p:nvSpPr>
          <p:spPr>
            <a:xfrm>
              <a:off x="2267" y="499"/>
              <a:ext cx="0" cy="817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2796" name="Line 30"/>
            <p:cNvSpPr/>
            <p:nvPr/>
          </p:nvSpPr>
          <p:spPr>
            <a:xfrm>
              <a:off x="1405" y="1222"/>
              <a:ext cx="862" cy="0"/>
            </a:xfrm>
            <a:prstGeom prst="line">
              <a:avLst/>
            </a:prstGeom>
            <a:ln w="9525" cap="flat" cmpd="sng">
              <a:solidFill>
                <a:srgbClr val="0066FF"/>
              </a:solidFill>
              <a:prstDash val="dash"/>
              <a:headEnd type="triangle" w="med" len="med"/>
              <a:tailEnd type="triangle" w="med" len="med"/>
            </a:ln>
          </p:spPr>
        </p:sp>
        <p:sp>
          <p:nvSpPr>
            <p:cNvPr id="32797" name="Text Box 31"/>
            <p:cNvSpPr txBox="1"/>
            <p:nvPr/>
          </p:nvSpPr>
          <p:spPr>
            <a:xfrm>
              <a:off x="1814" y="953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dirty="0">
                  <a:ea typeface="宋体" panose="02010600030101010101" pitchFamily="2" charset="-122"/>
                </a:rPr>
                <a:t>1</a:t>
              </a:r>
              <a:endParaRPr lang="en-US" altLang="zh-CN" sz="2400" dirty="0">
                <a:ea typeface="宋体" panose="02010600030101010101" pitchFamily="2" charset="-122"/>
              </a:endParaRPr>
            </a:p>
          </p:txBody>
        </p:sp>
      </p:grp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用邻接矩阵求通路数</a:t>
            </a:r>
            <a:r>
              <a:rPr lang="en-US" altLang="zh-CN" b="0" dirty="0"/>
              <a:t>(</a:t>
            </a:r>
            <a:r>
              <a:rPr lang="zh-CN" altLang="en-US" b="0" dirty="0"/>
              <a:t>例</a:t>
            </a:r>
            <a:r>
              <a:rPr lang="en-US" altLang="zh-CN" b="0" dirty="0"/>
              <a:t>)</a:t>
            </a:r>
            <a:endParaRPr lang="zh-CN" altLang="en-US" b="0" dirty="0"/>
          </a:p>
        </p:txBody>
      </p:sp>
      <p:pic>
        <p:nvPicPr>
          <p:cNvPr id="32771" name="Picture 4" descr="图7-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5288" y="1206500"/>
            <a:ext cx="2390775" cy="24384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3796" name="Group 16"/>
          <p:cNvGrpSpPr/>
          <p:nvPr/>
        </p:nvGrpSpPr>
        <p:grpSpPr>
          <a:xfrm>
            <a:off x="3563938" y="1268413"/>
            <a:ext cx="3384550" cy="2165350"/>
            <a:chOff x="0" y="0"/>
            <a:chExt cx="2450" cy="1567"/>
          </a:xfrm>
        </p:grpSpPr>
        <p:graphicFrame>
          <p:nvGraphicFramePr>
            <p:cNvPr id="33803" name="对象 32772"/>
            <p:cNvGraphicFramePr>
              <a:graphicFrameLocks noChangeAspect="1"/>
            </p:cNvGraphicFramePr>
            <p:nvPr/>
          </p:nvGraphicFramePr>
          <p:xfrm>
            <a:off x="0" y="272"/>
            <a:ext cx="2450" cy="1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2" imgW="1866900" imgH="1133475" progId="">
                    <p:embed/>
                  </p:oleObj>
                </mc:Choice>
                <mc:Fallback>
                  <p:oleObj name="" r:id="rId2" imgW="1866900" imgH="1133475" progId="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272"/>
                          <a:ext cx="2450" cy="1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4" name="Text Box 8"/>
            <p:cNvSpPr txBox="1"/>
            <p:nvPr/>
          </p:nvSpPr>
          <p:spPr>
            <a:xfrm>
              <a:off x="1071" y="0"/>
              <a:ext cx="305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33805" name="Text Box 9"/>
            <p:cNvSpPr txBox="1"/>
            <p:nvPr/>
          </p:nvSpPr>
          <p:spPr>
            <a:xfrm>
              <a:off x="1367" y="0"/>
              <a:ext cx="305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33806" name="Text Box 10"/>
            <p:cNvSpPr txBox="1"/>
            <p:nvPr/>
          </p:nvSpPr>
          <p:spPr>
            <a:xfrm>
              <a:off x="1731" y="0"/>
              <a:ext cx="304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33807" name="Text Box 11"/>
            <p:cNvSpPr txBox="1"/>
            <p:nvPr/>
          </p:nvSpPr>
          <p:spPr>
            <a:xfrm>
              <a:off x="2094" y="0"/>
              <a:ext cx="304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33808" name="Text Box 12"/>
            <p:cNvSpPr txBox="1"/>
            <p:nvPr/>
          </p:nvSpPr>
          <p:spPr>
            <a:xfrm>
              <a:off x="779" y="227"/>
              <a:ext cx="305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33809" name="Text Box 13"/>
            <p:cNvSpPr txBox="1"/>
            <p:nvPr/>
          </p:nvSpPr>
          <p:spPr>
            <a:xfrm>
              <a:off x="778" y="545"/>
              <a:ext cx="30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33810" name="Text Box 14"/>
            <p:cNvSpPr txBox="1"/>
            <p:nvPr/>
          </p:nvSpPr>
          <p:spPr>
            <a:xfrm>
              <a:off x="778" y="891"/>
              <a:ext cx="305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33811" name="Text Box 15"/>
            <p:cNvSpPr txBox="1"/>
            <p:nvPr/>
          </p:nvSpPr>
          <p:spPr>
            <a:xfrm>
              <a:off x="778" y="1180"/>
              <a:ext cx="305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33797" name="对象 32781"/>
          <p:cNvGraphicFramePr>
            <a:graphicFrameLocks noChangeAspect="1"/>
          </p:cNvGraphicFramePr>
          <p:nvPr/>
        </p:nvGraphicFramePr>
        <p:xfrm>
          <a:off x="304800" y="3644900"/>
          <a:ext cx="2322513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4" imgW="1543050" imgH="1133475" progId="">
                  <p:embed/>
                </p:oleObj>
              </mc:Choice>
              <mc:Fallback>
                <p:oleObj name="" r:id="rId4" imgW="1543050" imgH="1133475" progId="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800" y="3644900"/>
                        <a:ext cx="2322513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对象 32782"/>
          <p:cNvGraphicFramePr>
            <a:graphicFrameLocks noChangeAspect="1"/>
          </p:cNvGraphicFramePr>
          <p:nvPr/>
        </p:nvGraphicFramePr>
        <p:xfrm>
          <a:off x="2897188" y="3644900"/>
          <a:ext cx="232251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6" imgW="1543050" imgH="1133475" progId="">
                  <p:embed/>
                </p:oleObj>
              </mc:Choice>
              <mc:Fallback>
                <p:oleObj name="" r:id="rId6" imgW="1543050" imgH="1133475" progId="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97188" y="3644900"/>
                        <a:ext cx="2322512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对象 32783"/>
          <p:cNvGraphicFramePr>
            <a:graphicFrameLocks noChangeAspect="1"/>
          </p:cNvGraphicFramePr>
          <p:nvPr/>
        </p:nvGraphicFramePr>
        <p:xfrm>
          <a:off x="5634038" y="3644900"/>
          <a:ext cx="232251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8" imgW="1543050" imgH="1133475" progId="">
                  <p:embed/>
                </p:oleObj>
              </mc:Choice>
              <mc:Fallback>
                <p:oleObj name="" r:id="rId8" imgW="1543050" imgH="1133475" progId="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34038" y="3644900"/>
                        <a:ext cx="2322512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对象 32784"/>
          <p:cNvGraphicFramePr>
            <a:graphicFrameLocks noChangeAspect="1"/>
          </p:cNvGraphicFramePr>
          <p:nvPr/>
        </p:nvGraphicFramePr>
        <p:xfrm>
          <a:off x="490538" y="5286375"/>
          <a:ext cx="2179637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0" imgW="1231265" imgH="914400" progId="">
                  <p:embed/>
                </p:oleObj>
              </mc:Choice>
              <mc:Fallback>
                <p:oleObj name="" r:id="rId10" imgW="1231265" imgH="914400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0538" y="5286375"/>
                        <a:ext cx="2179637" cy="140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对象 32785"/>
          <p:cNvGraphicFramePr>
            <a:graphicFrameLocks noChangeAspect="1"/>
          </p:cNvGraphicFramePr>
          <p:nvPr/>
        </p:nvGraphicFramePr>
        <p:xfrm>
          <a:off x="2928938" y="5286375"/>
          <a:ext cx="2265362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2" imgW="1209675" imgH="904875" progId="">
                  <p:embed/>
                </p:oleObj>
              </mc:Choice>
              <mc:Fallback>
                <p:oleObj name="" r:id="rId12" imgW="1209675" imgH="904875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28938" y="5286375"/>
                        <a:ext cx="2265362" cy="1477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对象 32786"/>
          <p:cNvGraphicFramePr>
            <a:graphicFrameLocks noChangeAspect="1"/>
          </p:cNvGraphicFramePr>
          <p:nvPr/>
        </p:nvGraphicFramePr>
        <p:xfrm>
          <a:off x="5715000" y="5286375"/>
          <a:ext cx="2271713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4" imgW="1276350" imgH="904875" progId="">
                  <p:embed/>
                </p:oleObj>
              </mc:Choice>
              <mc:Fallback>
                <p:oleObj name="" r:id="rId14" imgW="1276350" imgH="904875" progId="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15000" y="5286375"/>
                        <a:ext cx="2271713" cy="140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用邻接矩阵求通路数</a:t>
            </a:r>
            <a:r>
              <a:rPr lang="en-US" altLang="zh-CN" b="0" dirty="0"/>
              <a:t>(</a:t>
            </a:r>
            <a:r>
              <a:rPr lang="zh-CN" altLang="en-US" b="0" dirty="0"/>
              <a:t>例</a:t>
            </a:r>
            <a:r>
              <a:rPr lang="en-US" altLang="zh-CN" b="0" dirty="0"/>
              <a:t>)</a:t>
            </a:r>
            <a:endParaRPr lang="zh-CN" altLang="en-US" b="0" dirty="0"/>
          </a:p>
        </p:txBody>
      </p:sp>
      <p:sp>
        <p:nvSpPr>
          <p:cNvPr id="35843" name="Rectangle 3"/>
          <p:cNvSpPr>
            <a:spLocks noGrp="1"/>
          </p:cNvSpPr>
          <p:nvPr>
            <p:ph type="body" idx="4294967295"/>
          </p:nvPr>
        </p:nvSpPr>
        <p:spPr>
          <a:xfrm>
            <a:off x="395288" y="1341438"/>
            <a:ext cx="8496300" cy="2089150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baseline="-25000" dirty="0"/>
              <a:t>4</a:t>
            </a:r>
            <a:r>
              <a:rPr lang="zh-CN" altLang="en-US" dirty="0"/>
              <a:t>长度为</a:t>
            </a:r>
            <a:r>
              <a:rPr lang="en-US" altLang="zh-CN" dirty="0"/>
              <a:t>3</a:t>
            </a:r>
            <a:r>
              <a:rPr lang="zh-CN" altLang="en-US" dirty="0"/>
              <a:t>和</a:t>
            </a:r>
            <a:r>
              <a:rPr lang="en-US" altLang="zh-CN" dirty="0"/>
              <a:t>4</a:t>
            </a:r>
            <a:r>
              <a:rPr lang="zh-CN" altLang="en-US" dirty="0"/>
              <a:t>的通路数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chemeClr val="hlink"/>
                </a:solidFill>
              </a:rPr>
              <a:t>1, 2</a:t>
            </a:r>
            <a:endParaRPr lang="en-US" altLang="zh-CN" dirty="0">
              <a:solidFill>
                <a:schemeClr val="hlink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baseline="-25000" dirty="0"/>
              <a:t>4</a:t>
            </a:r>
            <a:r>
              <a:rPr lang="zh-CN" altLang="en-US" dirty="0"/>
              <a:t>长度≤</a:t>
            </a:r>
            <a:r>
              <a:rPr lang="en-US" altLang="zh-CN" dirty="0"/>
              <a:t>4</a:t>
            </a:r>
            <a:r>
              <a:rPr lang="zh-CN" altLang="en-US" dirty="0"/>
              <a:t>的通路数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rgbClr val="FF00FF"/>
                </a:solidFill>
              </a:rPr>
              <a:t>4</a:t>
            </a:r>
            <a:endParaRPr lang="en-US" altLang="zh-CN" dirty="0">
              <a:solidFill>
                <a:srgbClr val="FF00FF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i="1" dirty="0"/>
              <a:t>v</a:t>
            </a:r>
            <a:r>
              <a:rPr lang="en-US" altLang="zh-CN" baseline="-25000" dirty="0"/>
              <a:t>4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baseline="-25000" dirty="0"/>
              <a:t>4</a:t>
            </a:r>
            <a:r>
              <a:rPr lang="zh-CN" altLang="en-US" dirty="0"/>
              <a:t>长度为</a:t>
            </a:r>
            <a:r>
              <a:rPr lang="en-US" altLang="zh-CN" dirty="0"/>
              <a:t>4</a:t>
            </a:r>
            <a:r>
              <a:rPr lang="zh-CN" altLang="en-US" dirty="0"/>
              <a:t>的回路数</a:t>
            </a:r>
            <a:r>
              <a:rPr lang="en-US" altLang="zh-CN" dirty="0"/>
              <a:t>:</a:t>
            </a:r>
            <a:r>
              <a:rPr lang="en-US" altLang="zh-CN" dirty="0">
                <a:solidFill>
                  <a:srgbClr val="219402"/>
                </a:solidFill>
              </a:rPr>
              <a:t> 5</a:t>
            </a:r>
            <a:endParaRPr lang="en-US" altLang="zh-CN" dirty="0">
              <a:solidFill>
                <a:srgbClr val="219402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i="1" dirty="0"/>
              <a:t>v</a:t>
            </a:r>
            <a:r>
              <a:rPr lang="en-US" altLang="zh-CN" baseline="-25000" dirty="0"/>
              <a:t>4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baseline="-25000" dirty="0"/>
              <a:t>4</a:t>
            </a:r>
            <a:r>
              <a:rPr lang="zh-CN" altLang="en-US" dirty="0"/>
              <a:t>长度≤</a:t>
            </a:r>
            <a:r>
              <a:rPr lang="en-US" altLang="zh-CN" dirty="0"/>
              <a:t>4</a:t>
            </a:r>
            <a:r>
              <a:rPr lang="zh-CN" altLang="en-US" dirty="0"/>
              <a:t>的回路数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rgbClr val="996633"/>
                </a:solidFill>
              </a:rPr>
              <a:t>11</a:t>
            </a:r>
            <a:endParaRPr lang="zh-CN" altLang="en-US" dirty="0">
              <a:solidFill>
                <a:srgbClr val="996633"/>
              </a:solidFill>
            </a:endParaRPr>
          </a:p>
        </p:txBody>
      </p:sp>
      <p:graphicFrame>
        <p:nvGraphicFramePr>
          <p:cNvPr id="35844" name="对象 34819"/>
          <p:cNvGraphicFramePr>
            <a:graphicFrameLocks noChangeAspect="1"/>
          </p:cNvGraphicFramePr>
          <p:nvPr/>
        </p:nvGraphicFramePr>
        <p:xfrm>
          <a:off x="304800" y="3644900"/>
          <a:ext cx="2322513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543050" imgH="1133475" progId="">
                  <p:embed/>
                </p:oleObj>
              </mc:Choice>
              <mc:Fallback>
                <p:oleObj name="" r:id="rId1" imgW="1543050" imgH="1133475" progId="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800" y="3644900"/>
                        <a:ext cx="2322513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对象 34820"/>
          <p:cNvGraphicFramePr>
            <a:graphicFrameLocks noChangeAspect="1"/>
          </p:cNvGraphicFramePr>
          <p:nvPr/>
        </p:nvGraphicFramePr>
        <p:xfrm>
          <a:off x="2897188" y="3644900"/>
          <a:ext cx="232251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1543050" imgH="1133475" progId="">
                  <p:embed/>
                </p:oleObj>
              </mc:Choice>
              <mc:Fallback>
                <p:oleObj name="" r:id="rId3" imgW="1543050" imgH="1133475" progId="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97188" y="3644900"/>
                        <a:ext cx="2322512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对象 34821"/>
          <p:cNvGraphicFramePr>
            <a:graphicFrameLocks noChangeAspect="1"/>
          </p:cNvGraphicFramePr>
          <p:nvPr/>
        </p:nvGraphicFramePr>
        <p:xfrm>
          <a:off x="5634038" y="3644900"/>
          <a:ext cx="232251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5" imgW="1543050" imgH="1133475" progId="">
                  <p:embed/>
                </p:oleObj>
              </mc:Choice>
              <mc:Fallback>
                <p:oleObj name="" r:id="rId5" imgW="1543050" imgH="1133475" progId="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34038" y="3644900"/>
                        <a:ext cx="2322512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对象 34824"/>
          <p:cNvGraphicFramePr>
            <a:graphicFrameLocks noChangeAspect="1"/>
          </p:cNvGraphicFramePr>
          <p:nvPr/>
        </p:nvGraphicFramePr>
        <p:xfrm>
          <a:off x="5934075" y="5449888"/>
          <a:ext cx="2027238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7" imgW="1282700" imgH="914400" progId="">
                  <p:embed/>
                </p:oleObj>
              </mc:Choice>
              <mc:Fallback>
                <p:oleObj name="" r:id="rId7" imgW="1282700" imgH="914400" progId="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34075" y="5449888"/>
                        <a:ext cx="2027238" cy="1255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0" name="Rectangle 21"/>
          <p:cNvSpPr/>
          <p:nvPr/>
        </p:nvSpPr>
        <p:spPr>
          <a:xfrm>
            <a:off x="7567613" y="4062413"/>
            <a:ext cx="288925" cy="288925"/>
          </a:xfrm>
          <a:prstGeom prst="rect">
            <a:avLst/>
          </a:prstGeom>
          <a:noFill/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51" name="Rectangle 22"/>
          <p:cNvSpPr/>
          <p:nvPr/>
        </p:nvSpPr>
        <p:spPr>
          <a:xfrm>
            <a:off x="7553325" y="5691188"/>
            <a:ext cx="288925" cy="288925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52" name="Rectangle 23"/>
          <p:cNvSpPr/>
          <p:nvPr/>
        </p:nvSpPr>
        <p:spPr>
          <a:xfrm>
            <a:off x="7567613" y="4797425"/>
            <a:ext cx="288925" cy="288925"/>
          </a:xfrm>
          <a:prstGeom prst="rect">
            <a:avLst/>
          </a:prstGeom>
          <a:noFill/>
          <a:ln w="9525" cap="flat" cmpd="sng">
            <a:solidFill>
              <a:srgbClr val="21940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53" name="Rectangle 24"/>
          <p:cNvSpPr/>
          <p:nvPr/>
        </p:nvSpPr>
        <p:spPr>
          <a:xfrm>
            <a:off x="7539038" y="6438900"/>
            <a:ext cx="288925" cy="288925"/>
          </a:xfrm>
          <a:prstGeom prst="rect">
            <a:avLst/>
          </a:prstGeom>
          <a:noFill/>
          <a:ln w="9525" cap="flat" cmpd="sng">
            <a:solidFill>
              <a:srgbClr val="9966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3801" name="对象 32785"/>
          <p:cNvGraphicFramePr>
            <a:graphicFrameLocks noChangeAspect="1"/>
          </p:cNvGraphicFramePr>
          <p:nvPr/>
        </p:nvGraphicFramePr>
        <p:xfrm>
          <a:off x="2928938" y="5286375"/>
          <a:ext cx="2265362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9" imgW="1209675" imgH="904875" progId="">
                  <p:embed/>
                </p:oleObj>
              </mc:Choice>
              <mc:Fallback>
                <p:oleObj name="" r:id="rId9" imgW="1209675" imgH="904875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28938" y="5286375"/>
                        <a:ext cx="2265362" cy="1477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对象 32784"/>
          <p:cNvGraphicFramePr>
            <a:graphicFrameLocks noChangeAspect="1"/>
          </p:cNvGraphicFramePr>
          <p:nvPr/>
        </p:nvGraphicFramePr>
        <p:xfrm>
          <a:off x="490538" y="5286375"/>
          <a:ext cx="2179637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1" imgW="1231265" imgH="914400" progId="">
                  <p:embed/>
                </p:oleObj>
              </mc:Choice>
              <mc:Fallback>
                <p:oleObj name="" r:id="rId11" imgW="1231265" imgH="914400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0538" y="5286375"/>
                        <a:ext cx="2179637" cy="140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用邻接矩阵求通路数</a:t>
            </a:r>
            <a:r>
              <a:rPr lang="en-US" altLang="zh-CN" b="0" dirty="0"/>
              <a:t>(</a:t>
            </a:r>
            <a:r>
              <a:rPr lang="zh-CN" altLang="en-US" b="0" dirty="0"/>
              <a:t>例</a:t>
            </a:r>
            <a:r>
              <a:rPr lang="en-US" altLang="zh-CN" b="0" dirty="0"/>
              <a:t>,</a:t>
            </a:r>
            <a:r>
              <a:rPr lang="zh-CN" altLang="en-US" b="0" dirty="0"/>
              <a:t>续</a:t>
            </a:r>
            <a:r>
              <a:rPr lang="en-US" altLang="zh-CN" b="0" dirty="0"/>
              <a:t>)</a:t>
            </a:r>
            <a:endParaRPr lang="zh-CN" altLang="en-US" b="0" dirty="0"/>
          </a:p>
        </p:txBody>
      </p:sp>
      <p:sp>
        <p:nvSpPr>
          <p:cNvPr id="36867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长度</a:t>
            </a:r>
            <a:r>
              <a:rPr lang="en-US" altLang="zh-CN" dirty="0"/>
              <a:t>=4</a:t>
            </a:r>
            <a:r>
              <a:rPr lang="zh-CN" altLang="en-US" dirty="0"/>
              <a:t>的通路</a:t>
            </a:r>
            <a:r>
              <a:rPr lang="en-US" altLang="zh-CN" dirty="0"/>
              <a:t>(</a:t>
            </a:r>
            <a:r>
              <a:rPr lang="zh-CN" altLang="en-US" dirty="0"/>
              <a:t>不含回路</a:t>
            </a:r>
            <a:r>
              <a:rPr lang="en-US" altLang="zh-CN" dirty="0"/>
              <a:t>)</a:t>
            </a:r>
            <a:r>
              <a:rPr lang="zh-CN" altLang="en-US" dirty="0"/>
              <a:t>数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rgbClr val="FF9900"/>
                </a:solidFill>
              </a:rPr>
              <a:t>16</a:t>
            </a:r>
            <a:endParaRPr lang="en-US" altLang="zh-CN" dirty="0">
              <a:solidFill>
                <a:srgbClr val="FF9900"/>
              </a:solidFill>
            </a:endParaRPr>
          </a:p>
          <a:p>
            <a:r>
              <a:rPr lang="zh-CN" altLang="en-US" dirty="0"/>
              <a:t>长度≤</a:t>
            </a:r>
            <a:r>
              <a:rPr lang="en-US" altLang="zh-CN" dirty="0"/>
              <a:t>4</a:t>
            </a:r>
            <a:r>
              <a:rPr lang="zh-CN" altLang="en-US" dirty="0"/>
              <a:t>的通路和回路数</a:t>
            </a:r>
            <a:r>
              <a:rPr lang="en-US" altLang="zh-CN" dirty="0"/>
              <a:t>: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53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FF"/>
                </a:solidFill>
              </a:rPr>
              <a:t>15</a:t>
            </a:r>
            <a:endParaRPr lang="zh-CN" altLang="en-US" dirty="0">
              <a:solidFill>
                <a:srgbClr val="FF00FF"/>
              </a:solidFill>
            </a:endParaRPr>
          </a:p>
        </p:txBody>
      </p:sp>
      <p:graphicFrame>
        <p:nvGraphicFramePr>
          <p:cNvPr id="36868" name="对象 35843"/>
          <p:cNvGraphicFramePr>
            <a:graphicFrameLocks noChangeAspect="1"/>
          </p:cNvGraphicFramePr>
          <p:nvPr/>
        </p:nvGraphicFramePr>
        <p:xfrm>
          <a:off x="304800" y="2855595"/>
          <a:ext cx="2322513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1543050" imgH="1133475" progId="">
                  <p:embed/>
                </p:oleObj>
              </mc:Choice>
              <mc:Fallback>
                <p:oleObj name="" r:id="rId1" imgW="1543050" imgH="1133475" progId="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800" y="2855595"/>
                        <a:ext cx="2322513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对象 35844"/>
          <p:cNvGraphicFramePr>
            <a:graphicFrameLocks noChangeAspect="1"/>
          </p:cNvGraphicFramePr>
          <p:nvPr/>
        </p:nvGraphicFramePr>
        <p:xfrm>
          <a:off x="2897188" y="2855595"/>
          <a:ext cx="232251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1543050" imgH="1133475" progId="">
                  <p:embed/>
                </p:oleObj>
              </mc:Choice>
              <mc:Fallback>
                <p:oleObj name="" r:id="rId3" imgW="1543050" imgH="1133475" progId="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97188" y="2855595"/>
                        <a:ext cx="2322512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对象 35845"/>
          <p:cNvGraphicFramePr>
            <a:graphicFrameLocks noChangeAspect="1"/>
          </p:cNvGraphicFramePr>
          <p:nvPr/>
        </p:nvGraphicFramePr>
        <p:xfrm>
          <a:off x="5634038" y="2855595"/>
          <a:ext cx="232251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5" imgW="1543050" imgH="1133475" progId="">
                  <p:embed/>
                </p:oleObj>
              </mc:Choice>
              <mc:Fallback>
                <p:oleObj name="" r:id="rId5" imgW="1543050" imgH="1133475" progId="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34038" y="2855595"/>
                        <a:ext cx="2322512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对象 35848"/>
          <p:cNvGraphicFramePr>
            <a:graphicFrameLocks noChangeAspect="1"/>
          </p:cNvGraphicFramePr>
          <p:nvPr/>
        </p:nvGraphicFramePr>
        <p:xfrm>
          <a:off x="5618163" y="4525645"/>
          <a:ext cx="2378075" cy="147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7" imgW="1282700" imgH="914400" progId="">
                  <p:embed/>
                </p:oleObj>
              </mc:Choice>
              <mc:Fallback>
                <p:oleObj name="" r:id="rId7" imgW="1282700" imgH="914400" progId="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18163" y="4525645"/>
                        <a:ext cx="2378075" cy="1474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Rectangle 15"/>
          <p:cNvSpPr/>
          <p:nvPr/>
        </p:nvSpPr>
        <p:spPr>
          <a:xfrm>
            <a:off x="6343650" y="3244533"/>
            <a:ext cx="288925" cy="2889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5" name="Rectangle 16"/>
          <p:cNvSpPr/>
          <p:nvPr/>
        </p:nvSpPr>
        <p:spPr>
          <a:xfrm>
            <a:off x="6357938" y="3617595"/>
            <a:ext cx="288925" cy="2889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6" name="Rectangle 17"/>
          <p:cNvSpPr/>
          <p:nvPr/>
        </p:nvSpPr>
        <p:spPr>
          <a:xfrm>
            <a:off x="6343650" y="3977958"/>
            <a:ext cx="288925" cy="2889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7" name="Rectangle 18"/>
          <p:cNvSpPr/>
          <p:nvPr/>
        </p:nvSpPr>
        <p:spPr>
          <a:xfrm>
            <a:off x="7164388" y="4008120"/>
            <a:ext cx="288925" cy="2889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8" name="Rectangle 19"/>
          <p:cNvSpPr/>
          <p:nvPr/>
        </p:nvSpPr>
        <p:spPr>
          <a:xfrm>
            <a:off x="6746875" y="3619183"/>
            <a:ext cx="288925" cy="2889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9" name="Rectangle 20"/>
          <p:cNvSpPr/>
          <p:nvPr/>
        </p:nvSpPr>
        <p:spPr>
          <a:xfrm>
            <a:off x="6746875" y="3992245"/>
            <a:ext cx="288925" cy="2889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0" name="Rectangle 21"/>
          <p:cNvSpPr/>
          <p:nvPr/>
        </p:nvSpPr>
        <p:spPr>
          <a:xfrm rot="-5400000">
            <a:off x="7135813" y="2869883"/>
            <a:ext cx="288925" cy="2889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1" name="Rectangle 22"/>
          <p:cNvSpPr/>
          <p:nvPr/>
        </p:nvSpPr>
        <p:spPr>
          <a:xfrm rot="-5400000">
            <a:off x="7164388" y="3258820"/>
            <a:ext cx="288925" cy="2889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2" name="Rectangle 23"/>
          <p:cNvSpPr/>
          <p:nvPr/>
        </p:nvSpPr>
        <p:spPr>
          <a:xfrm rot="-5400000">
            <a:off x="7567613" y="2869883"/>
            <a:ext cx="288925" cy="2889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3" name="Rectangle 24"/>
          <p:cNvSpPr/>
          <p:nvPr/>
        </p:nvSpPr>
        <p:spPr>
          <a:xfrm rot="-5400000">
            <a:off x="7553325" y="3619183"/>
            <a:ext cx="288925" cy="2889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4" name="Rectangle 25"/>
          <p:cNvSpPr/>
          <p:nvPr/>
        </p:nvSpPr>
        <p:spPr>
          <a:xfrm rot="-5400000">
            <a:off x="7553325" y="3273108"/>
            <a:ext cx="288925" cy="2889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5" name="Rectangle 26"/>
          <p:cNvSpPr/>
          <p:nvPr/>
        </p:nvSpPr>
        <p:spPr>
          <a:xfrm rot="-5400000">
            <a:off x="6746875" y="2898458"/>
            <a:ext cx="288925" cy="2889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6" name="Rectangle 27"/>
          <p:cNvSpPr/>
          <p:nvPr/>
        </p:nvSpPr>
        <p:spPr>
          <a:xfrm>
            <a:off x="6300788" y="4525645"/>
            <a:ext cx="1541462" cy="13938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7" name="Rectangle 28"/>
          <p:cNvSpPr/>
          <p:nvPr/>
        </p:nvSpPr>
        <p:spPr>
          <a:xfrm>
            <a:off x="6272213" y="4525645"/>
            <a:ext cx="287337" cy="287338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8" name="Rectangle 29"/>
          <p:cNvSpPr/>
          <p:nvPr/>
        </p:nvSpPr>
        <p:spPr>
          <a:xfrm>
            <a:off x="6689725" y="4901883"/>
            <a:ext cx="287338" cy="287337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89" name="Rectangle 30"/>
          <p:cNvSpPr/>
          <p:nvPr/>
        </p:nvSpPr>
        <p:spPr>
          <a:xfrm>
            <a:off x="7092950" y="5303520"/>
            <a:ext cx="287338" cy="287338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90" name="Rectangle 31"/>
          <p:cNvSpPr/>
          <p:nvPr/>
        </p:nvSpPr>
        <p:spPr>
          <a:xfrm>
            <a:off x="7524750" y="5635308"/>
            <a:ext cx="288925" cy="288925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3800" name="对象 32784"/>
          <p:cNvGraphicFramePr>
            <a:graphicFrameLocks noChangeAspect="1"/>
          </p:cNvGraphicFramePr>
          <p:nvPr/>
        </p:nvGraphicFramePr>
        <p:xfrm>
          <a:off x="490538" y="4497070"/>
          <a:ext cx="2179637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9" imgW="1231265" imgH="914400" progId="">
                  <p:embed/>
                </p:oleObj>
              </mc:Choice>
              <mc:Fallback>
                <p:oleObj name="" r:id="rId9" imgW="1231265" imgH="914400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0538" y="4497070"/>
                        <a:ext cx="2179637" cy="140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对象 32785"/>
          <p:cNvGraphicFramePr>
            <a:graphicFrameLocks noChangeAspect="1"/>
          </p:cNvGraphicFramePr>
          <p:nvPr/>
        </p:nvGraphicFramePr>
        <p:xfrm>
          <a:off x="2928938" y="4497070"/>
          <a:ext cx="2265362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1" imgW="1209675" imgH="904875" progId="">
                  <p:embed/>
                </p:oleObj>
              </mc:Choice>
              <mc:Fallback>
                <p:oleObj name="" r:id="rId11" imgW="1209675" imgH="904875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28938" y="4497070"/>
                        <a:ext cx="2265362" cy="1477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可达矩阵</a:t>
            </a:r>
            <a:endParaRPr lang="zh-CN" altLang="en-US" dirty="0"/>
          </a:p>
        </p:txBody>
      </p:sp>
      <p:sp>
        <p:nvSpPr>
          <p:cNvPr id="37891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23850" y="1412875"/>
            <a:ext cx="8037513" cy="2087563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folHlink"/>
              </a:buClr>
              <a:buSzPct val="75000"/>
              <a:buFont typeface="Wingdings" panose="05000000000000000000" pitchFamily="2" charset="2"/>
              <a:defRPr sz="2400"/>
            </a:lvl1pPr>
            <a:lvl2pPr lvl="1">
              <a:buClr>
                <a:schemeClr val="hlink"/>
              </a:buClr>
              <a:buSzPct val="75000"/>
              <a:buFont typeface="Wingdings" panose="05000000000000000000" pitchFamily="2" charset="2"/>
              <a:defRPr sz="20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lvl="0">
              <a:spcBef>
                <a:spcPct val="20000"/>
              </a:spcBef>
            </a:pPr>
            <a:r>
              <a:rPr lang="en-US" altLang="zh-CN" sz="2800" i="1" dirty="0"/>
              <a:t>D</a:t>
            </a:r>
            <a:r>
              <a:rPr lang="en-US" altLang="zh-CN" sz="2800" dirty="0"/>
              <a:t>=&lt;</a:t>
            </a:r>
            <a:r>
              <a:rPr lang="en-US" altLang="zh-CN" sz="2800" i="1" dirty="0"/>
              <a:t>V</a:t>
            </a:r>
            <a:r>
              <a:rPr lang="en-US" altLang="zh-CN" sz="2800" dirty="0"/>
              <a:t>,</a:t>
            </a:r>
            <a:r>
              <a:rPr lang="en-US" altLang="zh-CN" sz="2800" i="1" dirty="0"/>
              <a:t>E</a:t>
            </a:r>
            <a:r>
              <a:rPr lang="en-US" altLang="zh-CN" sz="2800" dirty="0"/>
              <a:t>&gt;</a:t>
            </a:r>
            <a:r>
              <a:rPr lang="zh-CN" altLang="en-US" sz="2800" dirty="0"/>
              <a:t>是有向图</a:t>
            </a:r>
            <a:r>
              <a:rPr lang="en-US" altLang="zh-CN" sz="2800" dirty="0"/>
              <a:t>, V={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i="1" dirty="0"/>
              <a:t>v</a:t>
            </a:r>
            <a:r>
              <a:rPr lang="en-US" altLang="zh-CN" sz="2800" i="1" baseline="-25000" dirty="0"/>
              <a:t>n</a:t>
            </a:r>
            <a:r>
              <a:rPr lang="en-US" altLang="zh-CN" sz="2800" dirty="0"/>
              <a:t>}, </a:t>
            </a:r>
            <a:endParaRPr lang="en-US" altLang="zh-CN" sz="2800" dirty="0"/>
          </a:p>
          <a:p>
            <a:pPr lvl="0">
              <a:spcBef>
                <a:spcPct val="20000"/>
              </a:spcBef>
            </a:pPr>
            <a:r>
              <a:rPr lang="zh-CN" altLang="en-US" sz="2800" dirty="0"/>
              <a:t>可达矩阵</a:t>
            </a:r>
            <a:r>
              <a:rPr lang="en-US" altLang="zh-CN" sz="2800" dirty="0"/>
              <a:t>: P(D)=[</a:t>
            </a:r>
            <a:r>
              <a:rPr lang="en-US" altLang="zh-CN" sz="2800" i="1" dirty="0"/>
              <a:t>p</a:t>
            </a:r>
            <a:r>
              <a:rPr lang="en-US" altLang="zh-CN" sz="2800" i="1" baseline="-25000" dirty="0"/>
              <a:t>ij</a:t>
            </a:r>
            <a:r>
              <a:rPr lang="en-US" altLang="zh-CN" sz="2800" dirty="0"/>
              <a:t>]</a:t>
            </a:r>
            <a:r>
              <a:rPr lang="en-US" altLang="zh-CN" sz="2800" i="1" baseline="-25000" dirty="0"/>
              <a:t>n</a:t>
            </a:r>
            <a:r>
              <a:rPr lang="en-US" altLang="zh-CN" sz="2800" baseline="-25000" dirty="0">
                <a:sym typeface="Symbol" panose="05050102010706020507" pitchFamily="18" charset="2"/>
              </a:rPr>
              <a:t></a:t>
            </a:r>
            <a:r>
              <a:rPr lang="en-US" altLang="zh-CN" sz="2800" i="1" baseline="-25000" dirty="0">
                <a:sym typeface="Symbol" panose="05050102010706020507" pitchFamily="18" charset="2"/>
              </a:rPr>
              <a:t>n</a:t>
            </a:r>
            <a:endParaRPr lang="en-US" altLang="zh-CN" sz="2800" i="1" dirty="0">
              <a:sym typeface="Symbol" panose="05050102010706020507" pitchFamily="18" charset="2"/>
            </a:endParaRPr>
          </a:p>
        </p:txBody>
      </p:sp>
      <p:graphicFrame>
        <p:nvGraphicFramePr>
          <p:cNvPr id="37892" name="内容占位符 3686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963738" y="2724150"/>
          <a:ext cx="3921125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1968500" imgH="635000" progId="">
                  <p:embed/>
                </p:oleObj>
              </mc:Choice>
              <mc:Fallback>
                <p:oleObj name="" r:id="rId1" imgW="1968500" imgH="635000" progId="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963738" y="2724150"/>
                        <a:ext cx="3921125" cy="12652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可达矩阵</a:t>
            </a:r>
            <a:r>
              <a:rPr lang="en-US" altLang="zh-CN" b="0" dirty="0"/>
              <a:t>(</a:t>
            </a:r>
            <a:r>
              <a:rPr lang="zh-CN" altLang="en-US" b="0" dirty="0"/>
              <a:t>性质</a:t>
            </a:r>
            <a:r>
              <a:rPr lang="en-US" altLang="zh-CN" b="0" dirty="0"/>
              <a:t>)</a:t>
            </a:r>
            <a:endParaRPr lang="zh-CN" altLang="en-US" b="0" dirty="0"/>
          </a:p>
        </p:txBody>
      </p:sp>
      <p:sp>
        <p:nvSpPr>
          <p:cNvPr id="37891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主对角线元素都是</a:t>
            </a:r>
            <a:r>
              <a:rPr lang="en-US" altLang="zh-CN" dirty="0"/>
              <a:t>1: ∀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∈V, </a:t>
            </a:r>
            <a:r>
              <a:rPr lang="zh-CN" altLang="en-US" dirty="0"/>
              <a:t>从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zh-CN" altLang="en-US" dirty="0"/>
              <a:t>可达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endParaRPr lang="en-US" altLang="zh-CN" dirty="0"/>
          </a:p>
          <a:p>
            <a:r>
              <a:rPr lang="zh-CN" altLang="en-US" dirty="0"/>
              <a:t>强连通图</a:t>
            </a:r>
            <a:r>
              <a:rPr lang="en-US" altLang="zh-CN" dirty="0"/>
              <a:t>: </a:t>
            </a:r>
            <a:r>
              <a:rPr lang="zh-CN" altLang="en-US" dirty="0"/>
              <a:t>所有元素都是</a:t>
            </a:r>
            <a:r>
              <a:rPr lang="en-US" altLang="zh-CN" dirty="0"/>
              <a:t>1</a:t>
            </a:r>
            <a:endParaRPr lang="en-US" altLang="zh-CN" dirty="0"/>
          </a:p>
          <a:p>
            <a:r>
              <a:rPr lang="zh-CN" altLang="en-US" dirty="0"/>
              <a:t>伪对角阵</a:t>
            </a:r>
            <a:r>
              <a:rPr lang="en-US" altLang="zh-CN" dirty="0"/>
              <a:t>: </a:t>
            </a:r>
            <a:r>
              <a:rPr lang="zh-CN" altLang="en-US" dirty="0"/>
              <a:t>对角块是连通分支的可达矩阵</a:t>
            </a:r>
            <a:endParaRPr lang="zh-CN" altLang="en-US" dirty="0"/>
          </a:p>
          <a:p>
            <a:r>
              <a:rPr lang="zh-CN" altLang="en-US" dirty="0"/>
              <a:t> ∀</a:t>
            </a:r>
            <a:r>
              <a:rPr lang="en-US" altLang="zh-CN" i="1" dirty="0"/>
              <a:t>i</a:t>
            </a:r>
            <a:r>
              <a:rPr lang="en-US" altLang="zh-CN" dirty="0"/>
              <a:t>≠</a:t>
            </a:r>
            <a:r>
              <a:rPr lang="en-US" altLang="zh-CN" i="1" dirty="0"/>
              <a:t>j</a:t>
            </a:r>
            <a:r>
              <a:rPr lang="en-US" altLang="zh-CN" dirty="0"/>
              <a:t>, </a:t>
            </a:r>
            <a:r>
              <a:rPr lang="en-US" altLang="zh-CN" sz="3200" i="1" dirty="0"/>
              <a:t>p</a:t>
            </a:r>
            <a:r>
              <a:rPr lang="en-US" altLang="zh-CN" sz="3200" i="1" baseline="-25000" dirty="0"/>
              <a:t>ij</a:t>
            </a:r>
            <a:r>
              <a:rPr lang="en-US" altLang="zh-CN" dirty="0"/>
              <a:t>=1 ⇔ </a:t>
            </a:r>
            <a:r>
              <a:rPr lang="en-US" altLang="zh-CN" i="1" dirty="0"/>
              <a:t>b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-1)</a:t>
            </a:r>
            <a:r>
              <a:rPr lang="en-US" altLang="zh-CN" i="1" baseline="-25000" dirty="0"/>
              <a:t>ij</a:t>
            </a:r>
            <a:r>
              <a:rPr lang="en-US" altLang="zh-CN" baseline="-25000" dirty="0"/>
              <a:t> </a:t>
            </a:r>
            <a:r>
              <a:rPr lang="en-US" altLang="zh-CN" dirty="0"/>
              <a:t>&gt; 0</a:t>
            </a:r>
            <a:endParaRPr lang="zh-CN" altLang="en-US" dirty="0"/>
          </a:p>
        </p:txBody>
      </p:sp>
      <p:graphicFrame>
        <p:nvGraphicFramePr>
          <p:cNvPr id="38916" name="对象 37891"/>
          <p:cNvGraphicFramePr>
            <a:graphicFrameLocks noChangeAspect="1"/>
          </p:cNvGraphicFramePr>
          <p:nvPr/>
        </p:nvGraphicFramePr>
        <p:xfrm>
          <a:off x="1301750" y="4005263"/>
          <a:ext cx="3994150" cy="163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2997200" imgH="1143000" progId="">
                  <p:embed/>
                </p:oleObj>
              </mc:Choice>
              <mc:Fallback>
                <p:oleObj name="" r:id="rId1" imgW="2997200" imgH="1143000" progId="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01750" y="4005263"/>
                        <a:ext cx="3994150" cy="1633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60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计算可达矩阵的方法</a:t>
            </a:r>
            <a:endParaRPr lang="zh-CN" altLang="en-US" dirty="0"/>
          </a:p>
        </p:txBody>
      </p:sp>
      <p:sp>
        <p:nvSpPr>
          <p:cNvPr id="39939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pPr>
              <a:spcBef>
                <a:spcPct val="20000"/>
              </a:spcBef>
            </a:pPr>
            <a:r>
              <a:rPr lang="zh-CN" altLang="en-US" dirty="0"/>
              <a:t>由邻接矩阵</a:t>
            </a:r>
            <a:r>
              <a:rPr lang="en-US" altLang="zh-CN" i="1" dirty="0"/>
              <a:t>A</a:t>
            </a:r>
            <a:r>
              <a:rPr lang="zh-CN" altLang="en-US" dirty="0"/>
              <a:t>可直接得到可达性矩阵</a:t>
            </a:r>
            <a:r>
              <a:rPr lang="en-US" altLang="zh-CN" dirty="0"/>
              <a:t>P</a:t>
            </a:r>
            <a:r>
              <a:rPr lang="zh-CN" altLang="en-US" dirty="0"/>
              <a:t>，方法如下：</a:t>
            </a:r>
            <a:endParaRPr lang="zh-CN" altLang="en-US" dirty="0"/>
          </a:p>
          <a:p>
            <a:pPr>
              <a:spcBef>
                <a:spcPct val="20000"/>
              </a:spcBef>
              <a:buSzTx/>
              <a:buNone/>
            </a:pPr>
            <a:r>
              <a:rPr lang="zh-CN" altLang="en-US" dirty="0">
                <a:solidFill>
                  <a:srgbClr val="FF0000"/>
                </a:solidFill>
              </a:rPr>
              <a:t>    方法： 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-1</a:t>
            </a:r>
            <a:r>
              <a:rPr lang="en-US" altLang="zh-CN" dirty="0"/>
              <a:t>=</a:t>
            </a:r>
            <a:r>
              <a:rPr lang="en-US" altLang="zh-CN" i="1" dirty="0"/>
              <a:t>A</a:t>
            </a:r>
            <a:r>
              <a:rPr lang="en-US" altLang="zh-CN" dirty="0"/>
              <a:t>+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2</a:t>
            </a:r>
            <a:r>
              <a:rPr lang="en-US" altLang="zh-CN" dirty="0"/>
              <a:t>+…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-1</a:t>
            </a:r>
            <a:r>
              <a:rPr lang="zh-CN" altLang="en-US" dirty="0"/>
              <a:t>，</a:t>
            </a:r>
            <a:endParaRPr lang="zh-CN" altLang="en-US" dirty="0"/>
          </a:p>
          <a:p>
            <a:pPr>
              <a:spcBef>
                <a:spcPct val="20000"/>
              </a:spcBef>
              <a:buSzTx/>
              <a:buNone/>
            </a:pPr>
            <a:r>
              <a:rPr lang="zh-CN" altLang="en-US" dirty="0"/>
              <a:t>  再把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-1</a:t>
            </a:r>
            <a:r>
              <a:rPr lang="zh-CN" altLang="en-US" dirty="0"/>
              <a:t>中的非零元均改为</a:t>
            </a:r>
            <a:r>
              <a:rPr lang="en-US" altLang="zh-CN" dirty="0"/>
              <a:t>1</a:t>
            </a:r>
            <a:r>
              <a:rPr lang="zh-CN" altLang="en-US" dirty="0"/>
              <a:t>，零元保持不变，将主对角线上的元素改为</a:t>
            </a:r>
            <a:r>
              <a:rPr lang="en-US" altLang="zh-CN" dirty="0"/>
              <a:t>1</a:t>
            </a:r>
            <a:r>
              <a:rPr lang="zh-CN" altLang="en-US" dirty="0"/>
              <a:t>，得到可达性矩阵</a:t>
            </a:r>
            <a:r>
              <a:rPr lang="en-US" altLang="zh-CN" i="1" dirty="0"/>
              <a:t>P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spcBef>
                <a:spcPct val="20000"/>
              </a:spcBef>
              <a:buSzTx/>
              <a:buNone/>
            </a:pPr>
            <a:r>
              <a:rPr lang="zh-CN" altLang="en-US" dirty="0"/>
              <a:t>    </a:t>
            </a:r>
            <a:endParaRPr lang="zh-CN" altLang="en-US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可达矩阵</a:t>
            </a:r>
            <a:r>
              <a:rPr lang="en-US" altLang="zh-CN" b="0" dirty="0"/>
              <a:t>(</a:t>
            </a:r>
            <a:r>
              <a:rPr lang="zh-CN" altLang="en-US" b="0" dirty="0"/>
              <a:t>例</a:t>
            </a:r>
            <a:r>
              <a:rPr lang="en-US" altLang="zh-CN" b="0" dirty="0"/>
              <a:t>)</a:t>
            </a:r>
            <a:endParaRPr lang="zh-CN" altLang="en-US" b="0" dirty="0"/>
          </a:p>
        </p:txBody>
      </p:sp>
      <p:pic>
        <p:nvPicPr>
          <p:cNvPr id="39939" name="Picture 4" descr="图7-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5288" y="1206500"/>
            <a:ext cx="2390775" cy="24384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0964" name="Group 5"/>
          <p:cNvGrpSpPr/>
          <p:nvPr/>
        </p:nvGrpSpPr>
        <p:grpSpPr>
          <a:xfrm>
            <a:off x="2916238" y="1268413"/>
            <a:ext cx="3384550" cy="2165350"/>
            <a:chOff x="0" y="0"/>
            <a:chExt cx="2450" cy="1567"/>
          </a:xfrm>
        </p:grpSpPr>
        <p:graphicFrame>
          <p:nvGraphicFramePr>
            <p:cNvPr id="40972" name="对象 39940"/>
            <p:cNvGraphicFramePr>
              <a:graphicFrameLocks noChangeAspect="1"/>
            </p:cNvGraphicFramePr>
            <p:nvPr/>
          </p:nvGraphicFramePr>
          <p:xfrm>
            <a:off x="0" y="272"/>
            <a:ext cx="2450" cy="1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2" imgW="1866900" imgH="1133475" progId="">
                    <p:embed/>
                  </p:oleObj>
                </mc:Choice>
                <mc:Fallback>
                  <p:oleObj name="" r:id="rId2" imgW="1866900" imgH="1133475" progId="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272"/>
                          <a:ext cx="2450" cy="1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3" name="Text Box 7"/>
            <p:cNvSpPr txBox="1"/>
            <p:nvPr/>
          </p:nvSpPr>
          <p:spPr>
            <a:xfrm>
              <a:off x="1071" y="0"/>
              <a:ext cx="305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0974" name="Text Box 8"/>
            <p:cNvSpPr txBox="1"/>
            <p:nvPr/>
          </p:nvSpPr>
          <p:spPr>
            <a:xfrm>
              <a:off x="1367" y="0"/>
              <a:ext cx="305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0975" name="Text Box 9"/>
            <p:cNvSpPr txBox="1"/>
            <p:nvPr/>
          </p:nvSpPr>
          <p:spPr>
            <a:xfrm>
              <a:off x="1731" y="0"/>
              <a:ext cx="304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0976" name="Text Box 10"/>
            <p:cNvSpPr txBox="1"/>
            <p:nvPr/>
          </p:nvSpPr>
          <p:spPr>
            <a:xfrm>
              <a:off x="2094" y="0"/>
              <a:ext cx="304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0977" name="Text Box 11"/>
            <p:cNvSpPr txBox="1"/>
            <p:nvPr/>
          </p:nvSpPr>
          <p:spPr>
            <a:xfrm>
              <a:off x="779" y="227"/>
              <a:ext cx="305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0978" name="Text Box 12"/>
            <p:cNvSpPr txBox="1"/>
            <p:nvPr/>
          </p:nvSpPr>
          <p:spPr>
            <a:xfrm>
              <a:off x="778" y="545"/>
              <a:ext cx="30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0979" name="Text Box 13"/>
            <p:cNvSpPr txBox="1"/>
            <p:nvPr/>
          </p:nvSpPr>
          <p:spPr>
            <a:xfrm>
              <a:off x="778" y="891"/>
              <a:ext cx="305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0980" name="Text Box 14"/>
            <p:cNvSpPr txBox="1"/>
            <p:nvPr/>
          </p:nvSpPr>
          <p:spPr>
            <a:xfrm>
              <a:off x="778" y="1180"/>
              <a:ext cx="305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0965" name="对象 39949"/>
          <p:cNvGraphicFramePr>
            <a:graphicFrameLocks noChangeAspect="1"/>
          </p:cNvGraphicFramePr>
          <p:nvPr/>
        </p:nvGraphicFramePr>
        <p:xfrm>
          <a:off x="304800" y="3644900"/>
          <a:ext cx="2322513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4" imgW="1543050" imgH="1133475" progId="">
                  <p:embed/>
                </p:oleObj>
              </mc:Choice>
              <mc:Fallback>
                <p:oleObj name="" r:id="rId4" imgW="1543050" imgH="1133475" progId="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800" y="3644900"/>
                        <a:ext cx="2322513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对象 39950"/>
          <p:cNvGraphicFramePr>
            <a:graphicFrameLocks noChangeAspect="1"/>
          </p:cNvGraphicFramePr>
          <p:nvPr/>
        </p:nvGraphicFramePr>
        <p:xfrm>
          <a:off x="2897188" y="3644900"/>
          <a:ext cx="232251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6" imgW="1543050" imgH="1133475" progId="">
                  <p:embed/>
                </p:oleObj>
              </mc:Choice>
              <mc:Fallback>
                <p:oleObj name="" r:id="rId6" imgW="1543050" imgH="1133475" progId="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97188" y="3644900"/>
                        <a:ext cx="2322512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对象 39951"/>
          <p:cNvGraphicFramePr>
            <a:graphicFrameLocks noChangeAspect="1"/>
          </p:cNvGraphicFramePr>
          <p:nvPr/>
        </p:nvGraphicFramePr>
        <p:xfrm>
          <a:off x="5634038" y="3644900"/>
          <a:ext cx="232251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8" imgW="1543050" imgH="1133475" progId="">
                  <p:embed/>
                </p:oleObj>
              </mc:Choice>
              <mc:Fallback>
                <p:oleObj name="" r:id="rId8" imgW="1543050" imgH="1133475" progId="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34038" y="3644900"/>
                        <a:ext cx="2322512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对象 39952"/>
          <p:cNvGraphicFramePr>
            <a:graphicFrameLocks noChangeAspect="1"/>
          </p:cNvGraphicFramePr>
          <p:nvPr/>
        </p:nvGraphicFramePr>
        <p:xfrm>
          <a:off x="250825" y="5300663"/>
          <a:ext cx="2322513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0" imgW="1543050" imgH="1133475" progId="">
                  <p:embed/>
                </p:oleObj>
              </mc:Choice>
              <mc:Fallback>
                <p:oleObj name="" r:id="rId10" imgW="1543050" imgH="1133475" progId="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0825" y="5300663"/>
                        <a:ext cx="2322513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对象 39953"/>
          <p:cNvGraphicFramePr>
            <a:graphicFrameLocks noChangeAspect="1"/>
          </p:cNvGraphicFramePr>
          <p:nvPr/>
        </p:nvGraphicFramePr>
        <p:xfrm>
          <a:off x="3163888" y="5449888"/>
          <a:ext cx="1957387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2" imgW="1219200" imgH="914400" progId="">
                  <p:embed/>
                </p:oleObj>
              </mc:Choice>
              <mc:Fallback>
                <p:oleObj name="" r:id="rId12" imgW="1219200" imgH="914400" progId="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163888" y="5449888"/>
                        <a:ext cx="1957387" cy="1276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对象 39954"/>
          <p:cNvGraphicFramePr>
            <a:graphicFrameLocks noChangeAspect="1"/>
          </p:cNvGraphicFramePr>
          <p:nvPr/>
        </p:nvGraphicFramePr>
        <p:xfrm>
          <a:off x="5578475" y="5300663"/>
          <a:ext cx="2435225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4" imgW="1619250" imgH="1133475" progId="">
                  <p:embed/>
                </p:oleObj>
              </mc:Choice>
              <mc:Fallback>
                <p:oleObj name="" r:id="rId14" imgW="1619250" imgH="1133475" progId="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78475" y="5300663"/>
                        <a:ext cx="2435225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对象 39955"/>
          <p:cNvGraphicFramePr>
            <a:graphicFrameLocks noChangeAspect="1"/>
          </p:cNvGraphicFramePr>
          <p:nvPr/>
        </p:nvGraphicFramePr>
        <p:xfrm>
          <a:off x="6515100" y="1628775"/>
          <a:ext cx="2449513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6" imgW="1400175" imgH="1133475" progId="">
                  <p:embed/>
                </p:oleObj>
              </mc:Choice>
              <mc:Fallback>
                <p:oleObj name="" r:id="rId16" imgW="1400175" imgH="1133475" progId="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FF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15100" y="1628775"/>
                        <a:ext cx="2449513" cy="172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无向图相邻矩阵</a:t>
            </a:r>
            <a:endParaRPr lang="zh-CN" altLang="en-US" b="0" dirty="0"/>
          </a:p>
        </p:txBody>
      </p:sp>
      <p:sp>
        <p:nvSpPr>
          <p:cNvPr id="41987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设</a:t>
            </a:r>
            <a:r>
              <a:rPr lang="en-US" altLang="zh-CN" dirty="0"/>
              <a:t>G=&lt;V,E&gt;</a:t>
            </a:r>
            <a:r>
              <a:rPr lang="zh-CN" altLang="en-US" dirty="0"/>
              <a:t>是无向</a:t>
            </a:r>
            <a:r>
              <a:rPr lang="zh-CN" altLang="en-US" dirty="0">
                <a:solidFill>
                  <a:srgbClr val="FF0000"/>
                </a:solidFill>
              </a:rPr>
              <a:t>简单图</a:t>
            </a:r>
            <a:r>
              <a:rPr lang="en-US" altLang="zh-CN" dirty="0"/>
              <a:t>, </a:t>
            </a:r>
            <a:r>
              <a:rPr lang="en-US" altLang="zh-CN" sz="3200" dirty="0"/>
              <a:t>V={</a:t>
            </a:r>
            <a:r>
              <a:rPr lang="en-US" altLang="zh-CN" sz="3200" i="1" dirty="0"/>
              <a:t>v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, </a:t>
            </a:r>
            <a:r>
              <a:rPr lang="en-US" altLang="zh-CN" sz="3200" i="1" dirty="0"/>
              <a:t>v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,…,</a:t>
            </a:r>
            <a:r>
              <a:rPr lang="en-US" altLang="zh-CN" sz="3200" i="1" dirty="0"/>
              <a:t>v</a:t>
            </a:r>
            <a:r>
              <a:rPr lang="en-US" altLang="zh-CN" sz="3200" i="1" baseline="-25000" dirty="0"/>
              <a:t>n</a:t>
            </a:r>
            <a:r>
              <a:rPr lang="en-US" altLang="zh-CN" sz="3200" dirty="0"/>
              <a:t>}</a:t>
            </a:r>
            <a:endParaRPr lang="en-US" altLang="zh-CN" dirty="0"/>
          </a:p>
          <a:p>
            <a:r>
              <a:rPr lang="zh-CN" altLang="en-US" dirty="0"/>
              <a:t>相邻矩阵</a:t>
            </a:r>
            <a:r>
              <a:rPr lang="en-US" altLang="zh-CN" dirty="0"/>
              <a:t>(adjacency matrix):A(G)=</a:t>
            </a:r>
            <a:r>
              <a:rPr lang="en-US" altLang="zh-CN" sz="3200" dirty="0"/>
              <a:t>[</a:t>
            </a:r>
            <a:r>
              <a:rPr lang="en-US" altLang="zh-CN" sz="3200" i="1" dirty="0"/>
              <a:t>a</a:t>
            </a:r>
            <a:r>
              <a:rPr lang="en-US" altLang="zh-CN" sz="3200" i="1" baseline="-25000" dirty="0"/>
              <a:t>ij</a:t>
            </a:r>
            <a:r>
              <a:rPr lang="en-US" altLang="zh-CN" sz="3200" dirty="0"/>
              <a:t>]</a:t>
            </a:r>
            <a:r>
              <a:rPr lang="en-US" altLang="zh-CN" sz="3200" baseline="-25000" dirty="0"/>
              <a:t>n</a:t>
            </a:r>
            <a:r>
              <a:rPr lang="en-US" altLang="zh-CN" sz="3200" baseline="-25000" dirty="0">
                <a:sym typeface="Symbol" panose="05050102010706020507" pitchFamily="18" charset="2"/>
              </a:rPr>
              <a:t>n</a:t>
            </a:r>
            <a:endParaRPr lang="zh-CN" altLang="en-US" sz="3200" baseline="-25000" dirty="0">
              <a:sym typeface="Symbol" panose="05050102010706020507" pitchFamily="18" charset="2"/>
            </a:endParaRPr>
          </a:p>
        </p:txBody>
      </p:sp>
      <p:graphicFrame>
        <p:nvGraphicFramePr>
          <p:cNvPr id="41988" name="对象 40963"/>
          <p:cNvGraphicFramePr>
            <a:graphicFrameLocks noChangeAspect="1"/>
          </p:cNvGraphicFramePr>
          <p:nvPr/>
        </p:nvGraphicFramePr>
        <p:xfrm>
          <a:off x="2038350" y="2724150"/>
          <a:ext cx="3770313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1892300" imgH="635000" progId="">
                  <p:embed/>
                </p:oleObj>
              </mc:Choice>
              <mc:Fallback>
                <p:oleObj name="" r:id="rId1" imgW="1892300" imgH="635000" progId="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38350" y="2724150"/>
                        <a:ext cx="3770313" cy="1265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89" name="Group 19"/>
          <p:cNvGrpSpPr/>
          <p:nvPr/>
        </p:nvGrpSpPr>
        <p:grpSpPr>
          <a:xfrm>
            <a:off x="539750" y="4117975"/>
            <a:ext cx="3198813" cy="2135188"/>
            <a:chOff x="0" y="0"/>
            <a:chExt cx="2015" cy="1345"/>
          </a:xfrm>
        </p:grpSpPr>
        <p:sp>
          <p:nvSpPr>
            <p:cNvPr id="42000" name="Oval 7"/>
            <p:cNvSpPr/>
            <p:nvPr/>
          </p:nvSpPr>
          <p:spPr>
            <a:xfrm>
              <a:off x="272" y="15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1" name="Line 8"/>
            <p:cNvSpPr/>
            <p:nvPr/>
          </p:nvSpPr>
          <p:spPr>
            <a:xfrm>
              <a:off x="408" y="201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2" name="Oval 9"/>
            <p:cNvSpPr/>
            <p:nvPr/>
          </p:nvSpPr>
          <p:spPr>
            <a:xfrm>
              <a:off x="1633" y="15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3" name="Line 10"/>
            <p:cNvSpPr/>
            <p:nvPr/>
          </p:nvSpPr>
          <p:spPr>
            <a:xfrm>
              <a:off x="317" y="292"/>
              <a:ext cx="0" cy="7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4" name="Oval 11"/>
            <p:cNvSpPr/>
            <p:nvPr/>
          </p:nvSpPr>
          <p:spPr>
            <a:xfrm>
              <a:off x="272" y="1063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5" name="Oval 12"/>
            <p:cNvSpPr/>
            <p:nvPr/>
          </p:nvSpPr>
          <p:spPr>
            <a:xfrm>
              <a:off x="1633" y="1063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6" name="Line 13"/>
            <p:cNvSpPr/>
            <p:nvPr/>
          </p:nvSpPr>
          <p:spPr>
            <a:xfrm>
              <a:off x="408" y="1154"/>
              <a:ext cx="12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7" name="Line 14"/>
            <p:cNvSpPr/>
            <p:nvPr/>
          </p:nvSpPr>
          <p:spPr>
            <a:xfrm flipV="1">
              <a:off x="363" y="246"/>
              <a:ext cx="1315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8" name="Text Box 15"/>
            <p:cNvSpPr txBox="1"/>
            <p:nvPr/>
          </p:nvSpPr>
          <p:spPr>
            <a:xfrm>
              <a:off x="45" y="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2009" name="Text Box 16"/>
            <p:cNvSpPr txBox="1"/>
            <p:nvPr/>
          </p:nvSpPr>
          <p:spPr>
            <a:xfrm>
              <a:off x="0" y="94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2010" name="Text Box 17"/>
            <p:cNvSpPr txBox="1"/>
            <p:nvPr/>
          </p:nvSpPr>
          <p:spPr>
            <a:xfrm>
              <a:off x="1724" y="1018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2011" name="Text Box 18"/>
            <p:cNvSpPr txBox="1"/>
            <p:nvPr/>
          </p:nvSpPr>
          <p:spPr>
            <a:xfrm>
              <a:off x="1587" y="201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4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41990" name="Group 20"/>
          <p:cNvGrpSpPr/>
          <p:nvPr/>
        </p:nvGrpSpPr>
        <p:grpSpPr>
          <a:xfrm>
            <a:off x="4956175" y="3979863"/>
            <a:ext cx="2928938" cy="2046287"/>
            <a:chOff x="0" y="0"/>
            <a:chExt cx="1953" cy="1365"/>
          </a:xfrm>
        </p:grpSpPr>
        <p:graphicFrame>
          <p:nvGraphicFramePr>
            <p:cNvPr id="41991" name="对象 40978"/>
            <p:cNvGraphicFramePr>
              <a:graphicFrameLocks noChangeAspect="1"/>
            </p:cNvGraphicFramePr>
            <p:nvPr/>
          </p:nvGraphicFramePr>
          <p:xfrm>
            <a:off x="0" y="315"/>
            <a:ext cx="1953" cy="1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3" imgW="1485900" imgH="914400" progId="">
                    <p:embed/>
                  </p:oleObj>
                </mc:Choice>
                <mc:Fallback>
                  <p:oleObj name="" r:id="rId3" imgW="1485900" imgH="914400" progId="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315"/>
                          <a:ext cx="1953" cy="10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2" name="Text Box 22"/>
            <p:cNvSpPr txBox="1"/>
            <p:nvPr/>
          </p:nvSpPr>
          <p:spPr>
            <a:xfrm>
              <a:off x="759" y="0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1993" name="Text Box 23"/>
            <p:cNvSpPr txBox="1"/>
            <p:nvPr/>
          </p:nvSpPr>
          <p:spPr>
            <a:xfrm>
              <a:off x="1048" y="0"/>
              <a:ext cx="280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1994" name="Text Box 24"/>
            <p:cNvSpPr txBox="1"/>
            <p:nvPr/>
          </p:nvSpPr>
          <p:spPr>
            <a:xfrm>
              <a:off x="1384" y="0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1995" name="Text Box 25"/>
            <p:cNvSpPr txBox="1"/>
            <p:nvPr/>
          </p:nvSpPr>
          <p:spPr>
            <a:xfrm>
              <a:off x="1665" y="0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1996" name="Text Box 26"/>
            <p:cNvSpPr txBox="1"/>
            <p:nvPr/>
          </p:nvSpPr>
          <p:spPr>
            <a:xfrm>
              <a:off x="567" y="240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1997" name="Text Box 27"/>
            <p:cNvSpPr txBox="1"/>
            <p:nvPr/>
          </p:nvSpPr>
          <p:spPr>
            <a:xfrm>
              <a:off x="566" y="528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1998" name="Text Box 28"/>
            <p:cNvSpPr txBox="1"/>
            <p:nvPr/>
          </p:nvSpPr>
          <p:spPr>
            <a:xfrm>
              <a:off x="566" y="785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1999" name="Text Box 29"/>
            <p:cNvSpPr txBox="1"/>
            <p:nvPr/>
          </p:nvSpPr>
          <p:spPr>
            <a:xfrm>
              <a:off x="566" y="1025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</p:grp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无向图相邻矩阵</a:t>
            </a:r>
            <a:r>
              <a:rPr lang="en-US" altLang="zh-CN" b="0" dirty="0"/>
              <a:t>(</a:t>
            </a:r>
            <a:r>
              <a:rPr lang="zh-CN" altLang="en-US" b="0" dirty="0"/>
              <a:t>性质</a:t>
            </a:r>
            <a:r>
              <a:rPr lang="en-US" altLang="zh-CN" b="0" dirty="0"/>
              <a:t>)</a:t>
            </a:r>
            <a:endParaRPr lang="zh-CN" altLang="en-US" b="0" dirty="0"/>
          </a:p>
        </p:txBody>
      </p:sp>
      <p:sp>
        <p:nvSpPr>
          <p:cNvPr id="43011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A(G)</a:t>
            </a:r>
            <a:r>
              <a:rPr lang="zh-CN" altLang="en-US" dirty="0"/>
              <a:t>对称</a:t>
            </a:r>
            <a:r>
              <a:rPr lang="en-US" altLang="zh-CN" dirty="0"/>
              <a:t>: </a:t>
            </a:r>
            <a:r>
              <a:rPr lang="en-US" altLang="zh-CN" sz="3200" i="1" dirty="0"/>
              <a:t>a</a:t>
            </a:r>
            <a:r>
              <a:rPr lang="en-US" altLang="zh-CN" sz="3200" i="1" baseline="-25000" dirty="0"/>
              <a:t>ij</a:t>
            </a:r>
            <a:r>
              <a:rPr lang="en-US" altLang="zh-CN" dirty="0"/>
              <a:t>=</a:t>
            </a:r>
            <a:r>
              <a:rPr lang="en-US" altLang="zh-CN" sz="3200" i="1" dirty="0"/>
              <a:t>a</a:t>
            </a:r>
            <a:r>
              <a:rPr lang="en-US" altLang="zh-CN" sz="3200" i="1" baseline="-25000" dirty="0"/>
              <a:t>ji</a:t>
            </a:r>
            <a:endParaRPr lang="en-US" altLang="zh-CN" dirty="0"/>
          </a:p>
          <a:p>
            <a:r>
              <a:rPr lang="zh-CN" altLang="en-US" dirty="0"/>
              <a:t>每行</a:t>
            </a:r>
            <a:r>
              <a:rPr lang="en-US" altLang="zh-CN" dirty="0"/>
              <a:t>(</a:t>
            </a:r>
            <a:r>
              <a:rPr lang="zh-CN" altLang="en-US" dirty="0"/>
              <a:t>列</a:t>
            </a:r>
            <a:r>
              <a:rPr lang="en-US" altLang="zh-CN" dirty="0"/>
              <a:t>)</a:t>
            </a:r>
            <a:r>
              <a:rPr lang="zh-CN" altLang="en-US" dirty="0"/>
              <a:t>和为顶点度</a:t>
            </a:r>
            <a:r>
              <a:rPr lang="en-US" altLang="zh-CN" dirty="0"/>
              <a:t>: </a:t>
            </a:r>
            <a:r>
              <a:rPr lang="zh-CN" altLang="en-US" dirty="0"/>
              <a:t>Σ</a:t>
            </a:r>
            <a:r>
              <a:rPr lang="zh-CN" altLang="en-US" i="1" baseline="40000" dirty="0"/>
              <a:t>n</a:t>
            </a:r>
            <a:r>
              <a:rPr lang="zh-CN" altLang="en-US" i="1" baseline="-40000" dirty="0"/>
              <a:t>i</a:t>
            </a:r>
            <a:r>
              <a:rPr lang="zh-CN" altLang="en-US" baseline="-40000" dirty="0"/>
              <a:t>=1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ij</a:t>
            </a:r>
            <a:r>
              <a:rPr lang="en-US" altLang="zh-CN" dirty="0"/>
              <a:t>=d(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en-US" altLang="zh-CN" dirty="0"/>
              <a:t>), </a:t>
            </a:r>
            <a:r>
              <a:rPr lang="zh-CN" altLang="en-US" dirty="0"/>
              <a:t>Σ</a:t>
            </a:r>
            <a:r>
              <a:rPr lang="zh-CN" altLang="en-US" i="1" baseline="40000" dirty="0"/>
              <a:t>n</a:t>
            </a:r>
            <a:r>
              <a:rPr lang="en-US" altLang="zh-CN" i="1" baseline="-40000" dirty="0"/>
              <a:t>j</a:t>
            </a:r>
            <a:r>
              <a:rPr lang="zh-CN" altLang="en-US" baseline="-40000" dirty="0"/>
              <a:t>=1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ij</a:t>
            </a:r>
            <a:r>
              <a:rPr lang="en-US" altLang="zh-CN" dirty="0"/>
              <a:t>=d(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zh-CN" altLang="en-US" dirty="0"/>
              <a:t>握手定理</a:t>
            </a:r>
            <a:r>
              <a:rPr lang="en-US" altLang="zh-CN" dirty="0"/>
              <a:t>: </a:t>
            </a:r>
            <a:r>
              <a:rPr lang="zh-CN" altLang="en-US" dirty="0"/>
              <a:t>Σ</a:t>
            </a:r>
            <a:r>
              <a:rPr lang="zh-CN" altLang="en-US" i="1" baseline="40000" dirty="0"/>
              <a:t>n</a:t>
            </a:r>
            <a:r>
              <a:rPr lang="zh-CN" altLang="en-US" i="1" baseline="-40000" dirty="0"/>
              <a:t>i</a:t>
            </a:r>
            <a:r>
              <a:rPr lang="zh-CN" altLang="en-US" baseline="-40000" dirty="0"/>
              <a:t>=1</a:t>
            </a:r>
            <a:r>
              <a:rPr lang="zh-CN" altLang="en-US" dirty="0"/>
              <a:t>Σ</a:t>
            </a:r>
            <a:r>
              <a:rPr lang="zh-CN" altLang="en-US" i="1" baseline="40000" dirty="0"/>
              <a:t>n</a:t>
            </a:r>
            <a:r>
              <a:rPr lang="en-US" altLang="zh-CN" i="1" baseline="-40000" dirty="0"/>
              <a:t>j</a:t>
            </a:r>
            <a:r>
              <a:rPr lang="zh-CN" altLang="en-US" baseline="-40000" dirty="0"/>
              <a:t>=1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ij</a:t>
            </a:r>
            <a:r>
              <a:rPr lang="en-US" altLang="zh-CN" dirty="0"/>
              <a:t>=</a:t>
            </a:r>
            <a:r>
              <a:rPr lang="zh-CN" altLang="en-US" dirty="0"/>
              <a:t>Σ</a:t>
            </a:r>
            <a:r>
              <a:rPr lang="zh-CN" altLang="en-US" i="1" baseline="40000" dirty="0"/>
              <a:t>n</a:t>
            </a:r>
            <a:r>
              <a:rPr lang="zh-CN" altLang="en-US" i="1" baseline="-40000" dirty="0"/>
              <a:t>i</a:t>
            </a:r>
            <a:r>
              <a:rPr lang="zh-CN" altLang="en-US" baseline="-40000" dirty="0"/>
              <a:t>=1</a:t>
            </a:r>
            <a:r>
              <a:rPr lang="en-US" altLang="zh-CN" dirty="0"/>
              <a:t>d(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)=2</a:t>
            </a:r>
            <a:r>
              <a:rPr lang="en-US" altLang="zh-CN" i="1" dirty="0"/>
              <a:t>m</a:t>
            </a:r>
            <a:endParaRPr lang="zh-CN" altLang="en-US" i="1" dirty="0"/>
          </a:p>
        </p:txBody>
      </p:sp>
      <p:grpSp>
        <p:nvGrpSpPr>
          <p:cNvPr id="43012" name="Group 4"/>
          <p:cNvGrpSpPr/>
          <p:nvPr/>
        </p:nvGrpSpPr>
        <p:grpSpPr>
          <a:xfrm>
            <a:off x="539750" y="4117975"/>
            <a:ext cx="3198813" cy="2135188"/>
            <a:chOff x="0" y="0"/>
            <a:chExt cx="2015" cy="1345"/>
          </a:xfrm>
        </p:grpSpPr>
        <p:sp>
          <p:nvSpPr>
            <p:cNvPr id="43023" name="Oval 5"/>
            <p:cNvSpPr/>
            <p:nvPr/>
          </p:nvSpPr>
          <p:spPr>
            <a:xfrm>
              <a:off x="272" y="15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24" name="Line 6"/>
            <p:cNvSpPr/>
            <p:nvPr/>
          </p:nvSpPr>
          <p:spPr>
            <a:xfrm>
              <a:off x="408" y="201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5" name="Oval 7"/>
            <p:cNvSpPr/>
            <p:nvPr/>
          </p:nvSpPr>
          <p:spPr>
            <a:xfrm>
              <a:off x="1633" y="15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26" name="Line 8"/>
            <p:cNvSpPr/>
            <p:nvPr/>
          </p:nvSpPr>
          <p:spPr>
            <a:xfrm>
              <a:off x="317" y="292"/>
              <a:ext cx="0" cy="7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7" name="Oval 9"/>
            <p:cNvSpPr/>
            <p:nvPr/>
          </p:nvSpPr>
          <p:spPr>
            <a:xfrm>
              <a:off x="272" y="1063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28" name="Oval 10"/>
            <p:cNvSpPr/>
            <p:nvPr/>
          </p:nvSpPr>
          <p:spPr>
            <a:xfrm>
              <a:off x="1633" y="1063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29" name="Line 11"/>
            <p:cNvSpPr/>
            <p:nvPr/>
          </p:nvSpPr>
          <p:spPr>
            <a:xfrm>
              <a:off x="408" y="1154"/>
              <a:ext cx="12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0" name="Line 12"/>
            <p:cNvSpPr/>
            <p:nvPr/>
          </p:nvSpPr>
          <p:spPr>
            <a:xfrm flipV="1">
              <a:off x="363" y="246"/>
              <a:ext cx="1315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1" name="Text Box 13"/>
            <p:cNvSpPr txBox="1"/>
            <p:nvPr/>
          </p:nvSpPr>
          <p:spPr>
            <a:xfrm>
              <a:off x="45" y="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3032" name="Text Box 14"/>
            <p:cNvSpPr txBox="1"/>
            <p:nvPr/>
          </p:nvSpPr>
          <p:spPr>
            <a:xfrm>
              <a:off x="0" y="94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3033" name="Text Box 15"/>
            <p:cNvSpPr txBox="1"/>
            <p:nvPr/>
          </p:nvSpPr>
          <p:spPr>
            <a:xfrm>
              <a:off x="1724" y="1018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3034" name="Text Box 16"/>
            <p:cNvSpPr txBox="1"/>
            <p:nvPr/>
          </p:nvSpPr>
          <p:spPr>
            <a:xfrm>
              <a:off x="1587" y="201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4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43013" name="Group 17"/>
          <p:cNvGrpSpPr/>
          <p:nvPr/>
        </p:nvGrpSpPr>
        <p:grpSpPr>
          <a:xfrm>
            <a:off x="4427538" y="3816350"/>
            <a:ext cx="3673475" cy="2349500"/>
            <a:chOff x="0" y="0"/>
            <a:chExt cx="2450" cy="1567"/>
          </a:xfrm>
        </p:grpSpPr>
        <p:graphicFrame>
          <p:nvGraphicFramePr>
            <p:cNvPr id="43014" name="对象 42001"/>
            <p:cNvGraphicFramePr>
              <a:graphicFrameLocks noChangeAspect="1"/>
            </p:cNvGraphicFramePr>
            <p:nvPr/>
          </p:nvGraphicFramePr>
          <p:xfrm>
            <a:off x="0" y="272"/>
            <a:ext cx="2450" cy="1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1" imgW="1866900" imgH="1133475" progId="">
                    <p:embed/>
                  </p:oleObj>
                </mc:Choice>
                <mc:Fallback>
                  <p:oleObj name="" r:id="rId1" imgW="1866900" imgH="1133475" progId="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272"/>
                          <a:ext cx="2450" cy="1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5" name="Text Box 19"/>
            <p:cNvSpPr txBox="1"/>
            <p:nvPr/>
          </p:nvSpPr>
          <p:spPr>
            <a:xfrm>
              <a:off x="1071" y="0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3016" name="Text Box 20"/>
            <p:cNvSpPr txBox="1"/>
            <p:nvPr/>
          </p:nvSpPr>
          <p:spPr>
            <a:xfrm>
              <a:off x="1367" y="0"/>
              <a:ext cx="280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3017" name="Text Box 21"/>
            <p:cNvSpPr txBox="1"/>
            <p:nvPr/>
          </p:nvSpPr>
          <p:spPr>
            <a:xfrm>
              <a:off x="1731" y="0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3018" name="Text Box 22"/>
            <p:cNvSpPr txBox="1"/>
            <p:nvPr/>
          </p:nvSpPr>
          <p:spPr>
            <a:xfrm>
              <a:off x="2094" y="0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3019" name="Text Box 23"/>
            <p:cNvSpPr txBox="1"/>
            <p:nvPr/>
          </p:nvSpPr>
          <p:spPr>
            <a:xfrm>
              <a:off x="779" y="227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3020" name="Text Box 24"/>
            <p:cNvSpPr txBox="1"/>
            <p:nvPr/>
          </p:nvSpPr>
          <p:spPr>
            <a:xfrm>
              <a:off x="778" y="545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3021" name="Text Box 25"/>
            <p:cNvSpPr txBox="1"/>
            <p:nvPr/>
          </p:nvSpPr>
          <p:spPr>
            <a:xfrm>
              <a:off x="778" y="891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3022" name="Text Box 26"/>
            <p:cNvSpPr txBox="1"/>
            <p:nvPr/>
          </p:nvSpPr>
          <p:spPr>
            <a:xfrm>
              <a:off x="778" y="1179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</p:grp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相邻矩阵与通路数</a:t>
            </a:r>
            <a:endParaRPr lang="zh-CN" altLang="en-US" b="0" dirty="0"/>
          </a:p>
        </p:txBody>
      </p:sp>
      <p:sp>
        <p:nvSpPr>
          <p:cNvPr id="43010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en-US" altLang="zh-CN" i="1" baseline="30000" dirty="0"/>
              <a:t>r</a:t>
            </a:r>
            <a:r>
              <a:rPr lang="en-US" altLang="zh-CN" dirty="0"/>
              <a:t>=A</a:t>
            </a:r>
            <a:r>
              <a:rPr lang="en-US" altLang="zh-CN" i="1" baseline="30000" dirty="0"/>
              <a:t>r</a:t>
            </a:r>
            <a:r>
              <a:rPr lang="en-US" altLang="zh-CN" baseline="30000" dirty="0"/>
              <a:t>-1</a:t>
            </a:r>
            <a:r>
              <a:rPr lang="en-US" altLang="zh-CN" dirty="0"/>
              <a:t>•A,(</a:t>
            </a:r>
            <a:r>
              <a:rPr lang="en-US" altLang="zh-CN" i="1" dirty="0"/>
              <a:t>r</a:t>
            </a:r>
            <a:r>
              <a:rPr lang="en-US" altLang="zh-CN" dirty="0"/>
              <a:t>≥2), A</a:t>
            </a:r>
            <a:r>
              <a:rPr lang="en-US" altLang="zh-CN" i="1" baseline="30000" dirty="0"/>
              <a:t>r</a:t>
            </a:r>
            <a:r>
              <a:rPr lang="en-US" altLang="zh-CN" dirty="0"/>
              <a:t>=[</a:t>
            </a:r>
            <a:r>
              <a:rPr lang="en-US" altLang="zh-CN" i="1" dirty="0"/>
              <a:t>a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r</a:t>
            </a:r>
            <a:r>
              <a:rPr lang="en-US" altLang="zh-CN" baseline="30000" dirty="0"/>
              <a:t>)</a:t>
            </a:r>
            <a:r>
              <a:rPr lang="en-US" altLang="zh-CN" i="1" baseline="-25000" dirty="0"/>
              <a:t>ij</a:t>
            </a:r>
            <a:r>
              <a:rPr lang="en-US" altLang="zh-CN" dirty="0"/>
              <a:t>] 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×</a:t>
            </a:r>
            <a:r>
              <a:rPr lang="en-US" altLang="zh-CN" i="1" baseline="-25000" dirty="0"/>
              <a:t>n</a:t>
            </a:r>
            <a:r>
              <a:rPr lang="en-US" altLang="zh-CN" dirty="0"/>
              <a:t>, 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   B</a:t>
            </a:r>
            <a:r>
              <a:rPr lang="en-US" altLang="zh-CN" i="1" baseline="-25000" dirty="0"/>
              <a:t>r</a:t>
            </a:r>
            <a:r>
              <a:rPr lang="en-US" altLang="zh-CN" dirty="0"/>
              <a:t>=</a:t>
            </a:r>
            <a:r>
              <a:rPr lang="en-US" altLang="zh-CN" i="1" dirty="0"/>
              <a:t>A</a:t>
            </a:r>
            <a:r>
              <a:rPr lang="en-US" altLang="zh-CN" dirty="0"/>
              <a:t>+</a:t>
            </a:r>
            <a:r>
              <a:rPr lang="en-US" altLang="zh-CN" i="1" dirty="0"/>
              <a:t>A</a:t>
            </a:r>
            <a:r>
              <a:rPr lang="en-US" altLang="zh-CN" baseline="30000" dirty="0"/>
              <a:t>2</a:t>
            </a:r>
            <a:r>
              <a:rPr lang="en-US" altLang="zh-CN" dirty="0"/>
              <a:t>+…+A</a:t>
            </a:r>
            <a:r>
              <a:rPr lang="en-US" altLang="zh-CN" i="1" baseline="30000" dirty="0"/>
              <a:t>r</a:t>
            </a:r>
            <a:r>
              <a:rPr lang="en-US" altLang="zh-CN" dirty="0"/>
              <a:t>=[</a:t>
            </a:r>
            <a:r>
              <a:rPr lang="en-US" altLang="zh-CN" i="1" dirty="0"/>
              <a:t>b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r</a:t>
            </a:r>
            <a:r>
              <a:rPr lang="en-US" altLang="zh-CN" baseline="30000" dirty="0"/>
              <a:t>)</a:t>
            </a:r>
            <a:r>
              <a:rPr lang="en-US" altLang="zh-CN" i="1" baseline="-25000" dirty="0"/>
              <a:t>ij</a:t>
            </a:r>
            <a:r>
              <a:rPr lang="en-US" altLang="zh-CN" dirty="0"/>
              <a:t>] 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×</a:t>
            </a:r>
            <a:r>
              <a:rPr lang="en-US" altLang="zh-CN" i="1" baseline="-25000" dirty="0"/>
              <a:t>n</a:t>
            </a:r>
            <a:endParaRPr lang="en-US" altLang="zh-CN" i="1" dirty="0"/>
          </a:p>
          <a:p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10.5: </a:t>
            </a:r>
            <a:r>
              <a:rPr lang="zh-CN" altLang="en-US" dirty="0"/>
              <a:t>在简单图中</a:t>
            </a:r>
            <a:r>
              <a:rPr lang="en-US" altLang="zh-CN" dirty="0"/>
              <a:t>, </a:t>
            </a:r>
            <a:endParaRPr lang="en-US" altLang="zh-CN" dirty="0"/>
          </a:p>
          <a:p>
            <a:pPr>
              <a:buNone/>
            </a:pPr>
            <a:r>
              <a:rPr lang="en-US" altLang="zh-CN" i="1" dirty="0"/>
              <a:t>            a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r</a:t>
            </a:r>
            <a:r>
              <a:rPr lang="en-US" altLang="zh-CN" baseline="30000" dirty="0"/>
              <a:t>)</a:t>
            </a:r>
            <a:r>
              <a:rPr lang="en-US" altLang="zh-CN" i="1" baseline="-25000" dirty="0"/>
              <a:t>ij</a:t>
            </a:r>
            <a:r>
              <a:rPr lang="en-US" altLang="zh-CN" dirty="0"/>
              <a:t> =</a:t>
            </a:r>
            <a:r>
              <a:rPr lang="zh-CN" altLang="en-US" dirty="0"/>
              <a:t>从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zh-CN" altLang="en-US" dirty="0"/>
              <a:t>长度为</a:t>
            </a:r>
            <a:r>
              <a:rPr lang="en-US" altLang="zh-CN" i="1" dirty="0"/>
              <a:t>r</a:t>
            </a:r>
            <a:r>
              <a:rPr lang="zh-CN" altLang="en-US" dirty="0"/>
              <a:t>的通路数          </a:t>
            </a:r>
            <a:endParaRPr lang="zh-CN" altLang="en-US" dirty="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            </a:t>
            </a:r>
            <a:r>
              <a:rPr lang="en-US" altLang="zh-CN" dirty="0"/>
              <a:t>Σ</a:t>
            </a:r>
            <a:r>
              <a:rPr lang="en-US" altLang="zh-CN" i="1" baseline="40000" dirty="0"/>
              <a:t>n</a:t>
            </a:r>
            <a:r>
              <a:rPr lang="en-US" altLang="zh-CN" i="1" baseline="-40000" dirty="0"/>
              <a:t>i</a:t>
            </a:r>
            <a:r>
              <a:rPr lang="en-US" altLang="zh-CN" baseline="-40000" dirty="0"/>
              <a:t>=1 </a:t>
            </a:r>
            <a:r>
              <a:rPr lang="en-US" altLang="zh-CN" i="1" dirty="0"/>
              <a:t>a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r</a:t>
            </a:r>
            <a:r>
              <a:rPr lang="en-US" altLang="zh-CN" baseline="30000" dirty="0"/>
              <a:t>)</a:t>
            </a:r>
            <a:r>
              <a:rPr lang="en-US" altLang="zh-CN" i="1" baseline="-25000" dirty="0"/>
              <a:t>ii</a:t>
            </a:r>
            <a:r>
              <a:rPr lang="en-US" altLang="zh-CN" dirty="0"/>
              <a:t> =</a:t>
            </a:r>
            <a:r>
              <a:rPr lang="zh-CN" altLang="en-US" dirty="0"/>
              <a:t>长度为</a:t>
            </a:r>
            <a:r>
              <a:rPr lang="en-US" altLang="zh-CN" i="1" dirty="0"/>
              <a:t>r</a:t>
            </a:r>
            <a:r>
              <a:rPr lang="zh-CN" altLang="en-US" dirty="0"/>
              <a:t>的回路总数</a:t>
            </a:r>
            <a:endParaRPr lang="zh-CN" altLang="en-US" dirty="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zh-CN" altLang="en-US" dirty="0"/>
              <a:t>归纳法</a:t>
            </a:r>
            <a:r>
              <a:rPr lang="en-US" altLang="zh-CN" dirty="0"/>
              <a:t>.</a:t>
            </a:r>
            <a:endParaRPr lang="en-US" altLang="zh-CN" dirty="0"/>
          </a:p>
          <a:p>
            <a:r>
              <a:rPr lang="zh-CN" altLang="en-US" dirty="0">
                <a:solidFill>
                  <a:schemeClr val="hlink"/>
                </a:solidFill>
              </a:rPr>
              <a:t>推论</a:t>
            </a:r>
            <a:r>
              <a:rPr lang="en-US" altLang="zh-CN" dirty="0">
                <a:solidFill>
                  <a:schemeClr val="hlink"/>
                </a:solidFill>
              </a:rPr>
              <a:t>1: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baseline="30000" dirty="0"/>
              <a:t>(2)</a:t>
            </a:r>
            <a:r>
              <a:rPr lang="en-US" altLang="zh-CN" i="1" baseline="-25000" dirty="0"/>
              <a:t>ii</a:t>
            </a:r>
            <a:r>
              <a:rPr lang="en-US" altLang="zh-CN" dirty="0"/>
              <a:t>=d(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). </a:t>
            </a:r>
            <a:endParaRPr lang="en-US" altLang="zh-CN" dirty="0"/>
          </a:p>
          <a:p>
            <a:r>
              <a:rPr lang="zh-CN" altLang="en-US" dirty="0">
                <a:solidFill>
                  <a:schemeClr val="hlink"/>
                </a:solidFill>
              </a:rPr>
              <a:t>推论</a:t>
            </a:r>
            <a:r>
              <a:rPr lang="en-US" altLang="zh-CN" dirty="0">
                <a:solidFill>
                  <a:schemeClr val="hlink"/>
                </a:solidFill>
              </a:rPr>
              <a:t>2:</a:t>
            </a:r>
            <a:r>
              <a:rPr lang="en-US" altLang="zh-CN" dirty="0"/>
              <a:t> G</a:t>
            </a:r>
            <a:r>
              <a:rPr lang="zh-CN" altLang="en-US" dirty="0"/>
              <a:t>连通⇒距离</a:t>
            </a:r>
            <a:r>
              <a:rPr lang="en-US" altLang="zh-CN" dirty="0"/>
              <a:t>d(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, 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en-US" altLang="zh-CN" dirty="0"/>
              <a:t>)=min{</a:t>
            </a:r>
            <a:r>
              <a:rPr lang="en-US" altLang="zh-CN" i="1" dirty="0"/>
              <a:t>r</a:t>
            </a:r>
            <a:r>
              <a:rPr lang="en-US" altLang="zh-CN" dirty="0"/>
              <a:t>| </a:t>
            </a:r>
            <a:r>
              <a:rPr lang="en-US" altLang="zh-CN" i="1" dirty="0"/>
              <a:t>a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r</a:t>
            </a:r>
            <a:r>
              <a:rPr lang="en-US" altLang="zh-CN" baseline="30000" dirty="0"/>
              <a:t>)</a:t>
            </a:r>
            <a:r>
              <a:rPr lang="en-US" altLang="zh-CN" i="1" baseline="-25000" dirty="0"/>
              <a:t>ij</a:t>
            </a:r>
            <a:r>
              <a:rPr lang="en-US" altLang="zh-CN" dirty="0"/>
              <a:t> ≠0}.</a:t>
            </a:r>
            <a:endParaRPr lang="zh-CN" altLang="en-US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charRg st="175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charRg st="195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用相邻矩阵求通路数</a:t>
            </a:r>
            <a:r>
              <a:rPr lang="en-US" altLang="zh-CN" b="0" dirty="0"/>
              <a:t>(</a:t>
            </a:r>
            <a:r>
              <a:rPr lang="zh-CN" altLang="en-US" b="0" dirty="0"/>
              <a:t>例</a:t>
            </a:r>
            <a:r>
              <a:rPr lang="en-US" altLang="zh-CN" b="0" dirty="0"/>
              <a:t>)</a:t>
            </a:r>
            <a:endParaRPr lang="zh-CN" altLang="en-US" b="0" dirty="0"/>
          </a:p>
        </p:txBody>
      </p:sp>
      <p:grpSp>
        <p:nvGrpSpPr>
          <p:cNvPr id="46083" name="Group 4"/>
          <p:cNvGrpSpPr/>
          <p:nvPr/>
        </p:nvGrpSpPr>
        <p:grpSpPr>
          <a:xfrm>
            <a:off x="468313" y="1341438"/>
            <a:ext cx="3198812" cy="2135187"/>
            <a:chOff x="0" y="0"/>
            <a:chExt cx="2015" cy="1345"/>
          </a:xfrm>
        </p:grpSpPr>
        <p:sp>
          <p:nvSpPr>
            <p:cNvPr id="46097" name="Oval 5"/>
            <p:cNvSpPr/>
            <p:nvPr/>
          </p:nvSpPr>
          <p:spPr>
            <a:xfrm>
              <a:off x="272" y="15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098" name="Line 6"/>
            <p:cNvSpPr/>
            <p:nvPr/>
          </p:nvSpPr>
          <p:spPr>
            <a:xfrm>
              <a:off x="408" y="201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9" name="Oval 7"/>
            <p:cNvSpPr/>
            <p:nvPr/>
          </p:nvSpPr>
          <p:spPr>
            <a:xfrm>
              <a:off x="1633" y="15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100" name="Line 8"/>
            <p:cNvSpPr/>
            <p:nvPr/>
          </p:nvSpPr>
          <p:spPr>
            <a:xfrm>
              <a:off x="317" y="292"/>
              <a:ext cx="0" cy="7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1" name="Oval 9"/>
            <p:cNvSpPr/>
            <p:nvPr/>
          </p:nvSpPr>
          <p:spPr>
            <a:xfrm>
              <a:off x="272" y="1063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102" name="Oval 10"/>
            <p:cNvSpPr/>
            <p:nvPr/>
          </p:nvSpPr>
          <p:spPr>
            <a:xfrm>
              <a:off x="1633" y="1063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103" name="Line 11"/>
            <p:cNvSpPr/>
            <p:nvPr/>
          </p:nvSpPr>
          <p:spPr>
            <a:xfrm>
              <a:off x="408" y="1154"/>
              <a:ext cx="12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4" name="Line 12"/>
            <p:cNvSpPr/>
            <p:nvPr/>
          </p:nvSpPr>
          <p:spPr>
            <a:xfrm flipV="1">
              <a:off x="363" y="246"/>
              <a:ext cx="1315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5" name="Text Box 13"/>
            <p:cNvSpPr txBox="1"/>
            <p:nvPr/>
          </p:nvSpPr>
          <p:spPr>
            <a:xfrm>
              <a:off x="45" y="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106" name="Text Box 14"/>
            <p:cNvSpPr txBox="1"/>
            <p:nvPr/>
          </p:nvSpPr>
          <p:spPr>
            <a:xfrm>
              <a:off x="0" y="94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107" name="Text Box 15"/>
            <p:cNvSpPr txBox="1"/>
            <p:nvPr/>
          </p:nvSpPr>
          <p:spPr>
            <a:xfrm>
              <a:off x="1724" y="1018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108" name="Text Box 16"/>
            <p:cNvSpPr txBox="1"/>
            <p:nvPr/>
          </p:nvSpPr>
          <p:spPr>
            <a:xfrm>
              <a:off x="1587" y="201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4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46084" name="Group 17"/>
          <p:cNvGrpSpPr/>
          <p:nvPr/>
        </p:nvGrpSpPr>
        <p:grpSpPr>
          <a:xfrm>
            <a:off x="4356100" y="1084263"/>
            <a:ext cx="3673475" cy="2349500"/>
            <a:chOff x="0" y="0"/>
            <a:chExt cx="2450" cy="1567"/>
          </a:xfrm>
        </p:grpSpPr>
        <p:graphicFrame>
          <p:nvGraphicFramePr>
            <p:cNvPr id="46088" name="对象 45073"/>
            <p:cNvGraphicFramePr>
              <a:graphicFrameLocks noChangeAspect="1"/>
            </p:cNvGraphicFramePr>
            <p:nvPr/>
          </p:nvGraphicFramePr>
          <p:xfrm>
            <a:off x="0" y="272"/>
            <a:ext cx="2450" cy="1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1" imgW="1866900" imgH="1133475" progId="">
                    <p:embed/>
                  </p:oleObj>
                </mc:Choice>
                <mc:Fallback>
                  <p:oleObj name="" r:id="rId1" imgW="1866900" imgH="1133475" progId="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272"/>
                          <a:ext cx="2450" cy="1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89" name="Text Box 19"/>
            <p:cNvSpPr txBox="1"/>
            <p:nvPr/>
          </p:nvSpPr>
          <p:spPr>
            <a:xfrm>
              <a:off x="1071" y="0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090" name="Text Box 20"/>
            <p:cNvSpPr txBox="1"/>
            <p:nvPr/>
          </p:nvSpPr>
          <p:spPr>
            <a:xfrm>
              <a:off x="1367" y="0"/>
              <a:ext cx="280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091" name="Text Box 21"/>
            <p:cNvSpPr txBox="1"/>
            <p:nvPr/>
          </p:nvSpPr>
          <p:spPr>
            <a:xfrm>
              <a:off x="1731" y="0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092" name="Text Box 22"/>
            <p:cNvSpPr txBox="1"/>
            <p:nvPr/>
          </p:nvSpPr>
          <p:spPr>
            <a:xfrm>
              <a:off x="2094" y="0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093" name="Text Box 23"/>
            <p:cNvSpPr txBox="1"/>
            <p:nvPr/>
          </p:nvSpPr>
          <p:spPr>
            <a:xfrm>
              <a:off x="779" y="227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094" name="Text Box 24"/>
            <p:cNvSpPr txBox="1"/>
            <p:nvPr/>
          </p:nvSpPr>
          <p:spPr>
            <a:xfrm>
              <a:off x="778" y="545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095" name="Text Box 25"/>
            <p:cNvSpPr txBox="1"/>
            <p:nvPr/>
          </p:nvSpPr>
          <p:spPr>
            <a:xfrm>
              <a:off x="778" y="891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096" name="Text Box 26"/>
            <p:cNvSpPr txBox="1"/>
            <p:nvPr/>
          </p:nvSpPr>
          <p:spPr>
            <a:xfrm>
              <a:off x="778" y="1179"/>
              <a:ext cx="281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6085" name="对象 45082"/>
          <p:cNvGraphicFramePr>
            <a:graphicFrameLocks noChangeAspect="1"/>
          </p:cNvGraphicFramePr>
          <p:nvPr/>
        </p:nvGraphicFramePr>
        <p:xfrm>
          <a:off x="295275" y="3644900"/>
          <a:ext cx="2341563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3" imgW="1552575" imgH="1133475" progId="">
                  <p:embed/>
                </p:oleObj>
              </mc:Choice>
              <mc:Fallback>
                <p:oleObj name="" r:id="rId3" imgW="1552575" imgH="1133475" progId="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5275" y="3644900"/>
                        <a:ext cx="2341563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对象 45083"/>
          <p:cNvGraphicFramePr>
            <a:graphicFrameLocks noChangeAspect="1"/>
          </p:cNvGraphicFramePr>
          <p:nvPr/>
        </p:nvGraphicFramePr>
        <p:xfrm>
          <a:off x="3060700" y="3644900"/>
          <a:ext cx="2341563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5" imgW="1552575" imgH="1133475" progId="">
                  <p:embed/>
                </p:oleObj>
              </mc:Choice>
              <mc:Fallback>
                <p:oleObj name="" r:id="rId5" imgW="1552575" imgH="1133475" progId="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60700" y="3644900"/>
                        <a:ext cx="2341563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对象 45084"/>
          <p:cNvGraphicFramePr>
            <a:graphicFrameLocks noChangeAspect="1"/>
          </p:cNvGraphicFramePr>
          <p:nvPr/>
        </p:nvGraphicFramePr>
        <p:xfrm>
          <a:off x="5773738" y="3644900"/>
          <a:ext cx="245586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7" imgW="1628775" imgH="1133475" progId="">
                  <p:embed/>
                </p:oleObj>
              </mc:Choice>
              <mc:Fallback>
                <p:oleObj name="" r:id="rId7" imgW="1628775" imgH="1133475" progId="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73738" y="3644900"/>
                        <a:ext cx="2455862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用相邻矩阵求通路数</a:t>
            </a:r>
            <a:r>
              <a:rPr lang="en-US" altLang="zh-CN" b="0" dirty="0"/>
              <a:t>(</a:t>
            </a:r>
            <a:r>
              <a:rPr lang="zh-CN" altLang="en-US" b="0" dirty="0"/>
              <a:t>例</a:t>
            </a:r>
            <a:r>
              <a:rPr lang="en-US" altLang="zh-CN" b="0" dirty="0"/>
              <a:t>,</a:t>
            </a:r>
            <a:r>
              <a:rPr lang="zh-CN" altLang="en-US" b="0" dirty="0"/>
              <a:t>续</a:t>
            </a:r>
            <a:r>
              <a:rPr lang="en-US" altLang="zh-CN" b="0" dirty="0"/>
              <a:t>)</a:t>
            </a:r>
            <a:endParaRPr lang="zh-CN" altLang="en-US" b="0" dirty="0"/>
          </a:p>
        </p:txBody>
      </p:sp>
      <p:sp>
        <p:nvSpPr>
          <p:cNvPr id="48131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长度为</a:t>
            </a:r>
            <a:r>
              <a:rPr lang="en-US" altLang="zh-CN" dirty="0"/>
              <a:t>4</a:t>
            </a:r>
            <a:r>
              <a:rPr lang="zh-CN" altLang="en-US" dirty="0"/>
              <a:t>的通路数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chemeClr val="hlink"/>
                </a:solidFill>
              </a:rPr>
              <a:t>6</a:t>
            </a:r>
            <a:endParaRPr lang="en-US" altLang="zh-CN" dirty="0">
              <a:solidFill>
                <a:schemeClr val="hlink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   14142,14242,14232,12412,14212,12142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baseline="-25000" dirty="0"/>
              <a:t>3</a:t>
            </a:r>
            <a:r>
              <a:rPr lang="zh-CN" altLang="en-US" dirty="0"/>
              <a:t>长度为</a:t>
            </a:r>
            <a:r>
              <a:rPr lang="en-US" altLang="zh-CN" dirty="0"/>
              <a:t>4</a:t>
            </a:r>
            <a:r>
              <a:rPr lang="zh-CN" altLang="en-US" dirty="0"/>
              <a:t>的通路数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chemeClr val="folHlink"/>
                </a:solidFill>
              </a:rPr>
              <a:t>4</a:t>
            </a:r>
            <a:endParaRPr lang="en-US" altLang="zh-CN" dirty="0">
              <a:solidFill>
                <a:schemeClr val="folHlink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    12423,12323,14123,12123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长度为</a:t>
            </a:r>
            <a:r>
              <a:rPr lang="en-US" altLang="zh-CN" dirty="0"/>
              <a:t>4</a:t>
            </a:r>
            <a:r>
              <a:rPr lang="zh-CN" altLang="en-US" dirty="0"/>
              <a:t>的回路数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rgbClr val="FF00FF"/>
                </a:solidFill>
              </a:rPr>
              <a:t>7</a:t>
            </a:r>
            <a:endParaRPr lang="en-US" altLang="zh-CN" dirty="0">
              <a:solidFill>
                <a:srgbClr val="FF00FF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     14141,14241,14121,12121,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      12421,12321,12141,</a:t>
            </a:r>
            <a:endParaRPr lang="zh-CN" altLang="en-US" dirty="0"/>
          </a:p>
        </p:txBody>
      </p:sp>
      <p:grpSp>
        <p:nvGrpSpPr>
          <p:cNvPr id="48132" name="Group 4"/>
          <p:cNvGrpSpPr/>
          <p:nvPr/>
        </p:nvGrpSpPr>
        <p:grpSpPr>
          <a:xfrm>
            <a:off x="5945188" y="3068638"/>
            <a:ext cx="3198812" cy="2135187"/>
            <a:chOff x="0" y="0"/>
            <a:chExt cx="2015" cy="1345"/>
          </a:xfrm>
        </p:grpSpPr>
        <p:sp>
          <p:nvSpPr>
            <p:cNvPr id="48139" name="Oval 5"/>
            <p:cNvSpPr/>
            <p:nvPr/>
          </p:nvSpPr>
          <p:spPr>
            <a:xfrm>
              <a:off x="272" y="15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0" name="Line 6"/>
            <p:cNvSpPr/>
            <p:nvPr/>
          </p:nvSpPr>
          <p:spPr>
            <a:xfrm>
              <a:off x="408" y="201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1" name="Oval 7"/>
            <p:cNvSpPr/>
            <p:nvPr/>
          </p:nvSpPr>
          <p:spPr>
            <a:xfrm>
              <a:off x="1633" y="15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2" name="Line 8"/>
            <p:cNvSpPr/>
            <p:nvPr/>
          </p:nvSpPr>
          <p:spPr>
            <a:xfrm>
              <a:off x="317" y="292"/>
              <a:ext cx="0" cy="7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3" name="Oval 9"/>
            <p:cNvSpPr/>
            <p:nvPr/>
          </p:nvSpPr>
          <p:spPr>
            <a:xfrm>
              <a:off x="272" y="1063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4" name="Oval 10"/>
            <p:cNvSpPr/>
            <p:nvPr/>
          </p:nvSpPr>
          <p:spPr>
            <a:xfrm>
              <a:off x="1633" y="1063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5" name="Line 11"/>
            <p:cNvSpPr/>
            <p:nvPr/>
          </p:nvSpPr>
          <p:spPr>
            <a:xfrm>
              <a:off x="408" y="1154"/>
              <a:ext cx="12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6" name="Line 12"/>
            <p:cNvSpPr/>
            <p:nvPr/>
          </p:nvSpPr>
          <p:spPr>
            <a:xfrm flipV="1">
              <a:off x="363" y="246"/>
              <a:ext cx="1315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7" name="Text Box 13"/>
            <p:cNvSpPr txBox="1"/>
            <p:nvPr/>
          </p:nvSpPr>
          <p:spPr>
            <a:xfrm>
              <a:off x="45" y="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8148" name="Text Box 14"/>
            <p:cNvSpPr txBox="1"/>
            <p:nvPr/>
          </p:nvSpPr>
          <p:spPr>
            <a:xfrm>
              <a:off x="0" y="94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8149" name="Text Box 15"/>
            <p:cNvSpPr txBox="1"/>
            <p:nvPr/>
          </p:nvSpPr>
          <p:spPr>
            <a:xfrm>
              <a:off x="1724" y="1018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8150" name="Text Box 16"/>
            <p:cNvSpPr txBox="1"/>
            <p:nvPr/>
          </p:nvSpPr>
          <p:spPr>
            <a:xfrm>
              <a:off x="1587" y="201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4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8133" name="对象 47120"/>
          <p:cNvGraphicFramePr>
            <a:graphicFrameLocks noChangeAspect="1"/>
          </p:cNvGraphicFramePr>
          <p:nvPr/>
        </p:nvGraphicFramePr>
        <p:xfrm>
          <a:off x="295275" y="5253038"/>
          <a:ext cx="2341563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1552575" imgH="1133475" progId="">
                  <p:embed/>
                </p:oleObj>
              </mc:Choice>
              <mc:Fallback>
                <p:oleObj name="" r:id="rId1" imgW="1552575" imgH="1133475" progId="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5275" y="5253038"/>
                        <a:ext cx="2341563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对象 47121"/>
          <p:cNvGraphicFramePr>
            <a:graphicFrameLocks noChangeAspect="1"/>
          </p:cNvGraphicFramePr>
          <p:nvPr/>
        </p:nvGraphicFramePr>
        <p:xfrm>
          <a:off x="3059113" y="5253038"/>
          <a:ext cx="234156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3" imgW="1552575" imgH="1133475" progId="">
                  <p:embed/>
                </p:oleObj>
              </mc:Choice>
              <mc:Fallback>
                <p:oleObj name="" r:id="rId3" imgW="1552575" imgH="1133475" progId="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9113" y="5253038"/>
                        <a:ext cx="2341562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对象 47122"/>
          <p:cNvGraphicFramePr>
            <a:graphicFrameLocks noChangeAspect="1"/>
          </p:cNvGraphicFramePr>
          <p:nvPr/>
        </p:nvGraphicFramePr>
        <p:xfrm>
          <a:off x="5773738" y="5253038"/>
          <a:ext cx="245586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5" imgW="1628775" imgH="1133475" progId="">
                  <p:embed/>
                </p:oleObj>
              </mc:Choice>
              <mc:Fallback>
                <p:oleObj name="" r:id="rId5" imgW="1628775" imgH="1133475" progId="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73738" y="5253038"/>
                        <a:ext cx="2455862" cy="1489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6" name="Rectangle 30"/>
          <p:cNvSpPr/>
          <p:nvPr/>
        </p:nvSpPr>
        <p:spPr>
          <a:xfrm>
            <a:off x="6516688" y="5661025"/>
            <a:ext cx="288925" cy="288925"/>
          </a:xfrm>
          <a:prstGeom prst="rect">
            <a:avLst/>
          </a:prstGeom>
          <a:noFill/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7" name="Rectangle 31"/>
          <p:cNvSpPr/>
          <p:nvPr/>
        </p:nvSpPr>
        <p:spPr>
          <a:xfrm>
            <a:off x="6516688" y="6021388"/>
            <a:ext cx="287337" cy="287337"/>
          </a:xfrm>
          <a:prstGeom prst="rect">
            <a:avLst/>
          </a:prstGeom>
          <a:noFill/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8" name="Rectangle 32"/>
          <p:cNvSpPr/>
          <p:nvPr/>
        </p:nvSpPr>
        <p:spPr>
          <a:xfrm>
            <a:off x="6515100" y="5286375"/>
            <a:ext cx="287338" cy="287338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连通矩阵</a:t>
            </a:r>
            <a:endParaRPr lang="zh-CN" altLang="en-US" b="0" dirty="0"/>
          </a:p>
        </p:txBody>
      </p:sp>
      <p:sp>
        <p:nvSpPr>
          <p:cNvPr id="49155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设</a:t>
            </a:r>
            <a:r>
              <a:rPr lang="en-US" altLang="zh-CN" dirty="0"/>
              <a:t>G=&lt;V,E&gt;</a:t>
            </a:r>
            <a:r>
              <a:rPr lang="zh-CN" altLang="en-US" dirty="0"/>
              <a:t>是无向简单图</a:t>
            </a:r>
            <a:r>
              <a:rPr lang="en-US" altLang="zh-CN" dirty="0"/>
              <a:t>, </a:t>
            </a:r>
            <a:r>
              <a:rPr lang="en-US" altLang="zh-CN" sz="3200" dirty="0"/>
              <a:t>V={</a:t>
            </a:r>
            <a:r>
              <a:rPr lang="en-US" altLang="zh-CN" sz="3200" i="1" dirty="0"/>
              <a:t>v</a:t>
            </a:r>
            <a:r>
              <a:rPr lang="en-US" altLang="zh-CN" sz="3200" baseline="-25000" dirty="0"/>
              <a:t>1</a:t>
            </a:r>
            <a:r>
              <a:rPr lang="en-US" altLang="zh-CN" sz="3200" dirty="0"/>
              <a:t>, </a:t>
            </a:r>
            <a:r>
              <a:rPr lang="en-US" altLang="zh-CN" sz="3200" i="1" dirty="0"/>
              <a:t>v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,…,</a:t>
            </a:r>
            <a:r>
              <a:rPr lang="en-US" altLang="zh-CN" sz="3200" i="1" dirty="0"/>
              <a:t>v</a:t>
            </a:r>
            <a:r>
              <a:rPr lang="en-US" altLang="zh-CN" sz="3200" i="1" baseline="-25000" dirty="0"/>
              <a:t>n</a:t>
            </a:r>
            <a:r>
              <a:rPr lang="en-US" altLang="zh-CN" sz="3200" dirty="0"/>
              <a:t>}</a:t>
            </a:r>
            <a:endParaRPr lang="en-US" altLang="zh-CN" dirty="0"/>
          </a:p>
          <a:p>
            <a:r>
              <a:rPr lang="zh-CN" altLang="en-US" dirty="0"/>
              <a:t>连通矩阵</a:t>
            </a:r>
            <a:r>
              <a:rPr lang="en-US" altLang="zh-CN" dirty="0"/>
              <a:t>: P(G)=</a:t>
            </a:r>
            <a:r>
              <a:rPr lang="en-US" altLang="zh-CN" sz="3200" dirty="0"/>
              <a:t>[</a:t>
            </a:r>
            <a:r>
              <a:rPr lang="en-US" altLang="zh-CN" sz="3200" i="1" dirty="0"/>
              <a:t>p</a:t>
            </a:r>
            <a:r>
              <a:rPr lang="en-US" altLang="zh-CN" sz="3200" i="1" baseline="-25000" dirty="0"/>
              <a:t>ij</a:t>
            </a:r>
            <a:r>
              <a:rPr lang="en-US" altLang="zh-CN" sz="3200" dirty="0"/>
              <a:t>]</a:t>
            </a:r>
            <a:r>
              <a:rPr lang="en-US" altLang="zh-CN" sz="3200" baseline="-25000" dirty="0"/>
              <a:t>n</a:t>
            </a:r>
            <a:r>
              <a:rPr lang="en-US" altLang="zh-CN" sz="3200" baseline="-25000" dirty="0">
                <a:sym typeface="Symbol" panose="05050102010706020507" pitchFamily="18" charset="2"/>
              </a:rPr>
              <a:t>n</a:t>
            </a:r>
            <a:r>
              <a:rPr lang="en-US" altLang="zh-CN" dirty="0"/>
              <a:t>,</a:t>
            </a:r>
            <a:endParaRPr lang="zh-CN" altLang="en-US" dirty="0"/>
          </a:p>
        </p:txBody>
      </p:sp>
      <p:graphicFrame>
        <p:nvGraphicFramePr>
          <p:cNvPr id="49156" name="对象 48131"/>
          <p:cNvGraphicFramePr>
            <a:graphicFrameLocks noChangeAspect="1"/>
          </p:cNvGraphicFramePr>
          <p:nvPr/>
        </p:nvGraphicFramePr>
        <p:xfrm>
          <a:off x="1873250" y="3141663"/>
          <a:ext cx="3844925" cy="126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1930400" imgH="635000" progId="">
                  <p:embed/>
                </p:oleObj>
              </mc:Choice>
              <mc:Fallback>
                <p:oleObj name="" r:id="rId1" imgW="1930400" imgH="635000" progId="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73250" y="3141663"/>
                        <a:ext cx="3844925" cy="1265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连通矩阵</a:t>
            </a:r>
            <a:r>
              <a:rPr lang="en-US" altLang="zh-CN" b="0" dirty="0"/>
              <a:t>(</a:t>
            </a:r>
            <a:r>
              <a:rPr lang="zh-CN" altLang="en-US" b="0" dirty="0"/>
              <a:t>性质</a:t>
            </a:r>
            <a:r>
              <a:rPr lang="en-US" altLang="zh-CN" b="0" dirty="0"/>
              <a:t>)</a:t>
            </a:r>
            <a:endParaRPr lang="zh-CN" altLang="en-US" b="0" dirty="0"/>
          </a:p>
        </p:txBody>
      </p:sp>
      <p:sp>
        <p:nvSpPr>
          <p:cNvPr id="50179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主对角线元素都是</a:t>
            </a:r>
            <a:r>
              <a:rPr lang="en-US" altLang="zh-CN" dirty="0"/>
              <a:t>1: ∀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∈V, 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en-US" dirty="0"/>
              <a:t>与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en-US" dirty="0"/>
              <a:t>连通</a:t>
            </a:r>
            <a:endParaRPr lang="en-US" altLang="zh-CN" dirty="0"/>
          </a:p>
          <a:p>
            <a:r>
              <a:rPr lang="en-US" altLang="en-US" dirty="0"/>
              <a:t>连通图</a:t>
            </a:r>
            <a:r>
              <a:rPr lang="en-US" altLang="zh-CN" dirty="0"/>
              <a:t>: </a:t>
            </a:r>
            <a:r>
              <a:rPr lang="en-US" altLang="en-US" dirty="0"/>
              <a:t>所有元素都是</a:t>
            </a:r>
            <a:r>
              <a:rPr lang="en-US" altLang="zh-CN" dirty="0"/>
              <a:t>1</a:t>
            </a:r>
            <a:endParaRPr lang="en-US" altLang="zh-CN" dirty="0"/>
          </a:p>
          <a:p>
            <a:r>
              <a:rPr lang="en-US" altLang="en-US" dirty="0"/>
              <a:t>伪对角阵</a:t>
            </a:r>
            <a:r>
              <a:rPr lang="en-US" altLang="zh-CN" dirty="0"/>
              <a:t>: </a:t>
            </a:r>
            <a:r>
              <a:rPr lang="en-US" altLang="en-US" dirty="0"/>
              <a:t>对角块是连通分支的可达矩阵</a:t>
            </a:r>
            <a:endParaRPr lang="en-US" altLang="en-US" dirty="0"/>
          </a:p>
          <a:p>
            <a:r>
              <a:rPr lang="en-US" altLang="en-US" dirty="0"/>
              <a:t> 设</a:t>
            </a:r>
            <a:r>
              <a:rPr lang="en-US" altLang="zh-CN" dirty="0"/>
              <a:t>B</a:t>
            </a:r>
            <a:r>
              <a:rPr lang="en-US" altLang="zh-CN" i="1" baseline="-25000" dirty="0"/>
              <a:t>r</a:t>
            </a:r>
            <a:r>
              <a:rPr lang="en-US" altLang="zh-CN" dirty="0"/>
              <a:t>=A+A</a:t>
            </a:r>
            <a:r>
              <a:rPr lang="en-US" altLang="zh-CN" baseline="30000" dirty="0"/>
              <a:t>2</a:t>
            </a:r>
            <a:r>
              <a:rPr lang="en-US" altLang="zh-CN" dirty="0"/>
              <a:t>+…+A</a:t>
            </a:r>
            <a:r>
              <a:rPr lang="en-US" altLang="zh-CN" baseline="30000" dirty="0"/>
              <a:t>r</a:t>
            </a:r>
            <a:r>
              <a:rPr lang="en-US" altLang="zh-CN" dirty="0"/>
              <a:t>=[</a:t>
            </a:r>
            <a:r>
              <a:rPr lang="en-US" altLang="zh-CN" i="1" dirty="0"/>
              <a:t>b</a:t>
            </a:r>
            <a:r>
              <a:rPr lang="en-US" altLang="zh-CN" baseline="30000" dirty="0"/>
              <a:t>(r)</a:t>
            </a:r>
            <a:r>
              <a:rPr lang="en-US" altLang="zh-CN" i="1" baseline="-25000" dirty="0"/>
              <a:t>ij</a:t>
            </a:r>
            <a:r>
              <a:rPr lang="en-US" altLang="zh-CN" dirty="0"/>
              <a:t>] 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×</a:t>
            </a:r>
            <a:r>
              <a:rPr lang="en-US" altLang="zh-CN" i="1" baseline="-25000" dirty="0"/>
              <a:t>n</a:t>
            </a:r>
            <a:r>
              <a:rPr lang="en-US" altLang="en-US" dirty="0"/>
              <a:t> </a:t>
            </a:r>
            <a:endParaRPr lang="en-US" altLang="en-US" dirty="0"/>
          </a:p>
          <a:p>
            <a:pPr>
              <a:buNone/>
            </a:pPr>
            <a:r>
              <a:rPr lang="en-US" altLang="en-US" dirty="0"/>
              <a:t>      ∀</a:t>
            </a:r>
            <a:r>
              <a:rPr lang="en-US" altLang="zh-CN" i="1" dirty="0"/>
              <a:t>i</a:t>
            </a:r>
            <a:r>
              <a:rPr lang="en-US" altLang="zh-CN" dirty="0"/>
              <a:t>≠</a:t>
            </a:r>
            <a:r>
              <a:rPr lang="en-US" altLang="zh-CN" i="1" dirty="0"/>
              <a:t>j</a:t>
            </a:r>
            <a:r>
              <a:rPr lang="en-US" altLang="zh-CN" dirty="0"/>
              <a:t>, </a:t>
            </a:r>
            <a:r>
              <a:rPr lang="en-US" altLang="zh-CN" sz="3200" i="1" dirty="0"/>
              <a:t>p</a:t>
            </a:r>
            <a:r>
              <a:rPr lang="en-US" altLang="zh-CN" sz="3200" i="1" baseline="-25000" dirty="0"/>
              <a:t>ij</a:t>
            </a:r>
            <a:r>
              <a:rPr lang="en-US" altLang="zh-CN" dirty="0"/>
              <a:t>=1 ⇔ </a:t>
            </a:r>
            <a:r>
              <a:rPr lang="en-US" altLang="zh-CN" i="1" dirty="0"/>
              <a:t>b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-1)</a:t>
            </a:r>
            <a:r>
              <a:rPr lang="en-US" altLang="zh-CN" i="1" baseline="-25000" dirty="0"/>
              <a:t>ij</a:t>
            </a:r>
            <a:r>
              <a:rPr lang="en-US" altLang="zh-CN" baseline="-25000" dirty="0"/>
              <a:t> </a:t>
            </a:r>
            <a:r>
              <a:rPr lang="en-US" altLang="zh-CN" dirty="0"/>
              <a:t>&gt; 0</a:t>
            </a:r>
            <a:r>
              <a:rPr lang="en-US" altLang="en-US" dirty="0"/>
              <a:t>，</a:t>
            </a:r>
            <a:r>
              <a:rPr lang="en-US" altLang="zh-CN" i="1" dirty="0"/>
              <a:t>p</a:t>
            </a:r>
            <a:r>
              <a:rPr lang="en-US" altLang="zh-CN" i="1" baseline="-25000" dirty="0"/>
              <a:t>ii</a:t>
            </a:r>
            <a:r>
              <a:rPr lang="en-US" altLang="zh-CN" dirty="0"/>
              <a:t>=1</a:t>
            </a:r>
            <a:endParaRPr lang="en-US" altLang="en-US" dirty="0"/>
          </a:p>
        </p:txBody>
      </p:sp>
      <p:graphicFrame>
        <p:nvGraphicFramePr>
          <p:cNvPr id="50180" name="对象 49155"/>
          <p:cNvGraphicFramePr>
            <a:graphicFrameLocks noChangeAspect="1"/>
          </p:cNvGraphicFramePr>
          <p:nvPr/>
        </p:nvGraphicFramePr>
        <p:xfrm>
          <a:off x="1308100" y="4675188"/>
          <a:ext cx="3978275" cy="163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2984500" imgH="1143000" progId="">
                  <p:embed/>
                </p:oleObj>
              </mc:Choice>
              <mc:Fallback>
                <p:oleObj name="" r:id="rId1" imgW="2984500" imgH="1143000" progId="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08100" y="4675188"/>
                        <a:ext cx="3978275" cy="1633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连通矩阵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en-US" altLang="zh-CN" dirty="0"/>
          </a:p>
        </p:txBody>
      </p:sp>
      <p:grpSp>
        <p:nvGrpSpPr>
          <p:cNvPr id="51203" name="Group 20"/>
          <p:cNvGrpSpPr/>
          <p:nvPr/>
        </p:nvGrpSpPr>
        <p:grpSpPr>
          <a:xfrm>
            <a:off x="2700338" y="1557338"/>
            <a:ext cx="4205287" cy="2030412"/>
            <a:chOff x="0" y="0"/>
            <a:chExt cx="2649" cy="1279"/>
          </a:xfrm>
        </p:grpSpPr>
        <p:sp>
          <p:nvSpPr>
            <p:cNvPr id="51208" name="Oval 4"/>
            <p:cNvSpPr/>
            <p:nvPr/>
          </p:nvSpPr>
          <p:spPr>
            <a:xfrm>
              <a:off x="272" y="317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09" name="Oval 5"/>
            <p:cNvSpPr/>
            <p:nvPr/>
          </p:nvSpPr>
          <p:spPr>
            <a:xfrm>
              <a:off x="1043" y="317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0" name="Oval 6"/>
            <p:cNvSpPr/>
            <p:nvPr/>
          </p:nvSpPr>
          <p:spPr>
            <a:xfrm>
              <a:off x="272" y="952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1" name="Line 7"/>
            <p:cNvSpPr/>
            <p:nvPr/>
          </p:nvSpPr>
          <p:spPr>
            <a:xfrm>
              <a:off x="408" y="381"/>
              <a:ext cx="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2" name="Line 8"/>
            <p:cNvSpPr/>
            <p:nvPr/>
          </p:nvSpPr>
          <p:spPr>
            <a:xfrm>
              <a:off x="317" y="453"/>
              <a:ext cx="0" cy="4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3" name="Line 9"/>
            <p:cNvSpPr/>
            <p:nvPr/>
          </p:nvSpPr>
          <p:spPr>
            <a:xfrm flipV="1">
              <a:off x="408" y="453"/>
              <a:ext cx="680" cy="5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4" name="Oval 10"/>
            <p:cNvSpPr/>
            <p:nvPr/>
          </p:nvSpPr>
          <p:spPr>
            <a:xfrm>
              <a:off x="1723" y="317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5" name="Oval 11"/>
            <p:cNvSpPr/>
            <p:nvPr/>
          </p:nvSpPr>
          <p:spPr>
            <a:xfrm>
              <a:off x="1723" y="952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6" name="Line 12"/>
            <p:cNvSpPr/>
            <p:nvPr/>
          </p:nvSpPr>
          <p:spPr>
            <a:xfrm>
              <a:off x="1769" y="453"/>
              <a:ext cx="0" cy="4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7" name="Oval 13"/>
            <p:cNvSpPr/>
            <p:nvPr/>
          </p:nvSpPr>
          <p:spPr>
            <a:xfrm>
              <a:off x="2404" y="317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8" name="Text Box 14"/>
            <p:cNvSpPr txBox="1"/>
            <p:nvPr/>
          </p:nvSpPr>
          <p:spPr>
            <a:xfrm>
              <a:off x="45" y="162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51219" name="Text Box 15"/>
            <p:cNvSpPr txBox="1"/>
            <p:nvPr/>
          </p:nvSpPr>
          <p:spPr>
            <a:xfrm>
              <a:off x="0" y="816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51220" name="Text Box 16"/>
            <p:cNvSpPr txBox="1"/>
            <p:nvPr/>
          </p:nvSpPr>
          <p:spPr>
            <a:xfrm>
              <a:off x="998" y="398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51221" name="Text Box 17"/>
            <p:cNvSpPr txBox="1"/>
            <p:nvPr/>
          </p:nvSpPr>
          <p:spPr>
            <a:xfrm>
              <a:off x="1587" y="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4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51222" name="Text Box 18"/>
            <p:cNvSpPr txBox="1"/>
            <p:nvPr/>
          </p:nvSpPr>
          <p:spPr>
            <a:xfrm>
              <a:off x="1587" y="952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5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51223" name="Text Box 19"/>
            <p:cNvSpPr txBox="1"/>
            <p:nvPr/>
          </p:nvSpPr>
          <p:spPr>
            <a:xfrm>
              <a:off x="2358" y="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6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51204" name="对象 50196"/>
          <p:cNvGraphicFramePr>
            <a:graphicFrameLocks noChangeAspect="1"/>
          </p:cNvGraphicFramePr>
          <p:nvPr/>
        </p:nvGraphicFramePr>
        <p:xfrm>
          <a:off x="2411413" y="3744913"/>
          <a:ext cx="3097212" cy="285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1981200" imgH="1701800" progId="">
                  <p:embed/>
                </p:oleObj>
              </mc:Choice>
              <mc:Fallback>
                <p:oleObj name="" r:id="rId1" imgW="1981200" imgH="1701800" progId="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11413" y="3744913"/>
                        <a:ext cx="3097212" cy="2852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5" name="Rectangle 24"/>
          <p:cNvSpPr/>
          <p:nvPr/>
        </p:nvSpPr>
        <p:spPr>
          <a:xfrm>
            <a:off x="2987675" y="3716338"/>
            <a:ext cx="1152525" cy="133985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dash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6" name="Rectangle 25"/>
          <p:cNvSpPr/>
          <p:nvPr/>
        </p:nvSpPr>
        <p:spPr>
          <a:xfrm>
            <a:off x="4140200" y="5229225"/>
            <a:ext cx="936625" cy="936625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dash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7" name="Rectangle 26"/>
          <p:cNvSpPr/>
          <p:nvPr/>
        </p:nvSpPr>
        <p:spPr>
          <a:xfrm>
            <a:off x="5032375" y="6237288"/>
            <a:ext cx="358775" cy="301625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sz="3600" b="0" dirty="0">
                <a:solidFill>
                  <a:srgbClr val="FF0000"/>
                </a:solidFill>
              </a:rPr>
              <a:t>课堂测试一</a:t>
            </a:r>
            <a:r>
              <a:rPr lang="zh-CN" altLang="en-US" sz="3600" b="0" dirty="0"/>
              <a:t>：</a:t>
            </a:r>
            <a:endParaRPr lang="zh-CN" altLang="en-US" sz="3600" b="0" dirty="0"/>
          </a:p>
        </p:txBody>
      </p:sp>
      <p:sp>
        <p:nvSpPr>
          <p:cNvPr id="57347" name="Rectangle 3"/>
          <p:cNvSpPr>
            <a:spLocks noGrp="1"/>
          </p:cNvSpPr>
          <p:nvPr>
            <p:ph type="body" idx="4294967295"/>
          </p:nvPr>
        </p:nvSpPr>
        <p:spPr>
          <a:xfrm>
            <a:off x="323850" y="1412875"/>
            <a:ext cx="8496300" cy="792163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 求出下图中图的邻接（或相邻）矩阵</a:t>
            </a:r>
            <a:endParaRPr lang="en-US" altLang="zh-CN" dirty="0"/>
          </a:p>
        </p:txBody>
      </p:sp>
      <p:pic>
        <p:nvPicPr>
          <p:cNvPr id="5734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2349500"/>
            <a:ext cx="2578100" cy="220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349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663" y="2349500"/>
            <a:ext cx="3937000" cy="2273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1" name="Rectangle 3"/>
          <p:cNvSpPr>
            <a:spLocks noGrp="1"/>
          </p:cNvSpPr>
          <p:nvPr>
            <p:ph type="body" idx="4294967295"/>
          </p:nvPr>
        </p:nvSpPr>
        <p:spPr>
          <a:xfrm>
            <a:off x="323850" y="1412875"/>
            <a:ext cx="8496300" cy="792163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画出邻接矩阵</a:t>
            </a:r>
            <a:r>
              <a:rPr lang="en-US" altLang="zh-CN" dirty="0"/>
              <a:t>A</a:t>
            </a:r>
            <a:r>
              <a:rPr lang="zh-CN" altLang="en-US" dirty="0"/>
              <a:t>表示的有向图。</a:t>
            </a:r>
            <a:endParaRPr lang="en-US" altLang="zh-CN" dirty="0"/>
          </a:p>
        </p:txBody>
      </p:sp>
      <p:pic>
        <p:nvPicPr>
          <p:cNvPr id="58372" name="文本框 10"/>
          <p:cNvPicPr/>
          <p:nvPr/>
        </p:nvPicPr>
        <p:blipFill>
          <a:blip r:embed="rId1"/>
          <a:stretch>
            <a:fillRect/>
          </a:stretch>
        </p:blipFill>
        <p:spPr>
          <a:xfrm>
            <a:off x="542925" y="2419350"/>
            <a:ext cx="2925763" cy="1500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46" name="Rectangle 2"/>
          <p:cNvSpPr>
            <a:spLocks noGrp="1"/>
          </p:cNvSpPr>
          <p:nvPr/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b="0" dirty="0">
                <a:solidFill>
                  <a:srgbClr val="FF0000"/>
                </a:solidFill>
              </a:rPr>
              <a:t>课堂测试二</a:t>
            </a:r>
            <a:r>
              <a:rPr lang="zh-CN" altLang="en-US" sz="3600" b="0" dirty="0"/>
              <a:t>：</a:t>
            </a:r>
            <a:endParaRPr lang="zh-CN" altLang="en-US" sz="3600" b="0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文本框 1"/>
          <p:cNvSpPr txBox="1"/>
          <p:nvPr/>
        </p:nvSpPr>
        <p:spPr>
          <a:xfrm>
            <a:off x="647700" y="1544638"/>
            <a:ext cx="49149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p163-164, </a:t>
            </a:r>
            <a:r>
              <a:rPr lang="zh-CN" altLang="en-US" sz="240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习题十:</a:t>
            </a:r>
            <a:r>
              <a:rPr lang="en-US" altLang="zh-CN" sz="240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1,2,4,5</a:t>
            </a:r>
            <a:endParaRPr lang="zh-CN" altLang="en-US" sz="2400" dirty="0">
              <a:solidFill>
                <a:schemeClr val="hlin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227" name="文本框 2"/>
          <p:cNvSpPr txBox="1"/>
          <p:nvPr/>
        </p:nvSpPr>
        <p:spPr>
          <a:xfrm>
            <a:off x="1184275" y="298450"/>
            <a:ext cx="3236595" cy="768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rgbClr val="FF0000"/>
                </a:solidFill>
                <a:latin typeface="Tahoma" panose="020B0604030504040204" pitchFamily="34" charset="0"/>
                <a:sym typeface="黑体" panose="02010609060101010101" pitchFamily="49" charset="-122"/>
              </a:rPr>
              <a:t>课后作业：</a:t>
            </a:r>
            <a:endParaRPr lang="zh-CN" altLang="en-US" sz="4400" dirty="0">
              <a:solidFill>
                <a:srgbClr val="FF0000"/>
              </a:solidFill>
              <a:latin typeface="Tahoma" panose="020B0604030504040204" pitchFamily="34" charset="0"/>
              <a:sym typeface="黑体" panose="02010609060101010101" pitchFamily="49" charset="-122"/>
            </a:endParaRPr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总结</a:t>
            </a:r>
            <a:endParaRPr lang="zh-CN" altLang="en-US" b="0" dirty="0"/>
          </a:p>
        </p:txBody>
      </p:sp>
      <p:sp>
        <p:nvSpPr>
          <p:cNvPr id="56323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关联矩阵</a:t>
            </a:r>
            <a:r>
              <a:rPr lang="en-US" altLang="zh-CN" dirty="0">
                <a:solidFill>
                  <a:srgbClr val="FF00FF"/>
                </a:solidFill>
              </a:rPr>
              <a:t>M</a:t>
            </a:r>
            <a:r>
              <a:rPr lang="en-US" altLang="zh-CN" dirty="0"/>
              <a:t>(D), M(G)</a:t>
            </a:r>
            <a:endParaRPr lang="en-US" altLang="zh-CN" dirty="0"/>
          </a:p>
          <a:p>
            <a:r>
              <a:rPr lang="en-US" altLang="en-US" dirty="0"/>
              <a:t>用基本联矩阵</a:t>
            </a:r>
            <a:r>
              <a:rPr lang="en-US" altLang="zh-CN" dirty="0"/>
              <a:t>M</a:t>
            </a:r>
            <a:r>
              <a:rPr lang="en-US" altLang="zh-CN" baseline="-25000" dirty="0"/>
              <a:t>f</a:t>
            </a:r>
            <a:r>
              <a:rPr lang="en-US" altLang="zh-CN" dirty="0"/>
              <a:t>(G)</a:t>
            </a:r>
            <a:r>
              <a:rPr lang="en-US" altLang="en-US" dirty="0"/>
              <a:t>求所有生成树</a:t>
            </a:r>
            <a:endParaRPr lang="en-US" altLang="en-US" dirty="0"/>
          </a:p>
          <a:p>
            <a:r>
              <a:rPr lang="en-US" altLang="en-US" dirty="0"/>
              <a:t>邻接矩阵</a:t>
            </a:r>
            <a:r>
              <a:rPr lang="en-US" altLang="zh-CN" dirty="0">
                <a:solidFill>
                  <a:srgbClr val="FF00FF"/>
                </a:solidFill>
              </a:rPr>
              <a:t>A</a:t>
            </a:r>
            <a:r>
              <a:rPr lang="en-US" altLang="zh-CN" dirty="0"/>
              <a:t>(D), </a:t>
            </a:r>
            <a:r>
              <a:rPr lang="en-US" altLang="en-US" dirty="0"/>
              <a:t>相邻矩阵</a:t>
            </a:r>
            <a:r>
              <a:rPr lang="en-US" altLang="zh-CN" dirty="0"/>
              <a:t>A(G)</a:t>
            </a:r>
            <a:endParaRPr lang="en-US" altLang="zh-CN" dirty="0"/>
          </a:p>
          <a:p>
            <a:r>
              <a:rPr lang="en-US" altLang="en-US" dirty="0"/>
              <a:t>用</a:t>
            </a:r>
            <a:r>
              <a:rPr lang="en-US" altLang="zh-CN" dirty="0"/>
              <a:t>A</a:t>
            </a:r>
            <a:r>
              <a:rPr lang="en-US" altLang="en-US" dirty="0"/>
              <a:t>的幂求不同长度通路</a:t>
            </a:r>
            <a:r>
              <a:rPr lang="en-US" altLang="zh-CN" dirty="0"/>
              <a:t>(</a:t>
            </a:r>
            <a:r>
              <a:rPr lang="en-US" altLang="en-US" dirty="0"/>
              <a:t>回路</a:t>
            </a:r>
            <a:r>
              <a:rPr lang="en-US" altLang="zh-CN" dirty="0"/>
              <a:t>)</a:t>
            </a:r>
            <a:r>
              <a:rPr lang="en-US" altLang="en-US" dirty="0"/>
              <a:t>总数</a:t>
            </a:r>
            <a:endParaRPr lang="en-US" altLang="en-US" dirty="0"/>
          </a:p>
          <a:p>
            <a:r>
              <a:rPr lang="en-US" altLang="en-US" dirty="0"/>
              <a:t>可达矩阵</a:t>
            </a:r>
            <a:r>
              <a:rPr lang="en-US" altLang="zh-CN" dirty="0">
                <a:solidFill>
                  <a:srgbClr val="FF00FF"/>
                </a:solidFill>
              </a:rPr>
              <a:t>P</a:t>
            </a:r>
            <a:r>
              <a:rPr lang="en-US" altLang="zh-CN" dirty="0"/>
              <a:t>(D), </a:t>
            </a:r>
            <a:r>
              <a:rPr lang="en-US" altLang="en-US" dirty="0"/>
              <a:t>连通矩阵</a:t>
            </a:r>
            <a:r>
              <a:rPr lang="en-US" altLang="zh-CN" dirty="0"/>
              <a:t>P(G)</a:t>
            </a:r>
            <a:endParaRPr lang="en-US" altLang="en-US" dirty="0"/>
          </a:p>
          <a:p>
            <a:endParaRPr lang="en-US" altLang="zh-CN" dirty="0">
              <a:solidFill>
                <a:schemeClr val="hlink"/>
              </a:solidFill>
            </a:endParaRPr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PP_MARK_KEY" val="073b7755-f0dc-455f-ad30-3972a8ebfd82"/>
  <p:tag name="COMMONDATA" val="eyJoZGlkIjoiY2FjYjUwYzFhN2VkM2YwN2YyYmE3ZGUyNDQzZTVlNzEifQ=="/>
  <p:tag name="commondata" val="eyJoZGlkIjoiY2JiMjJjNjEwZGVmNWM5ZTE4YjkzYzY1NDY4YzMyMmMifQ==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2341</Words>
  <Application>WPS 演示</Application>
  <PresentationFormat>全屏显示(4:3)</PresentationFormat>
  <Paragraphs>351</Paragraphs>
  <Slides>26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Arial</vt:lpstr>
      <vt:lpstr>宋体</vt:lpstr>
      <vt:lpstr>Wingdings</vt:lpstr>
      <vt:lpstr>Tahoma</vt:lpstr>
      <vt:lpstr>黑体</vt:lpstr>
      <vt:lpstr>Times New Roman</vt:lpstr>
      <vt:lpstr>微软雅黑</vt:lpstr>
      <vt:lpstr>Arial Unicode MS</vt:lpstr>
      <vt:lpstr>Symbol</vt:lpstr>
      <vt:lpstr>Blends</vt:lpstr>
      <vt:lpstr>PowerPoint 演示文稿</vt:lpstr>
      <vt:lpstr>PowerPoint 演示文稿</vt:lpstr>
      <vt:lpstr>有向图邻接矩阵</vt:lpstr>
      <vt:lpstr>有向图邻接矩阵(性质)</vt:lpstr>
      <vt:lpstr>邻接矩阵与通路数</vt:lpstr>
      <vt:lpstr>邻接矩阵与通路数</vt:lpstr>
      <vt:lpstr>定理4(证明)</vt:lpstr>
      <vt:lpstr>用邻接矩阵求通路数(例)</vt:lpstr>
      <vt:lpstr>用邻接矩阵求通路数(例)</vt:lpstr>
      <vt:lpstr>用邻接矩阵求通路数(例,续)</vt:lpstr>
      <vt:lpstr>可达矩阵</vt:lpstr>
      <vt:lpstr>可达矩阵(性质)</vt:lpstr>
      <vt:lpstr>计算可达矩阵的方法</vt:lpstr>
      <vt:lpstr>可达矩阵(例)</vt:lpstr>
      <vt:lpstr>无向图相邻矩阵</vt:lpstr>
      <vt:lpstr>无向图相邻矩阵(性质)</vt:lpstr>
      <vt:lpstr>相邻矩阵与通路数</vt:lpstr>
      <vt:lpstr>用相邻矩阵求通路数(例)</vt:lpstr>
      <vt:lpstr>用相邻矩阵求通路数(例,续)</vt:lpstr>
      <vt:lpstr>连通矩阵</vt:lpstr>
      <vt:lpstr>连通矩阵(性质)</vt:lpstr>
      <vt:lpstr>连通矩阵(例)</vt:lpstr>
      <vt:lpstr>课堂测试一：</vt:lpstr>
      <vt:lpstr>PowerPoint 演示文稿</vt:lpstr>
      <vt:lpstr>PowerPoint 演示文稿</vt:lpstr>
      <vt:lpstr>总结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WPS_1709687041</cp:lastModifiedBy>
  <cp:revision>864</cp:revision>
  <cp:lastPrinted>2018-05-01T15:35:00Z</cp:lastPrinted>
  <dcterms:created xsi:type="dcterms:W3CDTF">2008-01-04T07:39:00Z</dcterms:created>
  <dcterms:modified xsi:type="dcterms:W3CDTF">2025-11-10T15:50:21Z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D752446371D8498494877E707B77250D</vt:lpwstr>
  </property>
</Properties>
</file>