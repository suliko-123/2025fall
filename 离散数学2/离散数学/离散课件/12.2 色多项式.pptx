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6"/>
  </p:notesMasterIdLst>
  <p:sldIdLst>
    <p:sldId id="460" r:id="rId4"/>
    <p:sldId id="461" r:id="rId5"/>
    <p:sldId id="462" r:id="rId7"/>
    <p:sldId id="463" r:id="rId8"/>
    <p:sldId id="464" r:id="rId9"/>
    <p:sldId id="465" r:id="rId10"/>
    <p:sldId id="466" r:id="rId11"/>
    <p:sldId id="467" r:id="rId12"/>
    <p:sldId id="468" r:id="rId13"/>
    <p:sldId id="469" r:id="rId14"/>
    <p:sldId id="470" r:id="rId15"/>
    <p:sldId id="471" r:id="rId16"/>
    <p:sldId id="472" r:id="rId17"/>
    <p:sldId id="473" r:id="rId18"/>
    <p:sldId id="474" r:id="rId19"/>
    <p:sldId id="475" r:id="rId20"/>
    <p:sldId id="479" r:id="rId21"/>
  </p:sldIdLst>
  <p:sldSz cx="9144000" cy="6858000" type="screen4x3"/>
  <p:notesSz cx="6858000" cy="9144000"/>
  <p:custDataLst>
    <p:tags r:id="rId25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11B0"/>
    <a:srgbClr val="33D4D5"/>
    <a:srgbClr val="BBF7FD"/>
    <a:srgbClr val="0066FF"/>
    <a:srgbClr val="FF00FF"/>
    <a:srgbClr val="FF0000"/>
    <a:srgbClr val="808080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4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fontAlgn="base" hangingPunct="1"/>
            <a:endParaRPr lang="en-US" altLang="x-none" sz="1200" b="0" i="0" strike="noStrike" noProof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dt" idx="1"/>
          </p:nvPr>
        </p:nvSpPr>
        <p:spPr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fontAlgn="base" hangingPunct="1"/>
            <a:endParaRPr lang="en-US" altLang="x-none" sz="1200" b="0" i="0" strike="noStrike" noProof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8" name="Rectangle 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9" name="Rectangle 5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0"/>
            <a:r>
              <a:rPr lang="zh-CN" altLang="en-US" dirty="0"/>
              <a:t>第二级</a:t>
            </a:r>
            <a:endParaRPr lang="zh-CN" altLang="en-US" dirty="0"/>
          </a:p>
          <a:p>
            <a:pPr lvl="2" indent="0"/>
            <a:r>
              <a:rPr lang="zh-CN" altLang="en-US" dirty="0"/>
              <a:t>第三级</a:t>
            </a:r>
            <a:endParaRPr lang="zh-CN" altLang="en-US" dirty="0"/>
          </a:p>
          <a:p>
            <a:pPr lvl="3" indent="0"/>
            <a:r>
              <a:rPr lang="zh-CN" altLang="en-US" dirty="0"/>
              <a:t>第四级</a:t>
            </a:r>
            <a:endParaRPr lang="zh-CN" altLang="en-US" dirty="0"/>
          </a:p>
          <a:p>
            <a:pPr lvl="4" indent="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07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fontAlgn="base" hangingPunct="1"/>
            <a:endParaRPr lang="en-US" altLang="x-none" sz="1200" b="0" i="0" strike="noStrike" noProof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9" name="Rectangle 7"/>
          <p:cNvSpPr>
            <a:spLocks noGrp="1"/>
          </p:cNvSpPr>
          <p:nvPr>
            <p:ph type="sldNum" sz="quarter" idx="5"/>
          </p:nvPr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fontAlgn="base" hangingPunct="1"/>
            <a:fld id="{9A0DB2DC-4C9A-4742-B13C-FB6460FD3503}" type="slidenum">
              <a:rPr lang="en-US" altLang="zh-CN" sz="1200" b="0" i="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b="0" i="0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0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如</a:t>
            </a:r>
            <a:r>
              <a:rPr lang="en-US" altLang="zh-CN"/>
              <a:t>f(K</a:t>
            </a:r>
            <a:r>
              <a:rPr lang="en-US" altLang="zh-CN" baseline="-25000"/>
              <a:t>5</a:t>
            </a:r>
            <a:r>
              <a:rPr lang="en-US" altLang="zh-CN"/>
              <a:t>,4)=0,f(K</a:t>
            </a:r>
            <a:r>
              <a:rPr lang="en-US" altLang="zh-CN" baseline="-25000"/>
              <a:t>2,3,</a:t>
            </a:r>
            <a:r>
              <a:rPr lang="en-US" altLang="zh-CN"/>
              <a:t>2)=2</a:t>
            </a:r>
            <a:endParaRPr lang="en-US" altLang="zh-CN"/>
          </a:p>
        </p:txBody>
      </p:sp>
      <p:sp>
        <p:nvSpPr>
          <p:cNvPr id="68611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0" hangingPunct="0"/>
            <a:fld id="{9A0DB2DC-4C9A-4742-B13C-FB6460FD3503}" type="slidenum">
              <a:rPr lang="en-US" altLang="zh-CN" sz="1200" b="0" i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 i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8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i="1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i="1">
                <a:latin typeface="Times New Roman" panose="02020603050405020304" charset="0"/>
                <a:ea typeface="黑体" panose="02010609060101010101" charset="-122"/>
              </a:rPr>
              <a:t>T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i="1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): 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</a:rPr>
              <a:t>从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</a:rPr>
              <a:t>到颜色集的函数</a:t>
            </a:r>
            <a:endParaRPr lang="en-US" altLang="zh-CN"/>
          </a:p>
        </p:txBody>
      </p:sp>
      <p:sp>
        <p:nvSpPr>
          <p:cNvPr id="70659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0" hangingPunct="0"/>
            <a:fld id="{9A0DB2DC-4C9A-4742-B13C-FB6460FD3503}" type="slidenum">
              <a:rPr lang="en-US" altLang="zh-CN" sz="1200" b="0" i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 i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4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8850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b="1"/>
              <a:t>说明：对</a:t>
            </a:r>
            <a:r>
              <a:rPr lang="en-US" altLang="zh-CN"/>
              <a:t>Hi</a:t>
            </a:r>
            <a:r>
              <a:rPr lang="zh-CN" altLang="en-US"/>
              <a:t>的</a:t>
            </a:r>
            <a:r>
              <a:rPr lang="en-US" altLang="zh-CN"/>
              <a:t>k</a:t>
            </a:r>
            <a:r>
              <a:rPr lang="zh-CN" altLang="en-US"/>
              <a:t>着色：先对</a:t>
            </a:r>
            <a:r>
              <a:rPr lang="en-US" altLang="zh-CN"/>
              <a:t>V1</a:t>
            </a:r>
            <a:r>
              <a:rPr lang="zh-CN" altLang="en-US"/>
              <a:t>进行</a:t>
            </a:r>
            <a:r>
              <a:rPr lang="en-US" altLang="zh-CN"/>
              <a:t>k</a:t>
            </a:r>
            <a:r>
              <a:rPr lang="zh-CN" altLang="en-US"/>
              <a:t>着色</a:t>
            </a:r>
            <a:r>
              <a:rPr lang="en-US" altLang="zh-CN"/>
              <a:t>,</a:t>
            </a:r>
            <a:r>
              <a:rPr lang="zh-CN" altLang="en-US"/>
              <a:t>然后对</a:t>
            </a:r>
            <a:r>
              <a:rPr lang="en-US" altLang="zh-CN"/>
              <a:t>Hi</a:t>
            </a:r>
            <a:r>
              <a:rPr lang="zh-CN" altLang="en-US"/>
              <a:t>的剩余部分着色</a:t>
            </a:r>
            <a:r>
              <a:rPr lang="en-US" altLang="zh-CN"/>
              <a:t>.</a:t>
            </a:r>
            <a:r>
              <a:rPr lang="zh-CN" altLang="en-US"/>
              <a:t>故对</a:t>
            </a:r>
            <a:r>
              <a:rPr lang="en-US" altLang="zh-CN" b="1"/>
              <a:t>G[V</a:t>
            </a:r>
            <a:r>
              <a:rPr lang="en-US" altLang="zh-CN" b="1" baseline="-25000"/>
              <a:t>1</a:t>
            </a:r>
            <a:r>
              <a:rPr lang="en-US" altLang="zh-CN" b="1"/>
              <a:t>]</a:t>
            </a:r>
            <a:r>
              <a:rPr lang="zh-CN" altLang="en-US" b="1"/>
              <a:t>的每种</a:t>
            </a:r>
            <a:r>
              <a:rPr lang="en-US" altLang="zh-CN" b="1" i="1"/>
              <a:t>k</a:t>
            </a:r>
            <a:r>
              <a:rPr lang="zh-CN" altLang="en-US" b="1"/>
              <a:t>着色</a:t>
            </a:r>
            <a:r>
              <a:rPr lang="en-US" altLang="zh-CN" b="1"/>
              <a:t>,H</a:t>
            </a:r>
            <a:r>
              <a:rPr lang="en-US" altLang="zh-CN" b="1" i="1" baseline="-25000"/>
              <a:t>i</a:t>
            </a:r>
            <a:r>
              <a:rPr lang="zh-CN" altLang="en-US" b="1"/>
              <a:t>有</a:t>
            </a:r>
            <a:r>
              <a:rPr lang="en-US" altLang="zh-CN" b="1" i="1"/>
              <a:t>f</a:t>
            </a:r>
            <a:r>
              <a:rPr lang="en-US" altLang="zh-CN" b="1"/>
              <a:t>(H</a:t>
            </a:r>
            <a:r>
              <a:rPr lang="en-US" altLang="zh-CN" b="1" i="1" baseline="-25000"/>
              <a:t>i</a:t>
            </a:r>
            <a:r>
              <a:rPr lang="en-US" altLang="zh-CN" b="1"/>
              <a:t>,</a:t>
            </a:r>
            <a:r>
              <a:rPr lang="en-US" altLang="zh-CN" b="1" i="1"/>
              <a:t>k</a:t>
            </a:r>
            <a:r>
              <a:rPr lang="en-US" altLang="zh-CN" b="1"/>
              <a:t>)/</a:t>
            </a:r>
            <a:r>
              <a:rPr lang="en-US" altLang="zh-CN" b="1" i="1"/>
              <a:t>f</a:t>
            </a:r>
            <a:r>
              <a:rPr lang="en-US" altLang="zh-CN" b="1"/>
              <a:t>(G[V</a:t>
            </a:r>
            <a:r>
              <a:rPr lang="en-US" altLang="zh-CN" b="1" baseline="-25000"/>
              <a:t>1</a:t>
            </a:r>
            <a:r>
              <a:rPr lang="en-US" altLang="zh-CN" b="1"/>
              <a:t>],</a:t>
            </a:r>
            <a:r>
              <a:rPr lang="en-US" altLang="zh-CN" b="1" i="1"/>
              <a:t>k</a:t>
            </a:r>
            <a:r>
              <a:rPr lang="en-US" altLang="zh-CN" b="1"/>
              <a:t>)</a:t>
            </a:r>
            <a:r>
              <a:rPr lang="zh-CN" altLang="en-US" b="1"/>
              <a:t>种</a:t>
            </a:r>
            <a:r>
              <a:rPr lang="en-US" altLang="zh-CN" b="1"/>
              <a:t>k</a:t>
            </a:r>
            <a:r>
              <a:rPr lang="zh-CN" altLang="en-US" b="1"/>
              <a:t>着色</a:t>
            </a:r>
            <a:r>
              <a:rPr lang="zh-CN" altLang="en-US"/>
              <a:t>。</a:t>
            </a:r>
            <a:endParaRPr lang="zh-CN" altLang="en-US" b="1"/>
          </a:p>
          <a:p>
            <a:pPr lvl="0"/>
            <a:endParaRPr lang="zh-CN" altLang="en-US"/>
          </a:p>
        </p:txBody>
      </p:sp>
      <p:sp>
        <p:nvSpPr>
          <p:cNvPr id="7885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0" hangingPunct="0"/>
            <a:fld id="{9A0DB2DC-4C9A-4742-B13C-FB6460FD3503}" type="slidenum">
              <a:rPr lang="en-US" altLang="zh-CN" sz="1200" b="0" i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 i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Rectangle 2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8397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/>
              <a:t>V1={c2}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的割集</a:t>
            </a:r>
            <a:r>
              <a:rPr lang="en-US" altLang="zh-CN"/>
              <a:t>.</a:t>
            </a:r>
            <a:r>
              <a:rPr lang="zh-CN" altLang="en-US"/>
              <a:t>由定理</a:t>
            </a:r>
            <a:r>
              <a:rPr lang="en-US" altLang="zh-CN"/>
              <a:t>12.10,</a:t>
            </a:r>
            <a:r>
              <a:rPr lang="zh-CN" altLang="en-US"/>
              <a:t>知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63187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6963" y="1412875"/>
            <a:ext cx="4163187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944" y="69850"/>
            <a:ext cx="2155031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40164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63187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6963" y="1412875"/>
            <a:ext cx="4163187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944" y="69850"/>
            <a:ext cx="2155031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40164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/>
          <p:nvPr/>
        </p:nvSpPr>
        <p:spPr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099" name="Rectangle 3"/>
          <p:cNvSpPr/>
          <p:nvPr/>
        </p:nvSpPr>
        <p:spPr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100" name="Rectangle 4"/>
          <p:cNvSpPr/>
          <p:nvPr/>
        </p:nvSpPr>
        <p:spPr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101" name="Rectangle 5"/>
          <p:cNvSpPr/>
          <p:nvPr/>
        </p:nvSpPr>
        <p:spPr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102" name="Rectangle 6"/>
          <p:cNvSpPr/>
          <p:nvPr/>
        </p:nvSpPr>
        <p:spPr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103" name="Rectangle 7"/>
          <p:cNvSpPr/>
          <p:nvPr/>
        </p:nvSpPr>
        <p:spPr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104" name="Rectangle 8"/>
          <p:cNvSpPr/>
          <p:nvPr/>
        </p:nvSpPr>
        <p:spPr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105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106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35" name="Rectangle 11"/>
          <p:cNvSpPr>
            <a:spLocks noGrp="1"/>
          </p:cNvSpPr>
          <p:nvPr>
            <p:ph type="dt" sz="half" idx="2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b="0" i="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1036" name="Rectangle 12"/>
          <p:cNvSpPr>
            <a:spLocks noGrp="1"/>
          </p:cNvSpPr>
          <p:nvPr>
            <p:ph type="ftr" sz="quarter" idx="3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b="0" i="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7" name="Rectangle 13"/>
          <p:cNvSpPr>
            <a:spLocks noGrp="1"/>
          </p:cNvSpPr>
          <p:nvPr>
            <p:ph type="sldNum" sz="quarter" idx="4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b="0" i="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/>
          <p:nvPr/>
        </p:nvSpPr>
        <p:spPr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123" name="Rectangle 3"/>
          <p:cNvSpPr/>
          <p:nvPr/>
        </p:nvSpPr>
        <p:spPr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124" name="Rectangle 4"/>
          <p:cNvSpPr/>
          <p:nvPr/>
        </p:nvSpPr>
        <p:spPr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125" name="Rectangle 5"/>
          <p:cNvSpPr/>
          <p:nvPr/>
        </p:nvSpPr>
        <p:spPr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126" name="Rectangle 6"/>
          <p:cNvSpPr/>
          <p:nvPr/>
        </p:nvSpPr>
        <p:spPr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127" name="Rectangle 7"/>
          <p:cNvSpPr/>
          <p:nvPr/>
        </p:nvSpPr>
        <p:spPr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128" name="Rectangle 8"/>
          <p:cNvSpPr/>
          <p:nvPr/>
        </p:nvSpPr>
        <p:spPr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129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130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35" name="Rectangle 11"/>
          <p:cNvSpPr>
            <a:spLocks noGrp="1"/>
          </p:cNvSpPr>
          <p:nvPr>
            <p:ph type="dt" sz="half" idx="2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b="0" i="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1036" name="Rectangle 12"/>
          <p:cNvSpPr>
            <a:spLocks noGrp="1"/>
          </p:cNvSpPr>
          <p:nvPr>
            <p:ph type="ftr" sz="quarter" idx="3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b="0" i="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7" name="Rectangle 13"/>
          <p:cNvSpPr>
            <a:spLocks noGrp="1"/>
          </p:cNvSpPr>
          <p:nvPr>
            <p:ph type="sldNum" sz="quarter" idx="4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b="0" i="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Rectangle 2"/>
          <p:cNvSpPr>
            <a:spLocks noGrp="1"/>
          </p:cNvSpPr>
          <p:nvPr>
            <p:ph type="ctrTitle" idx="4294967295"/>
          </p:nvPr>
        </p:nvSpPr>
        <p:spPr>
          <a:xfrm>
            <a:off x="555625" y="1938338"/>
            <a:ext cx="7772400" cy="1462087"/>
          </a:xfrm>
          <a:effectLst>
            <a:outerShdw dist="17961" dir="2699999" algn="ctr" rotWithShape="0">
              <a:schemeClr val="bg2"/>
            </a:outerShdw>
          </a:effectLst>
        </p:spPr>
        <p:txBody>
          <a:bodyPr vert="horz" wrap="square"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algn="ctr" eaLnBrk="1" hangingPunct="1">
              <a:buClrTx/>
              <a:buSzTx/>
              <a:buFontTx/>
            </a:pPr>
            <a:r>
              <a:rPr lang="en-US" altLang="zh-CN" sz="4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12.2 </a:t>
            </a:r>
            <a:r>
              <a:rPr lang="zh-CN" altLang="en-US" sz="4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色多项式</a:t>
            </a:r>
            <a:endParaRPr lang="zh-CN" altLang="en-US" sz="48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色多项式</a:t>
            </a:r>
            <a:endParaRPr lang="zh-CN" altLang="en-US"/>
          </a:p>
        </p:txBody>
      </p:sp>
      <p:sp>
        <p:nvSpPr>
          <p:cNvPr id="64514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marL="342900" marR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设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阶无向图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对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进行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两个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着色被认为是不同的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是指在两个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着色中至少有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个顶点颜色不同</a:t>
            </a:r>
            <a:endParaRPr kumimoji="0" lang="zh-CN" altLang="en-US" sz="28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G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)=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的不同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着色方案的总数</a:t>
            </a:r>
            <a:endParaRPr kumimoji="0" lang="zh-CN" altLang="en-US" sz="28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当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k&lt;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kumimoji="0" lang="el-GR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χ(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G)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时，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f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(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G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,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k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)=0</a:t>
            </a:r>
            <a:endParaRPr kumimoji="0" lang="en-US" altLang="zh-CN" sz="28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0" lang="el-GR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χ(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G)=min{ 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)&gt;0 }</a:t>
            </a:r>
            <a:endParaRPr kumimoji="0" lang="en-US" altLang="zh-CN" sz="28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次多项式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色多项式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kumimoji="0" lang="en-US" altLang="zh-CN" sz="28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758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charRg st="73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charRg st="92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charRg st="121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求色数多项式</a:t>
            </a:r>
            <a:endParaRPr lang="zh-CN" altLang="en-US"/>
          </a:p>
        </p:txBody>
      </p:sp>
      <p:sp>
        <p:nvSpPr>
          <p:cNvPr id="69634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零图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800" b="1" i="1" u="none" strike="noStrike" kern="1200" cap="none" spc="0" normalizeH="0" baseline="-2500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)=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1" u="none" strike="noStrike" kern="1200" cap="none" spc="0" normalizeH="0" baseline="3000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endParaRPr kumimoji="0" lang="en-US" altLang="zh-CN" sz="2800" b="1" i="1" u="none" strike="noStrike" kern="1200" cap="none" spc="0" normalizeH="0" baseline="3000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完全图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1" u="none" strike="noStrike" kern="1200" cap="none" spc="0" normalizeH="0" baseline="-2500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)=</a:t>
            </a:r>
            <a:r>
              <a:rPr kumimoji="0" lang="en-US" altLang="zh-CN" sz="2800" b="1" i="1" u="none" strike="noStrike" kern="1200" cap="none" spc="0" normalizeH="0" baseline="3000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-1)…(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+1)=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!C</a:t>
            </a:r>
            <a:r>
              <a:rPr kumimoji="0" lang="en-US" altLang="zh-CN" sz="2800" b="1" i="1" u="none" strike="noStrike" kern="1200" cap="none" spc="0" normalizeH="0" baseline="-4000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1" u="none" strike="noStrike" kern="1200" cap="none" spc="0" normalizeH="0" baseline="4000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endParaRPr kumimoji="0" lang="en-US" altLang="zh-CN" sz="2800" b="1" i="1" u="none" strike="noStrike" kern="1200" cap="none" spc="0" normalizeH="0" baseline="4000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hlink"/>
                </a:solidFill>
                <a:latin typeface="+mn-lt"/>
                <a:ea typeface="+mn-ea"/>
                <a:cs typeface="+mn-cs"/>
                <a:sym typeface="+mn-ea"/>
              </a:rPr>
              <a:t>推论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hlink"/>
                </a:solidFill>
                <a:latin typeface="+mn-lt"/>
                <a:ea typeface="+mn-ea"/>
                <a:cs typeface="+mn-cs"/>
                <a:sym typeface="+mn-ea"/>
              </a:rPr>
              <a:t>: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f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(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K</a:t>
            </a:r>
            <a:r>
              <a:rPr kumimoji="0" lang="en-US" altLang="zh-CN" sz="2800" b="1" i="1" u="none" strike="noStrike" kern="1200" cap="none" spc="0" normalizeH="0" baseline="-2500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n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,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k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)=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f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(K</a:t>
            </a:r>
            <a:r>
              <a:rPr kumimoji="0" lang="en-US" altLang="zh-CN" sz="2800" b="1" i="1" u="none" strike="noStrike" kern="1200" cap="none" spc="0" normalizeH="0" baseline="-2500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n</a:t>
            </a:r>
            <a:r>
              <a:rPr kumimoji="0" lang="en-US" altLang="zh-CN" sz="2800" b="1" i="0" u="none" strike="noStrike" kern="1200" cap="none" spc="0" normalizeH="0" baseline="-2500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-1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,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k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)(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k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-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n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+1), </a:t>
            </a:r>
            <a:r>
              <a:rPr kumimoji="0" lang="en-US" altLang="zh-CN" sz="2800" b="1" i="1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n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≥2</a:t>
            </a:r>
            <a:endParaRPr kumimoji="0" lang="en-US" altLang="zh-CN" sz="28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endParaRPr kumimoji="0" lang="zh-CN" altLang="en-US" sz="28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963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例</a:t>
            </a:r>
            <a:r>
              <a:rPr lang="en-US" altLang="zh-CN"/>
              <a:t>12.2</a:t>
            </a:r>
            <a:endParaRPr lang="zh-CN" altLang="en-US"/>
          </a:p>
        </p:txBody>
      </p:sp>
      <p:sp>
        <p:nvSpPr>
          <p:cNvPr id="71682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496887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12.2</a:t>
            </a:r>
            <a:r>
              <a:rPr lang="en-US" altLang="zh-CN"/>
              <a:t>: </a:t>
            </a:r>
            <a:r>
              <a:rPr lang="zh-CN" altLang="en-US"/>
              <a:t>求</a:t>
            </a:r>
            <a:r>
              <a:rPr lang="en-US" altLang="zh-CN" i="1"/>
              <a:t>f</a:t>
            </a:r>
            <a:r>
              <a:rPr lang="en-US" altLang="zh-CN"/>
              <a:t>(K</a:t>
            </a:r>
            <a:r>
              <a:rPr lang="en-US" altLang="zh-CN" i="1" baseline="-25000"/>
              <a:t>n</a:t>
            </a:r>
            <a:r>
              <a:rPr lang="en-US" altLang="zh-CN"/>
              <a:t>,6), </a:t>
            </a:r>
            <a:r>
              <a:rPr lang="en-US" altLang="zh-CN" i="1"/>
              <a:t>n</a:t>
            </a:r>
            <a:r>
              <a:rPr lang="en-US" altLang="zh-CN"/>
              <a:t>≥1.</a:t>
            </a:r>
            <a:endParaRPr lang="en-US" altLang="zh-CN"/>
          </a:p>
          <a:p>
            <a:pPr marL="0" indent="0">
              <a:buNone/>
            </a:pPr>
            <a:r>
              <a:rPr lang="zh-CN" altLang="en-US">
                <a:solidFill>
                  <a:schemeClr val="hlink"/>
                </a:solidFill>
              </a:rPr>
              <a:t>解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 i="1"/>
              <a:t> f</a:t>
            </a:r>
            <a:r>
              <a:rPr lang="en-US" altLang="zh-CN"/>
              <a:t>(K</a:t>
            </a:r>
            <a:r>
              <a:rPr lang="en-US" altLang="zh-CN" baseline="-25000"/>
              <a:t>1</a:t>
            </a:r>
            <a:r>
              <a:rPr lang="en-US" altLang="zh-CN"/>
              <a:t>,6)=6</a:t>
            </a:r>
            <a:r>
              <a:rPr lang="en-US" altLang="zh-CN" u="sng" baseline="30000"/>
              <a:t>1</a:t>
            </a:r>
            <a:r>
              <a:rPr lang="en-US" altLang="zh-CN"/>
              <a:t>=6, f(K</a:t>
            </a:r>
            <a:r>
              <a:rPr lang="en-US" altLang="zh-CN" baseline="-25000"/>
              <a:t>2</a:t>
            </a:r>
            <a:r>
              <a:rPr lang="en-US" altLang="zh-CN"/>
              <a:t>,6)=6</a:t>
            </a:r>
            <a:r>
              <a:rPr lang="en-US" altLang="zh-CN" u="sng" baseline="30000"/>
              <a:t>2</a:t>
            </a:r>
            <a:r>
              <a:rPr lang="en-US" altLang="zh-CN"/>
              <a:t>=6×5=30,</a:t>
            </a:r>
            <a:endParaRPr lang="en-US" altLang="zh-CN"/>
          </a:p>
          <a:p>
            <a:pPr marL="0" indent="0">
              <a:buNone/>
            </a:pPr>
            <a:r>
              <a:rPr lang="en-US" altLang="zh-CN" i="1"/>
              <a:t>f</a:t>
            </a:r>
            <a:r>
              <a:rPr lang="en-US" altLang="zh-CN"/>
              <a:t>(K</a:t>
            </a:r>
            <a:r>
              <a:rPr lang="en-US" altLang="zh-CN" baseline="-25000"/>
              <a:t>3</a:t>
            </a:r>
            <a:r>
              <a:rPr lang="en-US" altLang="zh-CN"/>
              <a:t>,6)=6</a:t>
            </a:r>
            <a:r>
              <a:rPr lang="en-US" altLang="zh-CN" u="sng" baseline="30000"/>
              <a:t>3</a:t>
            </a:r>
            <a:r>
              <a:rPr lang="en-US" altLang="zh-CN"/>
              <a:t>=6×5×4=120,</a:t>
            </a:r>
            <a:endParaRPr lang="en-US" altLang="zh-CN"/>
          </a:p>
          <a:p>
            <a:pPr marL="0" indent="0">
              <a:buNone/>
            </a:pPr>
            <a:r>
              <a:rPr lang="en-US" altLang="zh-CN" i="1"/>
              <a:t>f</a:t>
            </a:r>
            <a:r>
              <a:rPr lang="en-US" altLang="zh-CN"/>
              <a:t>(K</a:t>
            </a:r>
            <a:r>
              <a:rPr lang="en-US" altLang="zh-CN" baseline="-25000"/>
              <a:t>4</a:t>
            </a:r>
            <a:r>
              <a:rPr lang="en-US" altLang="zh-CN"/>
              <a:t>,6)=6</a:t>
            </a:r>
            <a:r>
              <a:rPr lang="en-US" altLang="zh-CN" u="sng" baseline="30000"/>
              <a:t>4</a:t>
            </a:r>
            <a:r>
              <a:rPr lang="en-US" altLang="zh-CN"/>
              <a:t>=6×5×4×3=360,</a:t>
            </a:r>
            <a:endParaRPr lang="en-US" altLang="zh-CN"/>
          </a:p>
          <a:p>
            <a:pPr marL="0" indent="0">
              <a:buNone/>
            </a:pPr>
            <a:r>
              <a:rPr lang="en-US" altLang="zh-CN" i="1"/>
              <a:t>f</a:t>
            </a:r>
            <a:r>
              <a:rPr lang="en-US" altLang="zh-CN"/>
              <a:t>(K</a:t>
            </a:r>
            <a:r>
              <a:rPr lang="en-US" altLang="zh-CN" baseline="-25000"/>
              <a:t>5</a:t>
            </a:r>
            <a:r>
              <a:rPr lang="en-US" altLang="zh-CN"/>
              <a:t>,6)=6</a:t>
            </a:r>
            <a:r>
              <a:rPr lang="en-US" altLang="zh-CN" u="sng" baseline="30000"/>
              <a:t>5</a:t>
            </a:r>
            <a:r>
              <a:rPr lang="en-US" altLang="zh-CN"/>
              <a:t>=6×5×4×3×2=720,</a:t>
            </a:r>
            <a:endParaRPr lang="en-US" altLang="zh-CN"/>
          </a:p>
          <a:p>
            <a:pPr marL="0" indent="0">
              <a:buNone/>
            </a:pPr>
            <a:r>
              <a:rPr lang="en-US" altLang="zh-CN" i="1"/>
              <a:t>f</a:t>
            </a:r>
            <a:r>
              <a:rPr lang="en-US" altLang="zh-CN"/>
              <a:t>(K</a:t>
            </a:r>
            <a:r>
              <a:rPr lang="en-US" altLang="zh-CN" baseline="-25000"/>
              <a:t>6</a:t>
            </a:r>
            <a:r>
              <a:rPr lang="en-US" altLang="zh-CN"/>
              <a:t>,6)=6</a:t>
            </a:r>
            <a:r>
              <a:rPr lang="en-US" altLang="zh-CN" u="sng" baseline="30000"/>
              <a:t>6</a:t>
            </a:r>
            <a:r>
              <a:rPr lang="en-US" altLang="zh-CN"/>
              <a:t>=6×5×4×3×2×1=720,</a:t>
            </a:r>
            <a:endParaRPr lang="en-US" altLang="zh-CN"/>
          </a:p>
          <a:p>
            <a:pPr marL="0" indent="0">
              <a:buNone/>
            </a:pPr>
            <a:r>
              <a:rPr lang="en-US" altLang="zh-CN" i="1"/>
              <a:t>f</a:t>
            </a:r>
            <a:r>
              <a:rPr lang="en-US" altLang="zh-CN"/>
              <a:t>(K</a:t>
            </a:r>
            <a:r>
              <a:rPr lang="en-US" altLang="zh-CN" baseline="-25000"/>
              <a:t>7</a:t>
            </a:r>
            <a:r>
              <a:rPr lang="en-US" altLang="zh-CN"/>
              <a:t>,6)=6</a:t>
            </a:r>
            <a:r>
              <a:rPr lang="en-US" altLang="zh-CN" u="sng" baseline="30000"/>
              <a:t>7</a:t>
            </a:r>
            <a:r>
              <a:rPr lang="en-US" altLang="zh-CN"/>
              <a:t>=6×5×4×3×2×1×0 =0, …</a:t>
            </a:r>
            <a:endParaRPr lang="en-US" altLang="zh-CN"/>
          </a:p>
          <a:p>
            <a:pPr marL="0" indent="0"/>
            <a:endParaRPr lang="en-US" altLang="zh-CN"/>
          </a:p>
        </p:txBody>
      </p:sp>
      <p:sp>
        <p:nvSpPr>
          <p:cNvPr id="7168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色多项式递推公式</a:t>
            </a:r>
            <a:endParaRPr lang="zh-CN" altLang="en-US"/>
          </a:p>
        </p:txBody>
      </p:sp>
      <p:sp>
        <p:nvSpPr>
          <p:cNvPr id="72706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4968875"/>
          </a:xfrm>
        </p:spPr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12.9:</a:t>
            </a:r>
            <a:endParaRPr lang="en-US" altLang="zh-CN">
              <a:solidFill>
                <a:schemeClr val="hlink"/>
              </a:solidFill>
            </a:endParaRPr>
          </a:p>
          <a:p>
            <a:pPr>
              <a:buNone/>
            </a:pPr>
            <a:r>
              <a:rPr lang="en-US" altLang="zh-CN"/>
              <a:t>   (1)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)=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∪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</a:t>
            </a:r>
            <a:r>
              <a:rPr lang="en-US" altLang="zh-CN">
                <a:solidFill>
                  <a:srgbClr val="FF0000"/>
                </a:solidFill>
              </a:rPr>
              <a:t>+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\e,</a:t>
            </a:r>
            <a:r>
              <a:rPr lang="en-US" altLang="zh-CN" i="1"/>
              <a:t>k</a:t>
            </a:r>
            <a:r>
              <a:rPr lang="en-US" altLang="zh-CN"/>
              <a:t>),</a:t>
            </a:r>
            <a:r>
              <a:rPr lang="en-US" altLang="zh-CN" i="1"/>
              <a:t>e</a:t>
            </a:r>
            <a:r>
              <a:rPr lang="en-US" altLang="zh-CN"/>
              <a:t>∉</a:t>
            </a:r>
            <a:r>
              <a:rPr lang="en-US" altLang="zh-CN" i="1"/>
              <a:t>E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)</a:t>
            </a:r>
            <a:endParaRPr lang="en-US" altLang="zh-CN"/>
          </a:p>
          <a:p>
            <a:pPr>
              <a:buNone/>
            </a:pPr>
            <a:r>
              <a:rPr lang="en-US" altLang="zh-CN"/>
              <a:t>   (2)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)=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-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</a:t>
            </a:r>
            <a:r>
              <a:rPr lang="en-US" altLang="zh-CN">
                <a:solidFill>
                  <a:srgbClr val="FF0000"/>
                </a:solidFill>
              </a:rPr>
              <a:t>-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\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), </a:t>
            </a:r>
            <a:r>
              <a:rPr lang="en-US" altLang="zh-CN" i="1"/>
              <a:t>e</a:t>
            </a:r>
            <a:r>
              <a:rPr lang="en-US" altLang="zh-CN"/>
              <a:t>∈</a:t>
            </a:r>
            <a:r>
              <a:rPr lang="en-US" altLang="zh-CN" i="1"/>
              <a:t>E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)</a:t>
            </a:r>
            <a:endParaRPr lang="en-US" altLang="zh-CN"/>
          </a:p>
          <a:p>
            <a:pPr>
              <a:buNone/>
            </a:pPr>
            <a:r>
              <a:rPr lang="zh-CN" altLang="en-US">
                <a:solidFill>
                  <a:schemeClr val="hlink"/>
                </a:solidFill>
              </a:rPr>
              <a:t>证</a:t>
            </a:r>
            <a:r>
              <a:rPr lang="en-US" altLang="zh-CN"/>
              <a:t>: (1) </a:t>
            </a:r>
            <a:r>
              <a:rPr lang="zh-CN" altLang="en-US"/>
              <a:t>设</a:t>
            </a:r>
            <a:r>
              <a:rPr lang="en-US" altLang="zh-CN" i="1"/>
              <a:t>e</a:t>
            </a:r>
            <a:r>
              <a:rPr lang="en-US" altLang="zh-CN"/>
              <a:t>=(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). 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zh-CN" altLang="en-US"/>
              <a:t>着不同颜色的着色总数是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zh-CN" altLang="en-US"/>
              <a:t>∪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), 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zh-CN" altLang="en-US"/>
              <a:t>着相同颜色的着色总数是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\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).</a:t>
            </a:r>
            <a:endParaRPr lang="en-US" altLang="zh-CN"/>
          </a:p>
          <a:p>
            <a:pPr>
              <a:buNone/>
            </a:pPr>
            <a:r>
              <a:rPr lang="en-US" altLang="zh-CN"/>
              <a:t>(2) </a:t>
            </a:r>
            <a:r>
              <a:rPr lang="zh-CN" altLang="en-US"/>
              <a:t>对</a:t>
            </a:r>
            <a:r>
              <a:rPr lang="en-US" altLang="zh-CN" i="1"/>
              <a:t>G</a:t>
            </a:r>
            <a:r>
              <a:rPr lang="en-US" altLang="zh-CN"/>
              <a:t>-</a:t>
            </a:r>
            <a:r>
              <a:rPr lang="en-US" altLang="zh-CN" i="1"/>
              <a:t>e</a:t>
            </a:r>
            <a:r>
              <a:rPr lang="zh-CN" altLang="en-US"/>
              <a:t>利用</a:t>
            </a:r>
            <a:r>
              <a:rPr lang="en-US" altLang="zh-CN"/>
              <a:t>(1): </a:t>
            </a:r>
            <a:r>
              <a:rPr lang="en-US" altLang="zh-CN" i="1"/>
              <a:t>e</a:t>
            </a:r>
            <a:r>
              <a:rPr lang="en-US" altLang="zh-CN"/>
              <a:t>∉</a:t>
            </a:r>
            <a:r>
              <a:rPr lang="en-US" altLang="zh-CN" i="1"/>
              <a:t>E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-</a:t>
            </a:r>
            <a:r>
              <a:rPr lang="en-US" altLang="zh-CN" i="1"/>
              <a:t>e</a:t>
            </a:r>
            <a:r>
              <a:rPr lang="en-US" altLang="zh-CN"/>
              <a:t>), (</a:t>
            </a:r>
            <a:r>
              <a:rPr lang="en-US" altLang="zh-CN" i="1"/>
              <a:t>G</a:t>
            </a:r>
            <a:r>
              <a:rPr lang="en-US" altLang="zh-CN"/>
              <a:t>-</a:t>
            </a:r>
            <a:r>
              <a:rPr lang="en-US" altLang="zh-CN" i="1"/>
              <a:t>e</a:t>
            </a:r>
            <a:r>
              <a:rPr lang="en-US" altLang="zh-CN"/>
              <a:t>)∪</a:t>
            </a:r>
            <a:r>
              <a:rPr lang="en-US" altLang="zh-CN" i="1"/>
              <a:t>e</a:t>
            </a:r>
            <a:r>
              <a:rPr lang="en-US" altLang="zh-CN"/>
              <a:t>=</a:t>
            </a:r>
            <a:r>
              <a:rPr lang="en-US" altLang="zh-CN" i="1"/>
              <a:t>G</a:t>
            </a:r>
            <a:r>
              <a:rPr lang="en-US" altLang="zh-CN"/>
              <a:t>,</a:t>
            </a:r>
            <a:endParaRPr lang="en-US" altLang="zh-CN"/>
          </a:p>
          <a:p>
            <a:pPr>
              <a:buNone/>
            </a:pPr>
            <a:r>
              <a:rPr lang="en-US" altLang="zh-CN"/>
              <a:t>     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-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)=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)+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\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7270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charRg st="87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charRg st="152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charRg st="188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推论</a:t>
            </a:r>
            <a:endParaRPr lang="zh-CN" altLang="en-US"/>
          </a:p>
        </p:txBody>
      </p:sp>
      <p:sp>
        <p:nvSpPr>
          <p:cNvPr id="73730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3168650"/>
          </a:xfrm>
        </p:spPr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推论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)=</a:t>
            </a:r>
            <a:r>
              <a:rPr lang="en-US" altLang="zh-CN" i="1"/>
              <a:t>f</a:t>
            </a:r>
            <a:r>
              <a:rPr lang="en-US" altLang="zh-CN"/>
              <a:t>(K</a:t>
            </a:r>
            <a:r>
              <a:rPr lang="en-US" altLang="zh-CN" i="1" baseline="-25000"/>
              <a:t>n</a:t>
            </a:r>
            <a:r>
              <a:rPr lang="en-US" altLang="zh-CN" baseline="-50000"/>
              <a:t>1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)+</a:t>
            </a:r>
            <a:r>
              <a:rPr lang="en-US" altLang="zh-CN" i="1"/>
              <a:t>f</a:t>
            </a:r>
            <a:r>
              <a:rPr lang="en-US" altLang="zh-CN"/>
              <a:t>(K</a:t>
            </a:r>
            <a:r>
              <a:rPr lang="en-US" altLang="zh-CN" i="1" baseline="-25000"/>
              <a:t>n</a:t>
            </a:r>
            <a:r>
              <a:rPr lang="en-US" altLang="zh-CN" baseline="-50000"/>
              <a:t>2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)+…+</a:t>
            </a:r>
            <a:r>
              <a:rPr lang="en-US" altLang="zh-CN" i="1"/>
              <a:t>f(</a:t>
            </a:r>
            <a:r>
              <a:rPr lang="en-US" altLang="zh-CN"/>
              <a:t>K</a:t>
            </a:r>
            <a:r>
              <a:rPr lang="en-US" altLang="zh-CN" i="1" baseline="-25000"/>
              <a:t>n</a:t>
            </a:r>
            <a:r>
              <a:rPr lang="en-US" altLang="zh-CN" baseline="-50000"/>
              <a:t>r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),</a:t>
            </a:r>
            <a:endParaRPr lang="en-US" altLang="zh-CN"/>
          </a:p>
          <a:p>
            <a:pPr>
              <a:buNone/>
            </a:pPr>
            <a:r>
              <a:rPr lang="en-US" altLang="zh-CN"/>
              <a:t>         </a:t>
            </a:r>
            <a:r>
              <a:rPr lang="el-GR" altLang="zh-CN"/>
              <a:t>χ(</a:t>
            </a:r>
            <a:r>
              <a:rPr lang="en-US" altLang="zh-CN"/>
              <a:t>G)=min{ </a:t>
            </a:r>
            <a:r>
              <a:rPr lang="en-US" altLang="zh-CN" i="1"/>
              <a:t>n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n</a:t>
            </a:r>
            <a:r>
              <a:rPr lang="en-US" altLang="zh-CN" baseline="-25000"/>
              <a:t>2</a:t>
            </a:r>
            <a:r>
              <a:rPr lang="en-US" altLang="zh-CN"/>
              <a:t>,…, </a:t>
            </a:r>
            <a:r>
              <a:rPr lang="en-US" altLang="zh-CN" i="1"/>
              <a:t>n</a:t>
            </a:r>
            <a:r>
              <a:rPr lang="en-US" altLang="zh-CN" i="1" baseline="-25000"/>
              <a:t>r</a:t>
            </a:r>
            <a:r>
              <a:rPr lang="en-US" altLang="zh-CN"/>
              <a:t> }</a:t>
            </a:r>
            <a:endParaRPr lang="en-US" altLang="zh-CN"/>
          </a:p>
          <a:p>
            <a:pPr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反复利用递推公式</a:t>
            </a:r>
            <a:r>
              <a:rPr lang="en-US" altLang="zh-CN"/>
              <a:t>(1), </a:t>
            </a:r>
            <a:r>
              <a:rPr lang="zh-CN" altLang="en-US"/>
              <a:t>以及</a:t>
            </a:r>
            <a:endParaRPr lang="zh-CN" altLang="en-US"/>
          </a:p>
          <a:p>
            <a:pPr>
              <a:buNone/>
            </a:pPr>
            <a:r>
              <a:rPr lang="en-US" altLang="zh-CN"/>
              <a:t>    </a:t>
            </a:r>
            <a:r>
              <a:rPr lang="el-GR" altLang="zh-CN"/>
              <a:t>χ(</a:t>
            </a:r>
            <a:r>
              <a:rPr lang="en-US" altLang="zh-CN"/>
              <a:t>G)=min{ </a:t>
            </a:r>
            <a:r>
              <a:rPr lang="en-US" altLang="zh-CN" i="1"/>
              <a:t>k</a:t>
            </a:r>
            <a:r>
              <a:rPr lang="en-US" altLang="zh-CN"/>
              <a:t> |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)&gt;0 }, </a:t>
            </a:r>
            <a:r>
              <a:rPr lang="el-GR" altLang="zh-CN"/>
              <a:t>χ(</a:t>
            </a:r>
            <a:r>
              <a:rPr lang="en-US" altLang="zh-CN" i="1"/>
              <a:t>K</a:t>
            </a:r>
            <a:r>
              <a:rPr lang="en-US" altLang="zh-CN" baseline="-25000"/>
              <a:t>n</a:t>
            </a:r>
            <a:r>
              <a:rPr lang="en-US" altLang="zh-CN"/>
              <a:t>)=</a:t>
            </a:r>
            <a:r>
              <a:rPr lang="en-US" altLang="zh-CN" i="1"/>
              <a:t>n</a:t>
            </a:r>
            <a:r>
              <a:rPr lang="en-US" altLang="zh-CN"/>
              <a:t>. </a:t>
            </a:r>
            <a:endParaRPr lang="en-US" altLang="zh-CN"/>
          </a:p>
          <a:p>
            <a:r>
              <a:rPr lang="zh-CN" altLang="en-US"/>
              <a:t>例</a:t>
            </a:r>
            <a:r>
              <a:rPr lang="en-US" altLang="zh-CN"/>
              <a:t>12.3: </a:t>
            </a:r>
            <a:r>
              <a:rPr lang="zh-CN" altLang="en-US"/>
              <a:t>求下图</a:t>
            </a:r>
            <a:r>
              <a:rPr lang="en-US" altLang="zh-CN"/>
              <a:t>G</a:t>
            </a:r>
            <a:r>
              <a:rPr lang="zh-CN" altLang="en-US"/>
              <a:t>的色多项式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7373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  <p:grpSp>
        <p:nvGrpSpPr>
          <p:cNvPr id="73732" name="组合 40"/>
          <p:cNvGrpSpPr/>
          <p:nvPr/>
        </p:nvGrpSpPr>
        <p:grpSpPr>
          <a:xfrm>
            <a:off x="2484438" y="4581525"/>
            <a:ext cx="1584325" cy="1512888"/>
            <a:chOff x="6516216" y="1484784"/>
            <a:chExt cx="1584052" cy="1512168"/>
          </a:xfrm>
        </p:grpSpPr>
        <p:sp>
          <p:nvSpPr>
            <p:cNvPr id="7" name="椭圆 6"/>
            <p:cNvSpPr/>
            <p:nvPr/>
          </p:nvSpPr>
          <p:spPr bwMode="auto">
            <a:xfrm>
              <a:off x="6516216" y="2060903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7164288" y="148478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7884368" y="2060848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6804248" y="2780983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7596336" y="2780983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73738" name="直接连接符 19"/>
            <p:cNvCxnSpPr/>
            <p:nvPr/>
          </p:nvCxnSpPr>
          <p:spPr>
            <a:xfrm rot="5400000">
              <a:off x="6736499" y="1633124"/>
              <a:ext cx="423406" cy="495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739" name="直接连接符 27"/>
            <p:cNvCxnSpPr/>
            <p:nvPr/>
          </p:nvCxnSpPr>
          <p:spPr>
            <a:xfrm rot="-5400000" flipH="1">
              <a:off x="7420595" y="1597083"/>
              <a:ext cx="423351" cy="56741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740" name="直接连接符 29"/>
            <p:cNvCxnSpPr/>
            <p:nvPr/>
          </p:nvCxnSpPr>
          <p:spPr>
            <a:xfrm rot="-5400000" flipH="1">
              <a:off x="6462139" y="2438882"/>
              <a:ext cx="535739" cy="2117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741" name="直接连接符 31"/>
            <p:cNvCxnSpPr/>
            <p:nvPr/>
          </p:nvCxnSpPr>
          <p:spPr>
            <a:xfrm>
              <a:off x="6732116" y="2168888"/>
              <a:ext cx="864220" cy="7200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742" name="直接连接符 33"/>
            <p:cNvCxnSpPr/>
            <p:nvPr/>
          </p:nvCxnSpPr>
          <p:spPr>
            <a:xfrm flipV="1">
              <a:off x="6732116" y="2168833"/>
              <a:ext cx="1152252" cy="5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743" name="直接连接符 35"/>
            <p:cNvCxnSpPr/>
            <p:nvPr/>
          </p:nvCxnSpPr>
          <p:spPr>
            <a:xfrm rot="5400000">
              <a:off x="7618571" y="2438864"/>
              <a:ext cx="535794" cy="2117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744" name="直接连接符 39"/>
            <p:cNvCxnSpPr/>
            <p:nvPr/>
          </p:nvCxnSpPr>
          <p:spPr>
            <a:xfrm>
              <a:off x="7020148" y="2888968"/>
              <a:ext cx="5761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charRg st="75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charRg st="9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例</a:t>
            </a:r>
            <a:r>
              <a:rPr lang="en-US" altLang="zh-CN"/>
              <a:t>12.3</a:t>
            </a:r>
            <a:r>
              <a:rPr lang="zh-CN" altLang="en-US"/>
              <a:t> 解</a:t>
            </a:r>
            <a:endParaRPr lang="zh-CN" altLang="en-US"/>
          </a:p>
        </p:txBody>
      </p:sp>
      <p:sp>
        <p:nvSpPr>
          <p:cNvPr id="74754" name="内容占位符 2"/>
          <p:cNvSpPr>
            <a:spLocks noGrp="1"/>
          </p:cNvSpPr>
          <p:nvPr>
            <p:ph idx="1"/>
          </p:nvPr>
        </p:nvSpPr>
        <p:spPr>
          <a:xfrm>
            <a:off x="207963" y="1249363"/>
            <a:ext cx="8496300" cy="684212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chemeClr val="hlink"/>
                </a:solidFill>
              </a:rPr>
              <a:t>解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endParaRPr lang="zh-CN" altLang="en-US"/>
          </a:p>
        </p:txBody>
      </p:sp>
      <p:sp>
        <p:nvSpPr>
          <p:cNvPr id="7475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164388" y="6284913"/>
            <a:ext cx="1905000" cy="457200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  <p:grpSp>
        <p:nvGrpSpPr>
          <p:cNvPr id="74756" name="组合 40"/>
          <p:cNvGrpSpPr/>
          <p:nvPr/>
        </p:nvGrpSpPr>
        <p:grpSpPr>
          <a:xfrm>
            <a:off x="1154113" y="1125538"/>
            <a:ext cx="1206500" cy="1152525"/>
            <a:chOff x="6516216" y="1484784"/>
            <a:chExt cx="1584052" cy="1512168"/>
          </a:xfrm>
        </p:grpSpPr>
        <p:sp>
          <p:nvSpPr>
            <p:cNvPr id="7" name="椭圆 6"/>
            <p:cNvSpPr/>
            <p:nvPr/>
          </p:nvSpPr>
          <p:spPr bwMode="auto">
            <a:xfrm>
              <a:off x="6516216" y="2060903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7164288" y="148478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7884368" y="2060848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6804248" y="2780983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7596336" y="2780983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74762" name="直接连接符 19"/>
            <p:cNvCxnSpPr/>
            <p:nvPr/>
          </p:nvCxnSpPr>
          <p:spPr>
            <a:xfrm rot="5400000">
              <a:off x="6736499" y="1633124"/>
              <a:ext cx="423406" cy="495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63" name="直接连接符 27"/>
            <p:cNvCxnSpPr/>
            <p:nvPr/>
          </p:nvCxnSpPr>
          <p:spPr>
            <a:xfrm rot="-5400000" flipH="1">
              <a:off x="7420595" y="1597083"/>
              <a:ext cx="423351" cy="56741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64" name="直接连接符 29"/>
            <p:cNvCxnSpPr/>
            <p:nvPr/>
          </p:nvCxnSpPr>
          <p:spPr>
            <a:xfrm rot="-5400000" flipH="1">
              <a:off x="6462139" y="2438882"/>
              <a:ext cx="535739" cy="2117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65" name="直接连接符 31"/>
            <p:cNvCxnSpPr/>
            <p:nvPr/>
          </p:nvCxnSpPr>
          <p:spPr>
            <a:xfrm>
              <a:off x="6732116" y="2168888"/>
              <a:ext cx="864220" cy="7200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66" name="直接连接符 33"/>
            <p:cNvCxnSpPr/>
            <p:nvPr/>
          </p:nvCxnSpPr>
          <p:spPr>
            <a:xfrm flipV="1">
              <a:off x="6732116" y="2168833"/>
              <a:ext cx="1152252" cy="5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67" name="直接连接符 35"/>
            <p:cNvCxnSpPr/>
            <p:nvPr/>
          </p:nvCxnSpPr>
          <p:spPr>
            <a:xfrm rot="5400000">
              <a:off x="7618571" y="2438864"/>
              <a:ext cx="535794" cy="2117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68" name="直接连接符 39"/>
            <p:cNvCxnSpPr/>
            <p:nvPr/>
          </p:nvCxnSpPr>
          <p:spPr>
            <a:xfrm>
              <a:off x="7020148" y="2888968"/>
              <a:ext cx="5761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769" name="右箭头 18"/>
          <p:cNvSpPr/>
          <p:nvPr/>
        </p:nvSpPr>
        <p:spPr>
          <a:xfrm>
            <a:off x="2738438" y="1628775"/>
            <a:ext cx="663575" cy="301625"/>
          </a:xfrm>
          <a:prstGeom prst="rightArrow">
            <a:avLst>
              <a:gd name="adj1" fmla="val 50000"/>
              <a:gd name="adj2" fmla="val 49917"/>
            </a:avLst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endParaRPr lang="zh-CN" altLang="en-US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74770" name="组合 50"/>
          <p:cNvGrpSpPr/>
          <p:nvPr/>
        </p:nvGrpSpPr>
        <p:grpSpPr>
          <a:xfrm>
            <a:off x="3603625" y="1125538"/>
            <a:ext cx="1200150" cy="1146175"/>
            <a:chOff x="3419872" y="2996952"/>
            <a:chExt cx="1584325" cy="1512887"/>
          </a:xfrm>
        </p:grpSpPr>
        <p:grpSp>
          <p:nvGrpSpPr>
            <p:cNvPr id="74771" name="组合 40"/>
            <p:cNvGrpSpPr/>
            <p:nvPr/>
          </p:nvGrpSpPr>
          <p:grpSpPr>
            <a:xfrm>
              <a:off x="3419872" y="2996952"/>
              <a:ext cx="1584325" cy="1512887"/>
              <a:chOff x="6516216" y="1484784"/>
              <a:chExt cx="1584052" cy="1512168"/>
            </a:xfrm>
          </p:grpSpPr>
          <p:sp>
            <p:nvSpPr>
              <p:cNvPr id="21" name="椭圆 20"/>
              <p:cNvSpPr/>
              <p:nvPr/>
            </p:nvSpPr>
            <p:spPr bwMode="auto">
              <a:xfrm>
                <a:off x="6516216" y="2060903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 bwMode="auto">
              <a:xfrm>
                <a:off x="7164288" y="1484784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rgbClr val="FFC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23" name="椭圆 22"/>
              <p:cNvSpPr/>
              <p:nvPr/>
            </p:nvSpPr>
            <p:spPr bwMode="auto">
              <a:xfrm>
                <a:off x="7884368" y="2060848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 bwMode="auto">
              <a:xfrm>
                <a:off x="6804248" y="2780983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 bwMode="auto">
              <a:xfrm>
                <a:off x="7596336" y="2780983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74777" name="直接连接符 19"/>
              <p:cNvCxnSpPr/>
              <p:nvPr/>
            </p:nvCxnSpPr>
            <p:spPr>
              <a:xfrm rot="5400000">
                <a:off x="6736499" y="1633124"/>
                <a:ext cx="423406" cy="495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778" name="直接连接符 27"/>
              <p:cNvCxnSpPr/>
              <p:nvPr/>
            </p:nvCxnSpPr>
            <p:spPr>
              <a:xfrm rot="-5400000" flipH="1">
                <a:off x="7420595" y="1597083"/>
                <a:ext cx="423351" cy="56741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779" name="直接连接符 29"/>
              <p:cNvCxnSpPr/>
              <p:nvPr/>
            </p:nvCxnSpPr>
            <p:spPr>
              <a:xfrm rot="-5400000" flipH="1">
                <a:off x="6462139" y="2438882"/>
                <a:ext cx="535739" cy="21170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780" name="直接连接符 31"/>
              <p:cNvCxnSpPr/>
              <p:nvPr/>
            </p:nvCxnSpPr>
            <p:spPr>
              <a:xfrm>
                <a:off x="6732116" y="2168888"/>
                <a:ext cx="864220" cy="72008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781" name="直接连接符 33"/>
              <p:cNvCxnSpPr/>
              <p:nvPr/>
            </p:nvCxnSpPr>
            <p:spPr>
              <a:xfrm flipV="1">
                <a:off x="6732116" y="2168833"/>
                <a:ext cx="1152252" cy="5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782" name="直接连接符 35"/>
              <p:cNvCxnSpPr/>
              <p:nvPr/>
            </p:nvCxnSpPr>
            <p:spPr>
              <a:xfrm rot="5400000">
                <a:off x="7618571" y="2438864"/>
                <a:ext cx="535794" cy="21170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783" name="直接连接符 39"/>
              <p:cNvCxnSpPr/>
              <p:nvPr/>
            </p:nvCxnSpPr>
            <p:spPr>
              <a:xfrm>
                <a:off x="7020148" y="2888968"/>
                <a:ext cx="57618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74784" name="直接连接符 31"/>
            <p:cNvCxnSpPr/>
            <p:nvPr/>
          </p:nvCxnSpPr>
          <p:spPr>
            <a:xfrm rot="5400000" flipH="1" flipV="1">
              <a:off x="4072222" y="3577750"/>
              <a:ext cx="567691" cy="927615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785" name="十字形 35"/>
          <p:cNvSpPr/>
          <p:nvPr/>
        </p:nvSpPr>
        <p:spPr>
          <a:xfrm>
            <a:off x="5259388" y="1557338"/>
            <a:ext cx="360362" cy="431800"/>
          </a:xfrm>
          <a:prstGeom prst="plus">
            <a:avLst>
              <a:gd name="adj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endParaRPr lang="zh-CN" altLang="en-US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74786" name="组合 40"/>
          <p:cNvGrpSpPr/>
          <p:nvPr/>
        </p:nvGrpSpPr>
        <p:grpSpPr>
          <a:xfrm>
            <a:off x="6051550" y="1125538"/>
            <a:ext cx="1206500" cy="1152525"/>
            <a:chOff x="6516216" y="1484784"/>
            <a:chExt cx="1584052" cy="1512168"/>
          </a:xfrm>
        </p:grpSpPr>
        <p:sp>
          <p:nvSpPr>
            <p:cNvPr id="38" name="椭圆 37"/>
            <p:cNvSpPr/>
            <p:nvPr/>
          </p:nvSpPr>
          <p:spPr bwMode="auto">
            <a:xfrm>
              <a:off x="6516216" y="2060903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9" name="椭圆 38"/>
            <p:cNvSpPr/>
            <p:nvPr/>
          </p:nvSpPr>
          <p:spPr bwMode="auto">
            <a:xfrm>
              <a:off x="7164288" y="148478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0" name="椭圆 39"/>
            <p:cNvSpPr/>
            <p:nvPr/>
          </p:nvSpPr>
          <p:spPr bwMode="auto">
            <a:xfrm>
              <a:off x="7884368" y="2060848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2" name="椭圆 41"/>
            <p:cNvSpPr/>
            <p:nvPr/>
          </p:nvSpPr>
          <p:spPr bwMode="auto">
            <a:xfrm>
              <a:off x="7596336" y="2780983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74791" name="直接连接符 19"/>
            <p:cNvCxnSpPr/>
            <p:nvPr/>
          </p:nvCxnSpPr>
          <p:spPr>
            <a:xfrm rot="5400000">
              <a:off x="6736499" y="1633124"/>
              <a:ext cx="423406" cy="495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92" name="直接连接符 27"/>
            <p:cNvCxnSpPr/>
            <p:nvPr/>
          </p:nvCxnSpPr>
          <p:spPr>
            <a:xfrm rot="-5400000" flipH="1">
              <a:off x="7420595" y="1597083"/>
              <a:ext cx="423351" cy="56741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93" name="直接连接符 31"/>
            <p:cNvCxnSpPr/>
            <p:nvPr/>
          </p:nvCxnSpPr>
          <p:spPr>
            <a:xfrm>
              <a:off x="6732116" y="2168888"/>
              <a:ext cx="864220" cy="7200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94" name="直接连接符 33"/>
            <p:cNvCxnSpPr/>
            <p:nvPr/>
          </p:nvCxnSpPr>
          <p:spPr>
            <a:xfrm flipV="1">
              <a:off x="6732116" y="2168833"/>
              <a:ext cx="1152252" cy="5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95" name="直接连接符 35"/>
            <p:cNvCxnSpPr/>
            <p:nvPr/>
          </p:nvCxnSpPr>
          <p:spPr>
            <a:xfrm rot="5400000">
              <a:off x="7618571" y="2438864"/>
              <a:ext cx="535794" cy="2117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796" name="右箭头 49"/>
          <p:cNvSpPr/>
          <p:nvPr/>
        </p:nvSpPr>
        <p:spPr>
          <a:xfrm>
            <a:off x="1122363" y="3348038"/>
            <a:ext cx="615950" cy="279400"/>
          </a:xfrm>
          <a:prstGeom prst="rightArrow">
            <a:avLst>
              <a:gd name="adj1" fmla="val 50000"/>
              <a:gd name="adj2" fmla="val 50020"/>
            </a:avLst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endParaRPr lang="zh-CN" altLang="en-US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74797" name="组合 101"/>
          <p:cNvGrpSpPr/>
          <p:nvPr/>
        </p:nvGrpSpPr>
        <p:grpSpPr>
          <a:xfrm>
            <a:off x="1987550" y="2770188"/>
            <a:ext cx="1119188" cy="1069975"/>
            <a:chOff x="2267744" y="4580409"/>
            <a:chExt cx="1584325" cy="1512887"/>
          </a:xfrm>
        </p:grpSpPr>
        <p:grpSp>
          <p:nvGrpSpPr>
            <p:cNvPr id="74798" name="组合 51"/>
            <p:cNvGrpSpPr/>
            <p:nvPr/>
          </p:nvGrpSpPr>
          <p:grpSpPr>
            <a:xfrm>
              <a:off x="2267744" y="4580409"/>
              <a:ext cx="1584325" cy="1512887"/>
              <a:chOff x="3419872" y="2996952"/>
              <a:chExt cx="1584325" cy="1512887"/>
            </a:xfrm>
          </p:grpSpPr>
          <p:grpSp>
            <p:nvGrpSpPr>
              <p:cNvPr id="74799" name="组合 40"/>
              <p:cNvGrpSpPr/>
              <p:nvPr/>
            </p:nvGrpSpPr>
            <p:grpSpPr>
              <a:xfrm>
                <a:off x="3419866" y="2996955"/>
                <a:ext cx="1584323" cy="1512890"/>
                <a:chOff x="6516216" y="1484784"/>
                <a:chExt cx="1584052" cy="1512168"/>
              </a:xfrm>
            </p:grpSpPr>
            <p:sp>
              <p:nvSpPr>
                <p:cNvPr id="55" name="椭圆 54"/>
                <p:cNvSpPr/>
                <p:nvPr/>
              </p:nvSpPr>
              <p:spPr bwMode="auto">
                <a:xfrm>
                  <a:off x="6516216" y="2060903"/>
                  <a:ext cx="215900" cy="215969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 bwMode="auto">
                <a:xfrm>
                  <a:off x="7164288" y="1484784"/>
                  <a:ext cx="215900" cy="215969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rgbClr val="FFC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 bwMode="auto">
                <a:xfrm>
                  <a:off x="7884368" y="2060848"/>
                  <a:ext cx="215900" cy="215969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58" name="椭圆 57"/>
                <p:cNvSpPr/>
                <p:nvPr/>
              </p:nvSpPr>
              <p:spPr bwMode="auto">
                <a:xfrm>
                  <a:off x="6804248" y="2780983"/>
                  <a:ext cx="215900" cy="215969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59" name="椭圆 58"/>
                <p:cNvSpPr/>
                <p:nvPr/>
              </p:nvSpPr>
              <p:spPr bwMode="auto">
                <a:xfrm>
                  <a:off x="7596336" y="2780983"/>
                  <a:ext cx="215900" cy="215969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cxnSp>
              <p:nvCxnSpPr>
                <p:cNvPr id="74805" name="直接连接符 19"/>
                <p:cNvCxnSpPr/>
                <p:nvPr/>
              </p:nvCxnSpPr>
              <p:spPr>
                <a:xfrm rot="5400000">
                  <a:off x="6736499" y="1633124"/>
                  <a:ext cx="423406" cy="49540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806" name="直接连接符 27"/>
                <p:cNvCxnSpPr/>
                <p:nvPr/>
              </p:nvCxnSpPr>
              <p:spPr>
                <a:xfrm rot="-5400000" flipH="1">
                  <a:off x="7420595" y="1597083"/>
                  <a:ext cx="423351" cy="56741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807" name="直接连接符 29"/>
                <p:cNvCxnSpPr/>
                <p:nvPr/>
              </p:nvCxnSpPr>
              <p:spPr>
                <a:xfrm rot="-5400000" flipH="1">
                  <a:off x="6462139" y="2438882"/>
                  <a:ext cx="535739" cy="21170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808" name="直接连接符 31"/>
                <p:cNvCxnSpPr/>
                <p:nvPr/>
              </p:nvCxnSpPr>
              <p:spPr>
                <a:xfrm>
                  <a:off x="6732116" y="2168888"/>
                  <a:ext cx="864220" cy="72008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809" name="直接连接符 33"/>
                <p:cNvCxnSpPr/>
                <p:nvPr/>
              </p:nvCxnSpPr>
              <p:spPr>
                <a:xfrm flipV="1">
                  <a:off x="6732116" y="2168833"/>
                  <a:ext cx="1152252" cy="55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810" name="直接连接符 35"/>
                <p:cNvCxnSpPr/>
                <p:nvPr/>
              </p:nvCxnSpPr>
              <p:spPr>
                <a:xfrm rot="5400000">
                  <a:off x="7618571" y="2438864"/>
                  <a:ext cx="535794" cy="21170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811" name="直接连接符 39"/>
                <p:cNvCxnSpPr/>
                <p:nvPr/>
              </p:nvCxnSpPr>
              <p:spPr>
                <a:xfrm>
                  <a:off x="7020148" y="2888968"/>
                  <a:ext cx="576188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74812" name="直接连接符 31"/>
              <p:cNvCxnSpPr/>
              <p:nvPr/>
            </p:nvCxnSpPr>
            <p:spPr>
              <a:xfrm rot="5400000" flipH="1" flipV="1">
                <a:off x="4072222" y="3577750"/>
                <a:ext cx="567691" cy="927615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74813" name="直接连接符 31"/>
            <p:cNvCxnSpPr/>
            <p:nvPr/>
          </p:nvCxnSpPr>
          <p:spPr>
            <a:xfrm rot="5400000" flipH="1" flipV="1">
              <a:off x="2303466" y="5156806"/>
              <a:ext cx="1080746" cy="36010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814" name="十字形 69"/>
          <p:cNvSpPr/>
          <p:nvPr/>
        </p:nvSpPr>
        <p:spPr>
          <a:xfrm>
            <a:off x="3498850" y="3130550"/>
            <a:ext cx="392113" cy="392113"/>
          </a:xfrm>
          <a:prstGeom prst="plus">
            <a:avLst>
              <a:gd name="adj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endParaRPr lang="zh-CN" altLang="en-US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74815" name="组合 89"/>
          <p:cNvGrpSpPr/>
          <p:nvPr/>
        </p:nvGrpSpPr>
        <p:grpSpPr>
          <a:xfrm>
            <a:off x="4578350" y="2627313"/>
            <a:ext cx="1065213" cy="1016000"/>
            <a:chOff x="5940146" y="4437115"/>
            <a:chExt cx="1584323" cy="1512890"/>
          </a:xfrm>
        </p:grpSpPr>
        <p:grpSp>
          <p:nvGrpSpPr>
            <p:cNvPr id="74816" name="组合 40"/>
            <p:cNvGrpSpPr/>
            <p:nvPr/>
          </p:nvGrpSpPr>
          <p:grpSpPr>
            <a:xfrm>
              <a:off x="5940146" y="4437115"/>
              <a:ext cx="1584323" cy="1512890"/>
              <a:chOff x="6516216" y="1484784"/>
              <a:chExt cx="1584052" cy="1512168"/>
            </a:xfrm>
          </p:grpSpPr>
          <p:sp>
            <p:nvSpPr>
              <p:cNvPr id="74" name="椭圆 73"/>
              <p:cNvSpPr/>
              <p:nvPr/>
            </p:nvSpPr>
            <p:spPr bwMode="auto">
              <a:xfrm>
                <a:off x="6516216" y="2060903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75" name="椭圆 74"/>
              <p:cNvSpPr/>
              <p:nvPr/>
            </p:nvSpPr>
            <p:spPr bwMode="auto">
              <a:xfrm>
                <a:off x="7164288" y="1484784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rgbClr val="FFC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76" name="椭圆 75"/>
              <p:cNvSpPr/>
              <p:nvPr/>
            </p:nvSpPr>
            <p:spPr bwMode="auto">
              <a:xfrm>
                <a:off x="7884368" y="2060848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 bwMode="auto">
              <a:xfrm>
                <a:off x="7596336" y="2780983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74821" name="直接连接符 19"/>
              <p:cNvCxnSpPr/>
              <p:nvPr/>
            </p:nvCxnSpPr>
            <p:spPr>
              <a:xfrm rot="5400000">
                <a:off x="6736499" y="1633124"/>
                <a:ext cx="423406" cy="495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822" name="直接连接符 27"/>
              <p:cNvCxnSpPr/>
              <p:nvPr/>
            </p:nvCxnSpPr>
            <p:spPr>
              <a:xfrm rot="-5400000" flipH="1">
                <a:off x="7420595" y="1597083"/>
                <a:ext cx="423351" cy="56741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823" name="直接连接符 31"/>
              <p:cNvCxnSpPr/>
              <p:nvPr/>
            </p:nvCxnSpPr>
            <p:spPr>
              <a:xfrm>
                <a:off x="6732116" y="2168888"/>
                <a:ext cx="864220" cy="72008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824" name="直接连接符 33"/>
              <p:cNvCxnSpPr/>
              <p:nvPr/>
            </p:nvCxnSpPr>
            <p:spPr>
              <a:xfrm flipV="1">
                <a:off x="6732116" y="2168833"/>
                <a:ext cx="1152252" cy="5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825" name="直接连接符 35"/>
              <p:cNvCxnSpPr/>
              <p:nvPr/>
            </p:nvCxnSpPr>
            <p:spPr>
              <a:xfrm rot="5400000">
                <a:off x="7618571" y="2438864"/>
                <a:ext cx="535794" cy="21170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74826" name="直接连接符 31"/>
            <p:cNvCxnSpPr/>
            <p:nvPr/>
          </p:nvCxnSpPr>
          <p:spPr>
            <a:xfrm rot="-5400000" flipH="1">
              <a:off x="6371986" y="4977499"/>
              <a:ext cx="1080746" cy="43212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827" name="TextBox 88"/>
          <p:cNvSpPr txBox="1"/>
          <p:nvPr/>
        </p:nvSpPr>
        <p:spPr>
          <a:xfrm>
            <a:off x="4146550" y="2760663"/>
            <a:ext cx="363538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36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endParaRPr lang="zh-CN" altLang="en-US" sz="3600" i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4828" name="十字形 90"/>
          <p:cNvSpPr/>
          <p:nvPr/>
        </p:nvSpPr>
        <p:spPr>
          <a:xfrm>
            <a:off x="6019800" y="2914650"/>
            <a:ext cx="392113" cy="449263"/>
          </a:xfrm>
          <a:prstGeom prst="plus">
            <a:avLst>
              <a:gd name="adj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endParaRPr lang="zh-CN" altLang="en-US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74829" name="组合 40"/>
          <p:cNvGrpSpPr/>
          <p:nvPr/>
        </p:nvGrpSpPr>
        <p:grpSpPr>
          <a:xfrm>
            <a:off x="6667500" y="2843213"/>
            <a:ext cx="1008063" cy="504825"/>
            <a:chOff x="6516216" y="1484784"/>
            <a:chExt cx="1584052" cy="792088"/>
          </a:xfrm>
        </p:grpSpPr>
        <p:sp>
          <p:nvSpPr>
            <p:cNvPr id="93" name="椭圆 92"/>
            <p:cNvSpPr/>
            <p:nvPr/>
          </p:nvSpPr>
          <p:spPr bwMode="auto">
            <a:xfrm>
              <a:off x="6516216" y="2060903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4" name="椭圆 93"/>
            <p:cNvSpPr/>
            <p:nvPr/>
          </p:nvSpPr>
          <p:spPr bwMode="auto">
            <a:xfrm>
              <a:off x="7164288" y="148478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5" name="椭圆 94"/>
            <p:cNvSpPr/>
            <p:nvPr/>
          </p:nvSpPr>
          <p:spPr bwMode="auto">
            <a:xfrm>
              <a:off x="7884368" y="2060848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74833" name="直接连接符 19"/>
            <p:cNvCxnSpPr/>
            <p:nvPr/>
          </p:nvCxnSpPr>
          <p:spPr>
            <a:xfrm rot="5400000">
              <a:off x="6736499" y="1633124"/>
              <a:ext cx="423406" cy="495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834" name="直接连接符 27"/>
            <p:cNvCxnSpPr/>
            <p:nvPr/>
          </p:nvCxnSpPr>
          <p:spPr>
            <a:xfrm rot="-5400000" flipH="1">
              <a:off x="7420595" y="1597083"/>
              <a:ext cx="423351" cy="56741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835" name="直接连接符 33"/>
            <p:cNvCxnSpPr/>
            <p:nvPr/>
          </p:nvCxnSpPr>
          <p:spPr>
            <a:xfrm flipV="1">
              <a:off x="6732116" y="2168833"/>
              <a:ext cx="1152252" cy="5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836" name="右箭头 102"/>
          <p:cNvSpPr/>
          <p:nvPr/>
        </p:nvSpPr>
        <p:spPr>
          <a:xfrm>
            <a:off x="1122363" y="4572000"/>
            <a:ext cx="615950" cy="279400"/>
          </a:xfrm>
          <a:prstGeom prst="rightArrow">
            <a:avLst>
              <a:gd name="adj1" fmla="val 50000"/>
              <a:gd name="adj2" fmla="val 50020"/>
            </a:avLst>
          </a:prstGeom>
          <a:solidFill>
            <a:schemeClr val="accent1"/>
          </a:solidFill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endParaRPr lang="zh-CN" altLang="en-US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4837" name="十字形 120"/>
          <p:cNvSpPr/>
          <p:nvPr/>
        </p:nvSpPr>
        <p:spPr>
          <a:xfrm>
            <a:off x="3498850" y="4356100"/>
            <a:ext cx="392113" cy="392113"/>
          </a:xfrm>
          <a:prstGeom prst="plus">
            <a:avLst>
              <a:gd name="adj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endParaRPr lang="zh-CN" altLang="en-US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74838" name="组合 121"/>
          <p:cNvGrpSpPr/>
          <p:nvPr/>
        </p:nvGrpSpPr>
        <p:grpSpPr>
          <a:xfrm>
            <a:off x="4578350" y="3851275"/>
            <a:ext cx="1065213" cy="1016000"/>
            <a:chOff x="5940146" y="4437115"/>
            <a:chExt cx="1584323" cy="1512890"/>
          </a:xfrm>
        </p:grpSpPr>
        <p:grpSp>
          <p:nvGrpSpPr>
            <p:cNvPr id="74839" name="组合 40"/>
            <p:cNvGrpSpPr/>
            <p:nvPr/>
          </p:nvGrpSpPr>
          <p:grpSpPr>
            <a:xfrm>
              <a:off x="5940148" y="4437115"/>
              <a:ext cx="1584323" cy="1512890"/>
              <a:chOff x="6516216" y="1484784"/>
              <a:chExt cx="1584052" cy="1512168"/>
            </a:xfrm>
          </p:grpSpPr>
          <p:sp>
            <p:nvSpPr>
              <p:cNvPr id="125" name="椭圆 124"/>
              <p:cNvSpPr/>
              <p:nvPr/>
            </p:nvSpPr>
            <p:spPr bwMode="auto">
              <a:xfrm>
                <a:off x="6516216" y="2060903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26" name="椭圆 125"/>
              <p:cNvSpPr/>
              <p:nvPr/>
            </p:nvSpPr>
            <p:spPr bwMode="auto">
              <a:xfrm>
                <a:off x="7164288" y="1484784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rgbClr val="FFC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27" name="椭圆 126"/>
              <p:cNvSpPr/>
              <p:nvPr/>
            </p:nvSpPr>
            <p:spPr bwMode="auto">
              <a:xfrm>
                <a:off x="7884368" y="2060848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28" name="椭圆 127"/>
              <p:cNvSpPr/>
              <p:nvPr/>
            </p:nvSpPr>
            <p:spPr bwMode="auto">
              <a:xfrm>
                <a:off x="7596336" y="2780983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74844" name="直接连接符 19"/>
              <p:cNvCxnSpPr/>
              <p:nvPr/>
            </p:nvCxnSpPr>
            <p:spPr>
              <a:xfrm rot="5400000">
                <a:off x="6736499" y="1633124"/>
                <a:ext cx="423406" cy="495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845" name="直接连接符 27"/>
              <p:cNvCxnSpPr/>
              <p:nvPr/>
            </p:nvCxnSpPr>
            <p:spPr>
              <a:xfrm rot="-5400000" flipH="1">
                <a:off x="7420595" y="1597083"/>
                <a:ext cx="423351" cy="56741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846" name="直接连接符 31"/>
              <p:cNvCxnSpPr/>
              <p:nvPr/>
            </p:nvCxnSpPr>
            <p:spPr>
              <a:xfrm>
                <a:off x="6732116" y="2168888"/>
                <a:ext cx="864220" cy="72008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847" name="直接连接符 33"/>
              <p:cNvCxnSpPr/>
              <p:nvPr/>
            </p:nvCxnSpPr>
            <p:spPr>
              <a:xfrm flipV="1">
                <a:off x="6732116" y="2168833"/>
                <a:ext cx="1152252" cy="5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848" name="直接连接符 35"/>
              <p:cNvCxnSpPr/>
              <p:nvPr/>
            </p:nvCxnSpPr>
            <p:spPr>
              <a:xfrm rot="5400000">
                <a:off x="7618571" y="2438864"/>
                <a:ext cx="535794" cy="21170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74849" name="直接连接符 31"/>
            <p:cNvCxnSpPr/>
            <p:nvPr/>
          </p:nvCxnSpPr>
          <p:spPr>
            <a:xfrm rot="-5400000" flipH="1">
              <a:off x="6371986" y="4977499"/>
              <a:ext cx="1080746" cy="43212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850" name="TextBox 133"/>
          <p:cNvSpPr txBox="1"/>
          <p:nvPr/>
        </p:nvSpPr>
        <p:spPr>
          <a:xfrm>
            <a:off x="4146550" y="3984625"/>
            <a:ext cx="363538" cy="646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36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endParaRPr lang="zh-CN" altLang="en-US" sz="3600" i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4851" name="十字形 134"/>
          <p:cNvSpPr/>
          <p:nvPr/>
        </p:nvSpPr>
        <p:spPr>
          <a:xfrm>
            <a:off x="6019800" y="4138613"/>
            <a:ext cx="392113" cy="449262"/>
          </a:xfrm>
          <a:prstGeom prst="plus">
            <a:avLst>
              <a:gd name="adj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endParaRPr lang="zh-CN" altLang="en-US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74852" name="组合 40"/>
          <p:cNvGrpSpPr/>
          <p:nvPr/>
        </p:nvGrpSpPr>
        <p:grpSpPr>
          <a:xfrm>
            <a:off x="6667500" y="4067175"/>
            <a:ext cx="1008063" cy="504825"/>
            <a:chOff x="6516216" y="1484784"/>
            <a:chExt cx="1584052" cy="792088"/>
          </a:xfrm>
        </p:grpSpPr>
        <p:sp>
          <p:nvSpPr>
            <p:cNvPr id="137" name="椭圆 136"/>
            <p:cNvSpPr/>
            <p:nvPr/>
          </p:nvSpPr>
          <p:spPr bwMode="auto">
            <a:xfrm>
              <a:off x="6516216" y="2060903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8" name="椭圆 137"/>
            <p:cNvSpPr/>
            <p:nvPr/>
          </p:nvSpPr>
          <p:spPr bwMode="auto">
            <a:xfrm>
              <a:off x="7164288" y="148478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9" name="椭圆 138"/>
            <p:cNvSpPr/>
            <p:nvPr/>
          </p:nvSpPr>
          <p:spPr bwMode="auto">
            <a:xfrm>
              <a:off x="7884368" y="2060848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74856" name="直接连接符 19"/>
            <p:cNvCxnSpPr/>
            <p:nvPr/>
          </p:nvCxnSpPr>
          <p:spPr>
            <a:xfrm rot="5400000">
              <a:off x="6736499" y="1633124"/>
              <a:ext cx="423406" cy="495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857" name="直接连接符 27"/>
            <p:cNvCxnSpPr/>
            <p:nvPr/>
          </p:nvCxnSpPr>
          <p:spPr>
            <a:xfrm rot="-5400000" flipH="1">
              <a:off x="7420595" y="1597083"/>
              <a:ext cx="423351" cy="56741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858" name="直接连接符 33"/>
            <p:cNvCxnSpPr/>
            <p:nvPr/>
          </p:nvCxnSpPr>
          <p:spPr>
            <a:xfrm flipV="1">
              <a:off x="6732116" y="2168833"/>
              <a:ext cx="1152252" cy="5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4859" name="组合 145"/>
          <p:cNvGrpSpPr/>
          <p:nvPr/>
        </p:nvGrpSpPr>
        <p:grpSpPr>
          <a:xfrm>
            <a:off x="1987550" y="3994150"/>
            <a:ext cx="1119188" cy="1069975"/>
            <a:chOff x="2483768" y="5599566"/>
            <a:chExt cx="1120310" cy="1069794"/>
          </a:xfrm>
        </p:grpSpPr>
        <p:grpSp>
          <p:nvGrpSpPr>
            <p:cNvPr id="74860" name="组合 103"/>
            <p:cNvGrpSpPr/>
            <p:nvPr/>
          </p:nvGrpSpPr>
          <p:grpSpPr>
            <a:xfrm>
              <a:off x="2483768" y="5599566"/>
              <a:ext cx="1120310" cy="1069794"/>
              <a:chOff x="2267744" y="4580409"/>
              <a:chExt cx="1584325" cy="1512887"/>
            </a:xfrm>
          </p:grpSpPr>
          <p:grpSp>
            <p:nvGrpSpPr>
              <p:cNvPr id="74861" name="组合 51"/>
              <p:cNvGrpSpPr/>
              <p:nvPr/>
            </p:nvGrpSpPr>
            <p:grpSpPr>
              <a:xfrm>
                <a:off x="2267740" y="4580412"/>
                <a:ext cx="1584323" cy="1512890"/>
                <a:chOff x="3419868" y="2996955"/>
                <a:chExt cx="1584323" cy="1512890"/>
              </a:xfrm>
            </p:grpSpPr>
            <p:grpSp>
              <p:nvGrpSpPr>
                <p:cNvPr id="74862" name="组合 40"/>
                <p:cNvGrpSpPr/>
                <p:nvPr/>
              </p:nvGrpSpPr>
              <p:grpSpPr>
                <a:xfrm>
                  <a:off x="3419868" y="2996955"/>
                  <a:ext cx="1584323" cy="1512890"/>
                  <a:chOff x="6516216" y="1484784"/>
                  <a:chExt cx="1584052" cy="1512168"/>
                </a:xfrm>
              </p:grpSpPr>
              <p:sp>
                <p:nvSpPr>
                  <p:cNvPr id="109" name="椭圆 108"/>
                  <p:cNvSpPr/>
                  <p:nvPr/>
                </p:nvSpPr>
                <p:spPr bwMode="auto">
                  <a:xfrm>
                    <a:off x="6516216" y="2060903"/>
                    <a:ext cx="215900" cy="215969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50800"/>
                    <a:bevelB w="38100"/>
                  </a:sp3d>
                </p:spPr>
                <p:txBody>
                  <a:bodyPr/>
                  <a:lstStyle>
                    <a:lvl1pPr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1pPr>
                    <a:lvl2pPr marL="742950" indent="-28575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2pPr>
                    <a:lvl3pPr marL="1143000" indent="-22860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3pPr>
                    <a:lvl4pPr marL="1600200" indent="-22860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4pPr>
                    <a:lvl5pPr marL="2057400" indent="-22860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1" i="0" u="none" strike="noStrike" kern="1200" cap="none" spc="0" normalizeH="0" baseline="0" noProof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endParaRPr>
                  </a:p>
                </p:txBody>
              </p:sp>
              <p:sp>
                <p:nvSpPr>
                  <p:cNvPr id="110" name="椭圆 109"/>
                  <p:cNvSpPr/>
                  <p:nvPr/>
                </p:nvSpPr>
                <p:spPr bwMode="auto">
                  <a:xfrm>
                    <a:off x="7164288" y="1484784"/>
                    <a:ext cx="215900" cy="215969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 cap="flat" cmpd="sng" algn="ctr">
                    <a:solidFill>
                      <a:srgbClr val="FFC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50800"/>
                    <a:bevelB w="38100"/>
                  </a:sp3d>
                </p:spPr>
                <p:txBody>
                  <a:bodyPr/>
                  <a:lstStyle>
                    <a:lvl1pPr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1pPr>
                    <a:lvl2pPr marL="742950" indent="-28575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2pPr>
                    <a:lvl3pPr marL="1143000" indent="-22860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3pPr>
                    <a:lvl4pPr marL="1600200" indent="-22860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4pPr>
                    <a:lvl5pPr marL="2057400" indent="-22860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1" i="0" u="none" strike="noStrike" kern="1200" cap="none" spc="0" normalizeH="0" baseline="0" noProof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endParaRPr>
                  </a:p>
                </p:txBody>
              </p:sp>
              <p:sp>
                <p:nvSpPr>
                  <p:cNvPr id="111" name="椭圆 110"/>
                  <p:cNvSpPr/>
                  <p:nvPr/>
                </p:nvSpPr>
                <p:spPr bwMode="auto">
                  <a:xfrm>
                    <a:off x="7884368" y="2060848"/>
                    <a:ext cx="215900" cy="215969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50800"/>
                    <a:bevelB w="38100"/>
                  </a:sp3d>
                </p:spPr>
                <p:txBody>
                  <a:bodyPr/>
                  <a:lstStyle>
                    <a:lvl1pPr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1pPr>
                    <a:lvl2pPr marL="742950" indent="-28575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2pPr>
                    <a:lvl3pPr marL="1143000" indent="-22860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3pPr>
                    <a:lvl4pPr marL="1600200" indent="-22860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4pPr>
                    <a:lvl5pPr marL="2057400" indent="-22860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1" i="0" u="none" strike="noStrike" kern="1200" cap="none" spc="0" normalizeH="0" baseline="0" noProof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endParaRPr>
                  </a:p>
                </p:txBody>
              </p:sp>
              <p:sp>
                <p:nvSpPr>
                  <p:cNvPr id="112" name="椭圆 111"/>
                  <p:cNvSpPr/>
                  <p:nvPr/>
                </p:nvSpPr>
                <p:spPr bwMode="auto">
                  <a:xfrm>
                    <a:off x="6804248" y="2780983"/>
                    <a:ext cx="215900" cy="215969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50800"/>
                    <a:bevelB w="38100"/>
                  </a:sp3d>
                </p:spPr>
                <p:txBody>
                  <a:bodyPr/>
                  <a:lstStyle>
                    <a:lvl1pPr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1pPr>
                    <a:lvl2pPr marL="742950" indent="-28575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2pPr>
                    <a:lvl3pPr marL="1143000" indent="-22860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3pPr>
                    <a:lvl4pPr marL="1600200" indent="-22860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4pPr>
                    <a:lvl5pPr marL="2057400" indent="-22860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1" i="0" u="none" strike="noStrike" kern="1200" cap="none" spc="0" normalizeH="0" baseline="0" noProof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endParaRPr>
                  </a:p>
                </p:txBody>
              </p:sp>
              <p:sp>
                <p:nvSpPr>
                  <p:cNvPr id="113" name="椭圆 112"/>
                  <p:cNvSpPr/>
                  <p:nvPr/>
                </p:nvSpPr>
                <p:spPr bwMode="auto">
                  <a:xfrm>
                    <a:off x="7596336" y="2780983"/>
                    <a:ext cx="215900" cy="215969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50800"/>
                    <a:bevelB w="38100"/>
                  </a:sp3d>
                </p:spPr>
                <p:txBody>
                  <a:bodyPr/>
                  <a:lstStyle>
                    <a:lvl1pPr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1pPr>
                    <a:lvl2pPr marL="742950" indent="-28575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2pPr>
                    <a:lvl3pPr marL="1143000" indent="-22860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3pPr>
                    <a:lvl4pPr marL="1600200" indent="-22860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4pPr>
                    <a:lvl5pPr marL="2057400" indent="-228600" eaLnBrk="0" hangingPunct="0"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b="1" i="1">
                        <a:solidFill>
                          <a:schemeClr val="tx1"/>
                        </a:solidFill>
                        <a:latin typeface="Tahoma" panose="020B0604030504040204" charset="0"/>
                        <a:ea typeface="宋体" panose="02010600030101010101" pitchFamily="2" charset="-122"/>
                        <a:cs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1" i="0" u="none" strike="noStrike" kern="1200" cap="none" spc="0" normalizeH="0" baseline="0" noProof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endParaRPr>
                  </a:p>
                </p:txBody>
              </p:sp>
              <p:cxnSp>
                <p:nvCxnSpPr>
                  <p:cNvPr id="74868" name="直接连接符 19"/>
                  <p:cNvCxnSpPr/>
                  <p:nvPr/>
                </p:nvCxnSpPr>
                <p:spPr>
                  <a:xfrm rot="5400000">
                    <a:off x="6736499" y="1633124"/>
                    <a:ext cx="423406" cy="495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74869" name="直接连接符 27"/>
                  <p:cNvCxnSpPr/>
                  <p:nvPr/>
                </p:nvCxnSpPr>
                <p:spPr>
                  <a:xfrm rot="-5400000" flipH="1">
                    <a:off x="7420595" y="1597083"/>
                    <a:ext cx="423351" cy="56741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74870" name="直接连接符 29"/>
                  <p:cNvCxnSpPr/>
                  <p:nvPr/>
                </p:nvCxnSpPr>
                <p:spPr>
                  <a:xfrm rot="-5400000" flipH="1">
                    <a:off x="6462139" y="2438882"/>
                    <a:ext cx="535739" cy="21170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74871" name="直接连接符 31"/>
                  <p:cNvCxnSpPr/>
                  <p:nvPr/>
                </p:nvCxnSpPr>
                <p:spPr>
                  <a:xfrm>
                    <a:off x="6732116" y="2168888"/>
                    <a:ext cx="864220" cy="72008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74872" name="直接连接符 33"/>
                  <p:cNvCxnSpPr/>
                  <p:nvPr/>
                </p:nvCxnSpPr>
                <p:spPr>
                  <a:xfrm flipV="1">
                    <a:off x="6732116" y="2168833"/>
                    <a:ext cx="1152252" cy="55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74873" name="直接连接符 35"/>
                  <p:cNvCxnSpPr/>
                  <p:nvPr/>
                </p:nvCxnSpPr>
                <p:spPr>
                  <a:xfrm rot="5400000">
                    <a:off x="7618571" y="2438864"/>
                    <a:ext cx="535794" cy="21170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74874" name="直接连接符 39"/>
                  <p:cNvCxnSpPr/>
                  <p:nvPr/>
                </p:nvCxnSpPr>
                <p:spPr>
                  <a:xfrm>
                    <a:off x="7020148" y="2888968"/>
                    <a:ext cx="576188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74875" name="直接连接符 31"/>
                <p:cNvCxnSpPr/>
                <p:nvPr/>
              </p:nvCxnSpPr>
              <p:spPr>
                <a:xfrm rot="5400000" flipH="1" flipV="1">
                  <a:off x="4072222" y="3577750"/>
                  <a:ext cx="567691" cy="927615"/>
                </a:xfrm>
                <a:prstGeom prst="line">
                  <a:avLst/>
                </a:prstGeom>
                <a:ln w="28575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74876" name="直接连接符 31"/>
              <p:cNvCxnSpPr/>
              <p:nvPr/>
            </p:nvCxnSpPr>
            <p:spPr>
              <a:xfrm rot="5400000" flipH="1" flipV="1">
                <a:off x="2303466" y="5156806"/>
                <a:ext cx="1080746" cy="360102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74877" name="直接连接符 31"/>
            <p:cNvCxnSpPr/>
            <p:nvPr/>
          </p:nvCxnSpPr>
          <p:spPr>
            <a:xfrm rot="-5400000" flipV="1">
              <a:off x="2804926" y="5997481"/>
              <a:ext cx="786593" cy="25157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9" name="内容占位符 2"/>
          <p:cNvSpPr txBox="1"/>
          <p:nvPr/>
        </p:nvSpPr>
        <p:spPr bwMode="auto">
          <a:xfrm>
            <a:off x="207963" y="5157788"/>
            <a:ext cx="8496300" cy="169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黑体" panose="02010609060101010101" charset="-122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黑体" panose="02010609060101010101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黑体" panose="02010609060101010101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黑体" panose="02010609060101010101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黑体" panose="02010609060101010101" charset="-122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f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(</a:t>
            </a:r>
            <a:r>
              <a:rPr kumimoji="0" lang="en-US" altLang="zh-CN" sz="2800" b="1" i="1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G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,</a:t>
            </a:r>
            <a:r>
              <a:rPr kumimoji="0" lang="en-US" altLang="zh-CN" sz="2800" b="1" i="1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k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)=</a:t>
            </a:r>
            <a:r>
              <a:rPr kumimoji="0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f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(</a:t>
            </a:r>
            <a:r>
              <a:rPr kumimoji="0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K</a:t>
            </a:r>
            <a:r>
              <a:rPr kumimoji="0" lang="en-US" altLang="zh-CN" sz="28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5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,</a:t>
            </a:r>
            <a:r>
              <a:rPr kumimoji="0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k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)+3</a:t>
            </a:r>
            <a:r>
              <a:rPr kumimoji="0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f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(K</a:t>
            </a:r>
            <a:r>
              <a:rPr kumimoji="0" lang="en-US" altLang="zh-CN" sz="28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4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,</a:t>
            </a:r>
            <a:r>
              <a:rPr kumimoji="0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k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)+</a:t>
            </a:r>
            <a:r>
              <a:rPr kumimoji="0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f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(K</a:t>
            </a:r>
            <a:r>
              <a:rPr kumimoji="0" lang="en-US" altLang="zh-CN" sz="28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3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,</a:t>
            </a:r>
            <a:r>
              <a:rPr kumimoji="0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k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)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         =</a:t>
            </a:r>
            <a:r>
              <a:rPr kumimoji="0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k</a:t>
            </a:r>
            <a:r>
              <a:rPr kumimoji="0" lang="en-US" altLang="zh-CN" sz="28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5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-7</a:t>
            </a:r>
            <a:r>
              <a:rPr kumimoji="0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k</a:t>
            </a:r>
            <a:r>
              <a:rPr kumimoji="0" lang="en-US" altLang="zh-CN" sz="28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4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+18</a:t>
            </a:r>
            <a:r>
              <a:rPr kumimoji="0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k</a:t>
            </a:r>
            <a:r>
              <a:rPr kumimoji="0" lang="en-US" altLang="zh-CN" sz="28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3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-20</a:t>
            </a:r>
            <a:r>
              <a:rPr kumimoji="0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k</a:t>
            </a:r>
            <a:r>
              <a:rPr kumimoji="0" lang="en-US" altLang="zh-CN" sz="28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+8</a:t>
            </a:r>
            <a:r>
              <a:rPr kumimoji="0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k</a:t>
            </a:r>
            <a:r>
              <a:rPr kumimoji="0" lang="en-US" altLang="zh-CN" sz="28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.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l-GR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χ(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G)=min{ 5,4,3 }=3. </a:t>
            </a:r>
            <a:r>
              <a:rPr kumimoji="0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f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(G,3)=6.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色多项式的性质</a:t>
            </a:r>
            <a:endParaRPr lang="zh-CN" altLang="en-US"/>
          </a:p>
        </p:txBody>
      </p:sp>
      <p:sp>
        <p:nvSpPr>
          <p:cNvPr id="75778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3384550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/>
              <a:t>各项系数的符号是正负交替的</a:t>
            </a:r>
            <a:r>
              <a:rPr lang="en-US" altLang="zh-CN"/>
              <a:t>; 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/>
              <a:t>k</a:t>
            </a:r>
            <a:r>
              <a:rPr lang="en-US" altLang="zh-CN" baseline="30000"/>
              <a:t>n</a:t>
            </a:r>
            <a:r>
              <a:rPr lang="zh-CN" altLang="en-US"/>
              <a:t>项系数是</a:t>
            </a:r>
            <a:r>
              <a:rPr lang="en-US" altLang="zh-CN">
                <a:solidFill>
                  <a:srgbClr val="FF00FF"/>
                </a:solidFill>
              </a:rPr>
              <a:t>1</a:t>
            </a:r>
            <a:r>
              <a:rPr lang="en-US" altLang="zh-CN"/>
              <a:t>; 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/>
              <a:t>k</a:t>
            </a:r>
            <a:r>
              <a:rPr lang="en-US" altLang="zh-CN" baseline="30000"/>
              <a:t>n-1</a:t>
            </a:r>
            <a:r>
              <a:rPr lang="zh-CN" altLang="en-US"/>
              <a:t>项系数是</a:t>
            </a:r>
            <a:r>
              <a:rPr lang="en-US" altLang="zh-CN">
                <a:solidFill>
                  <a:srgbClr val="FF00FF"/>
                </a:solidFill>
              </a:rPr>
              <a:t>-</a:t>
            </a:r>
            <a:r>
              <a:rPr lang="en-US" altLang="zh-CN" i="1">
                <a:solidFill>
                  <a:srgbClr val="FF00FF"/>
                </a:solidFill>
              </a:rPr>
              <a:t>m</a:t>
            </a:r>
            <a:r>
              <a:rPr lang="en-US" altLang="zh-CN">
                <a:solidFill>
                  <a:srgbClr val="FF00FF"/>
                </a:solidFill>
              </a:rPr>
              <a:t>,</a:t>
            </a:r>
            <a:r>
              <a:rPr lang="en-US" altLang="zh-CN">
                <a:solidFill>
                  <a:schemeClr val="bg2"/>
                </a:solidFill>
              </a:rPr>
              <a:t>m</a:t>
            </a:r>
            <a:r>
              <a:rPr lang="zh-CN" altLang="en-US">
                <a:solidFill>
                  <a:schemeClr val="bg2"/>
                </a:solidFill>
              </a:rPr>
              <a:t>是</a:t>
            </a:r>
            <a:r>
              <a:rPr lang="en-US" altLang="zh-CN">
                <a:solidFill>
                  <a:schemeClr val="bg2"/>
                </a:solidFill>
              </a:rPr>
              <a:t>G</a:t>
            </a:r>
            <a:r>
              <a:rPr lang="zh-CN" altLang="en-US">
                <a:solidFill>
                  <a:schemeClr val="bg2"/>
                </a:solidFill>
              </a:rPr>
              <a:t>中的边数</a:t>
            </a:r>
            <a:r>
              <a:rPr lang="en-US" altLang="zh-CN"/>
              <a:t>; 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/>
              <a:t>k</a:t>
            </a:r>
            <a:r>
              <a:rPr lang="en-US" altLang="zh-CN" baseline="30000"/>
              <a:t>0</a:t>
            </a:r>
            <a:r>
              <a:rPr lang="zh-CN" altLang="en-US"/>
              <a:t>项系数是</a:t>
            </a:r>
            <a:r>
              <a:rPr lang="en-US" altLang="zh-CN">
                <a:solidFill>
                  <a:srgbClr val="FF00FF"/>
                </a:solidFill>
              </a:rPr>
              <a:t>0</a:t>
            </a:r>
            <a:r>
              <a:rPr lang="en-US" altLang="zh-CN"/>
              <a:t>; 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/>
              <a:t>系数非</a:t>
            </a:r>
            <a:r>
              <a:rPr lang="en-US" altLang="zh-CN"/>
              <a:t>0</a:t>
            </a:r>
            <a:r>
              <a:rPr lang="zh-CN" altLang="en-US"/>
              <a:t>项的最低次幂是</a:t>
            </a:r>
            <a:r>
              <a:rPr lang="en-US" altLang="zh-CN" i="1">
                <a:solidFill>
                  <a:srgbClr val="FF00FF"/>
                </a:solidFill>
              </a:rPr>
              <a:t>k</a:t>
            </a:r>
            <a:r>
              <a:rPr lang="en-US" altLang="zh-CN" i="1" baseline="30000">
                <a:solidFill>
                  <a:srgbClr val="FF00FF"/>
                </a:solidFill>
              </a:rPr>
              <a:t>p</a:t>
            </a:r>
            <a:r>
              <a:rPr lang="en-US" altLang="zh-CN">
                <a:solidFill>
                  <a:srgbClr val="FF00FF"/>
                </a:solidFill>
              </a:rPr>
              <a:t>,</a:t>
            </a:r>
            <a:r>
              <a:rPr lang="en-US" altLang="zh-CN" i="1"/>
              <a:t>p</a:t>
            </a:r>
            <a:r>
              <a:rPr lang="zh-CN" altLang="en-US"/>
              <a:t>是连通分支数</a:t>
            </a:r>
            <a:r>
              <a:rPr lang="en-US" altLang="zh-CN"/>
              <a:t>; 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/>
              <a:t>若</a:t>
            </a:r>
            <a:r>
              <a:rPr lang="en-US" altLang="zh-CN"/>
              <a:t>G</a:t>
            </a:r>
            <a:r>
              <a:rPr lang="zh-CN" altLang="en-US"/>
              <a:t>的连通分支是</a:t>
            </a:r>
            <a:r>
              <a:rPr lang="en-US" altLang="zh-CN"/>
              <a:t>G</a:t>
            </a:r>
            <a:r>
              <a:rPr lang="en-US" altLang="zh-CN" baseline="-25000"/>
              <a:t>1</a:t>
            </a:r>
            <a:r>
              <a:rPr lang="en-US" altLang="zh-CN"/>
              <a:t>,G</a:t>
            </a:r>
            <a:r>
              <a:rPr lang="en-US" altLang="zh-CN" baseline="-25000"/>
              <a:t>2</a:t>
            </a:r>
            <a:r>
              <a:rPr lang="en-US" altLang="zh-CN"/>
              <a:t>,…,G</a:t>
            </a:r>
            <a:r>
              <a:rPr lang="en-US" altLang="zh-CN" i="1" baseline="-25000"/>
              <a:t>p</a:t>
            </a:r>
            <a:r>
              <a:rPr lang="en-US" altLang="zh-CN"/>
              <a:t>, </a:t>
            </a:r>
            <a:r>
              <a:rPr lang="zh-CN" altLang="en-US"/>
              <a:t>则</a:t>
            </a:r>
            <a:endParaRPr lang="en-US" altLang="zh-CN"/>
          </a:p>
        </p:txBody>
      </p:sp>
      <p:sp>
        <p:nvSpPr>
          <p:cNvPr id="7577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  <p:graphicFrame>
        <p:nvGraphicFramePr>
          <p:cNvPr id="75780" name="Object 2"/>
          <p:cNvGraphicFramePr>
            <a:graphicFrameLocks noChangeAspect="1"/>
          </p:cNvGraphicFramePr>
          <p:nvPr/>
        </p:nvGraphicFramePr>
        <p:xfrm>
          <a:off x="1979613" y="4652963"/>
          <a:ext cx="3024187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422400" imgH="444500" progId="Equation.3">
                  <p:embed/>
                </p:oleObj>
              </mc:Choice>
              <mc:Fallback>
                <p:oleObj name="" r:id="rId1" imgW="1422400" imgH="4445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79613" y="4652963"/>
                        <a:ext cx="3024187" cy="944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12.10</a:t>
            </a:r>
            <a:endParaRPr lang="zh-CN" altLang="en-US"/>
          </a:p>
        </p:txBody>
      </p:sp>
      <p:sp>
        <p:nvSpPr>
          <p:cNvPr id="76802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1152525"/>
          </a:xfrm>
        </p:spPr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12.10</a:t>
            </a:r>
            <a:r>
              <a:rPr lang="en-US" altLang="zh-CN"/>
              <a:t>: </a:t>
            </a:r>
            <a:r>
              <a:rPr lang="zh-CN" altLang="en-US"/>
              <a:t>设</a:t>
            </a:r>
            <a:r>
              <a:rPr lang="en-US" altLang="zh-CN" u="sng"/>
              <a:t>V</a:t>
            </a:r>
            <a:r>
              <a:rPr lang="en-US" altLang="zh-CN" u="sng" baseline="-25000"/>
              <a:t>1</a:t>
            </a:r>
            <a:r>
              <a:rPr lang="zh-CN" altLang="en-US" u="sng"/>
              <a:t>是</a:t>
            </a:r>
            <a:r>
              <a:rPr lang="en-US" altLang="zh-CN" u="sng"/>
              <a:t>G</a:t>
            </a:r>
            <a:r>
              <a:rPr lang="zh-CN" altLang="en-US" u="sng"/>
              <a:t>的点割集</a:t>
            </a:r>
            <a:r>
              <a:rPr lang="en-US" altLang="zh-CN" u="sng"/>
              <a:t>, </a:t>
            </a:r>
            <a:r>
              <a:rPr lang="zh-CN" altLang="en-US" u="sng"/>
              <a:t>且</a:t>
            </a:r>
            <a:r>
              <a:rPr lang="en-US" altLang="zh-CN" u="sng"/>
              <a:t>G[V</a:t>
            </a:r>
            <a:r>
              <a:rPr lang="en-US" altLang="zh-CN" u="sng" baseline="-25000"/>
              <a:t>1</a:t>
            </a:r>
            <a:r>
              <a:rPr lang="en-US" altLang="zh-CN" u="sng"/>
              <a:t>]</a:t>
            </a:r>
            <a:r>
              <a:rPr lang="zh-CN" altLang="en-US" u="sng"/>
              <a:t>是完全图</a:t>
            </a:r>
            <a:r>
              <a:rPr lang="en-US" altLang="zh-CN"/>
              <a:t>, G-V</a:t>
            </a:r>
            <a:r>
              <a:rPr lang="en-US" altLang="zh-CN" baseline="-25000"/>
              <a:t>1</a:t>
            </a:r>
            <a:r>
              <a:rPr lang="zh-CN" altLang="en-US"/>
              <a:t>有</a:t>
            </a:r>
            <a:r>
              <a:rPr lang="en-US" altLang="zh-CN" i="1"/>
              <a:t>p</a:t>
            </a:r>
            <a:r>
              <a:rPr lang="en-US" altLang="zh-CN"/>
              <a:t>(</a:t>
            </a:r>
            <a:r>
              <a:rPr lang="zh-CN" altLang="en-US"/>
              <a:t>≥</a:t>
            </a:r>
            <a:r>
              <a:rPr lang="en-US" altLang="zh-CN"/>
              <a:t>2)</a:t>
            </a:r>
            <a:r>
              <a:rPr lang="zh-CN" altLang="en-US"/>
              <a:t>个连通分支</a:t>
            </a:r>
            <a:r>
              <a:rPr lang="en-US" altLang="zh-CN"/>
              <a:t>G</a:t>
            </a:r>
            <a:r>
              <a:rPr lang="en-US" altLang="zh-CN" baseline="-25000"/>
              <a:t>1</a:t>
            </a:r>
            <a:r>
              <a:rPr lang="en-US" altLang="zh-CN"/>
              <a:t>,G</a:t>
            </a:r>
            <a:r>
              <a:rPr lang="en-US" altLang="zh-CN" baseline="-25000"/>
              <a:t>2</a:t>
            </a:r>
            <a:r>
              <a:rPr lang="en-US" altLang="zh-CN"/>
              <a:t>,…,G</a:t>
            </a:r>
            <a:r>
              <a:rPr lang="en-US" altLang="zh-CN" i="1" baseline="-25000"/>
              <a:t>p</a:t>
            </a:r>
            <a:r>
              <a:rPr lang="en-US" altLang="zh-CN"/>
              <a:t>. </a:t>
            </a:r>
            <a:r>
              <a:rPr lang="zh-CN" altLang="en-US"/>
              <a:t>则</a:t>
            </a:r>
            <a:endParaRPr lang="zh-CN" altLang="en-US"/>
          </a:p>
        </p:txBody>
      </p:sp>
      <p:sp>
        <p:nvSpPr>
          <p:cNvPr id="7680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  <p:graphicFrame>
        <p:nvGraphicFramePr>
          <p:cNvPr id="76804" name="Object 6"/>
          <p:cNvGraphicFramePr>
            <a:graphicFrameLocks noChangeAspect="1"/>
          </p:cNvGraphicFramePr>
          <p:nvPr/>
        </p:nvGraphicFramePr>
        <p:xfrm>
          <a:off x="1619250" y="2276475"/>
          <a:ext cx="338455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600200" imgH="660400" progId="Equation.3">
                  <p:embed/>
                </p:oleObj>
              </mc:Choice>
              <mc:Fallback>
                <p:oleObj name="" r:id="rId1" imgW="1600200" imgH="6604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9250" y="2276475"/>
                        <a:ext cx="3384550" cy="139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5" name="内容占位符 2"/>
          <p:cNvSpPr txBox="1"/>
          <p:nvPr/>
        </p:nvSpPr>
        <p:spPr>
          <a:xfrm>
            <a:off x="468313" y="3644900"/>
            <a:ext cx="8496300" cy="649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</a:pPr>
            <a:r>
              <a:rPr lang="zh-CN" altLang="en-US" sz="2800" i="0">
                <a:latin typeface="Times New Roman" panose="02020603050405020304" charset="0"/>
                <a:ea typeface="黑体" panose="02010609060101010101" charset="-122"/>
              </a:rPr>
              <a:t>其中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</a:rPr>
              <a:t>H</a:t>
            </a:r>
            <a:r>
              <a:rPr lang="en-US" altLang="zh-CN" sz="2800" baseline="-2500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=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[V</a:t>
            </a:r>
            <a:r>
              <a:rPr lang="en-US" altLang="zh-CN" sz="2800" i="0" baseline="-2500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∪V(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aseline="-2500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)],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=1,2, …,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zh-CN" altLang="en-US" sz="2800" i="0">
              <a:latin typeface="Times New Roman" panose="02020603050405020304" charset="0"/>
              <a:ea typeface="黑体" panose="02010609060101010101" charset="-122"/>
            </a:endParaRPr>
          </a:p>
        </p:txBody>
      </p:sp>
      <p:grpSp>
        <p:nvGrpSpPr>
          <p:cNvPr id="76806" name="Group 31"/>
          <p:cNvGrpSpPr/>
          <p:nvPr/>
        </p:nvGrpSpPr>
        <p:grpSpPr>
          <a:xfrm>
            <a:off x="1406525" y="4149726"/>
            <a:ext cx="3165475" cy="2447924"/>
            <a:chOff x="886" y="2614"/>
            <a:chExt cx="1994" cy="1542"/>
          </a:xfrm>
        </p:grpSpPr>
        <p:grpSp>
          <p:nvGrpSpPr>
            <p:cNvPr id="76807" name="组合 25"/>
            <p:cNvGrpSpPr/>
            <p:nvPr/>
          </p:nvGrpSpPr>
          <p:grpSpPr>
            <a:xfrm>
              <a:off x="1519" y="3249"/>
              <a:ext cx="544" cy="518"/>
              <a:chOff x="2411760" y="5157192"/>
              <a:chExt cx="864096" cy="822949"/>
            </a:xfrm>
          </p:grpSpPr>
          <p:sp>
            <p:nvSpPr>
              <p:cNvPr id="76808" name="正五边形 10"/>
              <p:cNvSpPr/>
              <p:nvPr/>
            </p:nvSpPr>
            <p:spPr>
              <a:xfrm>
                <a:off x="2411760" y="5157192"/>
                <a:ext cx="864096" cy="822949"/>
              </a:xfrm>
              <a:prstGeom prst="pentagon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>
                  <a:buSzTx/>
                </a:pPr>
                <a:endParaRPr lang="zh-CN" altLang="en-US" i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76809" name="直接连接符 12"/>
              <p:cNvCxnSpPr>
                <a:stCxn id="76808" idx="1"/>
                <a:endCxn id="76808" idx="5"/>
              </p:cNvCxnSpPr>
              <p:nvPr/>
            </p:nvCxnSpPr>
            <p:spPr>
              <a:xfrm rot="-10800000" flipH="1">
                <a:off x="2411761" y="5471530"/>
                <a:ext cx="86409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810" name="直接连接符 13"/>
              <p:cNvCxnSpPr>
                <a:stCxn id="76808" idx="2"/>
                <a:endCxn id="76808" idx="5"/>
              </p:cNvCxnSpPr>
              <p:nvPr/>
            </p:nvCxnSpPr>
            <p:spPr>
              <a:xfrm rot="5400000" flipH="1" flipV="1">
                <a:off x="2672017" y="5376300"/>
                <a:ext cx="508608" cy="69906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811" name="直接连接符 16"/>
              <p:cNvCxnSpPr>
                <a:stCxn id="76808" idx="1"/>
                <a:endCxn id="76808" idx="4"/>
              </p:cNvCxnSpPr>
              <p:nvPr/>
            </p:nvCxnSpPr>
            <p:spPr>
              <a:xfrm rot="10800000" flipH="1" flipV="1">
                <a:off x="2411761" y="5471530"/>
                <a:ext cx="699068" cy="5086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812" name="直接连接符 19"/>
              <p:cNvCxnSpPr>
                <a:stCxn id="76808" idx="0"/>
                <a:endCxn id="76808" idx="4"/>
              </p:cNvCxnSpPr>
              <p:nvPr/>
            </p:nvCxnSpPr>
            <p:spPr>
              <a:xfrm rot="-5400000" flipH="1">
                <a:off x="2565836" y="5435147"/>
                <a:ext cx="822946" cy="26702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813" name="直接连接符 22"/>
              <p:cNvCxnSpPr>
                <a:stCxn id="76808" idx="0"/>
                <a:endCxn id="76808" idx="2"/>
              </p:cNvCxnSpPr>
              <p:nvPr/>
            </p:nvCxnSpPr>
            <p:spPr>
              <a:xfrm rot="-5400000" flipH="1" flipV="1">
                <a:off x="2298816" y="5435146"/>
                <a:ext cx="822946" cy="26702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76814" name="椭圆 28"/>
            <p:cNvSpPr/>
            <p:nvPr/>
          </p:nvSpPr>
          <p:spPr>
            <a:xfrm>
              <a:off x="1473" y="2614"/>
              <a:ext cx="726" cy="5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6815" name="椭圆 31"/>
            <p:cNvSpPr/>
            <p:nvPr/>
          </p:nvSpPr>
          <p:spPr>
            <a:xfrm rot="-4924296">
              <a:off x="1000" y="2992"/>
              <a:ext cx="407" cy="635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vert="eaVert" anchor="t" anchorCtr="0"/>
            <a:p>
              <a:pPr>
                <a:buSzTx/>
              </a:pPr>
              <a:endParaRPr lang="zh-CN" altLang="en-US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6816" name="椭圆 32"/>
            <p:cNvSpPr/>
            <p:nvPr/>
          </p:nvSpPr>
          <p:spPr>
            <a:xfrm>
              <a:off x="1065" y="3702"/>
              <a:ext cx="590" cy="45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6817" name="椭圆 38"/>
            <p:cNvSpPr/>
            <p:nvPr/>
          </p:nvSpPr>
          <p:spPr>
            <a:xfrm>
              <a:off x="1927" y="3702"/>
              <a:ext cx="590" cy="45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76818" name="椭圆 42"/>
            <p:cNvSpPr/>
            <p:nvPr/>
          </p:nvSpPr>
          <p:spPr>
            <a:xfrm>
              <a:off x="2109" y="3067"/>
              <a:ext cx="771" cy="635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6819" name="椭圆 44"/>
          <p:cNvSpPr/>
          <p:nvPr/>
        </p:nvSpPr>
        <p:spPr>
          <a:xfrm>
            <a:off x="6659563" y="5157788"/>
            <a:ext cx="720725" cy="71913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endParaRPr lang="zh-CN" altLang="en-US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6820" name="椭圆 45"/>
          <p:cNvSpPr/>
          <p:nvPr/>
        </p:nvSpPr>
        <p:spPr>
          <a:xfrm>
            <a:off x="6156325" y="4365625"/>
            <a:ext cx="1368425" cy="1655763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endParaRPr lang="zh-CN" altLang="en-US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6821" name="椭圆 46"/>
          <p:cNvSpPr/>
          <p:nvPr/>
        </p:nvSpPr>
        <p:spPr>
          <a:xfrm>
            <a:off x="5795963" y="5013325"/>
            <a:ext cx="1655762" cy="1295400"/>
          </a:xfrm>
          <a:prstGeom prst="ellipse">
            <a:avLst/>
          </a:prstGeom>
          <a:noFill/>
          <a:ln w="28575" cap="flat" cmpd="sng">
            <a:solidFill>
              <a:srgbClr val="0066FF"/>
            </a:solidFill>
            <a:prstDash val="dash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endParaRPr lang="zh-CN" altLang="en-US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6822" name="椭圆 47"/>
          <p:cNvSpPr/>
          <p:nvPr/>
        </p:nvSpPr>
        <p:spPr>
          <a:xfrm>
            <a:off x="6588125" y="5013325"/>
            <a:ext cx="1655763" cy="1295400"/>
          </a:xfrm>
          <a:prstGeom prst="ellipse">
            <a:avLst/>
          </a:prstGeom>
          <a:noFill/>
          <a:ln w="28575" cap="flat" cmpd="sng">
            <a:solidFill>
              <a:srgbClr val="FF00FF"/>
            </a:solidFill>
            <a:prstDash val="dash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endParaRPr lang="zh-CN" altLang="en-US" i="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12.10(</a:t>
            </a:r>
            <a:r>
              <a:rPr lang="zh-CN" altLang="en-US"/>
              <a:t>证明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77826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136842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>
                <a:solidFill>
                  <a:schemeClr val="hlink"/>
                </a:solidFill>
              </a:rPr>
              <a:t>证 </a:t>
            </a:r>
            <a:r>
              <a:rPr lang="zh-CN" altLang="en-US"/>
              <a:t>因为对</a:t>
            </a:r>
            <a:r>
              <a:rPr lang="en-US" altLang="zh-CN"/>
              <a:t>G[V</a:t>
            </a:r>
            <a:r>
              <a:rPr lang="en-US" altLang="zh-CN" baseline="-25000"/>
              <a:t>1</a:t>
            </a:r>
            <a:r>
              <a:rPr lang="en-US" altLang="zh-CN"/>
              <a:t>]</a:t>
            </a:r>
            <a:r>
              <a:rPr lang="zh-CN" altLang="en-US"/>
              <a:t>的每种</a:t>
            </a:r>
            <a:r>
              <a:rPr lang="en-US" altLang="zh-CN" i="1"/>
              <a:t>k</a:t>
            </a:r>
            <a:r>
              <a:rPr lang="zh-CN" altLang="en-US"/>
              <a:t>着色</a:t>
            </a:r>
            <a:r>
              <a:rPr lang="en-US" altLang="zh-CN"/>
              <a:t>,G</a:t>
            </a:r>
            <a:r>
              <a:rPr lang="en-US" altLang="zh-CN" i="1" baseline="-25000"/>
              <a:t>i</a:t>
            </a:r>
            <a:r>
              <a:rPr lang="zh-CN" altLang="en-US"/>
              <a:t>有</a:t>
            </a:r>
            <a:r>
              <a:rPr lang="en-US" altLang="zh-CN" i="1"/>
              <a:t>f</a:t>
            </a:r>
            <a:r>
              <a:rPr lang="en-US" altLang="zh-CN"/>
              <a:t>(H</a:t>
            </a:r>
            <a:r>
              <a:rPr lang="en-US" altLang="zh-CN" i="1" baseline="-25000"/>
              <a:t>i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)/</a:t>
            </a:r>
            <a:r>
              <a:rPr lang="en-US" altLang="zh-CN" i="1"/>
              <a:t>f</a:t>
            </a:r>
            <a:r>
              <a:rPr lang="en-US" altLang="zh-CN"/>
              <a:t>(G[V</a:t>
            </a:r>
            <a:r>
              <a:rPr lang="en-US" altLang="zh-CN" baseline="-25000"/>
              <a:t>1</a:t>
            </a:r>
            <a:r>
              <a:rPr lang="en-US" altLang="zh-CN"/>
              <a:t>],</a:t>
            </a:r>
            <a:r>
              <a:rPr lang="en-US" altLang="zh-CN" i="1"/>
              <a:t>k</a:t>
            </a:r>
            <a:r>
              <a:rPr lang="en-US" altLang="zh-CN"/>
              <a:t>)</a:t>
            </a:r>
            <a:r>
              <a:rPr lang="zh-CN" altLang="en-US"/>
              <a:t>种</a:t>
            </a:r>
            <a:r>
              <a:rPr lang="en-US" altLang="zh-CN" i="1"/>
              <a:t>k</a:t>
            </a:r>
            <a:r>
              <a:rPr lang="zh-CN" altLang="en-US"/>
              <a:t>着色</a:t>
            </a:r>
            <a:r>
              <a:rPr lang="en-US" altLang="zh-CN"/>
              <a:t>,</a:t>
            </a:r>
            <a:r>
              <a:rPr lang="zh-CN" altLang="en-US"/>
              <a:t>所以</a:t>
            </a:r>
            <a:endParaRPr lang="zh-CN" altLang="en-US"/>
          </a:p>
        </p:txBody>
      </p:sp>
      <p:sp>
        <p:nvSpPr>
          <p:cNvPr id="77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  <p:graphicFrame>
        <p:nvGraphicFramePr>
          <p:cNvPr id="77828" name="Object 6"/>
          <p:cNvGraphicFramePr>
            <a:graphicFrameLocks noChangeAspect="1"/>
          </p:cNvGraphicFramePr>
          <p:nvPr/>
        </p:nvGraphicFramePr>
        <p:xfrm>
          <a:off x="468313" y="2349500"/>
          <a:ext cx="74930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3543300" imgH="660400" progId="Equation.3">
                  <p:embed/>
                </p:oleObj>
              </mc:Choice>
              <mc:Fallback>
                <p:oleObj name="" r:id="rId1" imgW="3543300" imgH="6604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313" y="2349500"/>
                        <a:ext cx="7493000" cy="139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12.11</a:t>
            </a:r>
            <a:endParaRPr lang="zh-CN" altLang="en-US"/>
          </a:p>
        </p:txBody>
      </p:sp>
      <p:sp>
        <p:nvSpPr>
          <p:cNvPr id="79874" name="内容占位符 2"/>
          <p:cNvSpPr>
            <a:spLocks noGrp="1"/>
          </p:cNvSpPr>
          <p:nvPr>
            <p:ph idx="1"/>
          </p:nvPr>
        </p:nvSpPr>
        <p:spPr>
          <a:xfrm>
            <a:off x="323850" y="1268413"/>
            <a:ext cx="8496300" cy="1800225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12.11:</a:t>
            </a:r>
            <a:r>
              <a:rPr lang="en-US" altLang="zh-CN"/>
              <a:t> T</a:t>
            </a:r>
            <a:r>
              <a:rPr lang="zh-CN" altLang="en-US"/>
              <a:t>是</a:t>
            </a:r>
            <a:r>
              <a:rPr lang="en-US" altLang="zh-CN" i="1"/>
              <a:t>n</a:t>
            </a:r>
            <a:r>
              <a:rPr lang="zh-CN" altLang="en-US"/>
              <a:t>阶树⇔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T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)=</a:t>
            </a:r>
            <a:r>
              <a:rPr lang="en-US" altLang="zh-CN" i="1"/>
              <a:t>k</a:t>
            </a:r>
            <a:r>
              <a:rPr lang="en-US" altLang="zh-CN"/>
              <a:t>(</a:t>
            </a:r>
            <a:r>
              <a:rPr lang="en-US" altLang="zh-CN" i="1"/>
              <a:t>k</a:t>
            </a:r>
            <a:r>
              <a:rPr lang="en-US" altLang="zh-CN"/>
              <a:t>-1)</a:t>
            </a:r>
            <a:r>
              <a:rPr lang="en-US" altLang="zh-CN" i="1" baseline="30000"/>
              <a:t>n</a:t>
            </a:r>
            <a:r>
              <a:rPr lang="en-US" altLang="zh-CN" baseline="30000"/>
              <a:t>-1</a:t>
            </a:r>
            <a:endParaRPr lang="en-US" altLang="zh-CN" baseline="3000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>
                <a:solidFill>
                  <a:schemeClr val="tx2"/>
                </a:solidFill>
              </a:rPr>
              <a:t>(</a:t>
            </a:r>
            <a:r>
              <a:rPr lang="en-US" altLang="zh-CN">
                <a:solidFill>
                  <a:srgbClr val="FF0000"/>
                </a:solidFill>
              </a:rPr>
              <a:t>⇒</a:t>
            </a:r>
            <a:r>
              <a:rPr lang="en-US" altLang="zh-CN">
                <a:solidFill>
                  <a:schemeClr val="tx2"/>
                </a:solidFill>
              </a:rPr>
              <a:t>) (</a:t>
            </a:r>
            <a:r>
              <a:rPr lang="zh-CN" altLang="en-US">
                <a:solidFill>
                  <a:srgbClr val="FF00FF"/>
                </a:solidFill>
              </a:rPr>
              <a:t>归纳法</a:t>
            </a:r>
            <a:r>
              <a:rPr lang="en-US" altLang="zh-CN">
                <a:solidFill>
                  <a:schemeClr val="tx2"/>
                </a:solidFill>
              </a:rPr>
              <a:t>) </a:t>
            </a:r>
            <a:r>
              <a:rPr lang="zh-CN" altLang="en-US">
                <a:solidFill>
                  <a:schemeClr val="tx2"/>
                </a:solidFill>
              </a:rPr>
              <a:t>对</a:t>
            </a:r>
            <a:r>
              <a:rPr lang="en-US" altLang="zh-CN" i="1">
                <a:solidFill>
                  <a:schemeClr val="tx2"/>
                </a:solidFill>
              </a:rPr>
              <a:t>m</a:t>
            </a:r>
            <a:r>
              <a:rPr lang="zh-CN" altLang="en-US">
                <a:solidFill>
                  <a:schemeClr val="tx2"/>
                </a:solidFill>
              </a:rPr>
              <a:t>归纳</a:t>
            </a:r>
            <a:r>
              <a:rPr lang="en-US" altLang="zh-CN">
                <a:solidFill>
                  <a:schemeClr val="tx2"/>
                </a:solidFill>
              </a:rPr>
              <a:t>. </a:t>
            </a:r>
            <a:endParaRPr lang="en-US" altLang="zh-CN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chemeClr val="tx2"/>
                </a:solidFill>
              </a:rPr>
              <a:t>设删除分支点</a:t>
            </a:r>
            <a:r>
              <a:rPr lang="en-US" altLang="zh-CN" i="1">
                <a:solidFill>
                  <a:schemeClr val="tx2"/>
                </a:solidFill>
              </a:rPr>
              <a:t>u</a:t>
            </a:r>
            <a:r>
              <a:rPr lang="en-US" altLang="zh-CN">
                <a:solidFill>
                  <a:schemeClr val="tx2"/>
                </a:solidFill>
              </a:rPr>
              <a:t>(</a:t>
            </a:r>
            <a:r>
              <a:rPr lang="zh-CN" altLang="en-US">
                <a:solidFill>
                  <a:schemeClr val="tx2"/>
                </a:solidFill>
              </a:rPr>
              <a:t>割点</a:t>
            </a:r>
            <a:r>
              <a:rPr lang="en-US" altLang="zh-CN">
                <a:solidFill>
                  <a:schemeClr val="tx2"/>
                </a:solidFill>
              </a:rPr>
              <a:t>)</a:t>
            </a:r>
            <a:r>
              <a:rPr lang="zh-CN" altLang="en-US">
                <a:solidFill>
                  <a:schemeClr val="tx2"/>
                </a:solidFill>
              </a:rPr>
              <a:t>后有</a:t>
            </a:r>
            <a:r>
              <a:rPr lang="en-US" altLang="zh-CN" i="1">
                <a:solidFill>
                  <a:schemeClr val="tx2"/>
                </a:solidFill>
              </a:rPr>
              <a:t>t</a:t>
            </a:r>
            <a:r>
              <a:rPr lang="zh-CN" altLang="en-US">
                <a:solidFill>
                  <a:schemeClr val="tx2"/>
                </a:solidFill>
              </a:rPr>
              <a:t>个分支</a:t>
            </a:r>
            <a:r>
              <a:rPr lang="en-US" altLang="zh-CN" i="1">
                <a:solidFill>
                  <a:schemeClr val="tx2"/>
                </a:solidFill>
              </a:rPr>
              <a:t>T</a:t>
            </a:r>
            <a:r>
              <a:rPr lang="en-US" altLang="zh-CN" i="1" baseline="-25000">
                <a:solidFill>
                  <a:schemeClr val="tx2"/>
                </a:solidFill>
              </a:rPr>
              <a:t>i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zh-CN" altLang="en-US">
                <a:solidFill>
                  <a:schemeClr val="tx2"/>
                </a:solidFill>
              </a:rPr>
              <a:t>则由定理</a:t>
            </a:r>
            <a:r>
              <a:rPr lang="en-US" altLang="zh-CN">
                <a:solidFill>
                  <a:schemeClr val="tx2"/>
                </a:solidFill>
              </a:rPr>
              <a:t>12.10:</a:t>
            </a:r>
            <a:endParaRPr lang="en-US" altLang="zh-CN">
              <a:solidFill>
                <a:schemeClr val="tx2"/>
              </a:solidFill>
            </a:endParaRPr>
          </a:p>
        </p:txBody>
      </p:sp>
      <p:sp>
        <p:nvSpPr>
          <p:cNvPr id="7987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  <p:graphicFrame>
        <p:nvGraphicFramePr>
          <p:cNvPr id="79876" name="Object 7"/>
          <p:cNvGraphicFramePr>
            <a:graphicFrameLocks noChangeAspect="1"/>
          </p:cNvGraphicFramePr>
          <p:nvPr/>
        </p:nvGraphicFramePr>
        <p:xfrm>
          <a:off x="298450" y="2852738"/>
          <a:ext cx="87376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5537200" imgH="800100" progId="Equation.3">
                  <p:embed/>
                </p:oleObj>
              </mc:Choice>
              <mc:Fallback>
                <p:oleObj name="" r:id="rId1" imgW="5537200" imgH="8001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8450" y="2852738"/>
                        <a:ext cx="8737600" cy="1263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7" name="Rectangle 8"/>
          <p:cNvSpPr/>
          <p:nvPr/>
        </p:nvSpPr>
        <p:spPr>
          <a:xfrm>
            <a:off x="323850" y="4292600"/>
            <a:ext cx="8280400" cy="2227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800" i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(⇐)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T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) =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-1)</a:t>
            </a:r>
            <a:r>
              <a:rPr lang="en-US" altLang="zh-CN" sz="2800" baseline="300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i="0" baseline="300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-1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=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800" baseline="300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-(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-1)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800" baseline="300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n-1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 + …+(-1)</a:t>
            </a:r>
            <a:r>
              <a:rPr lang="en-US" altLang="zh-CN" sz="2800" baseline="300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i="0" baseline="300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-1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,(</a:t>
            </a:r>
            <a:r>
              <a:rPr lang="zh-CN" altLang="en-US" sz="2400" i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计算过程略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sz="2800" i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T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r>
              <a:rPr lang="zh-CN" altLang="en-US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是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zh-CN" altLang="en-US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次多项式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zh-CN" altLang="en-US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故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T</a:t>
            </a:r>
            <a:r>
              <a:rPr lang="zh-CN" altLang="en-US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的阶为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800" baseline="300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i="0" baseline="300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-1</a:t>
            </a:r>
            <a:r>
              <a:rPr lang="zh-CN" altLang="en-US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的系数为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-(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-1),</a:t>
            </a:r>
            <a:r>
              <a:rPr lang="zh-CN" altLang="en-US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故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T</a:t>
            </a:r>
            <a:r>
              <a:rPr lang="zh-CN" altLang="en-US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的边数为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-1,</a:t>
            </a:r>
            <a:r>
              <a:rPr lang="zh-CN" altLang="en-US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又最低次幂为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zh-CN" altLang="en-US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故连通分支数为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1.</a:t>
            </a:r>
            <a:r>
              <a:rPr lang="zh-CN" altLang="en-US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即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m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=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-1,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=1(</a:t>
            </a:r>
            <a:r>
              <a:rPr lang="zh-CN" altLang="en-US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连通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),</a:t>
            </a:r>
            <a:r>
              <a:rPr lang="zh-CN" altLang="en-US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是树</a:t>
            </a:r>
            <a:r>
              <a:rPr lang="en-US" altLang="zh-CN" sz="2800" i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. </a:t>
            </a:r>
            <a:endParaRPr lang="zh-CN" altLang="en-US" sz="2800" i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charRg st="32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charRg st="53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charRg st="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charRg st="58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12.12</a:t>
            </a:r>
            <a:endParaRPr lang="zh-CN" altLang="en-US"/>
          </a:p>
        </p:txBody>
      </p:sp>
      <p:sp>
        <p:nvSpPr>
          <p:cNvPr id="80898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12.12:</a:t>
            </a:r>
            <a:r>
              <a:rPr lang="en-US" altLang="zh-CN"/>
              <a:t>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C</a:t>
            </a:r>
            <a:r>
              <a:rPr lang="en-US" altLang="zh-CN" i="1" baseline="-25000"/>
              <a:t>n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)=(</a:t>
            </a:r>
            <a:r>
              <a:rPr lang="en-US" altLang="zh-CN" i="1"/>
              <a:t>k</a:t>
            </a:r>
            <a:r>
              <a:rPr lang="en-US" altLang="zh-CN"/>
              <a:t>-1)</a:t>
            </a:r>
            <a:r>
              <a:rPr lang="en-US" altLang="zh-CN" i="1" baseline="30000"/>
              <a:t>n</a:t>
            </a:r>
            <a:r>
              <a:rPr lang="en-US" altLang="zh-CN"/>
              <a:t>+(-1)</a:t>
            </a:r>
            <a:r>
              <a:rPr lang="en-US" altLang="zh-CN" i="1" baseline="30000"/>
              <a:t>n</a:t>
            </a:r>
            <a:r>
              <a:rPr lang="en-US" altLang="zh-CN"/>
              <a:t>(</a:t>
            </a:r>
            <a:r>
              <a:rPr lang="en-US" altLang="zh-CN" i="1"/>
              <a:t>k</a:t>
            </a:r>
            <a:r>
              <a:rPr lang="en-US" altLang="zh-CN"/>
              <a:t>-1)</a:t>
            </a:r>
            <a:endParaRPr lang="en-US" altLang="zh-CN"/>
          </a:p>
          <a:p>
            <a:pPr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>
                <a:solidFill>
                  <a:schemeClr val="tx2"/>
                </a:solidFill>
              </a:rPr>
              <a:t>(</a:t>
            </a:r>
            <a:r>
              <a:rPr lang="zh-CN" altLang="en-US">
                <a:solidFill>
                  <a:schemeClr val="tx2"/>
                </a:solidFill>
              </a:rPr>
              <a:t>归纳法</a:t>
            </a:r>
            <a:r>
              <a:rPr lang="en-US" altLang="zh-CN">
                <a:solidFill>
                  <a:schemeClr val="tx2"/>
                </a:solidFill>
              </a:rPr>
              <a:t>)</a:t>
            </a:r>
            <a:r>
              <a:rPr lang="zh-CN" altLang="en-US">
                <a:solidFill>
                  <a:schemeClr val="tx2"/>
                </a:solidFill>
              </a:rPr>
              <a:t>对</a:t>
            </a: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zh-CN" altLang="en-US">
                <a:solidFill>
                  <a:schemeClr val="tx2"/>
                </a:solidFill>
              </a:rPr>
              <a:t>归纳</a:t>
            </a:r>
            <a:r>
              <a:rPr lang="en-US" altLang="zh-CN">
                <a:solidFill>
                  <a:schemeClr val="tx2"/>
                </a:solidFill>
              </a:rPr>
              <a:t>. </a:t>
            </a:r>
            <a:endParaRPr lang="en-US" altLang="zh-CN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=3</a:t>
            </a:r>
            <a:r>
              <a:rPr lang="zh-CN" altLang="en-US">
                <a:solidFill>
                  <a:schemeClr val="tx2"/>
                </a:solidFill>
              </a:rPr>
              <a:t>时</a:t>
            </a:r>
            <a:r>
              <a:rPr lang="en-US" altLang="zh-CN">
                <a:solidFill>
                  <a:schemeClr val="tx2"/>
                </a:solidFill>
              </a:rPr>
              <a:t>,C</a:t>
            </a:r>
            <a:r>
              <a:rPr lang="en-US" altLang="zh-CN" baseline="-25000">
                <a:solidFill>
                  <a:schemeClr val="tx2"/>
                </a:solidFill>
              </a:rPr>
              <a:t>3</a:t>
            </a:r>
            <a:r>
              <a:rPr lang="zh-CN" altLang="en-US">
                <a:solidFill>
                  <a:schemeClr val="tx2"/>
                </a:solidFill>
              </a:rPr>
              <a:t>是</a:t>
            </a:r>
            <a:r>
              <a:rPr lang="en-US" altLang="zh-CN">
                <a:solidFill>
                  <a:schemeClr val="tx2"/>
                </a:solidFill>
              </a:rPr>
              <a:t>K</a:t>
            </a:r>
            <a:r>
              <a:rPr lang="en-US" altLang="zh-CN" baseline="-25000">
                <a:solidFill>
                  <a:schemeClr val="tx2"/>
                </a:solidFill>
              </a:rPr>
              <a:t>3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zh-CN" altLang="en-US">
                <a:solidFill>
                  <a:schemeClr val="tx2"/>
                </a:solidFill>
              </a:rPr>
              <a:t>故</a:t>
            </a:r>
            <a:r>
              <a:rPr lang="en-US" altLang="zh-CN" i="1">
                <a:solidFill>
                  <a:schemeClr val="tx2"/>
                </a:solidFill>
              </a:rPr>
              <a:t>f</a:t>
            </a:r>
            <a:r>
              <a:rPr lang="en-US" altLang="zh-CN">
                <a:solidFill>
                  <a:schemeClr val="tx2"/>
                </a:solidFill>
              </a:rPr>
              <a:t>(C</a:t>
            </a:r>
            <a:r>
              <a:rPr lang="en-US" altLang="zh-CN" baseline="-25000">
                <a:solidFill>
                  <a:schemeClr val="tx2"/>
                </a:solidFill>
              </a:rPr>
              <a:t>3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k</a:t>
            </a:r>
            <a:r>
              <a:rPr lang="en-US" altLang="zh-CN">
                <a:solidFill>
                  <a:schemeClr val="tx2"/>
                </a:solidFill>
              </a:rPr>
              <a:t>)=</a:t>
            </a:r>
            <a:r>
              <a:rPr lang="en-US" altLang="zh-CN" i="1">
                <a:solidFill>
                  <a:schemeClr val="tx2"/>
                </a:solidFill>
              </a:rPr>
              <a:t>k</a:t>
            </a:r>
            <a:r>
              <a:rPr lang="en-US" altLang="zh-CN">
                <a:solidFill>
                  <a:schemeClr val="tx2"/>
                </a:solidFill>
              </a:rPr>
              <a:t>(</a:t>
            </a:r>
            <a:r>
              <a:rPr lang="en-US" altLang="zh-CN" i="1">
                <a:solidFill>
                  <a:schemeClr val="tx2"/>
                </a:solidFill>
              </a:rPr>
              <a:t>k</a:t>
            </a:r>
            <a:r>
              <a:rPr lang="en-US" altLang="zh-CN">
                <a:solidFill>
                  <a:schemeClr val="tx2"/>
                </a:solidFill>
              </a:rPr>
              <a:t>-1)(</a:t>
            </a:r>
            <a:r>
              <a:rPr lang="en-US" altLang="zh-CN" i="1">
                <a:solidFill>
                  <a:schemeClr val="tx2"/>
                </a:solidFill>
              </a:rPr>
              <a:t>k</a:t>
            </a:r>
            <a:r>
              <a:rPr lang="en-US" altLang="zh-CN">
                <a:solidFill>
                  <a:schemeClr val="tx2"/>
                </a:solidFill>
              </a:rPr>
              <a:t>-2)=(</a:t>
            </a:r>
            <a:r>
              <a:rPr lang="en-US" altLang="zh-CN" i="1">
                <a:solidFill>
                  <a:schemeClr val="tx2"/>
                </a:solidFill>
              </a:rPr>
              <a:t>k</a:t>
            </a:r>
            <a:r>
              <a:rPr lang="en-US" altLang="zh-CN">
                <a:solidFill>
                  <a:schemeClr val="tx2"/>
                </a:solidFill>
              </a:rPr>
              <a:t>-1)</a:t>
            </a:r>
            <a:r>
              <a:rPr lang="en-US" altLang="zh-CN" baseline="30000">
                <a:solidFill>
                  <a:schemeClr val="tx2"/>
                </a:solidFill>
              </a:rPr>
              <a:t>3</a:t>
            </a:r>
            <a:r>
              <a:rPr lang="en-US" altLang="zh-CN">
                <a:solidFill>
                  <a:schemeClr val="tx2"/>
                </a:solidFill>
              </a:rPr>
              <a:t>+(-1)</a:t>
            </a:r>
            <a:r>
              <a:rPr lang="en-US" altLang="zh-CN" baseline="30000">
                <a:solidFill>
                  <a:schemeClr val="tx2"/>
                </a:solidFill>
              </a:rPr>
              <a:t>3</a:t>
            </a:r>
            <a:r>
              <a:rPr lang="en-US" altLang="zh-CN">
                <a:solidFill>
                  <a:schemeClr val="tx2"/>
                </a:solidFill>
              </a:rPr>
              <a:t>(</a:t>
            </a:r>
            <a:r>
              <a:rPr lang="en-US" altLang="zh-CN" i="1">
                <a:solidFill>
                  <a:schemeClr val="tx2"/>
                </a:solidFill>
              </a:rPr>
              <a:t>k</a:t>
            </a:r>
            <a:r>
              <a:rPr lang="en-US" altLang="zh-CN">
                <a:solidFill>
                  <a:schemeClr val="tx2"/>
                </a:solidFill>
              </a:rPr>
              <a:t>-1)</a:t>
            </a:r>
            <a:endParaRPr lang="en-US" altLang="zh-CN">
              <a:solidFill>
                <a:schemeClr val="tx2"/>
              </a:solidFill>
            </a:endParaRPr>
          </a:p>
          <a:p>
            <a:pPr>
              <a:buNone/>
            </a:pPr>
            <a:r>
              <a:rPr lang="zh-CN" altLang="en-US">
                <a:solidFill>
                  <a:schemeClr val="tx2"/>
                </a:solidFill>
              </a:rPr>
              <a:t>设</a:t>
            </a: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=</a:t>
            </a:r>
            <a:r>
              <a:rPr lang="en-US" altLang="zh-CN" i="1">
                <a:solidFill>
                  <a:schemeClr val="tx2"/>
                </a:solidFill>
              </a:rPr>
              <a:t>r</a:t>
            </a:r>
            <a:r>
              <a:rPr lang="zh-CN" altLang="en-US">
                <a:solidFill>
                  <a:schemeClr val="tx2"/>
                </a:solidFill>
              </a:rPr>
              <a:t>时成立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zh-CN" altLang="en-US">
                <a:solidFill>
                  <a:schemeClr val="tx2"/>
                </a:solidFill>
              </a:rPr>
              <a:t>当</a:t>
            </a: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=</a:t>
            </a:r>
            <a:r>
              <a:rPr lang="en-US" altLang="zh-CN" i="1">
                <a:solidFill>
                  <a:schemeClr val="tx2"/>
                </a:solidFill>
              </a:rPr>
              <a:t>r</a:t>
            </a:r>
            <a:r>
              <a:rPr lang="en-US" altLang="zh-CN">
                <a:solidFill>
                  <a:schemeClr val="tx2"/>
                </a:solidFill>
              </a:rPr>
              <a:t>+1</a:t>
            </a:r>
            <a:r>
              <a:rPr lang="zh-CN" altLang="en-US">
                <a:solidFill>
                  <a:schemeClr val="tx2"/>
                </a:solidFill>
              </a:rPr>
              <a:t>时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zh-CN" altLang="en-US">
                <a:solidFill>
                  <a:schemeClr val="tx2"/>
                </a:solidFill>
              </a:rPr>
              <a:t>任取</a:t>
            </a:r>
            <a:r>
              <a:rPr lang="en-US" altLang="zh-CN">
                <a:solidFill>
                  <a:schemeClr val="tx2"/>
                </a:solidFill>
              </a:rPr>
              <a:t>1</a:t>
            </a:r>
            <a:r>
              <a:rPr lang="zh-CN" altLang="en-US">
                <a:solidFill>
                  <a:schemeClr val="tx2"/>
                </a:solidFill>
              </a:rPr>
              <a:t>边</a:t>
            </a:r>
            <a:r>
              <a:rPr lang="en-US" altLang="zh-CN" i="1">
                <a:solidFill>
                  <a:schemeClr val="tx2"/>
                </a:solidFill>
              </a:rPr>
              <a:t>e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i="1" baseline="-25000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-</a:t>
            </a:r>
            <a:r>
              <a:rPr lang="en-US" altLang="zh-CN" i="1">
                <a:solidFill>
                  <a:schemeClr val="tx2"/>
                </a:solidFill>
              </a:rPr>
              <a:t>e</a:t>
            </a:r>
            <a:r>
              <a:rPr lang="zh-CN" altLang="en-US">
                <a:solidFill>
                  <a:schemeClr val="tx2"/>
                </a:solidFill>
              </a:rPr>
              <a:t>是</a:t>
            </a:r>
            <a:r>
              <a:rPr lang="en-US" altLang="zh-CN" i="1">
                <a:solidFill>
                  <a:schemeClr val="tx2"/>
                </a:solidFill>
              </a:rPr>
              <a:t>n</a:t>
            </a:r>
            <a:r>
              <a:rPr lang="zh-CN" altLang="en-US">
                <a:solidFill>
                  <a:schemeClr val="tx2"/>
                </a:solidFill>
              </a:rPr>
              <a:t>阶树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i="1" baseline="-25000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\</a:t>
            </a:r>
            <a:r>
              <a:rPr lang="en-US" altLang="zh-CN" i="1">
                <a:solidFill>
                  <a:schemeClr val="tx2"/>
                </a:solidFill>
              </a:rPr>
              <a:t>e</a:t>
            </a:r>
            <a:r>
              <a:rPr lang="zh-CN" altLang="en-US">
                <a:solidFill>
                  <a:schemeClr val="tx2"/>
                </a:solidFill>
              </a:rPr>
              <a:t>是圈</a:t>
            </a:r>
            <a:r>
              <a:rPr lang="en-US" altLang="zh-CN">
                <a:solidFill>
                  <a:schemeClr val="tx2"/>
                </a:solidFill>
              </a:rPr>
              <a:t>C</a:t>
            </a:r>
            <a:r>
              <a:rPr lang="en-US" altLang="zh-CN" i="1" baseline="-25000">
                <a:solidFill>
                  <a:schemeClr val="tx2"/>
                </a:solidFill>
              </a:rPr>
              <a:t>n</a:t>
            </a:r>
            <a:r>
              <a:rPr lang="en-US" altLang="zh-CN" baseline="-25000">
                <a:solidFill>
                  <a:schemeClr val="tx2"/>
                </a:solidFill>
              </a:rPr>
              <a:t>-1</a:t>
            </a:r>
            <a:r>
              <a:rPr lang="en-US" altLang="zh-CN">
                <a:solidFill>
                  <a:schemeClr val="tx2"/>
                </a:solidFill>
              </a:rPr>
              <a:t>. </a:t>
            </a:r>
            <a:r>
              <a:rPr lang="zh-CN" altLang="en-US">
                <a:solidFill>
                  <a:schemeClr val="tx2"/>
                </a:solidFill>
              </a:rPr>
              <a:t>由递推公式</a:t>
            </a:r>
            <a:endParaRPr lang="zh-CN" alt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>
                <a:solidFill>
                  <a:schemeClr val="tx2"/>
                </a:solidFill>
              </a:rPr>
              <a:t>        </a:t>
            </a:r>
            <a:r>
              <a:rPr lang="en-US" altLang="zh-CN" i="1">
                <a:solidFill>
                  <a:schemeClr val="tx2"/>
                </a:solidFill>
              </a:rPr>
              <a:t>f</a:t>
            </a:r>
            <a:r>
              <a:rPr lang="en-US" altLang="zh-CN">
                <a:solidFill>
                  <a:schemeClr val="tx2"/>
                </a:solidFill>
              </a:rPr>
              <a:t>(</a:t>
            </a:r>
            <a:r>
              <a:rPr lang="en-US" altLang="zh-CN" i="1">
                <a:solidFill>
                  <a:schemeClr val="tx2"/>
                </a:solidFill>
              </a:rPr>
              <a:t>G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k</a:t>
            </a:r>
            <a:r>
              <a:rPr lang="en-US" altLang="zh-CN">
                <a:solidFill>
                  <a:schemeClr val="tx2"/>
                </a:solidFill>
              </a:rPr>
              <a:t>)=</a:t>
            </a:r>
            <a:r>
              <a:rPr lang="en-US" altLang="zh-CN" i="1">
                <a:solidFill>
                  <a:schemeClr val="tx2"/>
                </a:solidFill>
              </a:rPr>
              <a:t>f</a:t>
            </a:r>
            <a:r>
              <a:rPr lang="en-US" altLang="zh-CN">
                <a:solidFill>
                  <a:schemeClr val="tx2"/>
                </a:solidFill>
              </a:rPr>
              <a:t>(</a:t>
            </a:r>
            <a:r>
              <a:rPr lang="en-US" altLang="zh-CN" i="1">
                <a:solidFill>
                  <a:schemeClr val="tx2"/>
                </a:solidFill>
              </a:rPr>
              <a:t>G</a:t>
            </a:r>
            <a:r>
              <a:rPr lang="en-US" altLang="zh-CN">
                <a:solidFill>
                  <a:schemeClr val="tx2"/>
                </a:solidFill>
              </a:rPr>
              <a:t>-</a:t>
            </a:r>
            <a:r>
              <a:rPr lang="en-US" altLang="zh-CN" i="1">
                <a:solidFill>
                  <a:schemeClr val="tx2"/>
                </a:solidFill>
              </a:rPr>
              <a:t>e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k</a:t>
            </a:r>
            <a:r>
              <a:rPr lang="en-US" altLang="zh-CN">
                <a:solidFill>
                  <a:schemeClr val="tx2"/>
                </a:solidFill>
              </a:rPr>
              <a:t>)-</a:t>
            </a:r>
            <a:r>
              <a:rPr lang="en-US" altLang="zh-CN" i="1">
                <a:solidFill>
                  <a:schemeClr val="tx2"/>
                </a:solidFill>
              </a:rPr>
              <a:t>f</a:t>
            </a:r>
            <a:r>
              <a:rPr lang="en-US" altLang="zh-CN">
                <a:solidFill>
                  <a:schemeClr val="tx2"/>
                </a:solidFill>
              </a:rPr>
              <a:t>(</a:t>
            </a:r>
            <a:r>
              <a:rPr lang="en-US" altLang="zh-CN" i="1">
                <a:solidFill>
                  <a:schemeClr val="tx2"/>
                </a:solidFill>
              </a:rPr>
              <a:t>G</a:t>
            </a:r>
            <a:r>
              <a:rPr lang="en-US" altLang="zh-CN">
                <a:solidFill>
                  <a:schemeClr val="tx2"/>
                </a:solidFill>
              </a:rPr>
              <a:t>\</a:t>
            </a:r>
            <a:r>
              <a:rPr lang="en-US" altLang="zh-CN" i="1">
                <a:solidFill>
                  <a:schemeClr val="tx2"/>
                </a:solidFill>
              </a:rPr>
              <a:t>e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k</a:t>
            </a:r>
            <a:r>
              <a:rPr lang="en-US" altLang="zh-CN">
                <a:solidFill>
                  <a:schemeClr val="tx2"/>
                </a:solidFill>
              </a:rPr>
              <a:t>)</a:t>
            </a:r>
            <a:endParaRPr lang="en-US" altLang="zh-CN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>
                <a:solidFill>
                  <a:schemeClr val="tx2"/>
                </a:solidFill>
              </a:rPr>
              <a:t>                 =</a:t>
            </a:r>
            <a:r>
              <a:rPr lang="en-US" altLang="zh-CN" i="1">
                <a:solidFill>
                  <a:schemeClr val="tx2"/>
                </a:solidFill>
              </a:rPr>
              <a:t>k</a:t>
            </a:r>
            <a:r>
              <a:rPr lang="en-US" altLang="zh-CN">
                <a:solidFill>
                  <a:schemeClr val="tx2"/>
                </a:solidFill>
              </a:rPr>
              <a:t>(</a:t>
            </a:r>
            <a:r>
              <a:rPr lang="en-US" altLang="zh-CN" i="1">
                <a:solidFill>
                  <a:schemeClr val="tx2"/>
                </a:solidFill>
              </a:rPr>
              <a:t>k</a:t>
            </a:r>
            <a:r>
              <a:rPr lang="en-US" altLang="zh-CN">
                <a:solidFill>
                  <a:schemeClr val="tx2"/>
                </a:solidFill>
              </a:rPr>
              <a:t>-1)</a:t>
            </a:r>
            <a:r>
              <a:rPr lang="en-US" altLang="zh-CN" i="1" baseline="30000">
                <a:solidFill>
                  <a:schemeClr val="tx2"/>
                </a:solidFill>
              </a:rPr>
              <a:t>n</a:t>
            </a:r>
            <a:r>
              <a:rPr lang="en-US" altLang="zh-CN" baseline="30000">
                <a:solidFill>
                  <a:schemeClr val="tx2"/>
                </a:solidFill>
              </a:rPr>
              <a:t>-1</a:t>
            </a:r>
            <a:r>
              <a:rPr lang="en-US" altLang="zh-CN">
                <a:solidFill>
                  <a:schemeClr val="tx2"/>
                </a:solidFill>
              </a:rPr>
              <a:t>-((</a:t>
            </a:r>
            <a:r>
              <a:rPr lang="en-US" altLang="zh-CN" i="1">
                <a:solidFill>
                  <a:schemeClr val="tx2"/>
                </a:solidFill>
              </a:rPr>
              <a:t>k</a:t>
            </a:r>
            <a:r>
              <a:rPr lang="en-US" altLang="zh-CN">
                <a:solidFill>
                  <a:schemeClr val="tx2"/>
                </a:solidFill>
              </a:rPr>
              <a:t>-1)</a:t>
            </a:r>
            <a:r>
              <a:rPr lang="en-US" altLang="zh-CN" i="1" baseline="30000">
                <a:solidFill>
                  <a:schemeClr val="tx2"/>
                </a:solidFill>
              </a:rPr>
              <a:t>n</a:t>
            </a:r>
            <a:r>
              <a:rPr lang="en-US" altLang="zh-CN" baseline="30000">
                <a:solidFill>
                  <a:schemeClr val="tx2"/>
                </a:solidFill>
              </a:rPr>
              <a:t>-1</a:t>
            </a:r>
            <a:r>
              <a:rPr lang="en-US" altLang="zh-CN">
                <a:solidFill>
                  <a:schemeClr val="tx2"/>
                </a:solidFill>
              </a:rPr>
              <a:t>-(-1)</a:t>
            </a:r>
            <a:r>
              <a:rPr lang="en-US" altLang="zh-CN" i="1" baseline="30000">
                <a:solidFill>
                  <a:schemeClr val="tx2"/>
                </a:solidFill>
              </a:rPr>
              <a:t>n</a:t>
            </a:r>
            <a:r>
              <a:rPr lang="en-US" altLang="zh-CN" baseline="30000">
                <a:solidFill>
                  <a:schemeClr val="tx2"/>
                </a:solidFill>
              </a:rPr>
              <a:t>-1</a:t>
            </a:r>
            <a:r>
              <a:rPr lang="en-US" altLang="zh-CN">
                <a:solidFill>
                  <a:schemeClr val="tx2"/>
                </a:solidFill>
              </a:rPr>
              <a:t>(</a:t>
            </a:r>
            <a:r>
              <a:rPr lang="en-US" altLang="zh-CN" i="1">
                <a:solidFill>
                  <a:schemeClr val="tx2"/>
                </a:solidFill>
              </a:rPr>
              <a:t>k</a:t>
            </a:r>
            <a:r>
              <a:rPr lang="en-US" altLang="zh-CN">
                <a:solidFill>
                  <a:schemeClr val="tx2"/>
                </a:solidFill>
              </a:rPr>
              <a:t>-1))</a:t>
            </a:r>
            <a:endParaRPr lang="en-US" altLang="zh-CN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>
                <a:solidFill>
                  <a:schemeClr val="tx2"/>
                </a:solidFill>
              </a:rPr>
              <a:t>                =(</a:t>
            </a:r>
            <a:r>
              <a:rPr lang="en-US" altLang="zh-CN" i="1">
                <a:solidFill>
                  <a:schemeClr val="tx2"/>
                </a:solidFill>
              </a:rPr>
              <a:t>k</a:t>
            </a:r>
            <a:r>
              <a:rPr lang="en-US" altLang="zh-CN">
                <a:solidFill>
                  <a:schemeClr val="tx2"/>
                </a:solidFill>
              </a:rPr>
              <a:t>-1)</a:t>
            </a:r>
            <a:r>
              <a:rPr lang="en-US" altLang="zh-CN" i="1" baseline="30000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+(-1)</a:t>
            </a:r>
            <a:r>
              <a:rPr lang="en-US" altLang="zh-CN" i="1" baseline="30000">
                <a:solidFill>
                  <a:schemeClr val="tx2"/>
                </a:solidFill>
              </a:rPr>
              <a:t>n</a:t>
            </a:r>
            <a:r>
              <a:rPr lang="en-US" altLang="zh-CN">
                <a:solidFill>
                  <a:schemeClr val="tx2"/>
                </a:solidFill>
              </a:rPr>
              <a:t>(</a:t>
            </a:r>
            <a:r>
              <a:rPr lang="en-US" altLang="zh-CN" i="1">
                <a:solidFill>
                  <a:schemeClr val="tx2"/>
                </a:solidFill>
              </a:rPr>
              <a:t>k</a:t>
            </a:r>
            <a:r>
              <a:rPr lang="en-US" altLang="zh-CN">
                <a:solidFill>
                  <a:schemeClr val="tx2"/>
                </a:solidFill>
              </a:rPr>
              <a:t>-1). 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8089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例</a:t>
            </a:r>
            <a:r>
              <a:rPr lang="en-US" altLang="zh-CN"/>
              <a:t>12.4</a:t>
            </a:r>
            <a:endParaRPr lang="zh-CN" altLang="en-US"/>
          </a:p>
        </p:txBody>
      </p:sp>
      <p:sp>
        <p:nvSpPr>
          <p:cNvPr id="81922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3455988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12.4:</a:t>
            </a:r>
            <a:r>
              <a:rPr lang="en-US" altLang="zh-CN"/>
              <a:t> </a:t>
            </a:r>
            <a:r>
              <a:rPr lang="zh-CN" altLang="en-US">
                <a:solidFill>
                  <a:schemeClr val="tx2"/>
                </a:solidFill>
              </a:rPr>
              <a:t>有</a:t>
            </a:r>
            <a:r>
              <a:rPr lang="en-US" altLang="zh-CN">
                <a:solidFill>
                  <a:schemeClr val="tx2"/>
                </a:solidFill>
              </a:rPr>
              <a:t>5</a:t>
            </a:r>
            <a:r>
              <a:rPr lang="zh-CN" altLang="en-US">
                <a:solidFill>
                  <a:schemeClr val="tx2"/>
                </a:solidFill>
              </a:rPr>
              <a:t>门选修课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baseline="-25000">
                <a:solidFill>
                  <a:schemeClr val="tx2"/>
                </a:solidFill>
              </a:rPr>
              <a:t>1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baseline="-25000">
                <a:solidFill>
                  <a:schemeClr val="tx2"/>
                </a:solidFill>
              </a:rPr>
              <a:t>2</a:t>
            </a:r>
            <a:r>
              <a:rPr lang="en-US" altLang="zh-CN">
                <a:solidFill>
                  <a:schemeClr val="tx2"/>
                </a:solidFill>
              </a:rPr>
              <a:t>,…,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baseline="-25000">
                <a:solidFill>
                  <a:schemeClr val="tx2"/>
                </a:solidFill>
              </a:rPr>
              <a:t>5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zh-CN" altLang="en-US">
                <a:solidFill>
                  <a:schemeClr val="tx2"/>
                </a:solidFill>
              </a:rPr>
              <a:t>已知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baseline="-25000">
                <a:solidFill>
                  <a:schemeClr val="tx2"/>
                </a:solidFill>
              </a:rPr>
              <a:t>1</a:t>
            </a:r>
            <a:r>
              <a:rPr lang="zh-CN" altLang="en-US">
                <a:solidFill>
                  <a:schemeClr val="tx2"/>
                </a:solidFill>
              </a:rPr>
              <a:t>与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baseline="-25000">
                <a:solidFill>
                  <a:schemeClr val="tx2"/>
                </a:solidFill>
              </a:rPr>
              <a:t>2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baseline="-25000">
                <a:solidFill>
                  <a:schemeClr val="tx2"/>
                </a:solidFill>
              </a:rPr>
              <a:t>2</a:t>
            </a:r>
            <a:r>
              <a:rPr lang="zh-CN" altLang="en-US">
                <a:solidFill>
                  <a:schemeClr val="tx2"/>
                </a:solidFill>
              </a:rPr>
              <a:t>与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baseline="-25000">
                <a:solidFill>
                  <a:schemeClr val="tx2"/>
                </a:solidFill>
              </a:rPr>
              <a:t>3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baseline="-25000">
                <a:solidFill>
                  <a:schemeClr val="tx2"/>
                </a:solidFill>
              </a:rPr>
              <a:t>3</a:t>
            </a:r>
            <a:r>
              <a:rPr lang="zh-CN" altLang="en-US">
                <a:solidFill>
                  <a:schemeClr val="tx2"/>
                </a:solidFill>
              </a:rPr>
              <a:t>与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baseline="-25000">
                <a:solidFill>
                  <a:schemeClr val="tx2"/>
                </a:solidFill>
              </a:rPr>
              <a:t>4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baseline="-25000">
                <a:solidFill>
                  <a:schemeClr val="tx2"/>
                </a:solidFill>
              </a:rPr>
              <a:t>4</a:t>
            </a:r>
            <a:r>
              <a:rPr lang="zh-CN" altLang="en-US">
                <a:solidFill>
                  <a:schemeClr val="tx2"/>
                </a:solidFill>
              </a:rPr>
              <a:t>与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baseline="-25000">
                <a:solidFill>
                  <a:schemeClr val="tx2"/>
                </a:solidFill>
              </a:rPr>
              <a:t>5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baseline="-25000">
                <a:solidFill>
                  <a:schemeClr val="tx2"/>
                </a:solidFill>
              </a:rPr>
              <a:t>2</a:t>
            </a:r>
            <a:r>
              <a:rPr lang="zh-CN" altLang="en-US">
                <a:solidFill>
                  <a:schemeClr val="tx2"/>
                </a:solidFill>
              </a:rPr>
              <a:t>与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baseline="-25000">
                <a:solidFill>
                  <a:schemeClr val="tx2"/>
                </a:solidFill>
              </a:rPr>
              <a:t>4</a:t>
            </a:r>
            <a:r>
              <a:rPr lang="zh-CN" altLang="en-US">
                <a:solidFill>
                  <a:schemeClr val="tx2"/>
                </a:solidFill>
              </a:rPr>
              <a:t>都有学生同时选它们</a:t>
            </a:r>
            <a:r>
              <a:rPr lang="en-US" altLang="zh-CN">
                <a:solidFill>
                  <a:schemeClr val="tx2"/>
                </a:solidFill>
              </a:rPr>
              <a:t>. </a:t>
            </a:r>
            <a:r>
              <a:rPr lang="zh-CN" altLang="en-US">
                <a:solidFill>
                  <a:schemeClr val="tx2"/>
                </a:solidFill>
              </a:rPr>
              <a:t>每天每个学生至多只能参加</a:t>
            </a:r>
            <a:r>
              <a:rPr lang="en-US" altLang="zh-CN">
                <a:solidFill>
                  <a:schemeClr val="tx2"/>
                </a:solidFill>
              </a:rPr>
              <a:t>1</a:t>
            </a:r>
            <a:r>
              <a:rPr lang="zh-CN" altLang="en-US">
                <a:solidFill>
                  <a:schemeClr val="tx2"/>
                </a:solidFill>
              </a:rPr>
              <a:t>门课的考试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zh-CN" altLang="en-US">
                <a:solidFill>
                  <a:schemeClr val="tx2"/>
                </a:solidFill>
              </a:rPr>
              <a:t>问在安排天数最少的条件下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zh-CN" altLang="en-US">
                <a:solidFill>
                  <a:schemeClr val="tx2"/>
                </a:solidFill>
              </a:rPr>
              <a:t>至多有多少安排方案</a:t>
            </a:r>
            <a:r>
              <a:rPr lang="en-US" altLang="zh-CN">
                <a:solidFill>
                  <a:schemeClr val="tx2"/>
                </a:solidFill>
              </a:rPr>
              <a:t>?</a:t>
            </a:r>
            <a:endParaRPr lang="en-US" altLang="zh-CN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hlink"/>
                </a:solidFill>
              </a:rPr>
              <a:t>解</a:t>
            </a:r>
            <a:r>
              <a:rPr lang="zh-CN" altLang="en-US">
                <a:solidFill>
                  <a:schemeClr val="tx2"/>
                </a:solidFill>
              </a:rPr>
              <a:t>  令</a:t>
            </a:r>
            <a:r>
              <a:rPr lang="en-US" altLang="zh-CN">
                <a:solidFill>
                  <a:schemeClr val="tx2"/>
                </a:solidFill>
              </a:rPr>
              <a:t>G=&lt;C,E&gt;,C={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baseline="-25000">
                <a:solidFill>
                  <a:schemeClr val="tx2"/>
                </a:solidFill>
              </a:rPr>
              <a:t>1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baseline="-25000">
                <a:solidFill>
                  <a:schemeClr val="tx2"/>
                </a:solidFill>
              </a:rPr>
              <a:t>2</a:t>
            </a:r>
            <a:r>
              <a:rPr lang="en-US" altLang="zh-CN">
                <a:solidFill>
                  <a:schemeClr val="tx2"/>
                </a:solidFill>
              </a:rPr>
              <a:t>,…,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baseline="-25000">
                <a:solidFill>
                  <a:schemeClr val="tx2"/>
                </a:solidFill>
              </a:rPr>
              <a:t>5</a:t>
            </a:r>
            <a:r>
              <a:rPr lang="en-US" altLang="zh-CN">
                <a:solidFill>
                  <a:schemeClr val="tx2"/>
                </a:solidFill>
              </a:rPr>
              <a:t>},</a:t>
            </a:r>
            <a:endParaRPr lang="en-US" altLang="zh-CN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2"/>
                </a:solidFill>
              </a:rPr>
              <a:t>          E={ (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i="1" baseline="-25000">
                <a:solidFill>
                  <a:schemeClr val="tx2"/>
                </a:solidFill>
              </a:rPr>
              <a:t>i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i="1" baseline="-25000">
                <a:solidFill>
                  <a:schemeClr val="tx2"/>
                </a:solidFill>
              </a:rPr>
              <a:t>j</a:t>
            </a:r>
            <a:r>
              <a:rPr lang="en-US" altLang="zh-CN">
                <a:solidFill>
                  <a:schemeClr val="tx2"/>
                </a:solidFill>
              </a:rPr>
              <a:t>) | </a:t>
            </a:r>
            <a:r>
              <a:rPr lang="zh-CN" altLang="en-US">
                <a:solidFill>
                  <a:schemeClr val="tx2"/>
                </a:solidFill>
              </a:rPr>
              <a:t>有学生同时选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i="1" baseline="-25000">
                <a:solidFill>
                  <a:schemeClr val="tx2"/>
                </a:solidFill>
              </a:rPr>
              <a:t>i</a:t>
            </a:r>
            <a:r>
              <a:rPr lang="zh-CN" altLang="en-US">
                <a:solidFill>
                  <a:schemeClr val="tx2"/>
                </a:solidFill>
              </a:rPr>
              <a:t>和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 i="1" baseline="-25000">
                <a:solidFill>
                  <a:schemeClr val="tx2"/>
                </a:solidFill>
              </a:rPr>
              <a:t>j</a:t>
            </a:r>
            <a:r>
              <a:rPr lang="en-US" altLang="zh-CN">
                <a:solidFill>
                  <a:schemeClr val="tx2"/>
                </a:solidFill>
              </a:rPr>
              <a:t> },</a:t>
            </a:r>
            <a:r>
              <a:rPr lang="zh-CN" altLang="en-US">
                <a:solidFill>
                  <a:schemeClr val="tx2"/>
                </a:solidFill>
              </a:rPr>
              <a:t>如下图所示</a:t>
            </a:r>
            <a:r>
              <a:rPr lang="en-US" altLang="zh-CN">
                <a:solidFill>
                  <a:schemeClr val="tx2"/>
                </a:solidFill>
              </a:rPr>
              <a:t>.</a:t>
            </a:r>
            <a:endParaRPr lang="en-US" altLang="zh-CN">
              <a:solidFill>
                <a:schemeClr val="tx2"/>
              </a:solidFill>
            </a:endParaRPr>
          </a:p>
        </p:txBody>
      </p:sp>
      <p:sp>
        <p:nvSpPr>
          <p:cNvPr id="8192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  <p:grpSp>
        <p:nvGrpSpPr>
          <p:cNvPr id="81924" name="Group 23"/>
          <p:cNvGrpSpPr/>
          <p:nvPr/>
        </p:nvGrpSpPr>
        <p:grpSpPr>
          <a:xfrm>
            <a:off x="323850" y="4581525"/>
            <a:ext cx="3013075" cy="1947863"/>
            <a:chOff x="385" y="2899"/>
            <a:chExt cx="1898" cy="1227"/>
          </a:xfrm>
        </p:grpSpPr>
        <p:sp>
          <p:nvSpPr>
            <p:cNvPr id="81925" name="Oval 7"/>
            <p:cNvSpPr/>
            <p:nvPr/>
          </p:nvSpPr>
          <p:spPr>
            <a:xfrm>
              <a:off x="612" y="3339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81926" name="Oval 8"/>
            <p:cNvSpPr/>
            <p:nvPr/>
          </p:nvSpPr>
          <p:spPr>
            <a:xfrm>
              <a:off x="748" y="3838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81927" name="Oval 9"/>
            <p:cNvSpPr/>
            <p:nvPr/>
          </p:nvSpPr>
          <p:spPr>
            <a:xfrm>
              <a:off x="1383" y="3884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81928" name="Oval 10"/>
            <p:cNvSpPr/>
            <p:nvPr/>
          </p:nvSpPr>
          <p:spPr>
            <a:xfrm>
              <a:off x="1066" y="297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81929" name="Oval 11"/>
            <p:cNvSpPr/>
            <p:nvPr/>
          </p:nvSpPr>
          <p:spPr>
            <a:xfrm>
              <a:off x="1882" y="338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81930" name="Line 12"/>
            <p:cNvSpPr/>
            <p:nvPr/>
          </p:nvSpPr>
          <p:spPr>
            <a:xfrm>
              <a:off x="657" y="3475"/>
              <a:ext cx="136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31" name="Line 13"/>
            <p:cNvSpPr/>
            <p:nvPr/>
          </p:nvSpPr>
          <p:spPr>
            <a:xfrm>
              <a:off x="884" y="3929"/>
              <a:ext cx="54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32" name="Line 14"/>
            <p:cNvSpPr/>
            <p:nvPr/>
          </p:nvSpPr>
          <p:spPr>
            <a:xfrm flipV="1">
              <a:off x="1519" y="3475"/>
              <a:ext cx="408" cy="45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33" name="Line 15"/>
            <p:cNvSpPr/>
            <p:nvPr/>
          </p:nvSpPr>
          <p:spPr>
            <a:xfrm flipV="1">
              <a:off x="703" y="3067"/>
              <a:ext cx="408" cy="2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34" name="Line 16"/>
            <p:cNvSpPr/>
            <p:nvPr/>
          </p:nvSpPr>
          <p:spPr>
            <a:xfrm>
              <a:off x="703" y="3430"/>
              <a:ext cx="726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35" name="Text Box 18"/>
            <p:cNvSpPr txBox="1"/>
            <p:nvPr/>
          </p:nvSpPr>
          <p:spPr>
            <a:xfrm>
              <a:off x="1202" y="289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1936" name="Text Box 19"/>
            <p:cNvSpPr txBox="1"/>
            <p:nvPr/>
          </p:nvSpPr>
          <p:spPr>
            <a:xfrm>
              <a:off x="385" y="320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1937" name="Text Box 20"/>
            <p:cNvSpPr txBox="1"/>
            <p:nvPr/>
          </p:nvSpPr>
          <p:spPr>
            <a:xfrm>
              <a:off x="521" y="379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1938" name="Text Box 21"/>
            <p:cNvSpPr txBox="1"/>
            <p:nvPr/>
          </p:nvSpPr>
          <p:spPr>
            <a:xfrm>
              <a:off x="1474" y="383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1939" name="Text Box 22"/>
            <p:cNvSpPr txBox="1"/>
            <p:nvPr/>
          </p:nvSpPr>
          <p:spPr>
            <a:xfrm>
              <a:off x="2018" y="333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例</a:t>
            </a:r>
            <a:r>
              <a:rPr lang="en-US" altLang="zh-CN"/>
              <a:t>12.4(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82946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/>
              <a:t>给</a:t>
            </a:r>
            <a:r>
              <a:rPr lang="en-US" altLang="zh-CN"/>
              <a:t>G</a:t>
            </a:r>
            <a:r>
              <a:rPr lang="zh-CN" altLang="en-US"/>
              <a:t>进行</a:t>
            </a:r>
            <a:r>
              <a:rPr lang="en-US" altLang="zh-CN" i="1"/>
              <a:t>k</a:t>
            </a:r>
            <a:r>
              <a:rPr lang="en-US" altLang="zh-CN"/>
              <a:t>-</a:t>
            </a:r>
            <a:r>
              <a:rPr lang="zh-CN" altLang="en-US"/>
              <a:t>着色</a:t>
            </a:r>
            <a:r>
              <a:rPr lang="en-US" altLang="zh-CN"/>
              <a:t>, </a:t>
            </a:r>
            <a:r>
              <a:rPr lang="zh-CN" altLang="en-US"/>
              <a:t>同色点代表可以同一天考的课程</a:t>
            </a:r>
            <a:r>
              <a:rPr lang="en-US" altLang="zh-CN"/>
              <a:t>, </a:t>
            </a:r>
            <a:r>
              <a:rPr lang="zh-CN" altLang="en-US"/>
              <a:t>颜</a:t>
            </a:r>
            <a:endParaRPr lang="en-US" altLang="zh-CN"/>
          </a:p>
          <a:p>
            <a:pPr>
              <a:buNone/>
            </a:pPr>
            <a:r>
              <a:rPr lang="zh-CN" altLang="en-US"/>
              <a:t>色数就是天数</a:t>
            </a:r>
            <a:r>
              <a:rPr lang="en-US" altLang="zh-CN"/>
              <a:t>, </a:t>
            </a:r>
            <a:r>
              <a:rPr lang="zh-CN" altLang="en-US"/>
              <a:t>需要的最少天数就是</a:t>
            </a:r>
            <a:r>
              <a:rPr lang="en-US" altLang="zh-CN"/>
              <a:t>G</a:t>
            </a:r>
            <a:r>
              <a:rPr lang="zh-CN" altLang="en-US"/>
              <a:t>的色数</a:t>
            </a:r>
            <a:r>
              <a:rPr lang="zh-CN" altLang="en-US">
                <a:sym typeface="Symbol" panose="05050102010706020507" charset="2"/>
              </a:rPr>
              <a:t></a:t>
            </a:r>
            <a:r>
              <a:rPr lang="en-US" altLang="zh-CN">
                <a:sym typeface="Symbol" panose="05050102010706020507" charset="2"/>
              </a:rPr>
              <a:t>(G)</a:t>
            </a:r>
            <a:r>
              <a:rPr lang="en-US" altLang="zh-CN"/>
              <a:t>,</a:t>
            </a:r>
            <a:r>
              <a:rPr lang="zh-CN" altLang="en-US"/>
              <a:t>即</a:t>
            </a:r>
            <a:endParaRPr lang="en-US" altLang="zh-CN"/>
          </a:p>
          <a:p>
            <a:pPr>
              <a:buNone/>
            </a:pPr>
            <a:r>
              <a:rPr lang="zh-CN" altLang="en-US"/>
              <a:t>最少需要</a:t>
            </a:r>
            <a:r>
              <a:rPr lang="en-US" altLang="zh-CN" i="1"/>
              <a:t>k</a:t>
            </a:r>
            <a:r>
              <a:rPr lang="en-US" altLang="zh-CN"/>
              <a:t>=χ(G)=3</a:t>
            </a:r>
            <a:r>
              <a:rPr lang="zh-CN" altLang="en-US"/>
              <a:t>天</a:t>
            </a:r>
            <a:r>
              <a:rPr lang="en-US" altLang="zh-CN"/>
              <a:t>. </a:t>
            </a:r>
            <a:endParaRPr lang="en-US" altLang="zh-CN"/>
          </a:p>
          <a:p>
            <a:pPr>
              <a:buNone/>
            </a:pPr>
            <a:r>
              <a:rPr lang="en-US" altLang="zh-CN"/>
              <a:t>G</a:t>
            </a:r>
            <a:r>
              <a:rPr lang="zh-CN" altLang="en-US"/>
              <a:t>的色多项式是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)=</a:t>
            </a:r>
            <a:r>
              <a:rPr lang="en-US" altLang="zh-CN" i="1"/>
              <a:t>k</a:t>
            </a:r>
            <a:r>
              <a:rPr lang="en-US" altLang="zh-CN" baseline="30000"/>
              <a:t>5</a:t>
            </a:r>
            <a:r>
              <a:rPr lang="en-US" altLang="zh-CN"/>
              <a:t>-5</a:t>
            </a:r>
            <a:r>
              <a:rPr lang="en-US" altLang="zh-CN" i="1"/>
              <a:t>k</a:t>
            </a:r>
            <a:r>
              <a:rPr lang="en-US" altLang="zh-CN" baseline="30000"/>
              <a:t>4</a:t>
            </a:r>
            <a:r>
              <a:rPr lang="en-US" altLang="zh-CN"/>
              <a:t>+9</a:t>
            </a:r>
            <a:r>
              <a:rPr lang="en-US" altLang="zh-CN" i="1"/>
              <a:t>k</a:t>
            </a:r>
            <a:r>
              <a:rPr lang="en-US" altLang="zh-CN" baseline="30000"/>
              <a:t>3</a:t>
            </a:r>
            <a:r>
              <a:rPr lang="en-US" altLang="zh-CN"/>
              <a:t>-7</a:t>
            </a:r>
            <a:r>
              <a:rPr lang="en-US" altLang="zh-CN" i="1"/>
              <a:t>k</a:t>
            </a:r>
            <a:r>
              <a:rPr lang="en-US" altLang="zh-CN" baseline="30000"/>
              <a:t>2</a:t>
            </a:r>
            <a:r>
              <a:rPr lang="en-US" altLang="zh-CN"/>
              <a:t>+2</a:t>
            </a:r>
            <a:r>
              <a:rPr lang="en-US" altLang="zh-CN" i="1"/>
              <a:t>k</a:t>
            </a:r>
            <a:endParaRPr lang="en-US" altLang="zh-CN" i="1"/>
          </a:p>
          <a:p>
            <a:pPr>
              <a:buNone/>
            </a:pPr>
            <a:r>
              <a:rPr lang="zh-CN" altLang="en-US"/>
              <a:t>所以至多有</a:t>
            </a:r>
            <a:r>
              <a:rPr lang="en-US" altLang="zh-CN" i="1"/>
              <a:t>f</a:t>
            </a:r>
            <a:r>
              <a:rPr lang="en-US" altLang="zh-CN"/>
              <a:t>(G,3)=24</a:t>
            </a:r>
            <a:r>
              <a:rPr lang="zh-CN" altLang="en-US"/>
              <a:t>种安排方案</a:t>
            </a:r>
            <a:r>
              <a:rPr lang="en-US" altLang="zh-CN"/>
              <a:t>. </a:t>
            </a:r>
            <a:endParaRPr lang="zh-CN" altLang="en-US"/>
          </a:p>
        </p:txBody>
      </p:sp>
      <p:sp>
        <p:nvSpPr>
          <p:cNvPr id="8294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例</a:t>
            </a:r>
            <a:r>
              <a:rPr lang="en-US" altLang="zh-CN"/>
              <a:t>12.4</a:t>
            </a:r>
            <a:r>
              <a:rPr lang="zh-CN" altLang="en-US"/>
              <a:t>的求解过程</a:t>
            </a:r>
            <a:endParaRPr lang="zh-CN" altLang="en-US"/>
          </a:p>
        </p:txBody>
      </p:sp>
      <p:sp>
        <p:nvSpPr>
          <p:cNvPr id="84994" name="Rectangle 3"/>
          <p:cNvSpPr>
            <a:spLocks noGrp="1"/>
          </p:cNvSpPr>
          <p:nvPr>
            <p:ph idx="1"/>
          </p:nvPr>
        </p:nvSpPr>
        <p:spPr>
          <a:xfrm>
            <a:off x="323850" y="1196975"/>
            <a:ext cx="8496300" cy="1152525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>
                <a:solidFill>
                  <a:srgbClr val="FF00FF"/>
                </a:solidFill>
              </a:rPr>
              <a:t>方法一：用定理</a:t>
            </a:r>
            <a:r>
              <a:rPr lang="en-US" altLang="zh-CN" sz="2400">
                <a:solidFill>
                  <a:srgbClr val="FF00FF"/>
                </a:solidFill>
              </a:rPr>
              <a:t>12.9</a:t>
            </a:r>
            <a:endParaRPr lang="en-US" altLang="zh-CN" sz="2400">
              <a:solidFill>
                <a:srgbClr val="FF00FF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>
                <a:solidFill>
                  <a:srgbClr val="FF00FF"/>
                </a:solidFill>
              </a:rPr>
              <a:t>方法二：</a:t>
            </a:r>
            <a:r>
              <a:rPr lang="en-US" altLang="zh-CN" sz="2400"/>
              <a:t>V</a:t>
            </a:r>
            <a:r>
              <a:rPr lang="en-US" altLang="zh-CN" sz="2400" baseline="-25000"/>
              <a:t>1</a:t>
            </a:r>
            <a:r>
              <a:rPr lang="en-US" altLang="zh-CN" sz="2400"/>
              <a:t>={c</a:t>
            </a:r>
            <a:r>
              <a:rPr lang="en-US" altLang="zh-CN" sz="2400" baseline="-25000"/>
              <a:t>2</a:t>
            </a:r>
            <a:r>
              <a:rPr lang="en-US" altLang="zh-CN" sz="2400"/>
              <a:t>}</a:t>
            </a:r>
            <a:r>
              <a:rPr lang="zh-CN" altLang="en-US" sz="2400"/>
              <a:t>是</a:t>
            </a:r>
            <a:r>
              <a:rPr lang="en-US" altLang="zh-CN" sz="2400"/>
              <a:t>G</a:t>
            </a:r>
            <a:r>
              <a:rPr lang="zh-CN" altLang="en-US" sz="2400"/>
              <a:t>的割集</a:t>
            </a:r>
            <a:r>
              <a:rPr lang="en-US" altLang="zh-CN" sz="2400"/>
              <a:t>.</a:t>
            </a:r>
            <a:r>
              <a:rPr lang="zh-CN" altLang="en-US" sz="2400"/>
              <a:t>由定理</a:t>
            </a:r>
            <a:r>
              <a:rPr lang="en-US" altLang="zh-CN" sz="2400"/>
              <a:t>12.10,</a:t>
            </a:r>
            <a:r>
              <a:rPr lang="zh-CN" altLang="en-US" sz="2400"/>
              <a:t>知</a:t>
            </a:r>
            <a:endParaRPr lang="zh-CN" altLang="en-US" sz="2400"/>
          </a:p>
        </p:txBody>
      </p:sp>
      <p:graphicFrame>
        <p:nvGraphicFramePr>
          <p:cNvPr id="84995" name="Object 7"/>
          <p:cNvGraphicFramePr>
            <a:graphicFrameLocks noChangeAspect="1"/>
          </p:cNvGraphicFramePr>
          <p:nvPr/>
        </p:nvGraphicFramePr>
        <p:xfrm>
          <a:off x="168275" y="2276475"/>
          <a:ext cx="8940800" cy="182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5092700" imgH="1041400" progId="Equation.3">
                  <p:embed/>
                </p:oleObj>
              </mc:Choice>
              <mc:Fallback>
                <p:oleObj name="" r:id="rId1" imgW="5092700" imgH="10414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8275" y="2276475"/>
                        <a:ext cx="8940800" cy="1827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4996" name="Group 8"/>
          <p:cNvGrpSpPr/>
          <p:nvPr/>
        </p:nvGrpSpPr>
        <p:grpSpPr>
          <a:xfrm>
            <a:off x="6130925" y="260350"/>
            <a:ext cx="3013075" cy="1947863"/>
            <a:chOff x="385" y="2899"/>
            <a:chExt cx="1898" cy="1227"/>
          </a:xfrm>
        </p:grpSpPr>
        <p:sp>
          <p:nvSpPr>
            <p:cNvPr id="84997" name="Oval 9"/>
            <p:cNvSpPr/>
            <p:nvPr/>
          </p:nvSpPr>
          <p:spPr>
            <a:xfrm>
              <a:off x="612" y="3339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84998" name="Oval 10"/>
            <p:cNvSpPr/>
            <p:nvPr/>
          </p:nvSpPr>
          <p:spPr>
            <a:xfrm>
              <a:off x="748" y="3838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84999" name="Oval 11"/>
            <p:cNvSpPr/>
            <p:nvPr/>
          </p:nvSpPr>
          <p:spPr>
            <a:xfrm>
              <a:off x="1383" y="3884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85000" name="Oval 12"/>
            <p:cNvSpPr/>
            <p:nvPr/>
          </p:nvSpPr>
          <p:spPr>
            <a:xfrm>
              <a:off x="1066" y="297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85001" name="Oval 13"/>
            <p:cNvSpPr/>
            <p:nvPr/>
          </p:nvSpPr>
          <p:spPr>
            <a:xfrm>
              <a:off x="1882" y="338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85002" name="Line 14"/>
            <p:cNvSpPr/>
            <p:nvPr/>
          </p:nvSpPr>
          <p:spPr>
            <a:xfrm>
              <a:off x="657" y="3475"/>
              <a:ext cx="136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03" name="Line 15"/>
            <p:cNvSpPr/>
            <p:nvPr/>
          </p:nvSpPr>
          <p:spPr>
            <a:xfrm>
              <a:off x="884" y="3929"/>
              <a:ext cx="54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04" name="Line 16"/>
            <p:cNvSpPr/>
            <p:nvPr/>
          </p:nvSpPr>
          <p:spPr>
            <a:xfrm flipV="1">
              <a:off x="1519" y="3475"/>
              <a:ext cx="408" cy="45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05" name="Line 17"/>
            <p:cNvSpPr/>
            <p:nvPr/>
          </p:nvSpPr>
          <p:spPr>
            <a:xfrm flipV="1">
              <a:off x="703" y="3067"/>
              <a:ext cx="408" cy="2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06" name="Line 18"/>
            <p:cNvSpPr/>
            <p:nvPr/>
          </p:nvSpPr>
          <p:spPr>
            <a:xfrm>
              <a:off x="703" y="3430"/>
              <a:ext cx="726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007" name="Text Box 19"/>
            <p:cNvSpPr txBox="1"/>
            <p:nvPr/>
          </p:nvSpPr>
          <p:spPr>
            <a:xfrm>
              <a:off x="1202" y="289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5008" name="Text Box 20"/>
            <p:cNvSpPr txBox="1"/>
            <p:nvPr/>
          </p:nvSpPr>
          <p:spPr>
            <a:xfrm>
              <a:off x="385" y="320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5009" name="Text Box 21"/>
            <p:cNvSpPr txBox="1"/>
            <p:nvPr/>
          </p:nvSpPr>
          <p:spPr>
            <a:xfrm>
              <a:off x="521" y="379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5010" name="Text Box 22"/>
            <p:cNvSpPr txBox="1"/>
            <p:nvPr/>
          </p:nvSpPr>
          <p:spPr>
            <a:xfrm>
              <a:off x="1474" y="383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5011" name="Text Box 23"/>
            <p:cNvSpPr txBox="1"/>
            <p:nvPr/>
          </p:nvSpPr>
          <p:spPr>
            <a:xfrm>
              <a:off x="2018" y="333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5012" name="Text Box 24"/>
          <p:cNvSpPr txBox="1"/>
          <p:nvPr/>
        </p:nvSpPr>
        <p:spPr>
          <a:xfrm>
            <a:off x="250825" y="4076700"/>
            <a:ext cx="40894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400" i="0">
                <a:latin typeface="Times New Roman" panose="02020603050405020304" charset="0"/>
                <a:ea typeface="黑体" panose="02010609060101010101" charset="-122"/>
              </a:rPr>
              <a:t>c</a:t>
            </a:r>
            <a:r>
              <a:rPr lang="en-US" altLang="zh-CN" sz="2400" i="0" baseline="-25000">
                <a:latin typeface="Times New Roman" panose="02020603050405020304" charset="0"/>
                <a:ea typeface="黑体" panose="02010609060101010101" charset="-122"/>
              </a:rPr>
              <a:t>4</a:t>
            </a:r>
            <a:r>
              <a:rPr lang="zh-CN" altLang="en-US" sz="2400" i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400" i="0">
                <a:latin typeface="Times New Roman" panose="02020603050405020304" charset="0"/>
                <a:ea typeface="黑体" panose="02010609060101010101" charset="-122"/>
              </a:rPr>
              <a:t>G[{c</a:t>
            </a:r>
            <a:r>
              <a:rPr lang="en-US" altLang="zh-CN" sz="2400" i="0" baseline="-2500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400" i="0">
                <a:latin typeface="Times New Roman" panose="02020603050405020304" charset="0"/>
                <a:ea typeface="黑体" panose="02010609060101010101" charset="-122"/>
              </a:rPr>
              <a:t>,c</a:t>
            </a:r>
            <a:r>
              <a:rPr lang="en-US" altLang="zh-CN" sz="2400" i="0" baseline="-25000"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en-US" altLang="zh-CN" sz="2400" i="0">
                <a:latin typeface="Times New Roman" panose="02020603050405020304" charset="0"/>
                <a:ea typeface="黑体" panose="02010609060101010101" charset="-122"/>
              </a:rPr>
              <a:t>,c</a:t>
            </a:r>
            <a:r>
              <a:rPr lang="en-US" altLang="zh-CN" sz="2400" i="0" baseline="-25000">
                <a:latin typeface="Times New Roman" panose="02020603050405020304" charset="0"/>
                <a:ea typeface="黑体" panose="02010609060101010101" charset="-122"/>
              </a:rPr>
              <a:t>4</a:t>
            </a:r>
            <a:r>
              <a:rPr lang="en-US" altLang="zh-CN" sz="2400" i="0">
                <a:latin typeface="Times New Roman" panose="02020603050405020304" charset="0"/>
                <a:ea typeface="黑体" panose="02010609060101010101" charset="-122"/>
              </a:rPr>
              <a:t>,c</a:t>
            </a:r>
            <a:r>
              <a:rPr lang="en-US" altLang="zh-CN" sz="2400" i="0" baseline="-25000">
                <a:latin typeface="Times New Roman" panose="02020603050405020304" charset="0"/>
                <a:ea typeface="黑体" panose="02010609060101010101" charset="-122"/>
              </a:rPr>
              <a:t>5</a:t>
            </a:r>
            <a:r>
              <a:rPr lang="en-US" altLang="zh-CN" sz="2400" i="0">
                <a:latin typeface="Times New Roman" panose="02020603050405020304" charset="0"/>
                <a:ea typeface="黑体" panose="02010609060101010101" charset="-122"/>
              </a:rPr>
              <a:t>}</a:t>
            </a:r>
            <a:r>
              <a:rPr lang="zh-CN" altLang="en-US" sz="2400" i="0">
                <a:latin typeface="Times New Roman" panose="02020603050405020304" charset="0"/>
                <a:ea typeface="黑体" panose="02010609060101010101" charset="-122"/>
              </a:rPr>
              <a:t>的割集</a:t>
            </a:r>
            <a:r>
              <a:rPr lang="en-US" altLang="zh-CN" sz="2400" i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400" i="0">
                <a:latin typeface="Times New Roman" panose="02020603050405020304" charset="0"/>
                <a:ea typeface="黑体" panose="02010609060101010101" charset="-122"/>
              </a:rPr>
              <a:t>因此</a:t>
            </a:r>
            <a:endParaRPr lang="zh-CN" altLang="en-US" sz="2400" i="0">
              <a:latin typeface="Times New Roman" panose="02020603050405020304" charset="0"/>
              <a:ea typeface="黑体" panose="02010609060101010101" charset="-122"/>
            </a:endParaRPr>
          </a:p>
        </p:txBody>
      </p:sp>
      <p:graphicFrame>
        <p:nvGraphicFramePr>
          <p:cNvPr id="85013" name="Object 28"/>
          <p:cNvGraphicFramePr>
            <a:graphicFrameLocks noChangeAspect="1"/>
          </p:cNvGraphicFramePr>
          <p:nvPr/>
        </p:nvGraphicFramePr>
        <p:xfrm>
          <a:off x="179388" y="4575175"/>
          <a:ext cx="8964612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5384800" imgH="1041400" progId="Equation.3">
                  <p:embed/>
                </p:oleObj>
              </mc:Choice>
              <mc:Fallback>
                <p:oleObj name="" r:id="rId3" imgW="5384800" imgH="10414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388" y="4575175"/>
                        <a:ext cx="8964612" cy="173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14" name="Text Box 29"/>
          <p:cNvSpPr txBox="1"/>
          <p:nvPr/>
        </p:nvSpPr>
        <p:spPr>
          <a:xfrm>
            <a:off x="250825" y="6211888"/>
            <a:ext cx="83439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2400" i="0">
                <a:latin typeface="Times New Roman" panose="02020603050405020304" charset="0"/>
                <a:ea typeface="黑体" panose="02010609060101010101" charset="-122"/>
              </a:rPr>
              <a:t>把下面的结果代入上面的式子</a:t>
            </a:r>
            <a:r>
              <a:rPr lang="en-US" altLang="zh-CN" sz="2400" i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400" i="0">
                <a:latin typeface="Times New Roman" panose="02020603050405020304" charset="0"/>
                <a:ea typeface="黑体" panose="02010609060101010101" charset="-122"/>
              </a:rPr>
              <a:t>得</a:t>
            </a:r>
            <a:r>
              <a:rPr lang="en-US" altLang="zh-CN" sz="2400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altLang="zh-CN" sz="2400" i="0">
                <a:latin typeface="Times New Roman" panose="02020603050405020304" charset="0"/>
                <a:ea typeface="黑体" panose="02010609060101010101" charset="-122"/>
              </a:rPr>
              <a:t>(G,</a:t>
            </a:r>
            <a:r>
              <a:rPr lang="en-US" altLang="zh-CN" sz="240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sz="2400" i="0">
                <a:latin typeface="Times New Roman" panose="02020603050405020304" charset="0"/>
                <a:ea typeface="黑体" panose="02010609060101010101" charset="-122"/>
              </a:rPr>
              <a:t>)=</a:t>
            </a:r>
            <a:r>
              <a:rPr lang="en-US" altLang="zh-CN" sz="240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sz="2400" i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40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sz="2400" i="0">
                <a:latin typeface="Times New Roman" panose="02020603050405020304" charset="0"/>
                <a:ea typeface="黑体" panose="02010609060101010101" charset="-122"/>
              </a:rPr>
              <a:t>-1)</a:t>
            </a:r>
            <a:r>
              <a:rPr lang="en-US" altLang="zh-CN" sz="2400" i="0" baseline="30000"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en-US" altLang="zh-CN" sz="2400" i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40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sz="2400" i="0">
                <a:latin typeface="Times New Roman" panose="02020603050405020304" charset="0"/>
                <a:ea typeface="黑体" panose="02010609060101010101" charset="-122"/>
              </a:rPr>
              <a:t>-2),</a:t>
            </a:r>
            <a:r>
              <a:rPr lang="zh-CN" altLang="en-US" sz="2400" i="0">
                <a:latin typeface="Times New Roman" panose="02020603050405020304" charset="0"/>
                <a:ea typeface="黑体" panose="02010609060101010101" charset="-122"/>
              </a:rPr>
              <a:t>化简即可</a:t>
            </a:r>
            <a:r>
              <a:rPr lang="en-US" altLang="zh-CN" sz="2400" i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2400" i="0">
              <a:latin typeface="Times New Roman" panose="02020603050405020304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总结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6018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5111750"/>
          </a:xfrm>
        </p:spPr>
        <p:txBody>
          <a:bodyPr vert="horz" wrap="square" lIns="91440" tIns="45720" rIns="91440" bIns="45720" anchor="t" anchorCtr="0"/>
          <a:p>
            <a:r>
              <a:rPr lang="zh-CN" altLang="en-US"/>
              <a:t>点色数</a:t>
            </a:r>
            <a:r>
              <a:rPr lang="en-US" altLang="zh-CN"/>
              <a:t>χ(G), </a:t>
            </a:r>
            <a:r>
              <a:rPr lang="zh-CN" altLang="en-US"/>
              <a:t>面色数</a:t>
            </a:r>
            <a:r>
              <a:rPr lang="en-US" altLang="zh-CN"/>
              <a:t>χ*(G), </a:t>
            </a:r>
            <a:r>
              <a:rPr lang="zh-CN" altLang="en-US"/>
              <a:t>边色数</a:t>
            </a:r>
            <a:r>
              <a:rPr lang="en-US" altLang="zh-CN"/>
              <a:t>χ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en-US" altLang="zh-CN"/>
              <a:t>(G)</a:t>
            </a:r>
            <a:endParaRPr lang="en-US" altLang="zh-CN"/>
          </a:p>
          <a:p>
            <a:r>
              <a:rPr lang="en-US" altLang="zh-CN"/>
              <a:t>χ(G)</a:t>
            </a:r>
            <a:r>
              <a:rPr lang="zh-CN" altLang="en-US"/>
              <a:t>上界</a:t>
            </a:r>
            <a:r>
              <a:rPr lang="en-US" altLang="zh-CN"/>
              <a:t>: χ ≤ Δ+1</a:t>
            </a:r>
            <a:endParaRPr lang="en-US" altLang="zh-CN"/>
          </a:p>
          <a:p>
            <a:r>
              <a:rPr lang="en-US" altLang="zh-CN"/>
              <a:t>Brooks</a:t>
            </a:r>
            <a:r>
              <a:rPr lang="zh-CN" altLang="en-US"/>
              <a:t>定理</a:t>
            </a:r>
            <a:r>
              <a:rPr lang="en-US" altLang="zh-CN"/>
              <a:t>:</a:t>
            </a:r>
            <a:r>
              <a:rPr lang="zh-CN" altLang="en-US"/>
              <a:t>连通非完全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≥3)</a:t>
            </a:r>
            <a:r>
              <a:rPr lang="zh-CN" altLang="en-US"/>
              <a:t>非奇圈</a:t>
            </a:r>
            <a:r>
              <a:rPr lang="en-US" altLang="zh-CN"/>
              <a:t>:χ≤Δ.</a:t>
            </a:r>
            <a:endParaRPr lang="en-US" altLang="zh-CN"/>
          </a:p>
          <a:p>
            <a:r>
              <a:rPr lang="zh-CN" altLang="en-US"/>
              <a:t>五色定理</a:t>
            </a:r>
            <a:r>
              <a:rPr lang="en-US" altLang="zh-CN"/>
              <a:t>: χ* ≤ 5</a:t>
            </a:r>
            <a:endParaRPr lang="en-US" altLang="zh-CN"/>
          </a:p>
          <a:p>
            <a:r>
              <a:rPr lang="en-US" altLang="zh-CN"/>
              <a:t>Vizing</a:t>
            </a:r>
            <a:r>
              <a:rPr lang="zh-CN" altLang="en-US"/>
              <a:t>定理</a:t>
            </a:r>
            <a:r>
              <a:rPr lang="en-US" altLang="zh-CN"/>
              <a:t>: </a:t>
            </a:r>
            <a:r>
              <a:rPr lang="zh-CN" altLang="en-US"/>
              <a:t>简单图</a:t>
            </a:r>
            <a:r>
              <a:rPr lang="en-US" altLang="zh-CN"/>
              <a:t>: Δ ≤ χ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en-US" altLang="zh-CN"/>
              <a:t> ≤ Δ+1.</a:t>
            </a:r>
            <a:endParaRPr lang="en-US" altLang="zh-CN"/>
          </a:p>
          <a:p>
            <a:r>
              <a:rPr lang="zh-CN" altLang="en-US"/>
              <a:t>色多项式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):</a:t>
            </a:r>
            <a:endParaRPr lang="en-US" altLang="zh-CN"/>
          </a:p>
          <a:p>
            <a:pPr lvl="1"/>
            <a:r>
              <a:rPr lang="en-US" altLang="zh-CN" i="1"/>
              <a:t>f</a:t>
            </a:r>
            <a:r>
              <a:rPr lang="en-US" altLang="zh-CN"/>
              <a:t>(K</a:t>
            </a:r>
            <a:r>
              <a:rPr lang="en-US" altLang="zh-CN" i="1" baseline="-25000"/>
              <a:t>n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),</a:t>
            </a:r>
            <a:r>
              <a:rPr lang="en-US" altLang="zh-CN" i="1"/>
              <a:t>f</a:t>
            </a:r>
            <a:r>
              <a:rPr lang="en-US" altLang="zh-CN"/>
              <a:t>(C</a:t>
            </a:r>
            <a:r>
              <a:rPr lang="en-US" altLang="zh-CN" i="1" baseline="-25000"/>
              <a:t>n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),</a:t>
            </a:r>
            <a:r>
              <a:rPr lang="en-US" altLang="zh-CN" i="1"/>
              <a:t>f</a:t>
            </a:r>
            <a:r>
              <a:rPr lang="en-US" altLang="zh-CN"/>
              <a:t>(T</a:t>
            </a:r>
            <a:r>
              <a:rPr lang="en-US" altLang="zh-CN" baseline="-25000"/>
              <a:t>n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)</a:t>
            </a:r>
            <a:endParaRPr lang="en-US" altLang="zh-CN"/>
          </a:p>
          <a:p>
            <a:pPr lvl="1"/>
            <a:r>
              <a:rPr lang="zh-CN" altLang="en-US"/>
              <a:t>定理</a:t>
            </a:r>
            <a:r>
              <a:rPr lang="en-US" altLang="zh-CN"/>
              <a:t>12.9</a:t>
            </a:r>
            <a:r>
              <a:rPr lang="zh-CN" altLang="en-US"/>
              <a:t>和</a:t>
            </a:r>
            <a:r>
              <a:rPr lang="en-US" altLang="zh-CN"/>
              <a:t>12.10.</a:t>
            </a:r>
            <a:endParaRPr lang="en-US" altLang="zh-CN"/>
          </a:p>
        </p:txBody>
      </p:sp>
      <p:sp>
        <p:nvSpPr>
          <p:cNvPr id="8601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4"/>
          <p:cNvSpPr/>
          <p:nvPr/>
        </p:nvSpPr>
        <p:spPr>
          <a:xfrm>
            <a:off x="323850" y="1403350"/>
            <a:ext cx="8496300" cy="185039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 eaLnBrk="0" fontAlgn="base" hangingPunct="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800" i="0" strike="noStrike" noProof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+mn-cs"/>
              </a:rPr>
              <a:t>课后作业五</a:t>
            </a:r>
            <a:r>
              <a:rPr lang="zh-CN" altLang="en-US" sz="2800" i="0" strike="noStrike" noProof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+mn-cs"/>
              </a:rPr>
              <a:t>：</a:t>
            </a:r>
            <a:endParaRPr lang="zh-CN" altLang="en-US" sz="2800" i="0" strike="noStrike" noProof="1">
              <a:solidFill>
                <a:srgbClr val="FF0000"/>
              </a:solidFill>
              <a:latin typeface="Times New Roman" panose="02020603050405020304" charset="0"/>
              <a:ea typeface="黑体" panose="02010609060101010101" charset="-122"/>
            </a:endParaRPr>
          </a:p>
          <a:p>
            <a:pPr eaLnBrk="0" fontAlgn="base" hangingPunct="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</a:pPr>
            <a:r>
              <a:rPr lang="zh-CN" altLang="en-US" sz="2800" i="0" strike="noStrike" noProof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+mn-cs"/>
              </a:rPr>
              <a:t>    </a:t>
            </a:r>
            <a:r>
              <a:rPr lang="zh-CN" altLang="en-US" sz="2800" i="0" strike="noStrike" noProof="1">
                <a:solidFill>
                  <a:schemeClr val="bg2"/>
                </a:solidFill>
                <a:latin typeface="Times New Roman" panose="02020603050405020304" charset="0"/>
                <a:ea typeface="黑体" panose="02010609060101010101" charset="-122"/>
                <a:cs typeface="+mn-cs"/>
              </a:rPr>
              <a:t>习题十二</a:t>
            </a:r>
            <a:r>
              <a:rPr lang="en-US" altLang="zh-CN" sz="2800" i="0" strike="noStrike" noProof="1">
                <a:solidFill>
                  <a:schemeClr val="bg2"/>
                </a:solidFill>
                <a:latin typeface="Times New Roman" panose="02020603050405020304" charset="0"/>
                <a:ea typeface="黑体" panose="02010609060101010101" charset="-122"/>
                <a:cs typeface="+mn-cs"/>
              </a:rPr>
              <a:t>,P189:</a:t>
            </a:r>
            <a:r>
              <a:rPr lang="zh-CN" altLang="en-US" sz="2800" i="0" strike="noStrike" noProof="1">
                <a:latin typeface="Times New Roman" panose="02020603050405020304" charset="0"/>
                <a:ea typeface="黑体" panose="02010609060101010101" charset="-122"/>
                <a:cs typeface="+mn-cs"/>
              </a:rPr>
              <a:t> </a:t>
            </a:r>
            <a:r>
              <a:rPr lang="en-US" sz="2800" i="0" strike="noStrike" noProof="1">
                <a:latin typeface="Times New Roman" panose="02020603050405020304" charset="0"/>
                <a:ea typeface="黑体" panose="02010609060101010101" charset="-122"/>
                <a:cs typeface="+mn-cs"/>
              </a:rPr>
              <a:t>1</a:t>
            </a:r>
            <a:endParaRPr lang="zh-CN" altLang="en-US" sz="2800" i="0" strike="noStrike" noProof="1">
              <a:latin typeface="Times New Roman" panose="02020603050405020304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PP_MARK_KEY" val="25722306-0fe8-488b-920a-dea85d26a0fe"/>
  <p:tag name="COMMONDATA" val="eyJoZGlkIjoiY2FjYjUwYzFhN2VkM2YwN2YyYmE3ZGUyNDQzZTVlNzEifQ=="/>
  <p:tag name="commondata" val="eyJoZGlkIjoiY2JiMjJjNjEwZGVmNWM5ZTE4YjkzYzY1NDY4YzMyMmMifQ=="/>
</p:tagLst>
</file>

<file path=ppt/theme/theme1.xml><?xml version="1.0" encoding="utf-8"?>
<a:theme xmlns:a="http://schemas.openxmlformats.org/drawingml/2006/main" name="2_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2300</Words>
  <Application>WPS 演示</Application>
  <PresentationFormat>全屏显示(4:3)</PresentationFormat>
  <Paragraphs>180</Paragraphs>
  <Slides>17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17</vt:i4>
      </vt:variant>
    </vt:vector>
  </HeadingPairs>
  <TitlesOfParts>
    <vt:vector size="36" baseType="lpstr">
      <vt:lpstr>Arial</vt:lpstr>
      <vt:lpstr>宋体</vt:lpstr>
      <vt:lpstr>Wingdings</vt:lpstr>
      <vt:lpstr>Tahoma</vt:lpstr>
      <vt:lpstr>Times New Roman</vt:lpstr>
      <vt:lpstr>黑体</vt:lpstr>
      <vt:lpstr>Symbol</vt:lpstr>
      <vt:lpstr>微软雅黑</vt:lpstr>
      <vt:lpstr>Arial Unicode MS</vt:lpstr>
      <vt:lpstr>Symbol</vt:lpstr>
      <vt:lpstr>Wingdings</vt:lpstr>
      <vt:lpstr>2_Blends</vt:lpstr>
      <vt:lpstr>4_Blends</vt:lpstr>
      <vt:lpstr>Equation.3</vt:lpstr>
      <vt:lpstr>Equation.3</vt:lpstr>
      <vt:lpstr>Equation.3</vt:lpstr>
      <vt:lpstr>Equation.3</vt:lpstr>
      <vt:lpstr>Equation.3</vt:lpstr>
      <vt:lpstr>Equation.3</vt:lpstr>
      <vt:lpstr>12.2 色多项式</vt:lpstr>
      <vt:lpstr>色多项式</vt:lpstr>
      <vt:lpstr>求色数多项式</vt:lpstr>
      <vt:lpstr>例12.2</vt:lpstr>
      <vt:lpstr>色多项式递推公式</vt:lpstr>
      <vt:lpstr>推论</vt:lpstr>
      <vt:lpstr>例12.3 解</vt:lpstr>
      <vt:lpstr>色多项式的性质</vt:lpstr>
      <vt:lpstr>定理12.10</vt:lpstr>
      <vt:lpstr>定理12.10(证明)</vt:lpstr>
      <vt:lpstr>定理12.11</vt:lpstr>
      <vt:lpstr>定理12.12</vt:lpstr>
      <vt:lpstr>例12.4</vt:lpstr>
      <vt:lpstr>例12.4(续)</vt:lpstr>
      <vt:lpstr>例12.4的求解过程</vt:lpstr>
      <vt:lpstr>总结</vt:lpstr>
      <vt:lpstr>PowerPoint 演示文稿</vt:lpstr>
    </vt:vector>
  </TitlesOfParts>
  <Company>ouc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sheng</dc:creator>
  <cp:lastModifiedBy>WPS_1709687041</cp:lastModifiedBy>
  <cp:revision>933</cp:revision>
  <dcterms:created xsi:type="dcterms:W3CDTF">2008-01-04T07:39:00Z</dcterms:created>
  <dcterms:modified xsi:type="dcterms:W3CDTF">2025-12-15T22:30:21Z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7F6482E7ADE6434D9F76C85AA38FFD30</vt:lpwstr>
  </property>
</Properties>
</file>