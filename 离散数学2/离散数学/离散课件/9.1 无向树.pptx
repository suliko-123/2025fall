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2"/>
  </p:handoutMasterIdLst>
  <p:sldIdLst>
    <p:sldId id="355" r:id="rId3"/>
    <p:sldId id="258" r:id="rId4"/>
    <p:sldId id="310" r:id="rId6"/>
    <p:sldId id="311" r:id="rId7"/>
    <p:sldId id="312" r:id="rId8"/>
    <p:sldId id="317" r:id="rId9"/>
    <p:sldId id="319" r:id="rId10"/>
    <p:sldId id="320" r:id="rId11"/>
    <p:sldId id="321" r:id="rId12"/>
    <p:sldId id="322" r:id="rId13"/>
    <p:sldId id="324" r:id="rId14"/>
    <p:sldId id="325" r:id="rId15"/>
    <p:sldId id="327" r:id="rId16"/>
    <p:sldId id="350" r:id="rId17"/>
    <p:sldId id="351" r:id="rId18"/>
    <p:sldId id="318" r:id="rId19"/>
    <p:sldId id="326" r:id="rId20"/>
    <p:sldId id="349" r:id="rId21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402"/>
    <a:srgbClr val="FF0000"/>
    <a:srgbClr val="FF00FF"/>
    <a:srgbClr val="0066FF"/>
    <a:srgbClr val="808080"/>
    <a:srgbClr val="5F5F5F"/>
    <a:srgbClr val="996633"/>
    <a:srgbClr val="C7F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413"/>
    <p:restoredTop sz="94708"/>
  </p:normalViewPr>
  <p:slideViewPr>
    <p:cSldViewPr showGuides="1">
      <p:cViewPr>
        <p:scale>
          <a:sx n="80" d="100"/>
          <a:sy n="80" d="100"/>
        </p:scale>
        <p:origin x="2216" y="360"/>
      </p:cViewPr>
      <p:guideLst>
        <p:guide orient="horz" pos="2160"/>
        <p:guide pos="28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09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0850FA-E7F1-D94B-82FB-51395CB12BF8}" type="datetimeFigureOut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AFD975-2608-0A4D-843C-C3841B807E5B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b="0" smtClean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smtClean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b="0" smtClean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A206B9-0FD5-B443-AE0A-030255E686BA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zh-CN" sz="1200" b="0">
                <a:latin typeface="Arial" panose="020B0604020202020204" pitchFamily="34" charset="0"/>
              </a:rPr>
            </a:fld>
            <a:endParaRPr lang="en-US" altLang="zh-CN" sz="1200" b="0">
              <a:latin typeface="Arial" panose="020B0604020202020204" pitchFamily="34" charset="0"/>
            </a:endParaRPr>
          </a:p>
        </p:txBody>
      </p:sp>
      <p:sp>
        <p:nvSpPr>
          <p:cNvPr id="512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21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638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843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048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560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marL="228600" lvl="0" indent="-228600">
              <a:buFontTx/>
              <a:buAutoNum type="arabicPeriod"/>
            </a:pPr>
            <a:r>
              <a:rPr lang="zh-CN" altLang="en-US"/>
              <a:t>提问：可树化满足的条件？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黑体" panose="02010609060101010101" pitchFamily="49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2875"/>
            <a:ext cx="4171950" cy="25511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6388"/>
            <a:ext cx="4171950" cy="25527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effectLst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7954172-B388-4BB3-BEAE-AEB9C88A52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/>
          <p:nvPr/>
        </p:nvSpPr>
        <p:spPr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/>
          <p:nvPr/>
        </p:nvSpPr>
        <p:spPr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Rectangle 4"/>
          <p:cNvSpPr/>
          <p:nvPr/>
        </p:nvSpPr>
        <p:spPr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/>
          <p:nvPr/>
        </p:nvSpPr>
        <p:spPr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/>
          <p:nvPr/>
        </p:nvSpPr>
        <p:spPr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Rectangle 7"/>
          <p:cNvSpPr/>
          <p:nvPr/>
        </p:nvSpPr>
        <p:spPr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Rectangle 8"/>
          <p:cNvSpPr/>
          <p:nvPr/>
        </p:nvSpPr>
        <p:spPr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9850"/>
            <a:ext cx="7793038" cy="982663"/>
          </a:xfrm>
          <a:prstGeom prst="rect">
            <a:avLst/>
          </a:prstGeom>
          <a:noFill/>
          <a:ln>
            <a:noFill/>
          </a:ln>
          <a:effectLst>
            <a:outerShdw blurRad="63500" dist="127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p>
            <a:pPr lvl="0"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smtClean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b="0"/>
            </a:lvl1pPr>
          </a:lstStyle>
          <a:p>
            <a:pPr lvl="0" eaLnBrk="1" fontAlgn="base" hangingPunct="1"/>
            <a:r>
              <a:rPr lang="zh-CN" altLang="en-US" strike="noStrike" noProof="1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strike="noStrike" noProof="1">
              <a:latin typeface="Tahoma" panose="020B0604030504040204" pitchFamily="34" charset="0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D8D74C-9CB3-6746-B99B-4FA03FFE2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黑体" panose="02010609060101010101" pitchFamily="49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  <a:cs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黑体" panose="02010609060101010101" pitchFamily="49" charset="-122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 bwMode="auto">
          <a:xfrm>
            <a:off x="1116013" y="2133600"/>
            <a:ext cx="4103688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R="0" algn="ctr" defTabSz="914400">
              <a:buClrTx/>
              <a:buSzTx/>
              <a:buFontTx/>
              <a:defRPr/>
            </a:pPr>
            <a:r>
              <a:rPr kumimoji="0" lang="zh-CN" altLang="en-US" sz="5400" kern="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离散数学Ⅱ</a:t>
            </a:r>
            <a:endParaRPr kumimoji="0" lang="zh-CN" altLang="en-US" sz="5400" kern="0" cap="none" spc="0" normalizeH="0" baseline="0" noProof="0" dirty="0">
              <a:solidFill>
                <a:srgbClr val="0000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0" y="3867150"/>
            <a:ext cx="4070350" cy="23768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algn="ctr" defTabSz="914400" eaLnBrk="1" hangingPunct="1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defRPr/>
            </a:pPr>
            <a:r>
              <a:rPr kumimoji="0" lang="zh-CN" altLang="en-US" sz="2600" kern="0" cap="none" spc="0" normalizeH="0" baseline="0" noProof="0" dirty="0">
                <a:latin typeface="+mn-lt"/>
                <a:ea typeface="+mn-ea"/>
                <a:cs typeface="黑体" panose="02010609060101010101" pitchFamily="49" charset="-122"/>
              </a:rPr>
              <a:t>信息学部</a:t>
            </a:r>
            <a:r>
              <a:rPr kumimoji="0" lang="en-US" altLang="zh-CN" sz="2600" kern="0" cap="none" spc="0" normalizeH="0" baseline="0" noProof="0" dirty="0">
                <a:latin typeface="+mn-lt"/>
                <a:ea typeface="+mn-ea"/>
                <a:cs typeface="黑体" panose="02010609060101010101" pitchFamily="49" charset="-122"/>
              </a:rPr>
              <a:t>-</a:t>
            </a:r>
            <a:r>
              <a:rPr kumimoji="0" lang="zh-CN" altLang="en-US" sz="2600" kern="0" cap="none" spc="0" normalizeH="0" baseline="0" noProof="0" dirty="0">
                <a:latin typeface="+mn-lt"/>
                <a:ea typeface="+mn-ea"/>
                <a:cs typeface="黑体" panose="02010609060101010101" pitchFamily="49" charset="-122"/>
              </a:rPr>
              <a:t>计算机学院</a:t>
            </a:r>
            <a:endParaRPr kumimoji="0" lang="en-US" altLang="zh-CN" sz="2600" kern="0" cap="none" spc="0" normalizeH="0" baseline="0" noProof="0" dirty="0">
              <a:latin typeface="+mn-lt"/>
              <a:ea typeface="+mn-ea"/>
              <a:cs typeface="黑体" panose="02010609060101010101" pitchFamily="49" charset="-122"/>
            </a:endParaRPr>
          </a:p>
          <a:p>
            <a:pPr marR="0" algn="ctr" defTabSz="914400" eaLnBrk="1" hangingPunct="1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defRPr/>
            </a:pPr>
            <a:r>
              <a:rPr kumimoji="0" lang="zh-CN" altLang="en-US" sz="2600" kern="0" cap="none" spc="0" normalizeH="0" baseline="0" noProof="0" dirty="0">
                <a:latin typeface="+mn-lt"/>
                <a:ea typeface="+mn-ea"/>
                <a:cs typeface="黑体" panose="02010609060101010101" pitchFamily="49" charset="-122"/>
              </a:rPr>
              <a:t>曹媛</a:t>
            </a:r>
            <a:endParaRPr kumimoji="0" lang="en-US" altLang="zh-CN" sz="2600" kern="0" cap="none" spc="0" normalizeH="0" baseline="0" noProof="0" dirty="0">
              <a:latin typeface="+mn-lt"/>
              <a:ea typeface="+mn-ea"/>
              <a:cs typeface="黑体" panose="02010609060101010101" pitchFamily="49" charset="-122"/>
            </a:endParaRPr>
          </a:p>
          <a:p>
            <a:pPr marR="0" algn="ctr" defTabSz="914400" eaLnBrk="1" hangingPunct="1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defRPr/>
            </a:pPr>
            <a:r>
              <a:rPr kumimoji="0" lang="zh-CN" altLang="en-US" sz="2600" kern="0" cap="none" spc="0" normalizeH="0" baseline="0" noProof="0" dirty="0">
                <a:latin typeface="+mn-lt"/>
                <a:ea typeface="+mn-ea"/>
                <a:cs typeface="黑体" panose="02010609060101010101" pitchFamily="49" charset="-122"/>
              </a:rPr>
              <a:t>西海岸校区</a:t>
            </a:r>
            <a:r>
              <a:rPr kumimoji="0" lang="en-US" altLang="zh-CN" sz="2600" kern="0" cap="none" spc="0" normalizeH="0" baseline="0" noProof="0" dirty="0">
                <a:latin typeface="+mn-lt"/>
                <a:ea typeface="+mn-ea"/>
                <a:cs typeface="黑体" panose="02010609060101010101" pitchFamily="49" charset="-122"/>
              </a:rPr>
              <a:t>-</a:t>
            </a:r>
            <a:r>
              <a:rPr kumimoji="0" lang="zh-CN" altLang="en-US" sz="2600" kern="0" cap="none" spc="0" normalizeH="0" baseline="0" noProof="0" dirty="0">
                <a:latin typeface="+mn-lt"/>
                <a:ea typeface="+mn-ea"/>
                <a:cs typeface="黑体" panose="02010609060101010101" pitchFamily="49" charset="-122"/>
              </a:rPr>
              <a:t>计算机楼</a:t>
            </a:r>
            <a:r>
              <a:rPr kumimoji="0" lang="en-US" altLang="zh-CN" sz="2600" kern="0" cap="none" spc="0" normalizeH="0" baseline="0" noProof="0" dirty="0">
                <a:latin typeface="+mn-lt"/>
                <a:ea typeface="+mn-ea"/>
                <a:cs typeface="黑体" panose="02010609060101010101" pitchFamily="49" charset="-122"/>
              </a:rPr>
              <a:t>C407</a:t>
            </a:r>
            <a:endParaRPr kumimoji="0" lang="en-US" altLang="zh-CN" sz="2600" kern="0" cap="none" spc="0" normalizeH="0" baseline="0" noProof="0" dirty="0">
              <a:latin typeface="+mn-lt"/>
              <a:ea typeface="+mn-ea"/>
              <a:cs typeface="黑体" panose="02010609060101010101" pitchFamily="49" charset="-122"/>
            </a:endParaRPr>
          </a:p>
          <a:p>
            <a:pPr marR="0" algn="ctr" defTabSz="914400" eaLnBrk="1" hangingPunct="1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defRPr/>
            </a:pPr>
            <a:r>
              <a:rPr kumimoji="0" lang="en-US" altLang="zh-CN" sz="2600" kern="0" cap="none" spc="0" normalizeH="0" baseline="0" noProof="0" dirty="0">
                <a:latin typeface="+mn-lt"/>
                <a:ea typeface="+mn-ea"/>
                <a:cs typeface="黑体" panose="02010609060101010101" pitchFamily="49" charset="-122"/>
              </a:rPr>
              <a:t>cy8661@ouc.edu.cn</a:t>
            </a:r>
            <a:endParaRPr kumimoji="0" lang="zh-CN" altLang="en-US" sz="2600" kern="0" cap="none" spc="0" normalizeH="0" baseline="0" noProof="0" dirty="0">
              <a:latin typeface="+mn-lt"/>
              <a:ea typeface="+mn-ea"/>
              <a:cs typeface="黑体" panose="02010609060101010101" pitchFamily="49" charset="-122"/>
            </a:endParaRPr>
          </a:p>
        </p:txBody>
      </p:sp>
      <p:pic>
        <p:nvPicPr>
          <p:cNvPr id="9221" name="Picture 2" descr="C:\Users\lenovo\AppData\Roaming\Tencent\Users\905529423\QQ\WinTemp\RichOle\OBZPY]6@JZQ`OYQ$UL_J@Q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63" y="188913"/>
            <a:ext cx="2952750" cy="7921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</a:rPr>
              <a:t>第</a:t>
            </a:r>
            <a:r>
              <a:rPr kumimoji="0" lang="en-US" altLang="zh-CN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</a:rPr>
              <a:t>9</a:t>
            </a: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49" charset="-122"/>
              </a:rPr>
              <a:t>章 树</a:t>
            </a:r>
            <a:endParaRPr kumimoji="0" lang="zh-CN" altLang="en-US" sz="44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黑体" panose="02010609060101010101" pitchFamily="49" charset="-122"/>
            </a:endParaRPr>
          </a:p>
        </p:txBody>
      </p:sp>
      <p:sp>
        <p:nvSpPr>
          <p:cNvPr id="409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/>
              <a:t>树：连通图，无回路</a:t>
            </a:r>
            <a:endParaRPr lang="en-US" altLang="zh-CN"/>
          </a:p>
          <a:p>
            <a:r>
              <a:rPr lang="zh-CN" altLang="en-US"/>
              <a:t>应用</a:t>
            </a:r>
            <a:endParaRPr lang="en-US" altLang="zh-CN"/>
          </a:p>
          <a:p>
            <a:pPr lvl="1"/>
            <a:r>
              <a:rPr lang="zh-CN" altLang="en-US"/>
              <a:t>计数某些化合物；</a:t>
            </a:r>
            <a:endParaRPr lang="en-US" altLang="zh-CN"/>
          </a:p>
          <a:p>
            <a:pPr lvl="1"/>
            <a:r>
              <a:rPr lang="zh-CN" altLang="en-US"/>
              <a:t>构造有效编码</a:t>
            </a:r>
            <a:endParaRPr lang="en-US" altLang="zh-CN"/>
          </a:p>
          <a:p>
            <a:pPr lvl="1"/>
            <a:r>
              <a:rPr lang="zh-CN" altLang="en-US"/>
              <a:t>博弈论中的取胜规则</a:t>
            </a:r>
            <a:endParaRPr lang="en-US" altLang="zh-CN"/>
          </a:p>
          <a:p>
            <a:pPr lvl="1"/>
            <a:r>
              <a:rPr lang="zh-CN" altLang="en-US"/>
              <a:t>决策问题</a:t>
            </a:r>
            <a:endParaRPr lang="en-US" altLang="zh-CN"/>
          </a:p>
          <a:p>
            <a:pPr lvl="1"/>
            <a:r>
              <a:rPr lang="zh-CN" altLang="en-US"/>
              <a:t>最大网络流问题</a:t>
            </a:r>
            <a:endParaRPr lang="en-US" altLang="zh-CN"/>
          </a:p>
        </p:txBody>
      </p:sp>
      <p:sp>
        <p:nvSpPr>
          <p:cNvPr id="409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en-US" altLang="zh-CN"/>
              <a:t>9.1</a:t>
            </a:r>
            <a:r>
              <a:rPr lang="zh-CN" altLang="en-US"/>
              <a:t>无向树的定义及性质</a:t>
            </a:r>
            <a:endParaRPr lang="zh-CN" altLang="en-US"/>
          </a:p>
        </p:txBody>
      </p:sp>
      <p:sp>
        <p:nvSpPr>
          <p:cNvPr id="61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无向树</a:t>
            </a:r>
            <a:r>
              <a:rPr lang="en-US" altLang="zh-CN">
                <a:solidFill>
                  <a:schemeClr val="hlink"/>
                </a:solidFill>
              </a:rPr>
              <a:t>(T):</a:t>
            </a:r>
            <a:r>
              <a:rPr lang="zh-CN" altLang="en-US"/>
              <a:t>一个连通</a:t>
            </a:r>
            <a:r>
              <a:rPr lang="en-US" altLang="zh-CN"/>
              <a:t>,</a:t>
            </a:r>
            <a:r>
              <a:rPr lang="zh-CN" altLang="en-US"/>
              <a:t>无回路的无向图；</a:t>
            </a:r>
            <a:endParaRPr lang="en-US" altLang="zh-CN"/>
          </a:p>
          <a:p>
            <a:pPr lvl="1">
              <a:buNone/>
            </a:pPr>
            <a:r>
              <a:rPr lang="zh-CN" altLang="en-US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任何树都是简单图吗？</a:t>
            </a:r>
            <a:endParaRPr lang="zh-CN" altLang="en-US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>
                <a:solidFill>
                  <a:schemeClr val="hlink"/>
                </a:solidFill>
              </a:rPr>
              <a:t>森林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zh-CN" altLang="en-US"/>
              <a:t>每个连通分支都是树的无向图；</a:t>
            </a:r>
            <a:endParaRPr lang="zh-CN" altLang="en-US"/>
          </a:p>
          <a:p>
            <a:r>
              <a:rPr lang="zh-CN" altLang="en-US">
                <a:solidFill>
                  <a:schemeClr val="hlink"/>
                </a:solidFill>
              </a:rPr>
              <a:t>树叶</a:t>
            </a:r>
            <a:r>
              <a:rPr lang="en-US" altLang="zh-CN" i="1">
                <a:solidFill>
                  <a:schemeClr val="hlink"/>
                </a:solidFill>
              </a:rPr>
              <a:t>v</a:t>
            </a:r>
            <a:r>
              <a:rPr lang="zh-CN" altLang="en-US"/>
              <a:t>：</a:t>
            </a:r>
            <a:r>
              <a:rPr lang="en-US" altLang="zh-CN"/>
              <a:t>d(</a:t>
            </a:r>
            <a:r>
              <a:rPr lang="en-US" altLang="zh-CN" i="1"/>
              <a:t>v</a:t>
            </a:r>
            <a:r>
              <a:rPr lang="en-US" altLang="zh-CN"/>
              <a:t>)=1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>
                <a:solidFill>
                  <a:schemeClr val="hlink"/>
                </a:solidFill>
              </a:rPr>
              <a:t>分支点</a:t>
            </a:r>
            <a:r>
              <a:rPr lang="en-US" altLang="zh-CN" i="1">
                <a:solidFill>
                  <a:schemeClr val="hlink"/>
                </a:solidFill>
              </a:rPr>
              <a:t>v</a:t>
            </a:r>
            <a:r>
              <a:rPr lang="zh-CN" altLang="en-US">
                <a:solidFill>
                  <a:schemeClr val="hlink"/>
                </a:solidFill>
              </a:rPr>
              <a:t>： </a:t>
            </a:r>
            <a:r>
              <a:rPr lang="en-US" altLang="zh-CN"/>
              <a:t>d(</a:t>
            </a:r>
            <a:r>
              <a:rPr lang="en-US" altLang="zh-CN" i="1"/>
              <a:t>v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</a:t>
            </a:r>
            <a:r>
              <a:rPr lang="zh-CN" altLang="en-US"/>
              <a:t> </a:t>
            </a:r>
            <a:r>
              <a:rPr lang="en-US" altLang="zh-CN"/>
              <a:t>2</a:t>
            </a:r>
            <a:r>
              <a:rPr lang="zh-CN" altLang="en-US"/>
              <a:t>；</a:t>
            </a:r>
            <a:endParaRPr lang="zh-CN" altLang="en-US"/>
          </a:p>
          <a:p>
            <a:r>
              <a:rPr lang="zh-CN" altLang="en-US">
                <a:solidFill>
                  <a:schemeClr val="hlink"/>
                </a:solidFill>
              </a:rPr>
              <a:t>平凡树</a:t>
            </a:r>
            <a:r>
              <a:rPr lang="en-US" altLang="zh-CN">
                <a:solidFill>
                  <a:schemeClr val="hlink"/>
                </a:solidFill>
              </a:rPr>
              <a:t>: </a:t>
            </a:r>
            <a:r>
              <a:rPr lang="zh-CN" altLang="en-US"/>
              <a:t>平凡图</a:t>
            </a:r>
            <a:r>
              <a:rPr lang="en-US" altLang="zh-CN"/>
              <a:t>,</a:t>
            </a:r>
            <a:r>
              <a:rPr lang="zh-CN" altLang="en-US"/>
              <a:t>既无树叶</a:t>
            </a:r>
            <a:r>
              <a:rPr lang="en-US" altLang="zh-CN"/>
              <a:t>,</a:t>
            </a:r>
            <a:r>
              <a:rPr lang="zh-CN" altLang="en-US"/>
              <a:t>也无分支点；</a:t>
            </a:r>
            <a:endParaRPr lang="zh-CN" altLang="en-US"/>
          </a:p>
        </p:txBody>
      </p:sp>
      <p:pic>
        <p:nvPicPr>
          <p:cNvPr id="164868" name="Picture 4" descr="16-1"/>
          <p:cNvPicPr>
            <a:picLocks noChangeAspect="1"/>
          </p:cNvPicPr>
          <p:nvPr/>
        </p:nvPicPr>
        <p:blipFill>
          <a:blip r:embed="rId1">
            <a:lum bright="-84000"/>
          </a:blip>
          <a:srcRect b="45299"/>
          <a:stretch>
            <a:fillRect/>
          </a:stretch>
        </p:blipFill>
        <p:spPr>
          <a:xfrm>
            <a:off x="2484120" y="4941570"/>
            <a:ext cx="3600450" cy="19850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无向树的</a:t>
            </a:r>
            <a:r>
              <a:rPr lang="en-US" altLang="zh-CN"/>
              <a:t>6</a:t>
            </a:r>
            <a:r>
              <a:rPr lang="zh-CN" altLang="en-US"/>
              <a:t>个等价定义</a:t>
            </a:r>
            <a:endParaRPr lang="zh-CN" altLang="en-US"/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600">
                <a:solidFill>
                  <a:schemeClr val="hlink"/>
                </a:solidFill>
              </a:rPr>
              <a:t>定理</a:t>
            </a:r>
            <a:r>
              <a:rPr lang="en-US" altLang="zh-CN" sz="2600">
                <a:solidFill>
                  <a:schemeClr val="hlink"/>
                </a:solidFill>
              </a:rPr>
              <a:t>9.1</a:t>
            </a:r>
            <a:r>
              <a:rPr lang="en-US" altLang="zh-CN" sz="2600"/>
              <a:t> </a:t>
            </a:r>
            <a:r>
              <a:rPr lang="zh-CN" altLang="en-US" sz="2600"/>
              <a:t>设</a:t>
            </a:r>
            <a:r>
              <a:rPr lang="en-US" altLang="zh-CN" sz="2600"/>
              <a:t>G=&lt;</a:t>
            </a:r>
            <a:r>
              <a:rPr lang="en-US" altLang="zh-CN" sz="2600" i="1"/>
              <a:t>V</a:t>
            </a:r>
            <a:r>
              <a:rPr lang="en-US" altLang="zh-CN" sz="2600"/>
              <a:t>,</a:t>
            </a:r>
            <a:r>
              <a:rPr lang="en-US" altLang="zh-CN" sz="2600" i="1"/>
              <a:t>E</a:t>
            </a:r>
            <a:r>
              <a:rPr lang="en-US" altLang="zh-CN" sz="2600"/>
              <a:t>&gt;</a:t>
            </a:r>
            <a:r>
              <a:rPr lang="zh-CN" altLang="en-US" sz="2600"/>
              <a:t>为</a:t>
            </a:r>
            <a:r>
              <a:rPr lang="en-US" altLang="zh-CN" sz="2600" i="1"/>
              <a:t>n</a:t>
            </a:r>
            <a:r>
              <a:rPr lang="zh-CN" altLang="en-US" sz="2600"/>
              <a:t>阶</a:t>
            </a:r>
            <a:r>
              <a:rPr lang="en-US" altLang="zh-CN" sz="2600" i="1"/>
              <a:t>m</a:t>
            </a:r>
            <a:r>
              <a:rPr lang="zh-CN" altLang="en-US" sz="2600"/>
              <a:t>条边的无向图</a:t>
            </a:r>
            <a:r>
              <a:rPr lang="en-US" altLang="zh-CN" sz="2600"/>
              <a:t>,</a:t>
            </a:r>
            <a:r>
              <a:rPr lang="zh-CN" altLang="en-US" sz="2600"/>
              <a:t>则下面各命题是等价的</a:t>
            </a:r>
            <a:r>
              <a:rPr lang="en-US" altLang="zh-CN" sz="2600"/>
              <a:t>:</a:t>
            </a:r>
            <a:endParaRPr lang="en-US" altLang="zh-CN" sz="2600"/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  (1) G</a:t>
            </a:r>
            <a:r>
              <a:rPr lang="zh-CN" altLang="en-US" sz="2600"/>
              <a:t>是树</a:t>
            </a:r>
            <a:r>
              <a:rPr lang="en-US" altLang="zh-CN" sz="2600"/>
              <a:t>(</a:t>
            </a:r>
            <a:r>
              <a:rPr lang="zh-CN" altLang="en-US" sz="2600"/>
              <a:t>连通无回路</a:t>
            </a:r>
            <a:r>
              <a:rPr lang="en-US" altLang="zh-CN" sz="2600"/>
              <a:t>);</a:t>
            </a:r>
            <a:endParaRPr lang="en-US" altLang="zh-CN" sz="2600"/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  (2) G</a:t>
            </a:r>
            <a:r>
              <a:rPr lang="zh-CN" altLang="en-US" sz="2600"/>
              <a:t>中任二顶点之间存在唯一路径</a:t>
            </a:r>
            <a:r>
              <a:rPr lang="en-US" altLang="zh-CN" sz="2600"/>
              <a:t>;</a:t>
            </a:r>
            <a:endParaRPr lang="en-US" altLang="zh-CN" sz="2600"/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  (3) G</a:t>
            </a:r>
            <a:r>
              <a:rPr lang="zh-CN" altLang="en-US" sz="2600"/>
              <a:t>中无圈且</a:t>
            </a:r>
            <a:r>
              <a:rPr lang="en-US" altLang="zh-CN" sz="2600" i="1"/>
              <a:t>m</a:t>
            </a:r>
            <a:r>
              <a:rPr lang="en-US" altLang="zh-CN" sz="2600"/>
              <a:t>=</a:t>
            </a:r>
            <a:r>
              <a:rPr lang="en-US" altLang="zh-CN" sz="2600" i="1"/>
              <a:t>n</a:t>
            </a:r>
            <a:r>
              <a:rPr lang="en-US" altLang="zh-CN" sz="2600">
                <a:sym typeface="Symbol" panose="05050102010706020507" pitchFamily="18" charset="2"/>
              </a:rPr>
              <a:t></a:t>
            </a:r>
            <a:r>
              <a:rPr lang="en-US" altLang="zh-CN" sz="2600"/>
              <a:t>1;</a:t>
            </a:r>
            <a:endParaRPr lang="en-US" altLang="zh-CN" sz="2600"/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  (4) G</a:t>
            </a:r>
            <a:r>
              <a:rPr lang="zh-CN" altLang="en-US" sz="2600"/>
              <a:t>连通且</a:t>
            </a:r>
            <a:r>
              <a:rPr lang="en-US" altLang="zh-CN" sz="2600" i="1"/>
              <a:t>m</a:t>
            </a:r>
            <a:r>
              <a:rPr lang="en-US" altLang="zh-CN" sz="2600"/>
              <a:t>=</a:t>
            </a:r>
            <a:r>
              <a:rPr lang="en-US" altLang="zh-CN" sz="2600" i="1"/>
              <a:t>n</a:t>
            </a:r>
            <a:r>
              <a:rPr lang="en-US" altLang="zh-CN" sz="2600">
                <a:sym typeface="Symbol" panose="05050102010706020507" pitchFamily="18" charset="2"/>
              </a:rPr>
              <a:t></a:t>
            </a:r>
            <a:r>
              <a:rPr lang="en-US" altLang="zh-CN" sz="2600"/>
              <a:t>1;</a:t>
            </a:r>
            <a:endParaRPr lang="en-US" altLang="zh-CN" sz="2600"/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  (5) G</a:t>
            </a:r>
            <a:r>
              <a:rPr lang="zh-CN" altLang="en-US" sz="2600"/>
              <a:t>连通且每条边均为桥</a:t>
            </a:r>
            <a:r>
              <a:rPr lang="en-US" altLang="zh-CN" sz="2600"/>
              <a:t>;</a:t>
            </a:r>
            <a:endParaRPr lang="en-US" altLang="zh-CN" sz="260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/>
              <a:t>  (6) </a:t>
            </a:r>
            <a:r>
              <a:rPr lang="en-US" altLang="zh-CN" sz="2600" i="1"/>
              <a:t>G</a:t>
            </a:r>
            <a:r>
              <a:rPr lang="zh-CN" altLang="en-US" sz="2600"/>
              <a:t>无圈</a:t>
            </a:r>
            <a:r>
              <a:rPr lang="en-US" altLang="zh-CN" sz="2600"/>
              <a:t>,</a:t>
            </a:r>
            <a:r>
              <a:rPr lang="zh-CN" altLang="en-US" sz="2600"/>
              <a:t>但在任二不同顶点之间增加新边</a:t>
            </a:r>
            <a:r>
              <a:rPr lang="en-US" altLang="zh-CN" sz="2600"/>
              <a:t>,</a:t>
            </a:r>
            <a:r>
              <a:rPr lang="zh-CN" altLang="en-US" sz="2600"/>
              <a:t>所得图含唯一的一个圈</a:t>
            </a:r>
            <a:r>
              <a:rPr lang="en-US" altLang="zh-CN" sz="2600"/>
              <a:t>;</a:t>
            </a:r>
            <a:endParaRPr lang="en-US" altLang="zh-CN" sz="2600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olidFill>
                  <a:schemeClr val="hlink"/>
                </a:solidFill>
              </a:rPr>
              <a:t>证明</a:t>
            </a:r>
            <a:r>
              <a:rPr lang="en-US" altLang="zh-CN" sz="2600">
                <a:solidFill>
                  <a:schemeClr val="hlink"/>
                </a:solidFill>
              </a:rPr>
              <a:t>:</a:t>
            </a:r>
            <a:r>
              <a:rPr lang="en-US" altLang="zh-CN" sz="2600"/>
              <a:t>(1) </a:t>
            </a:r>
            <a:r>
              <a:rPr lang="en-US" altLang="zh-CN" sz="2600">
                <a:sym typeface="Symbol" panose="05050102010706020507" pitchFamily="18" charset="2"/>
              </a:rPr>
              <a:t>(2) (3) (4) (5) (6) (1)</a:t>
            </a:r>
            <a:endParaRPr lang="zh-CN" altLang="en-US" sz="2600">
              <a:sym typeface="Symbol" panose="05050102010706020507" pitchFamily="18" charset="2"/>
            </a:endParaRPr>
          </a:p>
        </p:txBody>
      </p:sp>
      <p:sp>
        <p:nvSpPr>
          <p:cNvPr id="71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en-US" altLang="zh-CN" sz="2800">
                <a:solidFill>
                  <a:schemeClr val="folHlink"/>
                </a:solidFill>
              </a:rPr>
              <a:t>G</a:t>
            </a:r>
            <a:r>
              <a:rPr lang="zh-CN" altLang="en-US" sz="2800">
                <a:solidFill>
                  <a:schemeClr val="folHlink"/>
                </a:solidFill>
              </a:rPr>
              <a:t>是树</a:t>
            </a:r>
            <a:r>
              <a:rPr lang="en-US" altLang="zh-CN" sz="2800">
                <a:solidFill>
                  <a:schemeClr val="folHlink"/>
                </a:solidFill>
              </a:rPr>
              <a:t>(</a:t>
            </a:r>
            <a:r>
              <a:rPr lang="zh-CN" altLang="en-US" sz="2800">
                <a:solidFill>
                  <a:schemeClr val="folHlink"/>
                </a:solidFill>
              </a:rPr>
              <a:t>连通无回路</a:t>
            </a:r>
            <a:r>
              <a:rPr lang="en-US" altLang="zh-CN" sz="2800">
                <a:solidFill>
                  <a:schemeClr val="folHlink"/>
                </a:solidFill>
              </a:rPr>
              <a:t>)</a:t>
            </a:r>
            <a:r>
              <a:rPr lang="en-US" altLang="zh-CN" sz="2800">
                <a:sym typeface="Symbol" panose="05050102010706020507" pitchFamily="18" charset="2"/>
              </a:rPr>
              <a:t></a:t>
            </a:r>
            <a:r>
              <a:rPr lang="en-US" altLang="zh-CN" sz="2800">
                <a:solidFill>
                  <a:schemeClr val="folHlink"/>
                </a:solidFill>
              </a:rPr>
              <a:t>G</a:t>
            </a:r>
            <a:r>
              <a:rPr lang="zh-CN" altLang="en-US" sz="2800">
                <a:solidFill>
                  <a:schemeClr val="folHlink"/>
                </a:solidFill>
              </a:rPr>
              <a:t>中任二顶点之间存在唯一路径</a:t>
            </a:r>
            <a:endParaRPr lang="zh-CN" altLang="en-US" sz="2800">
              <a:sym typeface="Symbol" panose="05050102010706020507" pitchFamily="18" charset="2"/>
            </a:endParaRPr>
          </a:p>
        </p:txBody>
      </p:sp>
      <p:sp>
        <p:nvSpPr>
          <p:cNvPr id="8194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4968875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olidFill>
                  <a:schemeClr val="hlink"/>
                </a:solidFill>
              </a:rPr>
              <a:t>证 </a:t>
            </a:r>
            <a:r>
              <a:rPr lang="zh-CN" altLang="en-US" sz="2600"/>
              <a:t>先证存在性</a:t>
            </a:r>
            <a:r>
              <a:rPr lang="en-US" altLang="zh-CN" sz="2600"/>
              <a:t>.</a:t>
            </a:r>
            <a:r>
              <a:rPr lang="zh-CN" altLang="en-US" sz="2600">
                <a:sym typeface="Symbol" panose="05050102010706020507" pitchFamily="18" charset="2"/>
              </a:rPr>
              <a:t>由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连通可知</a:t>
            </a:r>
            <a:r>
              <a:rPr lang="en-US" altLang="zh-CN" sz="2600">
                <a:sym typeface="Symbol" panose="05050102010706020507" pitchFamily="18" charset="2"/>
              </a:rPr>
              <a:t>,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V(G),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zh-CN" altLang="en-US" sz="2600">
                <a:sym typeface="Symbol" panose="05050102010706020507" pitchFamily="18" charset="2"/>
              </a:rPr>
              <a:t>之间存在</a:t>
            </a:r>
            <a:r>
              <a:rPr lang="zh-CN" altLang="en-US" sz="2600">
                <a:solidFill>
                  <a:srgbClr val="FF00FF"/>
                </a:solidFill>
                <a:sym typeface="Symbol" panose="05050102010706020507" pitchFamily="18" charset="2"/>
              </a:rPr>
              <a:t>通路</a:t>
            </a:r>
            <a:endParaRPr lang="en-US" altLang="zh-CN" sz="2600">
              <a:solidFill>
                <a:srgbClr val="FF00FF"/>
              </a:solidFill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>
                <a:solidFill>
                  <a:srgbClr val="FF00FF"/>
                </a:solidFill>
                <a:sym typeface="Symbol" panose="05050102010706020507" pitchFamily="18" charset="2"/>
              </a:rPr>
              <a:t>P</a:t>
            </a:r>
            <a:r>
              <a:rPr lang="en-US" altLang="zh-CN" sz="2600" baseline="-25000">
                <a:solidFill>
                  <a:srgbClr val="FF00FF"/>
                </a:solidFill>
                <a:sym typeface="Symbol" panose="05050102010706020507" pitchFamily="18" charset="2"/>
              </a:rPr>
              <a:t>1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r>
              <a:rPr lang="zh-CN" altLang="en-US" sz="2600">
                <a:sym typeface="Symbol" panose="05050102010706020507" pitchFamily="18" charset="2"/>
              </a:rPr>
              <a:t>若</a:t>
            </a:r>
            <a:r>
              <a:rPr lang="en-US" altLang="zh-CN" sz="2600">
                <a:sym typeface="Symbol" panose="05050102010706020507" pitchFamily="18" charset="2"/>
              </a:rPr>
              <a:t>P</a:t>
            </a:r>
            <a:r>
              <a:rPr lang="en-US" altLang="zh-CN" sz="2600" baseline="-25000">
                <a:sym typeface="Symbol" panose="05050102010706020507" pitchFamily="18" charset="2"/>
              </a:rPr>
              <a:t>1</a:t>
            </a:r>
            <a:r>
              <a:rPr lang="zh-CN" altLang="en-US" sz="2600">
                <a:sym typeface="Symbol" panose="05050102010706020507" pitchFamily="18" charset="2"/>
              </a:rPr>
              <a:t>不是路径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则</a:t>
            </a:r>
            <a:r>
              <a:rPr lang="en-US" altLang="zh-CN" sz="2600">
                <a:sym typeface="Symbol" panose="05050102010706020507" pitchFamily="18" charset="2"/>
              </a:rPr>
              <a:t>P</a:t>
            </a:r>
            <a:r>
              <a:rPr lang="en-US" altLang="zh-CN" sz="2600" baseline="-25000">
                <a:sym typeface="Symbol" panose="05050102010706020507" pitchFamily="18" charset="2"/>
              </a:rPr>
              <a:t>1</a:t>
            </a:r>
            <a:r>
              <a:rPr lang="zh-CN" altLang="en-US" sz="2600">
                <a:sym typeface="Symbol" panose="05050102010706020507" pitchFamily="18" charset="2"/>
              </a:rPr>
              <a:t>中存在回路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与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中无回路矛盾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所以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>
                <a:sym typeface="Symbol" panose="05050102010706020507" pitchFamily="18" charset="2"/>
              </a:rPr>
              <a:t>P</a:t>
            </a:r>
            <a:r>
              <a:rPr lang="en-US" altLang="zh-CN" sz="2600" baseline="-25000">
                <a:sym typeface="Symbol" panose="05050102010706020507" pitchFamily="18" charset="2"/>
              </a:rPr>
              <a:t>1</a:t>
            </a:r>
            <a:r>
              <a:rPr lang="zh-CN" altLang="en-US" sz="2600">
                <a:sym typeface="Symbol" panose="05050102010706020507" pitchFamily="18" charset="2"/>
              </a:rPr>
              <a:t>是</a:t>
            </a:r>
            <a:r>
              <a:rPr lang="zh-CN" altLang="en-US" sz="2600">
                <a:solidFill>
                  <a:srgbClr val="FF00FF"/>
                </a:solidFill>
                <a:sym typeface="Symbol" panose="05050102010706020507" pitchFamily="18" charset="2"/>
              </a:rPr>
              <a:t>路径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再证唯一性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r>
              <a:rPr lang="zh-CN" altLang="en-US" sz="2600">
                <a:sym typeface="Symbol" panose="05050102010706020507" pitchFamily="18" charset="2"/>
              </a:rPr>
              <a:t>设</a:t>
            </a:r>
            <a:r>
              <a:rPr lang="en-US" altLang="zh-CN" sz="2600">
                <a:solidFill>
                  <a:schemeClr val="tx2"/>
                </a:solidFill>
                <a:sym typeface="Symbol" panose="05050102010706020507" pitchFamily="18" charset="2"/>
              </a:rPr>
              <a:t>P</a:t>
            </a:r>
            <a:r>
              <a:rPr lang="en-US" altLang="zh-CN" sz="2600" baseline="-2500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zh-CN" altLang="en-US" sz="2600">
                <a:sym typeface="Symbol" panose="05050102010706020507" pitchFamily="18" charset="2"/>
              </a:rPr>
              <a:t>是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zh-CN" altLang="en-US" sz="2600">
                <a:sym typeface="Symbol" panose="05050102010706020507" pitchFamily="18" charset="2"/>
              </a:rPr>
              <a:t>之间相异于</a:t>
            </a:r>
            <a:r>
              <a:rPr lang="en-US" altLang="zh-CN" sz="2600">
                <a:sym typeface="Symbol" panose="05050102010706020507" pitchFamily="18" charset="2"/>
              </a:rPr>
              <a:t>P</a:t>
            </a:r>
            <a:r>
              <a:rPr lang="en-US" altLang="zh-CN" sz="2600" baseline="-25000">
                <a:sym typeface="Symbol" panose="05050102010706020507" pitchFamily="18" charset="2"/>
              </a:rPr>
              <a:t>1</a:t>
            </a:r>
            <a:r>
              <a:rPr lang="zh-CN" altLang="en-US" sz="2600">
                <a:sym typeface="Symbol" panose="05050102010706020507" pitchFamily="18" charset="2"/>
              </a:rPr>
              <a:t>的路径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设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 i="1" baseline="-25000">
                <a:sym typeface="Symbol" panose="05050102010706020507" pitchFamily="18" charset="2"/>
              </a:rPr>
              <a:t>x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 i="1" baseline="-25000">
                <a:sym typeface="Symbol" panose="05050102010706020507" pitchFamily="18" charset="2"/>
              </a:rPr>
              <a:t>y</a:t>
            </a:r>
            <a:r>
              <a:rPr lang="zh-CN" altLang="en-US" sz="2600">
                <a:sym typeface="Symbol" panose="05050102010706020507" pitchFamily="18" charset="2"/>
              </a:rPr>
              <a:t>是</a:t>
            </a:r>
            <a:r>
              <a:rPr lang="en-US" altLang="zh-CN" sz="2600">
                <a:sym typeface="Symbol" panose="05050102010706020507" pitchFamily="18" charset="2"/>
              </a:rPr>
              <a:t>P</a:t>
            </a:r>
            <a:r>
              <a:rPr lang="en-US" altLang="zh-CN" sz="2600" baseline="-25000">
                <a:sym typeface="Symbol" panose="05050102010706020507" pitchFamily="18" charset="2"/>
              </a:rPr>
              <a:t>1</a:t>
            </a:r>
            <a:r>
              <a:rPr lang="zh-CN" altLang="en-US" sz="2600">
                <a:sym typeface="Symbol" panose="05050102010706020507" pitchFamily="18" charset="2"/>
              </a:rPr>
              <a:t>与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2600">
                <a:sym typeface="Symbol" panose="05050102010706020507" pitchFamily="18" charset="2"/>
              </a:rPr>
              <a:t>P</a:t>
            </a:r>
            <a:r>
              <a:rPr lang="en-US" altLang="zh-CN" sz="2600" baseline="-25000">
                <a:sym typeface="Symbol" panose="05050102010706020507" pitchFamily="18" charset="2"/>
              </a:rPr>
              <a:t>2</a:t>
            </a:r>
            <a:r>
              <a:rPr lang="zh-CN" altLang="en-US" sz="2600">
                <a:sym typeface="Symbol" panose="05050102010706020507" pitchFamily="18" charset="2"/>
              </a:rPr>
              <a:t>的两个相邻交点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在</a:t>
            </a:r>
            <a:r>
              <a:rPr lang="en-US" altLang="zh-CN" sz="2600">
                <a:sym typeface="Symbol" panose="05050102010706020507" pitchFamily="18" charset="2"/>
              </a:rPr>
              <a:t>P</a:t>
            </a:r>
            <a:r>
              <a:rPr lang="en-US" altLang="zh-CN" sz="2600" baseline="-25000">
                <a:sym typeface="Symbol" panose="05050102010706020507" pitchFamily="18" charset="2"/>
              </a:rPr>
              <a:t>1</a:t>
            </a:r>
            <a:r>
              <a:rPr lang="zh-CN" altLang="en-US" sz="2600">
                <a:sym typeface="Symbol" panose="05050102010706020507" pitchFamily="18" charset="2"/>
              </a:rPr>
              <a:t>中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 i="1" baseline="-25000">
                <a:sym typeface="Symbol" panose="05050102010706020507" pitchFamily="18" charset="2"/>
              </a:rPr>
              <a:t>x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 i="1" baseline="-25000">
                <a:sym typeface="Symbol" panose="05050102010706020507" pitchFamily="18" charset="2"/>
              </a:rPr>
              <a:t>y</a:t>
            </a:r>
            <a:r>
              <a:rPr lang="zh-CN" altLang="en-US" sz="2600">
                <a:sym typeface="Symbol" panose="05050102010706020507" pitchFamily="18" charset="2"/>
              </a:rPr>
              <a:t>之间的路径为</a:t>
            </a:r>
            <a:r>
              <a:rPr lang="en-US" altLang="zh-CN" sz="2600">
                <a:sym typeface="Symbol" panose="05050102010706020507" pitchFamily="18" charset="2"/>
              </a:rPr>
              <a:t>P</a:t>
            </a:r>
            <a:r>
              <a:rPr lang="en-US" altLang="zh-CN" sz="2600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 sz="2600">
                <a:sym typeface="Symbol" panose="05050102010706020507" pitchFamily="18" charset="2"/>
              </a:rPr>
              <a:t>(</a:t>
            </a:r>
            <a:r>
              <a:rPr lang="en-US" altLang="zh-CN" sz="2600" i="1">
                <a:sym typeface="Symbol" panose="05050102010706020507" pitchFamily="18" charset="2"/>
              </a:rPr>
              <a:t>x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y</a:t>
            </a:r>
            <a:r>
              <a:rPr lang="en-US" altLang="zh-CN" sz="2600">
                <a:sym typeface="Symbol" panose="05050102010706020507" pitchFamily="18" charset="2"/>
              </a:rPr>
              <a:t>),</a:t>
            </a:r>
            <a:r>
              <a:rPr lang="zh-CN" altLang="en-US" sz="2600">
                <a:sym typeface="Symbol" panose="05050102010706020507" pitchFamily="18" charset="2"/>
              </a:rPr>
              <a:t>在</a:t>
            </a:r>
            <a:r>
              <a:rPr lang="en-US" altLang="zh-CN" sz="2600">
                <a:sym typeface="Symbol" panose="05050102010706020507" pitchFamily="18" charset="2"/>
              </a:rPr>
              <a:t>P</a:t>
            </a:r>
            <a:r>
              <a:rPr lang="en-US" altLang="zh-CN" sz="2600" baseline="-25000">
                <a:sym typeface="Symbol" panose="05050102010706020507" pitchFamily="18" charset="2"/>
              </a:rPr>
              <a:t>2</a:t>
            </a:r>
            <a:r>
              <a:rPr lang="zh-CN" altLang="en-US" sz="2600">
                <a:sym typeface="Symbol" panose="05050102010706020507" pitchFamily="18" charset="2"/>
              </a:rPr>
              <a:t>中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 i="1" baseline="-25000">
                <a:sym typeface="Symbol" panose="05050102010706020507" pitchFamily="18" charset="2"/>
              </a:rPr>
              <a:t>x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 i="1" baseline="-25000">
                <a:sym typeface="Symbol" panose="05050102010706020507" pitchFamily="18" charset="2"/>
              </a:rPr>
              <a:t>y</a:t>
            </a:r>
            <a:r>
              <a:rPr lang="zh-CN" altLang="en-US" sz="2600">
                <a:sym typeface="Symbol" panose="05050102010706020507" pitchFamily="18" charset="2"/>
              </a:rPr>
              <a:t>之间的路径为</a:t>
            </a:r>
            <a:r>
              <a:rPr lang="en-US" altLang="zh-CN" sz="2600">
                <a:sym typeface="Symbol" panose="05050102010706020507" pitchFamily="18" charset="2"/>
              </a:rPr>
              <a:t>P(</a:t>
            </a:r>
            <a:r>
              <a:rPr lang="en-US" altLang="zh-CN" sz="2600" i="1">
                <a:sym typeface="Symbol" panose="05050102010706020507" pitchFamily="18" charset="2"/>
              </a:rPr>
              <a:t>x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y</a:t>
            </a:r>
            <a:r>
              <a:rPr lang="en-US" altLang="zh-CN" sz="2600">
                <a:sym typeface="Symbol" panose="05050102010706020507" pitchFamily="18" charset="2"/>
              </a:rPr>
              <a:t>),</a:t>
            </a:r>
            <a:r>
              <a:rPr lang="zh-CN" altLang="en-US" sz="2600">
                <a:sym typeface="Symbol" panose="05050102010706020507" pitchFamily="18" charset="2"/>
              </a:rPr>
              <a:t>则</a:t>
            </a:r>
            <a:r>
              <a:rPr lang="en-US" altLang="zh-CN" sz="2600">
                <a:sym typeface="Symbol" panose="05050102010706020507" pitchFamily="18" charset="2"/>
              </a:rPr>
              <a:t>P</a:t>
            </a:r>
            <a:r>
              <a:rPr lang="en-US" altLang="zh-CN" sz="2600">
                <a:latin typeface="Tahoma" panose="020B0604030504040204" pitchFamily="34" charset="0"/>
                <a:sym typeface="Symbol" panose="05050102010706020507" pitchFamily="18" charset="2"/>
              </a:rPr>
              <a:t>’</a:t>
            </a:r>
            <a:r>
              <a:rPr lang="en-US" altLang="zh-CN" sz="2600">
                <a:sym typeface="Symbol" panose="05050102010706020507" pitchFamily="18" charset="2"/>
              </a:rPr>
              <a:t>(</a:t>
            </a:r>
            <a:r>
              <a:rPr lang="en-US" altLang="zh-CN" sz="2600" i="1">
                <a:sym typeface="Symbol" panose="05050102010706020507" pitchFamily="18" charset="2"/>
              </a:rPr>
              <a:t>x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y</a:t>
            </a:r>
            <a:r>
              <a:rPr lang="en-US" altLang="zh-CN" sz="2600">
                <a:sym typeface="Symbol" panose="05050102010706020507" pitchFamily="18" charset="2"/>
              </a:rPr>
              <a:t>)P(</a:t>
            </a:r>
            <a:r>
              <a:rPr lang="en-US" altLang="zh-CN" sz="2600" i="1">
                <a:sym typeface="Symbol" panose="05050102010706020507" pitchFamily="18" charset="2"/>
              </a:rPr>
              <a:t>x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y</a:t>
            </a:r>
            <a:r>
              <a:rPr lang="en-US" altLang="zh-CN" sz="2600">
                <a:sym typeface="Symbol" panose="05050102010706020507" pitchFamily="18" charset="2"/>
              </a:rPr>
              <a:t>)</a:t>
            </a:r>
            <a:r>
              <a:rPr lang="zh-CN" altLang="en-US" sz="2600">
                <a:sym typeface="Symbol" panose="05050102010706020507" pitchFamily="18" charset="2"/>
              </a:rPr>
              <a:t>构成回路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矛盾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故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zh-CN" altLang="en-US" sz="2600">
                <a:sym typeface="Symbol" panose="05050102010706020507" pitchFamily="18" charset="2"/>
              </a:rPr>
              <a:t>之间的路径唯一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</p:txBody>
      </p:sp>
      <p:grpSp>
        <p:nvGrpSpPr>
          <p:cNvPr id="8195" name="组合 21"/>
          <p:cNvGrpSpPr/>
          <p:nvPr/>
        </p:nvGrpSpPr>
        <p:grpSpPr>
          <a:xfrm>
            <a:off x="2843213" y="4767263"/>
            <a:ext cx="4219575" cy="1716087"/>
            <a:chOff x="2843808" y="4767535"/>
            <a:chExt cx="4219226" cy="1715418"/>
          </a:xfrm>
        </p:grpSpPr>
        <p:grpSp>
          <p:nvGrpSpPr>
            <p:cNvPr id="8196" name="Group 18"/>
            <p:cNvGrpSpPr/>
            <p:nvPr/>
          </p:nvGrpSpPr>
          <p:grpSpPr>
            <a:xfrm>
              <a:off x="2843808" y="5229200"/>
              <a:ext cx="3816350" cy="744537"/>
              <a:chOff x="3243" y="709"/>
              <a:chExt cx="2404" cy="469"/>
            </a:xfrm>
          </p:grpSpPr>
          <p:sp>
            <p:nvSpPr>
              <p:cNvPr id="8197" name="Line 11"/>
              <p:cNvSpPr/>
              <p:nvPr/>
            </p:nvSpPr>
            <p:spPr>
              <a:xfrm>
                <a:off x="4241" y="1026"/>
                <a:ext cx="1134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8198" name="Oval 4"/>
              <p:cNvSpPr/>
              <p:nvPr/>
            </p:nvSpPr>
            <p:spPr>
              <a:xfrm>
                <a:off x="3470" y="981"/>
                <a:ext cx="136" cy="136"/>
              </a:xfrm>
              <a:prstGeom prst="ellipse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99" name="Oval 5"/>
              <p:cNvSpPr/>
              <p:nvPr/>
            </p:nvSpPr>
            <p:spPr>
              <a:xfrm>
                <a:off x="5329" y="981"/>
                <a:ext cx="136" cy="136"/>
              </a:xfrm>
              <a:prstGeom prst="ellipse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0" name="Oval 6"/>
              <p:cNvSpPr/>
              <p:nvPr/>
            </p:nvSpPr>
            <p:spPr>
              <a:xfrm>
                <a:off x="4105" y="981"/>
                <a:ext cx="136" cy="136"/>
              </a:xfrm>
              <a:prstGeom prst="ellipse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1" name="Oval 7"/>
              <p:cNvSpPr/>
              <p:nvPr/>
            </p:nvSpPr>
            <p:spPr>
              <a:xfrm>
                <a:off x="4785" y="981"/>
                <a:ext cx="136" cy="136"/>
              </a:xfrm>
              <a:prstGeom prst="ellipse">
                <a:avLst/>
              </a:prstGeom>
              <a:solidFill>
                <a:schemeClr val="accent2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SzTx/>
                </a:pPr>
                <a:endParaRPr lang="zh-CN" altLang="en-US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8202" name="AutoShape 8"/>
              <p:cNvCxnSpPr>
                <a:stCxn id="8198" idx="7"/>
                <a:endCxn id="8200" idx="1"/>
              </p:cNvCxnSpPr>
              <p:nvPr/>
            </p:nvCxnSpPr>
            <p:spPr>
              <a:xfrm rot="5400000" flipV="1">
                <a:off x="3853" y="730"/>
                <a:ext cx="1" cy="539"/>
              </a:xfrm>
              <a:prstGeom prst="curvedConnector3">
                <a:avLst>
                  <a:gd name="adj1" fmla="val -16400005"/>
                </a:avLst>
              </a:prstGeom>
              <a:ln w="2857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3" name="AutoShape 10"/>
              <p:cNvCxnSpPr>
                <a:stCxn id="8198" idx="4"/>
                <a:endCxn id="8200" idx="3"/>
              </p:cNvCxnSpPr>
              <p:nvPr/>
            </p:nvCxnSpPr>
            <p:spPr>
              <a:xfrm rot="5400000" flipH="1" flipV="1">
                <a:off x="3819" y="811"/>
                <a:ext cx="20" cy="587"/>
              </a:xfrm>
              <a:prstGeom prst="curvedConnector3">
                <a:avLst>
                  <a:gd name="adj1" fmla="val -720000"/>
                </a:avLst>
              </a:prstGeom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4" name="AutoShape 12"/>
              <p:cNvCxnSpPr>
                <a:stCxn id="8200" idx="4"/>
                <a:endCxn id="8201" idx="4"/>
              </p:cNvCxnSpPr>
              <p:nvPr/>
            </p:nvCxnSpPr>
            <p:spPr>
              <a:xfrm rot="-5400000" flipH="1">
                <a:off x="4510" y="775"/>
                <a:ext cx="1" cy="680"/>
              </a:xfrm>
              <a:prstGeom prst="curvedConnector3">
                <a:avLst>
                  <a:gd name="adj1" fmla="val 14400005"/>
                </a:avLst>
              </a:prstGeom>
              <a:ln w="2857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5" name="AutoShape 13"/>
              <p:cNvCxnSpPr>
                <a:stCxn id="8201" idx="4"/>
                <a:endCxn id="8199" idx="4"/>
              </p:cNvCxnSpPr>
              <p:nvPr/>
            </p:nvCxnSpPr>
            <p:spPr>
              <a:xfrm rot="-5400000" flipH="1">
                <a:off x="5122" y="843"/>
                <a:ext cx="1" cy="544"/>
              </a:xfrm>
              <a:prstGeom prst="curvedConnector3">
                <a:avLst>
                  <a:gd name="adj1" fmla="val 14400005"/>
                </a:avLst>
              </a:prstGeom>
              <a:ln w="2857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206" name="Text Box 14"/>
              <p:cNvSpPr txBox="1"/>
              <p:nvPr/>
            </p:nvSpPr>
            <p:spPr>
              <a:xfrm>
                <a:off x="3243" y="857"/>
                <a:ext cx="22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7" name="Text Box 15"/>
              <p:cNvSpPr txBox="1"/>
              <p:nvPr/>
            </p:nvSpPr>
            <p:spPr>
              <a:xfrm>
                <a:off x="5446" y="890"/>
                <a:ext cx="20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endPara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8" name="Text Box 16"/>
              <p:cNvSpPr txBox="1"/>
              <p:nvPr/>
            </p:nvSpPr>
            <p:spPr>
              <a:xfrm>
                <a:off x="4105" y="709"/>
                <a:ext cx="26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i="1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endParaRPr lang="en-US" altLang="zh-CN" sz="2400" i="1" baseline="-25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209" name="Text Box 17"/>
              <p:cNvSpPr txBox="1"/>
              <p:nvPr/>
            </p:nvSpPr>
            <p:spPr>
              <a:xfrm>
                <a:off x="4740" y="709"/>
                <a:ext cx="25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v</a:t>
                </a:r>
                <a:r>
                  <a:rPr lang="en-US" altLang="zh-CN" sz="2400" i="1" baseline="-25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endParaRPr lang="en-US" altLang="zh-CN" sz="2400" i="1" baseline="-250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210" name="左箭头 17"/>
            <p:cNvSpPr/>
            <p:nvPr/>
          </p:nvSpPr>
          <p:spPr>
            <a:xfrm rot="-3069920">
              <a:off x="4622858" y="5273377"/>
              <a:ext cx="618364" cy="241738"/>
            </a:xfrm>
            <a:prstGeom prst="leftArrow">
              <a:avLst>
                <a:gd name="adj1" fmla="val 29759"/>
                <a:gd name="adj2" fmla="val 49975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1" name="TextBox 18"/>
            <p:cNvSpPr txBox="1"/>
            <p:nvPr/>
          </p:nvSpPr>
          <p:spPr>
            <a:xfrm>
              <a:off x="4643884" y="4767535"/>
              <a:ext cx="474623" cy="4617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212" name="左箭头 19"/>
            <p:cNvSpPr/>
            <p:nvPr/>
          </p:nvSpPr>
          <p:spPr>
            <a:xfrm rot="810739">
              <a:off x="6031897" y="6090185"/>
              <a:ext cx="618364" cy="241738"/>
            </a:xfrm>
            <a:prstGeom prst="leftArrow">
              <a:avLst>
                <a:gd name="adj1" fmla="val 29759"/>
                <a:gd name="adj2" fmla="val 49975"/>
              </a:avLst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3" name="TextBox 20"/>
            <p:cNvSpPr txBox="1"/>
            <p:nvPr/>
          </p:nvSpPr>
          <p:spPr>
            <a:xfrm>
              <a:off x="6588410" y="6021171"/>
              <a:ext cx="474624" cy="4617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zh-CN" altLang="en-US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2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en-US" altLang="zh-CN" sz="3200"/>
              <a:t>G</a:t>
            </a:r>
            <a:r>
              <a:rPr lang="zh-CN" altLang="en-US" sz="3200"/>
              <a:t>中任二顶点之间存在唯一路径</a:t>
            </a:r>
            <a:r>
              <a:rPr lang="en-US" altLang="zh-CN" sz="3200">
                <a:sym typeface="Symbol" panose="05050102010706020507" pitchFamily="18" charset="2"/>
              </a:rPr>
              <a:t></a:t>
            </a:r>
            <a:r>
              <a:rPr lang="en-US" altLang="zh-CN" sz="3200"/>
              <a:t>G</a:t>
            </a:r>
            <a:r>
              <a:rPr lang="zh-CN" altLang="en-US" sz="3200"/>
              <a:t>中无圈且</a:t>
            </a:r>
            <a:r>
              <a:rPr lang="en-US" altLang="zh-CN" sz="3200" i="1"/>
              <a:t>m</a:t>
            </a:r>
            <a:r>
              <a:rPr lang="en-US" altLang="zh-CN" sz="3200"/>
              <a:t>=</a:t>
            </a:r>
            <a:r>
              <a:rPr lang="en-US" altLang="zh-CN" sz="3200" i="1"/>
              <a:t>n</a:t>
            </a:r>
            <a:r>
              <a:rPr lang="en-US" altLang="zh-CN" sz="3200">
                <a:sym typeface="Symbol" panose="05050102010706020507" pitchFamily="18" charset="2"/>
              </a:rPr>
              <a:t></a:t>
            </a:r>
            <a:r>
              <a:rPr lang="en-US" altLang="zh-CN" sz="3200"/>
              <a:t>1</a:t>
            </a:r>
            <a:endParaRPr lang="zh-CN" altLang="en-US" sz="3200">
              <a:sym typeface="Symbol" panose="05050102010706020507" pitchFamily="18" charset="2"/>
            </a:endParaRPr>
          </a:p>
        </p:txBody>
      </p:sp>
      <p:sp>
        <p:nvSpPr>
          <p:cNvPr id="102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/>
              <a:t>先证无圈</a:t>
            </a:r>
            <a:r>
              <a:rPr lang="en-US" altLang="zh-CN" sz="2400"/>
              <a:t>.</a:t>
            </a:r>
            <a:r>
              <a:rPr lang="zh-CN" altLang="en-US" sz="2400">
                <a:solidFill>
                  <a:srgbClr val="FF00FF"/>
                </a:solidFill>
              </a:rPr>
              <a:t>反证法</a:t>
            </a:r>
            <a:r>
              <a:rPr lang="en-US" altLang="zh-CN" sz="2400"/>
              <a:t>.</a:t>
            </a:r>
            <a:r>
              <a:rPr lang="zh-CN" altLang="en-US" sz="2400"/>
              <a:t>若存在关联顶点</a:t>
            </a:r>
            <a:r>
              <a:rPr lang="en-US" altLang="zh-CN" sz="2400" i="1"/>
              <a:t>v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FF00FF"/>
                </a:solidFill>
              </a:rPr>
              <a:t>环</a:t>
            </a:r>
            <a:r>
              <a:rPr lang="en-US" altLang="zh-CN" sz="2400"/>
              <a:t>,</a:t>
            </a:r>
            <a:r>
              <a:rPr lang="zh-CN" altLang="en-US" sz="2400"/>
              <a:t>则存在</a:t>
            </a:r>
            <a:r>
              <a:rPr lang="en-US" altLang="zh-CN" sz="2400" i="1"/>
              <a:t>v</a:t>
            </a:r>
            <a:r>
              <a:rPr lang="zh-CN" altLang="en-US" sz="2400"/>
              <a:t>到</a:t>
            </a:r>
            <a:r>
              <a:rPr lang="en-US" altLang="zh-CN" sz="2400" i="1"/>
              <a:t>v</a:t>
            </a:r>
            <a:r>
              <a:rPr lang="zh-CN" altLang="en-US" sz="2400"/>
              <a:t>的两条路径</a:t>
            </a:r>
            <a:endParaRPr lang="en-US" altLang="zh-CN" sz="2400"/>
          </a:p>
          <a:p>
            <a:pPr marL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/>
              <a:t>,</a:t>
            </a:r>
            <a:r>
              <a:rPr lang="zh-CN" altLang="en-US" sz="2400"/>
              <a:t>长度分别为</a:t>
            </a:r>
            <a:r>
              <a:rPr lang="en-US" altLang="zh-CN" sz="2400"/>
              <a:t>0</a:t>
            </a:r>
            <a:r>
              <a:rPr lang="zh-CN" altLang="en-US" sz="2400"/>
              <a:t>和</a:t>
            </a:r>
            <a:r>
              <a:rPr lang="en-US" altLang="zh-CN" sz="2400"/>
              <a:t>1,</a:t>
            </a:r>
            <a:r>
              <a:rPr lang="zh-CN" altLang="en-US" sz="2400"/>
              <a:t>与已知矛盾</a:t>
            </a:r>
            <a:r>
              <a:rPr lang="en-US" altLang="zh-CN" sz="2400"/>
              <a:t>.</a:t>
            </a:r>
            <a:r>
              <a:rPr lang="zh-CN" altLang="en-US" sz="2400"/>
              <a:t>若存在长度大于等于</a:t>
            </a:r>
            <a:r>
              <a:rPr lang="en-US" altLang="zh-CN" sz="2400"/>
              <a:t>2</a:t>
            </a:r>
            <a:r>
              <a:rPr lang="zh-CN" altLang="en-US" sz="2400"/>
              <a:t>的圈</a:t>
            </a:r>
            <a:r>
              <a:rPr lang="en-US" altLang="zh-CN" sz="2400"/>
              <a:t>,</a:t>
            </a:r>
            <a:r>
              <a:rPr lang="zh-CN" altLang="en-US" sz="2400"/>
              <a:t>则圈</a:t>
            </a:r>
            <a:endParaRPr lang="en-US" altLang="zh-CN" sz="2400"/>
          </a:p>
          <a:p>
            <a:pPr marL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/>
              <a:t>上的任意两不同顶点之间存在两条不同路径</a:t>
            </a:r>
            <a:r>
              <a:rPr lang="en-US" altLang="zh-CN" sz="2400"/>
              <a:t>,</a:t>
            </a:r>
            <a:r>
              <a:rPr lang="zh-CN" altLang="en-US" sz="2400"/>
              <a:t>矛盾</a:t>
            </a:r>
            <a:r>
              <a:rPr lang="en-US" altLang="zh-CN" sz="2400"/>
              <a:t>.</a:t>
            </a:r>
            <a:endParaRPr lang="en-US" altLang="zh-CN" sz="2400"/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/>
              <a:t>下面证</a:t>
            </a:r>
            <a:r>
              <a:rPr lang="en-US" altLang="zh-CN" sz="2400" i="1"/>
              <a:t>m</a:t>
            </a:r>
            <a:r>
              <a:rPr lang="en-US" altLang="zh-CN" sz="2400"/>
              <a:t>=</a:t>
            </a:r>
            <a:r>
              <a:rPr lang="en-US" altLang="zh-CN" sz="2400" i="1"/>
              <a:t>n</a:t>
            </a:r>
            <a:r>
              <a:rPr lang="en-US" altLang="zh-CN" sz="2400"/>
              <a:t>-1.(</a:t>
            </a:r>
            <a:r>
              <a:rPr lang="zh-CN" altLang="en-US" sz="2400"/>
              <a:t>归纳法</a:t>
            </a:r>
            <a:r>
              <a:rPr lang="en-US" altLang="zh-CN" sz="2400"/>
              <a:t>)</a:t>
            </a:r>
            <a:endParaRPr lang="en-US" altLang="zh-CN" sz="2400"/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i="1"/>
              <a:t>n</a:t>
            </a:r>
            <a:r>
              <a:rPr lang="en-US" altLang="zh-CN" sz="2400"/>
              <a:t>=1</a:t>
            </a:r>
            <a:r>
              <a:rPr lang="zh-CN" altLang="en-US" sz="2400"/>
              <a:t>时</a:t>
            </a:r>
            <a:r>
              <a:rPr lang="en-US" altLang="zh-CN" sz="2400"/>
              <a:t>,</a:t>
            </a:r>
            <a:r>
              <a:rPr lang="zh-CN" altLang="en-US" sz="2400"/>
              <a:t>无圈</a:t>
            </a:r>
            <a:r>
              <a:rPr lang="en-US" altLang="zh-CN" sz="2400"/>
              <a:t>,</a:t>
            </a:r>
            <a:r>
              <a:rPr lang="en-US" altLang="zh-CN" sz="2400" i="1"/>
              <a:t>m</a:t>
            </a:r>
            <a:r>
              <a:rPr lang="en-US" altLang="zh-CN" sz="2400"/>
              <a:t>=0,</a:t>
            </a:r>
            <a:r>
              <a:rPr lang="zh-CN" altLang="en-US" sz="2400"/>
              <a:t>结论成立</a:t>
            </a:r>
            <a:r>
              <a:rPr lang="en-US" altLang="zh-CN" sz="2400"/>
              <a:t>.</a:t>
            </a:r>
            <a:endParaRPr lang="en-US" altLang="zh-CN" sz="2400"/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/>
              <a:t>设</a:t>
            </a:r>
            <a:r>
              <a:rPr lang="en-US" altLang="zh-CN" sz="2400" i="1"/>
              <a:t>n</a:t>
            </a:r>
            <a:r>
              <a:rPr lang="en-US" altLang="zh-CN" sz="2400">
                <a:sym typeface="Symbol" panose="05050102010706020507" pitchFamily="18" charset="2"/>
              </a:rPr>
              <a:t></a:t>
            </a:r>
            <a:r>
              <a:rPr lang="en-US" altLang="zh-CN" sz="2400" i="1">
                <a:sym typeface="Symbol" panose="05050102010706020507" pitchFamily="18" charset="2"/>
              </a:rPr>
              <a:t>k</a:t>
            </a:r>
            <a:r>
              <a:rPr lang="en-US" altLang="zh-CN" sz="2400">
                <a:sym typeface="Symbol" panose="05050102010706020507" pitchFamily="18" charset="2"/>
              </a:rPr>
              <a:t>(</a:t>
            </a:r>
            <a:r>
              <a:rPr lang="en-US" altLang="zh-CN" sz="2400" i="1">
                <a:sym typeface="Symbol" panose="05050102010706020507" pitchFamily="18" charset="2"/>
              </a:rPr>
              <a:t>k</a:t>
            </a:r>
            <a:r>
              <a:rPr lang="en-US" altLang="zh-CN" sz="2400">
                <a:sym typeface="Symbol" panose="05050102010706020507" pitchFamily="18" charset="2"/>
              </a:rPr>
              <a:t>1)</a:t>
            </a:r>
            <a:r>
              <a:rPr lang="zh-CN" altLang="en-US" sz="2400">
                <a:sym typeface="Symbol" panose="05050102010706020507" pitchFamily="18" charset="2"/>
              </a:rPr>
              <a:t>时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zh-CN" altLang="en-US" sz="2400">
                <a:sym typeface="Symbol" panose="05050102010706020507" pitchFamily="18" charset="2"/>
              </a:rPr>
              <a:t>结论成立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endParaRPr lang="en-US" altLang="zh-CN" sz="2400"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>
                <a:sym typeface="Symbol" panose="05050102010706020507" pitchFamily="18" charset="2"/>
              </a:rPr>
              <a:t>设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>
                <a:sym typeface="Symbol" panose="05050102010706020507" pitchFamily="18" charset="2"/>
              </a:rPr>
              <a:t>=</a:t>
            </a:r>
            <a:r>
              <a:rPr lang="en-US" altLang="zh-CN" sz="2400" i="1">
                <a:sym typeface="Symbol" panose="05050102010706020507" pitchFamily="18" charset="2"/>
              </a:rPr>
              <a:t>k</a:t>
            </a:r>
            <a:r>
              <a:rPr lang="en-US" altLang="zh-CN" sz="2400">
                <a:sym typeface="Symbol" panose="05050102010706020507" pitchFamily="18" charset="2"/>
              </a:rPr>
              <a:t>+1,G</a:t>
            </a:r>
            <a:r>
              <a:rPr lang="zh-CN" altLang="en-US" sz="2400">
                <a:sym typeface="Symbol" panose="05050102010706020507" pitchFamily="18" charset="2"/>
              </a:rPr>
              <a:t>中至少有一条边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 i="1">
                <a:sym typeface="Symbol" panose="05050102010706020507" pitchFamily="18" charset="2"/>
              </a:rPr>
              <a:t>e</a:t>
            </a:r>
            <a:r>
              <a:rPr lang="en-US" altLang="zh-CN" sz="2400">
                <a:sym typeface="Symbol" panose="05050102010706020507" pitchFamily="18" charset="2"/>
              </a:rPr>
              <a:t>=(</a:t>
            </a:r>
            <a:r>
              <a:rPr lang="en-US" altLang="zh-CN" sz="2400" i="1">
                <a:sym typeface="Symbol" panose="05050102010706020507" pitchFamily="18" charset="2"/>
              </a:rPr>
              <a:t>u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 i="1">
                <a:sym typeface="Symbol" panose="05050102010706020507" pitchFamily="18" charset="2"/>
              </a:rPr>
              <a:t>v</a:t>
            </a:r>
            <a:r>
              <a:rPr lang="en-US" altLang="zh-CN" sz="2400">
                <a:sym typeface="Symbol" panose="05050102010706020507" pitchFamily="18" charset="2"/>
              </a:rPr>
              <a:t>)E(G).</a:t>
            </a:r>
            <a:r>
              <a:rPr lang="zh-CN" altLang="en-US" sz="2400">
                <a:sym typeface="Symbol" panose="05050102010706020507" pitchFamily="18" charset="2"/>
              </a:rPr>
              <a:t>则</a:t>
            </a:r>
            <a:r>
              <a:rPr lang="en-US" altLang="zh-CN" sz="2400">
                <a:sym typeface="Symbol" panose="05050102010706020507" pitchFamily="18" charset="2"/>
              </a:rPr>
              <a:t>G-</a:t>
            </a:r>
            <a:r>
              <a:rPr lang="en-US" altLang="zh-CN" sz="2400" i="1">
                <a:sym typeface="Symbol" panose="05050102010706020507" pitchFamily="18" charset="2"/>
              </a:rPr>
              <a:t>e</a:t>
            </a:r>
            <a:r>
              <a:rPr lang="zh-CN" altLang="en-US" sz="2400">
                <a:sym typeface="Symbol" panose="05050102010706020507" pitchFamily="18" charset="2"/>
              </a:rPr>
              <a:t>必有两个</a:t>
            </a:r>
            <a:endParaRPr lang="en-US" altLang="zh-CN" sz="2400"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>
                <a:sym typeface="Symbol" panose="05050102010706020507" pitchFamily="18" charset="2"/>
              </a:rPr>
              <a:t>连通分支</a:t>
            </a:r>
            <a:r>
              <a:rPr lang="en-US" altLang="zh-CN" sz="2400">
                <a:sym typeface="Symbol" panose="05050102010706020507" pitchFamily="18" charset="2"/>
              </a:rPr>
              <a:t>G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,G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zh-CN" altLang="en-US" sz="2400">
                <a:solidFill>
                  <a:srgbClr val="FF00FF"/>
                </a:solidFill>
                <a:sym typeface="Symbol" panose="05050102010706020507" pitchFamily="18" charset="2"/>
              </a:rPr>
              <a:t>否则</a:t>
            </a:r>
            <a:r>
              <a:rPr lang="en-US" altLang="zh-CN" sz="2400">
                <a:solidFill>
                  <a:srgbClr val="FF00FF"/>
                </a:solidFill>
                <a:sym typeface="Symbol" panose="05050102010706020507" pitchFamily="18" charset="2"/>
              </a:rPr>
              <a:t>, </a:t>
            </a:r>
            <a:r>
              <a:rPr lang="zh-CN" altLang="en-US" sz="2400">
                <a:solidFill>
                  <a:srgbClr val="FF00FF"/>
                </a:solidFill>
                <a:sym typeface="Symbol" panose="05050102010706020507" pitchFamily="18" charset="2"/>
              </a:rPr>
              <a:t>在</a:t>
            </a:r>
            <a:r>
              <a:rPr lang="en-US" altLang="zh-CN" sz="2400">
                <a:solidFill>
                  <a:srgbClr val="FF00FF"/>
                </a:solidFill>
                <a:sym typeface="Symbol" panose="05050102010706020507" pitchFamily="18" charset="2"/>
              </a:rPr>
              <a:t>G-</a:t>
            </a:r>
            <a:r>
              <a:rPr lang="en-US" altLang="zh-CN" sz="2400" i="1">
                <a:solidFill>
                  <a:srgbClr val="FF00FF"/>
                </a:solidFill>
                <a:sym typeface="Symbol" panose="05050102010706020507" pitchFamily="18" charset="2"/>
              </a:rPr>
              <a:t>e</a:t>
            </a:r>
            <a:r>
              <a:rPr lang="zh-CN" altLang="en-US" sz="2400">
                <a:solidFill>
                  <a:srgbClr val="FF00FF"/>
                </a:solidFill>
                <a:sym typeface="Symbol" panose="05050102010706020507" pitchFamily="18" charset="2"/>
              </a:rPr>
              <a:t>中</a:t>
            </a:r>
            <a:r>
              <a:rPr lang="en-US" altLang="zh-CN" sz="2400" i="1">
                <a:solidFill>
                  <a:srgbClr val="FF00FF"/>
                </a:solidFill>
                <a:sym typeface="Symbol" panose="05050102010706020507" pitchFamily="18" charset="2"/>
              </a:rPr>
              <a:t>u</a:t>
            </a:r>
            <a:r>
              <a:rPr lang="en-US" altLang="zh-CN" sz="2400">
                <a:solidFill>
                  <a:srgbClr val="FF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2400" i="1">
                <a:solidFill>
                  <a:srgbClr val="FF00FF"/>
                </a:solidFill>
                <a:sym typeface="Symbol" panose="05050102010706020507" pitchFamily="18" charset="2"/>
              </a:rPr>
              <a:t>v</a:t>
            </a:r>
            <a:r>
              <a:rPr lang="zh-CN" altLang="en-US" sz="2400">
                <a:solidFill>
                  <a:srgbClr val="FF00FF"/>
                </a:solidFill>
                <a:sym typeface="Symbol" panose="05050102010706020507" pitchFamily="18" charset="2"/>
              </a:rPr>
              <a:t>之间有路径</a:t>
            </a:r>
            <a:r>
              <a:rPr lang="en-US" altLang="zh-CN" sz="2400">
                <a:solidFill>
                  <a:srgbClr val="FF00FF"/>
                </a:solidFill>
                <a:sym typeface="Symbol" panose="05050102010706020507" pitchFamily="18" charset="2"/>
              </a:rPr>
              <a:t>P,P{e}</a:t>
            </a:r>
            <a:r>
              <a:rPr lang="zh-CN" altLang="en-US" sz="2400">
                <a:solidFill>
                  <a:srgbClr val="FF00FF"/>
                </a:solidFill>
                <a:sym typeface="Symbol" panose="05050102010706020507" pitchFamily="18" charset="2"/>
              </a:rPr>
              <a:t>构成</a:t>
            </a:r>
            <a:endParaRPr lang="en-US" altLang="zh-CN" sz="2400">
              <a:solidFill>
                <a:srgbClr val="FF00FF"/>
              </a:solidFill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>
                <a:solidFill>
                  <a:srgbClr val="FF00FF"/>
                </a:solidFill>
                <a:sym typeface="Symbol" panose="05050102010706020507" pitchFamily="18" charset="2"/>
              </a:rPr>
              <a:t>回路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 i="1" baseline="-25000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 i="1">
                <a:sym typeface="Symbol" panose="05050102010706020507" pitchFamily="18" charset="2"/>
              </a:rPr>
              <a:t>m</a:t>
            </a:r>
            <a:r>
              <a:rPr lang="en-US" altLang="zh-CN" sz="2400" i="1" baseline="-25000">
                <a:sym typeface="Symbol" panose="05050102010706020507" pitchFamily="18" charset="2"/>
              </a:rPr>
              <a:t>i</a:t>
            </a:r>
            <a:r>
              <a:rPr lang="zh-CN" altLang="en-US" sz="2400">
                <a:sym typeface="Symbol" panose="05050102010706020507" pitchFamily="18" charset="2"/>
              </a:rPr>
              <a:t>分别为</a:t>
            </a:r>
            <a:r>
              <a:rPr lang="en-US" altLang="zh-CN" sz="2400">
                <a:sym typeface="Symbol" panose="05050102010706020507" pitchFamily="18" charset="2"/>
              </a:rPr>
              <a:t>G</a:t>
            </a:r>
            <a:r>
              <a:rPr lang="en-US" altLang="zh-CN" sz="2400" i="1" baseline="-25000">
                <a:sym typeface="Symbol" panose="05050102010706020507" pitchFamily="18" charset="2"/>
              </a:rPr>
              <a:t>i</a:t>
            </a:r>
            <a:r>
              <a:rPr lang="zh-CN" altLang="en-US" sz="2400">
                <a:sym typeface="Symbol" panose="05050102010706020507" pitchFamily="18" charset="2"/>
              </a:rPr>
              <a:t>中的顶点数和边数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zh-CN" altLang="en-US" sz="2400">
                <a:sym typeface="Symbol" panose="05050102010706020507" pitchFamily="18" charset="2"/>
              </a:rPr>
              <a:t>则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 i="1" baseline="-25000">
                <a:sym typeface="Symbol" panose="05050102010706020507" pitchFamily="18" charset="2"/>
              </a:rPr>
              <a:t>i</a:t>
            </a:r>
            <a:r>
              <a:rPr lang="en-US" altLang="zh-CN" sz="2400" i="1"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</a:t>
            </a:r>
            <a:r>
              <a:rPr lang="en-US" altLang="zh-CN" sz="2400" i="1">
                <a:sym typeface="Symbol" panose="05050102010706020507" pitchFamily="18" charset="2"/>
              </a:rPr>
              <a:t>k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 i="1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Symbol" panose="05050102010706020507" pitchFamily="18" charset="2"/>
              </a:rPr>
              <a:t>=1,2.</a:t>
            </a:r>
            <a:endParaRPr lang="en-US" altLang="zh-CN" sz="2400"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>
                <a:sym typeface="Symbol" panose="05050102010706020507" pitchFamily="18" charset="2"/>
              </a:rPr>
              <a:t>由归纳假设知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 i="1">
                <a:sym typeface="Symbol" panose="05050102010706020507" pitchFamily="18" charset="2"/>
              </a:rPr>
              <a:t>m</a:t>
            </a:r>
            <a:r>
              <a:rPr lang="en-US" altLang="zh-CN" sz="2400" i="1" baseline="-25000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Symbol" panose="05050102010706020507" pitchFamily="18" charset="2"/>
              </a:rPr>
              <a:t>=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 i="1" baseline="-25000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Symbol" panose="05050102010706020507" pitchFamily="18" charset="2"/>
              </a:rPr>
              <a:t>-1,</a:t>
            </a:r>
            <a:endParaRPr lang="en-US" altLang="zh-CN" sz="2400">
              <a:sym typeface="Symbol" panose="05050102010706020507" pitchFamily="18" charset="2"/>
            </a:endParaRPr>
          </a:p>
          <a:p>
            <a:pPr marL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i="1">
                <a:sym typeface="Symbol" panose="05050102010706020507" pitchFamily="18" charset="2"/>
              </a:rPr>
              <a:t>m</a:t>
            </a:r>
            <a:r>
              <a:rPr lang="en-US" altLang="zh-CN" sz="2400">
                <a:sym typeface="Symbol" panose="05050102010706020507" pitchFamily="18" charset="2"/>
              </a:rPr>
              <a:t>=</a:t>
            </a:r>
            <a:r>
              <a:rPr lang="en-US" altLang="zh-CN" sz="2400" i="1">
                <a:sym typeface="Symbol" panose="05050102010706020507" pitchFamily="18" charset="2"/>
              </a:rPr>
              <a:t>m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+</a:t>
            </a:r>
            <a:r>
              <a:rPr lang="en-US" altLang="zh-CN" sz="2400" i="1">
                <a:sym typeface="Symbol" panose="05050102010706020507" pitchFamily="18" charset="2"/>
              </a:rPr>
              <a:t>m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+1=(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-1)+(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-1)+1=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+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ym typeface="Symbol" panose="05050102010706020507" pitchFamily="18" charset="2"/>
              </a:rPr>
              <a:t>+1-2=</a:t>
            </a:r>
            <a:r>
              <a:rPr lang="en-US" altLang="zh-CN" sz="2400" i="1">
                <a:sym typeface="Symbol" panose="05050102010706020507" pitchFamily="18" charset="2"/>
              </a:rPr>
              <a:t>n</a:t>
            </a:r>
            <a:r>
              <a:rPr lang="en-US" altLang="zh-CN" sz="2400">
                <a:sym typeface="Symbol" panose="05050102010706020507" pitchFamily="18" charset="2"/>
              </a:rPr>
              <a:t>-1</a:t>
            </a:r>
            <a:endParaRPr lang="zh-CN" altLang="en-US" sz="2400">
              <a:sym typeface="Symbol" panose="05050102010706020507" pitchFamily="18" charset="2"/>
            </a:endParaRPr>
          </a:p>
          <a:p>
            <a:pPr marL="0" algn="just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400"/>
          </a:p>
          <a:p>
            <a:pPr marL="0" algn="just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2400"/>
          </a:p>
        </p:txBody>
      </p:sp>
      <p:sp>
        <p:nvSpPr>
          <p:cNvPr id="102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en-US" altLang="zh-CN" sz="3200">
                <a:solidFill>
                  <a:schemeClr val="folHlink"/>
                </a:solidFill>
              </a:rPr>
              <a:t>(3) G</a:t>
            </a:r>
            <a:r>
              <a:rPr lang="zh-CN" altLang="en-US" sz="3200">
                <a:solidFill>
                  <a:schemeClr val="folHlink"/>
                </a:solidFill>
              </a:rPr>
              <a:t>中无圈且</a:t>
            </a:r>
            <a:r>
              <a:rPr lang="en-US" altLang="zh-CN" sz="3200" i="1">
                <a:solidFill>
                  <a:schemeClr val="folHlink"/>
                </a:solidFill>
              </a:rPr>
              <a:t>m</a:t>
            </a:r>
            <a:r>
              <a:rPr lang="en-US" altLang="zh-CN" sz="3200">
                <a:solidFill>
                  <a:schemeClr val="folHlink"/>
                </a:solidFill>
              </a:rPr>
              <a:t>=</a:t>
            </a:r>
            <a:r>
              <a:rPr lang="en-US" altLang="zh-CN" sz="3200" i="1">
                <a:solidFill>
                  <a:schemeClr val="folHlink"/>
                </a:solidFill>
              </a:rPr>
              <a:t>n</a:t>
            </a:r>
            <a:r>
              <a:rPr lang="en-US" altLang="zh-CN" sz="3200">
                <a:solidFill>
                  <a:schemeClr val="folHlink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3200">
                <a:solidFill>
                  <a:schemeClr val="folHlink"/>
                </a:solidFill>
              </a:rPr>
              <a:t>1</a:t>
            </a:r>
            <a:r>
              <a:rPr lang="en-US" altLang="zh-CN" sz="3200">
                <a:sym typeface="Symbol" panose="05050102010706020507" pitchFamily="18" charset="2"/>
              </a:rPr>
              <a:t></a:t>
            </a:r>
            <a:r>
              <a:rPr lang="en-US" altLang="zh-CN" sz="3200">
                <a:solidFill>
                  <a:schemeClr val="folHlink"/>
                </a:solidFill>
              </a:rPr>
              <a:t>(4) G</a:t>
            </a:r>
            <a:r>
              <a:rPr lang="zh-CN" altLang="en-US" sz="3200">
                <a:solidFill>
                  <a:schemeClr val="folHlink"/>
                </a:solidFill>
              </a:rPr>
              <a:t>连通且</a:t>
            </a:r>
            <a:r>
              <a:rPr lang="en-US" altLang="zh-CN" sz="3200" i="1">
                <a:solidFill>
                  <a:schemeClr val="folHlink"/>
                </a:solidFill>
              </a:rPr>
              <a:t>m</a:t>
            </a:r>
            <a:r>
              <a:rPr lang="en-US" altLang="zh-CN" sz="3200">
                <a:solidFill>
                  <a:schemeClr val="folHlink"/>
                </a:solidFill>
              </a:rPr>
              <a:t>=</a:t>
            </a:r>
            <a:r>
              <a:rPr lang="en-US" altLang="zh-CN" sz="3200" i="1">
                <a:solidFill>
                  <a:schemeClr val="folHlink"/>
                </a:solidFill>
              </a:rPr>
              <a:t>n</a:t>
            </a:r>
            <a:r>
              <a:rPr lang="en-US" altLang="zh-CN" sz="3200">
                <a:solidFill>
                  <a:schemeClr val="folHlink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3200">
                <a:solidFill>
                  <a:schemeClr val="folHlink"/>
                </a:solidFill>
              </a:rPr>
              <a:t>1</a:t>
            </a:r>
            <a:endParaRPr lang="zh-CN" altLang="en-US" sz="3200">
              <a:sym typeface="Symbol" panose="05050102010706020507" pitchFamily="18" charset="2"/>
            </a:endParaRPr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只需证明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连通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设</a:t>
            </a:r>
            <a:r>
              <a:rPr lang="en-US" altLang="zh-CN" sz="2600" i="1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有</a:t>
            </a:r>
            <a:r>
              <a:rPr lang="en-US" altLang="zh-CN" sz="2600" i="1">
                <a:sym typeface="Symbol" panose="05050102010706020507" pitchFamily="18" charset="2"/>
              </a:rPr>
              <a:t>s</a:t>
            </a:r>
            <a:r>
              <a:rPr lang="zh-CN" altLang="en-US" sz="2600">
                <a:sym typeface="Symbol" panose="05050102010706020507" pitchFamily="18" charset="2"/>
              </a:rPr>
              <a:t>个连通分支</a:t>
            </a:r>
            <a:r>
              <a:rPr lang="en-US" altLang="zh-CN" sz="2600" i="1">
                <a:sym typeface="Symbol" panose="05050102010706020507" pitchFamily="18" charset="2"/>
              </a:rPr>
              <a:t>G</a:t>
            </a:r>
            <a:r>
              <a:rPr lang="en-US" altLang="zh-CN" sz="2600" baseline="-25000">
                <a:sym typeface="Symbol" panose="05050102010706020507" pitchFamily="18" charset="2"/>
              </a:rPr>
              <a:t>1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G</a:t>
            </a:r>
            <a:r>
              <a:rPr lang="en-US" altLang="zh-CN" sz="2600" baseline="-25000">
                <a:sym typeface="Symbol" panose="05050102010706020507" pitchFamily="18" charset="2"/>
              </a:rPr>
              <a:t>2</a:t>
            </a:r>
            <a:r>
              <a:rPr lang="en-US" altLang="zh-CN" sz="2600">
                <a:sym typeface="Symbol" panose="05050102010706020507" pitchFamily="18" charset="2"/>
              </a:rPr>
              <a:t>,…, </a:t>
            </a:r>
            <a:r>
              <a:rPr lang="en-US" altLang="zh-CN" sz="2600" i="1">
                <a:sym typeface="Symbol" panose="05050102010706020507" pitchFamily="18" charset="2"/>
              </a:rPr>
              <a:t>G</a:t>
            </a:r>
            <a:r>
              <a:rPr lang="en-US" altLang="zh-CN" sz="2600" i="1" baseline="-25000">
                <a:sym typeface="Symbol" panose="05050102010706020507" pitchFamily="18" charset="2"/>
              </a:rPr>
              <a:t>s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显然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zh-CN" altLang="en-US" sz="2600">
                <a:sym typeface="Symbol" panose="05050102010706020507" pitchFamily="18" charset="2"/>
              </a:rPr>
              <a:t>中均无圈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即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zh-CN" altLang="en-US" sz="2600">
                <a:sym typeface="Symbol" panose="05050102010706020507" pitchFamily="18" charset="2"/>
              </a:rPr>
              <a:t>连通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无回路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所以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zh-CN" altLang="en-US" sz="2600">
                <a:sym typeface="Symbol" panose="05050102010706020507" pitchFamily="18" charset="2"/>
              </a:rPr>
              <a:t>都是树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由</a:t>
            </a:r>
            <a:r>
              <a:rPr lang="en-US" altLang="zh-CN" sz="2600">
                <a:sym typeface="Symbol" panose="05050102010706020507" pitchFamily="18" charset="2"/>
              </a:rPr>
              <a:t>(1)(2)(3)</a:t>
            </a:r>
            <a:r>
              <a:rPr lang="zh-CN" altLang="en-US" sz="2600">
                <a:sym typeface="Symbol" panose="05050102010706020507" pitchFamily="18" charset="2"/>
              </a:rPr>
              <a:t>知</a:t>
            </a:r>
            <a:r>
              <a:rPr lang="en-US" altLang="zh-CN" sz="2600" i="1">
                <a:sym typeface="Symbol" panose="05050102010706020507" pitchFamily="18" charset="2"/>
              </a:rPr>
              <a:t>m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en-US" altLang="zh-CN" sz="2600">
                <a:sym typeface="Symbol" panose="05050102010706020507" pitchFamily="18" charset="2"/>
              </a:rPr>
              <a:t>=</a:t>
            </a:r>
            <a:r>
              <a:rPr lang="en-US" altLang="zh-CN" sz="2600" i="1">
                <a:sym typeface="Symbol" panose="05050102010706020507" pitchFamily="18" charset="2"/>
              </a:rPr>
              <a:t>n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en-US" altLang="zh-CN" sz="2600">
                <a:sym typeface="Symbol" panose="05050102010706020507" pitchFamily="18" charset="2"/>
              </a:rPr>
              <a:t>-1,</a:t>
            </a:r>
            <a:r>
              <a:rPr lang="zh-CN" altLang="en-US" sz="2600">
                <a:sym typeface="Symbol" panose="05050102010706020507" pitchFamily="18" charset="2"/>
              </a:rPr>
              <a:t>其中</a:t>
            </a:r>
            <a:r>
              <a:rPr lang="en-US" altLang="zh-CN" sz="2600" i="1">
                <a:sym typeface="Symbol" panose="05050102010706020507" pitchFamily="18" charset="2"/>
              </a:rPr>
              <a:t>m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n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endParaRPr lang="en-US" altLang="zh-CN" sz="2600" i="1" baseline="-250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分别为</a:t>
            </a:r>
            <a:r>
              <a:rPr lang="en-US" altLang="zh-CN" sz="2600" i="1">
                <a:sym typeface="Symbol" panose="05050102010706020507" pitchFamily="18" charset="2"/>
              </a:rPr>
              <a:t>G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zh-CN" altLang="en-US" sz="2600">
                <a:sym typeface="Symbol" panose="05050102010706020507" pitchFamily="18" charset="2"/>
              </a:rPr>
              <a:t>的顶点数和边数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因此</a:t>
            </a:r>
            <a:endParaRPr lang="zh-CN" altLang="en-US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     </a:t>
            </a:r>
            <a:r>
              <a:rPr lang="en-US" altLang="zh-CN" sz="2600" i="1">
                <a:sym typeface="Symbol" panose="05050102010706020507" pitchFamily="18" charset="2"/>
              </a:rPr>
              <a:t>m</a:t>
            </a:r>
            <a:r>
              <a:rPr lang="en-US" altLang="zh-CN" sz="2600">
                <a:sym typeface="Symbol" panose="05050102010706020507" pitchFamily="18" charset="2"/>
              </a:rPr>
              <a:t>=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en-US" altLang="zh-CN" sz="2600" baseline="-25000">
                <a:sym typeface="Symbol" panose="05050102010706020507" pitchFamily="18" charset="2"/>
              </a:rPr>
              <a:t>=1</a:t>
            </a:r>
            <a:r>
              <a:rPr lang="en-US" altLang="zh-CN" sz="2600" i="1" baseline="30000">
                <a:sym typeface="Symbol" panose="05050102010706020507" pitchFamily="18" charset="2"/>
              </a:rPr>
              <a:t>s</a:t>
            </a:r>
            <a:r>
              <a:rPr lang="en-US" altLang="zh-CN" sz="2600" i="1">
                <a:sym typeface="Symbol" panose="05050102010706020507" pitchFamily="18" charset="2"/>
              </a:rPr>
              <a:t>m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en-US" altLang="zh-CN" sz="2600">
                <a:sym typeface="Symbol" panose="05050102010706020507" pitchFamily="18" charset="2"/>
              </a:rPr>
              <a:t>=(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en-US" altLang="zh-CN" sz="2600" baseline="-25000">
                <a:sym typeface="Symbol" panose="05050102010706020507" pitchFamily="18" charset="2"/>
              </a:rPr>
              <a:t>=1</a:t>
            </a:r>
            <a:r>
              <a:rPr lang="en-US" altLang="zh-CN" sz="2600" baseline="30000">
                <a:sym typeface="Symbol" panose="05050102010706020507" pitchFamily="18" charset="2"/>
              </a:rPr>
              <a:t>s</a:t>
            </a:r>
            <a:r>
              <a:rPr lang="en-US" altLang="zh-CN" sz="2600" i="1">
                <a:sym typeface="Symbol" panose="05050102010706020507" pitchFamily="18" charset="2"/>
              </a:rPr>
              <a:t>n</a:t>
            </a:r>
            <a:r>
              <a:rPr lang="en-US" altLang="zh-CN" sz="2600" i="1" baseline="-25000">
                <a:sym typeface="Symbol" panose="05050102010706020507" pitchFamily="18" charset="2"/>
              </a:rPr>
              <a:t>i</a:t>
            </a:r>
            <a:r>
              <a:rPr lang="en-US" altLang="zh-CN" sz="2600">
                <a:sym typeface="Symbol" panose="05050102010706020507" pitchFamily="18" charset="2"/>
              </a:rPr>
              <a:t>)</a:t>
            </a:r>
            <a:r>
              <a:rPr lang="en-US" altLang="zh-CN" sz="2600" i="1">
                <a:sym typeface="Symbol" panose="05050102010706020507" pitchFamily="18" charset="2"/>
              </a:rPr>
              <a:t>-s</a:t>
            </a:r>
            <a:r>
              <a:rPr lang="en-US" altLang="zh-CN" sz="2600">
                <a:sym typeface="Symbol" panose="05050102010706020507" pitchFamily="18" charset="2"/>
              </a:rPr>
              <a:t>=</a:t>
            </a:r>
            <a:r>
              <a:rPr lang="en-US" altLang="zh-CN" sz="2600" i="1">
                <a:sym typeface="Symbol" panose="05050102010706020507" pitchFamily="18" charset="2"/>
              </a:rPr>
              <a:t>n</a:t>
            </a:r>
            <a:r>
              <a:rPr lang="en-US" altLang="zh-CN" sz="2600">
                <a:sym typeface="Symbol" panose="05050102010706020507" pitchFamily="18" charset="2"/>
              </a:rPr>
              <a:t>-s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>
                <a:sym typeface="Symbol" panose="05050102010706020507" pitchFamily="18" charset="2"/>
              </a:rPr>
              <a:t> </a:t>
            </a:r>
            <a:r>
              <a:rPr lang="zh-CN" altLang="en-US" sz="2600">
                <a:sym typeface="Symbol" panose="05050102010706020507" pitchFamily="18" charset="2"/>
              </a:rPr>
              <a:t>又</a:t>
            </a:r>
            <a:r>
              <a:rPr lang="en-US" altLang="zh-CN" sz="2600" i="1">
                <a:sym typeface="Symbol" panose="05050102010706020507" pitchFamily="18" charset="2"/>
              </a:rPr>
              <a:t>m</a:t>
            </a:r>
            <a:r>
              <a:rPr lang="en-US" altLang="zh-CN" sz="2600">
                <a:sym typeface="Symbol" panose="05050102010706020507" pitchFamily="18" charset="2"/>
              </a:rPr>
              <a:t>=</a:t>
            </a:r>
            <a:r>
              <a:rPr lang="en-US" altLang="zh-CN" sz="2600" i="1">
                <a:sym typeface="Symbol" panose="05050102010706020507" pitchFamily="18" charset="2"/>
              </a:rPr>
              <a:t>n</a:t>
            </a:r>
            <a:r>
              <a:rPr lang="en-US" altLang="zh-CN" sz="2600">
                <a:sym typeface="Symbol" panose="05050102010706020507" pitchFamily="18" charset="2"/>
              </a:rPr>
              <a:t>-1,</a:t>
            </a:r>
            <a:r>
              <a:rPr lang="zh-CN" altLang="en-US" sz="2600">
                <a:sym typeface="Symbol" panose="05050102010706020507" pitchFamily="18" charset="2"/>
              </a:rPr>
              <a:t>故</a:t>
            </a:r>
            <a:r>
              <a:rPr lang="en-US" altLang="zh-CN" sz="2600" i="1">
                <a:sym typeface="Symbol" panose="05050102010706020507" pitchFamily="18" charset="2"/>
              </a:rPr>
              <a:t>s</a:t>
            </a:r>
            <a:r>
              <a:rPr lang="en-US" altLang="zh-CN" sz="2600">
                <a:sym typeface="Symbol" panose="05050102010706020507" pitchFamily="18" charset="2"/>
              </a:rPr>
              <a:t>=1,</a:t>
            </a:r>
            <a:r>
              <a:rPr lang="zh-CN" altLang="en-US" sz="2600">
                <a:sym typeface="Symbol" panose="05050102010706020507" pitchFamily="18" charset="2"/>
              </a:rPr>
              <a:t>即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是连通的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</p:txBody>
      </p:sp>
      <p:sp>
        <p:nvSpPr>
          <p:cNvPr id="1126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en-US" altLang="zh-CN" sz="3200">
                <a:solidFill>
                  <a:schemeClr val="folHlink"/>
                </a:solidFill>
              </a:rPr>
              <a:t>(4) G</a:t>
            </a:r>
            <a:r>
              <a:rPr lang="zh-CN" altLang="en-US" sz="3200">
                <a:solidFill>
                  <a:schemeClr val="folHlink"/>
                </a:solidFill>
              </a:rPr>
              <a:t>连通且</a:t>
            </a:r>
            <a:r>
              <a:rPr lang="en-US" altLang="zh-CN" sz="3200" i="1">
                <a:solidFill>
                  <a:schemeClr val="folHlink"/>
                </a:solidFill>
              </a:rPr>
              <a:t>m</a:t>
            </a:r>
            <a:r>
              <a:rPr lang="en-US" altLang="zh-CN" sz="3200">
                <a:solidFill>
                  <a:schemeClr val="folHlink"/>
                </a:solidFill>
              </a:rPr>
              <a:t>=</a:t>
            </a:r>
            <a:r>
              <a:rPr lang="en-US" altLang="zh-CN" sz="3200" i="1">
                <a:solidFill>
                  <a:schemeClr val="folHlink"/>
                </a:solidFill>
              </a:rPr>
              <a:t>n</a:t>
            </a:r>
            <a:r>
              <a:rPr lang="en-US" altLang="zh-CN" sz="3200">
                <a:solidFill>
                  <a:schemeClr val="folHlink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3200">
                <a:solidFill>
                  <a:schemeClr val="folHlink"/>
                </a:solidFill>
              </a:rPr>
              <a:t>1</a:t>
            </a:r>
            <a:br>
              <a:rPr lang="en-US" altLang="zh-CN" sz="3200">
                <a:solidFill>
                  <a:schemeClr val="folHlink"/>
                </a:solidFill>
              </a:rPr>
            </a:br>
            <a:r>
              <a:rPr lang="en-US" altLang="zh-CN" sz="3200">
                <a:sym typeface="Symbol" panose="05050102010706020507" pitchFamily="18" charset="2"/>
              </a:rPr>
              <a:t></a:t>
            </a:r>
            <a:r>
              <a:rPr lang="en-US" altLang="zh-CN" sz="3200">
                <a:solidFill>
                  <a:schemeClr val="folHlink"/>
                </a:solidFill>
              </a:rPr>
              <a:t>(5) G</a:t>
            </a:r>
            <a:r>
              <a:rPr lang="zh-CN" altLang="en-US" sz="3200">
                <a:solidFill>
                  <a:schemeClr val="folHlink"/>
                </a:solidFill>
              </a:rPr>
              <a:t>连通且每条边均为桥</a:t>
            </a:r>
            <a:endParaRPr lang="zh-CN" altLang="en-US" sz="3200">
              <a:sym typeface="Symbol" panose="05050102010706020507" pitchFamily="18" charset="2"/>
            </a:endParaRPr>
          </a:p>
        </p:txBody>
      </p:sp>
      <p:sp>
        <p:nvSpPr>
          <p:cNvPr id="1229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只需证明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中的每边均为桥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>
                <a:sym typeface="Symbol" panose="05050102010706020507" pitchFamily="18" charset="2"/>
              </a:rPr>
              <a:t></a:t>
            </a:r>
            <a:r>
              <a:rPr lang="en-US" altLang="zh-CN" sz="2600" i="1">
                <a:sym typeface="Symbol" panose="05050102010706020507" pitchFamily="18" charset="2"/>
              </a:rPr>
              <a:t>e</a:t>
            </a:r>
            <a:r>
              <a:rPr lang="en-US" altLang="zh-CN" sz="2600">
                <a:sym typeface="Symbol" panose="05050102010706020507" pitchFamily="18" charset="2"/>
              </a:rPr>
              <a:t></a:t>
            </a:r>
            <a:r>
              <a:rPr lang="en-US" altLang="zh-CN" sz="2600" i="1">
                <a:sym typeface="Symbol" panose="05050102010706020507" pitchFamily="18" charset="2"/>
              </a:rPr>
              <a:t>E</a:t>
            </a:r>
            <a:r>
              <a:rPr lang="en-US" altLang="zh-CN" sz="2600">
                <a:sym typeface="Symbol" panose="05050102010706020507" pitchFamily="18" charset="2"/>
              </a:rPr>
              <a:t>(</a:t>
            </a:r>
            <a:r>
              <a:rPr lang="en-US" altLang="zh-CN" sz="2600" i="1">
                <a:sym typeface="Symbol" panose="05050102010706020507" pitchFamily="18" charset="2"/>
              </a:rPr>
              <a:t>G</a:t>
            </a:r>
            <a:r>
              <a:rPr lang="en-US" altLang="zh-CN" sz="2600">
                <a:sym typeface="Symbol" panose="05050102010706020507" pitchFamily="18" charset="2"/>
              </a:rPr>
              <a:t>), |</a:t>
            </a:r>
            <a:r>
              <a:rPr lang="en-US" altLang="zh-CN" sz="2600" i="1">
                <a:sym typeface="Symbol" panose="05050102010706020507" pitchFamily="18" charset="2"/>
              </a:rPr>
              <a:t>E</a:t>
            </a:r>
            <a:r>
              <a:rPr lang="en-US" altLang="zh-CN" sz="2600">
                <a:sym typeface="Symbol" panose="05050102010706020507" pitchFamily="18" charset="2"/>
              </a:rPr>
              <a:t>(</a:t>
            </a:r>
            <a:r>
              <a:rPr lang="en-US" altLang="zh-CN" sz="2600" i="1">
                <a:sym typeface="Symbol" panose="05050102010706020507" pitchFamily="18" charset="2"/>
              </a:rPr>
              <a:t>G</a:t>
            </a:r>
            <a:r>
              <a:rPr lang="en-US" altLang="zh-CN" sz="2600">
                <a:sym typeface="Symbol" panose="05050102010706020507" pitchFamily="18" charset="2"/>
              </a:rPr>
              <a:t>-</a:t>
            </a:r>
            <a:r>
              <a:rPr lang="en-US" altLang="zh-CN" sz="2600" i="1">
                <a:sym typeface="Symbol" panose="05050102010706020507" pitchFamily="18" charset="2"/>
              </a:rPr>
              <a:t>e</a:t>
            </a:r>
            <a:r>
              <a:rPr lang="en-US" altLang="zh-CN" sz="2600">
                <a:sym typeface="Symbol" panose="05050102010706020507" pitchFamily="18" charset="2"/>
              </a:rPr>
              <a:t>)|=</a:t>
            </a:r>
            <a:r>
              <a:rPr lang="en-US" altLang="zh-CN" sz="2600" i="1">
                <a:sym typeface="Symbol" panose="05050102010706020507" pitchFamily="18" charset="2"/>
              </a:rPr>
              <a:t>n</a:t>
            </a:r>
            <a:r>
              <a:rPr lang="en-US" altLang="zh-CN" sz="2600">
                <a:sym typeface="Symbol" panose="05050102010706020507" pitchFamily="18" charset="2"/>
              </a:rPr>
              <a:t>-2&lt;</a:t>
            </a:r>
            <a:r>
              <a:rPr lang="en-US" altLang="zh-CN" sz="2600" i="1">
                <a:sym typeface="Symbol" panose="05050102010706020507" pitchFamily="18" charset="2"/>
              </a:rPr>
              <a:t>n</a:t>
            </a:r>
            <a:r>
              <a:rPr lang="en-US" altLang="zh-CN" sz="2600">
                <a:sym typeface="Symbol" panose="05050102010706020507" pitchFamily="18" charset="2"/>
              </a:rPr>
              <a:t>-1,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由定理</a:t>
            </a:r>
            <a:r>
              <a:rPr lang="en-US" altLang="zh-CN" sz="2600">
                <a:sym typeface="Symbol" panose="05050102010706020507" pitchFamily="18" charset="2"/>
              </a:rPr>
              <a:t>7.9</a:t>
            </a:r>
            <a:r>
              <a:rPr lang="zh-CN" altLang="en-US" sz="2600">
                <a:sym typeface="Symbol" panose="05050102010706020507" pitchFamily="18" charset="2"/>
              </a:rPr>
              <a:t>知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连通图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的边数至少为</a:t>
            </a:r>
            <a:r>
              <a:rPr lang="en-US" altLang="zh-CN" sz="2600" i="1">
                <a:sym typeface="Symbol" panose="05050102010706020507" pitchFamily="18" charset="2"/>
              </a:rPr>
              <a:t>n</a:t>
            </a:r>
            <a:r>
              <a:rPr lang="en-US" altLang="zh-CN" sz="2600">
                <a:sym typeface="Symbol" panose="05050102010706020507" pitchFamily="18" charset="2"/>
              </a:rPr>
              <a:t>-1,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所以</a:t>
            </a:r>
            <a:r>
              <a:rPr lang="en-US" altLang="zh-CN" sz="2600" i="1">
                <a:sym typeface="Symbol" panose="05050102010706020507" pitchFamily="18" charset="2"/>
              </a:rPr>
              <a:t>G</a:t>
            </a:r>
            <a:r>
              <a:rPr lang="en-US" altLang="zh-CN" sz="2600">
                <a:sym typeface="Symbol" panose="05050102010706020507" pitchFamily="18" charset="2"/>
              </a:rPr>
              <a:t>-</a:t>
            </a:r>
            <a:r>
              <a:rPr lang="en-US" altLang="zh-CN" sz="2600" i="1">
                <a:sym typeface="Symbol" panose="05050102010706020507" pitchFamily="18" charset="2"/>
              </a:rPr>
              <a:t>e</a:t>
            </a:r>
            <a:r>
              <a:rPr lang="zh-CN" altLang="en-US" sz="2600">
                <a:sym typeface="Symbol" panose="05050102010706020507" pitchFamily="18" charset="2"/>
              </a:rPr>
              <a:t>是非连通的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故</a:t>
            </a:r>
            <a:r>
              <a:rPr lang="en-US" altLang="zh-CN" sz="2600" i="1">
                <a:sym typeface="Symbol" panose="05050102010706020507" pitchFamily="18" charset="2"/>
              </a:rPr>
              <a:t>e</a:t>
            </a:r>
            <a:r>
              <a:rPr lang="zh-CN" altLang="en-US" sz="2600">
                <a:sym typeface="Symbol" panose="05050102010706020507" pitchFamily="18" charset="2"/>
              </a:rPr>
              <a:t>为桥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</p:txBody>
      </p:sp>
      <p:sp>
        <p:nvSpPr>
          <p:cNvPr id="122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993062" cy="1055688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en-US" altLang="zh-CN" sz="2800">
                <a:solidFill>
                  <a:schemeClr val="folHlink"/>
                </a:solidFill>
              </a:rPr>
              <a:t>(5) G</a:t>
            </a:r>
            <a:r>
              <a:rPr lang="zh-CN" altLang="en-US" sz="2800">
                <a:solidFill>
                  <a:schemeClr val="folHlink"/>
                </a:solidFill>
              </a:rPr>
              <a:t>连通且每条边均为桥</a:t>
            </a:r>
            <a:r>
              <a:rPr lang="en-US" altLang="zh-CN" sz="2800">
                <a:sym typeface="Symbol" panose="05050102010706020507" pitchFamily="18" charset="2"/>
              </a:rPr>
              <a:t></a:t>
            </a:r>
            <a:r>
              <a:rPr lang="en-US" altLang="zh-CN" sz="2800">
                <a:solidFill>
                  <a:schemeClr val="folHlink"/>
                </a:solidFill>
              </a:rPr>
              <a:t>(6) </a:t>
            </a:r>
            <a:r>
              <a:rPr lang="en-US" altLang="zh-CN" sz="2800" i="1">
                <a:solidFill>
                  <a:schemeClr val="folHlink"/>
                </a:solidFill>
              </a:rPr>
              <a:t>G</a:t>
            </a:r>
            <a:r>
              <a:rPr lang="zh-CN" altLang="en-US" sz="2800">
                <a:solidFill>
                  <a:schemeClr val="folHlink"/>
                </a:solidFill>
              </a:rPr>
              <a:t>无圈</a:t>
            </a:r>
            <a:r>
              <a:rPr lang="en-US" altLang="zh-CN" sz="2800">
                <a:solidFill>
                  <a:schemeClr val="folHlink"/>
                </a:solidFill>
              </a:rPr>
              <a:t>,</a:t>
            </a:r>
            <a:r>
              <a:rPr lang="zh-CN" altLang="en-US" sz="2800">
                <a:solidFill>
                  <a:schemeClr val="folHlink"/>
                </a:solidFill>
              </a:rPr>
              <a:t>但在任二不同顶点之间增加新边</a:t>
            </a:r>
            <a:r>
              <a:rPr lang="en-US" altLang="zh-CN" sz="2800">
                <a:solidFill>
                  <a:schemeClr val="folHlink"/>
                </a:solidFill>
              </a:rPr>
              <a:t>,</a:t>
            </a:r>
            <a:r>
              <a:rPr lang="zh-CN" altLang="en-US" sz="2800">
                <a:solidFill>
                  <a:schemeClr val="folHlink"/>
                </a:solidFill>
              </a:rPr>
              <a:t>所得图含唯一的一个圈</a:t>
            </a:r>
            <a:endParaRPr lang="zh-CN" altLang="en-US" sz="2800">
              <a:sym typeface="Symbol" panose="05050102010706020507" pitchFamily="18" charset="2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323850" y="1341438"/>
            <a:ext cx="8496300" cy="3527425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由于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的每边均为桥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所以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中不含有圈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又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连通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故</a:t>
            </a:r>
            <a:r>
              <a:rPr lang="en-US" altLang="zh-CN" sz="2600">
                <a:sym typeface="Symbol" panose="05050102010706020507" pitchFamily="18" charset="2"/>
              </a:rPr>
              <a:t>G</a:t>
            </a:r>
            <a:r>
              <a:rPr lang="zh-CN" altLang="en-US" sz="2600">
                <a:sym typeface="Symbol" panose="05050102010706020507" pitchFamily="18" charset="2"/>
              </a:rPr>
              <a:t>是树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由</a:t>
            </a:r>
            <a:r>
              <a:rPr lang="en-US" altLang="zh-CN" sz="2600">
                <a:sym typeface="Symbol" panose="05050102010706020507" pitchFamily="18" charset="2"/>
              </a:rPr>
              <a:t>(1)(2)</a:t>
            </a:r>
            <a:r>
              <a:rPr lang="zh-CN" altLang="en-US" sz="2600">
                <a:sym typeface="Symbol" panose="05050102010706020507" pitchFamily="18" charset="2"/>
              </a:rPr>
              <a:t>知</a:t>
            </a:r>
            <a:r>
              <a:rPr lang="en-US" altLang="zh-CN" sz="2600">
                <a:sym typeface="Symbol" panose="05050102010706020507" pitchFamily="18" charset="2"/>
              </a:rPr>
              <a:t>,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V(G),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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则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zh-CN" altLang="en-US" sz="2600">
                <a:sym typeface="Symbol" panose="05050102010706020507" pitchFamily="18" charset="2"/>
              </a:rPr>
              <a:t>之间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存在唯一的路径</a:t>
            </a:r>
            <a:r>
              <a:rPr lang="en-US" altLang="zh-CN" sz="2600">
                <a:sym typeface="Symbol" panose="05050102010706020507" pitchFamily="18" charset="2"/>
              </a:rPr>
              <a:t>P(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),</a:t>
            </a:r>
            <a:r>
              <a:rPr lang="zh-CN" altLang="en-US" sz="2600">
                <a:sym typeface="Symbol" panose="05050102010706020507" pitchFamily="18" charset="2"/>
              </a:rPr>
              <a:t>那么</a:t>
            </a:r>
            <a:r>
              <a:rPr lang="en-US" altLang="zh-CN" sz="2600">
                <a:sym typeface="Symbol" panose="05050102010706020507" pitchFamily="18" charset="2"/>
              </a:rPr>
              <a:t>P(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)(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)</a:t>
            </a:r>
            <a:r>
              <a:rPr lang="zh-CN" altLang="en-US" sz="2600">
                <a:sym typeface="Symbol" panose="05050102010706020507" pitchFamily="18" charset="2"/>
              </a:rPr>
              <a:t>是图</a:t>
            </a:r>
            <a:r>
              <a:rPr lang="en-US" altLang="zh-CN" sz="2600">
                <a:sym typeface="Symbol" panose="05050102010706020507" pitchFamily="18" charset="2"/>
              </a:rPr>
              <a:t>G(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)</a:t>
            </a:r>
            <a:r>
              <a:rPr lang="zh-CN" altLang="en-US" sz="2600">
                <a:sym typeface="Symbol" panose="05050102010706020507" pitchFamily="18" charset="2"/>
              </a:rPr>
              <a:t>中的</a:t>
            </a:r>
            <a:endParaRPr lang="en-US" altLang="zh-CN" sz="2600">
              <a:sym typeface="Symbol" panose="05050102010706020507" pitchFamily="18" charset="2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唯一的圈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定理</a:t>
            </a:r>
            <a:r>
              <a:rPr lang="en-US" altLang="zh-CN"/>
              <a:t>9.1</a:t>
            </a:r>
            <a:r>
              <a:rPr lang="zh-CN" altLang="en-US">
                <a:sym typeface="Symbol" panose="05050102010706020507" pitchFamily="18" charset="2"/>
              </a:rPr>
              <a:t>的证明</a:t>
            </a:r>
            <a:r>
              <a:rPr lang="en-US" altLang="zh-CN">
                <a:sym typeface="Symbol" panose="05050102010706020507" pitchFamily="18" charset="2"/>
              </a:rPr>
              <a:t>(</a:t>
            </a:r>
            <a:r>
              <a:rPr lang="en-US" altLang="zh-CN"/>
              <a:t>(6)</a:t>
            </a:r>
            <a:r>
              <a:rPr lang="en-US" altLang="zh-CN">
                <a:sym typeface="Symbol" panose="05050102010706020507" pitchFamily="18" charset="2"/>
              </a:rPr>
              <a:t>(1))</a:t>
            </a:r>
            <a:endParaRPr lang="zh-CN" altLang="en-US">
              <a:sym typeface="Symbol" panose="05050102010706020507" pitchFamily="18" charset="2"/>
            </a:endParaRPr>
          </a:p>
        </p:txBody>
      </p:sp>
      <p:sp>
        <p:nvSpPr>
          <p:cNvPr id="1433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>
                <a:solidFill>
                  <a:schemeClr val="folHlink"/>
                </a:solidFill>
              </a:rPr>
              <a:t>(6) </a:t>
            </a:r>
            <a:r>
              <a:rPr lang="en-US" altLang="zh-CN" sz="2400" i="1">
                <a:solidFill>
                  <a:schemeClr val="folHlink"/>
                </a:solidFill>
              </a:rPr>
              <a:t>G</a:t>
            </a:r>
            <a:r>
              <a:rPr lang="zh-CN" altLang="en-US" sz="2400">
                <a:solidFill>
                  <a:schemeClr val="folHlink"/>
                </a:solidFill>
              </a:rPr>
              <a:t>无圈</a:t>
            </a:r>
            <a:r>
              <a:rPr lang="en-US" altLang="zh-CN" sz="2400">
                <a:solidFill>
                  <a:schemeClr val="folHlink"/>
                </a:solidFill>
              </a:rPr>
              <a:t>,</a:t>
            </a:r>
            <a:r>
              <a:rPr lang="zh-CN" altLang="en-US" sz="2400">
                <a:solidFill>
                  <a:schemeClr val="folHlink"/>
                </a:solidFill>
              </a:rPr>
              <a:t>但在任二不同顶点之间增加新边</a:t>
            </a:r>
            <a:r>
              <a:rPr lang="en-US" altLang="zh-CN" sz="2400">
                <a:solidFill>
                  <a:schemeClr val="folHlink"/>
                </a:solidFill>
              </a:rPr>
              <a:t>,</a:t>
            </a:r>
            <a:r>
              <a:rPr lang="zh-CN" altLang="en-US" sz="2400">
                <a:solidFill>
                  <a:schemeClr val="folHlink"/>
                </a:solidFill>
              </a:rPr>
              <a:t>所得图含唯一的一个圈</a:t>
            </a:r>
            <a:r>
              <a:rPr lang="en-US" altLang="zh-CN" sz="2400">
                <a:solidFill>
                  <a:schemeClr val="folHlink"/>
                </a:solidFill>
              </a:rPr>
              <a:t>;</a:t>
            </a:r>
            <a:endParaRPr lang="en-US" altLang="zh-CN" sz="2400">
              <a:solidFill>
                <a:schemeClr val="folHlink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>
                <a:solidFill>
                  <a:schemeClr val="folHlink"/>
                </a:solidFill>
              </a:rPr>
              <a:t>(1) G</a:t>
            </a:r>
            <a:r>
              <a:rPr lang="zh-CN" altLang="en-US" sz="2400">
                <a:solidFill>
                  <a:schemeClr val="folHlink"/>
                </a:solidFill>
              </a:rPr>
              <a:t>是树</a:t>
            </a:r>
            <a:r>
              <a:rPr lang="en-US" altLang="zh-CN" sz="2400">
                <a:solidFill>
                  <a:schemeClr val="folHlink"/>
                </a:solidFill>
              </a:rPr>
              <a:t>(</a:t>
            </a:r>
            <a:r>
              <a:rPr lang="zh-CN" altLang="en-US" sz="2400">
                <a:solidFill>
                  <a:schemeClr val="folHlink"/>
                </a:solidFill>
              </a:rPr>
              <a:t>连通无回路</a:t>
            </a:r>
            <a:r>
              <a:rPr lang="en-US" altLang="zh-CN" sz="2400">
                <a:solidFill>
                  <a:schemeClr val="folHlink"/>
                </a:solidFill>
              </a:rPr>
              <a:t>);</a:t>
            </a:r>
            <a:endParaRPr lang="en-US" altLang="zh-CN" sz="26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olidFill>
                  <a:schemeClr val="hlink"/>
                </a:solidFill>
                <a:sym typeface="Symbol" panose="05050102010706020507" pitchFamily="18" charset="2"/>
              </a:rPr>
              <a:t>只需证明</a:t>
            </a:r>
            <a:r>
              <a:rPr lang="en-US" altLang="zh-CN" sz="2600">
                <a:solidFill>
                  <a:schemeClr val="hlink"/>
                </a:solidFill>
                <a:sym typeface="Symbol" panose="05050102010706020507" pitchFamily="18" charset="2"/>
              </a:rPr>
              <a:t>G</a:t>
            </a:r>
            <a:r>
              <a:rPr lang="zh-CN" altLang="en-US" sz="2600">
                <a:solidFill>
                  <a:schemeClr val="hlink"/>
                </a:solidFill>
                <a:sym typeface="Symbol" panose="05050102010706020507" pitchFamily="18" charset="2"/>
              </a:rPr>
              <a:t>是连通的</a:t>
            </a:r>
            <a:r>
              <a:rPr lang="en-US" altLang="zh-CN" sz="2600">
                <a:solidFill>
                  <a:schemeClr val="hlink"/>
                </a:solidFill>
                <a:sym typeface="Symbol" panose="05050102010706020507" pitchFamily="18" charset="2"/>
              </a:rPr>
              <a:t>.</a:t>
            </a:r>
            <a:endParaRPr lang="en-US" altLang="zh-CN" sz="260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600">
                <a:sym typeface="Symbol" panose="05050102010706020507" pitchFamily="18" charset="2"/>
              </a:rPr>
              <a:t>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V(G),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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, G (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)</a:t>
            </a:r>
            <a:r>
              <a:rPr lang="zh-CN" altLang="en-US" sz="2600">
                <a:sym typeface="Symbol" panose="05050102010706020507" pitchFamily="18" charset="2"/>
              </a:rPr>
              <a:t>中有唯一的圈</a:t>
            </a:r>
            <a:r>
              <a:rPr lang="en-US" altLang="zh-CN" sz="2600">
                <a:sym typeface="Symbol" panose="05050102010706020507" pitchFamily="18" charset="2"/>
              </a:rPr>
              <a:t>C,</a:t>
            </a:r>
            <a:r>
              <a:rPr lang="zh-CN" altLang="en-US" sz="2600">
                <a:sym typeface="Symbol" panose="05050102010706020507" pitchFamily="18" charset="2"/>
              </a:rPr>
              <a:t>则</a:t>
            </a:r>
            <a:r>
              <a:rPr lang="en-US" altLang="zh-CN" sz="2600">
                <a:sym typeface="Symbol" panose="05050102010706020507" pitchFamily="18" charset="2"/>
              </a:rPr>
              <a:t>C-(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en-US" altLang="zh-CN" sz="2600">
                <a:sym typeface="Symbol" panose="05050102010706020507" pitchFamily="18" charset="2"/>
              </a:rPr>
              <a:t>)</a:t>
            </a:r>
            <a:r>
              <a:rPr lang="zh-CN" altLang="en-US" sz="2600">
                <a:sym typeface="Symbol" panose="05050102010706020507" pitchFamily="18" charset="2"/>
              </a:rPr>
              <a:t>是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zh-CN" altLang="en-US" sz="2600">
                <a:sym typeface="Symbol" panose="05050102010706020507" pitchFamily="18" charset="2"/>
              </a:rPr>
              <a:t>到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endParaRPr lang="en-US" altLang="zh-CN" sz="2600" i="1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600">
                <a:sym typeface="Symbol" panose="05050102010706020507" pitchFamily="18" charset="2"/>
              </a:rPr>
              <a:t>的通路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所以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zh-CN" altLang="en-US" sz="2600">
                <a:sym typeface="Symbol" panose="05050102010706020507" pitchFamily="18" charset="2"/>
              </a:rPr>
              <a:t>连通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zh-CN" altLang="en-US" sz="2600">
                <a:sym typeface="Symbol" panose="05050102010706020507" pitchFamily="18" charset="2"/>
              </a:rPr>
              <a:t>由</a:t>
            </a:r>
            <a:r>
              <a:rPr lang="en-US" altLang="zh-CN" sz="2600" i="1">
                <a:sym typeface="Symbol" panose="05050102010706020507" pitchFamily="18" charset="2"/>
              </a:rPr>
              <a:t>u</a:t>
            </a:r>
            <a:r>
              <a:rPr lang="en-US" altLang="zh-CN" sz="2600">
                <a:sym typeface="Symbol" panose="05050102010706020507" pitchFamily="18" charset="2"/>
              </a:rPr>
              <a:t>,</a:t>
            </a:r>
            <a:r>
              <a:rPr lang="en-US" altLang="zh-CN" sz="2600" i="1">
                <a:sym typeface="Symbol" panose="05050102010706020507" pitchFamily="18" charset="2"/>
              </a:rPr>
              <a:t>v</a:t>
            </a:r>
            <a:r>
              <a:rPr lang="zh-CN" altLang="en-US" sz="2600">
                <a:sym typeface="Symbol" panose="05050102010706020507" pitchFamily="18" charset="2"/>
              </a:rPr>
              <a:t>的任意性知</a:t>
            </a:r>
            <a:r>
              <a:rPr lang="en-US" altLang="zh-CN" sz="2600">
                <a:sym typeface="Symbol" panose="05050102010706020507" pitchFamily="18" charset="2"/>
              </a:rPr>
              <a:t>,G</a:t>
            </a:r>
            <a:r>
              <a:rPr lang="zh-CN" altLang="en-US" sz="2600">
                <a:sym typeface="Symbol" panose="05050102010706020507" pitchFamily="18" charset="2"/>
              </a:rPr>
              <a:t>是连通的</a:t>
            </a:r>
            <a:r>
              <a:rPr lang="en-US" altLang="zh-CN" sz="2600">
                <a:sym typeface="Symbol" panose="05050102010706020507" pitchFamily="18" charset="2"/>
              </a:rPr>
              <a:t>.</a:t>
            </a:r>
            <a:endParaRPr lang="en-US" altLang="zh-CN" sz="2600">
              <a:sym typeface="Symbol" panose="05050102010706020507" pitchFamily="18" charset="2"/>
            </a:endParaRPr>
          </a:p>
        </p:txBody>
      </p:sp>
      <p:sp>
        <p:nvSpPr>
          <p:cNvPr id="143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无向树的性质</a:t>
            </a:r>
            <a:endParaRPr lang="zh-CN" altLang="en-US"/>
          </a:p>
        </p:txBody>
      </p:sp>
      <p:sp>
        <p:nvSpPr>
          <p:cNvPr id="15362" name="Rectangle 3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8820150" cy="2376488"/>
          </a:xfrm>
        </p:spPr>
        <p:txBody>
          <a:bodyPr vert="horz" wrap="square" lIns="91440" tIns="45720" rIns="91440" bIns="45720" anchor="t" anchorCtr="0"/>
          <a:p>
            <a:pPr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9.2   </a:t>
            </a:r>
            <a:r>
              <a:rPr lang="zh-CN" altLang="en-US"/>
              <a:t>任一</a:t>
            </a:r>
            <a:r>
              <a:rPr lang="en-US" altLang="zh-CN" i="1"/>
              <a:t>n</a:t>
            </a:r>
            <a:r>
              <a:rPr lang="zh-CN" altLang="en-US"/>
              <a:t>阶非平凡无向树至少有两片树叶</a:t>
            </a:r>
            <a:r>
              <a:rPr lang="en-US" altLang="zh-CN"/>
              <a:t>.</a:t>
            </a:r>
            <a:endParaRPr lang="en-US" altLang="zh-CN">
              <a:solidFill>
                <a:schemeClr val="folHlink"/>
              </a:solidFill>
            </a:endParaRPr>
          </a:p>
          <a:p>
            <a:pPr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hlink"/>
                </a:solidFill>
              </a:rPr>
              <a:t>证</a:t>
            </a:r>
            <a:r>
              <a:rPr lang="zh-CN" altLang="en-US"/>
              <a:t>  </a:t>
            </a:r>
            <a:r>
              <a:rPr lang="zh-CN" altLang="en-US">
                <a:solidFill>
                  <a:schemeClr val="folHlink"/>
                </a:solidFill>
              </a:rPr>
              <a:t>设</a:t>
            </a:r>
            <a:r>
              <a:rPr lang="en-US" altLang="zh-CN" i="1">
                <a:solidFill>
                  <a:schemeClr val="folHlink"/>
                </a:solidFill>
              </a:rPr>
              <a:t>T</a:t>
            </a:r>
            <a:r>
              <a:rPr lang="en-US" altLang="zh-CN">
                <a:solidFill>
                  <a:schemeClr val="folHlink"/>
                </a:solidFill>
              </a:rPr>
              <a:t>=&lt;</a:t>
            </a:r>
            <a:r>
              <a:rPr lang="en-US" altLang="zh-CN" i="1">
                <a:solidFill>
                  <a:schemeClr val="folHlink"/>
                </a:solidFill>
              </a:rPr>
              <a:t>V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en-US" altLang="zh-CN" i="1">
                <a:solidFill>
                  <a:schemeClr val="folHlink"/>
                </a:solidFill>
              </a:rPr>
              <a:t>E</a:t>
            </a:r>
            <a:r>
              <a:rPr lang="en-US" altLang="zh-CN">
                <a:solidFill>
                  <a:schemeClr val="folHlink"/>
                </a:solidFill>
              </a:rPr>
              <a:t>&gt;</a:t>
            </a:r>
            <a:r>
              <a:rPr lang="zh-CN" altLang="en-US">
                <a:solidFill>
                  <a:schemeClr val="folHlink"/>
                </a:solidFill>
              </a:rPr>
              <a:t>是无向树，其中</a:t>
            </a:r>
            <a:r>
              <a:rPr lang="en-US" altLang="zh-CN">
                <a:solidFill>
                  <a:schemeClr val="folHlink"/>
                </a:solidFill>
              </a:rPr>
              <a:t>|</a:t>
            </a:r>
            <a:r>
              <a:rPr lang="en-US" altLang="zh-CN" i="1">
                <a:solidFill>
                  <a:schemeClr val="folHlink"/>
                </a:solidFill>
              </a:rPr>
              <a:t>V</a:t>
            </a:r>
            <a:r>
              <a:rPr lang="en-US" altLang="zh-CN">
                <a:solidFill>
                  <a:schemeClr val="folHlink"/>
                </a:solidFill>
              </a:rPr>
              <a:t>|=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zh-CN" altLang="en-US">
                <a:solidFill>
                  <a:schemeClr val="folHlink"/>
                </a:solidFill>
              </a:rPr>
              <a:t>，</a:t>
            </a:r>
            <a:r>
              <a:rPr lang="en-US" altLang="zh-CN">
                <a:solidFill>
                  <a:schemeClr val="folHlink"/>
                </a:solidFill>
              </a:rPr>
              <a:t>|E|=</a:t>
            </a:r>
            <a:r>
              <a:rPr lang="en-US" altLang="zh-CN" i="1">
                <a:solidFill>
                  <a:schemeClr val="folHlink"/>
                </a:solidFill>
              </a:rPr>
              <a:t>m</a:t>
            </a:r>
            <a:endParaRPr lang="en-US" altLang="zh-CN" i="1">
              <a:solidFill>
                <a:schemeClr val="folHlink"/>
              </a:solidFill>
            </a:endParaRPr>
          </a:p>
          <a:p>
            <a:pPr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folHlink"/>
                </a:solidFill>
              </a:rPr>
              <a:t>设</a:t>
            </a:r>
            <a:r>
              <a:rPr lang="en-US" altLang="zh-CN" i="1">
                <a:solidFill>
                  <a:schemeClr val="folHlink"/>
                </a:solidFill>
              </a:rPr>
              <a:t>T</a:t>
            </a:r>
            <a:r>
              <a:rPr lang="zh-CN" altLang="en-US">
                <a:solidFill>
                  <a:schemeClr val="folHlink"/>
                </a:solidFill>
              </a:rPr>
              <a:t>有</a:t>
            </a:r>
            <a:r>
              <a:rPr lang="en-US" altLang="zh-CN" i="1">
                <a:solidFill>
                  <a:schemeClr val="folHlink"/>
                </a:solidFill>
              </a:rPr>
              <a:t>x</a:t>
            </a:r>
            <a:r>
              <a:rPr lang="zh-CN" altLang="en-US">
                <a:solidFill>
                  <a:schemeClr val="folHlink"/>
                </a:solidFill>
              </a:rPr>
              <a:t>片树叶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zh-CN" altLang="en-US">
                <a:solidFill>
                  <a:schemeClr val="folHlink"/>
                </a:solidFill>
              </a:rPr>
              <a:t>则剩余的</a:t>
            </a:r>
            <a:r>
              <a:rPr lang="en-US" altLang="zh-CN" i="1">
                <a:solidFill>
                  <a:schemeClr val="folHlink"/>
                </a:solidFill>
              </a:rPr>
              <a:t>n</a:t>
            </a:r>
            <a:r>
              <a:rPr lang="en-US" altLang="zh-CN">
                <a:solidFill>
                  <a:schemeClr val="folHlink"/>
                </a:solidFill>
              </a:rPr>
              <a:t>-</a:t>
            </a:r>
            <a:r>
              <a:rPr lang="en-US" altLang="zh-CN" i="1">
                <a:solidFill>
                  <a:schemeClr val="folHlink"/>
                </a:solidFill>
              </a:rPr>
              <a:t>x</a:t>
            </a:r>
            <a:r>
              <a:rPr lang="zh-CN" altLang="en-US">
                <a:solidFill>
                  <a:schemeClr val="folHlink"/>
                </a:solidFill>
              </a:rPr>
              <a:t>个结点的度均大于等于</a:t>
            </a:r>
            <a:r>
              <a:rPr lang="en-US" altLang="zh-CN">
                <a:solidFill>
                  <a:schemeClr val="folHlink"/>
                </a:solidFill>
              </a:rPr>
              <a:t>2</a:t>
            </a:r>
            <a:r>
              <a:rPr lang="zh-CN" altLang="en-US">
                <a:solidFill>
                  <a:schemeClr val="folHlink"/>
                </a:solidFill>
              </a:rPr>
              <a:t>，</a:t>
            </a:r>
            <a:endParaRPr lang="zh-CN" altLang="en-US">
              <a:solidFill>
                <a:schemeClr val="folHlink"/>
              </a:solidFill>
            </a:endParaRPr>
          </a:p>
          <a:p>
            <a:pPr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folHlink"/>
                </a:solidFill>
              </a:rPr>
              <a:t>由握手定理及定理</a:t>
            </a:r>
            <a:r>
              <a:rPr lang="en-US" altLang="zh-CN">
                <a:solidFill>
                  <a:schemeClr val="folHlink"/>
                </a:solidFill>
              </a:rPr>
              <a:t>9.1</a:t>
            </a:r>
            <a:r>
              <a:rPr lang="zh-CN" altLang="en-US">
                <a:solidFill>
                  <a:schemeClr val="folHlink"/>
                </a:solidFill>
              </a:rPr>
              <a:t>可知，</a:t>
            </a:r>
            <a:endParaRPr lang="zh-CN" altLang="en-US">
              <a:solidFill>
                <a:schemeClr val="folHlink"/>
              </a:solidFill>
            </a:endParaRPr>
          </a:p>
        </p:txBody>
      </p:sp>
      <p:sp>
        <p:nvSpPr>
          <p:cNvPr id="180228" name="Rectangle 4"/>
          <p:cNvSpPr/>
          <p:nvPr/>
        </p:nvSpPr>
        <p:spPr>
          <a:xfrm>
            <a:off x="323850" y="4508500"/>
            <a:ext cx="3743325" cy="561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解上式可得      </a:t>
            </a:r>
            <a:r>
              <a:rPr lang="en-US" altLang="zh-CN" sz="2800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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0230" name="Rectangle 6"/>
          <p:cNvSpPr/>
          <p:nvPr/>
        </p:nvSpPr>
        <p:spPr>
          <a:xfrm>
            <a:off x="323850" y="5084763"/>
            <a:ext cx="3743325" cy="561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</a:pPr>
            <a:r>
              <a: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定理得证</a:t>
            </a:r>
            <a:r>
              <a:rPr lang="en-US" altLang="zh-CN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  #</a:t>
            </a:r>
            <a:endParaRPr lang="en-US" altLang="zh-CN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53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395541" y="3717544"/>
                <a:ext cx="6389370" cy="9810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charset="0"/>
                          <a:cs typeface="Cambria Math" panose="02040503050406030204" charset="0"/>
                        </a:rPr>
                        <m:t>𝟐</m:t>
                      </m:r>
                      <m:r>
                        <a:rPr lang="en-US" altLang="zh-CN" sz="2600" i="1">
                          <a:latin typeface="Cambria Math" panose="02040503050406030204" charset="0"/>
                          <a:cs typeface="Cambria Math" panose="02040503050406030204" charset="0"/>
                        </a:rPr>
                        <m:t>𝒎</m:t>
                      </m:r>
                      <m:r>
                        <a:rPr lang="en-US" altLang="zh-CN" sz="26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600" i="1">
                          <a:latin typeface="Cambria Math" panose="02040503050406030204" charset="0"/>
                          <a:cs typeface="Cambria Math" panose="02040503050406030204" charset="0"/>
                        </a:rPr>
                        <m:t>𝟐</m:t>
                      </m:r>
                      <m:r>
                        <a:rPr lang="en-US" altLang="zh-CN" sz="26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600" i="1">
                          <a:latin typeface="Cambria Math" panose="02040503050406030204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en-US" altLang="zh-CN" sz="26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2600" i="1">
                          <a:latin typeface="Cambria Math" panose="02040503050406030204" charset="0"/>
                          <a:cs typeface="Cambria Math" panose="02040503050406030204" charset="0"/>
                        </a:rPr>
                        <m:t>𝟏</m:t>
                      </m:r>
                      <m:r>
                        <a:rPr lang="en-US" altLang="zh-CN" sz="26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sz="2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  <m:sup/>
                        <m:e>
                          <m:r>
                            <a:rPr lang="en-US" altLang="zh-CN" sz="2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</m:t>
                          </m:r>
                          <m:r>
                            <a:rPr lang="en-US" altLang="zh-CN" sz="2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2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≥</m:t>
                          </m:r>
                          <m:r>
                            <a:rPr lang="en-US" altLang="zh-CN" sz="2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𝒙</m:t>
                          </m:r>
                          <m:r>
                            <a:rPr lang="en-US" altLang="zh-CN" sz="2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2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  <m:r>
                            <a:rPr lang="en-US" altLang="zh-CN" sz="2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𝒏</m:t>
                          </m:r>
                          <m:r>
                            <a:rPr lang="en-US" altLang="zh-CN" sz="2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𝒙</m:t>
                          </m:r>
                          <m:r>
                            <a:rPr lang="en-US" altLang="zh-CN" sz="26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6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1" y="3717544"/>
                <a:ext cx="6389370" cy="981075"/>
              </a:xfrm>
              <a:prstGeom prst="rect">
                <a:avLst/>
              </a:prstGeom>
              <a:blipFill rotWithShape="1">
                <a:blip r:embed="rId1"/>
                <a:stretch>
                  <a:fillRect l="-9" t="-26" r="-120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27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57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charRg st="85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8" grpId="0"/>
      <p:bldP spid="180230" grpId="0"/>
      <p:bldP spid="180228" grpId="1"/>
      <p:bldP spid="18023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 sz="4000">
                <a:solidFill>
                  <a:srgbClr val="FF0000"/>
                </a:solidFill>
              </a:rPr>
              <a:t>课堂测试一：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zh-CN" altLang="en-US">
                <a:solidFill>
                  <a:schemeClr val="folHlink"/>
                </a:solidFill>
              </a:rPr>
              <a:t>  一棵无向树</a:t>
            </a:r>
            <a:r>
              <a:rPr lang="en-US" altLang="zh-CN" i="1">
                <a:solidFill>
                  <a:schemeClr val="folHlink"/>
                </a:solidFill>
              </a:rPr>
              <a:t>T</a:t>
            </a:r>
            <a:r>
              <a:rPr lang="zh-CN" altLang="en-US">
                <a:solidFill>
                  <a:schemeClr val="folHlink"/>
                </a:solidFill>
              </a:rPr>
              <a:t>有</a:t>
            </a:r>
            <a:r>
              <a:rPr lang="en-US" altLang="zh-CN">
                <a:solidFill>
                  <a:schemeClr val="folHlink"/>
                </a:solidFill>
              </a:rPr>
              <a:t>5</a:t>
            </a:r>
            <a:r>
              <a:rPr lang="zh-CN" altLang="en-US">
                <a:solidFill>
                  <a:schemeClr val="folHlink"/>
                </a:solidFill>
              </a:rPr>
              <a:t>片树叶，</a:t>
            </a:r>
            <a:r>
              <a:rPr lang="en-US" altLang="zh-CN">
                <a:solidFill>
                  <a:schemeClr val="folHlink"/>
                </a:solidFill>
              </a:rPr>
              <a:t>3</a:t>
            </a:r>
            <a:r>
              <a:rPr lang="zh-CN" altLang="en-US">
                <a:solidFill>
                  <a:schemeClr val="folHlink"/>
                </a:solidFill>
              </a:rPr>
              <a:t>个</a:t>
            </a:r>
            <a:r>
              <a:rPr lang="en-US" altLang="zh-CN">
                <a:solidFill>
                  <a:schemeClr val="folHlink"/>
                </a:solidFill>
              </a:rPr>
              <a:t>2</a:t>
            </a:r>
            <a:r>
              <a:rPr lang="zh-CN" altLang="en-US">
                <a:solidFill>
                  <a:schemeClr val="folHlink"/>
                </a:solidFill>
              </a:rPr>
              <a:t>度分支点，其余的分支点都是</a:t>
            </a:r>
            <a:r>
              <a:rPr lang="en-US" altLang="zh-CN">
                <a:solidFill>
                  <a:schemeClr val="folHlink"/>
                </a:solidFill>
              </a:rPr>
              <a:t>3</a:t>
            </a:r>
            <a:r>
              <a:rPr lang="zh-CN" altLang="en-US">
                <a:solidFill>
                  <a:schemeClr val="folHlink"/>
                </a:solidFill>
              </a:rPr>
              <a:t>度结点，问</a:t>
            </a:r>
            <a:r>
              <a:rPr lang="en-US" altLang="zh-CN" i="1">
                <a:solidFill>
                  <a:schemeClr val="folHlink"/>
                </a:solidFill>
              </a:rPr>
              <a:t>T</a:t>
            </a:r>
            <a:r>
              <a:rPr lang="zh-CN" altLang="en-US">
                <a:solidFill>
                  <a:schemeClr val="folHlink"/>
                </a:solidFill>
              </a:rPr>
              <a:t>有几个结点。</a:t>
            </a:r>
            <a:endParaRPr lang="zh-CN" altLang="en-US">
              <a:solidFill>
                <a:schemeClr val="folHlink"/>
              </a:solidFill>
            </a:endParaRPr>
          </a:p>
          <a:p>
            <a:pPr>
              <a:buNone/>
            </a:pPr>
            <a:endParaRPr lang="en-US" altLang="zh-CN">
              <a:solidFill>
                <a:schemeClr val="folHlink"/>
              </a:solidFill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举例（习题九：</a:t>
            </a:r>
            <a:r>
              <a:rPr lang="en-US" altLang="zh-CN"/>
              <a:t>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9458" name="Rectangle 3"/>
          <p:cNvSpPr>
            <a:spLocks noGrp="1"/>
          </p:cNvSpPr>
          <p:nvPr>
            <p:ph type="body" sz="half" idx="1"/>
          </p:nvPr>
        </p:nvSpPr>
        <p:spPr>
          <a:xfrm>
            <a:off x="107950" y="1360488"/>
            <a:ext cx="8856663" cy="5308600"/>
          </a:xfrm>
        </p:spPr>
        <p:txBody>
          <a:bodyPr vert="horz" wrap="square" lIns="91440" tIns="45720" rIns="91440" bIns="45720" anchor="t" anchorCtr="0"/>
          <a:p>
            <a:pPr marL="0"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chemeClr val="hlink"/>
                </a:solidFill>
              </a:rPr>
              <a:t>例 </a:t>
            </a:r>
            <a:r>
              <a:rPr lang="zh-CN" altLang="en-US" sz="2600">
                <a:solidFill>
                  <a:schemeClr val="folHlink"/>
                </a:solidFill>
              </a:rPr>
              <a:t>设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为</a:t>
            </a:r>
            <a:r>
              <a:rPr lang="en-US" altLang="zh-CN" sz="2600" i="1">
                <a:solidFill>
                  <a:schemeClr val="folHlink"/>
                </a:solidFill>
              </a:rPr>
              <a:t>n</a:t>
            </a:r>
            <a:r>
              <a:rPr lang="en-US" altLang="zh-CN" sz="2600">
                <a:solidFill>
                  <a:schemeClr val="folHlink"/>
                </a:solidFill>
              </a:rPr>
              <a:t>(</a:t>
            </a:r>
            <a:r>
              <a:rPr lang="en-US" altLang="zh-CN" sz="2600" i="1">
                <a:solidFill>
                  <a:schemeClr val="folHlink"/>
                </a:solidFill>
              </a:rPr>
              <a:t>n</a:t>
            </a:r>
            <a:r>
              <a:rPr lang="en-US" altLang="zh-CN" sz="2600">
                <a:solidFill>
                  <a:schemeClr val="folHlink"/>
                </a:solidFill>
              </a:rPr>
              <a:t>≥5)</a:t>
            </a:r>
            <a:r>
              <a:rPr lang="zh-CN" altLang="en-US" sz="2600">
                <a:solidFill>
                  <a:schemeClr val="folHlink"/>
                </a:solidFill>
              </a:rPr>
              <a:t>阶简单图</a:t>
            </a:r>
            <a:r>
              <a:rPr lang="en-US" altLang="zh-CN" sz="2600">
                <a:solidFill>
                  <a:schemeClr val="folHlink"/>
                </a:solidFill>
              </a:rPr>
              <a:t>,</a:t>
            </a:r>
            <a:r>
              <a:rPr lang="zh-CN" altLang="en-US" sz="2600">
                <a:solidFill>
                  <a:schemeClr val="folHlink"/>
                </a:solidFill>
              </a:rPr>
              <a:t>证明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或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的补图中必含圈</a:t>
            </a:r>
            <a:r>
              <a:rPr lang="en-US" altLang="zh-CN" sz="2600">
                <a:solidFill>
                  <a:schemeClr val="folHlink"/>
                </a:solidFill>
              </a:rPr>
              <a:t>.</a:t>
            </a:r>
            <a:endParaRPr lang="en-US" altLang="zh-CN" sz="2600">
              <a:solidFill>
                <a:schemeClr val="folHlink"/>
              </a:solidFill>
            </a:endParaRPr>
          </a:p>
          <a:p>
            <a:pPr marL="0"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chemeClr val="hlink"/>
                </a:solidFill>
              </a:rPr>
              <a:t>证</a:t>
            </a:r>
            <a:r>
              <a:rPr lang="zh-CN" altLang="en-US" sz="2600">
                <a:solidFill>
                  <a:schemeClr val="folHlink"/>
                </a:solidFill>
              </a:rPr>
              <a:t>  设简单图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和其补图的边数分别为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zh-CN" altLang="en-US" sz="2600">
                <a:solidFill>
                  <a:schemeClr val="folHlink"/>
                </a:solidFill>
              </a:rPr>
              <a:t>和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>
                <a:solidFill>
                  <a:schemeClr val="folHlink"/>
                </a:solidFill>
                <a:latin typeface="Tahoma" panose="020B0604030504040204" pitchFamily="34" charset="0"/>
              </a:rPr>
              <a:t>’</a:t>
            </a:r>
            <a:r>
              <a:rPr lang="en-US" altLang="zh-CN" sz="2600">
                <a:solidFill>
                  <a:schemeClr val="folHlink"/>
                </a:solidFill>
              </a:rPr>
              <a:t>,</a:t>
            </a:r>
            <a:r>
              <a:rPr lang="zh-CN" altLang="en-US" sz="2600">
                <a:solidFill>
                  <a:schemeClr val="folHlink"/>
                </a:solidFill>
              </a:rPr>
              <a:t>则</a:t>
            </a:r>
            <a:endParaRPr lang="zh-CN" altLang="en-US" sz="2600">
              <a:solidFill>
                <a:schemeClr val="folHlink"/>
              </a:solidFill>
            </a:endParaRPr>
          </a:p>
          <a:p>
            <a:pPr marL="0"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chemeClr val="folHlink"/>
                </a:solidFill>
              </a:rPr>
              <a:t>              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>
                <a:solidFill>
                  <a:schemeClr val="folHlink"/>
                </a:solidFill>
              </a:rPr>
              <a:t>+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>
                <a:solidFill>
                  <a:schemeClr val="folHlink"/>
                </a:solidFill>
                <a:latin typeface="Tahoma" panose="020B0604030504040204" pitchFamily="34" charset="0"/>
              </a:rPr>
              <a:t>’</a:t>
            </a:r>
            <a:r>
              <a:rPr lang="en-US" altLang="zh-CN" sz="2600">
                <a:solidFill>
                  <a:schemeClr val="folHlink"/>
                </a:solidFill>
              </a:rPr>
              <a:t>=</a:t>
            </a:r>
            <a:r>
              <a:rPr lang="en-US" altLang="zh-CN" sz="2600" i="1">
                <a:solidFill>
                  <a:schemeClr val="folHlink"/>
                </a:solidFill>
              </a:rPr>
              <a:t> n</a:t>
            </a:r>
            <a:r>
              <a:rPr lang="en-US" altLang="zh-CN" sz="2600">
                <a:solidFill>
                  <a:schemeClr val="folHlink"/>
                </a:solidFill>
              </a:rPr>
              <a:t>(</a:t>
            </a:r>
            <a:r>
              <a:rPr lang="en-US" altLang="zh-CN" sz="2600" i="1">
                <a:solidFill>
                  <a:schemeClr val="folHlink"/>
                </a:solidFill>
              </a:rPr>
              <a:t>n</a:t>
            </a:r>
            <a:r>
              <a:rPr lang="en-US" altLang="zh-CN" sz="2600">
                <a:solidFill>
                  <a:schemeClr val="folHlink"/>
                </a:solidFill>
              </a:rPr>
              <a:t>-1)/2</a:t>
            </a:r>
            <a:endParaRPr lang="en-US" altLang="zh-CN" sz="2600">
              <a:solidFill>
                <a:schemeClr val="folHlink"/>
              </a:solidFill>
            </a:endParaRPr>
          </a:p>
          <a:p>
            <a:pPr marL="0"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chemeClr val="folHlink"/>
                </a:solidFill>
              </a:rPr>
              <a:t>根据鸽巢原理</a:t>
            </a:r>
            <a:r>
              <a:rPr lang="en-US" altLang="zh-CN" sz="2600">
                <a:solidFill>
                  <a:schemeClr val="folHlink"/>
                </a:solidFill>
              </a:rPr>
              <a:t>,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与其补图必有一个边数≥ </a:t>
            </a:r>
            <a:r>
              <a:rPr lang="en-US" altLang="zh-CN" sz="2600" i="1">
                <a:solidFill>
                  <a:schemeClr val="folHlink"/>
                </a:solidFill>
              </a:rPr>
              <a:t>n</a:t>
            </a:r>
            <a:r>
              <a:rPr lang="en-US" altLang="zh-CN" sz="2600">
                <a:solidFill>
                  <a:schemeClr val="folHlink"/>
                </a:solidFill>
              </a:rPr>
              <a:t>(</a:t>
            </a:r>
            <a:r>
              <a:rPr lang="en-US" altLang="zh-CN" sz="2600" i="1">
                <a:solidFill>
                  <a:schemeClr val="folHlink"/>
                </a:solidFill>
              </a:rPr>
              <a:t>n</a:t>
            </a:r>
            <a:r>
              <a:rPr lang="en-US" altLang="zh-CN" sz="2600">
                <a:solidFill>
                  <a:schemeClr val="folHlink"/>
                </a:solidFill>
              </a:rPr>
              <a:t>-1)/4 ,</a:t>
            </a:r>
            <a:r>
              <a:rPr lang="zh-CN" altLang="en-US" sz="2600">
                <a:solidFill>
                  <a:schemeClr val="folHlink"/>
                </a:solidFill>
              </a:rPr>
              <a:t>不妨设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endParaRPr lang="en-US" altLang="zh-CN" sz="2600" i="1">
              <a:solidFill>
                <a:schemeClr val="folHlink"/>
              </a:solidFill>
            </a:endParaRPr>
          </a:p>
          <a:p>
            <a:pPr marL="0"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chemeClr val="folHlink"/>
                </a:solidFill>
              </a:rPr>
              <a:t>的边数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>
                <a:solidFill>
                  <a:schemeClr val="folHlink"/>
                </a:solidFill>
              </a:rPr>
              <a:t>≥ </a:t>
            </a:r>
            <a:r>
              <a:rPr lang="en-US" altLang="zh-CN" sz="2600" i="1">
                <a:solidFill>
                  <a:schemeClr val="folHlink"/>
                </a:solidFill>
              </a:rPr>
              <a:t>n</a:t>
            </a:r>
            <a:r>
              <a:rPr lang="en-US" altLang="zh-CN" sz="2600">
                <a:solidFill>
                  <a:schemeClr val="folHlink"/>
                </a:solidFill>
              </a:rPr>
              <a:t>(</a:t>
            </a:r>
            <a:r>
              <a:rPr lang="en-US" altLang="zh-CN" sz="2600" i="1">
                <a:solidFill>
                  <a:schemeClr val="folHlink"/>
                </a:solidFill>
              </a:rPr>
              <a:t>n</a:t>
            </a:r>
            <a:r>
              <a:rPr lang="en-US" altLang="zh-CN" sz="2600">
                <a:solidFill>
                  <a:schemeClr val="folHlink"/>
                </a:solidFill>
              </a:rPr>
              <a:t>-1)/4 ,</a:t>
            </a:r>
            <a:r>
              <a:rPr lang="zh-CN" altLang="en-US" sz="2600">
                <a:solidFill>
                  <a:schemeClr val="folHlink"/>
                </a:solidFill>
              </a:rPr>
              <a:t>下面证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中必含有圈</a:t>
            </a:r>
            <a:r>
              <a:rPr lang="en-US" altLang="zh-CN" sz="2600">
                <a:solidFill>
                  <a:schemeClr val="folHlink"/>
                </a:solidFill>
              </a:rPr>
              <a:t>. </a:t>
            </a:r>
            <a:endParaRPr lang="en-US" altLang="zh-CN" sz="2600">
              <a:solidFill>
                <a:schemeClr val="folHlink"/>
              </a:solidFill>
            </a:endParaRPr>
          </a:p>
          <a:p>
            <a:pPr marL="0"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chemeClr val="folHlink"/>
                </a:solidFill>
              </a:rPr>
              <a:t>假设</a:t>
            </a:r>
            <a:r>
              <a:rPr lang="en-US" altLang="zh-CN" sz="2600" i="1">
                <a:solidFill>
                  <a:schemeClr val="folHlink"/>
                </a:solidFill>
              </a:rPr>
              <a:t>G</a:t>
            </a:r>
            <a:r>
              <a:rPr lang="zh-CN" altLang="en-US" sz="2600">
                <a:solidFill>
                  <a:schemeClr val="folHlink"/>
                </a:solidFill>
              </a:rPr>
              <a:t>中没有圈</a:t>
            </a:r>
            <a:r>
              <a:rPr lang="en-US" altLang="zh-CN" sz="2600">
                <a:solidFill>
                  <a:schemeClr val="folHlink"/>
                </a:solidFill>
              </a:rPr>
              <a:t>,</a:t>
            </a:r>
            <a:r>
              <a:rPr lang="zh-CN" altLang="en-US" sz="2600">
                <a:solidFill>
                  <a:schemeClr val="folHlink"/>
                </a:solidFill>
              </a:rPr>
              <a:t>且有</a:t>
            </a:r>
            <a:r>
              <a:rPr lang="en-US" altLang="zh-CN" sz="2600" i="1">
                <a:solidFill>
                  <a:schemeClr val="folHlink"/>
                </a:solidFill>
              </a:rPr>
              <a:t>w</a:t>
            </a:r>
            <a:r>
              <a:rPr lang="en-US" altLang="zh-CN" sz="2600">
                <a:solidFill>
                  <a:schemeClr val="folHlink"/>
                </a:solidFill>
              </a:rPr>
              <a:t>(</a:t>
            </a:r>
            <a:r>
              <a:rPr lang="en-US" altLang="zh-CN" sz="2600" i="1">
                <a:solidFill>
                  <a:schemeClr val="folHlink"/>
                </a:solidFill>
              </a:rPr>
              <a:t>w≥</a:t>
            </a:r>
            <a:r>
              <a:rPr lang="en-US" altLang="zh-CN" sz="2600">
                <a:solidFill>
                  <a:schemeClr val="folHlink"/>
                </a:solidFill>
              </a:rPr>
              <a:t>1)</a:t>
            </a:r>
            <a:r>
              <a:rPr lang="zh-CN" altLang="en-US" sz="2600">
                <a:solidFill>
                  <a:schemeClr val="folHlink"/>
                </a:solidFill>
              </a:rPr>
              <a:t>个连通分支</a:t>
            </a:r>
            <a:r>
              <a:rPr lang="en-US" altLang="zh-CN" sz="2600">
                <a:solidFill>
                  <a:schemeClr val="folHlink"/>
                </a:solidFill>
              </a:rPr>
              <a:t>,</a:t>
            </a:r>
            <a:r>
              <a:rPr lang="zh-CN" altLang="en-US" sz="2600">
                <a:solidFill>
                  <a:schemeClr val="folHlink"/>
                </a:solidFill>
              </a:rPr>
              <a:t>则每个连通分支都</a:t>
            </a:r>
            <a:endParaRPr lang="en-US" altLang="zh-CN" sz="2600">
              <a:solidFill>
                <a:schemeClr val="folHlink"/>
              </a:solidFill>
            </a:endParaRPr>
          </a:p>
          <a:p>
            <a:pPr marL="0"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chemeClr val="folHlink"/>
                </a:solidFill>
              </a:rPr>
              <a:t>是树</a:t>
            </a:r>
            <a:r>
              <a:rPr lang="en-US" altLang="zh-CN" sz="2600">
                <a:solidFill>
                  <a:schemeClr val="folHlink"/>
                </a:solidFill>
              </a:rPr>
              <a:t>,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 i="1" baseline="-25000">
                <a:solidFill>
                  <a:schemeClr val="folHlink"/>
                </a:solidFill>
              </a:rPr>
              <a:t>i</a:t>
            </a:r>
            <a:r>
              <a:rPr lang="en-US" altLang="zh-CN" sz="2600" i="1">
                <a:solidFill>
                  <a:schemeClr val="folHlink"/>
                </a:solidFill>
              </a:rPr>
              <a:t>=n</a:t>
            </a:r>
            <a:r>
              <a:rPr lang="en-US" altLang="zh-CN" sz="2600" i="1" baseline="-25000">
                <a:solidFill>
                  <a:schemeClr val="folHlink"/>
                </a:solidFill>
              </a:rPr>
              <a:t>i</a:t>
            </a:r>
            <a:r>
              <a:rPr lang="en-US" altLang="zh-CN" sz="2600" i="1">
                <a:solidFill>
                  <a:schemeClr val="folHlink"/>
                </a:solidFill>
              </a:rPr>
              <a:t>-</a:t>
            </a:r>
            <a:r>
              <a:rPr lang="en-US" altLang="zh-CN" sz="2600">
                <a:solidFill>
                  <a:schemeClr val="folHlink"/>
                </a:solidFill>
              </a:rPr>
              <a:t>1</a:t>
            </a:r>
            <a:r>
              <a:rPr lang="zh-CN" altLang="en-US" sz="2600">
                <a:solidFill>
                  <a:schemeClr val="folHlink"/>
                </a:solidFill>
              </a:rPr>
              <a:t>，</a:t>
            </a:r>
            <a:r>
              <a:rPr lang="en-US" altLang="zh-CN" sz="2600" i="1">
                <a:solidFill>
                  <a:schemeClr val="folHlink"/>
                </a:solidFill>
              </a:rPr>
              <a:t>i</a:t>
            </a:r>
            <a:r>
              <a:rPr lang="en-US" altLang="zh-CN" sz="2600">
                <a:solidFill>
                  <a:schemeClr val="folHlink"/>
                </a:solidFill>
              </a:rPr>
              <a:t>=1,…,</a:t>
            </a:r>
            <a:r>
              <a:rPr lang="en-US" altLang="zh-CN" sz="2600" i="1">
                <a:solidFill>
                  <a:schemeClr val="folHlink"/>
                </a:solidFill>
              </a:rPr>
              <a:t>w</a:t>
            </a:r>
            <a:r>
              <a:rPr lang="zh-CN" altLang="en-US" sz="2600">
                <a:solidFill>
                  <a:schemeClr val="folHlink"/>
                </a:solidFill>
              </a:rPr>
              <a:t>，</a:t>
            </a:r>
            <a:r>
              <a:rPr lang="en-US" altLang="zh-CN" sz="2600" i="1">
                <a:solidFill>
                  <a:schemeClr val="folHlink"/>
                </a:solidFill>
              </a:rPr>
              <a:t>m</a:t>
            </a:r>
            <a:r>
              <a:rPr lang="en-US" altLang="zh-CN" sz="2600" i="1" baseline="-25000">
                <a:solidFill>
                  <a:schemeClr val="folHlink"/>
                </a:solidFill>
              </a:rPr>
              <a:t>i</a:t>
            </a:r>
            <a:r>
              <a:rPr lang="en-US" altLang="zh-CN" sz="2600" i="1">
                <a:solidFill>
                  <a:schemeClr val="folHlink"/>
                </a:solidFill>
              </a:rPr>
              <a:t>,n</a:t>
            </a:r>
            <a:r>
              <a:rPr lang="en-US" altLang="zh-CN" sz="2600" i="1" baseline="-25000">
                <a:solidFill>
                  <a:schemeClr val="folHlink"/>
                </a:solidFill>
              </a:rPr>
              <a:t>i</a:t>
            </a:r>
            <a:r>
              <a:rPr lang="zh-CN" altLang="en-US" sz="2600">
                <a:solidFill>
                  <a:schemeClr val="folHlink"/>
                </a:solidFill>
              </a:rPr>
              <a:t>分别为第</a:t>
            </a:r>
            <a:r>
              <a:rPr lang="en-US" altLang="zh-CN" sz="2600" i="1">
                <a:solidFill>
                  <a:schemeClr val="folHlink"/>
                </a:solidFill>
              </a:rPr>
              <a:t>i</a:t>
            </a:r>
            <a:r>
              <a:rPr lang="zh-CN" altLang="en-US" sz="2600">
                <a:solidFill>
                  <a:schemeClr val="folHlink"/>
                </a:solidFill>
              </a:rPr>
              <a:t>个连通分支的边数与</a:t>
            </a:r>
            <a:endParaRPr lang="en-US" altLang="zh-CN" sz="2600">
              <a:solidFill>
                <a:schemeClr val="folHlink"/>
              </a:solidFill>
            </a:endParaRPr>
          </a:p>
          <a:p>
            <a:pPr marL="0"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chemeClr val="folHlink"/>
                </a:solidFill>
              </a:rPr>
              <a:t>阶数</a:t>
            </a:r>
            <a:r>
              <a:rPr lang="en-US" altLang="zh-CN" sz="2600">
                <a:solidFill>
                  <a:schemeClr val="folHlink"/>
                </a:solidFill>
              </a:rPr>
              <a:t>,</a:t>
            </a:r>
            <a:r>
              <a:rPr lang="zh-CN" altLang="en-US" sz="2600">
                <a:solidFill>
                  <a:schemeClr val="folHlink"/>
                </a:solidFill>
              </a:rPr>
              <a:t>所以有 </a:t>
            </a:r>
            <a:endParaRPr lang="zh-CN" altLang="en-US" sz="2600">
              <a:solidFill>
                <a:schemeClr val="folHlink"/>
              </a:solidFill>
            </a:endParaRPr>
          </a:p>
        </p:txBody>
      </p:sp>
      <p:graphicFrame>
        <p:nvGraphicFramePr>
          <p:cNvPr id="19459" name="Object 4"/>
          <p:cNvGraphicFramePr>
            <a:graphicFrameLocks noChangeAspect="1"/>
          </p:cNvGraphicFramePr>
          <p:nvPr/>
        </p:nvGraphicFramePr>
        <p:xfrm>
          <a:off x="2124075" y="4868863"/>
          <a:ext cx="4383088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854200" imgH="431800" progId="Equation.3">
                  <p:embed/>
                </p:oleObj>
              </mc:Choice>
              <mc:Fallback>
                <p:oleObj name="" r:id="rId1" imgW="1854200" imgH="431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3333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4868863"/>
                        <a:ext cx="4383088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0" name="组 1"/>
          <p:cNvGrpSpPr/>
          <p:nvPr/>
        </p:nvGrpSpPr>
        <p:grpSpPr>
          <a:xfrm>
            <a:off x="190500" y="5854700"/>
            <a:ext cx="8629650" cy="887413"/>
            <a:chOff x="191121" y="5853955"/>
            <a:chExt cx="8629351" cy="887413"/>
          </a:xfrm>
        </p:grpSpPr>
        <p:graphicFrame>
          <p:nvGraphicFramePr>
            <p:cNvPr id="19461" name="Object 6"/>
            <p:cNvGraphicFramePr>
              <a:graphicFrameLocks noChangeAspect="1"/>
            </p:cNvGraphicFramePr>
            <p:nvPr/>
          </p:nvGraphicFramePr>
          <p:xfrm>
            <a:off x="2179315" y="5853955"/>
            <a:ext cx="2752725" cy="887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3" imgW="1269365" imgH="406400" progId="Equation.3">
                    <p:embed/>
                  </p:oleObj>
                </mc:Choice>
                <mc:Fallback>
                  <p:oleObj name="" r:id="rId3" imgW="1269365" imgH="4064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3333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79315" y="5853955"/>
                          <a:ext cx="2752725" cy="8874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2" name="Rectangle 9"/>
            <p:cNvSpPr/>
            <p:nvPr/>
          </p:nvSpPr>
          <p:spPr>
            <a:xfrm>
              <a:off x="5029546" y="5858688"/>
              <a:ext cx="3790926" cy="7386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  <a:buClr>
                  <a:schemeClr val="folHlink"/>
                </a:buClr>
                <a:buSzPct val="60000"/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得 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1≤</a:t>
              </a:r>
              <a:r>
                <a:rPr lang="en-US" altLang="zh-CN" sz="2800" i="1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≤4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，与</a:t>
              </a:r>
              <a:r>
                <a:rPr lang="en-US" altLang="zh-CN" sz="2800" i="1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≥5</a:t>
              </a: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矛盾</a:t>
              </a:r>
              <a:r>
                <a:rPr lang="en-US" altLang="zh-CN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.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9463" name="Rectangle 5"/>
            <p:cNvSpPr/>
            <p:nvPr/>
          </p:nvSpPr>
          <p:spPr>
            <a:xfrm>
              <a:off x="191121" y="5858688"/>
              <a:ext cx="1999265" cy="7386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lnSpc>
                  <a:spcPct val="150000"/>
                </a:lnSpc>
                <a:buClr>
                  <a:schemeClr val="folHlink"/>
                </a:buClr>
                <a:buSzPct val="60000"/>
              </a:pPr>
              <a:r>
                <a:rPr lang="zh-CN" altLang="en-US" sz="2800">
                  <a:solidFill>
                    <a:schemeClr val="fol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解得不等式</a:t>
              </a:r>
              <a:endParaRPr lang="zh-CN" altLang="en-US" sz="28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1946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3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55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84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119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147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178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charRg st="217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标题 6"/>
          <p:cNvSpPr>
            <a:spLocks noGrp="1"/>
          </p:cNvSpPr>
          <p:nvPr>
            <p:ph type="title"/>
          </p:nvPr>
        </p:nvSpPr>
        <p:spPr>
          <a:xfrm>
            <a:off x="898843" y="1124585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下列图中</a:t>
            </a:r>
            <a:r>
              <a:rPr lang="en-US" altLang="zh-CN"/>
              <a:t>,</a:t>
            </a:r>
            <a:r>
              <a:rPr lang="zh-CN" altLang="en-US"/>
              <a:t>哪些是树？</a:t>
            </a:r>
            <a:endParaRPr lang="zh-CN" altLang="en-US"/>
          </a:p>
        </p:txBody>
      </p:sp>
      <p:pic>
        <p:nvPicPr>
          <p:cNvPr id="21506" name="内容占位符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560" y="2276158"/>
            <a:ext cx="9131300" cy="4392612"/>
          </a:xfrm>
        </p:spPr>
      </p:pic>
      <p:sp>
        <p:nvSpPr>
          <p:cNvPr id="21507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/>
            </a:fld>
            <a:endParaRPr lang="en-US" altLang="zh-CN" sz="1400" b="0"/>
          </a:p>
        </p:txBody>
      </p:sp>
      <p:sp>
        <p:nvSpPr>
          <p:cNvPr id="17409" name="Rectangle 2"/>
          <p:cNvSpPr>
            <a:spLocks noGrp="1"/>
          </p:cNvSpPr>
          <p:nvPr/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>
            <a:noFill/>
          </a:ln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黑体" panose="02010609060101010101" pitchFamily="49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  <a:cs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4000">
                <a:solidFill>
                  <a:srgbClr val="FF0000"/>
                </a:solidFill>
              </a:rPr>
              <a:t>课堂测试</a:t>
            </a:r>
            <a:r>
              <a:rPr lang="zh-CN" altLang="en-US" sz="4000">
                <a:solidFill>
                  <a:srgbClr val="FF0000"/>
                </a:solidFill>
              </a:rPr>
              <a:t>二：</a:t>
            </a:r>
            <a:endParaRPr lang="zh-CN" altLang="en-US" sz="40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 sz="4000"/>
              <a:t>树作为模型</a:t>
            </a:r>
            <a:r>
              <a:rPr lang="en-US" altLang="zh-CN" sz="4000"/>
              <a:t>-</a:t>
            </a:r>
            <a:r>
              <a:rPr lang="zh-CN" altLang="en-US" sz="4000"/>
              <a:t>饱和碳氢化合物与树</a:t>
            </a:r>
            <a:endParaRPr lang="en-US" altLang="zh-CN" sz="4000"/>
          </a:p>
        </p:txBody>
      </p:sp>
      <p:pic>
        <p:nvPicPr>
          <p:cNvPr id="2253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338" y="2909888"/>
            <a:ext cx="5219700" cy="3543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446405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/>
              <a:t>英国数学家亚瑟</a:t>
            </a:r>
            <a:r>
              <a:rPr lang="en-US" altLang="zh-CN"/>
              <a:t>•</a:t>
            </a:r>
            <a:r>
              <a:rPr lang="zh-CN" altLang="en-US"/>
              <a:t>凯莱</a:t>
            </a:r>
            <a:r>
              <a:rPr lang="en-US" altLang="zh-CN"/>
              <a:t>1857</a:t>
            </a:r>
            <a:r>
              <a:rPr lang="zh-CN" altLang="en-US"/>
              <a:t>年发现了树用树表示分子，顶点表示原子</a:t>
            </a:r>
            <a:r>
              <a:rPr lang="en-US" altLang="zh-CN"/>
              <a:t>, </a:t>
            </a:r>
            <a:r>
              <a:rPr lang="zh-CN" altLang="en-US"/>
              <a:t>用</a:t>
            </a:r>
            <a:r>
              <a:rPr lang="en-US" altLang="zh-CN"/>
              <a:t>4</a:t>
            </a:r>
            <a:r>
              <a:rPr lang="zh-CN" altLang="en-US"/>
              <a:t>度顶点表示每个碳原子</a:t>
            </a:r>
            <a:r>
              <a:rPr lang="en-US" altLang="zh-CN"/>
              <a:t>,</a:t>
            </a:r>
            <a:r>
              <a:rPr lang="zh-CN" altLang="en-US"/>
              <a:t>用</a:t>
            </a:r>
            <a:r>
              <a:rPr lang="en-US" altLang="zh-CN"/>
              <a:t>1</a:t>
            </a:r>
            <a:r>
              <a:rPr lang="zh-CN" altLang="en-US"/>
              <a:t>度顶点表示每个氢原子</a:t>
            </a:r>
            <a:r>
              <a:rPr lang="en-US" altLang="zh-CN"/>
              <a:t>,</a:t>
            </a:r>
            <a:r>
              <a:rPr lang="zh-CN" altLang="en-US"/>
              <a:t>边表示原子之间的化学键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en-US" altLang="zh-CN"/>
              <a:t>n</a:t>
            </a:r>
            <a:r>
              <a:rPr lang="zh-CN" altLang="en-US"/>
              <a:t>阶非同构无向树的棵数</a:t>
            </a:r>
            <a:r>
              <a:rPr lang="en-US" altLang="zh-CN"/>
              <a:t>t</a:t>
            </a:r>
            <a:r>
              <a:rPr lang="en-US" altLang="zh-CN" baseline="-25000"/>
              <a:t>n</a:t>
            </a:r>
            <a:endParaRPr lang="en-US" altLang="zh-CN" baseline="-25000"/>
          </a:p>
        </p:txBody>
      </p:sp>
      <p:sp>
        <p:nvSpPr>
          <p:cNvPr id="235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/>
              <a:t>给定</a:t>
            </a:r>
            <a:r>
              <a:rPr lang="en-US" altLang="zh-CN" i="1"/>
              <a:t>n</a:t>
            </a:r>
            <a:r>
              <a:rPr lang="en-US" altLang="zh-CN"/>
              <a:t>,</a:t>
            </a:r>
            <a:r>
              <a:rPr lang="zh-CN" altLang="en-US"/>
              <a:t>可以计算出</a:t>
            </a:r>
            <a:r>
              <a:rPr lang="en-US" altLang="zh-CN" i="1"/>
              <a:t>t</a:t>
            </a:r>
            <a:r>
              <a:rPr lang="en-US" altLang="zh-CN" i="1" baseline="-25000"/>
              <a:t>n</a:t>
            </a:r>
            <a:r>
              <a:rPr lang="zh-CN" altLang="en-US"/>
              <a:t>的值</a:t>
            </a:r>
            <a:r>
              <a:rPr lang="en-US" altLang="zh-CN"/>
              <a:t>(</a:t>
            </a:r>
            <a:r>
              <a:rPr lang="zh-CN" altLang="en-US"/>
              <a:t>见教材表</a:t>
            </a:r>
            <a:r>
              <a:rPr lang="en-US" altLang="zh-CN"/>
              <a:t>9.1);P145</a:t>
            </a:r>
            <a:endParaRPr lang="en-US" altLang="zh-CN"/>
          </a:p>
          <a:p>
            <a:r>
              <a:rPr lang="zh-CN" altLang="en-US"/>
              <a:t>将</a:t>
            </a:r>
            <a:r>
              <a:rPr lang="en-US" altLang="zh-CN" i="1"/>
              <a:t>t</a:t>
            </a:r>
            <a:r>
              <a:rPr lang="en-US" altLang="zh-CN" i="1" baseline="-25000"/>
              <a:t>n</a:t>
            </a:r>
            <a:r>
              <a:rPr lang="zh-CN" altLang="en-US"/>
              <a:t>棵无向树均画出来</a:t>
            </a:r>
            <a:r>
              <a:rPr lang="en-US" altLang="zh-CN"/>
              <a:t>,</a:t>
            </a:r>
            <a:r>
              <a:rPr lang="zh-CN" altLang="en-US"/>
              <a:t>不容易</a:t>
            </a:r>
            <a:r>
              <a:rPr lang="en-US" altLang="zh-CN"/>
              <a:t>;</a:t>
            </a:r>
            <a:endParaRPr lang="en-US" altLang="zh-CN"/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effectLst>
            <a:outerShdw dist="12700" algn="ctr" rotWithShape="0">
              <a:schemeClr val="bg2">
                <a:alpha val="74997"/>
              </a:schemeClr>
            </a:outerShdw>
          </a:effectLst>
        </p:spPr>
        <p:txBody>
          <a:bodyPr vert="horz" wrap="square" lIns="91440" tIns="45720" rIns="91440" bIns="45720" anchor="b" anchorCtr="0"/>
          <a:p>
            <a:r>
              <a:rPr lang="zh-CN" altLang="en-US"/>
              <a:t>举例</a:t>
            </a:r>
            <a:endParaRPr lang="zh-CN" altLang="en-US"/>
          </a:p>
        </p:txBody>
      </p:sp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250825" y="1339850"/>
            <a:ext cx="8458200" cy="5113338"/>
          </a:xfrm>
        </p:spPr>
        <p:txBody>
          <a:bodyPr vert="horz" wrap="square" lIns="91440" tIns="45720" rIns="91440" bIns="45720" anchor="t" anchorCtr="0"/>
          <a:p>
            <a:pPr>
              <a:spcBef>
                <a:spcPct val="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例 </a:t>
            </a:r>
            <a:r>
              <a:rPr lang="zh-CN" altLang="en-US">
                <a:solidFill>
                  <a:schemeClr val="folHlink"/>
                </a:solidFill>
              </a:rPr>
              <a:t> 下面两个正整数序列中，哪个能充当无向树的度数序列？若能</a:t>
            </a:r>
            <a:r>
              <a:rPr lang="en-US" altLang="zh-CN">
                <a:solidFill>
                  <a:schemeClr val="folHlink"/>
                </a:solidFill>
              </a:rPr>
              <a:t>, </a:t>
            </a:r>
            <a:r>
              <a:rPr lang="zh-CN" altLang="en-US">
                <a:solidFill>
                  <a:schemeClr val="folHlink"/>
                </a:solidFill>
              </a:rPr>
              <a:t>画出</a:t>
            </a:r>
            <a:r>
              <a:rPr lang="en-US" altLang="zh-CN">
                <a:solidFill>
                  <a:schemeClr val="folHlink"/>
                </a:solidFill>
              </a:rPr>
              <a:t>2</a:t>
            </a:r>
            <a:r>
              <a:rPr lang="zh-CN" altLang="en-US">
                <a:solidFill>
                  <a:schemeClr val="folHlink"/>
                </a:solidFill>
              </a:rPr>
              <a:t>棵非同构的无向树。</a:t>
            </a:r>
            <a:endParaRPr lang="zh-CN" altLang="en-US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（</a:t>
            </a:r>
            <a:r>
              <a:rPr lang="en-US" altLang="zh-CN">
                <a:solidFill>
                  <a:schemeClr val="folHlink"/>
                </a:solidFill>
              </a:rPr>
              <a:t>1</a:t>
            </a:r>
            <a:r>
              <a:rPr lang="zh-CN" altLang="en-US">
                <a:solidFill>
                  <a:schemeClr val="folHlink"/>
                </a:solidFill>
              </a:rPr>
              <a:t>）</a:t>
            </a:r>
            <a:r>
              <a:rPr lang="en-US" altLang="zh-CN">
                <a:solidFill>
                  <a:schemeClr val="folHlink"/>
                </a:solidFill>
              </a:rPr>
              <a:t>1,1,1,1,2,3,3,4</a:t>
            </a:r>
            <a:endParaRPr lang="en-US" altLang="zh-CN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（</a:t>
            </a:r>
            <a:r>
              <a:rPr lang="en-US" altLang="zh-CN">
                <a:solidFill>
                  <a:schemeClr val="folHlink"/>
                </a:solidFill>
              </a:rPr>
              <a:t>2</a:t>
            </a:r>
            <a:r>
              <a:rPr lang="zh-CN" altLang="en-US">
                <a:solidFill>
                  <a:schemeClr val="folHlink"/>
                </a:solidFill>
              </a:rPr>
              <a:t>）</a:t>
            </a:r>
            <a:r>
              <a:rPr lang="en-US" altLang="zh-CN">
                <a:solidFill>
                  <a:schemeClr val="folHlink"/>
                </a:solidFill>
              </a:rPr>
              <a:t>1,1,1,1,2,2,3,3</a:t>
            </a:r>
            <a:endParaRPr lang="en-US" altLang="zh-CN">
              <a:solidFill>
                <a:schemeClr val="folHlink"/>
              </a:solidFill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>
                <a:solidFill>
                  <a:schemeClr val="hlink"/>
                </a:solidFill>
              </a:rPr>
              <a:t>解</a:t>
            </a:r>
            <a:r>
              <a:rPr lang="zh-CN" altLang="en-US">
                <a:solidFill>
                  <a:schemeClr val="folHlink"/>
                </a:solidFill>
              </a:rPr>
              <a:t> （</a:t>
            </a:r>
            <a:r>
              <a:rPr lang="en-US" altLang="zh-CN">
                <a:solidFill>
                  <a:schemeClr val="folHlink"/>
                </a:solidFill>
              </a:rPr>
              <a:t>1</a:t>
            </a:r>
            <a:r>
              <a:rPr lang="zh-CN" altLang="en-US">
                <a:solidFill>
                  <a:schemeClr val="folHlink"/>
                </a:solidFill>
              </a:rPr>
              <a:t>）不可以</a:t>
            </a:r>
            <a:r>
              <a:rPr lang="en-US" altLang="zh-CN">
                <a:solidFill>
                  <a:schemeClr val="folHlink"/>
                </a:solidFill>
              </a:rPr>
              <a:t>. </a:t>
            </a:r>
            <a:r>
              <a:rPr lang="zh-CN" altLang="en-US">
                <a:solidFill>
                  <a:schemeClr val="folHlink"/>
                </a:solidFill>
              </a:rPr>
              <a:t>因为所有度数之和等于</a:t>
            </a:r>
            <a:r>
              <a:rPr lang="en-US" altLang="zh-CN">
                <a:solidFill>
                  <a:schemeClr val="folHlink"/>
                </a:solidFill>
              </a:rPr>
              <a:t>16,</a:t>
            </a:r>
            <a:r>
              <a:rPr lang="zh-CN" altLang="en-US">
                <a:solidFill>
                  <a:schemeClr val="folHlink"/>
                </a:solidFill>
              </a:rPr>
              <a:t> </a:t>
            </a:r>
            <a:r>
              <a:rPr lang="en-US" altLang="zh-CN">
                <a:solidFill>
                  <a:schemeClr val="folHlink"/>
                </a:solidFill>
              </a:rPr>
              <a:t>m=8, </a:t>
            </a:r>
            <a:r>
              <a:rPr lang="zh-CN" altLang="en-US">
                <a:solidFill>
                  <a:schemeClr val="folHlink"/>
                </a:solidFill>
              </a:rPr>
              <a:t>而结点数也为</a:t>
            </a:r>
            <a:r>
              <a:rPr lang="en-US" altLang="zh-CN">
                <a:solidFill>
                  <a:schemeClr val="folHlink"/>
                </a:solidFill>
              </a:rPr>
              <a:t>8, </a:t>
            </a:r>
            <a:r>
              <a:rPr lang="zh-CN" altLang="en-US">
                <a:solidFill>
                  <a:schemeClr val="folHlink"/>
                </a:solidFill>
              </a:rPr>
              <a:t>所以不可以</a:t>
            </a:r>
            <a:r>
              <a:rPr lang="en-US" altLang="zh-CN">
                <a:solidFill>
                  <a:schemeClr val="folHlink"/>
                </a:solidFill>
              </a:rPr>
              <a:t>.</a:t>
            </a:r>
            <a:endParaRPr lang="zh-CN" altLang="en-US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（</a:t>
            </a:r>
            <a:r>
              <a:rPr lang="en-US" altLang="zh-CN">
                <a:solidFill>
                  <a:schemeClr val="folHlink"/>
                </a:solidFill>
              </a:rPr>
              <a:t>2</a:t>
            </a:r>
            <a:r>
              <a:rPr lang="zh-CN" altLang="en-US">
                <a:solidFill>
                  <a:schemeClr val="folHlink"/>
                </a:solidFill>
              </a:rPr>
              <a:t>）可以</a:t>
            </a:r>
            <a:r>
              <a:rPr lang="en-US" altLang="zh-CN">
                <a:solidFill>
                  <a:schemeClr val="folHlink"/>
                </a:solidFill>
              </a:rPr>
              <a:t>.</a:t>
            </a:r>
            <a:r>
              <a:rPr lang="zh-CN" altLang="en-US">
                <a:solidFill>
                  <a:schemeClr val="folHlink"/>
                </a:solidFill>
              </a:rPr>
              <a:t> 因为</a:t>
            </a:r>
            <a:r>
              <a:rPr lang="zh-CN" altLang="en-US">
                <a:solidFill>
                  <a:schemeClr val="folHlink"/>
                </a:solidFill>
              </a:rPr>
              <a:t>该整数</a:t>
            </a:r>
            <a:endParaRPr lang="en-US" altLang="zh-CN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序列可简单图化</a:t>
            </a:r>
            <a:r>
              <a:rPr lang="en-US" altLang="zh-CN">
                <a:solidFill>
                  <a:schemeClr val="folHlink"/>
                </a:solidFill>
              </a:rPr>
              <a:t>,</a:t>
            </a:r>
            <a:r>
              <a:rPr lang="zh-CN" altLang="en-US">
                <a:solidFill>
                  <a:schemeClr val="folHlink"/>
                </a:solidFill>
              </a:rPr>
              <a:t>且</a:t>
            </a:r>
            <a:endParaRPr lang="en-US" altLang="zh-CN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满足</a:t>
            </a:r>
            <a:r>
              <a:rPr lang="en-US" altLang="zh-CN">
                <a:solidFill>
                  <a:schemeClr val="folHlink"/>
                </a:solidFill>
              </a:rPr>
              <a:t>m=n-1,</a:t>
            </a:r>
            <a:r>
              <a:rPr lang="zh-CN" altLang="en-US">
                <a:solidFill>
                  <a:schemeClr val="folHlink"/>
                </a:solidFill>
              </a:rPr>
              <a:t>两棵</a:t>
            </a:r>
            <a:endParaRPr lang="en-US" altLang="zh-CN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None/>
            </a:pPr>
            <a:r>
              <a:rPr lang="zh-CN" altLang="en-US">
                <a:solidFill>
                  <a:schemeClr val="folHlink"/>
                </a:solidFill>
              </a:rPr>
              <a:t>非同构的树如右图所示</a:t>
            </a:r>
            <a:r>
              <a:rPr lang="en-US" altLang="zh-CN">
                <a:solidFill>
                  <a:schemeClr val="folHlink"/>
                </a:solidFill>
              </a:rPr>
              <a:t>.</a:t>
            </a:r>
            <a:endParaRPr lang="zh-CN" altLang="en-US">
              <a:solidFill>
                <a:schemeClr val="folHlink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708400" y="4437063"/>
            <a:ext cx="2016125" cy="1587500"/>
            <a:chOff x="1200" y="2976"/>
            <a:chExt cx="1104" cy="864"/>
          </a:xfrm>
        </p:grpSpPr>
        <p:sp>
          <p:nvSpPr>
            <p:cNvPr id="24580" name="Oval 5"/>
            <p:cNvSpPr/>
            <p:nvPr/>
          </p:nvSpPr>
          <p:spPr>
            <a:xfrm>
              <a:off x="1680" y="2976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81" name="Line 6"/>
            <p:cNvSpPr/>
            <p:nvPr/>
          </p:nvSpPr>
          <p:spPr>
            <a:xfrm flipH="1">
              <a:off x="1536" y="3072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2" name="Oval 7"/>
            <p:cNvSpPr/>
            <p:nvPr/>
          </p:nvSpPr>
          <p:spPr>
            <a:xfrm>
              <a:off x="1440" y="3216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83" name="Oval 8"/>
            <p:cNvSpPr/>
            <p:nvPr/>
          </p:nvSpPr>
          <p:spPr>
            <a:xfrm>
              <a:off x="1200" y="3456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84" name="Line 9"/>
            <p:cNvSpPr/>
            <p:nvPr/>
          </p:nvSpPr>
          <p:spPr>
            <a:xfrm flipH="1">
              <a:off x="1296" y="3312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5" name="Oval 10"/>
            <p:cNvSpPr/>
            <p:nvPr/>
          </p:nvSpPr>
          <p:spPr>
            <a:xfrm>
              <a:off x="1968" y="3216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86" name="Line 11"/>
            <p:cNvSpPr/>
            <p:nvPr/>
          </p:nvSpPr>
          <p:spPr>
            <a:xfrm>
              <a:off x="1776" y="3072"/>
              <a:ext cx="192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7" name="Line 12"/>
            <p:cNvSpPr/>
            <p:nvPr/>
          </p:nvSpPr>
          <p:spPr>
            <a:xfrm flipH="1">
              <a:off x="1824" y="3312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8" name="Oval 13"/>
            <p:cNvSpPr/>
            <p:nvPr/>
          </p:nvSpPr>
          <p:spPr>
            <a:xfrm>
              <a:off x="1755" y="3492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89" name="Oval 14"/>
            <p:cNvSpPr/>
            <p:nvPr/>
          </p:nvSpPr>
          <p:spPr>
            <a:xfrm>
              <a:off x="2208" y="3504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90" name="Line 15"/>
            <p:cNvSpPr/>
            <p:nvPr/>
          </p:nvSpPr>
          <p:spPr>
            <a:xfrm>
              <a:off x="2064" y="3312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1" name="Oval 16"/>
            <p:cNvSpPr/>
            <p:nvPr/>
          </p:nvSpPr>
          <p:spPr>
            <a:xfrm>
              <a:off x="1488" y="3744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92" name="Oval 17"/>
            <p:cNvSpPr/>
            <p:nvPr/>
          </p:nvSpPr>
          <p:spPr>
            <a:xfrm>
              <a:off x="1968" y="3744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93" name="Line 18"/>
            <p:cNvSpPr/>
            <p:nvPr/>
          </p:nvSpPr>
          <p:spPr>
            <a:xfrm flipH="1">
              <a:off x="1584" y="3552"/>
              <a:ext cx="192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4" name="Line 19"/>
            <p:cNvSpPr/>
            <p:nvPr/>
          </p:nvSpPr>
          <p:spPr>
            <a:xfrm>
              <a:off x="1824" y="3600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" name="Group 20"/>
          <p:cNvGrpSpPr/>
          <p:nvPr/>
        </p:nvGrpSpPr>
        <p:grpSpPr>
          <a:xfrm>
            <a:off x="6110288" y="4437063"/>
            <a:ext cx="2422525" cy="1657350"/>
            <a:chOff x="3168" y="2976"/>
            <a:chExt cx="1344" cy="912"/>
          </a:xfrm>
        </p:grpSpPr>
        <p:sp>
          <p:nvSpPr>
            <p:cNvPr id="24596" name="Oval 21"/>
            <p:cNvSpPr/>
            <p:nvPr/>
          </p:nvSpPr>
          <p:spPr>
            <a:xfrm>
              <a:off x="3648" y="2976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97" name="Line 22"/>
            <p:cNvSpPr/>
            <p:nvPr/>
          </p:nvSpPr>
          <p:spPr>
            <a:xfrm flipH="1">
              <a:off x="3504" y="3072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8" name="Oval 23"/>
            <p:cNvSpPr/>
            <p:nvPr/>
          </p:nvSpPr>
          <p:spPr>
            <a:xfrm>
              <a:off x="3408" y="3216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99" name="Oval 24"/>
            <p:cNvSpPr/>
            <p:nvPr/>
          </p:nvSpPr>
          <p:spPr>
            <a:xfrm>
              <a:off x="3168" y="3456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00" name="Line 25"/>
            <p:cNvSpPr/>
            <p:nvPr/>
          </p:nvSpPr>
          <p:spPr>
            <a:xfrm flipH="1">
              <a:off x="3264" y="3312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1" name="Oval 26"/>
            <p:cNvSpPr/>
            <p:nvPr/>
          </p:nvSpPr>
          <p:spPr>
            <a:xfrm>
              <a:off x="3936" y="3216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02" name="Line 27"/>
            <p:cNvSpPr/>
            <p:nvPr/>
          </p:nvSpPr>
          <p:spPr>
            <a:xfrm>
              <a:off x="3744" y="3072"/>
              <a:ext cx="192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3" name="Oval 28"/>
            <p:cNvSpPr/>
            <p:nvPr/>
          </p:nvSpPr>
          <p:spPr>
            <a:xfrm>
              <a:off x="3648" y="3312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04" name="Oval 29"/>
            <p:cNvSpPr/>
            <p:nvPr/>
          </p:nvSpPr>
          <p:spPr>
            <a:xfrm>
              <a:off x="4176" y="3504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05" name="Line 30"/>
            <p:cNvSpPr/>
            <p:nvPr/>
          </p:nvSpPr>
          <p:spPr>
            <a:xfrm>
              <a:off x="4032" y="3312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6" name="Oval 31"/>
            <p:cNvSpPr/>
            <p:nvPr/>
          </p:nvSpPr>
          <p:spPr>
            <a:xfrm>
              <a:off x="3936" y="3792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07" name="Oval 32"/>
            <p:cNvSpPr/>
            <p:nvPr/>
          </p:nvSpPr>
          <p:spPr>
            <a:xfrm>
              <a:off x="4416" y="3792"/>
              <a:ext cx="96" cy="96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SzTx/>
              </a:pPr>
              <a:endParaRPr lang="zh-CN" altLang="en-US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08" name="Line 33"/>
            <p:cNvSpPr/>
            <p:nvPr/>
          </p:nvSpPr>
          <p:spPr>
            <a:xfrm flipH="1">
              <a:off x="4032" y="3600"/>
              <a:ext cx="192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9" name="Line 34"/>
            <p:cNvSpPr/>
            <p:nvPr/>
          </p:nvSpPr>
          <p:spPr>
            <a:xfrm>
              <a:off x="4272" y="3600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10" name="Line 35"/>
            <p:cNvSpPr/>
            <p:nvPr/>
          </p:nvSpPr>
          <p:spPr>
            <a:xfrm>
              <a:off x="3696" y="307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46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83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128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141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151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162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总结</a:t>
            </a:r>
            <a:endParaRPr kumimoji="0" lang="zh-CN" altLang="en-US" sz="44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无向树的</a:t>
            </a:r>
            <a:r>
              <a:rPr kumimoji="0" lang="en-US" altLang="zh-CN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6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个等价定义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不同的</a:t>
            </a:r>
            <a:r>
              <a:rPr kumimoji="0" lang="en-US" altLang="zh-CN" sz="2800" b="1" i="1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n</a:t>
            </a:r>
            <a:r>
              <a:rPr kumimoji="0" lang="zh-CN" altLang="en-US" sz="28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黑体" panose="02010609060101010101" pitchFamily="49" charset="-122"/>
              </a:rPr>
              <a:t>阶无向树的棵树</a:t>
            </a:r>
            <a:endParaRPr kumimoji="0" lang="zh-CN" altLang="en-US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黑体" panose="02010609060101010101" pitchFamily="49" charset="-122"/>
            </a:endParaRPr>
          </a:p>
          <a:p>
            <a:pPr marL="342900" marR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altLang="en-US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课后作业一</a:t>
            </a:r>
            <a:r>
              <a:rPr kumimoji="0" lang="en-US" altLang="zh-CN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:</a:t>
            </a:r>
            <a:endParaRPr kumimoji="0" lang="en-US" altLang="zh-CN" sz="2800" b="1" i="0" u="none" strike="noStrike" kern="0" cap="none" spc="0" normalizeH="0" baseline="0" noProof="1">
              <a:solidFill>
                <a:srgbClr val="FF0000"/>
              </a:solidFill>
              <a:latin typeface="+mn-lt"/>
              <a:ea typeface="+mn-ea"/>
              <a:cs typeface="黑体" panose="02010609060101010101" pitchFamily="49" charset="-122"/>
              <a:sym typeface="Symbol" panose="05050102010706020507" pitchFamily="18" charset="2"/>
            </a:endParaRPr>
          </a:p>
          <a:p>
            <a:pPr marL="0" marR="0" indent="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0" lang="en-US" altLang="zh-CN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    P154,</a:t>
            </a:r>
            <a:r>
              <a:rPr kumimoji="0" lang="zh-CN" altLang="en-US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习题九</a:t>
            </a:r>
            <a:r>
              <a:rPr kumimoji="0" lang="en-US" altLang="zh-CN" sz="2800" b="1" i="0" u="none" strike="noStrike" kern="0" cap="none" spc="0" normalizeH="0" baseline="0" noProof="1">
                <a:solidFill>
                  <a:srgbClr val="FF0000"/>
                </a:solidFill>
                <a:latin typeface="+mn-lt"/>
                <a:ea typeface="+mn-ea"/>
                <a:cs typeface="黑体" panose="02010609060101010101" pitchFamily="49" charset="-122"/>
                <a:sym typeface="Symbol" panose="05050102010706020507" pitchFamily="18" charset="2"/>
              </a:rPr>
              <a:t>:2,3,7</a:t>
            </a:r>
            <a:endParaRPr kumimoji="0" lang="en-US" altLang="zh-CN" sz="2800" b="1" i="0" u="none" strike="noStrike" kern="0" cap="none" spc="0" normalizeH="0" baseline="0" noProof="1">
              <a:solidFill>
                <a:srgbClr val="FF0000"/>
              </a:solidFill>
              <a:latin typeface="+mn-lt"/>
              <a:ea typeface="+mn-ea"/>
              <a:cs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>
                <a:solidFill>
                  <a:srgbClr val="002060"/>
                </a:solidFill>
              </a:rPr>
            </a:fld>
            <a:endParaRPr lang="en-US" altLang="zh-CN" sz="1400" b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3027e447-38b5-4329-9a7d-e04545e35468"/>
  <p:tag name="COMMONDATA" val="eyJoZGlkIjoiY2FjYjUwYzFhN2VkM2YwN2YyYmE3ZGUyNDQzZTVlNzE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2395</Words>
  <Application>WPS 演示</Application>
  <PresentationFormat/>
  <Paragraphs>206</Paragraphs>
  <Slides>18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宋体</vt:lpstr>
      <vt:lpstr>Wingdings</vt:lpstr>
      <vt:lpstr>Tahoma</vt:lpstr>
      <vt:lpstr>黑体</vt:lpstr>
      <vt:lpstr>楷体</vt:lpstr>
      <vt:lpstr>Symbol</vt:lpstr>
      <vt:lpstr>Times New Roman</vt:lpstr>
      <vt:lpstr>Cambria Math</vt:lpstr>
      <vt:lpstr>微软雅黑</vt:lpstr>
      <vt:lpstr>Arial Unicode MS</vt:lpstr>
      <vt:lpstr>Blends</vt:lpstr>
      <vt:lpstr>Equation.3</vt:lpstr>
      <vt:lpstr>Equation.3</vt:lpstr>
      <vt:lpstr>PowerPoint 演示文稿</vt:lpstr>
      <vt:lpstr>第9章 树</vt:lpstr>
      <vt:lpstr>9.1无向树的定义及性质</vt:lpstr>
      <vt:lpstr>无向树的6个等价定义</vt:lpstr>
      <vt:lpstr>G是树(连通无回路)G中任二顶点之间存在唯一路径</vt:lpstr>
      <vt:lpstr>G中任二顶点之间存在唯一路径G中无圈且m=n1</vt:lpstr>
      <vt:lpstr>(3) G中无圈且m=n1(4) G连通且m=n1</vt:lpstr>
      <vt:lpstr>(4) G连通且m=n1 (5) G连通且每条边均为桥</vt:lpstr>
      <vt:lpstr>(5) G连通且每条边均为桥(6) G无圈,但在任二不同顶点之间增加新边,所得图含唯一的一个圈</vt:lpstr>
      <vt:lpstr>定理9.1的证明((6)(1))</vt:lpstr>
      <vt:lpstr>无向树的性质</vt:lpstr>
      <vt:lpstr>课堂测试一：</vt:lpstr>
      <vt:lpstr>举例（习题九：6）</vt:lpstr>
      <vt:lpstr>下列图中,哪些是树？</vt:lpstr>
      <vt:lpstr>树作为模型-饱和碳氢化合物与树</vt:lpstr>
      <vt:lpstr>n阶非同构无向树的棵数tn</vt:lpstr>
      <vt:lpstr>举例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小天鹅</cp:lastModifiedBy>
  <cp:revision>858</cp:revision>
  <dcterms:created xsi:type="dcterms:W3CDTF">2008-01-04T07:39:00Z</dcterms:created>
  <dcterms:modified xsi:type="dcterms:W3CDTF">2022-10-03T23:49:46Z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D491944E90A147B8825F68800CAD4023</vt:lpwstr>
  </property>
</Properties>
</file>