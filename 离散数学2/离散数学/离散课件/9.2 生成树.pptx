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29"/>
  </p:handoutMasterIdLst>
  <p:sldIdLst>
    <p:sldId id="329" r:id="rId4"/>
    <p:sldId id="350" r:id="rId6"/>
    <p:sldId id="330" r:id="rId7"/>
    <p:sldId id="351" r:id="rId8"/>
    <p:sldId id="373" r:id="rId9"/>
    <p:sldId id="332" r:id="rId10"/>
    <p:sldId id="333" r:id="rId11"/>
    <p:sldId id="374" r:id="rId12"/>
    <p:sldId id="336" r:id="rId13"/>
    <p:sldId id="334" r:id="rId14"/>
    <p:sldId id="337" r:id="rId15"/>
    <p:sldId id="375" r:id="rId16"/>
    <p:sldId id="339" r:id="rId17"/>
    <p:sldId id="340" r:id="rId18"/>
    <p:sldId id="352" r:id="rId19"/>
    <p:sldId id="341" r:id="rId20"/>
    <p:sldId id="342" r:id="rId21"/>
    <p:sldId id="343" r:id="rId22"/>
    <p:sldId id="344" r:id="rId23"/>
    <p:sldId id="346" r:id="rId24"/>
    <p:sldId id="347" r:id="rId25"/>
    <p:sldId id="345" r:id="rId26"/>
    <p:sldId id="348" r:id="rId27"/>
    <p:sldId id="349" r:id="rId28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0000"/>
    <a:srgbClr val="219402"/>
    <a:srgbClr val="0066FF"/>
    <a:srgbClr val="808080"/>
    <a:srgbClr val="5F5F5F"/>
    <a:srgbClr val="996633"/>
    <a:srgbClr val="C7F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426"/>
    <p:restoredTop sz="87226"/>
  </p:normalViewPr>
  <p:slideViewPr>
    <p:cSldViewPr showGuides="1">
      <p:cViewPr>
        <p:scale>
          <a:sx n="80" d="100"/>
          <a:sy n="80" d="100"/>
        </p:scale>
        <p:origin x="100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emf"/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FB4147-C41E-834F-8A13-DEB418A48963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E33F39-454E-BE4F-9E99-B19898CA43D5}" type="slidenum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681217-7681-1E41-BDEE-3F9991FA2F0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至少清扫</a:t>
            </a:r>
            <a:r>
              <a:rPr lang="en-US" altLang="zh-CN"/>
              <a:t>5</a:t>
            </a:r>
            <a:r>
              <a:rPr lang="zh-CN" altLang="en-US"/>
              <a:t>条道路才能保证道路畅通，即包含原图的所有顶点、边数最小的连通子图</a:t>
            </a:r>
            <a:endParaRPr lang="zh-CN" altLang="en-US"/>
          </a:p>
        </p:txBody>
      </p:sp>
      <p:sp>
        <p:nvSpPr>
          <p:cNvPr id="61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给定一个图，让学生回答：</a:t>
            </a:r>
            <a:endParaRPr lang="en-US" altLang="zh-CN"/>
          </a:p>
          <a:p>
            <a:pPr lvl="0">
              <a:buFontTx/>
              <a:buAutoNum type="arabicPeriod"/>
            </a:pPr>
            <a:r>
              <a:rPr lang="zh-CN" altLang="en-US"/>
              <a:t>找出生成树</a:t>
            </a:r>
            <a:endParaRPr lang="en-US" altLang="zh-CN"/>
          </a:p>
          <a:p>
            <a:pPr lvl="0"/>
            <a:r>
              <a:rPr lang="en-US" altLang="zh-CN"/>
              <a:t>2. </a:t>
            </a:r>
            <a:r>
              <a:rPr lang="zh-CN" altLang="en-US"/>
              <a:t>找出树枝边</a:t>
            </a:r>
            <a:endParaRPr lang="en-US" altLang="zh-CN"/>
          </a:p>
          <a:p>
            <a:pPr lvl="0"/>
            <a:r>
              <a:rPr lang="en-US" altLang="zh-CN"/>
              <a:t>3. </a:t>
            </a:r>
            <a:r>
              <a:rPr lang="zh-CN" altLang="en-US"/>
              <a:t>找出弦</a:t>
            </a:r>
            <a:endParaRPr lang="en-US" altLang="zh-CN"/>
          </a:p>
          <a:p>
            <a:pPr lvl="0"/>
            <a:r>
              <a:rPr lang="en-US" altLang="zh-CN"/>
              <a:t>4. </a:t>
            </a:r>
            <a:r>
              <a:rPr lang="zh-CN" altLang="en-US"/>
              <a:t>找出余树</a:t>
            </a:r>
            <a:endParaRPr lang="zh-CN" altLang="en-US"/>
          </a:p>
        </p:txBody>
      </p:sp>
      <p:sp>
        <p:nvSpPr>
          <p:cNvPr id="81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24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给定一个图，让学生回答：</a:t>
            </a:r>
            <a:endParaRPr lang="en-US" altLang="zh-CN"/>
          </a:p>
          <a:p>
            <a:pPr lvl="0">
              <a:buFontTx/>
              <a:buAutoNum type="arabicPeriod"/>
            </a:pPr>
            <a:r>
              <a:rPr lang="zh-CN" altLang="en-US"/>
              <a:t>找出生成树</a:t>
            </a:r>
            <a:endParaRPr lang="en-US" altLang="zh-CN"/>
          </a:p>
          <a:p>
            <a:pPr lvl="0"/>
            <a:r>
              <a:rPr lang="en-US" altLang="zh-CN"/>
              <a:t>2. </a:t>
            </a:r>
            <a:r>
              <a:rPr lang="zh-CN" altLang="en-US"/>
              <a:t>找出树枝边</a:t>
            </a:r>
            <a:endParaRPr lang="en-US" altLang="zh-CN"/>
          </a:p>
          <a:p>
            <a:pPr lvl="0"/>
            <a:r>
              <a:rPr lang="en-US" altLang="zh-CN"/>
              <a:t>3. </a:t>
            </a:r>
            <a:r>
              <a:rPr lang="zh-CN" altLang="en-US"/>
              <a:t>找出弦</a:t>
            </a:r>
            <a:endParaRPr lang="en-US" altLang="zh-CN"/>
          </a:p>
          <a:p>
            <a:pPr lvl="0"/>
            <a:r>
              <a:rPr lang="en-US" altLang="zh-CN"/>
              <a:t>4. </a:t>
            </a:r>
            <a:r>
              <a:rPr lang="zh-CN" altLang="en-US"/>
              <a:t>找出余树</a:t>
            </a:r>
            <a:endParaRPr lang="zh-CN" altLang="en-US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433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843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结论：余树不一定是树，不一定连通，有可能含圈。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用例图说明</a:t>
            </a:r>
            <a:endParaRPr lang="en-US" altLang="zh-CN"/>
          </a:p>
          <a:p>
            <a:pPr lvl="0"/>
            <a:r>
              <a:rPr lang="zh-CN" altLang="en-US"/>
              <a:t>让学生找出不同弦对应的圈。</a:t>
            </a:r>
            <a:endParaRPr lang="zh-CN" altLang="en-US"/>
          </a:p>
        </p:txBody>
      </p:sp>
      <p:sp>
        <p:nvSpPr>
          <p:cNvPr id="204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以第</a:t>
            </a:r>
            <a:r>
              <a:rPr lang="en-US" altLang="zh-CN"/>
              <a:t>17</a:t>
            </a:r>
            <a:r>
              <a:rPr lang="zh-CN" altLang="en-US"/>
              <a:t>页的例图为例，要求学生求出所有的基本回路</a:t>
            </a:r>
            <a:endParaRPr lang="zh-CN" altLang="en-US"/>
          </a:p>
        </p:txBody>
      </p:sp>
      <p:sp>
        <p:nvSpPr>
          <p:cNvPr id="2355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以第</a:t>
            </a:r>
            <a:r>
              <a:rPr lang="en-US" altLang="zh-CN"/>
              <a:t>17</a:t>
            </a:r>
            <a:r>
              <a:rPr lang="zh-CN" altLang="en-US"/>
              <a:t>页的例图为例，要求学生求出所有的基本割集</a:t>
            </a:r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2765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以第</a:t>
            </a:r>
            <a:r>
              <a:rPr lang="en-US" altLang="zh-CN"/>
              <a:t>17</a:t>
            </a:r>
            <a:r>
              <a:rPr lang="zh-CN" altLang="en-US"/>
              <a:t>页的例图为例，要求学生求出所有的基本割集</a:t>
            </a:r>
            <a:endParaRPr lang="zh-CN" altLang="en-US"/>
          </a:p>
        </p:txBody>
      </p:sp>
      <p:sp>
        <p:nvSpPr>
          <p:cNvPr id="256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969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174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幻灯片图像占位符 1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3794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幻灯片图像占位符 1"/>
          <p:cNvSpPr>
            <a:spLocks noRot="1" noTextEdit="1"/>
          </p:cNvSpPr>
          <p:nvPr>
            <p:ph type="sldImg"/>
          </p:nvPr>
        </p:nvSpPr>
        <p:spPr/>
      </p:sp>
      <p:sp>
        <p:nvSpPr>
          <p:cNvPr id="43010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2875"/>
            <a:ext cx="4171950" cy="25511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6388"/>
            <a:ext cx="4171950" cy="25527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2875"/>
            <a:ext cx="4171950" cy="25511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6388"/>
            <a:ext cx="4171950" cy="25527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9850"/>
            <a:ext cx="7793038" cy="982663"/>
          </a:xfrm>
          <a:prstGeom prst="rect">
            <a:avLst/>
          </a:prstGeom>
          <a:noFill/>
          <a:ln>
            <a:noFill/>
          </a:ln>
          <a:effectLst>
            <a:outerShdw blurRad="63500" dist="12700" algn="ctr" rotWithShape="0">
              <a:schemeClr val="bg2">
                <a:alpha val="74997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/>
            </a:lvl1pPr>
          </a:lstStyle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9850"/>
            <a:ext cx="7793038" cy="982663"/>
          </a:xfrm>
          <a:prstGeom prst="rect">
            <a:avLst/>
          </a:prstGeom>
          <a:noFill/>
          <a:ln>
            <a:noFill/>
          </a:ln>
          <a:effectLst>
            <a:outerShdw blurRad="63500" dist="12700" algn="ctr" rotWithShape="0">
              <a:schemeClr val="bg2">
                <a:alpha val="74997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058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/>
            </a:lvl1pPr>
          </a:lstStyle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DF5D43-16C3-E842-BE2C-F5BCB9E27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9.e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6.emf"/><Relationship Id="rId11" Type="http://schemas.openxmlformats.org/officeDocument/2006/relationships/notesSlide" Target="../notesSlides/notesSlide5.xml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en-US" altLang="zh-CN"/>
              <a:t>9.2 </a:t>
            </a:r>
            <a:r>
              <a:rPr lang="zh-CN" altLang="en-US"/>
              <a:t>生成树</a:t>
            </a:r>
            <a:endParaRPr lang="zh-CN" altLang="en-US"/>
          </a:p>
        </p:txBody>
      </p:sp>
      <p:sp>
        <p:nvSpPr>
          <p:cNvPr id="512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/>
              <a:t>假设下图所示的简单图表示的是山东省高速道路系统</a:t>
            </a:r>
            <a:r>
              <a:rPr lang="en-US" altLang="zh-CN"/>
              <a:t>.</a:t>
            </a:r>
            <a:r>
              <a:rPr lang="zh-CN" altLang="en-US"/>
              <a:t>为了保持道路畅通</a:t>
            </a:r>
            <a:r>
              <a:rPr lang="en-US" altLang="zh-CN"/>
              <a:t>,</a:t>
            </a:r>
            <a:r>
              <a:rPr lang="zh-CN" altLang="en-US"/>
              <a:t>在下雪时</a:t>
            </a:r>
            <a:r>
              <a:rPr lang="en-US" altLang="zh-CN"/>
              <a:t>,</a:t>
            </a:r>
            <a:r>
              <a:rPr lang="zh-CN" altLang="en-US"/>
              <a:t>就要经常扫雪</a:t>
            </a:r>
            <a:r>
              <a:rPr lang="en-US" altLang="zh-CN"/>
              <a:t>,</a:t>
            </a:r>
            <a:r>
              <a:rPr lang="zh-CN" altLang="en-US"/>
              <a:t>高速管理部门希望只扫尽可能少的道路上的雪</a:t>
            </a:r>
            <a:r>
              <a:rPr lang="en-US" altLang="zh-CN"/>
              <a:t>,</a:t>
            </a:r>
            <a:r>
              <a:rPr lang="zh-CN" altLang="en-US"/>
              <a:t>确保总是存在连接任何两个城市的干净道路，如何做呢？</a:t>
            </a:r>
            <a:endParaRPr lang="en-US" altLang="zh-CN"/>
          </a:p>
        </p:txBody>
      </p:sp>
      <p:pic>
        <p:nvPicPr>
          <p:cNvPr id="512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3644900"/>
            <a:ext cx="6540500" cy="228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en-US" altLang="zh-CN"/>
              <a:t>9.2 </a:t>
            </a:r>
            <a:r>
              <a:rPr lang="zh-CN" altLang="en-US"/>
              <a:t>生成树</a:t>
            </a:r>
            <a:endParaRPr lang="zh-CN" altLang="en-US"/>
          </a:p>
        </p:txBody>
      </p:sp>
      <p:sp>
        <p:nvSpPr>
          <p:cNvPr id="1843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生成树</a:t>
            </a:r>
            <a:r>
              <a:rPr lang="en-US" altLang="zh-CN">
                <a:solidFill>
                  <a:schemeClr val="hlink"/>
                </a:solidFill>
              </a:rPr>
              <a:t>T</a:t>
            </a:r>
            <a:r>
              <a:rPr lang="en-US" altLang="zh-CN"/>
              <a:t>:T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的生成子图</a:t>
            </a:r>
            <a:r>
              <a:rPr lang="en-US" altLang="zh-CN"/>
              <a:t>,</a:t>
            </a:r>
            <a:r>
              <a:rPr lang="zh-CN" altLang="en-US"/>
              <a:t>且</a:t>
            </a:r>
            <a:r>
              <a:rPr lang="en-US" altLang="zh-CN"/>
              <a:t>T</a:t>
            </a:r>
            <a:r>
              <a:rPr lang="zh-CN" altLang="en-US"/>
              <a:t>为树</a:t>
            </a:r>
            <a:endParaRPr lang="zh-CN" altLang="en-US"/>
          </a:p>
          <a:p>
            <a:r>
              <a:rPr lang="zh-CN" altLang="en-US">
                <a:solidFill>
                  <a:srgbClr val="FF3300"/>
                </a:solidFill>
              </a:rPr>
              <a:t>树枝</a:t>
            </a:r>
            <a:r>
              <a:rPr lang="en-US" altLang="zh-CN"/>
              <a:t>: </a:t>
            </a:r>
            <a:r>
              <a:rPr lang="en-US" altLang="zh-CN" i="1"/>
              <a:t>e</a:t>
            </a:r>
            <a:r>
              <a:rPr lang="en-US" altLang="zh-CN">
                <a:sym typeface="Symbol" panose="05050102010706020507" pitchFamily="18" charset="2"/>
              </a:rPr>
              <a:t>E(</a:t>
            </a:r>
            <a:r>
              <a:rPr lang="en-US" altLang="zh-CN" i="1"/>
              <a:t>G</a:t>
            </a:r>
            <a:r>
              <a:rPr lang="en-US" altLang="zh-CN"/>
              <a:t>)</a:t>
            </a:r>
            <a:r>
              <a:rPr lang="zh-CN" altLang="en-US"/>
              <a:t>且</a:t>
            </a:r>
            <a:r>
              <a:rPr lang="en-US" altLang="zh-CN" i="1"/>
              <a:t>e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/>
              <a:t>E(</a:t>
            </a:r>
            <a:r>
              <a:rPr lang="en-US" altLang="zh-CN" i="1"/>
              <a:t>T</a:t>
            </a:r>
            <a:r>
              <a:rPr lang="en-US" altLang="zh-CN"/>
              <a:t>)</a:t>
            </a:r>
            <a:endParaRPr lang="zh-CN" altLang="en-US"/>
          </a:p>
          <a:p>
            <a:r>
              <a:rPr lang="zh-CN" altLang="en-US">
                <a:solidFill>
                  <a:srgbClr val="FF3300"/>
                </a:solidFill>
              </a:rPr>
              <a:t>弦</a:t>
            </a:r>
            <a:r>
              <a:rPr lang="en-US" altLang="zh-CN"/>
              <a:t>: </a:t>
            </a:r>
            <a:r>
              <a:rPr lang="en-US" altLang="zh-CN" i="1"/>
              <a:t>e</a:t>
            </a:r>
            <a:r>
              <a:rPr lang="en-US" altLang="zh-CN">
                <a:sym typeface="Symbol" panose="05050102010706020507" pitchFamily="18" charset="2"/>
              </a:rPr>
              <a:t>E(</a:t>
            </a:r>
            <a:r>
              <a:rPr lang="en-US" altLang="zh-CN" i="1"/>
              <a:t>G</a:t>
            </a:r>
            <a:r>
              <a:rPr lang="en-US" altLang="zh-CN"/>
              <a:t>)</a:t>
            </a:r>
            <a:r>
              <a:rPr lang="zh-CN" altLang="en-US"/>
              <a:t>且</a:t>
            </a:r>
            <a:r>
              <a:rPr lang="en-US" altLang="zh-CN" i="1"/>
              <a:t>e</a:t>
            </a:r>
            <a:r>
              <a:rPr lang="en-US" altLang="zh-CN">
                <a:sym typeface="Symbol" panose="05050102010706020507" pitchFamily="18" charset="2"/>
              </a:rPr>
              <a:t></a:t>
            </a:r>
            <a:r>
              <a:rPr lang="en-US" altLang="zh-CN"/>
              <a:t>E(</a:t>
            </a:r>
            <a:r>
              <a:rPr lang="en-US" altLang="zh-CN" i="1"/>
              <a:t>T</a:t>
            </a:r>
            <a:r>
              <a:rPr lang="en-US" altLang="zh-CN"/>
              <a:t>)</a:t>
            </a:r>
            <a:endParaRPr lang="en-US" altLang="zh-CN"/>
          </a:p>
          <a:p>
            <a:r>
              <a:rPr lang="zh-CN" altLang="en-US">
                <a:solidFill>
                  <a:srgbClr val="FF3300"/>
                </a:solidFill>
              </a:rPr>
              <a:t>余树</a:t>
            </a:r>
            <a:r>
              <a:rPr lang="zh-CN" altLang="en-US">
                <a:solidFill>
                  <a:schemeClr val="hlink"/>
                </a:solidFill>
              </a:rPr>
              <a:t> </a:t>
            </a:r>
            <a:r>
              <a:rPr lang="en-US" altLang="zh-CN">
                <a:solidFill>
                  <a:schemeClr val="hlink"/>
                </a:solidFill>
              </a:rPr>
              <a:t>T</a:t>
            </a:r>
            <a:r>
              <a:rPr lang="en-US" altLang="zh-CN"/>
              <a:t>(</a:t>
            </a:r>
            <a:r>
              <a:rPr lang="zh-CN" altLang="en-US"/>
              <a:t>或</a:t>
            </a:r>
            <a:r>
              <a:rPr lang="zh-CN" altLang="en-US">
                <a:solidFill>
                  <a:schemeClr val="hlink"/>
                </a:solidFill>
              </a:rPr>
              <a:t>补</a:t>
            </a:r>
            <a:r>
              <a:rPr lang="en-US" altLang="zh-CN">
                <a:solidFill>
                  <a:srgbClr val="FF3300"/>
                </a:solidFill>
              </a:rPr>
              <a:t>)</a:t>
            </a:r>
            <a:r>
              <a:rPr lang="en-US" altLang="zh-CN"/>
              <a:t>: G[E(G)-E(T)]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</a:rPr>
              <a:t>注意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T</a:t>
            </a:r>
            <a:r>
              <a:rPr lang="zh-CN" altLang="en-US"/>
              <a:t>不一定是树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7171" name="Line 4"/>
          <p:cNvSpPr/>
          <p:nvPr/>
        </p:nvSpPr>
        <p:spPr>
          <a:xfrm>
            <a:off x="1547813" y="3357563"/>
            <a:ext cx="288925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72" name="Line 5"/>
          <p:cNvSpPr/>
          <p:nvPr/>
        </p:nvSpPr>
        <p:spPr>
          <a:xfrm>
            <a:off x="1562100" y="3933825"/>
            <a:ext cx="2889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77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endParaRPr lang="zh-CN" altLang="en-US"/>
          </a:p>
        </p:txBody>
      </p:sp>
      <p:sp>
        <p:nvSpPr>
          <p:cNvPr id="9218" name="Rectangle 3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8037513" cy="720725"/>
          </a:xfrm>
        </p:spPr>
        <p:txBody>
          <a:bodyPr vert="horz" wrap="square" lIns="91440" tIns="45720" rIns="91440" bIns="45720" anchor="t" anchorCtr="0"/>
          <a:p>
            <a:pPr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zh-CN" altLang="en-US">
                <a:solidFill>
                  <a:schemeClr val="folHlink"/>
                </a:solidFill>
              </a:rPr>
              <a:t>  如下图，</a:t>
            </a:r>
            <a:r>
              <a:rPr lang="en-US" altLang="zh-CN" i="1">
                <a:solidFill>
                  <a:schemeClr val="folHlink"/>
                </a:solidFill>
              </a:rPr>
              <a:t>T</a:t>
            </a:r>
            <a:r>
              <a:rPr lang="en-US" altLang="zh-CN">
                <a:solidFill>
                  <a:schemeClr val="folHlink"/>
                </a:solidFill>
              </a:rPr>
              <a:t>={</a:t>
            </a:r>
            <a:r>
              <a:rPr lang="en-US" altLang="zh-CN" i="1">
                <a:solidFill>
                  <a:schemeClr val="folHlink"/>
                </a:solidFill>
              </a:rPr>
              <a:t>e</a:t>
            </a:r>
            <a:r>
              <a:rPr lang="en-US" altLang="zh-CN" baseline="-25000">
                <a:solidFill>
                  <a:schemeClr val="folHlink"/>
                </a:solidFill>
              </a:rPr>
              <a:t>1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en-US" altLang="zh-CN" i="1">
                <a:solidFill>
                  <a:schemeClr val="folHlink"/>
                </a:solidFill>
              </a:rPr>
              <a:t>e</a:t>
            </a:r>
            <a:r>
              <a:rPr lang="en-US" altLang="zh-CN" baseline="-25000">
                <a:solidFill>
                  <a:schemeClr val="folHlink"/>
                </a:solidFill>
              </a:rPr>
              <a:t>6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en-US" altLang="zh-CN" i="1">
                <a:solidFill>
                  <a:schemeClr val="folHlink"/>
                </a:solidFill>
              </a:rPr>
              <a:t>e</a:t>
            </a:r>
            <a:r>
              <a:rPr lang="en-US" altLang="zh-CN" baseline="-25000">
                <a:solidFill>
                  <a:schemeClr val="folHlink"/>
                </a:solidFill>
              </a:rPr>
              <a:t>7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en-US" altLang="zh-CN" i="1">
                <a:solidFill>
                  <a:schemeClr val="folHlink"/>
                </a:solidFill>
              </a:rPr>
              <a:t>e</a:t>
            </a:r>
            <a:r>
              <a:rPr lang="en-US" altLang="zh-CN" baseline="-25000">
                <a:solidFill>
                  <a:schemeClr val="folHlink"/>
                </a:solidFill>
              </a:rPr>
              <a:t>4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en-US" altLang="zh-CN" i="1">
                <a:solidFill>
                  <a:schemeClr val="folHlink"/>
                </a:solidFill>
              </a:rPr>
              <a:t>e</a:t>
            </a:r>
            <a:r>
              <a:rPr lang="en-US" altLang="zh-CN" baseline="-25000">
                <a:solidFill>
                  <a:schemeClr val="folHlink"/>
                </a:solidFill>
              </a:rPr>
              <a:t>3</a:t>
            </a:r>
            <a:r>
              <a:rPr lang="en-US" altLang="zh-CN">
                <a:solidFill>
                  <a:schemeClr val="folHlink"/>
                </a:solidFill>
              </a:rPr>
              <a:t>}</a:t>
            </a:r>
            <a:r>
              <a:rPr lang="zh-CN" altLang="en-US">
                <a:solidFill>
                  <a:schemeClr val="folHlink"/>
                </a:solidFill>
              </a:rPr>
              <a:t>，</a:t>
            </a:r>
            <a:endParaRPr lang="zh-CN" altLang="en-US">
              <a:solidFill>
                <a:schemeClr val="folHlink"/>
              </a:solidFill>
            </a:endParaRPr>
          </a:p>
        </p:txBody>
      </p:sp>
      <p:pic>
        <p:nvPicPr>
          <p:cNvPr id="191492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2188" t="57292" r="28125" b="27083"/>
          <a:stretch>
            <a:fillRect/>
          </a:stretch>
        </p:blipFill>
        <p:spPr>
          <a:xfrm>
            <a:off x="1187450" y="4883150"/>
            <a:ext cx="4343400" cy="1714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1493" name="Text Box 5"/>
          <p:cNvSpPr txBox="1"/>
          <p:nvPr/>
        </p:nvSpPr>
        <p:spPr>
          <a:xfrm>
            <a:off x="395288" y="3933825"/>
            <a:ext cx="8174037" cy="10763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0000"/>
              </a:lnSpc>
              <a:buSzTx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下图中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黑线表示生成树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红线构成树的补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余树是非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SzTx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连通的且有回路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4860925" y="2276475"/>
            <a:ext cx="2232025" cy="647700"/>
            <a:chOff x="3243" y="890"/>
            <a:chExt cx="1406" cy="408"/>
          </a:xfrm>
        </p:grpSpPr>
        <p:graphicFrame>
          <p:nvGraphicFramePr>
            <p:cNvPr id="9222" name="Object 7"/>
            <p:cNvGraphicFramePr>
              <a:graphicFrameLocks noChangeAspect="1"/>
            </p:cNvGraphicFramePr>
            <p:nvPr/>
          </p:nvGraphicFramePr>
          <p:xfrm>
            <a:off x="3243" y="935"/>
            <a:ext cx="22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2" imgW="165100" imgH="190500" progId="Equation.3">
                    <p:embed/>
                  </p:oleObj>
                </mc:Choice>
                <mc:Fallback>
                  <p:oleObj name="" r:id="rId2" imgW="165100" imgH="1905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43" y="935"/>
                          <a:ext cx="220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3" name="Rectangle 8"/>
            <p:cNvSpPr/>
            <p:nvPr/>
          </p:nvSpPr>
          <p:spPr>
            <a:xfrm>
              <a:off x="3396" y="890"/>
              <a:ext cx="1253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marL="342900" indent="-342900" eaLnBrk="0" hangingPunct="0">
                <a:lnSpc>
                  <a:spcPct val="110000"/>
                </a:lnSpc>
                <a:spcBef>
                  <a:spcPct val="30000"/>
                </a:spcBef>
                <a:buClr>
                  <a:schemeClr val="folHlink"/>
                </a:buClr>
                <a:buSzPct val="75000"/>
              </a:pP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={</a:t>
              </a:r>
              <a:r>
                <a:rPr lang="en-US" altLang="zh-CN" sz="2800" i="1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e</a:t>
              </a:r>
              <a:r>
                <a:rPr lang="en-US" altLang="zh-CN" sz="2800" baseline="-250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,</a:t>
              </a:r>
              <a:r>
                <a:rPr lang="en-US" altLang="zh-CN" sz="2800" i="1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e</a:t>
              </a:r>
              <a:r>
                <a:rPr lang="en-US" altLang="zh-CN" sz="2800" baseline="-250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5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,</a:t>
              </a:r>
              <a:r>
                <a:rPr lang="en-US" altLang="zh-CN" sz="2800" i="1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e</a:t>
              </a:r>
              <a:r>
                <a:rPr lang="en-US" altLang="zh-CN" sz="2800" baseline="-250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8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}</a:t>
              </a:r>
              <a:endPara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191497" name="Object 9"/>
          <p:cNvGraphicFramePr>
            <a:graphicFrameLocks noChangeAspect="1"/>
          </p:cNvGraphicFramePr>
          <p:nvPr/>
        </p:nvGraphicFramePr>
        <p:xfrm>
          <a:off x="1331913" y="1989138"/>
          <a:ext cx="3143250" cy="197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4" imgW="3736340" imgH="2348230" progId="Visio.Drawing.11">
                  <p:embed/>
                </p:oleObj>
              </mc:Choice>
              <mc:Fallback>
                <p:oleObj name="" r:id="rId4" imgW="3736340" imgH="234823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31913" y="1989138"/>
                        <a:ext cx="3143250" cy="1970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498" name="Text Box 10"/>
          <p:cNvSpPr txBox="1"/>
          <p:nvPr/>
        </p:nvSpPr>
        <p:spPr>
          <a:xfrm>
            <a:off x="4716463" y="2909888"/>
            <a:ext cx="3865562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余树是非连通的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无回路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2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3" grpId="0"/>
      <p:bldP spid="19149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找出下图所示简单图的生成树</a:t>
            </a:r>
            <a:endParaRPr lang="zh-CN" altLang="en-US"/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/>
              <a:t>G</a:t>
            </a:r>
            <a:r>
              <a:rPr lang="zh-CN" altLang="en-US"/>
              <a:t>连通</a:t>
            </a:r>
            <a:r>
              <a:rPr lang="en-US" altLang="zh-CN"/>
              <a:t>,</a:t>
            </a:r>
            <a:r>
              <a:rPr lang="zh-CN" altLang="en-US"/>
              <a:t>但有圈</a:t>
            </a:r>
            <a:r>
              <a:rPr lang="en-US" altLang="zh-CN"/>
              <a:t>.</a:t>
            </a:r>
            <a:r>
              <a:rPr lang="zh-CN" altLang="en-US"/>
              <a:t>因此</a:t>
            </a:r>
            <a:r>
              <a:rPr lang="en-US" altLang="zh-CN"/>
              <a:t>,</a:t>
            </a:r>
            <a:r>
              <a:rPr lang="zh-CN" altLang="en-US"/>
              <a:t>先找出</a:t>
            </a:r>
            <a:r>
              <a:rPr lang="en-US" altLang="zh-CN"/>
              <a:t>G</a:t>
            </a:r>
            <a:r>
              <a:rPr lang="zh-CN" altLang="en-US"/>
              <a:t>中的一个圈</a:t>
            </a:r>
            <a:r>
              <a:rPr lang="en-US" altLang="zh-CN"/>
              <a:t>,</a:t>
            </a:r>
            <a:r>
              <a:rPr lang="zh-CN" altLang="en-US"/>
              <a:t> 删除其中任一条边得到</a:t>
            </a:r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zh-CN" altLang="en-US"/>
              <a:t>再找出</a:t>
            </a:r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zh-CN" altLang="en-US"/>
              <a:t>中的一个圈</a:t>
            </a:r>
            <a:r>
              <a:rPr lang="en-US" altLang="zh-CN"/>
              <a:t>,</a:t>
            </a:r>
            <a:r>
              <a:rPr lang="zh-CN" altLang="en-US"/>
              <a:t>删除该圈上的任一条边得到</a:t>
            </a:r>
            <a:r>
              <a:rPr lang="en-US" altLang="zh-CN"/>
              <a:t>G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zh-CN" altLang="en-US"/>
              <a:t>以此类推</a:t>
            </a:r>
            <a:r>
              <a:rPr lang="en-US" altLang="zh-CN"/>
              <a:t>,</a:t>
            </a:r>
            <a:r>
              <a:rPr lang="zh-CN" altLang="en-US"/>
              <a:t>直到在图中找不到圈为止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------</a:t>
            </a:r>
            <a:r>
              <a:rPr lang="zh-CN" altLang="en-US">
                <a:solidFill>
                  <a:srgbClr val="FF0000"/>
                </a:solidFill>
              </a:rPr>
              <a:t>破圈法</a:t>
            </a:r>
            <a:r>
              <a:rPr lang="en-US" altLang="zh-CN"/>
              <a:t>.</a:t>
            </a:r>
            <a:endParaRPr lang="en-US" altLang="zh-CN"/>
          </a:p>
        </p:txBody>
      </p:sp>
      <p:pic>
        <p:nvPicPr>
          <p:cNvPr id="1126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438" y="3357563"/>
            <a:ext cx="4175125" cy="2422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10"/>
          <p:cNvSpPr txBox="1"/>
          <p:nvPr/>
        </p:nvSpPr>
        <p:spPr>
          <a:xfrm>
            <a:off x="395288" y="5733098"/>
            <a:ext cx="3786187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显然</a:t>
            </a:r>
            <a:r>
              <a:rPr lang="en-US" altLang="zh-CN" sz="280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zh-CN" altLang="en-US" sz="280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的生成树不唯一</a:t>
            </a:r>
            <a:r>
              <a:rPr lang="en-US" altLang="zh-CN" sz="280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lang="zh-CN" altLang="en-US" sz="2800">
              <a:solidFill>
                <a:srgbClr val="FF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26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8658" name="Object 2"/>
          <p:cNvGraphicFramePr>
            <a:graphicFrameLocks noChangeAspect="1"/>
          </p:cNvGraphicFramePr>
          <p:nvPr/>
        </p:nvGraphicFramePr>
        <p:xfrm>
          <a:off x="755650" y="3716338"/>
          <a:ext cx="2016125" cy="286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404745" imgH="3409315" progId="Visio.Drawing.11">
                  <p:embed/>
                </p:oleObj>
              </mc:Choice>
              <mc:Fallback>
                <p:oleObj name="" r:id="rId1" imgW="2404745" imgH="3409315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3716338"/>
                        <a:ext cx="2016125" cy="2868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" name="Rectangle 3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破圈法举例</a:t>
            </a:r>
            <a:endParaRPr lang="zh-CN" altLang="en-US"/>
          </a:p>
        </p:txBody>
      </p:sp>
      <p:graphicFrame>
        <p:nvGraphicFramePr>
          <p:cNvPr id="198660" name="Object 4"/>
          <p:cNvGraphicFramePr>
            <a:graphicFrameLocks noChangeAspect="1"/>
          </p:cNvGraphicFramePr>
          <p:nvPr/>
        </p:nvGraphicFramePr>
        <p:xfrm>
          <a:off x="468313" y="1125538"/>
          <a:ext cx="2039937" cy="285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2426970" imgH="3386455" progId="Visio.Drawing.11">
                  <p:embed/>
                </p:oleObj>
              </mc:Choice>
              <mc:Fallback>
                <p:oleObj name="" r:id="rId3" imgW="2426970" imgH="3386455" progId="Visio.Drawing.11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3" y="1125538"/>
                        <a:ext cx="2039937" cy="285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61" name="Line 5"/>
          <p:cNvSpPr/>
          <p:nvPr/>
        </p:nvSpPr>
        <p:spPr>
          <a:xfrm flipV="1">
            <a:off x="784225" y="2422525"/>
            <a:ext cx="0" cy="792163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8662" name="Line 6"/>
          <p:cNvSpPr/>
          <p:nvPr/>
        </p:nvSpPr>
        <p:spPr>
          <a:xfrm>
            <a:off x="812800" y="2436813"/>
            <a:ext cx="1296988" cy="792162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8663" name="Line 7"/>
          <p:cNvSpPr/>
          <p:nvPr/>
        </p:nvSpPr>
        <p:spPr>
          <a:xfrm>
            <a:off x="827088" y="3286125"/>
            <a:ext cx="1368425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2" name="Group 8"/>
          <p:cNvGrpSpPr/>
          <p:nvPr/>
        </p:nvGrpSpPr>
        <p:grpSpPr>
          <a:xfrm>
            <a:off x="2700338" y="2278063"/>
            <a:ext cx="1657350" cy="719137"/>
            <a:chOff x="1701" y="1661"/>
            <a:chExt cx="1044" cy="453"/>
          </a:xfrm>
        </p:grpSpPr>
        <p:sp>
          <p:nvSpPr>
            <p:cNvPr id="13320" name="Text Box 9"/>
            <p:cNvSpPr txBox="1"/>
            <p:nvPr/>
          </p:nvSpPr>
          <p:spPr>
            <a:xfrm>
              <a:off x="1701" y="1661"/>
              <a:ext cx="9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删除边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  <a:endPara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3321" name="AutoShape 10"/>
            <p:cNvSpPr/>
            <p:nvPr/>
          </p:nvSpPr>
          <p:spPr>
            <a:xfrm>
              <a:off x="1701" y="1933"/>
              <a:ext cx="1044" cy="181"/>
            </a:xfrm>
            <a:prstGeom prst="rightArrow">
              <a:avLst>
                <a:gd name="adj1" fmla="val 50000"/>
                <a:gd name="adj2" fmla="val 144092"/>
              </a:avLst>
            </a:prstGeom>
            <a:solidFill>
              <a:srgbClr val="BBF7FD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98667" name="Object 11"/>
          <p:cNvGraphicFramePr>
            <a:graphicFrameLocks noChangeAspect="1"/>
          </p:cNvGraphicFramePr>
          <p:nvPr/>
        </p:nvGraphicFramePr>
        <p:xfrm>
          <a:off x="4356100" y="1125538"/>
          <a:ext cx="2016125" cy="286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2404745" imgH="3409315" progId="Visio.Drawing.11">
                  <p:embed/>
                </p:oleObj>
              </mc:Choice>
              <mc:Fallback>
                <p:oleObj name="" r:id="rId5" imgW="2404745" imgH="3409315" progId="Visio.Drawing.11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56100" y="1125538"/>
                        <a:ext cx="2016125" cy="2868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68" name="Line 12"/>
          <p:cNvSpPr/>
          <p:nvPr/>
        </p:nvSpPr>
        <p:spPr>
          <a:xfrm>
            <a:off x="4716463" y="2422525"/>
            <a:ext cx="1223962" cy="792163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8669" name="Line 13"/>
          <p:cNvSpPr/>
          <p:nvPr/>
        </p:nvSpPr>
        <p:spPr>
          <a:xfrm>
            <a:off x="4716463" y="2349500"/>
            <a:ext cx="1295400" cy="7302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8670" name="Line 14"/>
          <p:cNvSpPr/>
          <p:nvPr/>
        </p:nvSpPr>
        <p:spPr>
          <a:xfrm>
            <a:off x="6011863" y="2422525"/>
            <a:ext cx="0" cy="8636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" name="Group 15"/>
          <p:cNvGrpSpPr/>
          <p:nvPr/>
        </p:nvGrpSpPr>
        <p:grpSpPr>
          <a:xfrm>
            <a:off x="6732588" y="2493963"/>
            <a:ext cx="1657350" cy="719137"/>
            <a:chOff x="1701" y="1661"/>
            <a:chExt cx="1044" cy="453"/>
          </a:xfrm>
        </p:grpSpPr>
        <p:sp>
          <p:nvSpPr>
            <p:cNvPr id="13327" name="Text Box 16"/>
            <p:cNvSpPr txBox="1"/>
            <p:nvPr/>
          </p:nvSpPr>
          <p:spPr>
            <a:xfrm>
              <a:off x="1701" y="1661"/>
              <a:ext cx="9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删除边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endPara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3328" name="AutoShape 17"/>
            <p:cNvSpPr/>
            <p:nvPr/>
          </p:nvSpPr>
          <p:spPr>
            <a:xfrm>
              <a:off x="1701" y="1933"/>
              <a:ext cx="1044" cy="181"/>
            </a:xfrm>
            <a:prstGeom prst="rightArrow">
              <a:avLst>
                <a:gd name="adj1" fmla="val 50000"/>
                <a:gd name="adj2" fmla="val 144092"/>
              </a:avLst>
            </a:prstGeom>
            <a:solidFill>
              <a:srgbClr val="BBF7FD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8674" name="Line 18"/>
          <p:cNvSpPr/>
          <p:nvPr/>
        </p:nvSpPr>
        <p:spPr>
          <a:xfrm flipH="1">
            <a:off x="1116013" y="4292600"/>
            <a:ext cx="576262" cy="576263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8675" name="Line 19"/>
          <p:cNvSpPr/>
          <p:nvPr/>
        </p:nvSpPr>
        <p:spPr>
          <a:xfrm>
            <a:off x="1692275" y="4292600"/>
            <a:ext cx="719138" cy="649288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8676" name="Line 20"/>
          <p:cNvSpPr/>
          <p:nvPr/>
        </p:nvSpPr>
        <p:spPr>
          <a:xfrm>
            <a:off x="1116013" y="4941888"/>
            <a:ext cx="1295400" cy="71437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4" name="Group 21"/>
          <p:cNvGrpSpPr/>
          <p:nvPr/>
        </p:nvGrpSpPr>
        <p:grpSpPr>
          <a:xfrm>
            <a:off x="2987675" y="4941888"/>
            <a:ext cx="1657350" cy="719137"/>
            <a:chOff x="1701" y="1661"/>
            <a:chExt cx="1044" cy="453"/>
          </a:xfrm>
        </p:grpSpPr>
        <p:sp>
          <p:nvSpPr>
            <p:cNvPr id="13333" name="Text Box 22"/>
            <p:cNvSpPr txBox="1"/>
            <p:nvPr/>
          </p:nvSpPr>
          <p:spPr>
            <a:xfrm>
              <a:off x="1701" y="1661"/>
              <a:ext cx="9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删除边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6</a:t>
              </a:r>
              <a:endPara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3334" name="AutoShape 23"/>
            <p:cNvSpPr/>
            <p:nvPr/>
          </p:nvSpPr>
          <p:spPr>
            <a:xfrm>
              <a:off x="1701" y="1933"/>
              <a:ext cx="1044" cy="181"/>
            </a:xfrm>
            <a:prstGeom prst="rightArrow">
              <a:avLst>
                <a:gd name="adj1" fmla="val 50000"/>
                <a:gd name="adj2" fmla="val 144092"/>
              </a:avLst>
            </a:prstGeom>
            <a:solidFill>
              <a:srgbClr val="BBF7FD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98680" name="Object 24"/>
          <p:cNvGraphicFramePr>
            <a:graphicFrameLocks noChangeAspect="1"/>
          </p:cNvGraphicFramePr>
          <p:nvPr/>
        </p:nvGraphicFramePr>
        <p:xfrm>
          <a:off x="5148263" y="3573463"/>
          <a:ext cx="2016125" cy="286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7" imgW="2404745" imgH="3409315" progId="Visio.Drawing.11">
                  <p:embed/>
                </p:oleObj>
              </mc:Choice>
              <mc:Fallback>
                <p:oleObj name="" r:id="rId7" imgW="2404745" imgH="3409315" progId="Visio.Drawing.11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48263" y="3573463"/>
                        <a:ext cx="2016125" cy="2868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  <a:latin typeface="Tahoma" panose="020B0604030504040204" pitchFamily="34" charset="0"/>
              </a:rPr>
            </a:fld>
            <a:endParaRPr lang="en-US" altLang="zh-CN" sz="1400" b="0">
              <a:solidFill>
                <a:srgbClr val="00206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9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9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9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>
                <a:latin typeface="宋体" panose="02010600030101010101" pitchFamily="2" charset="-122"/>
              </a:rPr>
              <a:t>生成树的存在性定理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9.3</a:t>
            </a:r>
            <a:r>
              <a:rPr lang="en-US" altLang="zh-CN"/>
              <a:t> </a:t>
            </a:r>
            <a:r>
              <a:rPr lang="zh-CN" altLang="en-US"/>
              <a:t>无向图</a:t>
            </a:r>
            <a:r>
              <a:rPr lang="en-US" altLang="zh-CN"/>
              <a:t>G</a:t>
            </a:r>
            <a:r>
              <a:rPr lang="zh-CN" altLang="en-US"/>
              <a:t>具有生成树当且仅当</a:t>
            </a:r>
            <a:r>
              <a:rPr lang="en-US" altLang="zh-CN"/>
              <a:t>G</a:t>
            </a:r>
            <a:r>
              <a:rPr lang="zh-CN" altLang="en-US"/>
              <a:t>是连通的</a:t>
            </a:r>
            <a:r>
              <a:rPr lang="en-US" altLang="zh-CN"/>
              <a:t>.</a:t>
            </a:r>
            <a:endParaRPr lang="en-US" altLang="zh-CN"/>
          </a:p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>
                <a:solidFill>
                  <a:srgbClr val="FF0000"/>
                </a:solidFill>
              </a:rPr>
              <a:t>证明</a:t>
            </a:r>
            <a:r>
              <a:rPr lang="en-US" altLang="zh-CN"/>
              <a:t>:(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)</a:t>
            </a:r>
            <a:r>
              <a:rPr lang="zh-CN" altLang="en-US"/>
              <a:t>显然</a:t>
            </a:r>
            <a:r>
              <a:rPr lang="en-US" altLang="zh-CN"/>
              <a:t>.</a:t>
            </a:r>
            <a:endParaRPr lang="en-US" altLang="zh-CN"/>
          </a:p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</a:t>
            </a:r>
            <a:r>
              <a:rPr lang="en-US" altLang="zh-CN"/>
              <a:t>)(</a:t>
            </a:r>
            <a:r>
              <a:rPr lang="zh-CN" altLang="en-US">
                <a:solidFill>
                  <a:srgbClr val="FF00FF"/>
                </a:solidFill>
              </a:rPr>
              <a:t>破圈法</a:t>
            </a:r>
            <a:r>
              <a:rPr lang="en-US" altLang="zh-CN"/>
              <a:t>)</a:t>
            </a:r>
            <a:r>
              <a:rPr lang="zh-CN" altLang="en-US"/>
              <a:t>若图中无圈</a:t>
            </a:r>
            <a:r>
              <a:rPr lang="en-US" altLang="zh-CN"/>
              <a:t>, </a:t>
            </a:r>
            <a:r>
              <a:rPr lang="zh-CN" altLang="en-US"/>
              <a:t>则图本身就是生成树</a:t>
            </a:r>
            <a:r>
              <a:rPr lang="en-US" altLang="zh-CN"/>
              <a:t>. </a:t>
            </a:r>
            <a:endParaRPr lang="en-US" altLang="zh-CN"/>
          </a:p>
          <a:p>
            <a:pPr algn="just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/>
              <a:t>否则删去圈上的任一条边</a:t>
            </a:r>
            <a:r>
              <a:rPr lang="en-US" altLang="zh-CN"/>
              <a:t>, </a:t>
            </a:r>
            <a:r>
              <a:rPr lang="zh-CN" altLang="en-US"/>
              <a:t>这不破坏连通性</a:t>
            </a:r>
            <a:r>
              <a:rPr lang="en-US" altLang="zh-CN"/>
              <a:t>, </a:t>
            </a:r>
            <a:r>
              <a:rPr lang="zh-CN" altLang="en-US"/>
              <a:t>重复进行</a:t>
            </a:r>
            <a:endParaRPr lang="en-US" altLang="zh-CN"/>
          </a:p>
          <a:p>
            <a:pPr algn="just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/>
              <a:t>直到无圈为止</a:t>
            </a:r>
            <a:r>
              <a:rPr lang="en-US" altLang="zh-CN"/>
              <a:t>,</a:t>
            </a:r>
            <a:r>
              <a:rPr lang="zh-CN" altLang="en-US"/>
              <a:t>剩下的图是一棵生成树</a:t>
            </a:r>
            <a:r>
              <a:rPr lang="en-US" altLang="zh-CN"/>
              <a:t>.</a:t>
            </a:r>
            <a:endParaRPr lang="zh-CN" altLang="en-US"/>
          </a:p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注意</a:t>
            </a:r>
            <a:r>
              <a:rPr lang="en-US" altLang="zh-CN">
                <a:solidFill>
                  <a:schemeClr val="hlink"/>
                </a:solidFill>
              </a:rPr>
              <a:t>: </a:t>
            </a:r>
            <a:r>
              <a:rPr lang="zh-CN" altLang="en-US"/>
              <a:t>连通图的生成树不唯一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1536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推论</a:t>
            </a:r>
            <a:endParaRPr lang="zh-CN" altLang="en-US"/>
          </a:p>
        </p:txBody>
      </p:sp>
      <p:sp>
        <p:nvSpPr>
          <p:cNvPr id="1638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推论</a:t>
            </a:r>
            <a:r>
              <a:rPr lang="en-US" altLang="zh-CN">
                <a:solidFill>
                  <a:schemeClr val="hlink"/>
                </a:solidFill>
              </a:rPr>
              <a:t>1: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zh-CN" altLang="en-US"/>
              <a:t>为</a:t>
            </a:r>
            <a:r>
              <a:rPr lang="en-US" altLang="zh-CN" i="1"/>
              <a:t>n</a:t>
            </a:r>
            <a:r>
              <a:rPr lang="zh-CN" altLang="en-US"/>
              <a:t>阶</a:t>
            </a:r>
            <a:r>
              <a:rPr lang="en-US" altLang="zh-CN" i="1"/>
              <a:t>m</a:t>
            </a:r>
            <a:r>
              <a:rPr lang="zh-CN" altLang="en-US"/>
              <a:t>条边的无向连通图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 i="1"/>
              <a:t>m</a:t>
            </a:r>
            <a:r>
              <a:rPr lang="en-US" altLang="zh-CN">
                <a:sym typeface="Symbol" panose="05050102010706020507" pitchFamily="18" charset="2"/>
              </a:rPr>
              <a:t>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-1.</a:t>
            </a:r>
            <a:endParaRPr lang="en-US" altLang="zh-CN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推论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2:</a:t>
            </a: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zh-CN" altLang="en-US">
                <a:sym typeface="Symbol" panose="05050102010706020507" pitchFamily="18" charset="2"/>
              </a:rPr>
              <a:t>设</a:t>
            </a:r>
            <a:r>
              <a:rPr lang="en-US" altLang="zh-CN" i="1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阶</a:t>
            </a:r>
            <a:r>
              <a:rPr lang="en-US" altLang="zh-CN" i="1">
                <a:sym typeface="Symbol" panose="05050102010706020507" pitchFamily="18" charset="2"/>
              </a:rPr>
              <a:t>m</a:t>
            </a:r>
            <a:r>
              <a:rPr lang="zh-CN" altLang="en-US">
                <a:sym typeface="Symbol" panose="05050102010706020507" pitchFamily="18" charset="2"/>
              </a:rPr>
              <a:t>条边的无向连通图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的一棵生成树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则</a:t>
            </a:r>
            <a:r>
              <a:rPr lang="en-US" altLang="zh-CN" i="1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的余树中含</a:t>
            </a:r>
            <a:r>
              <a:rPr lang="en-US" altLang="zh-CN" i="1">
                <a:sym typeface="Symbol" panose="05050102010706020507" pitchFamily="18" charset="2"/>
              </a:rPr>
              <a:t>m</a:t>
            </a:r>
            <a:r>
              <a:rPr lang="en-US" altLang="zh-CN">
                <a:sym typeface="Symbol" panose="05050102010706020507" pitchFamily="18" charset="2"/>
              </a:rPr>
              <a:t>-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+1</a:t>
            </a:r>
            <a:r>
              <a:rPr lang="zh-CN" altLang="en-US">
                <a:sym typeface="Symbol" panose="05050102010706020507" pitchFamily="18" charset="2"/>
              </a:rPr>
              <a:t>条边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推论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3:</a:t>
            </a: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zh-CN" altLang="en-US">
                <a:sym typeface="Symbol" panose="05050102010706020507" pitchFamily="18" charset="2"/>
              </a:rPr>
              <a:t>设</a:t>
            </a:r>
            <a:r>
              <a:rPr lang="en-US" altLang="zh-CN" i="1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是连通图</a:t>
            </a:r>
            <a:r>
              <a:rPr lang="en-US" altLang="zh-CN" i="1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中一棵生成树</a:t>
            </a:r>
            <a:r>
              <a:rPr lang="en-US" altLang="zh-CN">
                <a:sym typeface="Symbol" panose="05050102010706020507" pitchFamily="18" charset="2"/>
              </a:rPr>
              <a:t>,T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lang="en-US" altLang="zh-CN" i="1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的余树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中任意一圈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则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T</a:t>
            </a:r>
            <a:r>
              <a:rPr lang="en-US" altLang="zh-CN">
                <a:sym typeface="Symbol" panose="05050102010706020507" pitchFamily="18" charset="2"/>
              </a:rPr>
              <a:t>)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C</a:t>
            </a:r>
            <a:r>
              <a:rPr lang="en-US" altLang="zh-CN">
                <a:sym typeface="Symbol" panose="05050102010706020507" pitchFamily="18" charset="2"/>
              </a:rPr>
              <a:t>).</a:t>
            </a:r>
            <a:endParaRPr lang="zh-CN" altLang="en-US"/>
          </a:p>
        </p:txBody>
      </p:sp>
      <p:sp>
        <p:nvSpPr>
          <p:cNvPr id="16387" name="Line 4"/>
          <p:cNvSpPr/>
          <p:nvPr/>
        </p:nvSpPr>
        <p:spPr>
          <a:xfrm>
            <a:off x="6429375" y="3098800"/>
            <a:ext cx="274638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88" name="Line 6"/>
          <p:cNvSpPr/>
          <p:nvPr/>
        </p:nvSpPr>
        <p:spPr>
          <a:xfrm>
            <a:off x="3995738" y="3573463"/>
            <a:ext cx="27463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8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endParaRPr lang="zh-CN" altLang="en-US"/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250825" y="1412875"/>
            <a:ext cx="8893175" cy="5256213"/>
          </a:xfrm>
        </p:spPr>
        <p:txBody>
          <a:bodyPr vert="horz" wrap="square" lIns="91440" tIns="45720" rIns="91440" bIns="45720" anchor="t" anchorCtr="0"/>
          <a:p>
            <a:pPr>
              <a:lnSpc>
                <a:spcPct val="100000"/>
              </a:lnSpc>
              <a:spcBef>
                <a:spcPct val="20000"/>
              </a:spcBef>
              <a:buNone/>
            </a:pPr>
            <a:r>
              <a:rPr lang="zh-CN" altLang="en-US" sz="2600">
                <a:solidFill>
                  <a:schemeClr val="hlink"/>
                </a:solidFill>
              </a:rPr>
              <a:t>例 </a:t>
            </a:r>
            <a:r>
              <a:rPr lang="zh-CN" altLang="en-US" sz="2600">
                <a:solidFill>
                  <a:schemeClr val="folHlink"/>
                </a:solidFill>
              </a:rPr>
              <a:t>设</a:t>
            </a:r>
            <a:r>
              <a:rPr lang="en-US" altLang="zh-CN" sz="2600" i="1">
                <a:solidFill>
                  <a:schemeClr val="folHlink"/>
                </a:solidFill>
              </a:rPr>
              <a:t>T</a:t>
            </a:r>
            <a:r>
              <a:rPr lang="zh-CN" altLang="en-US" sz="2600">
                <a:solidFill>
                  <a:schemeClr val="folHlink"/>
                </a:solidFill>
              </a:rPr>
              <a:t>是</a:t>
            </a:r>
            <a:r>
              <a:rPr lang="en-US" altLang="zh-CN" sz="2600">
                <a:solidFill>
                  <a:schemeClr val="folHlink"/>
                </a:solidFill>
              </a:rPr>
              <a:t>6</a:t>
            </a:r>
            <a:r>
              <a:rPr lang="zh-CN" altLang="en-US" sz="2600">
                <a:solidFill>
                  <a:schemeClr val="folHlink"/>
                </a:solidFill>
              </a:rPr>
              <a:t>阶无向简单图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的一棵生成树</a:t>
            </a:r>
            <a:r>
              <a:rPr lang="en-US" altLang="zh-CN" sz="2600">
                <a:solidFill>
                  <a:schemeClr val="folHlink"/>
                </a:solidFill>
              </a:rPr>
              <a:t>, </a:t>
            </a:r>
            <a:r>
              <a:rPr lang="zh-CN" altLang="en-US" sz="2600">
                <a:solidFill>
                  <a:schemeClr val="folHlink"/>
                </a:solidFill>
              </a:rPr>
              <a:t>讨论下面的问题：</a:t>
            </a:r>
            <a:endParaRPr lang="zh-CN" altLang="en-US" sz="2600">
              <a:solidFill>
                <a:schemeClr val="folHlink"/>
              </a:solidFill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sz="2600">
                <a:solidFill>
                  <a:schemeClr val="folHlink"/>
                </a:solidFill>
              </a:rPr>
              <a:t>(1) </a:t>
            </a:r>
            <a:r>
              <a:rPr lang="zh-CN" altLang="en-US" sz="2600">
                <a:solidFill>
                  <a:schemeClr val="folHlink"/>
                </a:solidFill>
              </a:rPr>
              <a:t>当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的边数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en-US" altLang="zh-CN" sz="2600">
                <a:solidFill>
                  <a:schemeClr val="folHlink"/>
                </a:solidFill>
              </a:rPr>
              <a:t>=9</a:t>
            </a:r>
            <a:r>
              <a:rPr lang="zh-CN" altLang="en-US" sz="2600">
                <a:solidFill>
                  <a:schemeClr val="folHlink"/>
                </a:solidFill>
              </a:rPr>
              <a:t>时</a:t>
            </a:r>
            <a:r>
              <a:rPr lang="en-US" altLang="zh-CN" sz="2600">
                <a:solidFill>
                  <a:schemeClr val="folHlink"/>
                </a:solidFill>
              </a:rPr>
              <a:t>, </a:t>
            </a:r>
            <a:r>
              <a:rPr lang="en-US" altLang="zh-CN" sz="2600" i="1">
                <a:solidFill>
                  <a:schemeClr val="folHlink"/>
                </a:solidFill>
              </a:rPr>
              <a:t>T</a:t>
            </a:r>
            <a:r>
              <a:rPr lang="zh-CN" altLang="en-US" sz="2600">
                <a:solidFill>
                  <a:schemeClr val="folHlink"/>
                </a:solidFill>
              </a:rPr>
              <a:t>的补是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的生成树吗？</a:t>
            </a:r>
            <a:endParaRPr lang="zh-CN" altLang="en-US" sz="2600">
              <a:solidFill>
                <a:schemeClr val="folHlink"/>
              </a:solidFill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sz="2600">
                <a:solidFill>
                  <a:schemeClr val="folHlink"/>
                </a:solidFill>
              </a:rPr>
              <a:t>(2) </a:t>
            </a:r>
            <a:r>
              <a:rPr lang="zh-CN" altLang="en-US" sz="2600">
                <a:solidFill>
                  <a:schemeClr val="folHlink"/>
                </a:solidFill>
              </a:rPr>
              <a:t>当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的边数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en-US" altLang="zh-CN" sz="2600">
                <a:solidFill>
                  <a:schemeClr val="folHlink"/>
                </a:solidFill>
              </a:rPr>
              <a:t>=12</a:t>
            </a:r>
            <a:r>
              <a:rPr lang="zh-CN" altLang="en-US" sz="2600">
                <a:solidFill>
                  <a:schemeClr val="folHlink"/>
                </a:solidFill>
              </a:rPr>
              <a:t>时</a:t>
            </a:r>
            <a:r>
              <a:rPr lang="en-US" altLang="zh-CN" sz="2600">
                <a:solidFill>
                  <a:schemeClr val="folHlink"/>
                </a:solidFill>
              </a:rPr>
              <a:t>,</a:t>
            </a:r>
            <a:r>
              <a:rPr lang="en-US" altLang="zh-CN" sz="2600" i="1">
                <a:solidFill>
                  <a:schemeClr val="folHlink"/>
                </a:solidFill>
              </a:rPr>
              <a:t>T</a:t>
            </a:r>
            <a:r>
              <a:rPr lang="zh-CN" altLang="en-US" sz="2600">
                <a:solidFill>
                  <a:schemeClr val="folHlink"/>
                </a:solidFill>
              </a:rPr>
              <a:t>的补是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的生成树吗？</a:t>
            </a:r>
            <a:endParaRPr lang="zh-CN" altLang="en-US" sz="2600">
              <a:solidFill>
                <a:schemeClr val="folHlink"/>
              </a:solidFill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sz="2600">
                <a:solidFill>
                  <a:schemeClr val="folHlink"/>
                </a:solidFill>
              </a:rPr>
              <a:t>(3) </a:t>
            </a:r>
            <a:r>
              <a:rPr lang="zh-CN" altLang="en-US" sz="2600">
                <a:solidFill>
                  <a:schemeClr val="folHlink"/>
                </a:solidFill>
              </a:rPr>
              <a:t>当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的边数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en-US" altLang="zh-CN" sz="2600">
                <a:solidFill>
                  <a:schemeClr val="folHlink"/>
                </a:solidFill>
              </a:rPr>
              <a:t>=10</a:t>
            </a:r>
            <a:r>
              <a:rPr lang="zh-CN" altLang="en-US" sz="2600">
                <a:solidFill>
                  <a:schemeClr val="folHlink"/>
                </a:solidFill>
              </a:rPr>
              <a:t>时</a:t>
            </a:r>
            <a:r>
              <a:rPr lang="en-US" altLang="zh-CN" sz="2600">
                <a:solidFill>
                  <a:schemeClr val="folHlink"/>
                </a:solidFill>
              </a:rPr>
              <a:t>,T</a:t>
            </a:r>
            <a:r>
              <a:rPr lang="zh-CN" altLang="en-US" sz="2600">
                <a:solidFill>
                  <a:schemeClr val="folHlink"/>
                </a:solidFill>
              </a:rPr>
              <a:t>的补可能有哪几种情况？</a:t>
            </a:r>
            <a:endParaRPr lang="zh-CN" altLang="en-US" sz="2600">
              <a:solidFill>
                <a:schemeClr val="folHlink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None/>
            </a:pPr>
            <a:r>
              <a:rPr lang="zh-CN" altLang="en-US" sz="2600">
                <a:solidFill>
                  <a:schemeClr val="hlink"/>
                </a:solidFill>
              </a:rPr>
              <a:t>解 </a:t>
            </a:r>
            <a:r>
              <a:rPr lang="zh-CN" altLang="en-US" sz="2600">
                <a:solidFill>
                  <a:schemeClr val="folHlink"/>
                </a:solidFill>
              </a:rPr>
              <a:t>对于树</a:t>
            </a:r>
            <a:r>
              <a:rPr lang="en-US" altLang="zh-CN" sz="2600" i="1">
                <a:solidFill>
                  <a:schemeClr val="folHlink"/>
                </a:solidFill>
              </a:rPr>
              <a:t>T</a:t>
            </a:r>
            <a:r>
              <a:rPr lang="en-US" altLang="zh-CN" sz="2600">
                <a:solidFill>
                  <a:schemeClr val="folHlink"/>
                </a:solidFill>
              </a:rPr>
              <a:t>, 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en-US" altLang="zh-CN" sz="2600">
                <a:solidFill>
                  <a:schemeClr val="folHlink"/>
                </a:solidFill>
              </a:rPr>
              <a:t>=</a:t>
            </a:r>
            <a:r>
              <a:rPr lang="en-US" altLang="zh-CN" sz="2600" i="1">
                <a:solidFill>
                  <a:schemeClr val="folHlink"/>
                </a:solidFill>
              </a:rPr>
              <a:t>n</a:t>
            </a:r>
            <a:r>
              <a:rPr lang="en-US" altLang="zh-CN" sz="2600">
                <a:solidFill>
                  <a:schemeClr val="folHlink"/>
                </a:solidFill>
              </a:rPr>
              <a:t>-1,</a:t>
            </a:r>
            <a:r>
              <a:rPr lang="zh-CN" altLang="en-US" sz="2600">
                <a:solidFill>
                  <a:schemeClr val="folHlink"/>
                </a:solidFill>
              </a:rPr>
              <a:t>而任何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en-US" altLang="zh-CN" sz="2600">
                <a:solidFill>
                  <a:schemeClr val="folHlink"/>
                </a:solidFill>
              </a:rPr>
              <a:t>≥</a:t>
            </a:r>
            <a:r>
              <a:rPr lang="en-US" altLang="zh-CN" sz="2600" i="1">
                <a:solidFill>
                  <a:schemeClr val="folHlink"/>
                </a:solidFill>
              </a:rPr>
              <a:t>n</a:t>
            </a:r>
            <a:r>
              <a:rPr lang="zh-CN" altLang="en-US" sz="2600">
                <a:solidFill>
                  <a:schemeClr val="folHlink"/>
                </a:solidFill>
              </a:rPr>
              <a:t>或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en-US" altLang="zh-CN" sz="2600">
                <a:solidFill>
                  <a:schemeClr val="folHlink"/>
                </a:solidFill>
              </a:rPr>
              <a:t>&lt;</a:t>
            </a:r>
            <a:r>
              <a:rPr lang="en-US" altLang="zh-CN" sz="2600" i="1">
                <a:solidFill>
                  <a:schemeClr val="folHlink"/>
                </a:solidFill>
              </a:rPr>
              <a:t>n</a:t>
            </a:r>
            <a:r>
              <a:rPr lang="en-US" altLang="zh-CN" sz="2600">
                <a:solidFill>
                  <a:schemeClr val="folHlink"/>
                </a:solidFill>
              </a:rPr>
              <a:t>-1</a:t>
            </a:r>
            <a:r>
              <a:rPr lang="zh-CN" altLang="en-US" sz="2600">
                <a:solidFill>
                  <a:schemeClr val="folHlink"/>
                </a:solidFill>
              </a:rPr>
              <a:t>的图都不是树</a:t>
            </a:r>
            <a:r>
              <a:rPr lang="en-US" altLang="zh-CN" sz="2600">
                <a:solidFill>
                  <a:schemeClr val="folHlink"/>
                </a:solidFill>
              </a:rPr>
              <a:t>,</a:t>
            </a:r>
            <a:r>
              <a:rPr lang="zh-CN" altLang="en-US" sz="2600">
                <a:solidFill>
                  <a:schemeClr val="folHlink"/>
                </a:solidFill>
              </a:rPr>
              <a:t>因此</a:t>
            </a:r>
            <a:endParaRPr lang="en-US" altLang="zh-CN" sz="2600">
              <a:solidFill>
                <a:schemeClr val="folHlink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2600">
                <a:solidFill>
                  <a:schemeClr val="folHlink"/>
                </a:solidFill>
              </a:rPr>
              <a:t>|E(T)|=5,</a:t>
            </a:r>
            <a:r>
              <a:rPr lang="zh-CN" altLang="en-US" sz="2600">
                <a:solidFill>
                  <a:schemeClr val="folHlink"/>
                </a:solidFill>
              </a:rPr>
              <a:t>余树边的条数为</a:t>
            </a:r>
            <a:r>
              <a:rPr lang="en-US" altLang="zh-CN" sz="2600">
                <a:solidFill>
                  <a:schemeClr val="folHlink"/>
                </a:solidFill>
              </a:rPr>
              <a:t>m-5.</a:t>
            </a:r>
            <a:endParaRPr lang="zh-CN" altLang="en-US" sz="2600">
              <a:solidFill>
                <a:schemeClr val="folHlink"/>
              </a:solidFill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None/>
            </a:pPr>
            <a:r>
              <a:rPr lang="zh-CN" altLang="en-US" sz="2600">
                <a:solidFill>
                  <a:schemeClr val="folHlink"/>
                </a:solidFill>
              </a:rPr>
              <a:t>（</a:t>
            </a:r>
            <a:r>
              <a:rPr lang="en-US" altLang="zh-CN" sz="2600">
                <a:solidFill>
                  <a:schemeClr val="folHlink"/>
                </a:solidFill>
              </a:rPr>
              <a:t>1</a:t>
            </a:r>
            <a:r>
              <a:rPr lang="zh-CN" altLang="en-US" sz="2600">
                <a:solidFill>
                  <a:schemeClr val="folHlink"/>
                </a:solidFill>
              </a:rPr>
              <a:t>）</a:t>
            </a:r>
            <a:r>
              <a:rPr lang="en-US" altLang="zh-CN" sz="2600" i="1">
                <a:solidFill>
                  <a:schemeClr val="folHlink"/>
                </a:solidFill>
              </a:rPr>
              <a:t>T</a:t>
            </a:r>
            <a:r>
              <a:rPr lang="zh-CN" altLang="en-US" sz="2600">
                <a:solidFill>
                  <a:schemeClr val="folHlink"/>
                </a:solidFill>
              </a:rPr>
              <a:t>的补的边数为</a:t>
            </a:r>
            <a:r>
              <a:rPr lang="en-US" altLang="zh-CN" sz="2600">
                <a:solidFill>
                  <a:schemeClr val="folHlink"/>
                </a:solidFill>
              </a:rPr>
              <a:t>9-5=4&lt;n,</a:t>
            </a:r>
            <a:r>
              <a:rPr lang="zh-CN" altLang="en-US" sz="2600">
                <a:solidFill>
                  <a:schemeClr val="folHlink"/>
                </a:solidFill>
              </a:rPr>
              <a:t>所以不可能是树。</a:t>
            </a:r>
            <a:endParaRPr lang="zh-CN" altLang="en-US" sz="2600">
              <a:solidFill>
                <a:schemeClr val="folHlink"/>
              </a:solidFill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None/>
            </a:pPr>
            <a:r>
              <a:rPr lang="zh-CN" altLang="en-US" sz="2600">
                <a:solidFill>
                  <a:schemeClr val="folHlink"/>
                </a:solidFill>
              </a:rPr>
              <a:t>（</a:t>
            </a:r>
            <a:r>
              <a:rPr lang="en-US" altLang="zh-CN" sz="2600">
                <a:solidFill>
                  <a:schemeClr val="folHlink"/>
                </a:solidFill>
              </a:rPr>
              <a:t>2</a:t>
            </a:r>
            <a:r>
              <a:rPr lang="zh-CN" altLang="en-US" sz="2600">
                <a:solidFill>
                  <a:schemeClr val="folHlink"/>
                </a:solidFill>
              </a:rPr>
              <a:t>）</a:t>
            </a:r>
            <a:r>
              <a:rPr lang="en-US" altLang="zh-CN" sz="2600" i="1">
                <a:solidFill>
                  <a:schemeClr val="folHlink"/>
                </a:solidFill>
              </a:rPr>
              <a:t>T</a:t>
            </a:r>
            <a:r>
              <a:rPr lang="zh-CN" altLang="en-US" sz="2600">
                <a:solidFill>
                  <a:schemeClr val="folHlink"/>
                </a:solidFill>
              </a:rPr>
              <a:t>的补的边数为</a:t>
            </a:r>
            <a:r>
              <a:rPr lang="en-US" altLang="zh-CN" sz="2600">
                <a:solidFill>
                  <a:schemeClr val="folHlink"/>
                </a:solidFill>
              </a:rPr>
              <a:t>12-5=7&gt;n,</a:t>
            </a:r>
            <a:r>
              <a:rPr lang="zh-CN" altLang="en-US" sz="2600">
                <a:solidFill>
                  <a:schemeClr val="folHlink"/>
                </a:solidFill>
              </a:rPr>
              <a:t>也不可能是树。</a:t>
            </a:r>
            <a:endParaRPr lang="zh-CN" altLang="en-US" sz="2600">
              <a:solidFill>
                <a:schemeClr val="folHlink"/>
              </a:solidFill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None/>
            </a:pPr>
            <a:r>
              <a:rPr lang="zh-CN" altLang="en-US" sz="2600">
                <a:solidFill>
                  <a:schemeClr val="folHlink"/>
                </a:solidFill>
              </a:rPr>
              <a:t>（</a:t>
            </a:r>
            <a:r>
              <a:rPr lang="en-US" altLang="zh-CN" sz="2600">
                <a:solidFill>
                  <a:schemeClr val="folHlink"/>
                </a:solidFill>
              </a:rPr>
              <a:t>3</a:t>
            </a:r>
            <a:r>
              <a:rPr lang="zh-CN" altLang="en-US" sz="2600">
                <a:solidFill>
                  <a:schemeClr val="folHlink"/>
                </a:solidFill>
              </a:rPr>
              <a:t>）有两种情况：</a:t>
            </a:r>
            <a:r>
              <a:rPr lang="en-US" altLang="zh-CN" sz="2600" i="1">
                <a:solidFill>
                  <a:schemeClr val="folHlink"/>
                </a:solidFill>
              </a:rPr>
              <a:t>T</a:t>
            </a:r>
            <a:r>
              <a:rPr lang="zh-CN" altLang="en-US" sz="2600">
                <a:solidFill>
                  <a:schemeClr val="folHlink"/>
                </a:solidFill>
              </a:rPr>
              <a:t>的补是生成树；</a:t>
            </a:r>
            <a:r>
              <a:rPr lang="en-US" altLang="zh-CN" sz="2600" i="1">
                <a:solidFill>
                  <a:schemeClr val="folHlink"/>
                </a:solidFill>
              </a:rPr>
              <a:t>T</a:t>
            </a:r>
            <a:r>
              <a:rPr lang="zh-CN" altLang="en-US" sz="2600">
                <a:solidFill>
                  <a:schemeClr val="folHlink"/>
                </a:solidFill>
              </a:rPr>
              <a:t>的补不连通且含圈。</a:t>
            </a:r>
            <a:endParaRPr lang="zh-CN" altLang="en-US" sz="2600">
              <a:solidFill>
                <a:schemeClr val="folHlink"/>
              </a:solidFill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  <a:latin typeface="Tahoma" panose="020B0604030504040204" pitchFamily="34" charset="0"/>
              </a:rPr>
            </a:fld>
            <a:endParaRPr lang="en-US" altLang="zh-CN" sz="1400" b="0">
              <a:solidFill>
                <a:srgbClr val="00206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例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9.1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spcBef>
                <a:spcPts val="60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9.1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G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zh-CN" altLang="en-US"/>
              <a:t>为无向连通图</a:t>
            </a:r>
            <a:r>
              <a:rPr lang="en-US" altLang="zh-CN"/>
              <a:t>G</a:t>
            </a:r>
            <a:r>
              <a:rPr lang="zh-CN" altLang="en-US"/>
              <a:t>的无圈子图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G</a:t>
            </a:r>
            <a:r>
              <a:rPr lang="zh-CN" altLang="en-US"/>
              <a:t>中存在生成树</a:t>
            </a:r>
            <a:r>
              <a:rPr lang="en-US" altLang="zh-CN"/>
              <a:t>T</a:t>
            </a:r>
            <a:r>
              <a:rPr lang="zh-CN" altLang="en-US"/>
              <a:t>含</a:t>
            </a:r>
            <a:r>
              <a:rPr lang="en-US" altLang="zh-CN"/>
              <a:t>G</a:t>
            </a:r>
            <a:r>
              <a:rPr lang="en-US" altLang="zh-CN">
                <a:latin typeface="Tahoma" panose="020B0604030504040204" pitchFamily="34" charset="0"/>
              </a:rPr>
              <a:t>’</a:t>
            </a:r>
            <a:r>
              <a:rPr lang="zh-CN" altLang="en-US"/>
              <a:t>中所有边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zh-CN" altLang="en-US"/>
              <a:t>若</a:t>
            </a:r>
            <a:r>
              <a:rPr lang="en-US" altLang="zh-CN"/>
              <a:t>G</a:t>
            </a:r>
            <a:r>
              <a:rPr lang="zh-CN" altLang="en-US"/>
              <a:t>为树</a:t>
            </a:r>
            <a:r>
              <a:rPr lang="en-US" altLang="zh-CN"/>
              <a:t>,</a:t>
            </a:r>
            <a:r>
              <a:rPr lang="zh-CN" altLang="en-US"/>
              <a:t>显然结论成立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/>
              <a:t>若</a:t>
            </a:r>
            <a:r>
              <a:rPr lang="en-US" altLang="zh-CN"/>
              <a:t>G</a:t>
            </a:r>
            <a:r>
              <a:rPr lang="zh-CN" altLang="en-US"/>
              <a:t>不是树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G</a:t>
            </a:r>
            <a:r>
              <a:rPr lang="zh-CN" altLang="en-US"/>
              <a:t>中必含圈</a:t>
            </a:r>
            <a:r>
              <a:rPr lang="en-US" altLang="zh-CN"/>
              <a:t>,</a:t>
            </a:r>
            <a:r>
              <a:rPr lang="zh-CN" altLang="en-US"/>
              <a:t>设</a:t>
            </a:r>
            <a:r>
              <a:rPr lang="en-US" altLang="zh-CN">
                <a:solidFill>
                  <a:srgbClr val="219402"/>
                </a:solidFill>
              </a:rPr>
              <a:t>C</a:t>
            </a:r>
            <a:r>
              <a:rPr lang="en-US" altLang="zh-CN" baseline="-25000">
                <a:solidFill>
                  <a:srgbClr val="219402"/>
                </a:solidFill>
              </a:rPr>
              <a:t>1</a:t>
            </a:r>
            <a:r>
              <a:rPr lang="zh-CN" altLang="en-US"/>
              <a:t>为</a:t>
            </a:r>
            <a:r>
              <a:rPr lang="en-US" altLang="zh-CN"/>
              <a:t>G</a:t>
            </a:r>
            <a:r>
              <a:rPr lang="zh-CN" altLang="en-US"/>
              <a:t>中的圈</a:t>
            </a:r>
            <a:r>
              <a:rPr lang="en-US" altLang="zh-CN"/>
              <a:t>,</a:t>
            </a:r>
            <a:r>
              <a:rPr lang="zh-CN" altLang="en-US"/>
              <a:t>则必存在</a:t>
            </a:r>
            <a:endParaRPr lang="en-US" altLang="zh-CN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>
                <a:solidFill>
                  <a:srgbClr val="219402"/>
                </a:solidFill>
              </a:rPr>
              <a:t>e</a:t>
            </a:r>
            <a:r>
              <a:rPr lang="en-US" altLang="zh-CN" baseline="-25000">
                <a:solidFill>
                  <a:srgbClr val="219402"/>
                </a:solidFill>
              </a:rPr>
              <a:t>1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E(C</a:t>
            </a:r>
            <a:r>
              <a:rPr lang="en-US" altLang="zh-CN" baseline="-25000">
                <a:solidFill>
                  <a:srgbClr val="219402"/>
                </a:solidFill>
              </a:rPr>
              <a:t>1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)e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E(G</a:t>
            </a:r>
            <a:r>
              <a:rPr lang="en-US" altLang="zh-CN">
                <a:solidFill>
                  <a:srgbClr val="219402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),</a:t>
            </a:r>
            <a:r>
              <a:rPr lang="zh-CN" altLang="en-US">
                <a:sym typeface="Symbol" panose="05050102010706020507" pitchFamily="18" charset="2"/>
              </a:rPr>
              <a:t>令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=G-{e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}.</a:t>
            </a:r>
            <a:r>
              <a:rPr lang="zh-CN" altLang="en-US">
                <a:sym typeface="Symbol" panose="05050102010706020507" pitchFamily="18" charset="2"/>
              </a:rPr>
              <a:t>若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还存在圈</a:t>
            </a:r>
            <a:r>
              <a:rPr lang="en-US" altLang="zh-CN"/>
              <a:t>C</a:t>
            </a:r>
            <a:r>
              <a:rPr lang="en-US" altLang="zh-CN" baseline="-25000"/>
              <a:t>2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/>
              <a:t>则必存在</a:t>
            </a:r>
            <a:r>
              <a:rPr lang="en-US" altLang="zh-CN"/>
              <a:t>e</a:t>
            </a:r>
            <a:r>
              <a:rPr lang="en-US" altLang="zh-CN" baseline="-25000"/>
              <a:t>2</a:t>
            </a:r>
            <a:r>
              <a:rPr lang="en-US" altLang="zh-CN">
                <a:sym typeface="Symbol" panose="05050102010706020507" pitchFamily="18" charset="2"/>
              </a:rPr>
              <a:t>E(C</a:t>
            </a:r>
            <a:r>
              <a:rPr lang="en-US" altLang="zh-CN" baseline="-25000"/>
              <a:t>2</a:t>
            </a:r>
            <a:r>
              <a:rPr lang="en-US" altLang="zh-CN">
                <a:sym typeface="Symbol" panose="05050102010706020507" pitchFamily="18" charset="2"/>
              </a:rPr>
              <a:t>)e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E(G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>
                <a:sym typeface="Symbol" panose="05050102010706020507" pitchFamily="18" charset="2"/>
              </a:rPr>
              <a:t>),</a:t>
            </a:r>
            <a:r>
              <a:rPr lang="zh-CN" altLang="en-US">
                <a:sym typeface="Symbol" panose="05050102010706020507" pitchFamily="18" charset="2"/>
              </a:rPr>
              <a:t>再令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=G-{e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,e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},</a:t>
            </a:r>
            <a:r>
              <a:rPr lang="zh-CN" altLang="en-US">
                <a:sym typeface="Symbol" panose="05050102010706020507" pitchFamily="18" charset="2"/>
              </a:rPr>
              <a:t>继续这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>
                <a:sym typeface="Symbol" panose="05050102010706020507" pitchFamily="18" charset="2"/>
              </a:rPr>
              <a:t>一过程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直到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en-US" altLang="zh-CN" baseline="-25000">
                <a:sym typeface="Symbol" panose="05050102010706020507" pitchFamily="18" charset="2"/>
              </a:rPr>
              <a:t>k</a:t>
            </a:r>
            <a:r>
              <a:rPr lang="en-US" altLang="zh-CN">
                <a:sym typeface="Symbol" panose="05050102010706020507" pitchFamily="18" charset="2"/>
              </a:rPr>
              <a:t>=G-{e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,e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,…,e</a:t>
            </a:r>
            <a:r>
              <a:rPr lang="en-US" altLang="zh-CN" baseline="-25000">
                <a:sym typeface="Symbol" panose="05050102010706020507" pitchFamily="18" charset="2"/>
              </a:rPr>
              <a:t>k</a:t>
            </a:r>
            <a:r>
              <a:rPr lang="en-US" altLang="zh-CN">
                <a:sym typeface="Symbol" panose="05050102010706020507" pitchFamily="18" charset="2"/>
              </a:rPr>
              <a:t>}</a:t>
            </a:r>
            <a:r>
              <a:rPr lang="zh-CN" altLang="en-US">
                <a:sym typeface="Symbol" panose="05050102010706020507" pitchFamily="18" charset="2"/>
              </a:rPr>
              <a:t>无圈为止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易知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G</a:t>
            </a:r>
            <a:r>
              <a:rPr lang="en-US" altLang="zh-CN" i="1" baseline="-25000">
                <a:solidFill>
                  <a:srgbClr val="219402"/>
                </a:solidFill>
                <a:sym typeface="Symbol" panose="05050102010706020507" pitchFamily="18" charset="2"/>
              </a:rPr>
              <a:t>k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的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>
                <a:solidFill>
                  <a:srgbClr val="219402"/>
                </a:solidFill>
                <a:sym typeface="Symbol" panose="05050102010706020507" pitchFamily="18" charset="2"/>
              </a:rPr>
              <a:t>生成子图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olidFill>
                  <a:srgbClr val="219402"/>
                </a:solidFill>
                <a:sym typeface="Symbol" panose="05050102010706020507" pitchFamily="18" charset="2"/>
              </a:rPr>
              <a:t>无圈并且连通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又含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zh-CN" altLang="en-US">
                <a:sym typeface="Symbol" panose="05050102010706020507" pitchFamily="18" charset="2"/>
              </a:rPr>
              <a:t>中所有边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则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G</a:t>
            </a:r>
            <a:r>
              <a:rPr lang="en-US" altLang="zh-CN" i="1" baseline="-25000">
                <a:solidFill>
                  <a:srgbClr val="219402"/>
                </a:solidFill>
                <a:sym typeface="Symbol" panose="05050102010706020507" pitchFamily="18" charset="2"/>
              </a:rPr>
              <a:t>k</a:t>
            </a:r>
            <a:r>
              <a:rPr lang="zh-CN" altLang="en-US">
                <a:sym typeface="Symbol" panose="05050102010706020507" pitchFamily="18" charset="2"/>
              </a:rPr>
              <a:t>为所求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>
                <a:sym typeface="Symbol" panose="05050102010706020507" pitchFamily="18" charset="2"/>
              </a:rPr>
              <a:t>的生成树</a:t>
            </a:r>
            <a:r>
              <a:rPr lang="en-US" altLang="zh-CN">
                <a:sym typeface="Symbol" panose="05050102010706020507" pitchFamily="18" charset="2"/>
              </a:rPr>
              <a:t>T.(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破圈法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4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56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83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123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164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20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228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9.4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  <p:sp>
        <p:nvSpPr>
          <p:cNvPr id="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9.4: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T</a:t>
            </a:r>
            <a:r>
              <a:rPr lang="zh-CN" altLang="en-US"/>
              <a:t>是无向连通图</a:t>
            </a:r>
            <a:r>
              <a:rPr lang="en-US" altLang="zh-CN"/>
              <a:t>G</a:t>
            </a:r>
            <a:r>
              <a:rPr lang="zh-CN" altLang="en-US"/>
              <a:t>中一棵生成树</a:t>
            </a:r>
            <a:r>
              <a:rPr lang="en-US" altLang="zh-CN"/>
              <a:t>,</a:t>
            </a:r>
            <a:r>
              <a:rPr lang="en-US" altLang="zh-CN">
                <a:solidFill>
                  <a:srgbClr val="FF0000"/>
                </a:solidFill>
              </a:rPr>
              <a:t>e</a:t>
            </a:r>
            <a:r>
              <a:rPr lang="zh-CN" altLang="en-US"/>
              <a:t>是</a:t>
            </a:r>
            <a:r>
              <a:rPr lang="en-US" altLang="zh-CN"/>
              <a:t>T</a:t>
            </a:r>
            <a:r>
              <a:rPr lang="zh-CN" altLang="en-US"/>
              <a:t>的任意一条</a:t>
            </a:r>
            <a:r>
              <a:rPr lang="zh-CN" altLang="en-US">
                <a:solidFill>
                  <a:srgbClr val="FF0000"/>
                </a:solidFill>
              </a:rPr>
              <a:t>弦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e</a:t>
            </a:r>
            <a:r>
              <a:rPr lang="zh-CN" altLang="en-US">
                <a:sym typeface="Symbol" panose="05050102010706020507" pitchFamily="18" charset="2"/>
              </a:rPr>
              <a:t>中存在仅含一条弦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而其余边均为树枝的圈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而且不同的弦对应的圈是不同的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r>
              <a:rPr lang="en-US" altLang="zh-CN"/>
              <a:t> 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zh-CN" altLang="en-US"/>
              <a:t>设</a:t>
            </a:r>
            <a:r>
              <a:rPr lang="en-US" altLang="zh-CN">
                <a:solidFill>
                  <a:srgbClr val="219402"/>
                </a:solidFill>
              </a:rPr>
              <a:t>e=(</a:t>
            </a:r>
            <a:r>
              <a:rPr lang="en-US" altLang="zh-CN" i="1">
                <a:solidFill>
                  <a:srgbClr val="219402"/>
                </a:solidFill>
              </a:rPr>
              <a:t>u</a:t>
            </a:r>
            <a:r>
              <a:rPr lang="en-US" altLang="zh-CN">
                <a:solidFill>
                  <a:srgbClr val="219402"/>
                </a:solidFill>
              </a:rPr>
              <a:t>,</a:t>
            </a:r>
            <a:r>
              <a:rPr lang="en-US" altLang="zh-CN" i="1">
                <a:solidFill>
                  <a:srgbClr val="219402"/>
                </a:solidFill>
              </a:rPr>
              <a:t>v</a:t>
            </a:r>
            <a:r>
              <a:rPr lang="en-US" altLang="zh-CN">
                <a:solidFill>
                  <a:srgbClr val="219402"/>
                </a:solidFill>
              </a:rPr>
              <a:t>),</a:t>
            </a:r>
            <a:r>
              <a:rPr lang="zh-CN" altLang="en-US"/>
              <a:t>由定理</a:t>
            </a:r>
            <a:r>
              <a:rPr lang="en-US" altLang="zh-CN"/>
              <a:t>9.1</a:t>
            </a:r>
            <a:r>
              <a:rPr lang="zh-CN" altLang="en-US"/>
              <a:t>可知</a:t>
            </a:r>
            <a:r>
              <a:rPr lang="en-US" altLang="zh-CN"/>
              <a:t>,</a:t>
            </a:r>
            <a:r>
              <a:rPr lang="zh-CN" altLang="en-US"/>
              <a:t>在</a:t>
            </a:r>
            <a:r>
              <a:rPr lang="en-US" altLang="zh-CN"/>
              <a:t>T</a:t>
            </a:r>
            <a:r>
              <a:rPr lang="zh-CN" altLang="en-US"/>
              <a:t>中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zh-CN" altLang="en-US"/>
              <a:t>之间存在唯一的路径</a:t>
            </a:r>
            <a:r>
              <a:rPr lang="en-US" altLang="zh-CN">
                <a:solidFill>
                  <a:srgbClr val="219402"/>
                </a:solidFill>
              </a:rPr>
              <a:t>P(</a:t>
            </a:r>
            <a:r>
              <a:rPr lang="en-US" altLang="zh-CN" i="1">
                <a:solidFill>
                  <a:srgbClr val="219402"/>
                </a:solidFill>
              </a:rPr>
              <a:t>u</a:t>
            </a:r>
            <a:r>
              <a:rPr lang="en-US" altLang="zh-CN">
                <a:solidFill>
                  <a:srgbClr val="219402"/>
                </a:solidFill>
              </a:rPr>
              <a:t>,</a:t>
            </a:r>
            <a:r>
              <a:rPr lang="en-US" altLang="zh-CN" i="1">
                <a:solidFill>
                  <a:srgbClr val="219402"/>
                </a:solidFill>
              </a:rPr>
              <a:t>v</a:t>
            </a:r>
            <a:r>
              <a:rPr lang="en-US" altLang="zh-CN">
                <a:solidFill>
                  <a:srgbClr val="219402"/>
                </a:solidFill>
              </a:rPr>
              <a:t>)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>
                <a:solidFill>
                  <a:srgbClr val="219402"/>
                </a:solidFill>
              </a:rPr>
              <a:t>P(</a:t>
            </a:r>
            <a:r>
              <a:rPr lang="en-US" altLang="zh-CN" i="1">
                <a:solidFill>
                  <a:srgbClr val="219402"/>
                </a:solidFill>
              </a:rPr>
              <a:t>u</a:t>
            </a:r>
            <a:r>
              <a:rPr lang="en-US" altLang="zh-CN">
                <a:solidFill>
                  <a:srgbClr val="219402"/>
                </a:solidFill>
              </a:rPr>
              <a:t>,</a:t>
            </a:r>
            <a:r>
              <a:rPr lang="en-US" altLang="zh-CN" i="1">
                <a:solidFill>
                  <a:srgbClr val="219402"/>
                </a:solidFill>
              </a:rPr>
              <a:t>v</a:t>
            </a:r>
            <a:r>
              <a:rPr lang="en-US" altLang="zh-CN">
                <a:solidFill>
                  <a:srgbClr val="219402"/>
                </a:solidFill>
              </a:rPr>
              <a:t>) 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e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中只含</a:t>
            </a:r>
            <a:r>
              <a:rPr lang="zh-CN" altLang="en-US">
                <a:solidFill>
                  <a:srgbClr val="219402"/>
                </a:solidFill>
                <a:sym typeface="Symbol" panose="05050102010706020507" pitchFamily="18" charset="2"/>
              </a:rPr>
              <a:t>弦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其余边均为树枝的圈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r>
              <a:rPr lang="zh-CN" altLang="en-US">
                <a:sym typeface="Symbol" panose="05050102010706020507" pitchFamily="18" charset="2"/>
              </a:rPr>
              <a:t>显然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当</a:t>
            </a:r>
            <a:r>
              <a:rPr lang="en-US" altLang="zh-CN">
                <a:sym typeface="Symbol" panose="05050102010706020507" pitchFamily="18" charset="2"/>
              </a:rPr>
              <a:t>e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,e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为不同的弦时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2</a:t>
            </a:r>
            <a:r>
              <a:rPr lang="zh-CN" altLang="en-US">
                <a:solidFill>
                  <a:srgbClr val="219402"/>
                </a:solidFill>
                <a:sym typeface="Symbol" panose="05050102010706020507" pitchFamily="18" charset="2"/>
              </a:rPr>
              <a:t>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-50000">
                <a:solidFill>
                  <a:srgbClr val="219402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zh-CN" altLang="en-US">
                <a:sym typeface="Symbol" panose="05050102010706020507" pitchFamily="18" charset="2"/>
              </a:rPr>
              <a:t>且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1</a:t>
            </a:r>
            <a:r>
              <a:rPr lang="zh-CN" altLang="en-US">
                <a:solidFill>
                  <a:srgbClr val="219402"/>
                </a:solidFill>
                <a:sym typeface="Symbol" panose="05050102010706020507" pitchFamily="18" charset="2"/>
              </a:rPr>
              <a:t>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-50000">
                <a:solidFill>
                  <a:srgbClr val="219402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r>
              <a:rPr lang="zh-CN" altLang="en-US">
                <a:sym typeface="Symbol" panose="05050102010706020507" pitchFamily="18" charset="2"/>
              </a:rPr>
              <a:t>所以</a:t>
            </a:r>
            <a:r>
              <a:rPr lang="en-US" altLang="zh-CN">
                <a:sym typeface="Symbol" panose="05050102010706020507" pitchFamily="18" charset="2"/>
              </a:rPr>
              <a:t>C</a:t>
            </a:r>
            <a:r>
              <a:rPr lang="en-US" altLang="zh-CN" baseline="-25000">
                <a:sym typeface="Symbol" panose="05050102010706020507" pitchFamily="18" charset="2"/>
              </a:rPr>
              <a:t>e</a:t>
            </a:r>
            <a:r>
              <a:rPr lang="en-US" altLang="zh-CN" baseline="-50000">
                <a:sym typeface="Symbol" panose="05050102010706020507" pitchFamily="18" charset="2"/>
              </a:rPr>
              <a:t>1 </a:t>
            </a:r>
            <a:r>
              <a:rPr lang="zh-CN" altLang="en-US">
                <a:sym typeface="Symbol" panose="05050102010706020507" pitchFamily="18" charset="2"/>
              </a:rPr>
              <a:t></a:t>
            </a:r>
            <a:r>
              <a:rPr lang="en-US" altLang="zh-CN">
                <a:sym typeface="Symbol" panose="05050102010706020507" pitchFamily="18" charset="2"/>
              </a:rPr>
              <a:t> C</a:t>
            </a:r>
            <a:r>
              <a:rPr lang="en-US" altLang="zh-CN" baseline="-25000">
                <a:sym typeface="Symbol" panose="05050102010706020507" pitchFamily="18" charset="2"/>
              </a:rPr>
              <a:t>e</a:t>
            </a:r>
            <a:r>
              <a:rPr lang="en-US" altLang="zh-CN" baseline="-5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基本回路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/>
            <a:r>
              <a:rPr lang="zh-CN" altLang="en-US">
                <a:solidFill>
                  <a:srgbClr val="FF3300"/>
                </a:solidFill>
              </a:rPr>
              <a:t>定义</a:t>
            </a:r>
            <a:r>
              <a:rPr lang="en-US" altLang="zh-CN">
                <a:solidFill>
                  <a:srgbClr val="FF3300"/>
                </a:solidFill>
              </a:rPr>
              <a:t>9.3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 i="1"/>
              <a:t>T</a:t>
            </a:r>
            <a:r>
              <a:rPr lang="zh-CN" altLang="en-US"/>
              <a:t>是</a:t>
            </a:r>
            <a:r>
              <a:rPr lang="en-US" altLang="zh-CN" i="1"/>
              <a:t>n</a:t>
            </a:r>
            <a:r>
              <a:rPr lang="zh-CN" altLang="en-US"/>
              <a:t>阶</a:t>
            </a:r>
            <a:r>
              <a:rPr lang="en-US" altLang="zh-CN" i="1"/>
              <a:t>m</a:t>
            </a:r>
            <a:r>
              <a:rPr lang="zh-CN" altLang="en-US"/>
              <a:t>条边的无向连通图</a:t>
            </a:r>
            <a:r>
              <a:rPr lang="en-US" altLang="zh-CN" i="1"/>
              <a:t>G</a:t>
            </a:r>
            <a:r>
              <a:rPr lang="zh-CN" altLang="en-US"/>
              <a:t>的一棵生成树，设</a:t>
            </a:r>
            <a:r>
              <a:rPr lang="en-US" altLang="zh-CN" i="1"/>
              <a:t>e</a:t>
            </a:r>
            <a:r>
              <a:rPr lang="en-US" altLang="zh-CN" baseline="-30000"/>
              <a:t>1</a:t>
            </a:r>
            <a:r>
              <a:rPr lang="en-US" altLang="zh-CN">
                <a:sym typeface="Symbol" panose="05050102010706020507" pitchFamily="18" charset="2"/>
              </a:rPr>
              <a:t>,</a:t>
            </a:r>
            <a:r>
              <a:rPr lang="en-US" altLang="zh-CN"/>
              <a:t> </a:t>
            </a:r>
            <a:r>
              <a:rPr lang="en-US" altLang="zh-CN" i="1"/>
              <a:t>e</a:t>
            </a:r>
            <a:r>
              <a:rPr lang="en-US" altLang="zh-CN" baseline="-30000"/>
              <a:t>2</a:t>
            </a:r>
            <a:r>
              <a:rPr lang="en-US" altLang="zh-CN">
                <a:sym typeface="Symbol" panose="05050102010706020507" pitchFamily="18" charset="2"/>
              </a:rPr>
              <a:t></a:t>
            </a:r>
            <a:r>
              <a:rPr lang="en-US" altLang="zh-CN"/>
              <a:t>, … </a:t>
            </a:r>
            <a:r>
              <a:rPr lang="en-US" altLang="zh-CN" i="1"/>
              <a:t>e</a:t>
            </a:r>
            <a:r>
              <a:rPr lang="en-US" altLang="zh-CN" baseline="-30000"/>
              <a:t>r</a:t>
            </a:r>
            <a:r>
              <a:rPr lang="en-US" altLang="zh-CN">
                <a:sym typeface="Symbol" panose="05050102010706020507" pitchFamily="18" charset="2"/>
              </a:rPr>
              <a:t>, …</a:t>
            </a:r>
            <a:r>
              <a:rPr lang="en-US" altLang="zh-CN"/>
              <a:t>, </a:t>
            </a:r>
            <a:r>
              <a:rPr lang="en-US" altLang="zh-CN" i="1"/>
              <a:t>e</a:t>
            </a:r>
            <a:r>
              <a:rPr lang="en-US" altLang="zh-CN">
                <a:sym typeface="Symbol" panose="05050102010706020507" pitchFamily="18" charset="2"/>
              </a:rPr>
              <a:t></a:t>
            </a:r>
            <a:r>
              <a:rPr lang="en-US" altLang="zh-CN" i="1" baseline="-30000"/>
              <a:t>m</a:t>
            </a:r>
            <a:r>
              <a:rPr lang="en-US" altLang="zh-CN" baseline="-30000">
                <a:sym typeface="Symbol" panose="05050102010706020507" pitchFamily="18" charset="2"/>
              </a:rPr>
              <a:t></a:t>
            </a:r>
            <a:r>
              <a:rPr lang="en-US" altLang="zh-CN" i="1" baseline="-30000"/>
              <a:t>n</a:t>
            </a:r>
            <a:r>
              <a:rPr lang="en-US" altLang="zh-CN" baseline="-30000"/>
              <a:t>+1</a:t>
            </a:r>
            <a:r>
              <a:rPr lang="zh-CN" altLang="en-US"/>
              <a:t>为</a:t>
            </a:r>
            <a:r>
              <a:rPr lang="en-US" altLang="zh-CN" i="1"/>
              <a:t>T</a:t>
            </a:r>
            <a:r>
              <a:rPr lang="zh-CN" altLang="en-US"/>
              <a:t>的弦</a:t>
            </a:r>
            <a:r>
              <a:rPr lang="en-US" altLang="zh-CN"/>
              <a:t>. </a:t>
            </a:r>
            <a:r>
              <a:rPr lang="zh-CN" altLang="en-US"/>
              <a:t>设</a:t>
            </a:r>
            <a:r>
              <a:rPr lang="en-US" altLang="zh-CN" i="1">
                <a:solidFill>
                  <a:srgbClr val="FF00FF"/>
                </a:solidFill>
              </a:rPr>
              <a:t>C</a:t>
            </a:r>
            <a:r>
              <a:rPr lang="en-US" altLang="zh-CN" i="1" baseline="-30000">
                <a:solidFill>
                  <a:srgbClr val="FF00FF"/>
                </a:solidFill>
              </a:rPr>
              <a:t>r</a:t>
            </a:r>
            <a:r>
              <a:rPr lang="zh-CN" altLang="en-US"/>
              <a:t>为</a:t>
            </a:r>
            <a:r>
              <a:rPr lang="en-US" altLang="zh-CN" i="1"/>
              <a:t>T</a:t>
            </a:r>
            <a:r>
              <a:rPr lang="zh-CN" altLang="en-US"/>
              <a:t>添加弦</a:t>
            </a:r>
            <a:r>
              <a:rPr lang="en-US" altLang="zh-CN" i="1">
                <a:solidFill>
                  <a:srgbClr val="FF00FF"/>
                </a:solidFill>
              </a:rPr>
              <a:t>e</a:t>
            </a:r>
            <a:r>
              <a:rPr lang="en-US" altLang="zh-CN" i="1" baseline="-30000">
                <a:solidFill>
                  <a:srgbClr val="FF00FF"/>
                </a:solidFill>
              </a:rPr>
              <a:t>r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</a:t>
            </a:r>
            <a:r>
              <a:rPr lang="zh-CN" altLang="en-US"/>
              <a:t>产生的</a:t>
            </a:r>
            <a:r>
              <a:rPr lang="en-US" altLang="zh-CN" i="1"/>
              <a:t>G</a:t>
            </a:r>
            <a:r>
              <a:rPr lang="zh-CN" altLang="en-US"/>
              <a:t>中惟一的圈</a:t>
            </a:r>
            <a:r>
              <a:rPr lang="en-US" altLang="zh-CN"/>
              <a:t>(</a:t>
            </a:r>
            <a:r>
              <a:rPr lang="zh-CN" altLang="en-US"/>
              <a:t>由</a:t>
            </a:r>
            <a:r>
              <a:rPr lang="en-US" altLang="zh-CN" i="1"/>
              <a:t>e</a:t>
            </a:r>
            <a:r>
              <a:rPr lang="en-US" altLang="zh-CN" i="1" baseline="-30000"/>
              <a:t>r</a:t>
            </a:r>
            <a:r>
              <a:rPr lang="en-US" altLang="zh-CN">
                <a:sym typeface="Symbol" panose="05050102010706020507" pitchFamily="18" charset="2"/>
              </a:rPr>
              <a:t></a:t>
            </a:r>
            <a:r>
              <a:rPr lang="zh-CN" altLang="en-US">
                <a:sym typeface="Symbol" panose="05050102010706020507" pitchFamily="18" charset="2"/>
              </a:rPr>
              <a:t>和</a:t>
            </a:r>
            <a:r>
              <a:rPr lang="zh-CN" altLang="en-US"/>
              <a:t>树枝组成</a:t>
            </a:r>
            <a:r>
              <a:rPr lang="en-US" altLang="zh-CN"/>
              <a:t>), </a:t>
            </a:r>
            <a:r>
              <a:rPr lang="zh-CN" altLang="en-US"/>
              <a:t>称</a:t>
            </a:r>
            <a:r>
              <a:rPr lang="en-US" altLang="zh-CN" i="1">
                <a:solidFill>
                  <a:srgbClr val="FF00FF"/>
                </a:solidFill>
              </a:rPr>
              <a:t>C</a:t>
            </a:r>
            <a:r>
              <a:rPr lang="en-US" altLang="zh-CN" i="1" baseline="-30000">
                <a:solidFill>
                  <a:srgbClr val="FF00FF"/>
                </a:solidFill>
              </a:rPr>
              <a:t>r</a:t>
            </a:r>
            <a:r>
              <a:rPr lang="zh-CN" altLang="en-US"/>
              <a:t>为对应弦</a:t>
            </a:r>
            <a:r>
              <a:rPr lang="en-US" altLang="zh-CN" i="1">
                <a:solidFill>
                  <a:srgbClr val="FF00FF"/>
                </a:solidFill>
              </a:rPr>
              <a:t>e</a:t>
            </a:r>
            <a:r>
              <a:rPr lang="en-US" altLang="zh-CN" i="1" baseline="-30000">
                <a:solidFill>
                  <a:srgbClr val="FF00FF"/>
                </a:solidFill>
              </a:rPr>
              <a:t>r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</a:t>
            </a:r>
            <a:r>
              <a:rPr lang="zh-CN" altLang="en-US"/>
              <a:t>的</a:t>
            </a:r>
            <a:r>
              <a:rPr lang="zh-CN" altLang="en-US">
                <a:solidFill>
                  <a:srgbClr val="FF3300"/>
                </a:solidFill>
              </a:rPr>
              <a:t>基本回路</a:t>
            </a:r>
            <a:r>
              <a:rPr lang="zh-CN" altLang="en-US"/>
              <a:t>或</a:t>
            </a:r>
            <a:r>
              <a:rPr lang="zh-CN" altLang="en-US">
                <a:solidFill>
                  <a:srgbClr val="FF3300"/>
                </a:solidFill>
              </a:rPr>
              <a:t>基本圈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/>
              <a:t>=1, 2, …, </a:t>
            </a:r>
            <a:r>
              <a:rPr lang="en-US" altLang="zh-CN" i="1"/>
              <a:t>m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 i="1"/>
              <a:t>n</a:t>
            </a:r>
            <a:r>
              <a:rPr lang="en-US" altLang="zh-CN"/>
              <a:t>+1. </a:t>
            </a:r>
            <a:r>
              <a:rPr lang="zh-CN" altLang="en-US"/>
              <a:t>称</a:t>
            </a:r>
            <a:r>
              <a:rPr lang="en-US" altLang="zh-CN"/>
              <a:t>{</a:t>
            </a:r>
            <a:r>
              <a:rPr lang="en-US" altLang="zh-CN" i="1"/>
              <a:t>C</a:t>
            </a:r>
            <a:r>
              <a:rPr lang="en-US" altLang="zh-CN" baseline="-30000"/>
              <a:t>1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 baseline="-30000"/>
              <a:t>2</a:t>
            </a:r>
            <a:r>
              <a:rPr lang="en-US" altLang="zh-CN"/>
              <a:t>, …, </a:t>
            </a:r>
            <a:r>
              <a:rPr lang="en-US" altLang="zh-CN" i="1"/>
              <a:t>C</a:t>
            </a:r>
            <a:r>
              <a:rPr lang="en-US" altLang="zh-CN" i="1" baseline="-30000"/>
              <a:t>m</a:t>
            </a:r>
            <a:r>
              <a:rPr lang="en-US" altLang="zh-CN" baseline="-30000">
                <a:sym typeface="Symbol" panose="05050102010706020507" pitchFamily="18" charset="2"/>
              </a:rPr>
              <a:t></a:t>
            </a:r>
            <a:r>
              <a:rPr lang="en-US" altLang="zh-CN" i="1" baseline="-30000"/>
              <a:t>n</a:t>
            </a:r>
            <a:r>
              <a:rPr lang="en-US" altLang="zh-CN" baseline="-30000"/>
              <a:t>+1</a:t>
            </a:r>
            <a:r>
              <a:rPr lang="en-US" altLang="zh-CN"/>
              <a:t>}</a:t>
            </a:r>
            <a:r>
              <a:rPr lang="zh-CN" altLang="en-US"/>
              <a:t>为对应</a:t>
            </a:r>
            <a:r>
              <a:rPr lang="en-US" altLang="zh-CN" i="1"/>
              <a:t>T</a:t>
            </a:r>
            <a:r>
              <a:rPr lang="zh-CN" altLang="en-US"/>
              <a:t>的</a:t>
            </a:r>
            <a:r>
              <a:rPr lang="zh-CN" altLang="en-US">
                <a:solidFill>
                  <a:srgbClr val="FF3300"/>
                </a:solidFill>
              </a:rPr>
              <a:t>基本回路系统</a:t>
            </a:r>
            <a:r>
              <a:rPr lang="en-US" altLang="zh-CN"/>
              <a:t>,</a:t>
            </a:r>
            <a:r>
              <a:rPr lang="zh-CN" altLang="en-US"/>
              <a:t>称</a:t>
            </a:r>
            <a:r>
              <a:rPr lang="en-US" altLang="zh-CN" i="1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-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+1</a:t>
            </a:r>
            <a:r>
              <a:rPr lang="zh-CN" altLang="en-US"/>
              <a:t>为</a:t>
            </a:r>
            <a:r>
              <a:rPr lang="en-US" altLang="zh-CN"/>
              <a:t>G</a:t>
            </a:r>
            <a:r>
              <a:rPr lang="zh-CN" altLang="en-US"/>
              <a:t>的</a:t>
            </a:r>
            <a:r>
              <a:rPr lang="zh-CN" altLang="en-US">
                <a:solidFill>
                  <a:schemeClr val="hlink"/>
                </a:solidFill>
              </a:rPr>
              <a:t>圈秩</a:t>
            </a:r>
            <a:r>
              <a:rPr lang="en-US" altLang="zh-CN"/>
              <a:t>,</a:t>
            </a:r>
            <a:r>
              <a:rPr lang="zh-CN" altLang="en-US"/>
              <a:t>记作</a:t>
            </a: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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(G)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r>
              <a:rPr lang="en-US" altLang="zh-CN"/>
              <a:t> </a:t>
            </a:r>
            <a:endParaRPr lang="en-US" altLang="zh-CN"/>
          </a:p>
          <a:p>
            <a:pPr algn="just"/>
            <a:r>
              <a:rPr lang="zh-CN" altLang="en-US">
                <a:solidFill>
                  <a:schemeClr val="hlink"/>
                </a:solidFill>
              </a:rPr>
              <a:t>注意</a:t>
            </a:r>
            <a:r>
              <a:rPr lang="en-US" altLang="zh-CN">
                <a:solidFill>
                  <a:schemeClr val="hlink"/>
                </a:solidFill>
              </a:rPr>
              <a:t>: </a:t>
            </a:r>
            <a:r>
              <a:rPr lang="en-US" altLang="zh-CN" i="1"/>
              <a:t>n</a:t>
            </a:r>
            <a:r>
              <a:rPr lang="zh-CN" altLang="en-US"/>
              <a:t>阶</a:t>
            </a:r>
            <a:r>
              <a:rPr lang="en-US" altLang="zh-CN" i="1"/>
              <a:t>m</a:t>
            </a:r>
            <a:r>
              <a:rPr lang="zh-CN" altLang="en-US"/>
              <a:t>条边的无向连通图的不同生成树对应的基本回路系统不同</a:t>
            </a:r>
            <a:r>
              <a:rPr lang="en-US" altLang="zh-CN"/>
              <a:t>,</a:t>
            </a:r>
            <a:r>
              <a:rPr lang="zh-CN" altLang="en-US"/>
              <a:t>但基本回路系统中圈的个数为</a:t>
            </a:r>
            <a:r>
              <a:rPr lang="zh-CN" altLang="en-US">
                <a:sym typeface="Symbol" panose="05050102010706020507" pitchFamily="18" charset="2"/>
              </a:rPr>
              <a:t>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9.5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>
          <a:xfrm>
            <a:off x="323850" y="1285875"/>
            <a:ext cx="8496300" cy="5256213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9.5 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 i="1"/>
              <a:t>T</a:t>
            </a:r>
            <a:r>
              <a:rPr lang="zh-CN" altLang="en-US"/>
              <a:t>是连通图</a:t>
            </a:r>
            <a:r>
              <a:rPr lang="en-US" altLang="zh-CN"/>
              <a:t>G</a:t>
            </a:r>
            <a:r>
              <a:rPr lang="zh-CN" altLang="en-US"/>
              <a:t>的一棵生成树</a:t>
            </a:r>
            <a:r>
              <a:rPr lang="en-US" altLang="zh-CN"/>
              <a:t>,</a:t>
            </a:r>
            <a:r>
              <a:rPr lang="en-US" altLang="zh-CN" i="1">
                <a:solidFill>
                  <a:srgbClr val="FF0000"/>
                </a:solidFill>
              </a:rPr>
              <a:t>e</a:t>
            </a:r>
            <a:r>
              <a:rPr lang="zh-CN" altLang="en-US"/>
              <a:t>为</a:t>
            </a:r>
            <a:r>
              <a:rPr lang="en-US" altLang="zh-CN" i="1"/>
              <a:t>T</a:t>
            </a:r>
            <a:r>
              <a:rPr lang="zh-CN" altLang="en-US"/>
              <a:t>的一条</a:t>
            </a:r>
            <a:r>
              <a:rPr lang="zh-CN" altLang="en-US">
                <a:solidFill>
                  <a:srgbClr val="FF0000"/>
                </a:solidFill>
              </a:rPr>
              <a:t>树枝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/>
              <a:t>G</a:t>
            </a:r>
            <a:r>
              <a:rPr lang="zh-CN" altLang="en-US"/>
              <a:t>中存在只含树枝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zh-CN" altLang="en-US"/>
              <a:t>其余元素均为弦的割集</a:t>
            </a:r>
            <a:r>
              <a:rPr lang="en-US" altLang="zh-CN" i="1"/>
              <a:t>S</a:t>
            </a:r>
            <a:r>
              <a:rPr lang="en-US" altLang="zh-CN" i="1" baseline="-25000"/>
              <a:t>e</a:t>
            </a:r>
            <a:r>
              <a:rPr lang="en-US" altLang="zh-CN"/>
              <a:t>.</a:t>
            </a:r>
            <a:r>
              <a:rPr lang="zh-CN" altLang="en-US"/>
              <a:t>设</a:t>
            </a:r>
            <a:r>
              <a:rPr lang="en-US" altLang="zh-CN" i="1"/>
              <a:t>e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 baseline="-25000"/>
              <a:t>2</a:t>
            </a:r>
            <a:r>
              <a:rPr lang="zh-CN" altLang="en-US"/>
              <a:t>是</a:t>
            </a:r>
            <a:r>
              <a:rPr lang="en-US" altLang="zh-CN" i="1"/>
              <a:t>T</a:t>
            </a:r>
            <a:r>
              <a:rPr lang="zh-CN" altLang="en-US"/>
              <a:t>的不同的树枝</a:t>
            </a:r>
            <a:r>
              <a:rPr lang="en-US" altLang="zh-CN"/>
              <a:t>,</a:t>
            </a:r>
            <a:r>
              <a:rPr lang="zh-CN" altLang="en-US"/>
              <a:t>则</a:t>
            </a:r>
            <a:r>
              <a:rPr lang="en-US" altLang="zh-CN" i="1"/>
              <a:t>S</a:t>
            </a:r>
            <a:r>
              <a:rPr lang="en-US" altLang="zh-CN" i="1" baseline="-25000"/>
              <a:t>e</a:t>
            </a:r>
            <a:r>
              <a:rPr lang="en-US" altLang="zh-CN" baseline="-60000"/>
              <a:t>1</a:t>
            </a:r>
            <a:r>
              <a:rPr lang="zh-CN" altLang="en-US">
                <a:sym typeface="Symbol" panose="05050102010706020507" pitchFamily="18" charset="2"/>
              </a:rPr>
              <a:t></a:t>
            </a:r>
            <a:r>
              <a:rPr lang="en-US" altLang="zh-CN" i="1"/>
              <a:t>S</a:t>
            </a:r>
            <a:r>
              <a:rPr lang="en-US" altLang="zh-CN" i="1" baseline="-25000"/>
              <a:t>e</a:t>
            </a:r>
            <a:r>
              <a:rPr lang="en-US" altLang="zh-CN" baseline="-60000"/>
              <a:t>2</a:t>
            </a:r>
            <a:r>
              <a:rPr lang="en-US" altLang="zh-CN"/>
              <a:t>.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证明  </a:t>
            </a:r>
            <a:r>
              <a:rPr lang="zh-CN" altLang="en-US"/>
              <a:t>由定理</a:t>
            </a:r>
            <a:r>
              <a:rPr lang="en-US" altLang="zh-CN"/>
              <a:t>9.1</a:t>
            </a:r>
            <a:r>
              <a:rPr lang="zh-CN" altLang="en-US"/>
              <a:t>知</a:t>
            </a:r>
            <a:r>
              <a:rPr lang="en-US" altLang="zh-CN"/>
              <a:t>,</a:t>
            </a:r>
            <a:r>
              <a:rPr lang="en-US" altLang="zh-CN" i="1">
                <a:solidFill>
                  <a:srgbClr val="219402"/>
                </a:solidFill>
              </a:rPr>
              <a:t>e</a:t>
            </a:r>
            <a:r>
              <a:rPr lang="zh-CN" altLang="en-US"/>
              <a:t>为</a:t>
            </a:r>
            <a:r>
              <a:rPr lang="en-US" altLang="zh-CN" i="1"/>
              <a:t>T</a:t>
            </a:r>
            <a:r>
              <a:rPr lang="zh-CN" altLang="en-US"/>
              <a:t>的</a:t>
            </a:r>
            <a:r>
              <a:rPr lang="zh-CN" altLang="en-US">
                <a:solidFill>
                  <a:srgbClr val="219402"/>
                </a:solidFill>
              </a:rPr>
              <a:t>桥</a:t>
            </a:r>
            <a:r>
              <a:rPr lang="en-US" altLang="zh-CN"/>
              <a:t>,</a:t>
            </a:r>
            <a:r>
              <a:rPr lang="zh-CN" altLang="en-US"/>
              <a:t>因而</a:t>
            </a:r>
            <a:r>
              <a:rPr lang="en-US" altLang="zh-CN" i="1">
                <a:solidFill>
                  <a:srgbClr val="219402"/>
                </a:solidFill>
              </a:rPr>
              <a:t>T</a:t>
            </a:r>
            <a:r>
              <a:rPr lang="en-US" altLang="zh-CN">
                <a:solidFill>
                  <a:srgbClr val="219402"/>
                </a:solidFill>
              </a:rPr>
              <a:t>-</a:t>
            </a:r>
            <a:r>
              <a:rPr lang="en-US" altLang="zh-CN" i="1">
                <a:solidFill>
                  <a:srgbClr val="219402"/>
                </a:solidFill>
              </a:rPr>
              <a:t>e</a:t>
            </a:r>
            <a:r>
              <a:rPr lang="zh-CN" altLang="en-US"/>
              <a:t>有两个连通分支</a:t>
            </a:r>
            <a:r>
              <a:rPr lang="en-US" altLang="zh-CN"/>
              <a:t>,</a:t>
            </a:r>
            <a:r>
              <a:rPr lang="zh-CN" altLang="en-US"/>
              <a:t>设</a:t>
            </a:r>
            <a:r>
              <a:rPr lang="en-US" altLang="zh-CN">
                <a:solidFill>
                  <a:srgbClr val="219402"/>
                </a:solidFill>
              </a:rPr>
              <a:t>T</a:t>
            </a:r>
            <a:r>
              <a:rPr lang="en-US" altLang="zh-CN" baseline="-25000">
                <a:solidFill>
                  <a:srgbClr val="219402"/>
                </a:solidFill>
              </a:rPr>
              <a:t>1</a:t>
            </a:r>
            <a:r>
              <a:rPr lang="zh-CN" altLang="en-US"/>
              <a:t>和</a:t>
            </a:r>
            <a:r>
              <a:rPr lang="en-US" altLang="zh-CN">
                <a:solidFill>
                  <a:srgbClr val="219402"/>
                </a:solidFill>
              </a:rPr>
              <a:t>T</a:t>
            </a:r>
            <a:r>
              <a:rPr lang="en-US" altLang="zh-CN" baseline="-25000">
                <a:solidFill>
                  <a:srgbClr val="219402"/>
                </a:solidFill>
              </a:rPr>
              <a:t>2</a:t>
            </a:r>
            <a:r>
              <a:rPr lang="en-US" altLang="zh-CN"/>
              <a:t>.</a:t>
            </a:r>
            <a:r>
              <a:rPr lang="zh-CN" altLang="en-US"/>
              <a:t>令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i="1">
                <a:solidFill>
                  <a:srgbClr val="219402"/>
                </a:solidFill>
              </a:rPr>
              <a:t>   S</a:t>
            </a:r>
            <a:r>
              <a:rPr lang="en-US" altLang="zh-CN" i="1" baseline="-25000">
                <a:solidFill>
                  <a:srgbClr val="219402"/>
                </a:solidFill>
              </a:rPr>
              <a:t>e</a:t>
            </a:r>
            <a:r>
              <a:rPr lang="en-US" altLang="zh-CN">
                <a:solidFill>
                  <a:srgbClr val="219402"/>
                </a:solidFill>
              </a:rPr>
              <a:t>={</a:t>
            </a:r>
            <a:r>
              <a:rPr lang="en-US" altLang="zh-CN" i="1">
                <a:solidFill>
                  <a:srgbClr val="219402"/>
                </a:solidFill>
              </a:rPr>
              <a:t>e</a:t>
            </a:r>
            <a:r>
              <a:rPr lang="en-US" altLang="zh-CN">
                <a:solidFill>
                  <a:srgbClr val="219402"/>
                </a:solidFill>
              </a:rPr>
              <a:t>|</a:t>
            </a:r>
            <a:r>
              <a:rPr lang="en-US" altLang="zh-CN" i="1">
                <a:solidFill>
                  <a:srgbClr val="219402"/>
                </a:solidFill>
              </a:rPr>
              <a:t>e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)</a:t>
            </a:r>
            <a:r>
              <a:rPr lang="zh-CN" altLang="en-US">
                <a:solidFill>
                  <a:srgbClr val="219402"/>
                </a:solidFill>
                <a:sym typeface="Symbol" panose="05050102010706020507" pitchFamily="18" charset="2"/>
              </a:rPr>
              <a:t>且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zh-CN" altLang="en-US">
                <a:solidFill>
                  <a:srgbClr val="219402"/>
                </a:solidFill>
                <a:sym typeface="Symbol" panose="05050102010706020507" pitchFamily="18" charset="2"/>
              </a:rPr>
              <a:t>的两个端点分别属于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V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T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)</a:t>
            </a:r>
            <a:r>
              <a:rPr lang="zh-CN" altLang="en-US">
                <a:solidFill>
                  <a:srgbClr val="219402"/>
                </a:solidFill>
                <a:sym typeface="Symbol" panose="05050102010706020507" pitchFamily="18" charset="2"/>
              </a:rPr>
              <a:t>和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V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T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)}.</a:t>
            </a:r>
            <a:endParaRPr lang="en-US" altLang="zh-CN">
              <a:solidFill>
                <a:srgbClr val="219402"/>
              </a:solidFill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>
                <a:sym typeface="Symbol" panose="05050102010706020507" pitchFamily="18" charset="2"/>
              </a:rPr>
              <a:t>   </a:t>
            </a:r>
            <a:r>
              <a:rPr lang="zh-CN" altLang="en-US">
                <a:sym typeface="Symbol" panose="05050102010706020507" pitchFamily="18" charset="2"/>
              </a:rPr>
              <a:t>显然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 i="1" baseline="-25000"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且除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外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 i="1" baseline="-25000"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中元素全是弦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并且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 i="1" baseline="-25000"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的割集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r>
              <a:rPr lang="zh-CN" altLang="en-US">
                <a:sym typeface="Symbol" panose="05050102010706020507" pitchFamily="18" charset="2"/>
              </a:rPr>
              <a:t>由构造可知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若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zh-CN" altLang="en-US">
                <a:sym typeface="Symbol" panose="05050102010706020507" pitchFamily="18" charset="2"/>
              </a:rPr>
              <a:t>是不同的树枝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 S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-50000">
                <a:solidFill>
                  <a:srgbClr val="219402"/>
                </a:solidFill>
                <a:sym typeface="Symbol" panose="05050102010706020507" pitchFamily="18" charset="2"/>
              </a:rPr>
              <a:t>1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, 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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 S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-50000">
                <a:solidFill>
                  <a:srgbClr val="219402"/>
                </a:solidFill>
                <a:sym typeface="Symbol" panose="05050102010706020507" pitchFamily="18" charset="2"/>
              </a:rPr>
              <a:t>2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, 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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  S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-50000">
                <a:solidFill>
                  <a:srgbClr val="219402"/>
                </a:solidFill>
                <a:sym typeface="Symbol" panose="05050102010706020507" pitchFamily="18" charset="2"/>
              </a:rPr>
              <a:t>1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, 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S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e</a:t>
            </a:r>
            <a:r>
              <a:rPr lang="en-US" altLang="zh-CN" baseline="-50000">
                <a:solidFill>
                  <a:srgbClr val="219402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rgbClr val="21940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所以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 baseline="-25000">
                <a:sym typeface="Symbol" panose="05050102010706020507" pitchFamily="18" charset="2"/>
              </a:rPr>
              <a:t>e</a:t>
            </a:r>
            <a:r>
              <a:rPr lang="en-US" altLang="zh-CN" baseline="-50000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</a:t>
            </a:r>
            <a:r>
              <a:rPr lang="en-US" altLang="zh-CN" i="1">
                <a:sym typeface="Symbol" panose="05050102010706020507" pitchFamily="18" charset="2"/>
              </a:rPr>
              <a:t>S</a:t>
            </a:r>
            <a:r>
              <a:rPr lang="en-US" altLang="zh-CN" baseline="-25000">
                <a:sym typeface="Symbol" panose="05050102010706020507" pitchFamily="18" charset="2"/>
              </a:rPr>
              <a:t>e</a:t>
            </a:r>
            <a:r>
              <a:rPr lang="en-US" altLang="zh-CN" baseline="-50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charRg st="7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charRg st="119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charRg st="159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基本割集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 bwMode="auto">
          <a:ln>
            <a:miter lim="800000"/>
          </a:ln>
          <a:effectLst/>
          <a:scene3d>
            <a:camera prst="orthographicFront"/>
            <a:lightRig rig="balanced" dir="t"/>
          </a:scene3d>
          <a:sp3d prstMaterial="plastic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charset="0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定义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9.4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设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是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阶连通图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G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的一棵生成树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e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  <a:sym typeface="Symbol" panose="05050102010706020507" charset="0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e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  <a:sym typeface="Symbol" panose="05050102010706020507" charset="0"/>
              </a:rPr>
              <a:t>,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 …, </a:t>
            </a:r>
            <a:r>
              <a:rPr lang="en-US" altLang="zh-CN" i="1" strike="noStrike" noProof="0" dirty="0">
                <a:ln>
                  <a:noFill/>
                </a:ln>
                <a:effectLst/>
                <a:uLnTx/>
                <a:uFillTx/>
                <a:sym typeface="+mn-ea"/>
              </a:rPr>
              <a:t>e</a:t>
            </a:r>
            <a:r>
              <a:rPr lang="en-US" altLang="zh-CN" i="1" strike="noStrike" baseline="-30000" noProof="0" dirty="0">
                <a:ln>
                  <a:noFill/>
                </a:ln>
                <a:effectLst/>
                <a:uLnTx/>
                <a:uFillTx/>
                <a:sym typeface="+mn-ea"/>
              </a:rPr>
              <a:t>i</a:t>
            </a:r>
            <a:r>
              <a:rPr lang="en-US" altLang="zh-CN" strike="noStrike" noProof="0" dirty="0">
                <a:ln>
                  <a:noFill/>
                </a:ln>
                <a:effectLst/>
                <a:uLnTx/>
                <a:uFillTx/>
                <a:sym typeface="+mn-ea"/>
              </a:rPr>
              <a:t>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…,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e</a:t>
            </a:r>
            <a:r>
              <a:rPr kumimoji="0" lang="en-US" altLang="zh-CN" sz="2800" b="1" i="1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n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  <a:sym typeface="Symbol" panose="05050102010706020507" charset="0"/>
              </a:rPr>
              <a:t>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为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的树枝，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S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e</a:t>
            </a:r>
            <a:r>
              <a:rPr kumimoji="0" lang="en-US" altLang="zh-CN" sz="2800" b="1" i="1" u="none" strike="noStrike" kern="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i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是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G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的只含树枝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e</a:t>
            </a:r>
            <a:r>
              <a:rPr kumimoji="0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  <a:sym typeface="Symbol" panose="05050102010706020507" charset="0"/>
              </a:rPr>
              <a:t>,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  <a:sym typeface="Symbol" panose="05050102010706020507" charset="0"/>
              </a:rPr>
              <a:t>其他边都是弦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的割集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,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称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S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e</a:t>
            </a:r>
            <a:r>
              <a:rPr kumimoji="0" lang="en-US" altLang="zh-CN" sz="2800" b="1" i="1" u="none" strike="noStrike" kern="0" cap="none" spc="0" normalizeH="0" baseline="-30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i</a:t>
            </a:r>
            <a:r>
              <a:rPr kumimoji="0" lang="en-US" altLang="zh-CN" sz="2800" b="1" i="1" u="none" strike="noStrike" kern="0" cap="none" spc="0" normalizeH="0" baseline="-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为生成树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由树枝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e</a:t>
            </a:r>
            <a:r>
              <a:rPr kumimoji="0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i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生成的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基本割集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=1, 2, …,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  <a:sym typeface="Symbol" panose="05050102010706020507" charset="0"/>
              </a:rPr>
              <a:t>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1.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{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S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S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, …,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S</a:t>
            </a:r>
            <a:r>
              <a:rPr kumimoji="0" lang="en-US" altLang="zh-CN" sz="2800" b="1" i="1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n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  <a:sym typeface="Symbol" panose="05050102010706020507" charset="0"/>
              </a:rPr>
              <a:t></a:t>
            </a:r>
            <a:r>
              <a:rPr kumimoji="0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}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为对应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基本割集系统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称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-1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G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的割集秩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记为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  <a:sym typeface="Symbol" panose="05050102010706020507" charset="0"/>
              </a:rPr>
              <a:t>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  <a:sym typeface="Symbol" panose="05050102010706020507" charset="0"/>
              </a:rPr>
              <a:t>(G).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  <a:sym typeface="Symbol" panose="05050102010706020507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charset="0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不同生成树对应的割集系统不同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</a:rPr>
              <a:t>割集系统中的元素个数均为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  <a:sym typeface="Symbol" panose="05050102010706020507" charset="0"/>
              </a:rPr>
              <a:t>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黑体" panose="02010609060101010101" pitchFamily="49" charset="-122"/>
                <a:sym typeface="Symbol" panose="05050102010706020507" charset="0"/>
              </a:rPr>
              <a:t>(G).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  <a:sym typeface="Symbol" panose="05050102010706020507" charset="0"/>
            </a:endParaRPr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endParaRPr lang="zh-CN" altLang="en-US"/>
          </a:p>
        </p:txBody>
      </p:sp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5040313" cy="1800225"/>
          </a:xfrm>
        </p:spPr>
        <p:txBody>
          <a:bodyPr vert="horz" wrap="square" lIns="91440" tIns="45720" rIns="91440" bIns="45720" anchor="t" anchorCtr="0"/>
          <a:p>
            <a:pPr>
              <a:spcBef>
                <a:spcPct val="20000"/>
              </a:spcBef>
              <a:buNone/>
            </a:pPr>
            <a:r>
              <a:rPr lang="zh-CN" altLang="en-US">
                <a:solidFill>
                  <a:schemeClr val="hlink"/>
                </a:solidFill>
                <a:latin typeface="宋体" panose="02010600030101010101" pitchFamily="2" charset="-122"/>
              </a:rPr>
              <a:t>例</a:t>
            </a:r>
            <a:r>
              <a:rPr lang="zh-CN" altLang="en-US"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图中红边为一棵生成树</a:t>
            </a:r>
            <a:r>
              <a:rPr lang="en-US" altLang="zh-CN">
                <a:solidFill>
                  <a:schemeClr val="folHlink"/>
                </a:solidFill>
                <a:latin typeface="宋体" panose="02010600030101010101" pitchFamily="2" charset="-122"/>
              </a:rPr>
              <a:t>,</a:t>
            </a:r>
            <a:endParaRPr lang="en-US" altLang="zh-CN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>
              <a:spcBef>
                <a:spcPct val="20000"/>
              </a:spcBef>
              <a:buNone/>
            </a:pPr>
            <a:r>
              <a:rPr lang="en-US" altLang="zh-CN">
                <a:solidFill>
                  <a:schemeClr val="folHlink"/>
                </a:solidFill>
                <a:latin typeface="宋体" panose="02010600030101010101" pitchFamily="2" charset="-122"/>
              </a:rPr>
              <a:t>   </a:t>
            </a:r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求对应它的基本回路系统</a:t>
            </a:r>
            <a:endParaRPr lang="zh-CN" altLang="en-US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>
              <a:spcBef>
                <a:spcPct val="20000"/>
              </a:spcBef>
              <a:buNone/>
            </a:pPr>
            <a:r>
              <a:rPr lang="zh-CN" altLang="en-US">
                <a:solidFill>
                  <a:schemeClr val="folHlink"/>
                </a:solidFill>
                <a:latin typeface="宋体" panose="02010600030101010101" pitchFamily="2" charset="-122"/>
              </a:rPr>
              <a:t>   与基本割集系统</a:t>
            </a:r>
            <a:endParaRPr lang="zh-CN" altLang="en-US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pic>
        <p:nvPicPr>
          <p:cNvPr id="205828" name="Picture 4" descr="16-5"/>
          <p:cNvPicPr>
            <a:picLocks noChangeAspect="1"/>
          </p:cNvPicPr>
          <p:nvPr/>
        </p:nvPicPr>
        <p:blipFill>
          <a:blip r:embed="rId1"/>
          <a:srcRect t="6010" r="20482" b="39070"/>
          <a:stretch>
            <a:fillRect/>
          </a:stretch>
        </p:blipFill>
        <p:spPr>
          <a:xfrm>
            <a:off x="5334000" y="1600200"/>
            <a:ext cx="2741613" cy="2155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829" name="Rectangle 5"/>
          <p:cNvSpPr/>
          <p:nvPr/>
        </p:nvSpPr>
        <p:spPr>
          <a:xfrm>
            <a:off x="323850" y="3213100"/>
            <a:ext cx="8496300" cy="3644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zh-CN" altLang="en-US" sz="28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弦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e,f,g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对应的基本回路分别为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zh-CN" altLang="en-US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ebc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fabc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gabcd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     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zh-CN" altLang="en-US" sz="2800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={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}. 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树枝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a,b,c,d</a:t>
            </a: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对应的基本割集分别为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zh-CN" altLang="en-US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={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},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={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},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={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},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={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},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</a:pP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    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800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={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800" i="1" baseline="-30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}.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867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>
                                            <p:txEl>
                                              <p:charRg st="19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>
                                            <p:txEl>
                                              <p:charRg st="66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>
                                            <p:txEl>
                                              <p:charRg st="98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>
                                            <p:txEl>
                                              <p:charRg st="184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>
                                            <p:txEl>
                                              <p:charRg st="122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</a:rPr>
              <a:t>课后作业二：</a:t>
            </a:r>
            <a:endParaRPr kumimoji="0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黑体" panose="02010609060101010101" pitchFamily="49" charset="-122"/>
            </a:endParaRPr>
          </a:p>
        </p:txBody>
      </p:sp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59788" cy="1906588"/>
          </a:xfrm>
        </p:spPr>
        <p:txBody>
          <a:bodyPr vert="horz" wrap="square" lIns="91440" tIns="45720" rIns="91440" bIns="45720" anchor="t" anchorCtr="0"/>
          <a:p>
            <a:pPr>
              <a:spcBef>
                <a:spcPct val="20000"/>
              </a:spcBef>
              <a:buNone/>
            </a:pPr>
            <a:r>
              <a:rPr lang="zh-CN" altLang="en-US">
                <a:latin typeface="宋体" panose="02010600030101010101" pitchFamily="2" charset="-122"/>
              </a:rPr>
              <a:t>下图所示图的一棵生成树为</a:t>
            </a:r>
            <a:endParaRPr lang="en-US" altLang="zh-CN">
              <a:latin typeface="宋体" panose="02010600030101010101" pitchFamily="2" charset="-122"/>
            </a:endParaRPr>
          </a:p>
          <a:p>
            <a:pPr>
              <a:spcBef>
                <a:spcPct val="20000"/>
              </a:spcBef>
              <a:buNone/>
            </a:pPr>
            <a:r>
              <a:rPr lang="en-US" altLang="zh-CN"/>
              <a:t>E(T)={(</a:t>
            </a:r>
            <a:r>
              <a:rPr lang="en-US" altLang="zh-CN" i="1"/>
              <a:t>a</a:t>
            </a:r>
            <a:r>
              <a:rPr lang="en-US" altLang="zh-CN"/>
              <a:t>,b),(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),(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),(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/>
              <a:t>),(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f</a:t>
            </a:r>
            <a:r>
              <a:rPr lang="en-US" altLang="zh-CN"/>
              <a:t>)},</a:t>
            </a:r>
            <a:r>
              <a:rPr lang="zh-CN" altLang="en-US">
                <a:latin typeface="宋体" panose="02010600030101010101" pitchFamily="2" charset="-122"/>
              </a:rPr>
              <a:t>求它的基本回路系统与基本割集系统</a:t>
            </a:r>
            <a:endParaRPr lang="zh-CN" altLang="en-US">
              <a:latin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80365" y="3140710"/>
            <a:ext cx="3724910" cy="2952750"/>
            <a:chOff x="599" y="4946"/>
            <a:chExt cx="5866" cy="4650"/>
          </a:xfrm>
        </p:grpSpPr>
        <p:sp>
          <p:nvSpPr>
            <p:cNvPr id="10" name="Text Box 186"/>
            <p:cNvSpPr txBox="1"/>
            <p:nvPr/>
          </p:nvSpPr>
          <p:spPr>
            <a:xfrm>
              <a:off x="3873" y="8553"/>
              <a:ext cx="1143" cy="98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>
                <a:buSzTx/>
              </a:pPr>
              <a:r>
                <a:rPr lang="en-US" altLang="zh-CN" sz="2000" i="1">
                  <a:latin typeface="Cambria" panose="02040503050406030204"/>
                  <a:ea typeface="宋体" panose="02010600030101010101" pitchFamily="2" charset="-122"/>
                </a:rPr>
                <a:t>e</a:t>
              </a:r>
              <a:r>
                <a:rPr lang="en-US" altLang="zh-CN" sz="2000" i="1" baseline="-25000">
                  <a:solidFill>
                    <a:schemeClr val="tx1"/>
                  </a:solidFill>
                  <a:uFillTx/>
                  <a:latin typeface="Cambria" panose="02040503050406030204"/>
                  <a:ea typeface="宋体" panose="02010600030101010101" pitchFamily="2" charset="-122"/>
                </a:rPr>
                <a:t>9</a:t>
              </a:r>
              <a:endParaRPr lang="en-US" altLang="zh-CN" sz="2000" i="1" baseline="-25000">
                <a:solidFill>
                  <a:schemeClr val="tx1"/>
                </a:solidFill>
                <a:uFillTx/>
                <a:latin typeface="Cambria" panose="02040503050406030204"/>
                <a:ea typeface="宋体" panose="02010600030101010101" pitchFamily="2" charset="-122"/>
              </a:endParaRPr>
            </a:p>
          </p:txBody>
        </p:sp>
        <p:sp>
          <p:nvSpPr>
            <p:cNvPr id="9" name="Text Box 186"/>
            <p:cNvSpPr txBox="1"/>
            <p:nvPr/>
          </p:nvSpPr>
          <p:spPr>
            <a:xfrm>
              <a:off x="2058" y="8501"/>
              <a:ext cx="1143" cy="98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>
                <a:buSzTx/>
              </a:pPr>
              <a:r>
                <a:rPr lang="en-US" altLang="zh-CN" sz="2000" i="1">
                  <a:latin typeface="Cambria" panose="02040503050406030204"/>
                  <a:ea typeface="宋体" panose="02010600030101010101" pitchFamily="2" charset="-122"/>
                </a:rPr>
                <a:t>e</a:t>
              </a:r>
              <a:r>
                <a:rPr lang="en-US" altLang="zh-CN" sz="2000" i="1" baseline="-25000">
                  <a:solidFill>
                    <a:schemeClr val="tx1"/>
                  </a:solidFill>
                  <a:uFillTx/>
                  <a:latin typeface="Cambria" panose="02040503050406030204"/>
                  <a:ea typeface="宋体" panose="02010600030101010101" pitchFamily="2" charset="-122"/>
                </a:rPr>
                <a:t>8</a:t>
              </a:r>
              <a:endParaRPr lang="en-US" altLang="zh-CN" sz="2000" i="1" baseline="-25000">
                <a:solidFill>
                  <a:schemeClr val="tx1"/>
                </a:solidFill>
                <a:uFillTx/>
                <a:latin typeface="Cambria" panose="02040503050406030204"/>
                <a:ea typeface="宋体" panose="02010600030101010101" pitchFamily="2" charset="-122"/>
              </a:endParaRPr>
            </a:p>
          </p:txBody>
        </p:sp>
        <p:sp>
          <p:nvSpPr>
            <p:cNvPr id="8" name="Text Box 186"/>
            <p:cNvSpPr txBox="1"/>
            <p:nvPr/>
          </p:nvSpPr>
          <p:spPr>
            <a:xfrm>
              <a:off x="4654" y="7554"/>
              <a:ext cx="1143" cy="98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>
                <a:buSzTx/>
              </a:pPr>
              <a:r>
                <a:rPr lang="en-US" altLang="zh-CN" sz="2000" i="1">
                  <a:latin typeface="Cambria" panose="02040503050406030204"/>
                  <a:ea typeface="宋体" panose="02010600030101010101" pitchFamily="2" charset="-122"/>
                </a:rPr>
                <a:t>e</a:t>
              </a:r>
              <a:r>
                <a:rPr lang="en-US" altLang="zh-CN" sz="2000" i="1" baseline="-25000">
                  <a:solidFill>
                    <a:schemeClr val="tx1"/>
                  </a:solidFill>
                  <a:uFillTx/>
                  <a:latin typeface="Cambria" panose="02040503050406030204"/>
                  <a:ea typeface="宋体" panose="02010600030101010101" pitchFamily="2" charset="-122"/>
                </a:rPr>
                <a:t>7</a:t>
              </a:r>
              <a:endParaRPr lang="en-US" altLang="zh-CN" sz="2000" i="1" baseline="-25000">
                <a:solidFill>
                  <a:schemeClr val="tx1"/>
                </a:solidFill>
                <a:uFillTx/>
                <a:latin typeface="Cambria" panose="02040503050406030204"/>
                <a:ea typeface="宋体" panose="02010600030101010101" pitchFamily="2" charset="-122"/>
              </a:endParaRPr>
            </a:p>
          </p:txBody>
        </p:sp>
        <p:sp>
          <p:nvSpPr>
            <p:cNvPr id="7" name="Text Box 186"/>
            <p:cNvSpPr txBox="1"/>
            <p:nvPr/>
          </p:nvSpPr>
          <p:spPr>
            <a:xfrm>
              <a:off x="3672" y="7542"/>
              <a:ext cx="1143" cy="98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>
                <a:buSzTx/>
              </a:pPr>
              <a:r>
                <a:rPr lang="en-US" altLang="zh-CN" sz="2000" i="1">
                  <a:latin typeface="Cambria" panose="02040503050406030204"/>
                  <a:ea typeface="宋体" panose="02010600030101010101" pitchFamily="2" charset="-122"/>
                </a:rPr>
                <a:t>e</a:t>
              </a:r>
              <a:r>
                <a:rPr lang="en-US" altLang="zh-CN" sz="2000" i="1" baseline="-25000">
                  <a:solidFill>
                    <a:schemeClr val="tx1"/>
                  </a:solidFill>
                  <a:uFillTx/>
                  <a:latin typeface="Cambria" panose="02040503050406030204"/>
                  <a:ea typeface="宋体" panose="02010600030101010101" pitchFamily="2" charset="-122"/>
                </a:rPr>
                <a:t>6</a:t>
              </a:r>
              <a:endParaRPr lang="en-US" altLang="zh-CN" sz="2000" i="1" baseline="-25000">
                <a:solidFill>
                  <a:schemeClr val="tx1"/>
                </a:solidFill>
                <a:uFillTx/>
                <a:latin typeface="Cambria" panose="02040503050406030204"/>
                <a:ea typeface="宋体" panose="02010600030101010101" pitchFamily="2" charset="-122"/>
              </a:endParaRPr>
            </a:p>
          </p:txBody>
        </p:sp>
        <p:sp>
          <p:nvSpPr>
            <p:cNvPr id="6" name="Text Box 186"/>
            <p:cNvSpPr txBox="1"/>
            <p:nvPr/>
          </p:nvSpPr>
          <p:spPr>
            <a:xfrm>
              <a:off x="2667" y="7516"/>
              <a:ext cx="1143" cy="98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>
                <a:buSzTx/>
              </a:pPr>
              <a:r>
                <a:rPr lang="en-US" altLang="zh-CN" sz="2000" i="1">
                  <a:latin typeface="Cambria" panose="02040503050406030204"/>
                  <a:ea typeface="宋体" panose="02010600030101010101" pitchFamily="2" charset="-122"/>
                </a:rPr>
                <a:t>e</a:t>
              </a:r>
              <a:r>
                <a:rPr lang="en-US" altLang="zh-CN" sz="2000" i="1" baseline="-25000">
                  <a:solidFill>
                    <a:schemeClr val="tx1"/>
                  </a:solidFill>
                  <a:uFillTx/>
                  <a:latin typeface="Cambria" panose="02040503050406030204"/>
                  <a:ea typeface="宋体" panose="02010600030101010101" pitchFamily="2" charset="-122"/>
                </a:rPr>
                <a:t>5</a:t>
              </a:r>
              <a:endParaRPr lang="en-US" altLang="zh-CN" sz="2000" i="1" baseline="-25000">
                <a:solidFill>
                  <a:schemeClr val="tx1"/>
                </a:solidFill>
                <a:uFillTx/>
                <a:latin typeface="Cambria" panose="02040503050406030204"/>
                <a:ea typeface="宋体" panose="02010600030101010101" pitchFamily="2" charset="-122"/>
              </a:endParaRPr>
            </a:p>
          </p:txBody>
        </p:sp>
        <p:sp>
          <p:nvSpPr>
            <p:cNvPr id="5" name="Text Box 186"/>
            <p:cNvSpPr txBox="1"/>
            <p:nvPr/>
          </p:nvSpPr>
          <p:spPr>
            <a:xfrm>
              <a:off x="2988" y="6695"/>
              <a:ext cx="1143" cy="937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>
                <a:buSzTx/>
              </a:pPr>
              <a:r>
                <a:rPr lang="en-US" altLang="zh-CN" sz="2000" i="1">
                  <a:latin typeface="Cambria" panose="02040503050406030204"/>
                  <a:ea typeface="宋体" panose="02010600030101010101" pitchFamily="2" charset="-122"/>
                </a:rPr>
                <a:t>e</a:t>
              </a:r>
              <a:r>
                <a:rPr lang="en-US" altLang="zh-CN" sz="2000" i="1" baseline="-25000">
                  <a:solidFill>
                    <a:schemeClr val="tx1"/>
                  </a:solidFill>
                  <a:uFillTx/>
                  <a:latin typeface="Cambria" panose="02040503050406030204"/>
                  <a:ea typeface="宋体" panose="02010600030101010101" pitchFamily="2" charset="-122"/>
                </a:rPr>
                <a:t>3</a:t>
              </a:r>
              <a:endParaRPr lang="en-US" altLang="zh-CN" sz="2000" i="1" baseline="-25000">
                <a:solidFill>
                  <a:schemeClr val="tx1"/>
                </a:solidFill>
                <a:uFillTx/>
                <a:latin typeface="Cambria" panose="02040503050406030204"/>
                <a:ea typeface="宋体" panose="02010600030101010101" pitchFamily="2" charset="-122"/>
              </a:endParaRPr>
            </a:p>
          </p:txBody>
        </p:sp>
        <p:sp>
          <p:nvSpPr>
            <p:cNvPr id="4" name="Text Box 186"/>
            <p:cNvSpPr txBox="1"/>
            <p:nvPr/>
          </p:nvSpPr>
          <p:spPr>
            <a:xfrm>
              <a:off x="1417" y="7463"/>
              <a:ext cx="1143" cy="1137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>
                <a:buSzTx/>
              </a:pPr>
              <a:r>
                <a:rPr lang="en-US" altLang="zh-CN" sz="2000" i="1">
                  <a:latin typeface="Cambria" panose="02040503050406030204"/>
                  <a:ea typeface="宋体" panose="02010600030101010101" pitchFamily="2" charset="-122"/>
                </a:rPr>
                <a:t>e</a:t>
              </a:r>
              <a:r>
                <a:rPr lang="en-US" altLang="zh-CN" sz="2000" i="1" baseline="-25000">
                  <a:solidFill>
                    <a:schemeClr val="tx1"/>
                  </a:solidFill>
                  <a:uFillTx/>
                  <a:latin typeface="Cambria" panose="02040503050406030204"/>
                  <a:ea typeface="宋体" panose="02010600030101010101" pitchFamily="2" charset="-122"/>
                </a:rPr>
                <a:t>4</a:t>
              </a:r>
              <a:endParaRPr lang="en-US" altLang="zh-CN" sz="2000" i="1" baseline="-25000">
                <a:solidFill>
                  <a:schemeClr val="tx1"/>
                </a:solidFill>
                <a:uFillTx/>
                <a:latin typeface="Cambria" panose="02040503050406030204"/>
                <a:ea typeface="宋体" panose="02010600030101010101" pitchFamily="2" charset="-122"/>
              </a:endParaRPr>
            </a:p>
          </p:txBody>
        </p:sp>
        <p:sp>
          <p:nvSpPr>
            <p:cNvPr id="3" name="Text Box 186"/>
            <p:cNvSpPr txBox="1"/>
            <p:nvPr/>
          </p:nvSpPr>
          <p:spPr>
            <a:xfrm>
              <a:off x="2206" y="5967"/>
              <a:ext cx="1143" cy="98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>
                <a:buSzTx/>
              </a:pPr>
              <a:r>
                <a:rPr lang="en-US" altLang="zh-CN" sz="2000" i="1">
                  <a:latin typeface="Cambria" panose="02040503050406030204"/>
                  <a:ea typeface="宋体" panose="02010600030101010101" pitchFamily="2" charset="-122"/>
                </a:rPr>
                <a:t>e</a:t>
              </a:r>
              <a:r>
                <a:rPr lang="en-US" altLang="zh-CN" sz="2000" i="1" baseline="-25000">
                  <a:solidFill>
                    <a:schemeClr val="tx1"/>
                  </a:solidFill>
                  <a:uFillTx/>
                  <a:latin typeface="Cambria" panose="02040503050406030204"/>
                  <a:ea typeface="宋体" panose="02010600030101010101" pitchFamily="2" charset="-122"/>
                </a:rPr>
                <a:t>1</a:t>
              </a:r>
              <a:endParaRPr lang="en-US" altLang="zh-CN" sz="2000" i="1" baseline="-25000">
                <a:solidFill>
                  <a:schemeClr val="tx1"/>
                </a:solidFill>
                <a:uFillTx/>
                <a:latin typeface="Cambria" panose="02040503050406030204"/>
                <a:ea typeface="宋体" panose="02010600030101010101" pitchFamily="2" charset="-122"/>
              </a:endParaRPr>
            </a:p>
          </p:txBody>
        </p:sp>
        <p:sp>
          <p:nvSpPr>
            <p:cNvPr id="2" name="Text Box 186"/>
            <p:cNvSpPr txBox="1"/>
            <p:nvPr/>
          </p:nvSpPr>
          <p:spPr>
            <a:xfrm>
              <a:off x="3567" y="5967"/>
              <a:ext cx="1143" cy="98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 anchorCtr="0"/>
            <a:p>
              <a:pPr algn="just" eaLnBrk="0" hangingPunct="0">
                <a:buSzTx/>
              </a:pPr>
              <a:r>
                <a:rPr lang="en-US" altLang="zh-CN" sz="2000" i="1">
                  <a:latin typeface="Cambria" panose="02040503050406030204"/>
                  <a:ea typeface="宋体" panose="02010600030101010101" pitchFamily="2" charset="-122"/>
                </a:rPr>
                <a:t>e</a:t>
              </a:r>
              <a:r>
                <a:rPr lang="en-US" altLang="zh-CN" sz="2000" i="1" baseline="-25000">
                  <a:solidFill>
                    <a:schemeClr val="tx1"/>
                  </a:solidFill>
                  <a:uFillTx/>
                  <a:latin typeface="Cambria" panose="02040503050406030204"/>
                  <a:ea typeface="宋体" panose="02010600030101010101" pitchFamily="2" charset="-122"/>
                </a:rPr>
                <a:t>2</a:t>
              </a:r>
              <a:endParaRPr lang="en-US" altLang="zh-CN" sz="2000" i="1" baseline="-25000">
                <a:solidFill>
                  <a:schemeClr val="tx1"/>
                </a:solidFill>
                <a:uFillTx/>
                <a:latin typeface="Cambria" panose="02040503050406030204"/>
                <a:ea typeface="宋体" panose="02010600030101010101" pitchFamily="2" charset="-122"/>
              </a:endParaRPr>
            </a:p>
          </p:txBody>
        </p:sp>
        <p:grpSp>
          <p:nvGrpSpPr>
            <p:cNvPr id="30723" name="Group 180"/>
            <p:cNvGrpSpPr/>
            <p:nvPr/>
          </p:nvGrpSpPr>
          <p:grpSpPr>
            <a:xfrm>
              <a:off x="599" y="4946"/>
              <a:ext cx="5867" cy="4650"/>
              <a:chOff x="6696744" y="0"/>
              <a:chExt cx="2593" cy="2053"/>
            </a:xfrm>
          </p:grpSpPr>
          <p:sp>
            <p:nvSpPr>
              <p:cNvPr id="30724" name="Text Box 181"/>
              <p:cNvSpPr txBox="1"/>
              <p:nvPr/>
            </p:nvSpPr>
            <p:spPr>
              <a:xfrm>
                <a:off x="6698832" y="1470"/>
                <a:ext cx="505" cy="43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 anchorCtr="0"/>
              <a:p>
                <a:pPr algn="just" eaLnBrk="0" hangingPunct="0">
                  <a:buSzTx/>
                </a:pPr>
                <a:r>
                  <a:rPr lang="en-US" altLang="zh-CN" sz="24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 sz="2400">
                  <a:latin typeface="Cambria" panose="02040503050406030204"/>
                  <a:ea typeface="宋体" panose="02010600030101010101" pitchFamily="2" charset="-122"/>
                </a:endParaRPr>
              </a:p>
            </p:txBody>
          </p:sp>
          <p:sp>
            <p:nvSpPr>
              <p:cNvPr id="30725" name="Text Box 182"/>
              <p:cNvSpPr txBox="1"/>
              <p:nvPr/>
            </p:nvSpPr>
            <p:spPr>
              <a:xfrm>
                <a:off x="6697747" y="1618"/>
                <a:ext cx="505" cy="43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 anchorCtr="0"/>
              <a:p>
                <a:pPr algn="just" eaLnBrk="0" hangingPunct="0">
                  <a:buSzTx/>
                </a:pPr>
                <a:r>
                  <a:rPr lang="en-US" altLang="zh-CN" sz="24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2400">
                  <a:latin typeface="Cambria" panose="02040503050406030204"/>
                  <a:ea typeface="宋体" panose="02010600030101010101" pitchFamily="2" charset="-122"/>
                </a:endParaRPr>
              </a:p>
            </p:txBody>
          </p:sp>
          <p:sp>
            <p:nvSpPr>
              <p:cNvPr id="30726" name="Text Box 183"/>
              <p:cNvSpPr txBox="1"/>
              <p:nvPr/>
            </p:nvSpPr>
            <p:spPr>
              <a:xfrm>
                <a:off x="6696744" y="1558"/>
                <a:ext cx="505" cy="43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 anchorCtr="0"/>
              <a:p>
                <a:pPr algn="just" eaLnBrk="0" hangingPunct="0">
                  <a:buSzTx/>
                </a:pPr>
                <a:r>
                  <a:rPr lang="en-US" altLang="zh-CN" sz="24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400">
                  <a:latin typeface="Cambria" panose="02040503050406030204"/>
                  <a:ea typeface="宋体" panose="02010600030101010101" pitchFamily="2" charset="-122"/>
                </a:endParaRPr>
              </a:p>
            </p:txBody>
          </p:sp>
          <p:sp>
            <p:nvSpPr>
              <p:cNvPr id="30727" name="Text Box 184"/>
              <p:cNvSpPr txBox="1"/>
              <p:nvPr/>
            </p:nvSpPr>
            <p:spPr>
              <a:xfrm>
                <a:off x="6698360" y="675"/>
                <a:ext cx="505" cy="43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 anchorCtr="0"/>
              <a:p>
                <a:pPr algn="just" eaLnBrk="0" hangingPunct="0">
                  <a:buSzTx/>
                </a:pPr>
                <a:r>
                  <a:rPr lang="en-US" altLang="zh-CN" sz="24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sz="2400">
                  <a:latin typeface="Cambria" panose="02040503050406030204"/>
                  <a:ea typeface="宋体" panose="02010600030101010101" pitchFamily="2" charset="-122"/>
                </a:endParaRPr>
              </a:p>
            </p:txBody>
          </p:sp>
          <p:sp>
            <p:nvSpPr>
              <p:cNvPr id="30728" name="Text Box 185"/>
              <p:cNvSpPr txBox="1"/>
              <p:nvPr/>
            </p:nvSpPr>
            <p:spPr>
              <a:xfrm>
                <a:off x="6697267" y="675"/>
                <a:ext cx="505" cy="43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 anchorCtr="0"/>
              <a:p>
                <a:pPr algn="just" eaLnBrk="0" hangingPunct="0">
                  <a:buSzTx/>
                </a:pPr>
                <a:r>
                  <a:rPr lang="en-US" altLang="zh-CN" sz="24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400">
                  <a:latin typeface="Cambria" panose="02040503050406030204"/>
                  <a:ea typeface="宋体" panose="02010600030101010101" pitchFamily="2" charset="-122"/>
                </a:endParaRPr>
              </a:p>
            </p:txBody>
          </p:sp>
          <p:sp>
            <p:nvSpPr>
              <p:cNvPr id="30729" name="Text Box 186"/>
              <p:cNvSpPr txBox="1"/>
              <p:nvPr/>
            </p:nvSpPr>
            <p:spPr>
              <a:xfrm>
                <a:off x="6697657" y="0"/>
                <a:ext cx="505" cy="43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anchor="t" anchorCtr="0"/>
              <a:p>
                <a:pPr algn="just" eaLnBrk="0" hangingPunct="0">
                  <a:buSzTx/>
                </a:pPr>
                <a:r>
                  <a:rPr lang="en-US" altLang="zh-CN" sz="24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400">
                  <a:latin typeface="Cambria" panose="02040503050406030204"/>
                  <a:ea typeface="宋体" panose="02010600030101010101" pitchFamily="2" charset="-122"/>
                </a:endParaRPr>
              </a:p>
            </p:txBody>
          </p:sp>
          <p:sp>
            <p:nvSpPr>
              <p:cNvPr id="30730" name="Oval 187"/>
              <p:cNvSpPr/>
              <p:nvPr/>
            </p:nvSpPr>
            <p:spPr>
              <a:xfrm>
                <a:off x="6697800" y="345"/>
                <a:ext cx="152" cy="152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eaLnBrk="0" hangingPunct="0">
                  <a:buSzTx/>
                </a:pPr>
                <a:r>
                  <a:rPr lang="en-US" altLang="zh-CN" sz="2400">
                    <a:latin typeface="Cambria" panose="02040503050406030204"/>
                    <a:ea typeface="宋体" panose="02010600030101010101" pitchFamily="2" charset="-122"/>
                  </a:rPr>
                  <a:t> </a:t>
                </a:r>
                <a:endParaRPr lang="en-US" altLang="zh-CN" sz="2400">
                  <a:latin typeface="Cambria" panose="02040503050406030204"/>
                  <a:ea typeface="宋体" panose="02010600030101010101" pitchFamily="2" charset="-122"/>
                </a:endParaRPr>
              </a:p>
            </p:txBody>
          </p:sp>
          <p:sp>
            <p:nvSpPr>
              <p:cNvPr id="30731" name="Oval 188"/>
              <p:cNvSpPr/>
              <p:nvPr/>
            </p:nvSpPr>
            <p:spPr>
              <a:xfrm>
                <a:off x="6697104" y="1573"/>
                <a:ext cx="152" cy="152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eaLnBrk="0" hangingPunct="0">
                  <a:buSzTx/>
                </a:pPr>
                <a:r>
                  <a:rPr lang="en-US" altLang="zh-CN" sz="2400">
                    <a:latin typeface="Cambria" panose="02040503050406030204"/>
                    <a:ea typeface="宋体" panose="02010600030101010101" pitchFamily="2" charset="-122"/>
                  </a:rPr>
                  <a:t> </a:t>
                </a:r>
                <a:endParaRPr lang="en-US" altLang="zh-CN" sz="2400">
                  <a:latin typeface="Cambria" panose="02040503050406030204"/>
                  <a:ea typeface="宋体" panose="02010600030101010101" pitchFamily="2" charset="-122"/>
                </a:endParaRPr>
              </a:p>
            </p:txBody>
          </p:sp>
          <p:sp>
            <p:nvSpPr>
              <p:cNvPr id="30732" name="Oval 189"/>
              <p:cNvSpPr/>
              <p:nvPr/>
            </p:nvSpPr>
            <p:spPr>
              <a:xfrm>
                <a:off x="6698654" y="1573"/>
                <a:ext cx="152" cy="152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eaLnBrk="0" hangingPunct="0">
                  <a:buSzTx/>
                </a:pPr>
                <a:r>
                  <a:rPr lang="en-US" altLang="zh-CN" sz="2400">
                    <a:latin typeface="Cambria" panose="02040503050406030204"/>
                    <a:ea typeface="宋体" panose="02010600030101010101" pitchFamily="2" charset="-122"/>
                  </a:rPr>
                  <a:t> </a:t>
                </a:r>
                <a:endParaRPr lang="en-US" altLang="zh-CN" sz="2400">
                  <a:latin typeface="Cambria" panose="02040503050406030204"/>
                  <a:ea typeface="宋体" panose="02010600030101010101" pitchFamily="2" charset="-122"/>
                </a:endParaRPr>
              </a:p>
            </p:txBody>
          </p:sp>
          <p:cxnSp>
            <p:nvCxnSpPr>
              <p:cNvPr id="30733" name="AutoShape 190"/>
              <p:cNvCxnSpPr/>
              <p:nvPr/>
            </p:nvCxnSpPr>
            <p:spPr>
              <a:xfrm flipH="1">
                <a:off x="6697234" y="497"/>
                <a:ext cx="642" cy="1098"/>
              </a:xfrm>
              <a:prstGeom prst="straightConnector1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34" name="AutoShape 191"/>
              <p:cNvCxnSpPr/>
              <p:nvPr/>
            </p:nvCxnSpPr>
            <p:spPr>
              <a:xfrm>
                <a:off x="6697930" y="475"/>
                <a:ext cx="800" cy="1098"/>
              </a:xfrm>
              <a:prstGeom prst="straightConnector1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35" name="AutoShape 192"/>
              <p:cNvCxnSpPr/>
              <p:nvPr/>
            </p:nvCxnSpPr>
            <p:spPr>
              <a:xfrm>
                <a:off x="6697256" y="1649"/>
                <a:ext cx="1398" cy="1"/>
              </a:xfrm>
              <a:prstGeom prst="straightConnector1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0736" name="Oval 193"/>
              <p:cNvSpPr/>
              <p:nvPr/>
            </p:nvSpPr>
            <p:spPr>
              <a:xfrm>
                <a:off x="6697507" y="958"/>
                <a:ext cx="151" cy="152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eaLnBrk="0" hangingPunct="0">
                  <a:buSzTx/>
                </a:pPr>
                <a:r>
                  <a:rPr lang="en-US" altLang="zh-CN" sz="2400">
                    <a:latin typeface="Cambria" panose="02040503050406030204"/>
                    <a:ea typeface="宋体" panose="02010600030101010101" pitchFamily="2" charset="-122"/>
                  </a:rPr>
                  <a:t> </a:t>
                </a:r>
                <a:endParaRPr lang="en-US" altLang="zh-CN" sz="2400">
                  <a:latin typeface="Cambria" panose="02040503050406030204"/>
                  <a:ea typeface="宋体" panose="02010600030101010101" pitchFamily="2" charset="-122"/>
                </a:endParaRPr>
              </a:p>
            </p:txBody>
          </p:sp>
          <p:sp>
            <p:nvSpPr>
              <p:cNvPr id="30737" name="Oval 194"/>
              <p:cNvSpPr/>
              <p:nvPr/>
            </p:nvSpPr>
            <p:spPr>
              <a:xfrm>
                <a:off x="6698252" y="926"/>
                <a:ext cx="152" cy="152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eaLnBrk="0" hangingPunct="0">
                  <a:buSzTx/>
                </a:pPr>
                <a:r>
                  <a:rPr lang="en-US" altLang="zh-CN" sz="2400">
                    <a:latin typeface="Cambria" panose="02040503050406030204"/>
                    <a:ea typeface="宋体" panose="02010600030101010101" pitchFamily="2" charset="-122"/>
                  </a:rPr>
                  <a:t> </a:t>
                </a:r>
                <a:endParaRPr lang="en-US" altLang="zh-CN" sz="2400">
                  <a:latin typeface="Cambria" panose="02040503050406030204"/>
                  <a:ea typeface="宋体" panose="02010600030101010101" pitchFamily="2" charset="-122"/>
                </a:endParaRPr>
              </a:p>
            </p:txBody>
          </p:sp>
          <p:sp>
            <p:nvSpPr>
              <p:cNvPr id="30738" name="Oval 195"/>
              <p:cNvSpPr/>
              <p:nvPr/>
            </p:nvSpPr>
            <p:spPr>
              <a:xfrm>
                <a:off x="6697904" y="1558"/>
                <a:ext cx="152" cy="152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eaLnBrk="0" hangingPunct="0">
                  <a:buSzTx/>
                </a:pPr>
                <a:r>
                  <a:rPr lang="en-US" altLang="zh-CN" sz="2400">
                    <a:latin typeface="Cambria" panose="02040503050406030204"/>
                    <a:ea typeface="宋体" panose="02010600030101010101" pitchFamily="2" charset="-122"/>
                  </a:rPr>
                  <a:t> </a:t>
                </a:r>
                <a:endParaRPr lang="en-US" altLang="zh-CN" sz="2400">
                  <a:latin typeface="Cambria" panose="02040503050406030204"/>
                  <a:ea typeface="宋体" panose="02010600030101010101" pitchFamily="2" charset="-122"/>
                </a:endParaRPr>
              </a:p>
            </p:txBody>
          </p:sp>
          <p:cxnSp>
            <p:nvCxnSpPr>
              <p:cNvPr id="30739" name="AutoShape 196"/>
              <p:cNvCxnSpPr/>
              <p:nvPr/>
            </p:nvCxnSpPr>
            <p:spPr>
              <a:xfrm>
                <a:off x="6697658" y="1034"/>
                <a:ext cx="616" cy="22"/>
              </a:xfrm>
              <a:prstGeom prst="straightConnector1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40" name="AutoShape 197"/>
              <p:cNvCxnSpPr/>
              <p:nvPr/>
            </p:nvCxnSpPr>
            <p:spPr>
              <a:xfrm>
                <a:off x="6697583" y="1110"/>
                <a:ext cx="343" cy="470"/>
              </a:xfrm>
              <a:prstGeom prst="straightConnector1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41" name="AutoShape 198"/>
              <p:cNvCxnSpPr/>
              <p:nvPr/>
            </p:nvCxnSpPr>
            <p:spPr>
              <a:xfrm flipV="1">
                <a:off x="6698034" y="1056"/>
                <a:ext cx="240" cy="524"/>
              </a:xfrm>
              <a:prstGeom prst="straightConnector1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074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en-US" altLang="zh-CN"/>
              <a:t>G</a:t>
            </a:r>
            <a:r>
              <a:rPr lang="zh-CN" altLang="en-US"/>
              <a:t>的生成树的个数</a:t>
            </a:r>
            <a:r>
              <a:rPr lang="zh-CN" altLang="en-US">
                <a:sym typeface="Symbol" panose="05050102010706020507" pitchFamily="18" charset="2"/>
              </a:rPr>
              <a:t></a:t>
            </a:r>
            <a:r>
              <a:rPr lang="en-US" altLang="zh-CN">
                <a:sym typeface="Symbol" panose="05050102010706020507" pitchFamily="18" charset="2"/>
              </a:rPr>
              <a:t>(G)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00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9.6</a:t>
            </a:r>
            <a:r>
              <a:rPr lang="en-US" altLang="zh-CN"/>
              <a:t> G</a:t>
            </a:r>
            <a:r>
              <a:rPr lang="zh-CN" altLang="en-US"/>
              <a:t>是</a:t>
            </a:r>
            <a:r>
              <a:rPr lang="en-US" altLang="zh-CN" i="1"/>
              <a:t>n</a:t>
            </a:r>
            <a:r>
              <a:rPr lang="zh-CN" altLang="en-US"/>
              <a:t>阶无向连通</a:t>
            </a:r>
            <a:r>
              <a:rPr lang="zh-CN" altLang="en-US">
                <a:solidFill>
                  <a:srgbClr val="FF0000"/>
                </a:solidFill>
              </a:rPr>
              <a:t>标定图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={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 i="1"/>
              <a:t>…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i="1" baseline="-25000"/>
              <a:t>n</a:t>
            </a:r>
            <a:r>
              <a:rPr lang="en-US" altLang="zh-CN"/>
              <a:t>}),</a:t>
            </a:r>
            <a:r>
              <a:rPr lang="zh-CN" altLang="en-US"/>
              <a:t>则对于</a:t>
            </a:r>
            <a:r>
              <a:rPr lang="en-US" altLang="zh-CN"/>
              <a:t>G</a:t>
            </a:r>
            <a:r>
              <a:rPr lang="zh-CN" altLang="en-US"/>
              <a:t>的任意非环边均有</a:t>
            </a:r>
            <a:endParaRPr lang="zh-CN" altLang="en-US"/>
          </a:p>
          <a:p>
            <a:pPr>
              <a:lnSpc>
                <a:spcPct val="100000"/>
              </a:lnSpc>
              <a:buNone/>
            </a:pPr>
            <a:r>
              <a:rPr lang="zh-CN" altLang="en-US"/>
              <a:t>              </a:t>
            </a:r>
            <a:r>
              <a:rPr lang="zh-CN" altLang="en-US">
                <a:sym typeface="Symbol" panose="05050102010706020507" pitchFamily="18" charset="2"/>
              </a:rPr>
              <a:t>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)= </a:t>
            </a:r>
            <a:r>
              <a:rPr lang="zh-CN" altLang="en-US">
                <a:sym typeface="Symbol" panose="05050102010706020507" pitchFamily="18" charset="2"/>
              </a:rPr>
              <a:t>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-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)+ </a:t>
            </a:r>
            <a:r>
              <a:rPr lang="zh-CN" altLang="en-US">
                <a:sym typeface="Symbol" panose="05050102010706020507" pitchFamily="18" charset="2"/>
              </a:rPr>
              <a:t>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\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lnSpc>
                <a:spcPct val="100000"/>
              </a:lnSpc>
              <a:buNone/>
            </a:pP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证明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:</a:t>
            </a:r>
            <a:r>
              <a:rPr lang="en-US" altLang="zh-CN">
                <a:sym typeface="Symbol" panose="05050102010706020507" pitchFamily="18" charset="2"/>
              </a:rPr>
              <a:t> 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), </a:t>
            </a:r>
            <a:r>
              <a:rPr lang="en-US" altLang="zh-CN" i="1">
                <a:sym typeface="Symbol" panose="05050102010706020507" pitchFamily="18" charset="2"/>
              </a:rPr>
              <a:t>T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 i="1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的生成树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则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>
                <a:sym typeface="Symbol" panose="05050102010706020507" pitchFamily="18" charset="2"/>
              </a:rPr>
              <a:t>(1)G</a:t>
            </a:r>
            <a:r>
              <a:rPr lang="zh-CN" altLang="en-US">
                <a:sym typeface="Symbol" panose="05050102010706020507" pitchFamily="18" charset="2"/>
              </a:rPr>
              <a:t>中</a:t>
            </a: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不含</a:t>
            </a:r>
            <a:r>
              <a:rPr lang="en-US" altLang="zh-CN" i="1">
                <a:solidFill>
                  <a:schemeClr val="tx2"/>
                </a:solidFill>
                <a:sym typeface="Symbol" panose="05050102010706020507" pitchFamily="18" charset="2"/>
              </a:rPr>
              <a:t>e</a:t>
            </a: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的生成树</a:t>
            </a:r>
            <a:r>
              <a:rPr lang="zh-CN" altLang="en-US">
                <a:sym typeface="Symbol" panose="05050102010706020507" pitchFamily="18" charset="2"/>
              </a:rPr>
              <a:t>与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G-e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中的生成树</a:t>
            </a:r>
            <a:r>
              <a:rPr lang="zh-CN" altLang="en-US">
                <a:sym typeface="Symbol" panose="05050102010706020507" pitchFamily="18" charset="2"/>
              </a:rPr>
              <a:t>一一对应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zh-CN" altLang="en-US">
                <a:sym typeface="Symbol" panose="05050102010706020507" pitchFamily="18" charset="2"/>
              </a:rPr>
              <a:t></a:t>
            </a:r>
            <a:r>
              <a:rPr lang="en-US" altLang="zh-CN">
                <a:sym typeface="Symbol" panose="05050102010706020507" pitchFamily="18" charset="2"/>
              </a:rPr>
              <a:t>(G-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中不含</a:t>
            </a:r>
            <a:r>
              <a:rPr lang="en-US" altLang="zh-CN"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的生成树的个数</a:t>
            </a:r>
            <a:r>
              <a:rPr lang="en-US" altLang="zh-CN">
                <a:sym typeface="Symbol" panose="05050102010706020507" pitchFamily="18" charset="2"/>
              </a:rPr>
              <a:t>;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>
                <a:sym typeface="Symbol" panose="05050102010706020507" pitchFamily="18" charset="2"/>
              </a:rPr>
              <a:t>(2)G</a:t>
            </a:r>
            <a:r>
              <a:rPr lang="zh-CN" altLang="en-US">
                <a:sym typeface="Symbol" panose="05050102010706020507" pitchFamily="18" charset="2"/>
              </a:rPr>
              <a:t>中</a:t>
            </a: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含有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e</a:t>
            </a:r>
            <a:r>
              <a:rPr lang="zh-CN" altLang="en-US">
                <a:solidFill>
                  <a:schemeClr val="tx2"/>
                </a:solidFill>
                <a:sym typeface="Symbol" panose="05050102010706020507" pitchFamily="18" charset="2"/>
              </a:rPr>
              <a:t>的生成树</a:t>
            </a:r>
            <a:r>
              <a:rPr lang="zh-CN" altLang="en-US">
                <a:sym typeface="Symbol" panose="05050102010706020507" pitchFamily="18" charset="2"/>
              </a:rPr>
              <a:t>与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G\e</a:t>
            </a: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中的生成树</a:t>
            </a:r>
            <a:r>
              <a:rPr lang="zh-CN" altLang="en-US">
                <a:sym typeface="Symbol" panose="05050102010706020507" pitchFamily="18" charset="2"/>
              </a:rPr>
              <a:t>一一对应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zh-CN" altLang="en-US">
                <a:sym typeface="Symbol" panose="05050102010706020507" pitchFamily="18" charset="2"/>
              </a:rPr>
              <a:t></a:t>
            </a:r>
            <a:r>
              <a:rPr lang="en-US" altLang="zh-CN">
                <a:sym typeface="Symbol" panose="05050102010706020507" pitchFamily="18" charset="2"/>
              </a:rPr>
              <a:t>(G\e)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lang="en-US" altLang="zh-CN">
                <a:sym typeface="Symbol" panose="05050102010706020507" pitchFamily="18" charset="2"/>
              </a:rPr>
              <a:t>G</a:t>
            </a:r>
            <a:r>
              <a:rPr lang="zh-CN" altLang="en-US">
                <a:sym typeface="Symbol" panose="05050102010706020507" pitchFamily="18" charset="2"/>
              </a:rPr>
              <a:t>中含</a:t>
            </a:r>
            <a:r>
              <a:rPr lang="en-US" altLang="zh-CN" i="1">
                <a:sym typeface="Symbol" panose="05050102010706020507" pitchFamily="18" charset="2"/>
              </a:rPr>
              <a:t>e</a:t>
            </a:r>
            <a:r>
              <a:rPr lang="zh-CN" altLang="en-US">
                <a:sym typeface="Symbol" panose="05050102010706020507" pitchFamily="18" charset="2"/>
              </a:rPr>
              <a:t>的生成树的个数</a:t>
            </a:r>
            <a:r>
              <a:rPr lang="en-US" altLang="zh-CN">
                <a:sym typeface="Symbol" panose="05050102010706020507" pitchFamily="18" charset="2"/>
              </a:rPr>
              <a:t>;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lnSpc>
                <a:spcPct val="100000"/>
              </a:lnSpc>
              <a:buNone/>
            </a:pPr>
            <a:r>
              <a:rPr lang="zh-CN" altLang="en-US">
                <a:sym typeface="Symbol" panose="05050102010706020507" pitchFamily="18" charset="2"/>
              </a:rPr>
              <a:t>得证</a:t>
            </a:r>
            <a:r>
              <a:rPr lang="en-US" altLang="zh-CN">
                <a:sym typeface="Symbol" panose="05050102010706020507" pitchFamily="18" charset="2"/>
              </a:rPr>
              <a:t>. 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85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111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159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206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endParaRPr lang="zh-CN" altLang="en-US"/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/>
              <a:t>例</a:t>
            </a:r>
            <a:r>
              <a:rPr lang="en-US" altLang="zh-CN"/>
              <a:t>9.3  </a:t>
            </a:r>
            <a:r>
              <a:rPr lang="zh-CN" altLang="en-US"/>
              <a:t>计算标定图中生成树的个数</a:t>
            </a:r>
            <a:r>
              <a:rPr lang="en-US" altLang="zh-CN"/>
              <a:t>,</a:t>
            </a:r>
            <a:r>
              <a:rPr lang="zh-CN" altLang="en-US"/>
              <a:t>并画出所有不同的生成树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解 </a:t>
            </a:r>
            <a:endParaRPr lang="zh-CN" altLang="en-US"/>
          </a:p>
        </p:txBody>
      </p:sp>
      <p:grpSp>
        <p:nvGrpSpPr>
          <p:cNvPr id="34819" name="Group 153"/>
          <p:cNvGrpSpPr/>
          <p:nvPr/>
        </p:nvGrpSpPr>
        <p:grpSpPr>
          <a:xfrm>
            <a:off x="1222375" y="2349500"/>
            <a:ext cx="6734175" cy="1325563"/>
            <a:chOff x="770" y="1480"/>
            <a:chExt cx="4242" cy="835"/>
          </a:xfrm>
        </p:grpSpPr>
        <p:grpSp>
          <p:nvGrpSpPr>
            <p:cNvPr id="34820" name="Group 31"/>
            <p:cNvGrpSpPr/>
            <p:nvPr/>
          </p:nvGrpSpPr>
          <p:grpSpPr>
            <a:xfrm>
              <a:off x="919" y="1525"/>
              <a:ext cx="1044" cy="790"/>
              <a:chOff x="1111" y="1480"/>
              <a:chExt cx="1044" cy="790"/>
            </a:xfrm>
          </p:grpSpPr>
          <p:sp>
            <p:nvSpPr>
              <p:cNvPr id="34821" name="Line 9"/>
              <p:cNvSpPr/>
              <p:nvPr/>
            </p:nvSpPr>
            <p:spPr>
              <a:xfrm>
                <a:off x="1701" y="1526"/>
                <a:ext cx="408" cy="3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22" name="Line 10"/>
              <p:cNvSpPr/>
              <p:nvPr/>
            </p:nvSpPr>
            <p:spPr>
              <a:xfrm>
                <a:off x="1338" y="1934"/>
                <a:ext cx="363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23" name="Line 12"/>
              <p:cNvSpPr/>
              <p:nvPr/>
            </p:nvSpPr>
            <p:spPr>
              <a:xfrm flipV="1">
                <a:off x="1338" y="1526"/>
                <a:ext cx="363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24" name="Line 14"/>
              <p:cNvSpPr/>
              <p:nvPr/>
            </p:nvSpPr>
            <p:spPr>
              <a:xfrm>
                <a:off x="1338" y="1934"/>
                <a:ext cx="363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25" name="Line 15"/>
              <p:cNvSpPr/>
              <p:nvPr/>
            </p:nvSpPr>
            <p:spPr>
              <a:xfrm flipV="1">
                <a:off x="1747" y="1889"/>
                <a:ext cx="362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26" name="Oval 4"/>
              <p:cNvSpPr/>
              <p:nvPr/>
            </p:nvSpPr>
            <p:spPr>
              <a:xfrm>
                <a:off x="1656" y="1480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27" name="Oval 5"/>
              <p:cNvSpPr/>
              <p:nvPr/>
            </p:nvSpPr>
            <p:spPr>
              <a:xfrm>
                <a:off x="1656" y="2161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28" name="Oval 6"/>
              <p:cNvSpPr/>
              <p:nvPr/>
            </p:nvSpPr>
            <p:spPr>
              <a:xfrm>
                <a:off x="1293" y="1843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29" name="Oval 7"/>
              <p:cNvSpPr/>
              <p:nvPr/>
            </p:nvSpPr>
            <p:spPr>
              <a:xfrm>
                <a:off x="2064" y="1843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30" name="Oval 16"/>
              <p:cNvSpPr/>
              <p:nvPr/>
            </p:nvSpPr>
            <p:spPr>
              <a:xfrm>
                <a:off x="1111" y="2179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31" name="Line 17"/>
              <p:cNvSpPr/>
              <p:nvPr/>
            </p:nvSpPr>
            <p:spPr>
              <a:xfrm>
                <a:off x="1202" y="2206"/>
                <a:ext cx="454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4832" name="Group 32"/>
            <p:cNvGrpSpPr/>
            <p:nvPr/>
          </p:nvGrpSpPr>
          <p:grpSpPr>
            <a:xfrm>
              <a:off x="2370" y="1480"/>
              <a:ext cx="1044" cy="790"/>
              <a:chOff x="476" y="2459"/>
              <a:chExt cx="1044" cy="790"/>
            </a:xfrm>
          </p:grpSpPr>
          <p:sp>
            <p:nvSpPr>
              <p:cNvPr id="34833" name="Line 20"/>
              <p:cNvSpPr/>
              <p:nvPr/>
            </p:nvSpPr>
            <p:spPr>
              <a:xfrm>
                <a:off x="1066" y="2505"/>
                <a:ext cx="408" cy="3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4" name="Line 21"/>
              <p:cNvSpPr/>
              <p:nvPr/>
            </p:nvSpPr>
            <p:spPr>
              <a:xfrm>
                <a:off x="703" y="2913"/>
                <a:ext cx="363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5" name="Line 22"/>
              <p:cNvSpPr/>
              <p:nvPr/>
            </p:nvSpPr>
            <p:spPr>
              <a:xfrm flipV="1">
                <a:off x="703" y="2505"/>
                <a:ext cx="363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6" name="Line 23"/>
              <p:cNvSpPr/>
              <p:nvPr/>
            </p:nvSpPr>
            <p:spPr>
              <a:xfrm>
                <a:off x="703" y="2913"/>
                <a:ext cx="363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7" name="Line 24"/>
              <p:cNvSpPr/>
              <p:nvPr/>
            </p:nvSpPr>
            <p:spPr>
              <a:xfrm flipV="1">
                <a:off x="1112" y="2868"/>
                <a:ext cx="362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8" name="Oval 25"/>
              <p:cNvSpPr/>
              <p:nvPr/>
            </p:nvSpPr>
            <p:spPr>
              <a:xfrm>
                <a:off x="1021" y="2459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39" name="Oval 26"/>
              <p:cNvSpPr/>
              <p:nvPr/>
            </p:nvSpPr>
            <p:spPr>
              <a:xfrm>
                <a:off x="1021" y="3140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40" name="Oval 27"/>
              <p:cNvSpPr/>
              <p:nvPr/>
            </p:nvSpPr>
            <p:spPr>
              <a:xfrm>
                <a:off x="658" y="2822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41" name="Oval 28"/>
              <p:cNvSpPr/>
              <p:nvPr/>
            </p:nvSpPr>
            <p:spPr>
              <a:xfrm>
                <a:off x="1429" y="2822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42" name="Oval 29"/>
              <p:cNvSpPr/>
              <p:nvPr/>
            </p:nvSpPr>
            <p:spPr>
              <a:xfrm>
                <a:off x="476" y="3158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4843" name="Group 45"/>
            <p:cNvGrpSpPr/>
            <p:nvPr/>
          </p:nvGrpSpPr>
          <p:grpSpPr>
            <a:xfrm>
              <a:off x="3958" y="1480"/>
              <a:ext cx="862" cy="772"/>
              <a:chOff x="1701" y="2478"/>
              <a:chExt cx="862" cy="772"/>
            </a:xfrm>
          </p:grpSpPr>
          <p:sp>
            <p:nvSpPr>
              <p:cNvPr id="34844" name="Line 34"/>
              <p:cNvSpPr/>
              <p:nvPr/>
            </p:nvSpPr>
            <p:spPr>
              <a:xfrm>
                <a:off x="2109" y="2524"/>
                <a:ext cx="408" cy="3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45" name="Line 35"/>
              <p:cNvSpPr/>
              <p:nvPr/>
            </p:nvSpPr>
            <p:spPr>
              <a:xfrm>
                <a:off x="1746" y="2932"/>
                <a:ext cx="363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46" name="Line 36"/>
              <p:cNvSpPr/>
              <p:nvPr/>
            </p:nvSpPr>
            <p:spPr>
              <a:xfrm flipV="1">
                <a:off x="1746" y="2524"/>
                <a:ext cx="363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47" name="Line 37"/>
              <p:cNvSpPr/>
              <p:nvPr/>
            </p:nvSpPr>
            <p:spPr>
              <a:xfrm>
                <a:off x="1746" y="2932"/>
                <a:ext cx="363" cy="272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48" name="Line 38"/>
              <p:cNvSpPr/>
              <p:nvPr/>
            </p:nvSpPr>
            <p:spPr>
              <a:xfrm flipV="1">
                <a:off x="2155" y="2887"/>
                <a:ext cx="362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49" name="Oval 39"/>
              <p:cNvSpPr/>
              <p:nvPr/>
            </p:nvSpPr>
            <p:spPr>
              <a:xfrm>
                <a:off x="2064" y="2478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50" name="Oval 40"/>
              <p:cNvSpPr/>
              <p:nvPr/>
            </p:nvSpPr>
            <p:spPr>
              <a:xfrm>
                <a:off x="2064" y="3159"/>
                <a:ext cx="91" cy="91"/>
              </a:xfrm>
              <a:prstGeom prst="ellipse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51" name="Oval 41"/>
              <p:cNvSpPr/>
              <p:nvPr/>
            </p:nvSpPr>
            <p:spPr>
              <a:xfrm>
                <a:off x="1701" y="2841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52" name="Oval 42"/>
              <p:cNvSpPr/>
              <p:nvPr/>
            </p:nvSpPr>
            <p:spPr>
              <a:xfrm>
                <a:off x="2472" y="2841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853" name="Text Box 46"/>
            <p:cNvSpPr txBox="1"/>
            <p:nvPr/>
          </p:nvSpPr>
          <p:spPr>
            <a:xfrm>
              <a:off x="770" y="1729"/>
              <a:ext cx="15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 sz="2800"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                  )=</a:t>
              </a:r>
              <a:endPara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4854" name="Rectangle 47"/>
            <p:cNvSpPr/>
            <p:nvPr/>
          </p:nvSpPr>
          <p:spPr>
            <a:xfrm>
              <a:off x="2279" y="1718"/>
              <a:ext cx="14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                 )+</a:t>
              </a:r>
              <a:endParaRPr lang="zh-CN" altLang="en-US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4855" name="Rectangle 48"/>
            <p:cNvSpPr/>
            <p:nvPr/>
          </p:nvSpPr>
          <p:spPr>
            <a:xfrm>
              <a:off x="3640" y="1718"/>
              <a:ext cx="13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                  )</a:t>
              </a:r>
              <a:endParaRPr lang="zh-CN" altLang="en-US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4856" name="Group 97"/>
          <p:cNvGrpSpPr/>
          <p:nvPr/>
        </p:nvGrpSpPr>
        <p:grpSpPr>
          <a:xfrm>
            <a:off x="827088" y="3789363"/>
            <a:ext cx="4968875" cy="1225550"/>
            <a:chOff x="1973" y="2567"/>
            <a:chExt cx="3130" cy="772"/>
          </a:xfrm>
        </p:grpSpPr>
        <p:grpSp>
          <p:nvGrpSpPr>
            <p:cNvPr id="34857" name="Group 87"/>
            <p:cNvGrpSpPr/>
            <p:nvPr/>
          </p:nvGrpSpPr>
          <p:grpSpPr>
            <a:xfrm>
              <a:off x="2608" y="2567"/>
              <a:ext cx="862" cy="772"/>
              <a:chOff x="2653" y="2567"/>
              <a:chExt cx="862" cy="772"/>
            </a:xfrm>
          </p:grpSpPr>
          <p:sp>
            <p:nvSpPr>
              <p:cNvPr id="34858" name="Line 75"/>
              <p:cNvSpPr/>
              <p:nvPr/>
            </p:nvSpPr>
            <p:spPr>
              <a:xfrm>
                <a:off x="3061" y="2613"/>
                <a:ext cx="408" cy="3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59" name="Line 77"/>
              <p:cNvSpPr/>
              <p:nvPr/>
            </p:nvSpPr>
            <p:spPr>
              <a:xfrm flipV="1">
                <a:off x="2698" y="2613"/>
                <a:ext cx="363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60" name="Line 79"/>
              <p:cNvSpPr/>
              <p:nvPr/>
            </p:nvSpPr>
            <p:spPr>
              <a:xfrm flipV="1">
                <a:off x="3107" y="2976"/>
                <a:ext cx="362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61" name="Oval 80"/>
              <p:cNvSpPr/>
              <p:nvPr/>
            </p:nvSpPr>
            <p:spPr>
              <a:xfrm>
                <a:off x="3016" y="2567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62" name="Oval 81"/>
              <p:cNvSpPr/>
              <p:nvPr/>
            </p:nvSpPr>
            <p:spPr>
              <a:xfrm>
                <a:off x="3016" y="3248"/>
                <a:ext cx="91" cy="91"/>
              </a:xfrm>
              <a:prstGeom prst="ellipse">
                <a:avLst/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63" name="Oval 82"/>
              <p:cNvSpPr/>
              <p:nvPr/>
            </p:nvSpPr>
            <p:spPr>
              <a:xfrm>
                <a:off x="2653" y="2930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64" name="Oval 83"/>
              <p:cNvSpPr/>
              <p:nvPr/>
            </p:nvSpPr>
            <p:spPr>
              <a:xfrm>
                <a:off x="3424" y="2930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865" name="Rectangle 85"/>
            <p:cNvSpPr/>
            <p:nvPr/>
          </p:nvSpPr>
          <p:spPr>
            <a:xfrm>
              <a:off x="1973" y="2795"/>
              <a:ext cx="18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=0+(                 )+</a:t>
              </a:r>
              <a:endParaRPr lang="zh-CN" altLang="en-US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4866" name="Rectangle 86"/>
            <p:cNvSpPr/>
            <p:nvPr/>
          </p:nvSpPr>
          <p:spPr>
            <a:xfrm>
              <a:off x="3731" y="2788"/>
              <a:ext cx="13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                  )</a:t>
              </a:r>
              <a:endParaRPr lang="zh-CN" altLang="en-US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34867" name="Group 96"/>
            <p:cNvGrpSpPr/>
            <p:nvPr/>
          </p:nvGrpSpPr>
          <p:grpSpPr>
            <a:xfrm>
              <a:off x="4059" y="2568"/>
              <a:ext cx="862" cy="454"/>
              <a:chOff x="4059" y="2568"/>
              <a:chExt cx="862" cy="454"/>
            </a:xfrm>
          </p:grpSpPr>
          <p:sp>
            <p:nvSpPr>
              <p:cNvPr id="34868" name="Line 89"/>
              <p:cNvSpPr/>
              <p:nvPr/>
            </p:nvSpPr>
            <p:spPr>
              <a:xfrm>
                <a:off x="4467" y="2614"/>
                <a:ext cx="408" cy="3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69" name="Line 90"/>
              <p:cNvSpPr/>
              <p:nvPr/>
            </p:nvSpPr>
            <p:spPr>
              <a:xfrm flipV="1">
                <a:off x="4104" y="2614"/>
                <a:ext cx="363" cy="317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70" name="Line 91"/>
              <p:cNvSpPr/>
              <p:nvPr/>
            </p:nvSpPr>
            <p:spPr>
              <a:xfrm>
                <a:off x="4150" y="2976"/>
                <a:ext cx="725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71" name="Oval 92"/>
              <p:cNvSpPr/>
              <p:nvPr/>
            </p:nvSpPr>
            <p:spPr>
              <a:xfrm>
                <a:off x="4422" y="2568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72" name="Oval 94"/>
              <p:cNvSpPr/>
              <p:nvPr/>
            </p:nvSpPr>
            <p:spPr>
              <a:xfrm>
                <a:off x="4059" y="2931"/>
                <a:ext cx="91" cy="91"/>
              </a:xfrm>
              <a:prstGeom prst="ellipse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solidFill>
                    <a:srgbClr val="FF00FF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73" name="Oval 95"/>
              <p:cNvSpPr/>
              <p:nvPr/>
            </p:nvSpPr>
            <p:spPr>
              <a:xfrm>
                <a:off x="4830" y="2931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34874" name="Group 125"/>
          <p:cNvGrpSpPr/>
          <p:nvPr/>
        </p:nvGrpSpPr>
        <p:grpSpPr>
          <a:xfrm>
            <a:off x="827088" y="5213350"/>
            <a:ext cx="4968875" cy="808038"/>
            <a:chOff x="1973" y="3521"/>
            <a:chExt cx="3130" cy="509"/>
          </a:xfrm>
        </p:grpSpPr>
        <p:sp>
          <p:nvSpPr>
            <p:cNvPr id="34875" name="Rectangle 107"/>
            <p:cNvSpPr/>
            <p:nvPr/>
          </p:nvSpPr>
          <p:spPr>
            <a:xfrm>
              <a:off x="1973" y="3703"/>
              <a:ext cx="18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=1+(                 )+</a:t>
              </a:r>
              <a:endParaRPr lang="zh-CN" altLang="en-US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4876" name="Rectangle 108"/>
            <p:cNvSpPr/>
            <p:nvPr/>
          </p:nvSpPr>
          <p:spPr>
            <a:xfrm>
              <a:off x="3731" y="3696"/>
              <a:ext cx="13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                  )</a:t>
              </a:r>
              <a:endParaRPr lang="zh-CN" altLang="en-US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4877" name="Line 112"/>
            <p:cNvSpPr/>
            <p:nvPr/>
          </p:nvSpPr>
          <p:spPr>
            <a:xfrm>
              <a:off x="4150" y="3883"/>
              <a:ext cx="72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78" name="Oval 114"/>
            <p:cNvSpPr/>
            <p:nvPr/>
          </p:nvSpPr>
          <p:spPr>
            <a:xfrm>
              <a:off x="4059" y="3838"/>
              <a:ext cx="91" cy="91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879" name="Oval 115"/>
            <p:cNvSpPr/>
            <p:nvPr/>
          </p:nvSpPr>
          <p:spPr>
            <a:xfrm>
              <a:off x="4830" y="3838"/>
              <a:ext cx="91" cy="91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880" name="Line 117"/>
            <p:cNvSpPr/>
            <p:nvPr/>
          </p:nvSpPr>
          <p:spPr>
            <a:xfrm>
              <a:off x="3061" y="3567"/>
              <a:ext cx="408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81" name="Line 119"/>
            <p:cNvSpPr/>
            <p:nvPr/>
          </p:nvSpPr>
          <p:spPr>
            <a:xfrm>
              <a:off x="2744" y="3929"/>
              <a:ext cx="72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82" name="Oval 120"/>
            <p:cNvSpPr/>
            <p:nvPr/>
          </p:nvSpPr>
          <p:spPr>
            <a:xfrm>
              <a:off x="3016" y="3521"/>
              <a:ext cx="91" cy="91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883" name="Oval 121"/>
            <p:cNvSpPr/>
            <p:nvPr/>
          </p:nvSpPr>
          <p:spPr>
            <a:xfrm>
              <a:off x="2653" y="3884"/>
              <a:ext cx="91" cy="91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884" name="Oval 122"/>
            <p:cNvSpPr/>
            <p:nvPr/>
          </p:nvSpPr>
          <p:spPr>
            <a:xfrm>
              <a:off x="3424" y="3884"/>
              <a:ext cx="91" cy="91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4885" name="AutoShape 124"/>
            <p:cNvCxnSpPr>
              <a:stCxn id="34878" idx="0"/>
              <a:endCxn id="34879" idx="0"/>
            </p:cNvCxnSpPr>
            <p:nvPr/>
          </p:nvCxnSpPr>
          <p:spPr>
            <a:xfrm rot="5400000" flipV="1">
              <a:off x="4486" y="3449"/>
              <a:ext cx="1" cy="771"/>
            </a:xfrm>
            <a:prstGeom prst="curvedConnector3">
              <a:avLst>
                <a:gd name="adj1" fmla="val -14400005"/>
              </a:avLst>
            </a:prstGeom>
            <a:ln w="95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886" name="Group 143"/>
          <p:cNvGrpSpPr/>
          <p:nvPr/>
        </p:nvGrpSpPr>
        <p:grpSpPr>
          <a:xfrm>
            <a:off x="788988" y="6188075"/>
            <a:ext cx="4214812" cy="554038"/>
            <a:chOff x="3606" y="3112"/>
            <a:chExt cx="2655" cy="349"/>
          </a:xfrm>
        </p:grpSpPr>
        <p:sp>
          <p:nvSpPr>
            <p:cNvPr id="34887" name="Rectangle 127"/>
            <p:cNvSpPr/>
            <p:nvPr/>
          </p:nvSpPr>
          <p:spPr>
            <a:xfrm>
              <a:off x="3606" y="3134"/>
              <a:ext cx="7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=1+1+</a:t>
              </a:r>
              <a:endParaRPr lang="zh-CN" altLang="en-US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34888" name="Group 142"/>
            <p:cNvGrpSpPr/>
            <p:nvPr/>
          </p:nvGrpSpPr>
          <p:grpSpPr>
            <a:xfrm>
              <a:off x="4241" y="3112"/>
              <a:ext cx="2020" cy="328"/>
              <a:chOff x="4241" y="3112"/>
              <a:chExt cx="2020" cy="328"/>
            </a:xfrm>
          </p:grpSpPr>
          <p:sp>
            <p:nvSpPr>
              <p:cNvPr id="34889" name="Rectangle 128"/>
              <p:cNvSpPr/>
              <p:nvPr/>
            </p:nvSpPr>
            <p:spPr>
              <a:xfrm>
                <a:off x="4241" y="3113"/>
                <a:ext cx="137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zh-CN" altLang="en-US" sz="280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</a:t>
                </a: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(                  )</a:t>
                </a:r>
                <a:endPara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4890" name="Line 129"/>
              <p:cNvSpPr/>
              <p:nvPr/>
            </p:nvSpPr>
            <p:spPr>
              <a:xfrm>
                <a:off x="4660" y="3300"/>
                <a:ext cx="725" cy="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91" name="Oval 130"/>
              <p:cNvSpPr/>
              <p:nvPr/>
            </p:nvSpPr>
            <p:spPr>
              <a:xfrm>
                <a:off x="4569" y="3255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92" name="Oval 131"/>
              <p:cNvSpPr/>
              <p:nvPr/>
            </p:nvSpPr>
            <p:spPr>
              <a:xfrm>
                <a:off x="5340" y="3255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93" name="Rectangle 138"/>
              <p:cNvSpPr/>
              <p:nvPr/>
            </p:nvSpPr>
            <p:spPr>
              <a:xfrm>
                <a:off x="5545" y="3112"/>
                <a:ext cx="7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+(    )</a:t>
                </a:r>
                <a:endParaRPr lang="zh-CN" altLang="en-US" sz="28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34894" name="Oval 141"/>
              <p:cNvSpPr/>
              <p:nvPr/>
            </p:nvSpPr>
            <p:spPr>
              <a:xfrm>
                <a:off x="5965" y="3254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4895" name="Rectangle 145"/>
          <p:cNvSpPr/>
          <p:nvPr/>
        </p:nvSpPr>
        <p:spPr>
          <a:xfrm>
            <a:off x="4965700" y="6223000"/>
            <a:ext cx="20891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=1+1+1+1=4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489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9.3(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en-US" altLang="zh-CN"/>
          </a:p>
        </p:txBody>
      </p:sp>
      <p:grpSp>
        <p:nvGrpSpPr>
          <p:cNvPr id="35842" name="Group 22"/>
          <p:cNvGrpSpPr/>
          <p:nvPr/>
        </p:nvGrpSpPr>
        <p:grpSpPr>
          <a:xfrm>
            <a:off x="4875213" y="1117600"/>
            <a:ext cx="2744787" cy="2041525"/>
            <a:chOff x="158" y="799"/>
            <a:chExt cx="1729" cy="1286"/>
          </a:xfrm>
        </p:grpSpPr>
        <p:sp>
          <p:nvSpPr>
            <p:cNvPr id="35843" name="Line 6"/>
            <p:cNvSpPr/>
            <p:nvPr/>
          </p:nvSpPr>
          <p:spPr>
            <a:xfrm>
              <a:off x="1121" y="1009"/>
              <a:ext cx="532" cy="4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44" name="Line 8"/>
            <p:cNvSpPr/>
            <p:nvPr/>
          </p:nvSpPr>
          <p:spPr>
            <a:xfrm flipV="1">
              <a:off x="648" y="1009"/>
              <a:ext cx="473" cy="4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45" name="Line 10"/>
            <p:cNvSpPr/>
            <p:nvPr/>
          </p:nvSpPr>
          <p:spPr>
            <a:xfrm flipV="1">
              <a:off x="1181" y="1482"/>
              <a:ext cx="472" cy="4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46" name="Oval 11"/>
            <p:cNvSpPr/>
            <p:nvPr/>
          </p:nvSpPr>
          <p:spPr>
            <a:xfrm>
              <a:off x="1062" y="949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47" name="Oval 12"/>
            <p:cNvSpPr/>
            <p:nvPr/>
          </p:nvSpPr>
          <p:spPr>
            <a:xfrm>
              <a:off x="1062" y="1837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48" name="Oval 13"/>
            <p:cNvSpPr/>
            <p:nvPr/>
          </p:nvSpPr>
          <p:spPr>
            <a:xfrm>
              <a:off x="589" y="1422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49" name="Oval 14"/>
            <p:cNvSpPr/>
            <p:nvPr/>
          </p:nvSpPr>
          <p:spPr>
            <a:xfrm>
              <a:off x="1594" y="1422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50" name="Oval 15"/>
            <p:cNvSpPr/>
            <p:nvPr/>
          </p:nvSpPr>
          <p:spPr>
            <a:xfrm>
              <a:off x="352" y="1860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51" name="Line 16"/>
            <p:cNvSpPr/>
            <p:nvPr/>
          </p:nvSpPr>
          <p:spPr>
            <a:xfrm>
              <a:off x="471" y="1896"/>
              <a:ext cx="5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2" name="Text Box 17"/>
            <p:cNvSpPr txBox="1"/>
            <p:nvPr/>
          </p:nvSpPr>
          <p:spPr>
            <a:xfrm>
              <a:off x="158" y="162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3" name="Text Box 18"/>
            <p:cNvSpPr txBox="1"/>
            <p:nvPr/>
          </p:nvSpPr>
          <p:spPr>
            <a:xfrm>
              <a:off x="1176" y="1797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4" name="Text Box 19"/>
            <p:cNvSpPr txBox="1"/>
            <p:nvPr/>
          </p:nvSpPr>
          <p:spPr>
            <a:xfrm>
              <a:off x="1622" y="120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5" name="Text Box 20"/>
            <p:cNvSpPr txBox="1"/>
            <p:nvPr/>
          </p:nvSpPr>
          <p:spPr>
            <a:xfrm>
              <a:off x="1123" y="79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56" name="Text Box 21"/>
            <p:cNvSpPr txBox="1"/>
            <p:nvPr/>
          </p:nvSpPr>
          <p:spPr>
            <a:xfrm>
              <a:off x="352" y="129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857" name="Group 39"/>
          <p:cNvGrpSpPr/>
          <p:nvPr/>
        </p:nvGrpSpPr>
        <p:grpSpPr>
          <a:xfrm>
            <a:off x="504825" y="3817938"/>
            <a:ext cx="2744788" cy="2041525"/>
            <a:chOff x="1922" y="799"/>
            <a:chExt cx="1729" cy="1286"/>
          </a:xfrm>
        </p:grpSpPr>
        <p:sp>
          <p:nvSpPr>
            <p:cNvPr id="35858" name="Line 24"/>
            <p:cNvSpPr/>
            <p:nvPr/>
          </p:nvSpPr>
          <p:spPr>
            <a:xfrm>
              <a:off x="2885" y="1009"/>
              <a:ext cx="532" cy="47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9" name="Line 26"/>
            <p:cNvSpPr/>
            <p:nvPr/>
          </p:nvSpPr>
          <p:spPr>
            <a:xfrm flipV="1">
              <a:off x="2945" y="1482"/>
              <a:ext cx="472" cy="4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0" name="Oval 27"/>
            <p:cNvSpPr/>
            <p:nvPr/>
          </p:nvSpPr>
          <p:spPr>
            <a:xfrm>
              <a:off x="2826" y="949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61" name="Oval 28"/>
            <p:cNvSpPr/>
            <p:nvPr/>
          </p:nvSpPr>
          <p:spPr>
            <a:xfrm>
              <a:off x="2826" y="1837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62" name="Oval 29"/>
            <p:cNvSpPr/>
            <p:nvPr/>
          </p:nvSpPr>
          <p:spPr>
            <a:xfrm>
              <a:off x="2353" y="1422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63" name="Oval 30"/>
            <p:cNvSpPr/>
            <p:nvPr/>
          </p:nvSpPr>
          <p:spPr>
            <a:xfrm>
              <a:off x="3358" y="1422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64" name="Oval 31"/>
            <p:cNvSpPr/>
            <p:nvPr/>
          </p:nvSpPr>
          <p:spPr>
            <a:xfrm>
              <a:off x="2116" y="1860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65" name="Line 32"/>
            <p:cNvSpPr/>
            <p:nvPr/>
          </p:nvSpPr>
          <p:spPr>
            <a:xfrm>
              <a:off x="2235" y="1896"/>
              <a:ext cx="5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6" name="Text Box 33"/>
            <p:cNvSpPr txBox="1"/>
            <p:nvPr/>
          </p:nvSpPr>
          <p:spPr>
            <a:xfrm>
              <a:off x="1922" y="162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7" name="Text Box 34"/>
            <p:cNvSpPr txBox="1"/>
            <p:nvPr/>
          </p:nvSpPr>
          <p:spPr>
            <a:xfrm>
              <a:off x="2940" y="1797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8" name="Text Box 35"/>
            <p:cNvSpPr txBox="1"/>
            <p:nvPr/>
          </p:nvSpPr>
          <p:spPr>
            <a:xfrm>
              <a:off x="3386" y="120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9" name="Text Box 36"/>
            <p:cNvSpPr txBox="1"/>
            <p:nvPr/>
          </p:nvSpPr>
          <p:spPr>
            <a:xfrm>
              <a:off x="2887" y="79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0" name="Text Box 37"/>
            <p:cNvSpPr txBox="1"/>
            <p:nvPr/>
          </p:nvSpPr>
          <p:spPr>
            <a:xfrm>
              <a:off x="2116" y="129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1" name="Line 38"/>
            <p:cNvSpPr/>
            <p:nvPr/>
          </p:nvSpPr>
          <p:spPr>
            <a:xfrm>
              <a:off x="2426" y="1525"/>
              <a:ext cx="409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5872" name="Group 55"/>
          <p:cNvGrpSpPr/>
          <p:nvPr/>
        </p:nvGrpSpPr>
        <p:grpSpPr>
          <a:xfrm>
            <a:off x="3363913" y="3717925"/>
            <a:ext cx="2744787" cy="2041525"/>
            <a:chOff x="68" y="2189"/>
            <a:chExt cx="1729" cy="1286"/>
          </a:xfrm>
        </p:grpSpPr>
        <p:sp>
          <p:nvSpPr>
            <p:cNvPr id="35873" name="Line 41"/>
            <p:cNvSpPr/>
            <p:nvPr/>
          </p:nvSpPr>
          <p:spPr>
            <a:xfrm flipH="1">
              <a:off x="612" y="2432"/>
              <a:ext cx="408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4" name="Line 42"/>
            <p:cNvSpPr/>
            <p:nvPr/>
          </p:nvSpPr>
          <p:spPr>
            <a:xfrm flipV="1">
              <a:off x="1091" y="2872"/>
              <a:ext cx="472" cy="4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75" name="Oval 43"/>
            <p:cNvSpPr/>
            <p:nvPr/>
          </p:nvSpPr>
          <p:spPr>
            <a:xfrm>
              <a:off x="972" y="2339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76" name="Oval 44"/>
            <p:cNvSpPr/>
            <p:nvPr/>
          </p:nvSpPr>
          <p:spPr>
            <a:xfrm>
              <a:off x="972" y="3227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77" name="Oval 45"/>
            <p:cNvSpPr/>
            <p:nvPr/>
          </p:nvSpPr>
          <p:spPr>
            <a:xfrm>
              <a:off x="499" y="2812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78" name="Oval 46"/>
            <p:cNvSpPr/>
            <p:nvPr/>
          </p:nvSpPr>
          <p:spPr>
            <a:xfrm>
              <a:off x="1504" y="2812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79" name="Oval 47"/>
            <p:cNvSpPr/>
            <p:nvPr/>
          </p:nvSpPr>
          <p:spPr>
            <a:xfrm>
              <a:off x="262" y="3250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80" name="Line 48"/>
            <p:cNvSpPr/>
            <p:nvPr/>
          </p:nvSpPr>
          <p:spPr>
            <a:xfrm>
              <a:off x="381" y="3286"/>
              <a:ext cx="5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1" name="Text Box 49"/>
            <p:cNvSpPr txBox="1"/>
            <p:nvPr/>
          </p:nvSpPr>
          <p:spPr>
            <a:xfrm>
              <a:off x="68" y="301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2" name="Text Box 50"/>
            <p:cNvSpPr txBox="1"/>
            <p:nvPr/>
          </p:nvSpPr>
          <p:spPr>
            <a:xfrm>
              <a:off x="1086" y="3187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3" name="Text Box 51"/>
            <p:cNvSpPr txBox="1"/>
            <p:nvPr/>
          </p:nvSpPr>
          <p:spPr>
            <a:xfrm>
              <a:off x="1532" y="259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4" name="Text Box 52"/>
            <p:cNvSpPr txBox="1"/>
            <p:nvPr/>
          </p:nvSpPr>
          <p:spPr>
            <a:xfrm>
              <a:off x="1033" y="218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5" name="Text Box 53"/>
            <p:cNvSpPr txBox="1"/>
            <p:nvPr/>
          </p:nvSpPr>
          <p:spPr>
            <a:xfrm>
              <a:off x="262" y="268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6" name="Line 54"/>
            <p:cNvSpPr/>
            <p:nvPr/>
          </p:nvSpPr>
          <p:spPr>
            <a:xfrm>
              <a:off x="572" y="2915"/>
              <a:ext cx="409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5887" name="Group 71"/>
          <p:cNvGrpSpPr/>
          <p:nvPr/>
        </p:nvGrpSpPr>
        <p:grpSpPr>
          <a:xfrm>
            <a:off x="6254750" y="3676650"/>
            <a:ext cx="2744788" cy="2041525"/>
            <a:chOff x="2109" y="2296"/>
            <a:chExt cx="1729" cy="1286"/>
          </a:xfrm>
        </p:grpSpPr>
        <p:sp>
          <p:nvSpPr>
            <p:cNvPr id="35888" name="Line 57"/>
            <p:cNvSpPr/>
            <p:nvPr/>
          </p:nvSpPr>
          <p:spPr>
            <a:xfrm flipH="1">
              <a:off x="2653" y="2539"/>
              <a:ext cx="408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89" name="Line 58"/>
            <p:cNvSpPr/>
            <p:nvPr/>
          </p:nvSpPr>
          <p:spPr>
            <a:xfrm>
              <a:off x="3107" y="2523"/>
              <a:ext cx="497" cy="4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0" name="Oval 59"/>
            <p:cNvSpPr/>
            <p:nvPr/>
          </p:nvSpPr>
          <p:spPr>
            <a:xfrm>
              <a:off x="3013" y="2446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91" name="Oval 60"/>
            <p:cNvSpPr/>
            <p:nvPr/>
          </p:nvSpPr>
          <p:spPr>
            <a:xfrm>
              <a:off x="3013" y="3334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92" name="Oval 61"/>
            <p:cNvSpPr/>
            <p:nvPr/>
          </p:nvSpPr>
          <p:spPr>
            <a:xfrm>
              <a:off x="2540" y="2919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93" name="Oval 62"/>
            <p:cNvSpPr/>
            <p:nvPr/>
          </p:nvSpPr>
          <p:spPr>
            <a:xfrm>
              <a:off x="3545" y="2919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94" name="Oval 63"/>
            <p:cNvSpPr/>
            <p:nvPr/>
          </p:nvSpPr>
          <p:spPr>
            <a:xfrm>
              <a:off x="2303" y="3357"/>
              <a:ext cx="119" cy="119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95" name="Line 64"/>
            <p:cNvSpPr/>
            <p:nvPr/>
          </p:nvSpPr>
          <p:spPr>
            <a:xfrm>
              <a:off x="2422" y="3393"/>
              <a:ext cx="5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96" name="Text Box 65"/>
            <p:cNvSpPr txBox="1"/>
            <p:nvPr/>
          </p:nvSpPr>
          <p:spPr>
            <a:xfrm>
              <a:off x="2109" y="312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97" name="Text Box 66"/>
            <p:cNvSpPr txBox="1"/>
            <p:nvPr/>
          </p:nvSpPr>
          <p:spPr>
            <a:xfrm>
              <a:off x="3127" y="329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98" name="Text Box 67"/>
            <p:cNvSpPr txBox="1"/>
            <p:nvPr/>
          </p:nvSpPr>
          <p:spPr>
            <a:xfrm>
              <a:off x="3573" y="2705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99" name="Text Box 68"/>
            <p:cNvSpPr txBox="1"/>
            <p:nvPr/>
          </p:nvSpPr>
          <p:spPr>
            <a:xfrm>
              <a:off x="3074" y="2296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00" name="Text Box 69"/>
            <p:cNvSpPr txBox="1"/>
            <p:nvPr/>
          </p:nvSpPr>
          <p:spPr>
            <a:xfrm>
              <a:off x="2303" y="2795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01" name="Line 70"/>
            <p:cNvSpPr/>
            <p:nvPr/>
          </p:nvSpPr>
          <p:spPr>
            <a:xfrm>
              <a:off x="2613" y="3022"/>
              <a:ext cx="409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5902" name="Group 171"/>
          <p:cNvGrpSpPr/>
          <p:nvPr/>
        </p:nvGrpSpPr>
        <p:grpSpPr>
          <a:xfrm>
            <a:off x="596900" y="1216025"/>
            <a:ext cx="2744788" cy="2041525"/>
            <a:chOff x="3865" y="2341"/>
            <a:chExt cx="1729" cy="1286"/>
          </a:xfrm>
        </p:grpSpPr>
        <p:grpSp>
          <p:nvGrpSpPr>
            <p:cNvPr id="35903" name="Group 154"/>
            <p:cNvGrpSpPr/>
            <p:nvPr/>
          </p:nvGrpSpPr>
          <p:grpSpPr>
            <a:xfrm>
              <a:off x="4059" y="2491"/>
              <a:ext cx="1361" cy="1030"/>
              <a:chOff x="1111" y="1480"/>
              <a:chExt cx="1044" cy="790"/>
            </a:xfrm>
          </p:grpSpPr>
          <p:sp>
            <p:nvSpPr>
              <p:cNvPr id="35904" name="Line 155"/>
              <p:cNvSpPr/>
              <p:nvPr/>
            </p:nvSpPr>
            <p:spPr>
              <a:xfrm>
                <a:off x="1701" y="1526"/>
                <a:ext cx="408" cy="3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905" name="Line 156"/>
              <p:cNvSpPr/>
              <p:nvPr/>
            </p:nvSpPr>
            <p:spPr>
              <a:xfrm>
                <a:off x="1338" y="1934"/>
                <a:ext cx="363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906" name="Line 157"/>
              <p:cNvSpPr/>
              <p:nvPr/>
            </p:nvSpPr>
            <p:spPr>
              <a:xfrm flipV="1">
                <a:off x="1338" y="1526"/>
                <a:ext cx="363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907" name="Line 158"/>
              <p:cNvSpPr/>
              <p:nvPr/>
            </p:nvSpPr>
            <p:spPr>
              <a:xfrm>
                <a:off x="1338" y="1934"/>
                <a:ext cx="363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908" name="Line 159"/>
              <p:cNvSpPr/>
              <p:nvPr/>
            </p:nvSpPr>
            <p:spPr>
              <a:xfrm flipV="1">
                <a:off x="1747" y="1889"/>
                <a:ext cx="362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5909" name="Oval 160"/>
              <p:cNvSpPr/>
              <p:nvPr/>
            </p:nvSpPr>
            <p:spPr>
              <a:xfrm>
                <a:off x="1656" y="1480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10" name="Oval 161"/>
              <p:cNvSpPr/>
              <p:nvPr/>
            </p:nvSpPr>
            <p:spPr>
              <a:xfrm>
                <a:off x="1656" y="2161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11" name="Oval 162"/>
              <p:cNvSpPr/>
              <p:nvPr/>
            </p:nvSpPr>
            <p:spPr>
              <a:xfrm>
                <a:off x="1293" y="1843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12" name="Oval 163"/>
              <p:cNvSpPr/>
              <p:nvPr/>
            </p:nvSpPr>
            <p:spPr>
              <a:xfrm>
                <a:off x="2064" y="1843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13" name="Oval 164"/>
              <p:cNvSpPr/>
              <p:nvPr/>
            </p:nvSpPr>
            <p:spPr>
              <a:xfrm>
                <a:off x="1111" y="2179"/>
                <a:ext cx="91" cy="9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14" name="Line 165"/>
              <p:cNvSpPr/>
              <p:nvPr/>
            </p:nvSpPr>
            <p:spPr>
              <a:xfrm>
                <a:off x="1202" y="2206"/>
                <a:ext cx="454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5915" name="Text Box 166"/>
            <p:cNvSpPr txBox="1"/>
            <p:nvPr/>
          </p:nvSpPr>
          <p:spPr>
            <a:xfrm>
              <a:off x="3865" y="3171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6" name="Text Box 167"/>
            <p:cNvSpPr txBox="1"/>
            <p:nvPr/>
          </p:nvSpPr>
          <p:spPr>
            <a:xfrm>
              <a:off x="4883" y="333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7" name="Text Box 168"/>
            <p:cNvSpPr txBox="1"/>
            <p:nvPr/>
          </p:nvSpPr>
          <p:spPr>
            <a:xfrm>
              <a:off x="5329" y="2750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8" name="Text Box 169"/>
            <p:cNvSpPr txBox="1"/>
            <p:nvPr/>
          </p:nvSpPr>
          <p:spPr>
            <a:xfrm>
              <a:off x="4830" y="2341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919" name="Text Box 170"/>
            <p:cNvSpPr txBox="1"/>
            <p:nvPr/>
          </p:nvSpPr>
          <p:spPr>
            <a:xfrm>
              <a:off x="4059" y="2840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59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定理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9.7(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anose="05050102010706020507" pitchFamily="18" charset="2"/>
              </a:rPr>
              <a:t>(K</a:t>
            </a:r>
            <a:r>
              <a:rPr kumimoji="0" lang="en-US" altLang="zh-CN" sz="4400" b="1" i="0" u="none" strike="noStrike" kern="0" cap="none" spc="0" normalizeH="0" baseline="-2500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anose="05050102010706020507" pitchFamily="18" charset="2"/>
              </a:rPr>
              <a:t>n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anose="05050102010706020507" pitchFamily="18" charset="2"/>
              </a:rPr>
              <a:t>)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定理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9.7</a:t>
            </a:r>
            <a:r>
              <a:rPr lang="en-US" altLang="zh-CN">
                <a:sym typeface="Symbol" panose="05050102010706020507" pitchFamily="18" charset="2"/>
              </a:rPr>
              <a:t>  (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)=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 i="1" baseline="30000">
                <a:sym typeface="Symbol" panose="05050102010706020507" pitchFamily="18" charset="2"/>
              </a:rPr>
              <a:t>n</a:t>
            </a:r>
            <a:r>
              <a:rPr lang="en-US" altLang="zh-CN" baseline="30000">
                <a:sym typeface="Symbol" panose="05050102010706020507" pitchFamily="18" charset="2"/>
              </a:rPr>
              <a:t>-2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2),</a:t>
            </a:r>
            <a:r>
              <a:rPr lang="zh-CN" altLang="en-US">
                <a:sym typeface="Symbol" panose="05050102010706020507" pitchFamily="18" charset="2"/>
              </a:rPr>
              <a:t>其中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阶标定完全图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证明 </a:t>
            </a:r>
            <a:r>
              <a:rPr lang="zh-CN" altLang="en-US">
                <a:sym typeface="Symbol" panose="05050102010706020507" pitchFamily="18" charset="2"/>
              </a:rPr>
              <a:t>令</a:t>
            </a:r>
            <a:r>
              <a:rPr lang="en-US" altLang="zh-CN">
                <a:sym typeface="Symbol" panose="05050102010706020507" pitchFamily="18" charset="2"/>
              </a:rPr>
              <a:t>V(K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)={1,2,…,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},</a:t>
            </a:r>
            <a:r>
              <a:rPr lang="zh-CN" altLang="en-US">
                <a:sym typeface="Symbol" panose="05050102010706020507" pitchFamily="18" charset="2"/>
              </a:rPr>
              <a:t>由</a:t>
            </a:r>
            <a:r>
              <a:rPr lang="en-US" altLang="zh-CN">
                <a:sym typeface="Symbol" panose="05050102010706020507" pitchFamily="18" charset="2"/>
              </a:rPr>
              <a:t>V(K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zh-CN" altLang="en-US">
                <a:sym typeface="Symbol" panose="05050102010706020507" pitchFamily="18" charset="2"/>
              </a:rPr>
              <a:t>中的元素构造长为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-2</a:t>
            </a:r>
            <a:r>
              <a:rPr lang="zh-CN" altLang="en-US">
                <a:sym typeface="Symbol" panose="05050102010706020507" pitchFamily="18" charset="2"/>
              </a:rPr>
              <a:t>的序列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则共可以构造出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 i="1" baseline="30000">
                <a:sym typeface="Symbol" panose="05050102010706020507" pitchFamily="18" charset="2"/>
              </a:rPr>
              <a:t>n</a:t>
            </a:r>
            <a:r>
              <a:rPr lang="en-US" altLang="zh-CN" baseline="30000">
                <a:sym typeface="Symbol" panose="05050102010706020507" pitchFamily="18" charset="2"/>
              </a:rPr>
              <a:t>-2</a:t>
            </a:r>
            <a:r>
              <a:rPr lang="zh-CN" altLang="en-US">
                <a:sym typeface="Symbol" panose="05050102010706020507" pitchFamily="18" charset="2"/>
              </a:rPr>
              <a:t>个各不相同的序列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zh-CN">
                <a:sym typeface="Symbol" panose="05050102010706020507" pitchFamily="18" charset="2"/>
              </a:rPr>
              <a:t>(1) </a:t>
            </a:r>
            <a:r>
              <a:rPr lang="zh-CN" altLang="en-US">
                <a:sym typeface="Symbol" panose="05050102010706020507" pitchFamily="18" charset="2"/>
              </a:rPr>
              <a:t>对于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中任意一棵生成树</a:t>
            </a:r>
            <a:r>
              <a:rPr lang="en-US" altLang="zh-CN">
                <a:sym typeface="Symbol" panose="05050102010706020507" pitchFamily="18" charset="2"/>
              </a:rPr>
              <a:t>T,</a:t>
            </a:r>
            <a:r>
              <a:rPr lang="zh-CN" altLang="en-US">
                <a:sym typeface="Symbol" panose="05050102010706020507" pitchFamily="18" charset="2"/>
              </a:rPr>
              <a:t>构造长度为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-2</a:t>
            </a:r>
            <a:r>
              <a:rPr lang="zh-CN" altLang="en-US">
                <a:sym typeface="Symbol" panose="05050102010706020507" pitchFamily="18" charset="2"/>
              </a:rPr>
              <a:t>的序列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zh-CN">
                <a:sym typeface="Symbol" panose="05050102010706020507" pitchFamily="18" charset="2"/>
              </a:rPr>
              <a:t>(2) </a:t>
            </a:r>
            <a:r>
              <a:rPr lang="zh-CN" altLang="en-US">
                <a:sym typeface="Symbol" panose="05050102010706020507" pitchFamily="18" charset="2"/>
              </a:rPr>
              <a:t>任给由</a:t>
            </a:r>
            <a:r>
              <a:rPr lang="en-US" altLang="zh-CN">
                <a:sym typeface="Symbol" panose="05050102010706020507" pitchFamily="18" charset="2"/>
              </a:rPr>
              <a:t>{1,2,…,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}</a:t>
            </a:r>
            <a:r>
              <a:rPr lang="zh-CN" altLang="en-US">
                <a:sym typeface="Symbol" panose="05050102010706020507" pitchFamily="18" charset="2"/>
              </a:rPr>
              <a:t>中元素组成的长为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-2</a:t>
            </a:r>
            <a:r>
              <a:rPr lang="zh-CN" altLang="en-US">
                <a:sym typeface="Symbol" panose="05050102010706020507" pitchFamily="18" charset="2"/>
              </a:rPr>
              <a:t>的一个序列</a:t>
            </a:r>
            <a:r>
              <a:rPr lang="en-US" altLang="zh-CN">
                <a:sym typeface="Symbol" panose="05050102010706020507" pitchFamily="18" charset="2"/>
              </a:rPr>
              <a:t>{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,…, 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-2</a:t>
            </a:r>
            <a:r>
              <a:rPr lang="en-US" altLang="zh-CN">
                <a:sym typeface="Symbol" panose="05050102010706020507" pitchFamily="18" charset="2"/>
              </a:rPr>
              <a:t>},</a:t>
            </a:r>
            <a:r>
              <a:rPr lang="zh-CN" altLang="en-US">
                <a:sym typeface="Symbol" panose="05050102010706020507" pitchFamily="18" charset="2"/>
              </a:rPr>
              <a:t>构造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的一棵生成树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</p:txBody>
      </p:sp>
      <p:sp>
        <p:nvSpPr>
          <p:cNvPr id="3686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charRg st="37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charRg st="99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charRg st="130" end="1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>
                <a:sym typeface="Symbol" panose="05050102010706020507" pitchFamily="18" charset="2"/>
              </a:rPr>
              <a:t>构造长度为</a:t>
            </a:r>
            <a:r>
              <a:rPr lang="en-US" altLang="zh-CN">
                <a:sym typeface="Symbol" panose="05050102010706020507" pitchFamily="18" charset="2"/>
              </a:rPr>
              <a:t>n-2</a:t>
            </a:r>
            <a:r>
              <a:rPr lang="zh-CN" altLang="en-US">
                <a:sym typeface="Symbol" panose="05050102010706020507" pitchFamily="18" charset="2"/>
              </a:rPr>
              <a:t>的序列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3789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>
                <a:sym typeface="Symbol" panose="05050102010706020507" pitchFamily="18" charset="2"/>
              </a:rPr>
              <a:t>(1) </a:t>
            </a:r>
            <a:r>
              <a:rPr lang="zh-CN" altLang="en-US">
                <a:sym typeface="Symbol" panose="05050102010706020507" pitchFamily="18" charset="2"/>
              </a:rPr>
              <a:t>由生成树</a:t>
            </a:r>
            <a:r>
              <a:rPr lang="en-US" altLang="zh-CN">
                <a:sym typeface="Symbol" panose="05050102010706020507" pitchFamily="18" charset="2"/>
              </a:rPr>
              <a:t>T,</a:t>
            </a:r>
            <a:r>
              <a:rPr lang="zh-CN" altLang="en-US">
                <a:sym typeface="Symbol" panose="05050102010706020507" pitchFamily="18" charset="2"/>
              </a:rPr>
              <a:t>构造长为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-2</a:t>
            </a:r>
            <a:r>
              <a:rPr lang="zh-CN" altLang="en-US">
                <a:sym typeface="Symbol" panose="05050102010706020507" pitchFamily="18" charset="2"/>
              </a:rPr>
              <a:t>的序列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方法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:</a:t>
            </a: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   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=min{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en-US" altLang="zh-CN">
                <a:sym typeface="Symbol" panose="05050102010706020507" pitchFamily="18" charset="2"/>
              </a:rPr>
              <a:t>|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的树叶</a:t>
            </a:r>
            <a:r>
              <a:rPr lang="en-US" altLang="zh-CN">
                <a:sym typeface="Symbol" panose="05050102010706020507" pitchFamily="18" charset="2"/>
              </a:rPr>
              <a:t>},(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FF"/>
                </a:solidFill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olidFill>
                  <a:srgbClr val="FF00FF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>
                <a:sym typeface="Symbol" panose="05050102010706020507" pitchFamily="18" charset="2"/>
              </a:rPr>
              <a:t>             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=min{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en-US" altLang="zh-CN">
                <a:sym typeface="Symbol" panose="05050102010706020507" pitchFamily="18" charset="2"/>
              </a:rPr>
              <a:t>|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>
                <a:sym typeface="Symbol" panose="05050102010706020507" pitchFamily="18" charset="2"/>
              </a:rPr>
              <a:t>T-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的树叶</a:t>
            </a:r>
            <a:r>
              <a:rPr lang="en-US" altLang="zh-CN">
                <a:sym typeface="Symbol" panose="05050102010706020507" pitchFamily="18" charset="2"/>
              </a:rPr>
              <a:t>}, (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FF"/>
                </a:solidFill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olidFill>
                  <a:srgbClr val="FF00FF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>
                <a:sym typeface="Symbol" panose="05050102010706020507" pitchFamily="18" charset="2"/>
              </a:rPr>
              <a:t>             …  …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>
                <a:sym typeface="Symbol" panose="05050102010706020507" pitchFamily="18" charset="2"/>
              </a:rPr>
              <a:t>             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-2</a:t>
            </a:r>
            <a:r>
              <a:rPr lang="en-US" altLang="zh-CN">
                <a:sym typeface="Symbol" panose="05050102010706020507" pitchFamily="18" charset="2"/>
              </a:rPr>
              <a:t>=min{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en-US" altLang="zh-CN">
                <a:sym typeface="Symbol" panose="05050102010706020507" pitchFamily="18" charset="2"/>
              </a:rPr>
              <a:t>|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zh-CN" altLang="en-US">
                <a:sym typeface="Symbol" panose="05050102010706020507" pitchFamily="18" charset="2"/>
              </a:rPr>
              <a:t>是</a:t>
            </a:r>
            <a:r>
              <a:rPr lang="en-US" altLang="zh-CN">
                <a:sym typeface="Symbol" panose="05050102010706020507" pitchFamily="18" charset="2"/>
              </a:rPr>
              <a:t>(T-{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 …,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-3</a:t>
            </a:r>
            <a:r>
              <a:rPr lang="en-US" altLang="zh-CN">
                <a:sym typeface="Symbol" panose="05050102010706020507" pitchFamily="18" charset="2"/>
              </a:rPr>
              <a:t>})</a:t>
            </a:r>
            <a:r>
              <a:rPr lang="zh-CN" altLang="en-US">
                <a:sym typeface="Symbol" panose="05050102010706020507" pitchFamily="18" charset="2"/>
              </a:rPr>
              <a:t>的树叶</a:t>
            </a:r>
            <a:r>
              <a:rPr lang="en-US" altLang="zh-CN">
                <a:sym typeface="Symbol" panose="05050102010706020507" pitchFamily="18" charset="2"/>
              </a:rPr>
              <a:t>}, 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>
                <a:sym typeface="Symbol" panose="05050102010706020507" pitchFamily="18" charset="2"/>
              </a:rPr>
              <a:t>              (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n-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FF"/>
                </a:solidFill>
                <a:sym typeface="Symbol" panose="05050102010706020507" pitchFamily="18" charset="2"/>
              </a:rPr>
              <a:t>l</a:t>
            </a:r>
            <a:r>
              <a:rPr lang="en-US" altLang="zh-CN" i="1" baseline="-25000">
                <a:solidFill>
                  <a:srgbClr val="FF00FF"/>
                </a:solidFill>
                <a:sym typeface="Symbol" panose="05050102010706020507" pitchFamily="18" charset="2"/>
              </a:rPr>
              <a:t>n-</a:t>
            </a:r>
            <a:r>
              <a:rPr lang="en-US" altLang="zh-CN" baseline="-25000">
                <a:solidFill>
                  <a:srgbClr val="FF00FF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>
                <a:sym typeface="Symbol" panose="05050102010706020507" pitchFamily="18" charset="2"/>
              </a:rPr>
              <a:t>            </a:t>
            </a:r>
            <a:r>
              <a:rPr lang="zh-CN" altLang="en-US">
                <a:sym typeface="Symbol" panose="05050102010706020507" pitchFamily="18" charset="2"/>
              </a:rPr>
              <a:t>（</a:t>
            </a:r>
            <a:r>
              <a:rPr lang="en-US" altLang="zh-CN" i="1">
                <a:solidFill>
                  <a:srgbClr val="FF00FF"/>
                </a:solidFill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olidFill>
                  <a:srgbClr val="FF00FF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FF"/>
                </a:solidFill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olidFill>
                  <a:srgbClr val="FF00FF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, …,</a:t>
            </a:r>
            <a:r>
              <a:rPr lang="en-US" altLang="zh-CN" i="1">
                <a:solidFill>
                  <a:srgbClr val="FF00FF"/>
                </a:solidFill>
                <a:sym typeface="Symbol" panose="05050102010706020507" pitchFamily="18" charset="2"/>
              </a:rPr>
              <a:t>l</a:t>
            </a:r>
            <a:r>
              <a:rPr lang="en-US" altLang="zh-CN" i="1" baseline="-25000">
                <a:solidFill>
                  <a:srgbClr val="FF00FF"/>
                </a:solidFill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olidFill>
                  <a:srgbClr val="FF00FF"/>
                </a:solidFill>
                <a:sym typeface="Symbol" panose="05050102010706020507" pitchFamily="18" charset="2"/>
              </a:rPr>
              <a:t>-2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zh-CN" altLang="en-US">
                <a:sym typeface="Symbol" panose="05050102010706020507" pitchFamily="18" charset="2"/>
              </a:rPr>
              <a:t>为</a:t>
            </a:r>
            <a:r>
              <a:rPr lang="en-US" altLang="zh-CN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对应的序列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构造</a:t>
            </a:r>
            <a:r>
              <a:rPr lang="en-US" altLang="zh-CN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的一棵生成树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3891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>
                <a:sym typeface="Symbol" panose="05050102010706020507" pitchFamily="18" charset="2"/>
              </a:rPr>
              <a:t>(2) </a:t>
            </a:r>
            <a:r>
              <a:rPr lang="zh-CN" altLang="en-US">
                <a:sym typeface="Symbol" panose="05050102010706020507" pitchFamily="18" charset="2"/>
              </a:rPr>
              <a:t>任给由</a:t>
            </a:r>
            <a:r>
              <a:rPr lang="en-US" altLang="zh-CN">
                <a:sym typeface="Symbol" panose="05050102010706020507" pitchFamily="18" charset="2"/>
              </a:rPr>
              <a:t>{1,2,…,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}</a:t>
            </a:r>
            <a:r>
              <a:rPr lang="zh-CN" altLang="en-US">
                <a:sym typeface="Symbol" panose="05050102010706020507" pitchFamily="18" charset="2"/>
              </a:rPr>
              <a:t>中元素组成的长为</a:t>
            </a:r>
            <a:r>
              <a:rPr lang="en-US" altLang="zh-CN" i="1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-2</a:t>
            </a:r>
            <a:r>
              <a:rPr lang="zh-CN" altLang="en-US">
                <a:sym typeface="Symbol" panose="05050102010706020507" pitchFamily="18" charset="2"/>
              </a:rPr>
              <a:t>的一个序列</a:t>
            </a:r>
            <a:r>
              <a:rPr lang="en-US" altLang="zh-CN">
                <a:sym typeface="Symbol" panose="05050102010706020507" pitchFamily="18" charset="2"/>
              </a:rPr>
              <a:t>{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,…, 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-2</a:t>
            </a:r>
            <a:r>
              <a:rPr lang="en-US" altLang="zh-CN">
                <a:sym typeface="Symbol" panose="05050102010706020507" pitchFamily="18" charset="2"/>
              </a:rPr>
              <a:t>},</a:t>
            </a:r>
            <a:r>
              <a:rPr lang="zh-CN" altLang="en-US">
                <a:sym typeface="Symbol" panose="05050102010706020507" pitchFamily="18" charset="2"/>
              </a:rPr>
              <a:t>构造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zh-CN" altLang="en-US">
                <a:sym typeface="Symbol" panose="05050102010706020507" pitchFamily="18" charset="2"/>
              </a:rPr>
              <a:t>的一棵生成树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方法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: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=min{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en-US" altLang="zh-CN">
                <a:sym typeface="Symbol" panose="05050102010706020507" pitchFamily="18" charset="2"/>
              </a:rPr>
              <a:t>|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zh-CN" altLang="en-US">
                <a:sym typeface="Symbol" panose="05050102010706020507" pitchFamily="18" charset="2"/>
              </a:rPr>
              <a:t></a:t>
            </a:r>
            <a:r>
              <a:rPr lang="en-US" altLang="zh-CN">
                <a:sym typeface="Symbol" panose="05050102010706020507" pitchFamily="18" charset="2"/>
              </a:rPr>
              <a:t>(V-{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 …,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-2</a:t>
            </a:r>
            <a:r>
              <a:rPr lang="en-US" altLang="zh-CN">
                <a:sym typeface="Symbol" panose="05050102010706020507" pitchFamily="18" charset="2"/>
              </a:rPr>
              <a:t>})}, </a:t>
            </a:r>
            <a:r>
              <a:rPr lang="zh-CN" altLang="en-US">
                <a:sym typeface="Symbol" panose="05050102010706020507" pitchFamily="18" charset="2"/>
              </a:rPr>
              <a:t>令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=min{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en-US" altLang="zh-CN">
                <a:sym typeface="Symbol" panose="05050102010706020507" pitchFamily="18" charset="2"/>
              </a:rPr>
              <a:t>|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zh-CN" altLang="en-US">
                <a:sym typeface="Symbol" panose="05050102010706020507" pitchFamily="18" charset="2"/>
              </a:rPr>
              <a:t></a:t>
            </a:r>
            <a:r>
              <a:rPr lang="en-US" altLang="zh-CN">
                <a:sym typeface="Symbol" panose="05050102010706020507" pitchFamily="18" charset="2"/>
              </a:rPr>
              <a:t>(V-{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}-{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 …,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-2</a:t>
            </a:r>
            <a:r>
              <a:rPr lang="en-US" altLang="zh-CN">
                <a:sym typeface="Symbol" panose="05050102010706020507" pitchFamily="18" charset="2"/>
              </a:rPr>
              <a:t>})}, </a:t>
            </a:r>
            <a:r>
              <a:rPr lang="zh-CN" altLang="en-US">
                <a:sym typeface="Symbol" panose="05050102010706020507" pitchFamily="18" charset="2"/>
              </a:rPr>
              <a:t>令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i="1">
                <a:sym typeface="Symbol" panose="05050102010706020507" pitchFamily="18" charset="2"/>
              </a:rPr>
              <a:t>                     …</a:t>
            </a:r>
            <a:r>
              <a:rPr lang="en-US" altLang="zh-CN">
                <a:sym typeface="Symbol" panose="05050102010706020507" pitchFamily="18" charset="2"/>
              </a:rPr>
              <a:t>,  </a:t>
            </a:r>
            <a:r>
              <a:rPr lang="en-US" altLang="zh-CN" i="1">
                <a:sym typeface="Symbol" panose="05050102010706020507" pitchFamily="18" charset="2"/>
              </a:rPr>
              <a:t>…</a:t>
            </a:r>
            <a:endParaRPr lang="en-US" altLang="zh-CN" i="1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-2</a:t>
            </a:r>
            <a:r>
              <a:rPr lang="en-US" altLang="zh-CN">
                <a:sym typeface="Symbol" panose="05050102010706020507" pitchFamily="18" charset="2"/>
              </a:rPr>
              <a:t>=min{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en-US" altLang="zh-CN">
                <a:sym typeface="Symbol" panose="05050102010706020507" pitchFamily="18" charset="2"/>
              </a:rPr>
              <a:t>|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zh-CN" altLang="en-US">
                <a:sym typeface="Symbol" panose="05050102010706020507" pitchFamily="18" charset="2"/>
              </a:rPr>
              <a:t></a:t>
            </a:r>
            <a:r>
              <a:rPr lang="en-US" altLang="zh-CN">
                <a:sym typeface="Symbol" panose="05050102010706020507" pitchFamily="18" charset="2"/>
              </a:rPr>
              <a:t>(V-{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1 </a:t>
            </a:r>
            <a:r>
              <a:rPr lang="en-US" altLang="zh-CN">
                <a:sym typeface="Symbol" panose="05050102010706020507" pitchFamily="18" charset="2"/>
              </a:rPr>
              <a:t>, …, 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-3</a:t>
            </a:r>
            <a:r>
              <a:rPr lang="en-US" altLang="zh-CN">
                <a:sym typeface="Symbol" panose="05050102010706020507" pitchFamily="18" charset="2"/>
              </a:rPr>
              <a:t>}-{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-2</a:t>
            </a:r>
            <a:r>
              <a:rPr lang="en-US" altLang="zh-CN">
                <a:sym typeface="Symbol" panose="05050102010706020507" pitchFamily="18" charset="2"/>
              </a:rPr>
              <a:t>})}, </a:t>
            </a:r>
            <a:r>
              <a:rPr lang="zh-CN" altLang="en-US">
                <a:sym typeface="Symbol" panose="05050102010706020507" pitchFamily="18" charset="2"/>
              </a:rPr>
              <a:t>令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219402"/>
                </a:solidFill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olidFill>
                  <a:srgbClr val="219402"/>
                </a:solidFill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olidFill>
                  <a:srgbClr val="219402"/>
                </a:solidFill>
                <a:sym typeface="Symbol" panose="05050102010706020507" pitchFamily="18" charset="2"/>
              </a:rPr>
              <a:t>-2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 i="1">
                <a:sym typeface="Symbol" panose="05050102010706020507" pitchFamily="18" charset="2"/>
              </a:rPr>
              <a:t>l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-2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>
                <a:sym typeface="Symbol" panose="05050102010706020507" pitchFamily="18" charset="2"/>
              </a:rPr>
              <a:t>最后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zh-CN" altLang="en-US">
                <a:sym typeface="Symbol" panose="05050102010706020507" pitchFamily="18" charset="2"/>
              </a:rPr>
              <a:t>令</a:t>
            </a:r>
            <a:r>
              <a:rPr lang="en-US" altLang="zh-CN">
                <a:sym typeface="Symbol" panose="05050102010706020507" pitchFamily="18" charset="2"/>
              </a:rPr>
              <a:t>V-{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1 </a:t>
            </a:r>
            <a:r>
              <a:rPr lang="en-US" altLang="zh-CN">
                <a:sym typeface="Symbol" panose="05050102010706020507" pitchFamily="18" charset="2"/>
              </a:rPr>
              <a:t>, …, 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-3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 baseline="-25000">
                <a:sym typeface="Symbol" panose="05050102010706020507" pitchFamily="18" charset="2"/>
              </a:rPr>
              <a:t>-2</a:t>
            </a:r>
            <a:r>
              <a:rPr lang="en-US" altLang="zh-CN">
                <a:sym typeface="Symbol" panose="05050102010706020507" pitchFamily="18" charset="2"/>
              </a:rPr>
              <a:t>}</a:t>
            </a:r>
            <a:r>
              <a:rPr lang="zh-CN" altLang="en-US">
                <a:sym typeface="Symbol" panose="05050102010706020507" pitchFamily="18" charset="2"/>
              </a:rPr>
              <a:t>中的两个元素相邻</a:t>
            </a:r>
            <a:r>
              <a:rPr lang="en-US" altLang="zh-CN">
                <a:sym typeface="Symbol" panose="05050102010706020507" pitchFamily="18" charset="2"/>
              </a:rPr>
              <a:t>.</a:t>
            </a:r>
            <a:endParaRPr lang="en-US" altLang="zh-CN"/>
          </a:p>
        </p:txBody>
      </p:sp>
      <p:sp>
        <p:nvSpPr>
          <p:cNvPr id="389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endParaRPr lang="zh-CN" altLang="en-US"/>
          </a:p>
        </p:txBody>
      </p:sp>
      <p:sp>
        <p:nvSpPr>
          <p:cNvPr id="3993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9.4</a:t>
            </a:r>
            <a:r>
              <a:rPr lang="en-US" altLang="zh-CN"/>
              <a:t>  (1) </a:t>
            </a:r>
            <a:r>
              <a:rPr lang="zh-CN" altLang="en-US"/>
              <a:t>下图为</a:t>
            </a:r>
            <a:r>
              <a:rPr lang="en-US" altLang="zh-CN"/>
              <a:t>K</a:t>
            </a:r>
            <a:r>
              <a:rPr lang="en-US" altLang="zh-CN" baseline="-25000"/>
              <a:t>8</a:t>
            </a:r>
            <a:r>
              <a:rPr lang="zh-CN" altLang="en-US"/>
              <a:t>的一棵生成树</a:t>
            </a:r>
            <a:r>
              <a:rPr lang="en-US" altLang="zh-CN"/>
              <a:t>,</a:t>
            </a:r>
            <a:r>
              <a:rPr lang="zh-CN" altLang="en-US"/>
              <a:t>求它所对应的长为</a:t>
            </a:r>
            <a:r>
              <a:rPr lang="en-US" altLang="zh-CN"/>
              <a:t>6</a:t>
            </a:r>
            <a:r>
              <a:rPr lang="zh-CN" altLang="en-US"/>
              <a:t>的序列</a:t>
            </a:r>
            <a:r>
              <a:rPr lang="en-US" altLang="zh-CN"/>
              <a:t>;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(2) </a:t>
            </a:r>
            <a:r>
              <a:rPr lang="zh-CN" altLang="en-US"/>
              <a:t>求序列</a:t>
            </a:r>
            <a:r>
              <a:rPr lang="en-US" altLang="zh-CN"/>
              <a:t>(3,2,7,8,2,5)</a:t>
            </a:r>
            <a:r>
              <a:rPr lang="zh-CN" altLang="en-US"/>
              <a:t>对应的生成树</a:t>
            </a:r>
            <a:endParaRPr lang="zh-CN" altLang="en-US"/>
          </a:p>
        </p:txBody>
      </p:sp>
      <p:grpSp>
        <p:nvGrpSpPr>
          <p:cNvPr id="39939" name="Group 28"/>
          <p:cNvGrpSpPr/>
          <p:nvPr/>
        </p:nvGrpSpPr>
        <p:grpSpPr>
          <a:xfrm>
            <a:off x="539750" y="2971800"/>
            <a:ext cx="3000375" cy="3121025"/>
            <a:chOff x="340" y="1872"/>
            <a:chExt cx="1890" cy="1966"/>
          </a:xfrm>
        </p:grpSpPr>
        <p:sp>
          <p:nvSpPr>
            <p:cNvPr id="39940" name="Oval 5"/>
            <p:cNvSpPr/>
            <p:nvPr/>
          </p:nvSpPr>
          <p:spPr>
            <a:xfrm>
              <a:off x="930" y="3512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41" name="Oval 6"/>
            <p:cNvSpPr/>
            <p:nvPr/>
          </p:nvSpPr>
          <p:spPr>
            <a:xfrm>
              <a:off x="1474" y="3521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42" name="Oval 7"/>
            <p:cNvSpPr/>
            <p:nvPr/>
          </p:nvSpPr>
          <p:spPr>
            <a:xfrm>
              <a:off x="1882" y="3113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43" name="Oval 8"/>
            <p:cNvSpPr/>
            <p:nvPr/>
          </p:nvSpPr>
          <p:spPr>
            <a:xfrm>
              <a:off x="1882" y="2523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44" name="Oval 9"/>
            <p:cNvSpPr/>
            <p:nvPr/>
          </p:nvSpPr>
          <p:spPr>
            <a:xfrm>
              <a:off x="1474" y="2115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45" name="Oval 10"/>
            <p:cNvSpPr/>
            <p:nvPr/>
          </p:nvSpPr>
          <p:spPr>
            <a:xfrm>
              <a:off x="930" y="2142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46" name="Oval 11"/>
            <p:cNvSpPr/>
            <p:nvPr/>
          </p:nvSpPr>
          <p:spPr>
            <a:xfrm>
              <a:off x="548" y="2523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47" name="Oval 12"/>
            <p:cNvSpPr/>
            <p:nvPr/>
          </p:nvSpPr>
          <p:spPr>
            <a:xfrm>
              <a:off x="539" y="3095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48" name="Text Box 13"/>
            <p:cNvSpPr txBox="1"/>
            <p:nvPr/>
          </p:nvSpPr>
          <p:spPr>
            <a:xfrm>
              <a:off x="1416" y="187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49" name="Text Box 14"/>
            <p:cNvSpPr txBox="1"/>
            <p:nvPr/>
          </p:nvSpPr>
          <p:spPr>
            <a:xfrm>
              <a:off x="2018" y="247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0" name="Text Box 15"/>
            <p:cNvSpPr txBox="1"/>
            <p:nvPr/>
          </p:nvSpPr>
          <p:spPr>
            <a:xfrm>
              <a:off x="1973" y="302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1" name="Text Box 16"/>
            <p:cNvSpPr txBox="1"/>
            <p:nvPr/>
          </p:nvSpPr>
          <p:spPr>
            <a:xfrm>
              <a:off x="1610" y="347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2" name="Text Box 17"/>
            <p:cNvSpPr txBox="1"/>
            <p:nvPr/>
          </p:nvSpPr>
          <p:spPr>
            <a:xfrm>
              <a:off x="1020" y="355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3" name="Text Box 18"/>
            <p:cNvSpPr txBox="1"/>
            <p:nvPr/>
          </p:nvSpPr>
          <p:spPr>
            <a:xfrm>
              <a:off x="340" y="302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4" name="Text Box 19"/>
            <p:cNvSpPr txBox="1"/>
            <p:nvPr/>
          </p:nvSpPr>
          <p:spPr>
            <a:xfrm>
              <a:off x="385" y="247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5" name="Text Box 20"/>
            <p:cNvSpPr txBox="1"/>
            <p:nvPr/>
          </p:nvSpPr>
          <p:spPr>
            <a:xfrm>
              <a:off x="703" y="2024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6" name="Line 21"/>
            <p:cNvSpPr/>
            <p:nvPr/>
          </p:nvSpPr>
          <p:spPr>
            <a:xfrm>
              <a:off x="1519" y="2251"/>
              <a:ext cx="0" cy="12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57" name="Line 22"/>
            <p:cNvSpPr/>
            <p:nvPr/>
          </p:nvSpPr>
          <p:spPr>
            <a:xfrm flipV="1">
              <a:off x="657" y="2614"/>
              <a:ext cx="1225" cy="5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58" name="Line 23"/>
            <p:cNvSpPr/>
            <p:nvPr/>
          </p:nvSpPr>
          <p:spPr>
            <a:xfrm>
              <a:off x="657" y="2614"/>
              <a:ext cx="1225" cy="5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59" name="Line 24"/>
            <p:cNvSpPr/>
            <p:nvPr/>
          </p:nvSpPr>
          <p:spPr>
            <a:xfrm>
              <a:off x="1066" y="3612"/>
              <a:ext cx="45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60" name="Line 25"/>
            <p:cNvSpPr/>
            <p:nvPr/>
          </p:nvSpPr>
          <p:spPr>
            <a:xfrm>
              <a:off x="612" y="3203"/>
              <a:ext cx="363" cy="3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61" name="Line 26"/>
            <p:cNvSpPr/>
            <p:nvPr/>
          </p:nvSpPr>
          <p:spPr>
            <a:xfrm>
              <a:off x="612" y="2659"/>
              <a:ext cx="0" cy="45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62" name="Line 27"/>
            <p:cNvSpPr/>
            <p:nvPr/>
          </p:nvSpPr>
          <p:spPr>
            <a:xfrm flipH="1">
              <a:off x="657" y="2251"/>
              <a:ext cx="318" cy="2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9963" name="Text Box 29"/>
          <p:cNvSpPr txBox="1"/>
          <p:nvPr/>
        </p:nvSpPr>
        <p:spPr>
          <a:xfrm>
            <a:off x="4911725" y="3109913"/>
            <a:ext cx="24130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=1,(1,</a:t>
            </a:r>
            <a:r>
              <a:rPr lang="en-US" altLang="zh-CN" sz="280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=4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64" name="Text Box 30"/>
          <p:cNvSpPr txBox="1"/>
          <p:nvPr/>
        </p:nvSpPr>
        <p:spPr>
          <a:xfrm>
            <a:off x="4894263" y="3644900"/>
            <a:ext cx="24130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=2,(2,</a:t>
            </a:r>
            <a:r>
              <a:rPr lang="en-US" altLang="zh-CN" sz="280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=6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65" name="Text Box 31"/>
          <p:cNvSpPr txBox="1"/>
          <p:nvPr/>
        </p:nvSpPr>
        <p:spPr>
          <a:xfrm>
            <a:off x="4932363" y="4135438"/>
            <a:ext cx="24130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=3,(3,</a:t>
            </a:r>
            <a:r>
              <a:rPr lang="en-US" altLang="zh-CN" sz="280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=7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66" name="Text Box 32"/>
          <p:cNvSpPr txBox="1"/>
          <p:nvPr/>
        </p:nvSpPr>
        <p:spPr>
          <a:xfrm>
            <a:off x="4967288" y="4567238"/>
            <a:ext cx="24130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=4,(4,</a:t>
            </a:r>
            <a:r>
              <a:rPr lang="en-US" altLang="zh-CN" sz="280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=5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67" name="Text Box 33"/>
          <p:cNvSpPr txBox="1"/>
          <p:nvPr/>
        </p:nvSpPr>
        <p:spPr>
          <a:xfrm>
            <a:off x="4932363" y="4999038"/>
            <a:ext cx="24130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=5,(5,</a:t>
            </a:r>
            <a:r>
              <a:rPr lang="en-US" altLang="zh-CN" sz="280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=6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68" name="Text Box 34"/>
          <p:cNvSpPr txBox="1"/>
          <p:nvPr/>
        </p:nvSpPr>
        <p:spPr>
          <a:xfrm>
            <a:off x="4932363" y="5445125"/>
            <a:ext cx="24130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=6,(6,</a:t>
            </a:r>
            <a:r>
              <a:rPr lang="en-US" altLang="zh-CN" sz="280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=7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69" name="Text Box 36"/>
          <p:cNvSpPr txBox="1"/>
          <p:nvPr/>
        </p:nvSpPr>
        <p:spPr>
          <a:xfrm>
            <a:off x="3922713" y="3068638"/>
            <a:ext cx="9572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70" name="Text Box 34"/>
          <p:cNvSpPr txBox="1"/>
          <p:nvPr/>
        </p:nvSpPr>
        <p:spPr>
          <a:xfrm>
            <a:off x="4067175" y="6005513"/>
            <a:ext cx="4106863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>
                <a:latin typeface="Times New Roman" panose="02020603050405020304" pitchFamily="18" charset="0"/>
                <a:ea typeface="宋体" panose="02010600030101010101" pitchFamily="2" charset="-122"/>
              </a:rPr>
              <a:t>所求的序列为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(4,6,7,5,6,7)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7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40962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5184775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/>
              <a:t>(2) </a:t>
            </a:r>
            <a:r>
              <a:rPr lang="zh-CN" altLang="en-US"/>
              <a:t>求序列</a:t>
            </a:r>
            <a:r>
              <a:rPr lang="en-US" altLang="zh-CN"/>
              <a:t>(3,2,7,8,2,5)</a:t>
            </a:r>
            <a:r>
              <a:rPr lang="zh-CN" altLang="en-US"/>
              <a:t>对应的生成树</a:t>
            </a:r>
            <a:endParaRPr lang="zh-CN" altLang="en-US"/>
          </a:p>
          <a:p>
            <a:pPr>
              <a:buNone/>
            </a:pPr>
            <a:r>
              <a:rPr lang="zh-CN" altLang="en-US"/>
              <a:t>解  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=min{V-{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,2,7,8,2,5}}=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,(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=min{V-{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}-{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,7,8,2,5}}=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,(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=min{V- {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1,3</a:t>
            </a:r>
            <a:r>
              <a:rPr lang="en-US" altLang="zh-CN">
                <a:sym typeface="Symbol" panose="05050102010706020507" pitchFamily="18" charset="2"/>
              </a:rPr>
              <a:t>}-{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7</a:t>
            </a:r>
            <a:r>
              <a:rPr lang="en-US" altLang="zh-CN">
                <a:sym typeface="Symbol" panose="05050102010706020507" pitchFamily="18" charset="2"/>
              </a:rPr>
              <a:t>,8,2,5}}=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4</a:t>
            </a:r>
            <a:r>
              <a:rPr lang="en-US" altLang="zh-CN">
                <a:sym typeface="Symbol" panose="05050102010706020507" pitchFamily="18" charset="2"/>
              </a:rPr>
              <a:t>,(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4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7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4</a:t>
            </a:r>
            <a:r>
              <a:rPr lang="en-US" altLang="zh-CN">
                <a:sym typeface="Symbol" panose="05050102010706020507" pitchFamily="18" charset="2"/>
              </a:rPr>
              <a:t>=min{V- {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1,3,4</a:t>
            </a:r>
            <a:r>
              <a:rPr lang="en-US" altLang="zh-CN">
                <a:sym typeface="Symbol" panose="05050102010706020507" pitchFamily="18" charset="2"/>
              </a:rPr>
              <a:t>}-{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8</a:t>
            </a:r>
            <a:r>
              <a:rPr lang="en-US" altLang="zh-CN">
                <a:sym typeface="Symbol" panose="05050102010706020507" pitchFamily="18" charset="2"/>
              </a:rPr>
              <a:t>,2,5}}=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6</a:t>
            </a:r>
            <a:r>
              <a:rPr lang="en-US" altLang="zh-CN">
                <a:sym typeface="Symbol" panose="05050102010706020507" pitchFamily="18" charset="2"/>
              </a:rPr>
              <a:t>,(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6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8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5</a:t>
            </a:r>
            <a:r>
              <a:rPr lang="en-US" altLang="zh-CN">
                <a:sym typeface="Symbol" panose="05050102010706020507" pitchFamily="18" charset="2"/>
              </a:rPr>
              <a:t>=min{V- {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1,3,4,6</a:t>
            </a:r>
            <a:r>
              <a:rPr lang="en-US" altLang="zh-CN">
                <a:sym typeface="Symbol" panose="05050102010706020507" pitchFamily="18" charset="2"/>
              </a:rPr>
              <a:t>}-{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,5}}=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7</a:t>
            </a:r>
            <a:r>
              <a:rPr lang="en-US" altLang="zh-CN">
                <a:sym typeface="Symbol" panose="05050102010706020507" pitchFamily="18" charset="2"/>
              </a:rPr>
              <a:t>,(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7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baseline="-25000">
                <a:sym typeface="Symbol" panose="05050102010706020507" pitchFamily="18" charset="2"/>
              </a:rPr>
              <a:t>6</a:t>
            </a:r>
            <a:r>
              <a:rPr lang="en-US" altLang="zh-CN">
                <a:sym typeface="Symbol" panose="05050102010706020507" pitchFamily="18" charset="2"/>
              </a:rPr>
              <a:t>=min{V- {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1,3,4,6,7</a:t>
            </a:r>
            <a:r>
              <a:rPr lang="en-US" altLang="zh-CN">
                <a:sym typeface="Symbol" panose="05050102010706020507" pitchFamily="18" charset="2"/>
              </a:rPr>
              <a:t>}-{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5</a:t>
            </a:r>
            <a:r>
              <a:rPr lang="en-US" altLang="zh-CN">
                <a:sym typeface="Symbol" panose="05050102010706020507" pitchFamily="18" charset="2"/>
              </a:rPr>
              <a:t>}}=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,(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2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chemeClr val="hlink"/>
                </a:solidFill>
                <a:sym typeface="Symbol" panose="05050102010706020507" pitchFamily="18" charset="2"/>
              </a:rPr>
              <a:t>5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zh-CN">
                <a:sym typeface="Symbol" panose="05050102010706020507" pitchFamily="18" charset="2"/>
              </a:rPr>
              <a:t>{V- {</a:t>
            </a:r>
            <a:r>
              <a:rPr lang="en-US" altLang="zh-CN">
                <a:solidFill>
                  <a:srgbClr val="FF00FF"/>
                </a:solidFill>
                <a:sym typeface="Symbol" panose="05050102010706020507" pitchFamily="18" charset="2"/>
              </a:rPr>
              <a:t>1,3,4,6,7,2</a:t>
            </a:r>
            <a:r>
              <a:rPr lang="en-US" altLang="zh-CN">
                <a:sym typeface="Symbol" panose="05050102010706020507" pitchFamily="18" charset="2"/>
              </a:rPr>
              <a:t>}}</a:t>
            </a:r>
            <a:r>
              <a:rPr lang="zh-CN" altLang="en-US">
                <a:sym typeface="Symbol" panose="05050102010706020507" pitchFamily="18" charset="2"/>
              </a:rPr>
              <a:t>中的</a:t>
            </a:r>
            <a:r>
              <a:rPr lang="en-US" altLang="zh-CN">
                <a:sym typeface="Symbol" panose="05050102010706020507" pitchFamily="18" charset="2"/>
              </a:rPr>
              <a:t>5</a:t>
            </a:r>
            <a:r>
              <a:rPr lang="zh-CN" altLang="en-US">
                <a:sym typeface="Symbol" panose="05050102010706020507" pitchFamily="18" charset="2"/>
              </a:rPr>
              <a:t>和</a:t>
            </a:r>
            <a:r>
              <a:rPr lang="en-US" altLang="zh-CN">
                <a:sym typeface="Symbol" panose="05050102010706020507" pitchFamily="18" charset="2"/>
              </a:rPr>
              <a:t>8</a:t>
            </a:r>
            <a:r>
              <a:rPr lang="zh-CN" altLang="en-US">
                <a:sym typeface="Symbol" panose="05050102010706020507" pitchFamily="18" charset="2"/>
              </a:rPr>
              <a:t>相邻</a:t>
            </a:r>
            <a:r>
              <a:rPr lang="en-US" altLang="zh-CN">
                <a:sym typeface="Symbol" panose="05050102010706020507" pitchFamily="18" charset="2"/>
              </a:rPr>
              <a:t> ,  (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5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8</a:t>
            </a:r>
            <a:r>
              <a:rPr lang="en-US" altLang="zh-CN">
                <a:sym typeface="Symbol" panose="05050102010706020507" pitchFamily="18" charset="2"/>
              </a:rPr>
              <a:t>)T</a:t>
            </a:r>
            <a:endParaRPr lang="en-US" altLang="zh-CN">
              <a:sym typeface="Symbol" panose="05050102010706020507" pitchFamily="18" charset="2"/>
            </a:endParaRPr>
          </a:p>
        </p:txBody>
      </p:sp>
      <p:grpSp>
        <p:nvGrpSpPr>
          <p:cNvPr id="40963" name="Group 32"/>
          <p:cNvGrpSpPr/>
          <p:nvPr/>
        </p:nvGrpSpPr>
        <p:grpSpPr>
          <a:xfrm>
            <a:off x="6143625" y="2420938"/>
            <a:ext cx="3000375" cy="3121025"/>
            <a:chOff x="3870" y="1525"/>
            <a:chExt cx="1890" cy="1966"/>
          </a:xfrm>
        </p:grpSpPr>
        <p:sp>
          <p:nvSpPr>
            <p:cNvPr id="40964" name="Oval 6"/>
            <p:cNvSpPr/>
            <p:nvPr/>
          </p:nvSpPr>
          <p:spPr>
            <a:xfrm>
              <a:off x="4460" y="3165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65" name="Oval 7"/>
            <p:cNvSpPr/>
            <p:nvPr/>
          </p:nvSpPr>
          <p:spPr>
            <a:xfrm>
              <a:off x="5004" y="3174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66" name="Oval 8"/>
            <p:cNvSpPr/>
            <p:nvPr/>
          </p:nvSpPr>
          <p:spPr>
            <a:xfrm>
              <a:off x="5412" y="276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67" name="Oval 9"/>
            <p:cNvSpPr/>
            <p:nvPr/>
          </p:nvSpPr>
          <p:spPr>
            <a:xfrm>
              <a:off x="5412" y="217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68" name="Oval 10"/>
            <p:cNvSpPr/>
            <p:nvPr/>
          </p:nvSpPr>
          <p:spPr>
            <a:xfrm>
              <a:off x="5004" y="1768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69" name="Oval 11"/>
            <p:cNvSpPr/>
            <p:nvPr/>
          </p:nvSpPr>
          <p:spPr>
            <a:xfrm>
              <a:off x="4460" y="1795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0" name="Oval 12"/>
            <p:cNvSpPr/>
            <p:nvPr/>
          </p:nvSpPr>
          <p:spPr>
            <a:xfrm>
              <a:off x="4078" y="2176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1" name="Oval 13"/>
            <p:cNvSpPr/>
            <p:nvPr/>
          </p:nvSpPr>
          <p:spPr>
            <a:xfrm>
              <a:off x="4069" y="2748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2" name="Text Box 14"/>
            <p:cNvSpPr txBox="1"/>
            <p:nvPr/>
          </p:nvSpPr>
          <p:spPr>
            <a:xfrm>
              <a:off x="4946" y="152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3" name="Text Box 15"/>
            <p:cNvSpPr txBox="1"/>
            <p:nvPr/>
          </p:nvSpPr>
          <p:spPr>
            <a:xfrm>
              <a:off x="5548" y="2131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4" name="Text Box 16"/>
            <p:cNvSpPr txBox="1"/>
            <p:nvPr/>
          </p:nvSpPr>
          <p:spPr>
            <a:xfrm>
              <a:off x="5503" y="267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5" name="Text Box 17"/>
            <p:cNvSpPr txBox="1"/>
            <p:nvPr/>
          </p:nvSpPr>
          <p:spPr>
            <a:xfrm>
              <a:off x="5140" y="31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6" name="Text Box 18"/>
            <p:cNvSpPr txBox="1"/>
            <p:nvPr/>
          </p:nvSpPr>
          <p:spPr>
            <a:xfrm>
              <a:off x="4550" y="3203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7" name="Text Box 19"/>
            <p:cNvSpPr txBox="1"/>
            <p:nvPr/>
          </p:nvSpPr>
          <p:spPr>
            <a:xfrm>
              <a:off x="3870" y="267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8" name="Text Box 20"/>
            <p:cNvSpPr txBox="1"/>
            <p:nvPr/>
          </p:nvSpPr>
          <p:spPr>
            <a:xfrm>
              <a:off x="3915" y="2131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9" name="Text Box 21"/>
            <p:cNvSpPr txBox="1"/>
            <p:nvPr/>
          </p:nvSpPr>
          <p:spPr>
            <a:xfrm>
              <a:off x="4233" y="1677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0" name="Line 22"/>
            <p:cNvSpPr/>
            <p:nvPr/>
          </p:nvSpPr>
          <p:spPr>
            <a:xfrm>
              <a:off x="5049" y="1904"/>
              <a:ext cx="416" cy="89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1" name="Line 23"/>
            <p:cNvSpPr/>
            <p:nvPr/>
          </p:nvSpPr>
          <p:spPr>
            <a:xfrm flipH="1" flipV="1">
              <a:off x="5465" y="2296"/>
              <a:ext cx="0" cy="49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2" name="Line 24"/>
            <p:cNvSpPr/>
            <p:nvPr/>
          </p:nvSpPr>
          <p:spPr>
            <a:xfrm flipV="1">
              <a:off x="4187" y="2251"/>
              <a:ext cx="1233" cy="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3" name="Line 25"/>
            <p:cNvSpPr/>
            <p:nvPr/>
          </p:nvSpPr>
          <p:spPr>
            <a:xfrm>
              <a:off x="4195" y="2251"/>
              <a:ext cx="854" cy="101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4" name="Line 27"/>
            <p:cNvSpPr/>
            <p:nvPr/>
          </p:nvSpPr>
          <p:spPr>
            <a:xfrm flipH="1">
              <a:off x="4142" y="1933"/>
              <a:ext cx="371" cy="83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5" name="Line 29"/>
            <p:cNvSpPr/>
            <p:nvPr/>
          </p:nvSpPr>
          <p:spPr>
            <a:xfrm flipV="1">
              <a:off x="4558" y="2296"/>
              <a:ext cx="862" cy="90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6" name="Line 30"/>
            <p:cNvSpPr/>
            <p:nvPr/>
          </p:nvSpPr>
          <p:spPr>
            <a:xfrm flipV="1">
              <a:off x="4513" y="1933"/>
              <a:ext cx="0" cy="12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098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总结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/>
              <a:t>无向树的</a:t>
            </a:r>
            <a:r>
              <a:rPr lang="en-US" altLang="zh-CN"/>
              <a:t>6</a:t>
            </a:r>
            <a:r>
              <a:rPr lang="zh-CN" altLang="en-US"/>
              <a:t>个等价定义</a:t>
            </a:r>
            <a:endParaRPr lang="zh-CN" altLang="en-US"/>
          </a:p>
          <a:p>
            <a:r>
              <a:rPr lang="zh-CN" altLang="en-US"/>
              <a:t>不同的</a:t>
            </a:r>
            <a:r>
              <a:rPr lang="en-US" altLang="zh-CN"/>
              <a:t>n</a:t>
            </a:r>
            <a:r>
              <a:rPr lang="zh-CN" altLang="en-US"/>
              <a:t>阶无向树的棵树</a:t>
            </a:r>
            <a:endParaRPr lang="zh-CN" altLang="en-US"/>
          </a:p>
          <a:p>
            <a:r>
              <a:rPr lang="zh-CN" altLang="en-US"/>
              <a:t>生成树的定义及存在性</a:t>
            </a:r>
            <a:endParaRPr lang="zh-CN" altLang="en-US"/>
          </a:p>
          <a:p>
            <a:r>
              <a:rPr lang="zh-CN" altLang="en-US"/>
              <a:t>基本回路和基本割集</a:t>
            </a:r>
            <a:endParaRPr lang="zh-CN" altLang="en-US"/>
          </a:p>
          <a:p>
            <a:r>
              <a:rPr lang="zh-CN" altLang="en-US"/>
              <a:t>标定图</a:t>
            </a:r>
            <a:r>
              <a:rPr lang="en-US" altLang="zh-CN"/>
              <a:t>G</a:t>
            </a:r>
            <a:r>
              <a:rPr lang="zh-CN" altLang="en-US"/>
              <a:t>的生成树的个数</a:t>
            </a:r>
            <a:r>
              <a:rPr lang="zh-CN" altLang="en-US">
                <a:sym typeface="Symbol" panose="05050102010706020507" pitchFamily="18" charset="2"/>
              </a:rPr>
              <a:t>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G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r>
              <a:rPr lang="zh-CN" altLang="en-US">
                <a:sym typeface="Symbol" panose="05050102010706020507" pitchFamily="18" charset="2"/>
              </a:rPr>
              <a:t>及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 i="1">
                <a:sym typeface="Symbol" panose="05050102010706020507" pitchFamily="18" charset="2"/>
              </a:rPr>
              <a:t>K</a:t>
            </a:r>
            <a:r>
              <a:rPr lang="en-US" altLang="zh-CN" i="1" baseline="-25000">
                <a:sym typeface="Symbol" panose="05050102010706020507" pitchFamily="18" charset="2"/>
              </a:rPr>
              <a:t>n</a:t>
            </a:r>
            <a:r>
              <a:rPr lang="en-US" altLang="zh-CN">
                <a:sym typeface="Symbol" panose="05050102010706020507" pitchFamily="18" charset="2"/>
              </a:rPr>
              <a:t>)</a:t>
            </a:r>
            <a:endParaRPr lang="en-US" altLang="zh-CN">
              <a:sym typeface="Symbol" panose="05050102010706020507" pitchFamily="18" charset="2"/>
            </a:endParaRPr>
          </a:p>
          <a:p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课后作业三：</a:t>
            </a:r>
            <a:endParaRPr lang="en-US" altLang="zh-CN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>
              <a:buNone/>
            </a:pPr>
            <a:r>
              <a:rPr lang="zh-CN" altLang="en-US">
                <a:sym typeface="Symbol" panose="05050102010706020507" pitchFamily="18" charset="2"/>
              </a:rPr>
              <a:t>    下面的每个</a:t>
            </a:r>
            <a:r>
              <a:rPr lang="zh-CN" altLang="en-US">
                <a:sym typeface="Symbol" panose="05050102010706020507" pitchFamily="18" charset="2"/>
              </a:rPr>
              <a:t>标定简单图</a:t>
            </a:r>
            <a:r>
              <a:rPr lang="zh-CN" altLang="en-US">
                <a:sym typeface="Symbol" panose="05050102010706020507" pitchFamily="18" charset="2"/>
              </a:rPr>
              <a:t>各有多少个不同的生成树</a:t>
            </a:r>
            <a:r>
              <a:rPr lang="en-US" altLang="zh-CN">
                <a:sym typeface="Symbol" panose="05050102010706020507" pitchFamily="18" charset="2"/>
              </a:rPr>
              <a:t>?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None/>
            </a:pPr>
            <a:r>
              <a:rPr lang="en-US" altLang="zh-CN">
                <a:sym typeface="Symbol" panose="05050102010706020507" pitchFamily="18" charset="2"/>
              </a:rPr>
              <a:t>    1) K</a:t>
            </a:r>
            <a:r>
              <a:rPr lang="en-US" altLang="zh-CN" baseline="-25000">
                <a:sym typeface="Symbol" panose="05050102010706020507" pitchFamily="18" charset="2"/>
              </a:rPr>
              <a:t>3</a:t>
            </a:r>
            <a:r>
              <a:rPr lang="en-US" altLang="zh-CN">
                <a:sym typeface="Symbol" panose="05050102010706020507" pitchFamily="18" charset="2"/>
              </a:rPr>
              <a:t>,   2) K</a:t>
            </a:r>
            <a:r>
              <a:rPr lang="en-US" altLang="zh-CN" baseline="-25000">
                <a:sym typeface="Symbol" panose="05050102010706020507" pitchFamily="18" charset="2"/>
              </a:rPr>
              <a:t>4</a:t>
            </a:r>
            <a:r>
              <a:rPr lang="en-US" altLang="zh-CN">
                <a:sym typeface="Symbol" panose="05050102010706020507" pitchFamily="18" charset="2"/>
              </a:rPr>
              <a:t>,   3) K</a:t>
            </a:r>
            <a:r>
              <a:rPr lang="en-US" altLang="zh-CN" baseline="-25000">
                <a:sym typeface="Symbol" panose="05050102010706020507" pitchFamily="18" charset="2"/>
              </a:rPr>
              <a:t>2,2</a:t>
            </a:r>
            <a:r>
              <a:rPr lang="en-US" altLang="zh-CN">
                <a:sym typeface="Symbol" panose="05050102010706020507" pitchFamily="18" charset="2"/>
              </a:rPr>
              <a:t>,  4) C</a:t>
            </a:r>
            <a:r>
              <a:rPr lang="en-US" altLang="zh-CN" baseline="-25000">
                <a:sym typeface="Symbol" panose="05050102010706020507" pitchFamily="18" charset="2"/>
              </a:rPr>
              <a:t>5</a:t>
            </a:r>
            <a:endParaRPr lang="en-US" altLang="zh-CN" baseline="-25000">
              <a:sym typeface="Symbol" panose="05050102010706020507" pitchFamily="18" charset="2"/>
            </a:endParaRPr>
          </a:p>
          <a:p>
            <a:pPr algn="l"/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课后作业四：P155,习题九:9,11</a:t>
            </a:r>
            <a:endParaRPr lang="zh-CN" altLang="en-US">
              <a:sym typeface="Symbol" panose="05050102010706020507" pitchFamily="18" charset="2"/>
            </a:endParaRPr>
          </a:p>
          <a:p>
            <a:pPr>
              <a:buNone/>
            </a:pPr>
            <a:endParaRPr lang="zh-CN" altLang="en-US" baseline="-25000"/>
          </a:p>
        </p:txBody>
      </p:sp>
      <p:sp>
        <p:nvSpPr>
          <p:cNvPr id="4198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PP_MARK_KEY" val="c3423b6d-887a-4052-b5bc-3d18da5c6152"/>
  <p:tag name="COMMONDATA" val="eyJoZGlkIjoiY2FjYjUwYzFhN2VkM2YwN2YyYmE3ZGUyNDQzZTVlNzEifQ=="/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4234</Words>
  <Application>WPS 演示</Application>
  <PresentationFormat/>
  <Paragraphs>397</Paragraphs>
  <Slides>24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24</vt:i4>
      </vt:variant>
    </vt:vector>
  </HeadingPairs>
  <TitlesOfParts>
    <vt:vector size="44" baseType="lpstr">
      <vt:lpstr>Arial</vt:lpstr>
      <vt:lpstr>宋体</vt:lpstr>
      <vt:lpstr>Wingdings</vt:lpstr>
      <vt:lpstr>Tahoma</vt:lpstr>
      <vt:lpstr>黑体</vt:lpstr>
      <vt:lpstr>Symbol</vt:lpstr>
      <vt:lpstr>Times New Roman</vt:lpstr>
      <vt:lpstr>微软雅黑</vt:lpstr>
      <vt:lpstr>Arial Unicode MS</vt:lpstr>
      <vt:lpstr>Wingdings</vt:lpstr>
      <vt:lpstr>Symbol</vt:lpstr>
      <vt:lpstr>Cambria</vt:lpstr>
      <vt:lpstr>Blends</vt:lpstr>
      <vt:lpstr>1_Blends</vt:lpstr>
      <vt:lpstr>Equation.3</vt:lpstr>
      <vt:lpstr>Visio.Drawing.11</vt:lpstr>
      <vt:lpstr>Visio.Drawing.11</vt:lpstr>
      <vt:lpstr>Visio.Drawing.11</vt:lpstr>
      <vt:lpstr>Visio.Drawing.11</vt:lpstr>
      <vt:lpstr>Visio.Drawing.11</vt:lpstr>
      <vt:lpstr>9.2 生成树</vt:lpstr>
      <vt:lpstr>9.2 生成树</vt:lpstr>
      <vt:lpstr>举例</vt:lpstr>
      <vt:lpstr>找出下图所示简单图的生成树</vt:lpstr>
      <vt:lpstr>破圈法举例</vt:lpstr>
      <vt:lpstr>生成树的存在性定理</vt:lpstr>
      <vt:lpstr>推论</vt:lpstr>
      <vt:lpstr>举例</vt:lpstr>
      <vt:lpstr>例9.1</vt:lpstr>
      <vt:lpstr>定理9.4</vt:lpstr>
      <vt:lpstr>基本回路</vt:lpstr>
      <vt:lpstr>定理9.5</vt:lpstr>
      <vt:lpstr>基本割集</vt:lpstr>
      <vt:lpstr>举例</vt:lpstr>
      <vt:lpstr>课后作业二：</vt:lpstr>
      <vt:lpstr>G的生成树的个数(G)</vt:lpstr>
      <vt:lpstr>举例</vt:lpstr>
      <vt:lpstr>例9.3(续)</vt:lpstr>
      <vt:lpstr>定理9.7((Kn))</vt:lpstr>
      <vt:lpstr>构造长度为n-2的序列</vt:lpstr>
      <vt:lpstr>构造Kn的一棵生成树</vt:lpstr>
      <vt:lpstr>举例</vt:lpstr>
      <vt:lpstr>举例(续)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WPS_1709687041</cp:lastModifiedBy>
  <cp:revision>900</cp:revision>
  <dcterms:created xsi:type="dcterms:W3CDTF">2008-01-04T07:39:00Z</dcterms:created>
  <dcterms:modified xsi:type="dcterms:W3CDTF">2025-10-27T00:27:01Z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3AD8391784D34E0FA23C8B5EB0CF33D7</vt:lpwstr>
  </property>
</Properties>
</file>