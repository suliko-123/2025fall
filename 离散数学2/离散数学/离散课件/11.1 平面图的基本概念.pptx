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473" r:id="rId5"/>
    <p:sldId id="413" r:id="rId6"/>
    <p:sldId id="414" r:id="rId7"/>
    <p:sldId id="415" r:id="rId8"/>
    <p:sldId id="460" r:id="rId9"/>
    <p:sldId id="462" r:id="rId10"/>
    <p:sldId id="416" r:id="rId11"/>
    <p:sldId id="417" r:id="rId12"/>
    <p:sldId id="418" r:id="rId13"/>
    <p:sldId id="476" r:id="rId14"/>
    <p:sldId id="419" r:id="rId15"/>
    <p:sldId id="420" r:id="rId16"/>
    <p:sldId id="421" r:id="rId17"/>
    <p:sldId id="422" r:id="rId18"/>
    <p:sldId id="424" r:id="rId19"/>
    <p:sldId id="456" r:id="rId20"/>
    <p:sldId id="423" r:id="rId21"/>
    <p:sldId id="474" r:id="rId22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B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708"/>
  </p:normalViewPr>
  <p:slideViewPr>
    <p:cSldViewPr showGuides="1">
      <p:cViewPr>
        <p:scale>
          <a:sx n="125" d="100"/>
          <a:sy n="125" d="100"/>
        </p:scale>
        <p:origin x="656" y="-6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D83D5D-296A-4344-8E21-6DE5168D9D43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6D2C5-CF5A-534D-A5DD-3B828914B59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C50839-9AE6-9746-AFBF-628C8242A10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n-US" altLang="x-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利用约当定理推导出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en-US" altLang="zh-CN" baseline="-25000"/>
              <a:t>3,3</a:t>
            </a:r>
            <a:r>
              <a:rPr lang="zh-CN" altLang="en-US"/>
              <a:t>是非平面图。</a:t>
            </a:r>
            <a:endParaRPr lang="zh-CN" altLang="en-US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让学生画出</a:t>
            </a:r>
            <a:r>
              <a:rPr lang="en-US" altLang="zh-CN"/>
              <a:t>K5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zh-CN" altLang="en-US"/>
              <a:t>3</a:t>
            </a:r>
            <a:r>
              <a:rPr lang="en-US" altLang="zh-CN"/>
              <a:t>,3</a:t>
            </a:r>
            <a:r>
              <a:rPr lang="zh-CN" altLang="en-US"/>
              <a:t>的第</a:t>
            </a:r>
            <a:r>
              <a:rPr lang="en-US" altLang="zh-CN"/>
              <a:t>3</a:t>
            </a:r>
            <a:r>
              <a:rPr lang="zh-CN" altLang="en-US"/>
              <a:t>种情况。</a:t>
            </a:r>
            <a:endParaRPr lang="en-US" altLang="zh-CN"/>
          </a:p>
        </p:txBody>
      </p:sp>
      <p:sp>
        <p:nvSpPr>
          <p:cNvPr id="3379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让学生画出</a:t>
            </a:r>
            <a:r>
              <a:rPr lang="en-US" altLang="zh-CN" dirty="0"/>
              <a:t>K5</a:t>
            </a:r>
            <a:r>
              <a:rPr lang="zh-CN" altLang="en-US" dirty="0"/>
              <a:t>和</a:t>
            </a:r>
            <a:r>
              <a:rPr lang="en-US" altLang="zh-CN" dirty="0"/>
              <a:t>K</a:t>
            </a:r>
            <a:r>
              <a:rPr lang="zh-CN" altLang="en-US" dirty="0"/>
              <a:t>3</a:t>
            </a:r>
            <a:r>
              <a:rPr lang="en-US" altLang="zh-CN" dirty="0"/>
              <a:t>,3</a:t>
            </a:r>
            <a:r>
              <a:rPr lang="zh-CN" altLang="en-US" dirty="0"/>
              <a:t>的第</a:t>
            </a:r>
            <a:r>
              <a:rPr lang="en-US" altLang="zh-CN" dirty="0"/>
              <a:t>3</a:t>
            </a:r>
            <a:r>
              <a:rPr lang="zh-CN" altLang="en-US" dirty="0"/>
              <a:t>种情况。</a:t>
            </a:r>
            <a:endParaRPr lang="en-US" altLang="zh-CN" dirty="0"/>
          </a:p>
          <a:p>
            <a:pPr lvl="0"/>
            <a:r>
              <a:rPr lang="zh-CN" altLang="en-US" dirty="0"/>
              <a:t>称为库拉图斯基图</a:t>
            </a:r>
            <a:endParaRPr lang="en-US" altLang="zh-CN" dirty="0"/>
          </a:p>
        </p:txBody>
      </p:sp>
      <p:sp>
        <p:nvSpPr>
          <p:cNvPr id="3584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边界不一定连通</a:t>
            </a:r>
            <a:endParaRPr lang="en-US" altLang="zh-CN"/>
          </a:p>
        </p:txBody>
      </p:sp>
      <p:sp>
        <p:nvSpPr>
          <p:cNvPr id="4096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提问：</a:t>
            </a:r>
            <a:endParaRPr lang="en-US" altLang="zh-CN"/>
          </a:p>
          <a:p>
            <a:pPr lvl="0"/>
            <a:r>
              <a:rPr lang="zh-CN" altLang="en-US"/>
              <a:t>求出每个面的次，提醒学生注意悬挂边的问题</a:t>
            </a:r>
            <a:endParaRPr lang="en-US" altLang="zh-CN"/>
          </a:p>
        </p:txBody>
      </p:sp>
      <p:sp>
        <p:nvSpPr>
          <p:cNvPr id="4301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/>
              <a:t>先播放出图示，讲解完思路后，在播放出文字</a:t>
            </a:r>
            <a:endParaRPr lang="en-US" altLang="zh-CN"/>
          </a:p>
        </p:txBody>
      </p:sp>
      <p:sp>
        <p:nvSpPr>
          <p:cNvPr id="4710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44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44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ctr" eaLnBrk="1" hangingPunct="1"/>
            <a:r>
              <a:rPr lang="zh-CN" altLang="en-US">
                <a:solidFill>
                  <a:schemeClr val="bg2"/>
                </a:solidFill>
                <a:ea typeface="宋体" panose="02010600030101010101" pitchFamily="2" charset="-122"/>
              </a:rPr>
              <a:t>图论之平面图</a:t>
            </a:r>
            <a:endParaRPr lang="en-US" altLang="zh-CN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FB9FC8-AFCA-F245-BA29-04CB1360428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>
                <a:alpha val="100000"/>
              </a:schemeClr>
            </a:outerShdw>
          </a:effectLst>
        </p:spPr>
        <p:txBody>
          <a:bodyPr anchor="b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ctrTitle"/>
          </p:nvPr>
        </p:nvSpPr>
        <p:spPr>
          <a:effectLst>
            <a:outerShdw dist="17961" dir="2699999" algn="ctr" rotWithShape="0">
              <a:schemeClr val="bg2">
                <a:alpha val="100000"/>
              </a:schemeClr>
            </a:outerShdw>
          </a:effectLst>
        </p:spPr>
        <p:txBody>
          <a:bodyPr vert="horz" wrap="square" lIns="91440" tIns="45720" rIns="91440" bIns="45720" anchor="b"/>
          <a:lstStyle/>
          <a:p>
            <a:pPr algn="ctr" eaLnBrk="1" hangingPunct="1">
              <a:buClrTx/>
              <a:buSzTx/>
              <a:buFontTx/>
            </a:pPr>
            <a:r>
              <a:rPr lang="zh-CN" altLang="en-US" sz="4800">
                <a:latin typeface="+mj-lt"/>
                <a:ea typeface="+mj-ea"/>
                <a:cs typeface="黑体" panose="02010609060101010101" pitchFamily="49" charset="-122"/>
              </a:rPr>
              <a:t>平    面   图</a:t>
            </a:r>
            <a:endParaRPr lang="zh-CN" altLang="en-US" sz="4800"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buSzPct val="75000"/>
            </a:pPr>
            <a:r>
              <a:rPr lang="zh-CN" altLang="en-US">
                <a:latin typeface="+mn-lt"/>
                <a:ea typeface="+mn-ea"/>
                <a:cs typeface="黑体" panose="02010609060101010101" pitchFamily="49" charset="-122"/>
              </a:rPr>
              <a:t>中国海洋大学</a:t>
            </a:r>
            <a:endParaRPr lang="zh-CN" altLang="en-US">
              <a:latin typeface="+mn-lt"/>
              <a:ea typeface="+mn-ea"/>
              <a:cs typeface="黑体" panose="02010609060101010101" pitchFamily="49" charset="-122"/>
            </a:endParaRPr>
          </a:p>
          <a:p>
            <a:pPr eaLnBrk="1" hangingPunct="1">
              <a:buSzPct val="75000"/>
            </a:pPr>
            <a:r>
              <a:rPr lang="zh-CN" altLang="en-US">
                <a:latin typeface="+mn-lt"/>
                <a:ea typeface="+mn-ea"/>
                <a:cs typeface="黑体" panose="02010609060101010101" pitchFamily="49" charset="-122"/>
              </a:rPr>
              <a:t>计算机系</a:t>
            </a:r>
            <a:endParaRPr lang="zh-CN" altLang="en-US"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2867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/>
        </p:nvSpPr>
        <p:spPr>
          <a:xfrm>
            <a:off x="685800" y="2138680"/>
            <a:ext cx="7772400" cy="1462088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bg2"/>
            </a:outerShdw>
          </a:effectLst>
        </p:spPr>
        <p:txBody>
          <a:bodyPr wrap="square" anchor="b"/>
          <a:lstStyle/>
          <a:p>
            <a:pPr algn="ctr">
              <a:buSzTx/>
              <a:buFontTx/>
            </a:pPr>
            <a:r>
              <a:rPr lang="en-US" altLang="zh-CN" sz="4400" b="0">
                <a:latin typeface="Tahoma" panose="020B0604030504040204" pitchFamily="34" charset="0"/>
                <a:ea typeface="宋体" panose="02010600030101010101" pitchFamily="2" charset="-122"/>
              </a:rPr>
              <a:t>11.1   </a:t>
            </a:r>
            <a:r>
              <a:rPr lang="zh-CN" altLang="en-US" sz="4400" b="0">
                <a:latin typeface="Tahoma" panose="020B0604030504040204" pitchFamily="34" charset="0"/>
                <a:ea typeface="宋体" panose="02010600030101010101" pitchFamily="2" charset="-122"/>
              </a:rPr>
              <a:t>平面图的基本概念</a:t>
            </a:r>
            <a:endParaRPr lang="zh-CN" altLang="en-US" sz="4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/>
              <a:t>平面图的概念</a:t>
            </a:r>
            <a:endParaRPr lang="zh-CN" altLang="en-US"/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marL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可平面图或平面图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FF"/>
                </a:solidFill>
              </a:rPr>
              <a:t>可以</a:t>
            </a:r>
            <a:r>
              <a:rPr lang="zh-CN" altLang="en-US" dirty="0">
                <a:solidFill>
                  <a:schemeClr val="tx1"/>
                </a:solidFill>
              </a:rPr>
              <a:t>以这种方式</a:t>
            </a:r>
            <a:r>
              <a:rPr lang="zh-CN" altLang="en-US" dirty="0"/>
              <a:t>画在平面上</a:t>
            </a:r>
            <a:r>
              <a:rPr lang="en-US" altLang="zh-CN" dirty="0"/>
              <a:t>,</a:t>
            </a:r>
            <a:r>
              <a:rPr lang="zh-CN" altLang="en-US" dirty="0"/>
              <a:t>即  使得边与边非顶点处不相交的图</a:t>
            </a:r>
            <a:r>
              <a:rPr lang="en-US" altLang="zh-CN" dirty="0"/>
              <a:t>.</a:t>
            </a:r>
            <a:endParaRPr lang="zh-CN" altLang="en-US" dirty="0"/>
          </a:p>
          <a:p>
            <a:pPr marL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平面嵌入或平面表示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画在平面上使得边与边非顶点处不相交的图</a:t>
            </a:r>
            <a:r>
              <a:rPr lang="en-US" altLang="zh-CN" dirty="0"/>
              <a:t>.</a:t>
            </a:r>
            <a:endParaRPr lang="zh-CN" altLang="en-US" dirty="0"/>
          </a:p>
          <a:p>
            <a:pPr marL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非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平面图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: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无法平面嵌入的图</a:t>
            </a:r>
            <a:endParaRPr lang="zh-CN" altLang="en-US" dirty="0"/>
          </a:p>
          <a:p>
            <a:pPr marL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marL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zh-CN" altLang="en-US" dirty="0">
                <a:solidFill>
                  <a:schemeClr val="tx2"/>
                </a:solidFill>
              </a:rPr>
              <a:t>可平面图</a:t>
            </a:r>
            <a:r>
              <a:rPr lang="zh-CN" altLang="en-US" dirty="0"/>
              <a:t>主要表明图具有平面性质</a:t>
            </a:r>
            <a:r>
              <a:rPr lang="en-US" altLang="zh-CN" dirty="0"/>
              <a:t>,</a:t>
            </a:r>
            <a:r>
              <a:rPr lang="zh-CN" altLang="en-US" dirty="0">
                <a:solidFill>
                  <a:schemeClr val="tx2"/>
                </a:solidFill>
              </a:rPr>
              <a:t>平面嵌入</a:t>
            </a:r>
            <a:r>
              <a:rPr lang="zh-CN" altLang="en-US" dirty="0"/>
              <a:t>是平面图的一种表示形式</a:t>
            </a:r>
            <a:r>
              <a:rPr lang="en-US" altLang="zh-CN" dirty="0"/>
              <a:t>,</a:t>
            </a:r>
            <a:r>
              <a:rPr lang="zh-CN" altLang="en-US" dirty="0"/>
              <a:t>平面图的平面嵌入不唯一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2867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/>
              <a:t>平面图举例</a:t>
            </a:r>
            <a:endParaRPr lang="zh-CN" altLang="en-US"/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/>
              <a:t>K</a:t>
            </a:r>
            <a:r>
              <a:rPr lang="en-US" altLang="zh-CN" baseline="-25000"/>
              <a:t>1</a:t>
            </a:r>
            <a:r>
              <a:rPr lang="en-US" altLang="zh-CN"/>
              <a:t>,K</a:t>
            </a:r>
            <a:r>
              <a:rPr lang="en-US" altLang="zh-CN" baseline="-25000"/>
              <a:t>2</a:t>
            </a:r>
            <a:r>
              <a:rPr lang="en-US" altLang="zh-CN"/>
              <a:t>,K</a:t>
            </a:r>
            <a:r>
              <a:rPr lang="en-US" altLang="zh-CN" baseline="-25000"/>
              <a:t>3</a:t>
            </a:r>
            <a:r>
              <a:rPr lang="en-US" altLang="zh-CN"/>
              <a:t>,K</a:t>
            </a:r>
            <a:r>
              <a:rPr lang="en-US" altLang="zh-CN" baseline="-25000"/>
              <a:t>4</a:t>
            </a:r>
            <a:r>
              <a:rPr lang="zh-CN" altLang="en-US"/>
              <a:t>是平面图</a:t>
            </a:r>
            <a:endParaRPr lang="zh-CN" altLang="en-US">
              <a:solidFill>
                <a:srgbClr val="FF00FF"/>
              </a:solidFill>
            </a:endParaRPr>
          </a:p>
          <a:p>
            <a:pPr eaLnBrk="1" hangingPunct="1"/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en-US" altLang="zh-CN"/>
              <a:t>,K</a:t>
            </a:r>
            <a:r>
              <a:rPr lang="en-US" altLang="zh-CN" baseline="-25000"/>
              <a:t>3,3</a:t>
            </a:r>
            <a:r>
              <a:rPr lang="zh-CN" altLang="en-US"/>
              <a:t>是非平面图</a:t>
            </a:r>
            <a:endParaRPr lang="en-US" altLang="zh-CN"/>
          </a:p>
          <a:p>
            <a:pPr eaLnBrk="1" hangingPunct="1"/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, K</a:t>
            </a:r>
            <a:r>
              <a:rPr lang="en-US" altLang="zh-CN" baseline="-25000"/>
              <a:t>3,3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zh-CN" altLang="en-US"/>
              <a:t>都是平面图，</a:t>
            </a:r>
            <a:r>
              <a:rPr lang="en-US" altLang="zh-CN" i="1"/>
              <a:t>e</a:t>
            </a:r>
            <a:r>
              <a:rPr lang="zh-CN" altLang="en-US"/>
              <a:t>是任意边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五座房屋能否不带交叉地与两种设施相连接？能否与</a:t>
            </a:r>
            <a:r>
              <a:rPr lang="en-US" altLang="zh-CN"/>
              <a:t>3</a:t>
            </a:r>
            <a:r>
              <a:rPr lang="zh-CN" altLang="en-US"/>
              <a:t>种设施相连接呢？</a:t>
            </a:r>
            <a:endParaRPr lang="zh-CN" altLang="en-US"/>
          </a:p>
        </p:txBody>
      </p:sp>
      <p:sp>
        <p:nvSpPr>
          <p:cNvPr id="29699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Oval 7"/>
          <p:cNvSpPr/>
          <p:nvPr/>
        </p:nvSpPr>
        <p:spPr>
          <a:xfrm>
            <a:off x="4356100" y="1589088"/>
            <a:ext cx="184150" cy="18415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5003800" y="1589088"/>
            <a:ext cx="981075" cy="184150"/>
            <a:chOff x="930" y="2387"/>
            <a:chExt cx="725" cy="136"/>
          </a:xfrm>
        </p:grpSpPr>
        <p:sp>
          <p:nvSpPr>
            <p:cNvPr id="29784" name="Oval 8"/>
            <p:cNvSpPr/>
            <p:nvPr/>
          </p:nvSpPr>
          <p:spPr>
            <a:xfrm>
              <a:off x="930" y="2387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85" name="Oval 9"/>
            <p:cNvSpPr/>
            <p:nvPr/>
          </p:nvSpPr>
          <p:spPr>
            <a:xfrm>
              <a:off x="1519" y="2387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86" name="Line 10"/>
            <p:cNvSpPr/>
            <p:nvPr/>
          </p:nvSpPr>
          <p:spPr>
            <a:xfrm>
              <a:off x="1066" y="2432"/>
              <a:ext cx="4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6300788" y="1268413"/>
            <a:ext cx="985837" cy="801687"/>
            <a:chOff x="2018" y="1933"/>
            <a:chExt cx="725" cy="590"/>
          </a:xfrm>
        </p:grpSpPr>
        <p:grpSp>
          <p:nvGrpSpPr>
            <p:cNvPr id="29777" name="Group 12"/>
            <p:cNvGrpSpPr/>
            <p:nvPr/>
          </p:nvGrpSpPr>
          <p:grpSpPr>
            <a:xfrm>
              <a:off x="2018" y="2387"/>
              <a:ext cx="725" cy="136"/>
              <a:chOff x="930" y="2387"/>
              <a:chExt cx="725" cy="136"/>
            </a:xfrm>
          </p:grpSpPr>
          <p:sp>
            <p:nvSpPr>
              <p:cNvPr id="29781" name="Oval 13"/>
              <p:cNvSpPr/>
              <p:nvPr/>
            </p:nvSpPr>
            <p:spPr>
              <a:xfrm>
                <a:off x="930" y="2387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82" name="Oval 14"/>
              <p:cNvSpPr/>
              <p:nvPr/>
            </p:nvSpPr>
            <p:spPr>
              <a:xfrm>
                <a:off x="1519" y="2387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83" name="Line 15"/>
              <p:cNvSpPr/>
              <p:nvPr/>
            </p:nvSpPr>
            <p:spPr>
              <a:xfrm>
                <a:off x="1066" y="2432"/>
                <a:ext cx="49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78" name="Oval 16"/>
            <p:cNvSpPr/>
            <p:nvPr/>
          </p:nvSpPr>
          <p:spPr>
            <a:xfrm>
              <a:off x="2245" y="1933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79" name="Line 17"/>
            <p:cNvSpPr/>
            <p:nvPr/>
          </p:nvSpPr>
          <p:spPr>
            <a:xfrm flipV="1">
              <a:off x="2064" y="2069"/>
              <a:ext cx="226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0" name="Line 18"/>
            <p:cNvSpPr/>
            <p:nvPr/>
          </p:nvSpPr>
          <p:spPr>
            <a:xfrm>
              <a:off x="2381" y="2069"/>
              <a:ext cx="272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7524750" y="1125538"/>
            <a:ext cx="1295400" cy="1171575"/>
            <a:chOff x="3061" y="1797"/>
            <a:chExt cx="953" cy="862"/>
          </a:xfrm>
        </p:grpSpPr>
        <p:sp>
          <p:nvSpPr>
            <p:cNvPr id="29767" name="Oval 22"/>
            <p:cNvSpPr/>
            <p:nvPr/>
          </p:nvSpPr>
          <p:spPr>
            <a:xfrm>
              <a:off x="3061" y="2523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68" name="Oval 23"/>
            <p:cNvSpPr/>
            <p:nvPr/>
          </p:nvSpPr>
          <p:spPr>
            <a:xfrm>
              <a:off x="3878" y="2523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69" name="Line 24"/>
            <p:cNvSpPr/>
            <p:nvPr/>
          </p:nvSpPr>
          <p:spPr>
            <a:xfrm>
              <a:off x="3197" y="2568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0" name="Oval 25"/>
            <p:cNvSpPr/>
            <p:nvPr/>
          </p:nvSpPr>
          <p:spPr>
            <a:xfrm>
              <a:off x="3424" y="2205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71" name="Oval 28"/>
            <p:cNvSpPr/>
            <p:nvPr/>
          </p:nvSpPr>
          <p:spPr>
            <a:xfrm>
              <a:off x="3424" y="1797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72" name="Line 29"/>
            <p:cNvSpPr/>
            <p:nvPr/>
          </p:nvSpPr>
          <p:spPr>
            <a:xfrm flipH="1">
              <a:off x="3107" y="1933"/>
              <a:ext cx="363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3" name="Line 30"/>
            <p:cNvSpPr/>
            <p:nvPr/>
          </p:nvSpPr>
          <p:spPr>
            <a:xfrm>
              <a:off x="3560" y="1933"/>
              <a:ext cx="363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Line 31"/>
            <p:cNvSpPr/>
            <p:nvPr/>
          </p:nvSpPr>
          <p:spPr>
            <a:xfrm>
              <a:off x="3515" y="1933"/>
              <a:ext cx="0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5" name="Line 32"/>
            <p:cNvSpPr/>
            <p:nvPr/>
          </p:nvSpPr>
          <p:spPr>
            <a:xfrm flipV="1">
              <a:off x="3152" y="2296"/>
              <a:ext cx="318" cy="22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6" name="Line 33"/>
            <p:cNvSpPr/>
            <p:nvPr/>
          </p:nvSpPr>
          <p:spPr>
            <a:xfrm>
              <a:off x="3560" y="2296"/>
              <a:ext cx="363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39"/>
          <p:cNvGrpSpPr/>
          <p:nvPr/>
        </p:nvGrpSpPr>
        <p:grpSpPr>
          <a:xfrm>
            <a:off x="2671763" y="3224213"/>
            <a:ext cx="1608137" cy="1843087"/>
            <a:chOff x="1459" y="2976"/>
            <a:chExt cx="1013" cy="1161"/>
          </a:xfrm>
        </p:grpSpPr>
        <p:sp>
          <p:nvSpPr>
            <p:cNvPr id="29753" name="Oval 36"/>
            <p:cNvSpPr/>
            <p:nvPr/>
          </p:nvSpPr>
          <p:spPr>
            <a:xfrm>
              <a:off x="1459" y="3908"/>
              <a:ext cx="122" cy="12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4" name="Oval 37"/>
            <p:cNvSpPr/>
            <p:nvPr/>
          </p:nvSpPr>
          <p:spPr>
            <a:xfrm>
              <a:off x="2189" y="3908"/>
              <a:ext cx="121" cy="12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5" name="Line 38"/>
            <p:cNvSpPr/>
            <p:nvPr/>
          </p:nvSpPr>
          <p:spPr>
            <a:xfrm>
              <a:off x="1581" y="3949"/>
              <a:ext cx="6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Oval 39"/>
            <p:cNvSpPr/>
            <p:nvPr/>
          </p:nvSpPr>
          <p:spPr>
            <a:xfrm>
              <a:off x="1459" y="3463"/>
              <a:ext cx="122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7" name="Oval 40"/>
            <p:cNvSpPr/>
            <p:nvPr/>
          </p:nvSpPr>
          <p:spPr>
            <a:xfrm>
              <a:off x="1784" y="3057"/>
              <a:ext cx="121" cy="12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8" name="Oval 46"/>
            <p:cNvSpPr/>
            <p:nvPr/>
          </p:nvSpPr>
          <p:spPr>
            <a:xfrm>
              <a:off x="2188" y="3463"/>
              <a:ext cx="121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9" name="Line 47"/>
            <p:cNvSpPr/>
            <p:nvPr/>
          </p:nvSpPr>
          <p:spPr>
            <a:xfrm>
              <a:off x="1500" y="3584"/>
              <a:ext cx="0" cy="3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0" name="Line 48"/>
            <p:cNvSpPr/>
            <p:nvPr/>
          </p:nvSpPr>
          <p:spPr>
            <a:xfrm>
              <a:off x="2229" y="3584"/>
              <a:ext cx="0" cy="3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1" name="Line 49"/>
            <p:cNvSpPr/>
            <p:nvPr/>
          </p:nvSpPr>
          <p:spPr>
            <a:xfrm flipV="1">
              <a:off x="1500" y="3179"/>
              <a:ext cx="324" cy="2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2" name="Line 50"/>
            <p:cNvSpPr/>
            <p:nvPr/>
          </p:nvSpPr>
          <p:spPr>
            <a:xfrm>
              <a:off x="1864" y="3179"/>
              <a:ext cx="365" cy="3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3" name="Line 51"/>
            <p:cNvSpPr/>
            <p:nvPr/>
          </p:nvSpPr>
          <p:spPr>
            <a:xfrm flipH="1">
              <a:off x="1541" y="3179"/>
              <a:ext cx="323" cy="7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4" name="Line 52"/>
            <p:cNvSpPr/>
            <p:nvPr/>
          </p:nvSpPr>
          <p:spPr>
            <a:xfrm>
              <a:off x="1864" y="3179"/>
              <a:ext cx="365" cy="7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Freeform 55"/>
            <p:cNvSpPr/>
            <p:nvPr/>
          </p:nvSpPr>
          <p:spPr>
            <a:xfrm>
              <a:off x="1541" y="3584"/>
              <a:ext cx="931" cy="553"/>
            </a:xfrm>
            <a:custGeom>
              <a:avLst/>
              <a:gdLst>
                <a:gd name="txL" fmla="*/ 0 w 1043"/>
                <a:gd name="txT" fmla="*/ 0 h 619"/>
                <a:gd name="txR" fmla="*/ 1043 w 1043"/>
                <a:gd name="txB" fmla="*/ 619 h 619"/>
              </a:gdLst>
              <a:ahLst/>
              <a:cxnLst>
                <a:cxn ang="0">
                  <a:pos x="0" y="47"/>
                </a:cxn>
                <a:cxn ang="0">
                  <a:pos x="42" y="63"/>
                </a:cxn>
                <a:cxn ang="0">
                  <a:pos x="88" y="63"/>
                </a:cxn>
                <a:cxn ang="0">
                  <a:pos x="108" y="43"/>
                </a:cxn>
                <a:cxn ang="0">
                  <a:pos x="88" y="0"/>
                </a:cxn>
              </a:cxnLst>
              <a:rect l="txL" t="txT" r="txR" b="txB"/>
              <a:pathLst>
                <a:path w="1043" h="619">
                  <a:moveTo>
                    <a:pt x="0" y="453"/>
                  </a:moveTo>
                  <a:cubicBezTo>
                    <a:pt x="132" y="509"/>
                    <a:pt x="265" y="566"/>
                    <a:pt x="408" y="589"/>
                  </a:cubicBezTo>
                  <a:cubicBezTo>
                    <a:pt x="551" y="612"/>
                    <a:pt x="755" y="619"/>
                    <a:pt x="861" y="589"/>
                  </a:cubicBezTo>
                  <a:cubicBezTo>
                    <a:pt x="967" y="559"/>
                    <a:pt x="1043" y="506"/>
                    <a:pt x="1043" y="408"/>
                  </a:cubicBezTo>
                  <a:cubicBezTo>
                    <a:pt x="1043" y="310"/>
                    <a:pt x="952" y="155"/>
                    <a:pt x="861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6" name="Freeform 56"/>
            <p:cNvSpPr/>
            <p:nvPr/>
          </p:nvSpPr>
          <p:spPr>
            <a:xfrm>
              <a:off x="1500" y="2976"/>
              <a:ext cx="769" cy="527"/>
            </a:xfrm>
            <a:custGeom>
              <a:avLst/>
              <a:gdLst>
                <a:gd name="txL" fmla="*/ 0 w 862"/>
                <a:gd name="txT" fmla="*/ 0 h 590"/>
                <a:gd name="txR" fmla="*/ 862 w 862"/>
                <a:gd name="txB" fmla="*/ 590 h 590"/>
              </a:gdLst>
              <a:ahLst/>
              <a:cxnLst>
                <a:cxn ang="0">
                  <a:pos x="0" y="56"/>
                </a:cxn>
                <a:cxn ang="0">
                  <a:pos x="10" y="14"/>
                </a:cxn>
                <a:cxn ang="0">
                  <a:pos x="37" y="0"/>
                </a:cxn>
                <a:cxn ang="0">
                  <a:pos x="74" y="14"/>
                </a:cxn>
                <a:cxn ang="0">
                  <a:pos x="87" y="62"/>
                </a:cxn>
              </a:cxnLst>
              <a:rect l="txL" t="txT" r="txR" b="txB"/>
              <a:pathLst>
                <a:path w="862" h="590">
                  <a:moveTo>
                    <a:pt x="0" y="545"/>
                  </a:moveTo>
                  <a:cubicBezTo>
                    <a:pt x="15" y="386"/>
                    <a:pt x="31" y="227"/>
                    <a:pt x="91" y="136"/>
                  </a:cubicBezTo>
                  <a:cubicBezTo>
                    <a:pt x="151" y="45"/>
                    <a:pt x="257" y="0"/>
                    <a:pt x="363" y="0"/>
                  </a:cubicBezTo>
                  <a:cubicBezTo>
                    <a:pt x="469" y="0"/>
                    <a:pt x="643" y="38"/>
                    <a:pt x="726" y="136"/>
                  </a:cubicBezTo>
                  <a:cubicBezTo>
                    <a:pt x="809" y="234"/>
                    <a:pt x="835" y="412"/>
                    <a:pt x="862" y="59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74"/>
          <p:cNvGrpSpPr/>
          <p:nvPr/>
        </p:nvGrpSpPr>
        <p:grpSpPr>
          <a:xfrm>
            <a:off x="4572000" y="3300413"/>
            <a:ext cx="2232025" cy="1641475"/>
            <a:chOff x="1663" y="2765"/>
            <a:chExt cx="1573" cy="1157"/>
          </a:xfrm>
        </p:grpSpPr>
        <p:sp>
          <p:nvSpPr>
            <p:cNvPr id="29738" name="Oval 59"/>
            <p:cNvSpPr/>
            <p:nvPr/>
          </p:nvSpPr>
          <p:spPr>
            <a:xfrm>
              <a:off x="1927" y="297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9" name="Oval 60"/>
            <p:cNvSpPr/>
            <p:nvPr/>
          </p:nvSpPr>
          <p:spPr>
            <a:xfrm>
              <a:off x="2336" y="297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40" name="Oval 61"/>
            <p:cNvSpPr/>
            <p:nvPr/>
          </p:nvSpPr>
          <p:spPr>
            <a:xfrm>
              <a:off x="2789" y="297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41" name="Oval 62"/>
            <p:cNvSpPr/>
            <p:nvPr/>
          </p:nvSpPr>
          <p:spPr>
            <a:xfrm>
              <a:off x="1927" y="356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42" name="Oval 63"/>
            <p:cNvSpPr/>
            <p:nvPr/>
          </p:nvSpPr>
          <p:spPr>
            <a:xfrm>
              <a:off x="2336" y="356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43" name="Oval 64"/>
            <p:cNvSpPr/>
            <p:nvPr/>
          </p:nvSpPr>
          <p:spPr>
            <a:xfrm>
              <a:off x="2789" y="3566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44" name="Line 65"/>
            <p:cNvSpPr/>
            <p:nvPr/>
          </p:nvSpPr>
          <p:spPr>
            <a:xfrm>
              <a:off x="2018" y="3113"/>
              <a:ext cx="0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Line 66"/>
            <p:cNvSpPr/>
            <p:nvPr/>
          </p:nvSpPr>
          <p:spPr>
            <a:xfrm>
              <a:off x="2018" y="3113"/>
              <a:ext cx="363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6" name="Line 67"/>
            <p:cNvSpPr/>
            <p:nvPr/>
          </p:nvSpPr>
          <p:spPr>
            <a:xfrm>
              <a:off x="2018" y="3113"/>
              <a:ext cx="817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Line 68"/>
            <p:cNvSpPr/>
            <p:nvPr/>
          </p:nvSpPr>
          <p:spPr>
            <a:xfrm>
              <a:off x="2426" y="3113"/>
              <a:ext cx="409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69"/>
            <p:cNvSpPr/>
            <p:nvPr/>
          </p:nvSpPr>
          <p:spPr>
            <a:xfrm>
              <a:off x="2835" y="3113"/>
              <a:ext cx="0" cy="45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Freeform 70"/>
            <p:cNvSpPr/>
            <p:nvPr/>
          </p:nvSpPr>
          <p:spPr>
            <a:xfrm>
              <a:off x="1776" y="2886"/>
              <a:ext cx="605" cy="726"/>
            </a:xfrm>
            <a:custGeom>
              <a:avLst/>
              <a:gdLst>
                <a:gd name="txL" fmla="*/ 0 w 605"/>
                <a:gd name="txT" fmla="*/ 0 h 726"/>
                <a:gd name="txR" fmla="*/ 605 w 605"/>
                <a:gd name="txB" fmla="*/ 726 h 726"/>
              </a:gdLst>
              <a:ahLst/>
              <a:cxnLst>
                <a:cxn ang="0">
                  <a:pos x="605" y="90"/>
                </a:cxn>
                <a:cxn ang="0">
                  <a:pos x="288" y="0"/>
                </a:cxn>
                <a:cxn ang="0">
                  <a:pos x="61" y="90"/>
                </a:cxn>
                <a:cxn ang="0">
                  <a:pos x="15" y="408"/>
                </a:cxn>
                <a:cxn ang="0">
                  <a:pos x="151" y="726"/>
                </a:cxn>
              </a:cxnLst>
              <a:rect l="txL" t="txT" r="txR" b="txB"/>
              <a:pathLst>
                <a:path w="605" h="726">
                  <a:moveTo>
                    <a:pt x="605" y="90"/>
                  </a:moveTo>
                  <a:cubicBezTo>
                    <a:pt x="492" y="45"/>
                    <a:pt x="379" y="0"/>
                    <a:pt x="288" y="0"/>
                  </a:cubicBezTo>
                  <a:cubicBezTo>
                    <a:pt x="197" y="0"/>
                    <a:pt x="106" y="22"/>
                    <a:pt x="61" y="90"/>
                  </a:cubicBezTo>
                  <a:cubicBezTo>
                    <a:pt x="16" y="158"/>
                    <a:pt x="0" y="302"/>
                    <a:pt x="15" y="408"/>
                  </a:cubicBezTo>
                  <a:cubicBezTo>
                    <a:pt x="30" y="514"/>
                    <a:pt x="90" y="620"/>
                    <a:pt x="151" y="72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Freeform 71"/>
            <p:cNvSpPr/>
            <p:nvPr/>
          </p:nvSpPr>
          <p:spPr>
            <a:xfrm>
              <a:off x="1663" y="2765"/>
              <a:ext cx="718" cy="1133"/>
            </a:xfrm>
            <a:custGeom>
              <a:avLst/>
              <a:gdLst>
                <a:gd name="txL" fmla="*/ 0 w 718"/>
                <a:gd name="txT" fmla="*/ 0 h 1133"/>
                <a:gd name="txR" fmla="*/ 718 w 718"/>
                <a:gd name="txB" fmla="*/ 1133 h 1133"/>
              </a:gdLst>
              <a:ahLst/>
              <a:cxnLst>
                <a:cxn ang="0">
                  <a:pos x="718" y="211"/>
                </a:cxn>
                <a:cxn ang="0">
                  <a:pos x="582" y="30"/>
                </a:cxn>
                <a:cxn ang="0">
                  <a:pos x="264" y="30"/>
                </a:cxn>
                <a:cxn ang="0">
                  <a:pos x="38" y="211"/>
                </a:cxn>
                <a:cxn ang="0">
                  <a:pos x="38" y="574"/>
                </a:cxn>
                <a:cxn ang="0">
                  <a:pos x="264" y="1073"/>
                </a:cxn>
                <a:cxn ang="0">
                  <a:pos x="718" y="937"/>
                </a:cxn>
              </a:cxnLst>
              <a:rect l="txL" t="txT" r="txR" b="txB"/>
              <a:pathLst>
                <a:path w="718" h="1133">
                  <a:moveTo>
                    <a:pt x="718" y="211"/>
                  </a:moveTo>
                  <a:cubicBezTo>
                    <a:pt x="688" y="135"/>
                    <a:pt x="658" y="60"/>
                    <a:pt x="582" y="30"/>
                  </a:cubicBezTo>
                  <a:cubicBezTo>
                    <a:pt x="506" y="0"/>
                    <a:pt x="355" y="0"/>
                    <a:pt x="264" y="30"/>
                  </a:cubicBezTo>
                  <a:cubicBezTo>
                    <a:pt x="173" y="60"/>
                    <a:pt x="76" y="120"/>
                    <a:pt x="38" y="211"/>
                  </a:cubicBezTo>
                  <a:cubicBezTo>
                    <a:pt x="0" y="302"/>
                    <a:pt x="0" y="430"/>
                    <a:pt x="38" y="574"/>
                  </a:cubicBezTo>
                  <a:cubicBezTo>
                    <a:pt x="76" y="718"/>
                    <a:pt x="151" y="1013"/>
                    <a:pt x="264" y="1073"/>
                  </a:cubicBezTo>
                  <a:cubicBezTo>
                    <a:pt x="377" y="1133"/>
                    <a:pt x="547" y="1035"/>
                    <a:pt x="718" y="937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Freeform 72"/>
            <p:cNvSpPr/>
            <p:nvPr/>
          </p:nvSpPr>
          <p:spPr>
            <a:xfrm>
              <a:off x="2472" y="3067"/>
              <a:ext cx="597" cy="787"/>
            </a:xfrm>
            <a:custGeom>
              <a:avLst/>
              <a:gdLst>
                <a:gd name="txL" fmla="*/ 0 w 597"/>
                <a:gd name="txT" fmla="*/ 0 h 787"/>
                <a:gd name="txR" fmla="*/ 597 w 597"/>
                <a:gd name="txB" fmla="*/ 787 h 787"/>
              </a:gdLst>
              <a:ahLst/>
              <a:cxnLst>
                <a:cxn ang="0">
                  <a:pos x="453" y="0"/>
                </a:cxn>
                <a:cxn ang="0">
                  <a:pos x="589" y="363"/>
                </a:cxn>
                <a:cxn ang="0">
                  <a:pos x="499" y="726"/>
                </a:cxn>
                <a:cxn ang="0">
                  <a:pos x="272" y="726"/>
                </a:cxn>
                <a:cxn ang="0">
                  <a:pos x="0" y="590"/>
                </a:cxn>
              </a:cxnLst>
              <a:rect l="txL" t="txT" r="txR" b="txB"/>
              <a:pathLst>
                <a:path w="597" h="787">
                  <a:moveTo>
                    <a:pt x="453" y="0"/>
                  </a:moveTo>
                  <a:cubicBezTo>
                    <a:pt x="517" y="121"/>
                    <a:pt x="581" y="242"/>
                    <a:pt x="589" y="363"/>
                  </a:cubicBezTo>
                  <a:cubicBezTo>
                    <a:pt x="597" y="484"/>
                    <a:pt x="552" y="665"/>
                    <a:pt x="499" y="726"/>
                  </a:cubicBezTo>
                  <a:cubicBezTo>
                    <a:pt x="446" y="787"/>
                    <a:pt x="355" y="749"/>
                    <a:pt x="272" y="726"/>
                  </a:cubicBezTo>
                  <a:cubicBezTo>
                    <a:pt x="189" y="703"/>
                    <a:pt x="94" y="646"/>
                    <a:pt x="0" y="59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Freeform 73"/>
            <p:cNvSpPr/>
            <p:nvPr/>
          </p:nvSpPr>
          <p:spPr>
            <a:xfrm>
              <a:off x="2064" y="3067"/>
              <a:ext cx="1172" cy="855"/>
            </a:xfrm>
            <a:custGeom>
              <a:avLst/>
              <a:gdLst>
                <a:gd name="txL" fmla="*/ 0 w 1172"/>
                <a:gd name="txT" fmla="*/ 0 h 855"/>
                <a:gd name="txR" fmla="*/ 1172 w 1172"/>
                <a:gd name="txB" fmla="*/ 855 h 855"/>
              </a:gdLst>
              <a:ahLst/>
              <a:cxnLst>
                <a:cxn ang="0">
                  <a:pos x="861" y="0"/>
                </a:cxn>
                <a:cxn ang="0">
                  <a:pos x="1134" y="318"/>
                </a:cxn>
                <a:cxn ang="0">
                  <a:pos x="1088" y="635"/>
                </a:cxn>
                <a:cxn ang="0">
                  <a:pos x="861" y="817"/>
                </a:cxn>
                <a:cxn ang="0">
                  <a:pos x="635" y="817"/>
                </a:cxn>
                <a:cxn ang="0">
                  <a:pos x="0" y="590"/>
                </a:cxn>
              </a:cxnLst>
              <a:rect l="txL" t="txT" r="txR" b="txB"/>
              <a:pathLst>
                <a:path w="1172" h="855">
                  <a:moveTo>
                    <a:pt x="861" y="0"/>
                  </a:moveTo>
                  <a:cubicBezTo>
                    <a:pt x="978" y="106"/>
                    <a:pt x="1096" y="212"/>
                    <a:pt x="1134" y="318"/>
                  </a:cubicBezTo>
                  <a:cubicBezTo>
                    <a:pt x="1172" y="424"/>
                    <a:pt x="1133" y="552"/>
                    <a:pt x="1088" y="635"/>
                  </a:cubicBezTo>
                  <a:cubicBezTo>
                    <a:pt x="1043" y="718"/>
                    <a:pt x="937" y="787"/>
                    <a:pt x="861" y="817"/>
                  </a:cubicBezTo>
                  <a:cubicBezTo>
                    <a:pt x="785" y="847"/>
                    <a:pt x="778" y="855"/>
                    <a:pt x="635" y="817"/>
                  </a:cubicBezTo>
                  <a:cubicBezTo>
                    <a:pt x="492" y="779"/>
                    <a:pt x="246" y="684"/>
                    <a:pt x="0" y="590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07"/>
          <p:cNvGrpSpPr/>
          <p:nvPr/>
        </p:nvGrpSpPr>
        <p:grpSpPr>
          <a:xfrm>
            <a:off x="323850" y="3213100"/>
            <a:ext cx="1800225" cy="2016125"/>
            <a:chOff x="68" y="2840"/>
            <a:chExt cx="1270" cy="1422"/>
          </a:xfrm>
        </p:grpSpPr>
        <p:sp>
          <p:nvSpPr>
            <p:cNvPr id="29723" name="Oval 108"/>
            <p:cNvSpPr/>
            <p:nvPr/>
          </p:nvSpPr>
          <p:spPr>
            <a:xfrm>
              <a:off x="204" y="3884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24" name="Oval 109"/>
            <p:cNvSpPr/>
            <p:nvPr/>
          </p:nvSpPr>
          <p:spPr>
            <a:xfrm>
              <a:off x="1021" y="3884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25" name="Line 110"/>
            <p:cNvSpPr/>
            <p:nvPr/>
          </p:nvSpPr>
          <p:spPr>
            <a:xfrm>
              <a:off x="340" y="3929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Oval 111"/>
            <p:cNvSpPr/>
            <p:nvPr/>
          </p:nvSpPr>
          <p:spPr>
            <a:xfrm>
              <a:off x="204" y="3385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Oval 112"/>
            <p:cNvSpPr/>
            <p:nvPr/>
          </p:nvSpPr>
          <p:spPr>
            <a:xfrm>
              <a:off x="567" y="2931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28" name="Oval 113"/>
            <p:cNvSpPr/>
            <p:nvPr/>
          </p:nvSpPr>
          <p:spPr>
            <a:xfrm>
              <a:off x="1020" y="3385"/>
              <a:ext cx="136" cy="13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29" name="Line 114"/>
            <p:cNvSpPr/>
            <p:nvPr/>
          </p:nvSpPr>
          <p:spPr>
            <a:xfrm>
              <a:off x="249" y="3521"/>
              <a:ext cx="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Line 115"/>
            <p:cNvSpPr/>
            <p:nvPr/>
          </p:nvSpPr>
          <p:spPr>
            <a:xfrm>
              <a:off x="1066" y="3521"/>
              <a:ext cx="0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116"/>
            <p:cNvSpPr/>
            <p:nvPr/>
          </p:nvSpPr>
          <p:spPr>
            <a:xfrm flipV="1">
              <a:off x="249" y="3067"/>
              <a:ext cx="363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117"/>
            <p:cNvSpPr/>
            <p:nvPr/>
          </p:nvSpPr>
          <p:spPr>
            <a:xfrm>
              <a:off x="657" y="3067"/>
              <a:ext cx="409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118"/>
            <p:cNvSpPr/>
            <p:nvPr/>
          </p:nvSpPr>
          <p:spPr>
            <a:xfrm flipH="1">
              <a:off x="295" y="3067"/>
              <a:ext cx="362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19"/>
            <p:cNvSpPr/>
            <p:nvPr/>
          </p:nvSpPr>
          <p:spPr>
            <a:xfrm>
              <a:off x="657" y="3067"/>
              <a:ext cx="409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Freeform 120"/>
            <p:cNvSpPr/>
            <p:nvPr/>
          </p:nvSpPr>
          <p:spPr>
            <a:xfrm>
              <a:off x="295" y="3521"/>
              <a:ext cx="1043" cy="619"/>
            </a:xfrm>
            <a:custGeom>
              <a:avLst/>
              <a:gdLst>
                <a:gd name="txL" fmla="*/ 0 w 1043"/>
                <a:gd name="txT" fmla="*/ 0 h 619"/>
                <a:gd name="txR" fmla="*/ 1043 w 1043"/>
                <a:gd name="txB" fmla="*/ 619 h 619"/>
              </a:gdLst>
              <a:ahLst/>
              <a:cxnLst>
                <a:cxn ang="0">
                  <a:pos x="0" y="453"/>
                </a:cxn>
                <a:cxn ang="0">
                  <a:pos x="408" y="589"/>
                </a:cxn>
                <a:cxn ang="0">
                  <a:pos x="861" y="589"/>
                </a:cxn>
                <a:cxn ang="0">
                  <a:pos x="1043" y="408"/>
                </a:cxn>
                <a:cxn ang="0">
                  <a:pos x="861" y="0"/>
                </a:cxn>
              </a:cxnLst>
              <a:rect l="txL" t="txT" r="txR" b="txB"/>
              <a:pathLst>
                <a:path w="1043" h="619">
                  <a:moveTo>
                    <a:pt x="0" y="453"/>
                  </a:moveTo>
                  <a:cubicBezTo>
                    <a:pt x="132" y="509"/>
                    <a:pt x="265" y="566"/>
                    <a:pt x="408" y="589"/>
                  </a:cubicBezTo>
                  <a:cubicBezTo>
                    <a:pt x="551" y="612"/>
                    <a:pt x="755" y="619"/>
                    <a:pt x="861" y="589"/>
                  </a:cubicBezTo>
                  <a:cubicBezTo>
                    <a:pt x="967" y="559"/>
                    <a:pt x="1043" y="506"/>
                    <a:pt x="1043" y="408"/>
                  </a:cubicBezTo>
                  <a:cubicBezTo>
                    <a:pt x="1043" y="310"/>
                    <a:pt x="952" y="155"/>
                    <a:pt x="861" y="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Freeform 121"/>
            <p:cNvSpPr/>
            <p:nvPr/>
          </p:nvSpPr>
          <p:spPr>
            <a:xfrm>
              <a:off x="249" y="2840"/>
              <a:ext cx="862" cy="590"/>
            </a:xfrm>
            <a:custGeom>
              <a:avLst/>
              <a:gdLst>
                <a:gd name="txL" fmla="*/ 0 w 862"/>
                <a:gd name="txT" fmla="*/ 0 h 590"/>
                <a:gd name="txR" fmla="*/ 862 w 862"/>
                <a:gd name="txB" fmla="*/ 590 h 590"/>
              </a:gdLst>
              <a:ahLst/>
              <a:cxnLst>
                <a:cxn ang="0">
                  <a:pos x="0" y="545"/>
                </a:cxn>
                <a:cxn ang="0">
                  <a:pos x="91" y="136"/>
                </a:cxn>
                <a:cxn ang="0">
                  <a:pos x="363" y="0"/>
                </a:cxn>
                <a:cxn ang="0">
                  <a:pos x="726" y="136"/>
                </a:cxn>
                <a:cxn ang="0">
                  <a:pos x="862" y="590"/>
                </a:cxn>
              </a:cxnLst>
              <a:rect l="txL" t="txT" r="txR" b="txB"/>
              <a:pathLst>
                <a:path w="862" h="590">
                  <a:moveTo>
                    <a:pt x="0" y="545"/>
                  </a:moveTo>
                  <a:cubicBezTo>
                    <a:pt x="15" y="386"/>
                    <a:pt x="31" y="227"/>
                    <a:pt x="91" y="136"/>
                  </a:cubicBezTo>
                  <a:cubicBezTo>
                    <a:pt x="151" y="45"/>
                    <a:pt x="257" y="0"/>
                    <a:pt x="363" y="0"/>
                  </a:cubicBezTo>
                  <a:cubicBezTo>
                    <a:pt x="469" y="0"/>
                    <a:pt x="643" y="38"/>
                    <a:pt x="726" y="136"/>
                  </a:cubicBezTo>
                  <a:cubicBezTo>
                    <a:pt x="809" y="234"/>
                    <a:pt x="835" y="412"/>
                    <a:pt x="862" y="59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Freeform 122"/>
            <p:cNvSpPr/>
            <p:nvPr/>
          </p:nvSpPr>
          <p:spPr>
            <a:xfrm>
              <a:off x="68" y="3475"/>
              <a:ext cx="998" cy="787"/>
            </a:xfrm>
            <a:custGeom>
              <a:avLst/>
              <a:gdLst>
                <a:gd name="txL" fmla="*/ 0 w 998"/>
                <a:gd name="txT" fmla="*/ 0 h 787"/>
                <a:gd name="txR" fmla="*/ 998 w 998"/>
                <a:gd name="txB" fmla="*/ 787 h 787"/>
              </a:gdLst>
              <a:ahLst/>
              <a:cxnLst>
                <a:cxn ang="0">
                  <a:pos x="136" y="0"/>
                </a:cxn>
                <a:cxn ang="0">
                  <a:pos x="45" y="273"/>
                </a:cxn>
                <a:cxn ang="0">
                  <a:pos x="45" y="590"/>
                </a:cxn>
                <a:cxn ang="0">
                  <a:pos x="317" y="772"/>
                </a:cxn>
                <a:cxn ang="0">
                  <a:pos x="998" y="499"/>
                </a:cxn>
              </a:cxnLst>
              <a:rect l="txL" t="txT" r="txR" b="txB"/>
              <a:pathLst>
                <a:path w="998" h="787">
                  <a:moveTo>
                    <a:pt x="136" y="0"/>
                  </a:moveTo>
                  <a:cubicBezTo>
                    <a:pt x="98" y="87"/>
                    <a:pt x="60" y="175"/>
                    <a:pt x="45" y="273"/>
                  </a:cubicBezTo>
                  <a:cubicBezTo>
                    <a:pt x="30" y="371"/>
                    <a:pt x="0" y="507"/>
                    <a:pt x="45" y="590"/>
                  </a:cubicBezTo>
                  <a:cubicBezTo>
                    <a:pt x="90" y="673"/>
                    <a:pt x="158" y="787"/>
                    <a:pt x="317" y="772"/>
                  </a:cubicBezTo>
                  <a:cubicBezTo>
                    <a:pt x="476" y="757"/>
                    <a:pt x="737" y="628"/>
                    <a:pt x="998" y="499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40"/>
          <p:cNvGrpSpPr/>
          <p:nvPr/>
        </p:nvGrpSpPr>
        <p:grpSpPr>
          <a:xfrm>
            <a:off x="6948488" y="3333750"/>
            <a:ext cx="1995487" cy="1608138"/>
            <a:chOff x="3969" y="2976"/>
            <a:chExt cx="1257" cy="1013"/>
          </a:xfrm>
        </p:grpSpPr>
        <p:sp>
          <p:nvSpPr>
            <p:cNvPr id="29709" name="Oval 124"/>
            <p:cNvSpPr/>
            <p:nvPr/>
          </p:nvSpPr>
          <p:spPr>
            <a:xfrm>
              <a:off x="4205" y="3165"/>
              <a:ext cx="122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Oval 125"/>
            <p:cNvSpPr/>
            <p:nvPr/>
          </p:nvSpPr>
          <p:spPr>
            <a:xfrm>
              <a:off x="4571" y="3165"/>
              <a:ext cx="121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Oval 126"/>
            <p:cNvSpPr/>
            <p:nvPr/>
          </p:nvSpPr>
          <p:spPr>
            <a:xfrm>
              <a:off x="4975" y="3165"/>
              <a:ext cx="122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Oval 127"/>
            <p:cNvSpPr/>
            <p:nvPr/>
          </p:nvSpPr>
          <p:spPr>
            <a:xfrm>
              <a:off x="4205" y="3692"/>
              <a:ext cx="122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3" name="Oval 128"/>
            <p:cNvSpPr/>
            <p:nvPr/>
          </p:nvSpPr>
          <p:spPr>
            <a:xfrm>
              <a:off x="4571" y="3692"/>
              <a:ext cx="121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Oval 129"/>
            <p:cNvSpPr/>
            <p:nvPr/>
          </p:nvSpPr>
          <p:spPr>
            <a:xfrm>
              <a:off x="4975" y="3692"/>
              <a:ext cx="122" cy="12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Line 130"/>
            <p:cNvSpPr/>
            <p:nvPr/>
          </p:nvSpPr>
          <p:spPr>
            <a:xfrm>
              <a:off x="4286" y="3287"/>
              <a:ext cx="0" cy="4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131"/>
            <p:cNvSpPr/>
            <p:nvPr/>
          </p:nvSpPr>
          <p:spPr>
            <a:xfrm>
              <a:off x="4286" y="3287"/>
              <a:ext cx="325" cy="4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132"/>
            <p:cNvSpPr/>
            <p:nvPr/>
          </p:nvSpPr>
          <p:spPr>
            <a:xfrm>
              <a:off x="4286" y="3287"/>
              <a:ext cx="731" cy="4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133"/>
            <p:cNvSpPr/>
            <p:nvPr/>
          </p:nvSpPr>
          <p:spPr>
            <a:xfrm>
              <a:off x="4651" y="3287"/>
              <a:ext cx="366" cy="4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134"/>
            <p:cNvSpPr/>
            <p:nvPr/>
          </p:nvSpPr>
          <p:spPr>
            <a:xfrm>
              <a:off x="5017" y="3287"/>
              <a:ext cx="0" cy="40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Freeform 135"/>
            <p:cNvSpPr/>
            <p:nvPr/>
          </p:nvSpPr>
          <p:spPr>
            <a:xfrm>
              <a:off x="4070" y="3084"/>
              <a:ext cx="541" cy="649"/>
            </a:xfrm>
            <a:custGeom>
              <a:avLst/>
              <a:gdLst>
                <a:gd name="txL" fmla="*/ 0 w 605"/>
                <a:gd name="txT" fmla="*/ 0 h 726"/>
                <a:gd name="txR" fmla="*/ 605 w 605"/>
                <a:gd name="txB" fmla="*/ 726 h 726"/>
              </a:gdLst>
              <a:ahLst/>
              <a:cxnLst>
                <a:cxn ang="0">
                  <a:pos x="64" y="10"/>
                </a:cxn>
                <a:cxn ang="0">
                  <a:pos x="31" y="0"/>
                </a:cxn>
                <a:cxn ang="0">
                  <a:pos x="7" y="10"/>
                </a:cxn>
                <a:cxn ang="0">
                  <a:pos x="4" y="43"/>
                </a:cxn>
                <a:cxn ang="0">
                  <a:pos x="17" y="78"/>
                </a:cxn>
              </a:cxnLst>
              <a:rect l="txL" t="txT" r="txR" b="txB"/>
              <a:pathLst>
                <a:path w="605" h="726">
                  <a:moveTo>
                    <a:pt x="605" y="90"/>
                  </a:moveTo>
                  <a:cubicBezTo>
                    <a:pt x="492" y="45"/>
                    <a:pt x="379" y="0"/>
                    <a:pt x="288" y="0"/>
                  </a:cubicBezTo>
                  <a:cubicBezTo>
                    <a:pt x="197" y="0"/>
                    <a:pt x="106" y="22"/>
                    <a:pt x="61" y="90"/>
                  </a:cubicBezTo>
                  <a:cubicBezTo>
                    <a:pt x="16" y="158"/>
                    <a:pt x="0" y="302"/>
                    <a:pt x="15" y="408"/>
                  </a:cubicBezTo>
                  <a:cubicBezTo>
                    <a:pt x="30" y="514"/>
                    <a:pt x="90" y="620"/>
                    <a:pt x="151" y="72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Freeform 136"/>
            <p:cNvSpPr/>
            <p:nvPr/>
          </p:nvSpPr>
          <p:spPr>
            <a:xfrm>
              <a:off x="3969" y="2976"/>
              <a:ext cx="642" cy="1013"/>
            </a:xfrm>
            <a:custGeom>
              <a:avLst/>
              <a:gdLst>
                <a:gd name="txL" fmla="*/ 0 w 718"/>
                <a:gd name="txT" fmla="*/ 0 h 1133"/>
                <a:gd name="txR" fmla="*/ 718 w 718"/>
                <a:gd name="txB" fmla="*/ 1133 h 1133"/>
              </a:gdLst>
              <a:ahLst/>
              <a:cxnLst>
                <a:cxn ang="0">
                  <a:pos x="76" y="23"/>
                </a:cxn>
                <a:cxn ang="0">
                  <a:pos x="63" y="4"/>
                </a:cxn>
                <a:cxn ang="0">
                  <a:pos x="29" y="4"/>
                </a:cxn>
                <a:cxn ang="0">
                  <a:pos x="4" y="23"/>
                </a:cxn>
                <a:cxn ang="0">
                  <a:pos x="4" y="61"/>
                </a:cxn>
                <a:cxn ang="0">
                  <a:pos x="29" y="114"/>
                </a:cxn>
                <a:cxn ang="0">
                  <a:pos x="76" y="99"/>
                </a:cxn>
              </a:cxnLst>
              <a:rect l="txL" t="txT" r="txR" b="txB"/>
              <a:pathLst>
                <a:path w="718" h="1133">
                  <a:moveTo>
                    <a:pt x="718" y="211"/>
                  </a:moveTo>
                  <a:cubicBezTo>
                    <a:pt x="688" y="135"/>
                    <a:pt x="658" y="60"/>
                    <a:pt x="582" y="30"/>
                  </a:cubicBezTo>
                  <a:cubicBezTo>
                    <a:pt x="506" y="0"/>
                    <a:pt x="355" y="0"/>
                    <a:pt x="264" y="30"/>
                  </a:cubicBezTo>
                  <a:cubicBezTo>
                    <a:pt x="173" y="60"/>
                    <a:pt x="76" y="120"/>
                    <a:pt x="38" y="211"/>
                  </a:cubicBezTo>
                  <a:cubicBezTo>
                    <a:pt x="0" y="302"/>
                    <a:pt x="0" y="430"/>
                    <a:pt x="38" y="574"/>
                  </a:cubicBezTo>
                  <a:cubicBezTo>
                    <a:pt x="76" y="718"/>
                    <a:pt x="151" y="1013"/>
                    <a:pt x="264" y="1073"/>
                  </a:cubicBezTo>
                  <a:cubicBezTo>
                    <a:pt x="377" y="1133"/>
                    <a:pt x="547" y="1035"/>
                    <a:pt x="718" y="937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Freeform 137"/>
            <p:cNvSpPr/>
            <p:nvPr/>
          </p:nvSpPr>
          <p:spPr>
            <a:xfrm>
              <a:off x="4692" y="3246"/>
              <a:ext cx="534" cy="703"/>
            </a:xfrm>
            <a:custGeom>
              <a:avLst/>
              <a:gdLst>
                <a:gd name="txL" fmla="*/ 0 w 597"/>
                <a:gd name="txT" fmla="*/ 0 h 787"/>
                <a:gd name="txR" fmla="*/ 597 w 597"/>
                <a:gd name="txB" fmla="*/ 787 h 787"/>
              </a:gdLst>
              <a:ahLst/>
              <a:cxnLst>
                <a:cxn ang="0">
                  <a:pos x="49" y="0"/>
                </a:cxn>
                <a:cxn ang="0">
                  <a:pos x="64" y="38"/>
                </a:cxn>
                <a:cxn ang="0">
                  <a:pos x="54" y="77"/>
                </a:cxn>
                <a:cxn ang="0">
                  <a:pos x="30" y="77"/>
                </a:cxn>
                <a:cxn ang="0">
                  <a:pos x="0" y="62"/>
                </a:cxn>
              </a:cxnLst>
              <a:rect l="txL" t="txT" r="txR" b="txB"/>
              <a:pathLst>
                <a:path w="597" h="787">
                  <a:moveTo>
                    <a:pt x="453" y="0"/>
                  </a:moveTo>
                  <a:cubicBezTo>
                    <a:pt x="517" y="121"/>
                    <a:pt x="581" y="242"/>
                    <a:pt x="589" y="363"/>
                  </a:cubicBezTo>
                  <a:cubicBezTo>
                    <a:pt x="597" y="484"/>
                    <a:pt x="552" y="665"/>
                    <a:pt x="499" y="726"/>
                  </a:cubicBezTo>
                  <a:cubicBezTo>
                    <a:pt x="446" y="787"/>
                    <a:pt x="355" y="749"/>
                    <a:pt x="272" y="726"/>
                  </a:cubicBezTo>
                  <a:cubicBezTo>
                    <a:pt x="189" y="703"/>
                    <a:pt x="94" y="646"/>
                    <a:pt x="0" y="59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/>
              <a:t>约当定理</a:t>
            </a:r>
            <a:r>
              <a:rPr lang="en-US" altLang="zh-CN"/>
              <a:t>(Jordan)</a:t>
            </a:r>
            <a:endParaRPr lang="zh-CN" altLang="en-US"/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23056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约当曲线</a:t>
            </a:r>
            <a:r>
              <a:rPr lang="en-US" altLang="zh-CN"/>
              <a:t>:</a:t>
            </a:r>
            <a:r>
              <a:rPr lang="zh-CN" altLang="en-US"/>
              <a:t>自身不相交的</a:t>
            </a:r>
            <a:r>
              <a:rPr lang="en-US" altLang="zh-CN"/>
              <a:t>,</a:t>
            </a:r>
            <a:r>
              <a:rPr lang="zh-CN" altLang="en-US"/>
              <a:t>始点和终点重合的曲线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约当定理</a:t>
            </a:r>
            <a:r>
              <a:rPr lang="en-US" altLang="zh-CN"/>
              <a:t>:L</a:t>
            </a:r>
            <a:r>
              <a:rPr lang="zh-CN" altLang="en-US"/>
              <a:t>是平面</a:t>
            </a:r>
            <a:r>
              <a:rPr lang="en-US" altLang="zh-CN" i="1"/>
              <a:t>Ⅱ</a:t>
            </a:r>
            <a:r>
              <a:rPr lang="zh-CN" altLang="en-US"/>
              <a:t>上的一条约当曲线</a:t>
            </a:r>
            <a:r>
              <a:rPr lang="en-US" altLang="zh-CN"/>
              <a:t>,</a:t>
            </a:r>
            <a:r>
              <a:rPr lang="zh-CN" altLang="en-US"/>
              <a:t>平面的其余部分被分成了两个不相交的开集</a:t>
            </a:r>
            <a:r>
              <a:rPr lang="en-US" altLang="zh-CN"/>
              <a:t>,</a:t>
            </a:r>
            <a:r>
              <a:rPr lang="zh-CN" altLang="en-US"/>
              <a:t>分别称为</a:t>
            </a:r>
            <a:r>
              <a:rPr lang="en-US" altLang="zh-CN"/>
              <a:t>L</a:t>
            </a:r>
            <a:r>
              <a:rPr lang="zh-CN" altLang="en-US"/>
              <a:t>的内部和外部，则连接</a:t>
            </a:r>
            <a:r>
              <a:rPr lang="en-US" altLang="zh-CN"/>
              <a:t>L</a:t>
            </a:r>
            <a:r>
              <a:rPr lang="zh-CN" altLang="en-US"/>
              <a:t>的内部点和外部点的任何连续曲线必与</a:t>
            </a:r>
            <a:r>
              <a:rPr lang="en-US" altLang="zh-CN"/>
              <a:t>L</a:t>
            </a:r>
            <a:r>
              <a:rPr lang="zh-CN" altLang="en-US"/>
              <a:t>相交</a:t>
            </a:r>
            <a:r>
              <a:rPr lang="en-US" altLang="zh-CN"/>
              <a:t>.</a:t>
            </a:r>
            <a:endParaRPr lang="en-US" altLang="zh-CN"/>
          </a:p>
          <a:p>
            <a:pPr eaLnBrk="1" hangingPunct="1"/>
            <a:r>
              <a:rPr lang="zh-CN" altLang="en-US"/>
              <a:t>利用约当定理证明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en-US" altLang="zh-CN" baseline="-25000"/>
              <a:t>3,3</a:t>
            </a:r>
            <a:r>
              <a:rPr lang="zh-CN" altLang="en-US"/>
              <a:t>不是平面图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3072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证明</a:t>
            </a:r>
            <a:r>
              <a:rPr lang="en-US" altLang="zh-CN"/>
              <a:t>K</a:t>
            </a:r>
            <a:r>
              <a:rPr lang="en-US" altLang="zh-CN" baseline="-25000"/>
              <a:t>5</a:t>
            </a:r>
            <a:r>
              <a:rPr lang="zh-CN" altLang="en-US"/>
              <a:t>不是平面图</a:t>
            </a:r>
            <a:endParaRPr lang="zh-CN" altLang="en-US"/>
          </a:p>
        </p:txBody>
      </p:sp>
      <p:sp>
        <p:nvSpPr>
          <p:cNvPr id="327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2772" name="组合 5"/>
          <p:cNvGrpSpPr/>
          <p:nvPr/>
        </p:nvGrpSpPr>
        <p:grpSpPr>
          <a:xfrm>
            <a:off x="571500" y="1428750"/>
            <a:ext cx="2820988" cy="1881188"/>
            <a:chOff x="214282" y="4429132"/>
            <a:chExt cx="2821042" cy="1880542"/>
          </a:xfrm>
        </p:grpSpPr>
        <p:sp>
          <p:nvSpPr>
            <p:cNvPr id="32807" name="椭圆 6"/>
            <p:cNvSpPr/>
            <p:nvPr/>
          </p:nvSpPr>
          <p:spPr>
            <a:xfrm flipV="1">
              <a:off x="357158" y="5715016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808" name="椭圆 7"/>
            <p:cNvSpPr/>
            <p:nvPr/>
          </p:nvSpPr>
          <p:spPr>
            <a:xfrm flipV="1">
              <a:off x="1142976" y="4786322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809" name="椭圆 8"/>
            <p:cNvSpPr/>
            <p:nvPr/>
          </p:nvSpPr>
          <p:spPr>
            <a:xfrm flipV="1">
              <a:off x="2000232" y="5715016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810" name="椭圆 9"/>
            <p:cNvSpPr/>
            <p:nvPr/>
          </p:nvSpPr>
          <p:spPr>
            <a:xfrm flipV="1">
              <a:off x="1214414" y="5357826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811" name="椭圆 10"/>
            <p:cNvSpPr/>
            <p:nvPr/>
          </p:nvSpPr>
          <p:spPr>
            <a:xfrm flipV="1">
              <a:off x="2500298" y="5214950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2812" name="直接连接符 11"/>
            <p:cNvCxnSpPr>
              <a:stCxn id="32808" idx="1"/>
              <a:endCxn id="32807" idx="5"/>
            </p:cNvCxnSpPr>
            <p:nvPr/>
          </p:nvCxnSpPr>
          <p:spPr>
            <a:xfrm rot="5400000">
              <a:off x="468648" y="5040688"/>
              <a:ext cx="777152" cy="6342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3" name="直接连接符 12"/>
            <p:cNvCxnSpPr>
              <a:endCxn id="32809" idx="2"/>
            </p:cNvCxnSpPr>
            <p:nvPr/>
          </p:nvCxnSpPr>
          <p:spPr>
            <a:xfrm>
              <a:off x="571472" y="5786454"/>
              <a:ext cx="1428760" cy="35719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14" name="直接连接符 13"/>
            <p:cNvCxnSpPr>
              <a:stCxn id="32808" idx="7"/>
              <a:endCxn id="32809" idx="4"/>
            </p:cNvCxnSpPr>
            <p:nvPr/>
          </p:nvCxnSpPr>
          <p:spPr>
            <a:xfrm rot="-5400000" flipH="1">
              <a:off x="1343762" y="4951390"/>
              <a:ext cx="745766" cy="78148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815" name="TextBox 14"/>
            <p:cNvSpPr txBox="1"/>
            <p:nvPr/>
          </p:nvSpPr>
          <p:spPr>
            <a:xfrm>
              <a:off x="2571765" y="5214675"/>
              <a:ext cx="463559" cy="523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16" name="TextBox 15"/>
            <p:cNvSpPr txBox="1"/>
            <p:nvPr/>
          </p:nvSpPr>
          <p:spPr>
            <a:xfrm>
              <a:off x="214282" y="5785979"/>
              <a:ext cx="463559" cy="523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2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17" name="TextBox 16"/>
            <p:cNvSpPr txBox="1"/>
            <p:nvPr/>
          </p:nvSpPr>
          <p:spPr>
            <a:xfrm>
              <a:off x="1928815" y="5785979"/>
              <a:ext cx="463559" cy="523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18" name="TextBox 17"/>
            <p:cNvSpPr txBox="1"/>
            <p:nvPr/>
          </p:nvSpPr>
          <p:spPr>
            <a:xfrm>
              <a:off x="822307" y="5143262"/>
              <a:ext cx="463559" cy="523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19" name="TextBox 18"/>
            <p:cNvSpPr txBox="1"/>
            <p:nvPr/>
          </p:nvSpPr>
          <p:spPr>
            <a:xfrm>
              <a:off x="785793" y="4429132"/>
              <a:ext cx="463559" cy="5236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cxnSp>
          <p:nvCxnSpPr>
            <p:cNvPr id="32820" name="直接连接符 19"/>
            <p:cNvCxnSpPr>
              <a:stCxn id="32810" idx="6"/>
              <a:endCxn id="32811" idx="2"/>
            </p:cNvCxnSpPr>
            <p:nvPr/>
          </p:nvCxnSpPr>
          <p:spPr>
            <a:xfrm flipV="1">
              <a:off x="1428728" y="5322107"/>
              <a:ext cx="1071570" cy="1428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2773" name="组合 20"/>
          <p:cNvGrpSpPr/>
          <p:nvPr/>
        </p:nvGrpSpPr>
        <p:grpSpPr>
          <a:xfrm>
            <a:off x="4786313" y="1428750"/>
            <a:ext cx="3535362" cy="1809750"/>
            <a:chOff x="4429124" y="4429132"/>
            <a:chExt cx="3535422" cy="1809104"/>
          </a:xfrm>
        </p:grpSpPr>
        <p:sp>
          <p:nvSpPr>
            <p:cNvPr id="32791" name="椭圆 21"/>
            <p:cNvSpPr/>
            <p:nvPr/>
          </p:nvSpPr>
          <p:spPr>
            <a:xfrm flipV="1">
              <a:off x="4572000" y="5643578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2" name="椭圆 22"/>
            <p:cNvSpPr/>
            <p:nvPr/>
          </p:nvSpPr>
          <p:spPr>
            <a:xfrm flipV="1">
              <a:off x="5357818" y="4714884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3" name="椭圆 23"/>
            <p:cNvSpPr/>
            <p:nvPr/>
          </p:nvSpPr>
          <p:spPr>
            <a:xfrm flipV="1">
              <a:off x="6215074" y="5643578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4" name="椭圆 24"/>
            <p:cNvSpPr/>
            <p:nvPr/>
          </p:nvSpPr>
          <p:spPr>
            <a:xfrm flipV="1">
              <a:off x="6643702" y="4714884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5" name="椭圆 25"/>
            <p:cNvSpPr/>
            <p:nvPr/>
          </p:nvSpPr>
          <p:spPr>
            <a:xfrm flipV="1">
              <a:off x="7215206" y="5286388"/>
              <a:ext cx="214314" cy="2143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2796" name="直接连接符 26"/>
            <p:cNvCxnSpPr>
              <a:stCxn id="32792" idx="1"/>
              <a:endCxn id="32791" idx="5"/>
            </p:cNvCxnSpPr>
            <p:nvPr/>
          </p:nvCxnSpPr>
          <p:spPr>
            <a:xfrm rot="5400000">
              <a:off x="4683490" y="4969250"/>
              <a:ext cx="777152" cy="6342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7" name="直接连接符 27"/>
            <p:cNvCxnSpPr>
              <a:endCxn id="32793" idx="2"/>
            </p:cNvCxnSpPr>
            <p:nvPr/>
          </p:nvCxnSpPr>
          <p:spPr>
            <a:xfrm>
              <a:off x="4786314" y="5715016"/>
              <a:ext cx="1428760" cy="35719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98" name="直接连接符 28"/>
            <p:cNvCxnSpPr>
              <a:stCxn id="32792" idx="7"/>
              <a:endCxn id="32793" idx="4"/>
            </p:cNvCxnSpPr>
            <p:nvPr/>
          </p:nvCxnSpPr>
          <p:spPr>
            <a:xfrm rot="-5400000" flipH="1">
              <a:off x="5558604" y="4879952"/>
              <a:ext cx="745766" cy="7814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799" name="TextBox 29"/>
            <p:cNvSpPr txBox="1"/>
            <p:nvPr/>
          </p:nvSpPr>
          <p:spPr>
            <a:xfrm>
              <a:off x="7500988" y="5500312"/>
              <a:ext cx="463558" cy="5236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00" name="TextBox 30"/>
            <p:cNvSpPr txBox="1"/>
            <p:nvPr/>
          </p:nvSpPr>
          <p:spPr>
            <a:xfrm>
              <a:off x="4429124" y="5714548"/>
              <a:ext cx="463558" cy="5236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2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01" name="TextBox 31"/>
            <p:cNvSpPr txBox="1"/>
            <p:nvPr/>
          </p:nvSpPr>
          <p:spPr>
            <a:xfrm>
              <a:off x="6143653" y="5714548"/>
              <a:ext cx="463558" cy="5236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02" name="TextBox 32"/>
            <p:cNvSpPr txBox="1"/>
            <p:nvPr/>
          </p:nvSpPr>
          <p:spPr>
            <a:xfrm>
              <a:off x="6858040" y="4429132"/>
              <a:ext cx="463558" cy="5236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03" name="TextBox 33"/>
            <p:cNvSpPr txBox="1"/>
            <p:nvPr/>
          </p:nvSpPr>
          <p:spPr>
            <a:xfrm>
              <a:off x="4929194" y="4500544"/>
              <a:ext cx="463558" cy="5236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804" name="任意多边形 34"/>
            <p:cNvSpPr/>
            <p:nvPr/>
          </p:nvSpPr>
          <p:spPr>
            <a:xfrm>
              <a:off x="4605867" y="4542972"/>
              <a:ext cx="2128762" cy="1146628"/>
            </a:xfrm>
            <a:custGeom>
              <a:avLst/>
              <a:gdLst>
                <a:gd name="txL" fmla="*/ 0 w 2128762"/>
                <a:gd name="txT" fmla="*/ 0 h 1146628"/>
                <a:gd name="txR" fmla="*/ 2128762 w 2128762"/>
                <a:gd name="txB" fmla="*/ 1146628 h 1146628"/>
              </a:gdLst>
              <a:ahLst/>
              <a:cxnLst>
                <a:cxn ang="0">
                  <a:pos x="9676" y="1146628"/>
                </a:cxn>
                <a:cxn ang="0">
                  <a:pos x="154819" y="188685"/>
                </a:cxn>
                <a:cxn ang="0">
                  <a:pos x="938590" y="14514"/>
                </a:cxn>
                <a:cxn ang="0">
                  <a:pos x="2128762" y="203199"/>
                </a:cxn>
                <a:cxn ang="0">
                  <a:pos x="2128762" y="203199"/>
                </a:cxn>
              </a:cxnLst>
              <a:rect l="txL" t="txT" r="txR" b="txB"/>
              <a:pathLst>
                <a:path w="2128762" h="1146628">
                  <a:moveTo>
                    <a:pt x="9676" y="1146628"/>
                  </a:moveTo>
                  <a:cubicBezTo>
                    <a:pt x="4838" y="761999"/>
                    <a:pt x="0" y="377370"/>
                    <a:pt x="154819" y="188685"/>
                  </a:cubicBezTo>
                  <a:cubicBezTo>
                    <a:pt x="309638" y="0"/>
                    <a:pt x="609600" y="12095"/>
                    <a:pt x="938590" y="14514"/>
                  </a:cubicBezTo>
                  <a:cubicBezTo>
                    <a:pt x="1267580" y="16933"/>
                    <a:pt x="2128762" y="203199"/>
                    <a:pt x="2128762" y="203199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2805" name="直接连接符 35"/>
            <p:cNvCxnSpPr>
              <a:stCxn id="32801" idx="0"/>
              <a:endCxn id="32794" idx="0"/>
            </p:cNvCxnSpPr>
            <p:nvPr/>
          </p:nvCxnSpPr>
          <p:spPr>
            <a:xfrm rot="5400000" flipH="1" flipV="1">
              <a:off x="6170234" y="5134393"/>
              <a:ext cx="785818" cy="375429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806" name="直接连接符 36"/>
            <p:cNvCxnSpPr>
              <a:stCxn id="32792" idx="6"/>
              <a:endCxn id="32795" idx="2"/>
            </p:cNvCxnSpPr>
            <p:nvPr/>
          </p:nvCxnSpPr>
          <p:spPr>
            <a:xfrm>
              <a:off x="5572132" y="4822041"/>
              <a:ext cx="1643074" cy="5715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2774" name="Group 17"/>
          <p:cNvGrpSpPr/>
          <p:nvPr/>
        </p:nvGrpSpPr>
        <p:grpSpPr>
          <a:xfrm>
            <a:off x="250825" y="3789363"/>
            <a:ext cx="3600450" cy="2540000"/>
            <a:chOff x="251520" y="3789040"/>
            <a:chExt cx="3600400" cy="2540099"/>
          </a:xfrm>
        </p:grpSpPr>
        <p:sp>
          <p:nvSpPr>
            <p:cNvPr id="32775" name="椭圆 6"/>
            <p:cNvSpPr/>
            <p:nvPr/>
          </p:nvSpPr>
          <p:spPr>
            <a:xfrm flipV="1">
              <a:off x="323528" y="5662884"/>
              <a:ext cx="214310" cy="2143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6" name="椭圆 7"/>
            <p:cNvSpPr/>
            <p:nvPr/>
          </p:nvSpPr>
          <p:spPr>
            <a:xfrm flipV="1">
              <a:off x="1612244" y="4353397"/>
              <a:ext cx="214310" cy="2143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7" name="椭圆 8"/>
            <p:cNvSpPr/>
            <p:nvPr/>
          </p:nvSpPr>
          <p:spPr>
            <a:xfrm flipV="1">
              <a:off x="3133554" y="5734892"/>
              <a:ext cx="214310" cy="2143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8" name="椭圆 9"/>
            <p:cNvSpPr/>
            <p:nvPr/>
          </p:nvSpPr>
          <p:spPr>
            <a:xfrm flipV="1">
              <a:off x="1261346" y="5229200"/>
              <a:ext cx="214310" cy="2143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椭圆 10"/>
            <p:cNvSpPr/>
            <p:nvPr/>
          </p:nvSpPr>
          <p:spPr>
            <a:xfrm flipV="1">
              <a:off x="2123728" y="5302844"/>
              <a:ext cx="214310" cy="2143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2780" name="直接连接符 11"/>
            <p:cNvCxnSpPr>
              <a:stCxn id="32776" idx="1"/>
              <a:endCxn id="32775" idx="5"/>
            </p:cNvCxnSpPr>
            <p:nvPr/>
          </p:nvCxnSpPr>
          <p:spPr>
            <a:xfrm flipH="1">
              <a:off x="506453" y="4536389"/>
              <a:ext cx="1137176" cy="115789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81" name="直接连接符 12"/>
            <p:cNvCxnSpPr>
              <a:endCxn id="32777" idx="2"/>
            </p:cNvCxnSpPr>
            <p:nvPr/>
          </p:nvCxnSpPr>
          <p:spPr>
            <a:xfrm>
              <a:off x="539552" y="5805264"/>
              <a:ext cx="2594002" cy="3682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89" name="直接连接符 13"/>
            <p:cNvCxnSpPr>
              <a:cxnSpLocks noChangeShapeType="1"/>
              <a:stCxn id="32776" idx="7"/>
              <a:endCxn id="32777" idx="4"/>
            </p:cNvCxnSpPr>
            <p:nvPr/>
          </p:nvCxnSpPr>
          <p:spPr bwMode="auto">
            <a:xfrm>
              <a:off x="1794549" y="4536781"/>
              <a:ext cx="1446193" cy="119861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783" name="TextBox 14"/>
            <p:cNvSpPr txBox="1"/>
            <p:nvPr/>
          </p:nvSpPr>
          <p:spPr>
            <a:xfrm>
              <a:off x="2267744" y="5157192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784" name="TextBox 15"/>
            <p:cNvSpPr txBox="1"/>
            <p:nvPr/>
          </p:nvSpPr>
          <p:spPr>
            <a:xfrm>
              <a:off x="251520" y="5805264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2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785" name="TextBox 16"/>
            <p:cNvSpPr txBox="1"/>
            <p:nvPr/>
          </p:nvSpPr>
          <p:spPr>
            <a:xfrm>
              <a:off x="3388370" y="5569421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786" name="TextBox 17"/>
            <p:cNvSpPr txBox="1"/>
            <p:nvPr/>
          </p:nvSpPr>
          <p:spPr>
            <a:xfrm>
              <a:off x="1228130" y="4653136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2787" name="TextBox 18"/>
            <p:cNvSpPr txBox="1"/>
            <p:nvPr/>
          </p:nvSpPr>
          <p:spPr>
            <a:xfrm>
              <a:off x="1300138" y="3789040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cxnSp>
          <p:nvCxnSpPr>
            <p:cNvPr id="32788" name="Straight Connector 6"/>
            <p:cNvCxnSpPr>
              <a:stCxn id="32776" idx="0"/>
              <a:endCxn id="32779" idx="4"/>
            </p:cNvCxnSpPr>
            <p:nvPr/>
          </p:nvCxnSpPr>
          <p:spPr>
            <a:xfrm>
              <a:off x="1719399" y="4567785"/>
              <a:ext cx="511484" cy="735059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89" name="Straight Connector 8"/>
            <p:cNvCxnSpPr>
              <a:stCxn id="32775" idx="6"/>
              <a:endCxn id="32779" idx="1"/>
            </p:cNvCxnSpPr>
            <p:nvPr/>
          </p:nvCxnSpPr>
          <p:spPr>
            <a:xfrm flipV="1">
              <a:off x="537838" y="5485836"/>
              <a:ext cx="1617275" cy="28424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790" name="Freeform 16"/>
            <p:cNvSpPr/>
            <p:nvPr/>
          </p:nvSpPr>
          <p:spPr>
            <a:xfrm>
              <a:off x="1388533" y="5045841"/>
              <a:ext cx="1829742" cy="761293"/>
            </a:xfrm>
            <a:custGeom>
              <a:avLst/>
              <a:gdLst/>
              <a:ahLst/>
              <a:cxnLst>
                <a:cxn ang="0">
                  <a:pos x="0" y="203492"/>
                </a:cxn>
                <a:cxn ang="0">
                  <a:pos x="524934" y="17226"/>
                </a:cxn>
                <a:cxn ang="0">
                  <a:pos x="914400" y="84959"/>
                </a:cxn>
                <a:cxn ang="0">
                  <a:pos x="1761067" y="694559"/>
                </a:cxn>
                <a:cxn ang="0">
                  <a:pos x="1778000" y="745359"/>
                </a:cxn>
              </a:cxnLst>
              <a:rect l="0" t="0" r="0" b="0"/>
              <a:pathLst>
                <a:path w="1829742" h="761293">
                  <a:moveTo>
                    <a:pt x="0" y="203492"/>
                  </a:moveTo>
                  <a:cubicBezTo>
                    <a:pt x="186267" y="120236"/>
                    <a:pt x="372534" y="36981"/>
                    <a:pt x="524934" y="17226"/>
                  </a:cubicBezTo>
                  <a:cubicBezTo>
                    <a:pt x="677334" y="-2530"/>
                    <a:pt x="708378" y="-27930"/>
                    <a:pt x="914400" y="84959"/>
                  </a:cubicBezTo>
                  <a:cubicBezTo>
                    <a:pt x="1120422" y="197848"/>
                    <a:pt x="1617134" y="584492"/>
                    <a:pt x="1761067" y="694559"/>
                  </a:cubicBezTo>
                  <a:cubicBezTo>
                    <a:pt x="1905000" y="804626"/>
                    <a:pt x="1778000" y="745359"/>
                    <a:pt x="1778000" y="745359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证明</a:t>
            </a:r>
            <a:r>
              <a:rPr lang="en-US" altLang="zh-CN"/>
              <a:t>K</a:t>
            </a:r>
            <a:r>
              <a:rPr lang="en-US" altLang="zh-CN" baseline="-25000"/>
              <a:t>3,3</a:t>
            </a:r>
            <a:r>
              <a:rPr lang="zh-CN" altLang="en-US"/>
              <a:t>不是平面图</a:t>
            </a:r>
            <a:endParaRPr lang="zh-CN" altLang="en-US"/>
          </a:p>
        </p:txBody>
      </p:sp>
      <p:sp>
        <p:nvSpPr>
          <p:cNvPr id="34818" name="页脚占位符 3"/>
          <p:cNvSpPr txBox="1">
            <a:spLocks noGrp="1"/>
          </p:cNvSpPr>
          <p:nvPr>
            <p:ph type="ftr" sz="quarter" idx="11"/>
          </p:nvPr>
        </p:nvSpPr>
        <p:spPr>
          <a:xfrm>
            <a:off x="2987675" y="6308725"/>
            <a:ext cx="2895600" cy="457200"/>
          </a:xfrm>
        </p:spPr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7227888" y="6400800"/>
            <a:ext cx="1905000" cy="457200"/>
          </a:xfrm>
        </p:spPr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4820" name="组合 86"/>
          <p:cNvGrpSpPr/>
          <p:nvPr/>
        </p:nvGrpSpPr>
        <p:grpSpPr>
          <a:xfrm>
            <a:off x="574675" y="1384300"/>
            <a:ext cx="2884488" cy="2667000"/>
            <a:chOff x="642910" y="3571876"/>
            <a:chExt cx="2884061" cy="2666360"/>
          </a:xfrm>
        </p:grpSpPr>
        <p:grpSp>
          <p:nvGrpSpPr>
            <p:cNvPr id="34866" name="组合 59"/>
            <p:cNvGrpSpPr/>
            <p:nvPr/>
          </p:nvGrpSpPr>
          <p:grpSpPr>
            <a:xfrm>
              <a:off x="642910" y="3571876"/>
              <a:ext cx="2821042" cy="2666360"/>
              <a:chOff x="642910" y="3571876"/>
              <a:chExt cx="2821042" cy="2666360"/>
            </a:xfrm>
          </p:grpSpPr>
          <p:sp>
            <p:nvSpPr>
              <p:cNvPr id="34871" name="椭圆 38"/>
              <p:cNvSpPr/>
              <p:nvPr/>
            </p:nvSpPr>
            <p:spPr>
              <a:xfrm flipV="1">
                <a:off x="785786" y="492919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2" name="椭圆 39"/>
              <p:cNvSpPr/>
              <p:nvPr/>
            </p:nvSpPr>
            <p:spPr>
              <a:xfrm flipV="1">
                <a:off x="1571604" y="4000504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3" name="椭圆 40"/>
              <p:cNvSpPr/>
              <p:nvPr/>
            </p:nvSpPr>
            <p:spPr>
              <a:xfrm flipV="1">
                <a:off x="2428860" y="492919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4" name="椭圆 41"/>
              <p:cNvSpPr/>
              <p:nvPr/>
            </p:nvSpPr>
            <p:spPr>
              <a:xfrm flipV="1">
                <a:off x="1643042" y="4857760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5" name="椭圆 42"/>
              <p:cNvSpPr/>
              <p:nvPr/>
            </p:nvSpPr>
            <p:spPr>
              <a:xfrm flipV="1">
                <a:off x="2928926" y="4429132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876" name="直接连接符 43"/>
              <p:cNvCxnSpPr>
                <a:stCxn id="34872" idx="1"/>
                <a:endCxn id="34871" idx="5"/>
              </p:cNvCxnSpPr>
              <p:nvPr/>
            </p:nvCxnSpPr>
            <p:spPr>
              <a:xfrm rot="5400000">
                <a:off x="897276" y="4254870"/>
                <a:ext cx="777152" cy="63427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4877" name="直接连接符 45"/>
              <p:cNvCxnSpPr>
                <a:stCxn id="34872" idx="7"/>
                <a:endCxn id="34873" idx="4"/>
              </p:cNvCxnSpPr>
              <p:nvPr/>
            </p:nvCxnSpPr>
            <p:spPr>
              <a:xfrm rot="-5400000" flipH="1">
                <a:off x="1772390" y="4165572"/>
                <a:ext cx="745766" cy="78148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4878" name="TextBox 46"/>
              <p:cNvSpPr txBox="1"/>
              <p:nvPr/>
            </p:nvSpPr>
            <p:spPr>
              <a:xfrm>
                <a:off x="2999999" y="4428920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6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79" name="TextBox 47"/>
              <p:cNvSpPr txBox="1"/>
              <p:nvPr/>
            </p:nvSpPr>
            <p:spPr>
              <a:xfrm>
                <a:off x="642910" y="5000283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2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80" name="TextBox 48"/>
              <p:cNvSpPr txBox="1"/>
              <p:nvPr/>
            </p:nvSpPr>
            <p:spPr>
              <a:xfrm>
                <a:off x="1357179" y="5714487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3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81" name="TextBox 49"/>
              <p:cNvSpPr txBox="1"/>
              <p:nvPr/>
            </p:nvSpPr>
            <p:spPr>
              <a:xfrm>
                <a:off x="1250832" y="4478121"/>
                <a:ext cx="463481" cy="5221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5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82" name="TextBox 50"/>
              <p:cNvSpPr txBox="1"/>
              <p:nvPr/>
            </p:nvSpPr>
            <p:spPr>
              <a:xfrm>
                <a:off x="1214326" y="3571876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1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cxnSp>
            <p:nvCxnSpPr>
              <p:cNvPr id="34883" name="直接连接符 51"/>
              <p:cNvCxnSpPr>
                <a:stCxn id="34874" idx="6"/>
                <a:endCxn id="34875" idx="2"/>
              </p:cNvCxnSpPr>
              <p:nvPr/>
            </p:nvCxnSpPr>
            <p:spPr>
              <a:xfrm flipV="1">
                <a:off x="1857356" y="4536289"/>
                <a:ext cx="1071570" cy="428628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4884" name="椭圆 53"/>
              <p:cNvSpPr/>
              <p:nvPr/>
            </p:nvSpPr>
            <p:spPr>
              <a:xfrm flipV="1">
                <a:off x="1571604" y="564357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885" name="直接连接符 55"/>
              <p:cNvCxnSpPr>
                <a:endCxn id="34884" idx="3"/>
              </p:cNvCxnSpPr>
              <p:nvPr/>
            </p:nvCxnSpPr>
            <p:spPr>
              <a:xfrm rot="-5400000" flipH="1">
                <a:off x="1000100" y="5072074"/>
                <a:ext cx="602890" cy="60289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4886" name="直接连接符 57"/>
              <p:cNvCxnSpPr>
                <a:stCxn id="34884" idx="6"/>
                <a:endCxn id="34873" idx="1"/>
              </p:cNvCxnSpPr>
              <p:nvPr/>
            </p:nvCxnSpPr>
            <p:spPr>
              <a:xfrm flipV="1">
                <a:off x="1785918" y="5112126"/>
                <a:ext cx="674328" cy="638609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4887" name="TextBox 58"/>
              <p:cNvSpPr txBox="1"/>
              <p:nvPr/>
            </p:nvSpPr>
            <p:spPr>
              <a:xfrm>
                <a:off x="2571437" y="4928863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4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4867" name="直接连接符 80"/>
            <p:cNvCxnSpPr>
              <a:stCxn id="34872" idx="6"/>
            </p:cNvCxnSpPr>
            <p:nvPr/>
          </p:nvCxnSpPr>
          <p:spPr>
            <a:xfrm>
              <a:off x="1785918" y="4107661"/>
              <a:ext cx="1214446" cy="3214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4868" name="任意多边形 81"/>
            <p:cNvSpPr/>
            <p:nvPr/>
          </p:nvSpPr>
          <p:spPr>
            <a:xfrm>
              <a:off x="1756229" y="4518781"/>
              <a:ext cx="1770742" cy="1357086"/>
            </a:xfrm>
            <a:custGeom>
              <a:avLst/>
              <a:gdLst>
                <a:gd name="txL" fmla="*/ 0 w 1770742"/>
                <a:gd name="txT" fmla="*/ 0 h 1357086"/>
                <a:gd name="txR" fmla="*/ 1770742 w 1770742"/>
                <a:gd name="txB" fmla="*/ 1357086 h 1357086"/>
              </a:gdLst>
              <a:ahLst/>
              <a:cxnLst>
                <a:cxn ang="0">
                  <a:pos x="0" y="1272419"/>
                </a:cxn>
                <a:cxn ang="0">
                  <a:pos x="841828" y="1272419"/>
                </a:cxn>
                <a:cxn ang="0">
                  <a:pos x="1509485" y="764419"/>
                </a:cxn>
                <a:cxn ang="0">
                  <a:pos x="1756228" y="125790"/>
                </a:cxn>
                <a:cxn ang="0">
                  <a:pos x="1422400" y="9676"/>
                </a:cxn>
                <a:cxn ang="0">
                  <a:pos x="1422400" y="9676"/>
                </a:cxn>
              </a:cxnLst>
              <a:rect l="txL" t="txT" r="txR" b="txB"/>
              <a:pathLst>
                <a:path w="1770742" h="1357086">
                  <a:moveTo>
                    <a:pt x="0" y="1272419"/>
                  </a:moveTo>
                  <a:cubicBezTo>
                    <a:pt x="295123" y="1314752"/>
                    <a:pt x="590247" y="1357086"/>
                    <a:pt x="841828" y="1272419"/>
                  </a:cubicBezTo>
                  <a:cubicBezTo>
                    <a:pt x="1093409" y="1187752"/>
                    <a:pt x="1357085" y="955524"/>
                    <a:pt x="1509485" y="764419"/>
                  </a:cubicBezTo>
                  <a:cubicBezTo>
                    <a:pt x="1661885" y="573314"/>
                    <a:pt x="1770742" y="251581"/>
                    <a:pt x="1756228" y="125790"/>
                  </a:cubicBezTo>
                  <a:cubicBezTo>
                    <a:pt x="1741714" y="0"/>
                    <a:pt x="1422400" y="9676"/>
                    <a:pt x="1422400" y="9676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869" name="直接连接符 83"/>
            <p:cNvCxnSpPr>
              <a:endCxn id="34874" idx="2"/>
            </p:cNvCxnSpPr>
            <p:nvPr/>
          </p:nvCxnSpPr>
          <p:spPr>
            <a:xfrm flipV="1">
              <a:off x="1000100" y="4964917"/>
              <a:ext cx="642942" cy="35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4870" name="直接连接符 85"/>
            <p:cNvCxnSpPr>
              <a:stCxn id="34874" idx="7"/>
              <a:endCxn id="34873" idx="2"/>
            </p:cNvCxnSpPr>
            <p:nvPr/>
          </p:nvCxnSpPr>
          <p:spPr>
            <a:xfrm flipV="1">
              <a:off x="1825971" y="5036354"/>
              <a:ext cx="602890" cy="433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4821" name="Group 1"/>
          <p:cNvGrpSpPr/>
          <p:nvPr/>
        </p:nvGrpSpPr>
        <p:grpSpPr>
          <a:xfrm>
            <a:off x="4287838" y="1384300"/>
            <a:ext cx="3536950" cy="2855913"/>
            <a:chOff x="4287317" y="1384449"/>
            <a:chExt cx="3536950" cy="2855913"/>
          </a:xfrm>
        </p:grpSpPr>
        <p:sp>
          <p:nvSpPr>
            <p:cNvPr id="34845" name="椭圆 61"/>
            <p:cNvSpPr/>
            <p:nvPr/>
          </p:nvSpPr>
          <p:spPr>
            <a:xfrm flipV="1">
              <a:off x="4539730" y="2741762"/>
              <a:ext cx="214312" cy="21431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46" name="椭圆 62"/>
            <p:cNvSpPr/>
            <p:nvPr/>
          </p:nvSpPr>
          <p:spPr>
            <a:xfrm flipV="1">
              <a:off x="5325542" y="1813074"/>
              <a:ext cx="214313" cy="21431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47" name="椭圆 63"/>
            <p:cNvSpPr/>
            <p:nvPr/>
          </p:nvSpPr>
          <p:spPr>
            <a:xfrm flipV="1">
              <a:off x="6182792" y="2741762"/>
              <a:ext cx="214313" cy="21431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48" name="椭圆 64"/>
            <p:cNvSpPr/>
            <p:nvPr/>
          </p:nvSpPr>
          <p:spPr>
            <a:xfrm flipV="1">
              <a:off x="7146405" y="3170387"/>
              <a:ext cx="214312" cy="21431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49" name="椭圆 65"/>
            <p:cNvSpPr/>
            <p:nvPr/>
          </p:nvSpPr>
          <p:spPr>
            <a:xfrm flipV="1">
              <a:off x="6682855" y="2241699"/>
              <a:ext cx="214312" cy="21431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4850" name="直接连接符 66"/>
            <p:cNvCxnSpPr>
              <a:stCxn id="34846" idx="1"/>
              <a:endCxn id="34845" idx="5"/>
            </p:cNvCxnSpPr>
            <p:nvPr/>
          </p:nvCxnSpPr>
          <p:spPr>
            <a:xfrm rot="5400000">
              <a:off x="4650854" y="2067074"/>
              <a:ext cx="777875" cy="6350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4851" name="直接连接符 67"/>
            <p:cNvCxnSpPr>
              <a:stCxn id="34846" idx="7"/>
              <a:endCxn id="34847" idx="4"/>
            </p:cNvCxnSpPr>
            <p:nvPr/>
          </p:nvCxnSpPr>
          <p:spPr>
            <a:xfrm rot="-5400000" flipH="1">
              <a:off x="5525567" y="1978174"/>
              <a:ext cx="746125" cy="78105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4852" name="TextBox 68"/>
            <p:cNvSpPr txBox="1"/>
            <p:nvPr/>
          </p:nvSpPr>
          <p:spPr>
            <a:xfrm>
              <a:off x="7003530" y="2098824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6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4853" name="TextBox 69"/>
            <p:cNvSpPr txBox="1"/>
            <p:nvPr/>
          </p:nvSpPr>
          <p:spPr>
            <a:xfrm>
              <a:off x="4287317" y="2813199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2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4854" name="TextBox 70"/>
            <p:cNvSpPr txBox="1"/>
            <p:nvPr/>
          </p:nvSpPr>
          <p:spPr>
            <a:xfrm>
              <a:off x="5111230" y="3527574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3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4855" name="TextBox 71"/>
            <p:cNvSpPr txBox="1"/>
            <p:nvPr/>
          </p:nvSpPr>
          <p:spPr>
            <a:xfrm>
              <a:off x="7360717" y="3384699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4856" name="TextBox 72"/>
            <p:cNvSpPr txBox="1"/>
            <p:nvPr/>
          </p:nvSpPr>
          <p:spPr>
            <a:xfrm>
              <a:off x="4968355" y="1384449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sp>
          <p:nvSpPr>
            <p:cNvPr id="34857" name="椭圆 74"/>
            <p:cNvSpPr/>
            <p:nvPr/>
          </p:nvSpPr>
          <p:spPr>
            <a:xfrm flipV="1">
              <a:off x="5325542" y="3456137"/>
              <a:ext cx="214313" cy="21431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4858" name="直接连接符 75"/>
            <p:cNvCxnSpPr>
              <a:endCxn id="34857" idx="3"/>
            </p:cNvCxnSpPr>
            <p:nvPr/>
          </p:nvCxnSpPr>
          <p:spPr>
            <a:xfrm rot="-5400000" flipH="1">
              <a:off x="4754042" y="2884637"/>
              <a:ext cx="603250" cy="60325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4859" name="直接连接符 76"/>
            <p:cNvCxnSpPr>
              <a:stCxn id="34857" idx="6"/>
              <a:endCxn id="34847" idx="1"/>
            </p:cNvCxnSpPr>
            <p:nvPr/>
          </p:nvCxnSpPr>
          <p:spPr>
            <a:xfrm flipV="1">
              <a:off x="5539855" y="2924324"/>
              <a:ext cx="674687" cy="6397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4860" name="TextBox 77"/>
            <p:cNvSpPr txBox="1"/>
            <p:nvPr/>
          </p:nvSpPr>
          <p:spPr>
            <a:xfrm>
              <a:off x="6325667" y="2741762"/>
              <a:ext cx="463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宋体" panose="02010600030101010101" pitchFamily="2" charset="-122"/>
                </a:rPr>
                <a:t>v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  <a:endParaRPr lang="zh-CN" altLang="en-US" baseline="-25000">
                <a:ea typeface="宋体" panose="02010600030101010101" pitchFamily="2" charset="-122"/>
              </a:endParaRPr>
            </a:p>
          </p:txBody>
        </p:sp>
        <p:cxnSp>
          <p:nvCxnSpPr>
            <p:cNvPr id="34861" name="直接连接符 88"/>
            <p:cNvCxnSpPr>
              <a:stCxn id="34846" idx="5"/>
              <a:endCxn id="34849" idx="3"/>
            </p:cNvCxnSpPr>
            <p:nvPr/>
          </p:nvCxnSpPr>
          <p:spPr>
            <a:xfrm rot="-5400000" flipH="1">
              <a:off x="5897042" y="1455886"/>
              <a:ext cx="428625" cy="12065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4862" name="任意多边形 89"/>
            <p:cNvSpPr/>
            <p:nvPr/>
          </p:nvSpPr>
          <p:spPr>
            <a:xfrm>
              <a:off x="5476355" y="2427437"/>
              <a:ext cx="1525587" cy="1316037"/>
            </a:xfrm>
            <a:custGeom>
              <a:avLst/>
              <a:gdLst>
                <a:gd name="txL" fmla="*/ 0 w 1526419"/>
                <a:gd name="txT" fmla="*/ 0 h 1315962"/>
                <a:gd name="txR" fmla="*/ 1526419 w 1526419"/>
                <a:gd name="txB" fmla="*/ 1315962 h 1315962"/>
              </a:gdLst>
              <a:ahLst/>
              <a:cxnLst>
                <a:cxn ang="0">
                  <a:pos x="0" y="1191327"/>
                </a:cxn>
                <a:cxn ang="0">
                  <a:pos x="1136049" y="1205859"/>
                </a:cxn>
                <a:cxn ang="0">
                  <a:pos x="1466798" y="523024"/>
                </a:cxn>
                <a:cxn ang="0">
                  <a:pos x="1409277" y="0"/>
                </a:cxn>
              </a:cxnLst>
              <a:rect l="txL" t="txT" r="txR" b="txB"/>
              <a:pathLst>
                <a:path w="1526419" h="1315962">
                  <a:moveTo>
                    <a:pt x="0" y="1190171"/>
                  </a:moveTo>
                  <a:cubicBezTo>
                    <a:pt x="449943" y="1253066"/>
                    <a:pt x="899886" y="1315962"/>
                    <a:pt x="1146629" y="1204686"/>
                  </a:cubicBezTo>
                  <a:cubicBezTo>
                    <a:pt x="1393372" y="1093410"/>
                    <a:pt x="1434495" y="723295"/>
                    <a:pt x="1480457" y="522514"/>
                  </a:cubicBezTo>
                  <a:cubicBezTo>
                    <a:pt x="1526419" y="321733"/>
                    <a:pt x="1474409" y="160866"/>
                    <a:pt x="1422400" y="0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3" name="任意多边形 92"/>
            <p:cNvSpPr/>
            <p:nvPr/>
          </p:nvSpPr>
          <p:spPr>
            <a:xfrm>
              <a:off x="6913042" y="2355999"/>
              <a:ext cx="333375" cy="827088"/>
            </a:xfrm>
            <a:custGeom>
              <a:avLst/>
              <a:gdLst>
                <a:gd name="txL" fmla="*/ 0 w 333829"/>
                <a:gd name="txT" fmla="*/ 0 h 827315"/>
                <a:gd name="txR" fmla="*/ 333829 w 333829"/>
                <a:gd name="txB" fmla="*/ 827315 h 827315"/>
              </a:gdLst>
              <a:ahLst/>
              <a:cxnLst>
                <a:cxn ang="0">
                  <a:pos x="0" y="0"/>
                </a:cxn>
                <a:cxn ang="0">
                  <a:pos x="326195" y="823464"/>
                </a:cxn>
                <a:cxn ang="0">
                  <a:pos x="326195" y="823464"/>
                </a:cxn>
              </a:cxnLst>
              <a:rect l="txL" t="txT" r="txR" b="txB"/>
              <a:pathLst>
                <a:path w="333829" h="827315">
                  <a:moveTo>
                    <a:pt x="0" y="0"/>
                  </a:moveTo>
                  <a:lnTo>
                    <a:pt x="333829" y="827315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任意多边形 93"/>
            <p:cNvSpPr/>
            <p:nvPr/>
          </p:nvSpPr>
          <p:spPr>
            <a:xfrm>
              <a:off x="4677842" y="2935437"/>
              <a:ext cx="2582863" cy="1304925"/>
            </a:xfrm>
            <a:custGeom>
              <a:avLst/>
              <a:gdLst>
                <a:gd name="txL" fmla="*/ 0 w 2583543"/>
                <a:gd name="txT" fmla="*/ 0 h 1303867"/>
                <a:gd name="txR" fmla="*/ 2583543 w 2583543"/>
                <a:gd name="txB" fmla="*/ 1303867 h 1303867"/>
              </a:gdLst>
              <a:ahLst/>
              <a:cxnLst>
                <a:cxn ang="0">
                  <a:pos x="0" y="0"/>
                </a:cxn>
                <a:cxn ang="0">
                  <a:pos x="433488" y="1074254"/>
                </a:cxn>
                <a:cxn ang="0">
                  <a:pos x="1661691" y="1221411"/>
                </a:cxn>
                <a:cxn ang="0">
                  <a:pos x="2572008" y="470905"/>
                </a:cxn>
              </a:cxnLst>
              <a:rect l="txL" t="txT" r="txR" b="txB"/>
              <a:pathLst>
                <a:path w="2583543" h="1303867">
                  <a:moveTo>
                    <a:pt x="0" y="0"/>
                  </a:moveTo>
                  <a:cubicBezTo>
                    <a:pt x="78619" y="429381"/>
                    <a:pt x="157239" y="858762"/>
                    <a:pt x="435429" y="1059543"/>
                  </a:cubicBezTo>
                  <a:cubicBezTo>
                    <a:pt x="713619" y="1260324"/>
                    <a:pt x="1311124" y="1303867"/>
                    <a:pt x="1669143" y="1204686"/>
                  </a:cubicBezTo>
                  <a:cubicBezTo>
                    <a:pt x="2027162" y="1105505"/>
                    <a:pt x="2583543" y="464457"/>
                    <a:pt x="2583543" y="464457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865" name="直接连接符 95"/>
            <p:cNvCxnSpPr>
              <a:endCxn id="34848" idx="3"/>
            </p:cNvCxnSpPr>
            <p:nvPr/>
          </p:nvCxnSpPr>
          <p:spPr>
            <a:xfrm>
              <a:off x="6360592" y="2813199"/>
              <a:ext cx="817563" cy="38893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cxnSp>
      </p:grpSp>
      <p:cxnSp>
        <p:nvCxnSpPr>
          <p:cNvPr id="34822" name="Straight Connector 8"/>
          <p:cNvCxnSpPr>
            <a:stCxn id="34833" idx="0"/>
          </p:cNvCxnSpPr>
          <p:nvPr/>
        </p:nvCxnSpPr>
        <p:spPr>
          <a:xfrm flipH="1">
            <a:off x="2560638" y="5300663"/>
            <a:ext cx="36512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23" name="Straight Connector 13"/>
          <p:cNvCxnSpPr>
            <a:stCxn id="34837" idx="0"/>
            <a:endCxn id="34833" idx="2"/>
          </p:cNvCxnSpPr>
          <p:nvPr/>
        </p:nvCxnSpPr>
        <p:spPr>
          <a:xfrm flipV="1">
            <a:off x="1708150" y="5194300"/>
            <a:ext cx="781050" cy="2365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24" name="Straight Connector 15"/>
          <p:cNvCxnSpPr>
            <a:stCxn id="34833" idx="6"/>
            <a:endCxn id="34831" idx="2"/>
          </p:cNvCxnSpPr>
          <p:nvPr/>
        </p:nvCxnSpPr>
        <p:spPr>
          <a:xfrm>
            <a:off x="2703513" y="5194300"/>
            <a:ext cx="558800" cy="2730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25" name="Straight Connector 17"/>
          <p:cNvCxnSpPr>
            <a:stCxn id="34832" idx="0"/>
            <a:endCxn id="34841" idx="4"/>
          </p:cNvCxnSpPr>
          <p:nvPr/>
        </p:nvCxnSpPr>
        <p:spPr>
          <a:xfrm flipH="1">
            <a:off x="2511425" y="5805488"/>
            <a:ext cx="71438" cy="2682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34826" name="组 5"/>
          <p:cNvGrpSpPr/>
          <p:nvPr/>
        </p:nvGrpSpPr>
        <p:grpSpPr>
          <a:xfrm>
            <a:off x="1476375" y="4002088"/>
            <a:ext cx="2392363" cy="2667000"/>
            <a:chOff x="1476375" y="4002088"/>
            <a:chExt cx="2392363" cy="2667000"/>
          </a:xfrm>
        </p:grpSpPr>
        <p:grpSp>
          <p:nvGrpSpPr>
            <p:cNvPr id="34827" name="组合 59"/>
            <p:cNvGrpSpPr/>
            <p:nvPr/>
          </p:nvGrpSpPr>
          <p:grpSpPr>
            <a:xfrm>
              <a:off x="1476375" y="4002088"/>
              <a:ext cx="2392363" cy="2667000"/>
              <a:chOff x="642910" y="3571876"/>
              <a:chExt cx="2392008" cy="2666360"/>
            </a:xfrm>
          </p:grpSpPr>
          <p:sp>
            <p:nvSpPr>
              <p:cNvPr id="34829" name="椭圆 38"/>
              <p:cNvSpPr/>
              <p:nvPr/>
            </p:nvSpPr>
            <p:spPr>
              <a:xfrm flipV="1">
                <a:off x="785786" y="492919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0" name="椭圆 39"/>
              <p:cNvSpPr/>
              <p:nvPr/>
            </p:nvSpPr>
            <p:spPr>
              <a:xfrm flipV="1">
                <a:off x="1571604" y="4000504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1" name="椭圆 40"/>
              <p:cNvSpPr/>
              <p:nvPr/>
            </p:nvSpPr>
            <p:spPr>
              <a:xfrm flipV="1">
                <a:off x="2428860" y="492919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2" name="椭圆 41"/>
              <p:cNvSpPr/>
              <p:nvPr/>
            </p:nvSpPr>
            <p:spPr>
              <a:xfrm flipV="1">
                <a:off x="1643042" y="5160034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3" name="椭圆 42"/>
              <p:cNvSpPr/>
              <p:nvPr/>
            </p:nvSpPr>
            <p:spPr>
              <a:xfrm flipV="1">
                <a:off x="1656717" y="4656099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834" name="直接连接符 43"/>
              <p:cNvCxnSpPr>
                <a:stCxn id="34830" idx="1"/>
                <a:endCxn id="34829" idx="5"/>
              </p:cNvCxnSpPr>
              <p:nvPr/>
            </p:nvCxnSpPr>
            <p:spPr>
              <a:xfrm rot="5400000">
                <a:off x="897276" y="4254870"/>
                <a:ext cx="777152" cy="6342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4835" name="直接连接符 45"/>
              <p:cNvCxnSpPr>
                <a:stCxn id="34830" idx="7"/>
                <a:endCxn id="34831" idx="4"/>
              </p:cNvCxnSpPr>
              <p:nvPr/>
            </p:nvCxnSpPr>
            <p:spPr>
              <a:xfrm rot="-5400000" flipH="1">
                <a:off x="1772390" y="4165572"/>
                <a:ext cx="745766" cy="78148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4836" name="TextBox 46"/>
              <p:cNvSpPr txBox="1"/>
              <p:nvPr/>
            </p:nvSpPr>
            <p:spPr>
              <a:xfrm>
                <a:off x="1295053" y="5066570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6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37" name="TextBox 47"/>
              <p:cNvSpPr txBox="1"/>
              <p:nvPr/>
            </p:nvSpPr>
            <p:spPr>
              <a:xfrm>
                <a:off x="642910" y="5000283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2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38" name="TextBox 48"/>
              <p:cNvSpPr txBox="1"/>
              <p:nvPr/>
            </p:nvSpPr>
            <p:spPr>
              <a:xfrm>
                <a:off x="1357179" y="5714487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3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39" name="TextBox 49"/>
              <p:cNvSpPr txBox="1"/>
              <p:nvPr/>
            </p:nvSpPr>
            <p:spPr>
              <a:xfrm>
                <a:off x="1295053" y="4276260"/>
                <a:ext cx="463481" cy="5221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5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40" name="TextBox 50"/>
              <p:cNvSpPr txBox="1"/>
              <p:nvPr/>
            </p:nvSpPr>
            <p:spPr>
              <a:xfrm>
                <a:off x="1214326" y="3571876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1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4841" name="椭圆 53"/>
              <p:cNvSpPr/>
              <p:nvPr/>
            </p:nvSpPr>
            <p:spPr>
              <a:xfrm flipV="1">
                <a:off x="1571604" y="5643578"/>
                <a:ext cx="214314" cy="2143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842" name="直接连接符 55"/>
              <p:cNvCxnSpPr>
                <a:endCxn id="34841" idx="3"/>
              </p:cNvCxnSpPr>
              <p:nvPr/>
            </p:nvCxnSpPr>
            <p:spPr>
              <a:xfrm rot="-5400000" flipH="1">
                <a:off x="1000100" y="5072074"/>
                <a:ext cx="602890" cy="60289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4843" name="直接连接符 57"/>
              <p:cNvCxnSpPr>
                <a:stCxn id="34841" idx="6"/>
                <a:endCxn id="34831" idx="1"/>
              </p:cNvCxnSpPr>
              <p:nvPr/>
            </p:nvCxnSpPr>
            <p:spPr>
              <a:xfrm flipV="1">
                <a:off x="1785918" y="5112126"/>
                <a:ext cx="674328" cy="638609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34844" name="TextBox 58"/>
              <p:cNvSpPr txBox="1"/>
              <p:nvPr/>
            </p:nvSpPr>
            <p:spPr>
              <a:xfrm>
                <a:off x="2571437" y="4928863"/>
                <a:ext cx="463481" cy="5237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i="1"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>
                    <a:ea typeface="宋体" panose="02010600030101010101" pitchFamily="2" charset="-122"/>
                  </a:rPr>
                  <a:t>4</a:t>
                </a:r>
                <a:endParaRPr lang="zh-CN" altLang="en-US" baseline="-250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28" name="任意形状 4"/>
            <p:cNvSpPr/>
            <p:nvPr/>
          </p:nvSpPr>
          <p:spPr>
            <a:xfrm>
              <a:off x="2514600" y="4614863"/>
              <a:ext cx="314675" cy="1042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1463" y="414337"/>
                </a:cxn>
                <a:cxn ang="0">
                  <a:pos x="300038" y="714375"/>
                </a:cxn>
                <a:cxn ang="0">
                  <a:pos x="128588" y="1042987"/>
                </a:cxn>
              </a:cxnLst>
              <a:rect l="0" t="0" r="0" b="0"/>
              <a:pathLst>
                <a:path w="314675" h="1042987">
                  <a:moveTo>
                    <a:pt x="0" y="0"/>
                  </a:moveTo>
                  <a:cubicBezTo>
                    <a:pt x="110728" y="147637"/>
                    <a:pt x="221457" y="295275"/>
                    <a:pt x="271463" y="414337"/>
                  </a:cubicBezTo>
                  <a:cubicBezTo>
                    <a:pt x="321469" y="533399"/>
                    <a:pt x="323851" y="609600"/>
                    <a:pt x="300038" y="714375"/>
                  </a:cubicBezTo>
                  <a:cubicBezTo>
                    <a:pt x="276226" y="819150"/>
                    <a:pt x="128588" y="1042987"/>
                    <a:pt x="128588" y="1042987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球面嵌入</a:t>
            </a:r>
            <a:r>
              <a:rPr lang="en-US" altLang="zh-CN"/>
              <a:t>, </a:t>
            </a:r>
            <a:r>
              <a:rPr lang="zh-CN" altLang="en-US"/>
              <a:t>曲面嵌入</a:t>
            </a:r>
            <a:endParaRPr lang="zh-CN" altLang="en-US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曲面嵌入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: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可以</a:t>
            </a:r>
            <a:r>
              <a:rPr lang="zh-CN" altLang="en-US" dirty="0">
                <a:sym typeface="+mn-ea"/>
              </a:rPr>
              <a:t>以这种方式画在曲面上使得边与边不在非顶点处相交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如环面嵌入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球面嵌入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00"/>
                </a:solidFill>
              </a:rPr>
              <a:t>可以</a:t>
            </a:r>
            <a:r>
              <a:rPr lang="zh-CN" altLang="en-US" dirty="0">
                <a:solidFill>
                  <a:schemeClr val="tx1"/>
                </a:solidFill>
              </a:rPr>
              <a:t>以这种方式画</a:t>
            </a:r>
            <a:r>
              <a:rPr lang="zh-CN" altLang="en-US" dirty="0"/>
              <a:t>在球面上，即使得边与边不在非顶点处相交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11.1: </a:t>
            </a:r>
            <a:r>
              <a:rPr lang="zh-CN" altLang="en-US" dirty="0"/>
              <a:t>可平面嵌入⇔可球面嵌入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连续球极投影</a:t>
            </a:r>
            <a:r>
              <a:rPr lang="en-US" altLang="zh-CN" dirty="0"/>
              <a:t>. 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36867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11.1</a:t>
            </a:r>
            <a:r>
              <a:rPr lang="zh-CN" altLang="en-US"/>
              <a:t>的证明</a:t>
            </a:r>
            <a:endParaRPr lang="zh-CN" altLang="en-US"/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xfrm>
            <a:off x="323850" y="3789363"/>
            <a:ext cx="8496300" cy="287972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(</a:t>
            </a:r>
            <a:r>
              <a:rPr lang="en-US" altLang="zh-CN" sz="2600">
                <a:solidFill>
                  <a:schemeClr val="hlink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600"/>
              <a:t>)</a:t>
            </a:r>
            <a:r>
              <a:rPr lang="zh-CN" altLang="en-US" sz="2600"/>
              <a:t>设图</a:t>
            </a:r>
            <a:r>
              <a:rPr lang="en-US" altLang="zh-CN" sz="2600"/>
              <a:t>G</a:t>
            </a:r>
            <a:r>
              <a:rPr lang="zh-CN" altLang="en-US" sz="2600"/>
              <a:t>的球面</a:t>
            </a:r>
            <a:r>
              <a:rPr lang="en-US" altLang="zh-CN" sz="2600"/>
              <a:t>S</a:t>
            </a:r>
            <a:r>
              <a:rPr lang="zh-CN" altLang="en-US" sz="2600"/>
              <a:t>的嵌入为</a:t>
            </a:r>
            <a:r>
              <a:rPr lang="en-US" altLang="zh-CN" sz="2600"/>
              <a:t>G</a:t>
            </a:r>
            <a:r>
              <a:rPr lang="en-US" altLang="zh-CN" sz="2600">
                <a:latin typeface="Tahoma" panose="020B0604030504040204" pitchFamily="34" charset="0"/>
              </a:rPr>
              <a:t>’</a:t>
            </a:r>
            <a:r>
              <a:rPr lang="en-US" altLang="zh-CN" sz="2600"/>
              <a:t>,</a:t>
            </a:r>
            <a:r>
              <a:rPr lang="zh-CN" altLang="en-US" sz="2600"/>
              <a:t>取</a:t>
            </a:r>
            <a:r>
              <a:rPr lang="en-US" altLang="zh-CN" sz="2600"/>
              <a:t>S</a:t>
            </a:r>
            <a:r>
              <a:rPr lang="zh-CN" altLang="en-US" sz="2600"/>
              <a:t>上的一点</a:t>
            </a:r>
            <a:r>
              <a:rPr lang="en-US" altLang="zh-CN" sz="2600" i="1"/>
              <a:t>n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zh-CN" altLang="en-US" sz="2600"/>
              <a:t>不在</a:t>
            </a:r>
            <a:r>
              <a:rPr lang="en-US" altLang="zh-CN" sz="2600"/>
              <a:t>G</a:t>
            </a:r>
            <a:r>
              <a:rPr lang="en-US" altLang="zh-CN" sz="2600">
                <a:latin typeface="Tahoma" panose="020B0604030504040204" pitchFamily="34" charset="0"/>
              </a:rPr>
              <a:t>’</a:t>
            </a:r>
            <a:r>
              <a:rPr lang="zh-CN" altLang="en-US" sz="2600"/>
              <a:t>上</a:t>
            </a:r>
            <a:r>
              <a:rPr lang="en-US" altLang="zh-CN" sz="2600"/>
              <a:t>)</a:t>
            </a:r>
            <a:r>
              <a:rPr lang="zh-CN" altLang="en-US" sz="2600"/>
              <a:t>作为</a:t>
            </a:r>
            <a:r>
              <a:rPr lang="en-US" altLang="zh-CN" sz="2600"/>
              <a:t>S</a:t>
            </a:r>
            <a:r>
              <a:rPr lang="zh-CN" altLang="en-US" sz="2600"/>
              <a:t>的北极</a:t>
            </a:r>
            <a:r>
              <a:rPr lang="en-US" altLang="zh-CN" sz="2600"/>
              <a:t>,</a:t>
            </a:r>
            <a:r>
              <a:rPr lang="zh-CN" altLang="en-US" sz="2600"/>
              <a:t>则南极</a:t>
            </a:r>
            <a:r>
              <a:rPr lang="en-US" altLang="zh-CN" sz="2600"/>
              <a:t>s</a:t>
            </a:r>
            <a:r>
              <a:rPr lang="zh-CN" altLang="en-US" sz="2600"/>
              <a:t>自然可得</a:t>
            </a:r>
            <a:r>
              <a:rPr lang="en-US" altLang="zh-CN" sz="2600"/>
              <a:t>.</a:t>
            </a:r>
            <a:endParaRPr lang="en-US" altLang="zh-CN" sz="260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/>
              <a:t>设</a:t>
            </a:r>
            <a:r>
              <a:rPr lang="el-GR" altLang="zh-CN" sz="2600"/>
              <a:t>ρ</a:t>
            </a:r>
            <a:r>
              <a:rPr lang="en-US" altLang="zh-CN" sz="2600"/>
              <a:t>(G</a:t>
            </a:r>
            <a:r>
              <a:rPr lang="en-US" altLang="zh-CN" sz="2600">
                <a:latin typeface="Tahoma" panose="020B0604030504040204" pitchFamily="34" charset="0"/>
              </a:rPr>
              <a:t>’</a:t>
            </a:r>
            <a:r>
              <a:rPr lang="en-US" altLang="zh-CN" sz="2600"/>
              <a:t>)=G</a:t>
            </a:r>
            <a:r>
              <a:rPr lang="en-US" altLang="zh-CN" sz="2600">
                <a:latin typeface="Tahoma" panose="020B0604030504040204" pitchFamily="34" charset="0"/>
              </a:rPr>
              <a:t>’’</a:t>
            </a:r>
            <a:r>
              <a:rPr lang="en-US" altLang="zh-CN" sz="2600"/>
              <a:t>,</a:t>
            </a:r>
            <a:r>
              <a:rPr lang="zh-CN" altLang="en-US" sz="2600"/>
              <a:t>则</a:t>
            </a:r>
            <a:r>
              <a:rPr lang="en-US" altLang="zh-CN" sz="2600"/>
              <a:t>G</a:t>
            </a:r>
            <a:r>
              <a:rPr lang="en-US" altLang="zh-CN" sz="2600">
                <a:latin typeface="Tahoma" panose="020B0604030504040204" pitchFamily="34" charset="0"/>
              </a:rPr>
              <a:t>’’</a:t>
            </a:r>
            <a:r>
              <a:rPr lang="zh-CN" altLang="en-US" sz="2600"/>
              <a:t>是</a:t>
            </a:r>
            <a:r>
              <a:rPr lang="en-US" altLang="zh-CN" sz="2600"/>
              <a:t>G</a:t>
            </a:r>
            <a:r>
              <a:rPr lang="zh-CN" altLang="en-US" sz="2600"/>
              <a:t>的平面</a:t>
            </a:r>
            <a:r>
              <a:rPr lang="en-US" altLang="zh-CN" sz="2600" i="1">
                <a:sym typeface="Symbol" panose="05050102010706020507" pitchFamily="18" charset="2"/>
              </a:rPr>
              <a:t></a:t>
            </a:r>
            <a:r>
              <a:rPr lang="zh-CN" altLang="en-US" sz="2600">
                <a:sym typeface="Symbol" panose="05050102010706020507" pitchFamily="18" charset="2"/>
              </a:rPr>
              <a:t>上的嵌入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(</a:t>
            </a:r>
            <a:r>
              <a:rPr lang="en-US" altLang="zh-CN" sz="2600">
                <a:solidFill>
                  <a:schemeClr val="hlink"/>
                </a:solidFill>
                <a:sym typeface="Symbol" panose="05050102010706020507" pitchFamily="18" charset="2"/>
              </a:rPr>
              <a:t>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由于</a:t>
            </a:r>
            <a:r>
              <a:rPr lang="el-GR" altLang="zh-CN" sz="2600"/>
              <a:t>ρ</a:t>
            </a:r>
            <a:r>
              <a:rPr lang="zh-CN" altLang="en-US" sz="2600"/>
              <a:t>是</a:t>
            </a:r>
            <a:r>
              <a:rPr lang="en-US" altLang="zh-CN" sz="2600"/>
              <a:t>S-{</a:t>
            </a:r>
            <a:r>
              <a:rPr lang="en-US" altLang="zh-CN" sz="2600" i="1"/>
              <a:t>n</a:t>
            </a:r>
            <a:r>
              <a:rPr lang="en-US" altLang="zh-CN" sz="2600"/>
              <a:t>}</a:t>
            </a:r>
            <a:r>
              <a:rPr lang="zh-CN" altLang="en-US" sz="2600"/>
              <a:t>到</a:t>
            </a:r>
            <a:r>
              <a:rPr lang="en-US" altLang="zh-CN" sz="2600" i="1">
                <a:sym typeface="Symbol" panose="05050102010706020507" pitchFamily="18" charset="2"/>
              </a:rPr>
              <a:t></a:t>
            </a:r>
            <a:r>
              <a:rPr lang="zh-CN" altLang="en-US" sz="2600">
                <a:sym typeface="Symbol" panose="05050102010706020507" pitchFamily="18" charset="2"/>
              </a:rPr>
              <a:t>的双射函数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已知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的平面嵌入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en-US" altLang="zh-CN" sz="2600">
                <a:latin typeface="Tahoma" panose="020B0604030504040204" pitchFamily="34" charset="0"/>
                <a:sym typeface="Symbol" panose="05050102010706020507" pitchFamily="18" charset="2"/>
              </a:rPr>
              <a:t>’’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endParaRPr lang="en-US" altLang="zh-CN" sz="260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则</a:t>
            </a:r>
            <a:r>
              <a:rPr lang="el-GR" altLang="zh-CN" sz="2600"/>
              <a:t>ρ</a:t>
            </a:r>
            <a:r>
              <a:rPr lang="en-US" altLang="zh-CN" sz="2600" baseline="30000"/>
              <a:t>-1</a:t>
            </a:r>
            <a:r>
              <a:rPr lang="en-US" altLang="zh-CN" sz="2600"/>
              <a:t>(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en-US" altLang="zh-CN" sz="2600">
                <a:latin typeface="Tahoma" panose="020B0604030504040204" pitchFamily="34" charset="0"/>
                <a:sym typeface="Symbol" panose="05050102010706020507" pitchFamily="18" charset="2"/>
              </a:rPr>
              <a:t>’’</a:t>
            </a:r>
            <a:r>
              <a:rPr lang="en-US" altLang="zh-CN" sz="2600"/>
              <a:t>)=G</a:t>
            </a:r>
            <a:r>
              <a:rPr lang="en-US" altLang="zh-CN" sz="2600" baseline="-25000"/>
              <a:t>1</a:t>
            </a:r>
            <a:r>
              <a:rPr lang="en-US" altLang="zh-CN" sz="2600">
                <a:latin typeface="Tahoma" panose="020B0604030504040204" pitchFamily="34" charset="0"/>
              </a:rPr>
              <a:t>’</a:t>
            </a:r>
            <a:r>
              <a:rPr lang="zh-CN" altLang="en-US" sz="2600"/>
              <a:t>为</a:t>
            </a:r>
            <a:r>
              <a:rPr lang="en-US" altLang="zh-CN" sz="2600"/>
              <a:t>G</a:t>
            </a:r>
            <a:r>
              <a:rPr lang="zh-CN" altLang="en-US" sz="2600"/>
              <a:t>的球面嵌入</a:t>
            </a:r>
            <a:r>
              <a:rPr lang="en-US" altLang="zh-CN" sz="2600"/>
              <a:t>.</a:t>
            </a:r>
            <a:endParaRPr lang="en-US" altLang="zh-CN" sz="2600"/>
          </a:p>
        </p:txBody>
      </p:sp>
      <p:sp>
        <p:nvSpPr>
          <p:cNvPr id="37891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7893" name="组合 41"/>
          <p:cNvGrpSpPr/>
          <p:nvPr/>
        </p:nvGrpSpPr>
        <p:grpSpPr>
          <a:xfrm>
            <a:off x="323850" y="1123950"/>
            <a:ext cx="4176713" cy="2592388"/>
            <a:chOff x="1907704" y="980728"/>
            <a:chExt cx="4176464" cy="2592288"/>
          </a:xfrm>
        </p:grpSpPr>
        <p:sp>
          <p:nvSpPr>
            <p:cNvPr id="37895" name="平行四边形 5"/>
            <p:cNvSpPr/>
            <p:nvPr/>
          </p:nvSpPr>
          <p:spPr>
            <a:xfrm>
              <a:off x="1907704" y="2348880"/>
              <a:ext cx="4176464" cy="1224136"/>
            </a:xfrm>
            <a:prstGeom prst="parallelogram">
              <a:avLst>
                <a:gd name="adj" fmla="val 25004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6" name="椭圆 6"/>
            <p:cNvSpPr/>
            <p:nvPr/>
          </p:nvSpPr>
          <p:spPr>
            <a:xfrm>
              <a:off x="3347864" y="1340768"/>
              <a:ext cx="1440160" cy="144016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3362378" y="1844824"/>
              <a:ext cx="1440160" cy="50405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0"/>
            </a:sp3d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900" name="TextBox 8"/>
            <p:cNvSpPr txBox="1"/>
            <p:nvPr/>
          </p:nvSpPr>
          <p:spPr>
            <a:xfrm>
              <a:off x="3923928" y="2708920"/>
              <a:ext cx="3032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s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7901" name="直接连接符 10"/>
            <p:cNvCxnSpPr>
              <a:stCxn id="37896" idx="0"/>
              <a:endCxn id="37900" idx="0"/>
            </p:cNvCxnSpPr>
            <p:nvPr/>
          </p:nvCxnSpPr>
          <p:spPr>
            <a:xfrm rot="-5400000" flipH="1">
              <a:off x="3387682" y="2021030"/>
              <a:ext cx="1368152" cy="76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cxnSp>
        <p:sp>
          <p:nvSpPr>
            <p:cNvPr id="37902" name="椭圆 14"/>
            <p:cNvSpPr/>
            <p:nvPr/>
          </p:nvSpPr>
          <p:spPr>
            <a:xfrm>
              <a:off x="4039478" y="2060848"/>
              <a:ext cx="72008" cy="7200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3" name="TextBox 15"/>
            <p:cNvSpPr txBox="1"/>
            <p:nvPr/>
          </p:nvSpPr>
          <p:spPr>
            <a:xfrm>
              <a:off x="4139952" y="1916832"/>
              <a:ext cx="32733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Tahoma" panose="020B0604030504040204" pitchFamily="34" charset="0"/>
                  <a:ea typeface="宋体" panose="02010600030101010101" pitchFamily="2" charset="-122"/>
                </a:rPr>
                <a:t>o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椭圆 32"/>
            <p:cNvSpPr/>
            <p:nvPr/>
          </p:nvSpPr>
          <p:spPr>
            <a:xfrm>
              <a:off x="3880948" y="1340768"/>
              <a:ext cx="360040" cy="14401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TextBox 33"/>
            <p:cNvSpPr txBox="1"/>
            <p:nvPr/>
          </p:nvSpPr>
          <p:spPr>
            <a:xfrm>
              <a:off x="3996730" y="980728"/>
              <a:ext cx="311131" cy="3666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ea typeface="宋体" panose="02010600030101010101" pitchFamily="2" charset="-122"/>
                </a:rPr>
                <a:t>n</a:t>
              </a:r>
              <a:endParaRPr lang="zh-CN" altLang="en-US" sz="1800" i="1">
                <a:ea typeface="宋体" panose="02010600030101010101" pitchFamily="2" charset="-122"/>
              </a:endParaRPr>
            </a:p>
          </p:txBody>
        </p:sp>
        <p:sp>
          <p:nvSpPr>
            <p:cNvPr id="37906" name="TextBox 34"/>
            <p:cNvSpPr txBox="1"/>
            <p:nvPr/>
          </p:nvSpPr>
          <p:spPr>
            <a:xfrm>
              <a:off x="3420501" y="1834770"/>
              <a:ext cx="298433" cy="3666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ea typeface="宋体" panose="02010600030101010101" pitchFamily="2" charset="-122"/>
                </a:rPr>
                <a:t>x</a:t>
              </a:r>
              <a:endParaRPr lang="zh-CN" altLang="en-US" sz="1800" i="1">
                <a:ea typeface="宋体" panose="02010600030101010101" pitchFamily="2" charset="-122"/>
              </a:endParaRPr>
            </a:p>
          </p:txBody>
        </p:sp>
        <p:sp>
          <p:nvSpPr>
            <p:cNvPr id="37907" name="椭圆 35"/>
            <p:cNvSpPr/>
            <p:nvPr/>
          </p:nvSpPr>
          <p:spPr>
            <a:xfrm>
              <a:off x="3635896" y="2060848"/>
              <a:ext cx="72008" cy="7200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7908" name="直接连接符 37"/>
            <p:cNvCxnSpPr>
              <a:stCxn id="37896" idx="0"/>
            </p:cNvCxnSpPr>
            <p:nvPr/>
          </p:nvCxnSpPr>
          <p:spPr>
            <a:xfrm rot="-5400000" flipH="1" flipV="1">
              <a:off x="2807804" y="1736812"/>
              <a:ext cx="1656184" cy="8640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7909" name="TextBox 38"/>
            <p:cNvSpPr txBox="1"/>
            <p:nvPr/>
          </p:nvSpPr>
          <p:spPr>
            <a:xfrm>
              <a:off x="3131594" y="2925341"/>
              <a:ext cx="361928" cy="3666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ea typeface="宋体" panose="02010600030101010101" pitchFamily="2" charset="-122"/>
                </a:rPr>
                <a:t>x</a:t>
              </a:r>
              <a:r>
                <a:rPr lang="en-US" altLang="zh-CN" sz="1800" i="1">
                  <a:latin typeface="Tahoma" panose="020B0604030504040204" pitchFamily="34" charset="0"/>
                  <a:ea typeface="宋体" panose="02010600030101010101" pitchFamily="2" charset="-122"/>
                </a:rPr>
                <a:t>’</a:t>
              </a:r>
              <a:endParaRPr lang="zh-CN" altLang="en-US" sz="1800" i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0" name="TextBox 40"/>
            <p:cNvSpPr txBox="1"/>
            <p:nvPr/>
          </p:nvSpPr>
          <p:spPr>
            <a:xfrm>
              <a:off x="5292053" y="3068210"/>
              <a:ext cx="414312" cy="3666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CN" sz="1800" i="1">
                  <a:ea typeface="宋体" panose="02010600030101010101" pitchFamily="2" charset="-122"/>
                </a:rPr>
                <a:t>π</a:t>
              </a:r>
              <a:endParaRPr lang="zh-CN" altLang="en-US" sz="1800" i="1">
                <a:ea typeface="宋体" panose="02010600030101010101" pitchFamily="2" charset="-122"/>
              </a:endParaRPr>
            </a:p>
          </p:txBody>
        </p:sp>
      </p:grpSp>
      <p:sp>
        <p:nvSpPr>
          <p:cNvPr id="37894" name="TextBox 42"/>
          <p:cNvSpPr txBox="1"/>
          <p:nvPr/>
        </p:nvSpPr>
        <p:spPr>
          <a:xfrm>
            <a:off x="4572000" y="1341438"/>
            <a:ext cx="4500563" cy="199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CN" sz="2600">
                <a:ea typeface="宋体" panose="02010600030101010101" pitchFamily="2" charset="-122"/>
              </a:rPr>
              <a:t>ρ</a:t>
            </a:r>
            <a:r>
              <a:rPr lang="en-US" altLang="zh-CN" sz="2600">
                <a:ea typeface="宋体" panose="02010600030101010101" pitchFamily="2" charset="-122"/>
              </a:rPr>
              <a:t>:S-{</a:t>
            </a:r>
            <a:r>
              <a:rPr lang="en-US" altLang="zh-CN" sz="2600" i="1">
                <a:ea typeface="宋体" panose="02010600030101010101" pitchFamily="2" charset="-122"/>
              </a:rPr>
              <a:t>n</a:t>
            </a:r>
            <a:r>
              <a:rPr lang="en-US" altLang="zh-CN" sz="2600">
                <a:ea typeface="宋体" panose="02010600030101010101" pitchFamily="2" charset="-122"/>
              </a:rPr>
              <a:t>} →</a:t>
            </a:r>
            <a:r>
              <a:rPr lang="en-US" altLang="zh-CN" sz="2600" i="1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endParaRPr lang="en-US" altLang="zh-CN" sz="2600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600">
                <a:ea typeface="宋体" panose="02010600030101010101" pitchFamily="2" charset="-122"/>
                <a:sym typeface="Symbol" panose="05050102010706020507" pitchFamily="18" charset="2"/>
              </a:rPr>
              <a:t>S(</a:t>
            </a:r>
            <a:r>
              <a:rPr lang="en-US" altLang="zh-CN" sz="2600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600">
                <a:ea typeface="宋体" panose="02010600030101010101" pitchFamily="2" charset="-122"/>
                <a:sym typeface="Symbol" panose="05050102010706020507" pitchFamily="18" charset="2"/>
              </a:rPr>
              <a:t> ≠</a:t>
            </a:r>
            <a:r>
              <a:rPr lang="en-US" altLang="zh-CN" sz="2600" i="1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600"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lang="el-GR" altLang="zh-CN" sz="2600">
                <a:ea typeface="宋体" panose="02010600030101010101" pitchFamily="2" charset="-122"/>
              </a:rPr>
              <a:t>ρ</a:t>
            </a:r>
            <a:r>
              <a:rPr lang="en-US" altLang="zh-CN" sz="2600">
                <a:ea typeface="宋体" panose="02010600030101010101" pitchFamily="2" charset="-122"/>
              </a:rPr>
              <a:t>(</a:t>
            </a:r>
            <a:r>
              <a:rPr lang="en-US" altLang="zh-CN" sz="2600" i="1">
                <a:ea typeface="宋体" panose="02010600030101010101" pitchFamily="2" charset="-122"/>
              </a:rPr>
              <a:t>x</a:t>
            </a:r>
            <a:r>
              <a:rPr lang="en-US" altLang="zh-CN" sz="2600">
                <a:ea typeface="宋体" panose="02010600030101010101" pitchFamily="2" charset="-122"/>
              </a:rPr>
              <a:t>)=</a:t>
            </a:r>
            <a:r>
              <a:rPr lang="en-US" altLang="zh-CN" sz="2600" i="1">
                <a:ea typeface="宋体" panose="02010600030101010101" pitchFamily="2" charset="-122"/>
              </a:rPr>
              <a:t>x</a:t>
            </a:r>
            <a:r>
              <a:rPr lang="en-US" altLang="zh-CN" sz="2600"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endParaRPr lang="en-US" altLang="zh-CN" sz="26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ea typeface="宋体" panose="02010600030101010101" pitchFamily="2" charset="-122"/>
              </a:rPr>
              <a:t>称</a:t>
            </a:r>
            <a:r>
              <a:rPr lang="el-GR" altLang="zh-CN" sz="2600">
                <a:ea typeface="宋体" panose="02010600030101010101" pitchFamily="2" charset="-122"/>
              </a:rPr>
              <a:t>ρ</a:t>
            </a:r>
            <a:r>
              <a:rPr lang="zh-CN" altLang="en-US" sz="2600">
                <a:ea typeface="宋体" panose="02010600030101010101" pitchFamily="2" charset="-122"/>
              </a:rPr>
              <a:t>为</a:t>
            </a:r>
            <a:r>
              <a:rPr lang="en-US" altLang="zh-CN" sz="2600">
                <a:ea typeface="宋体" panose="02010600030101010101" pitchFamily="2" charset="-122"/>
              </a:rPr>
              <a:t>S</a:t>
            </a:r>
            <a:r>
              <a:rPr lang="zh-CN" altLang="en-US" sz="2600">
                <a:ea typeface="宋体" panose="02010600030101010101" pitchFamily="2" charset="-122"/>
              </a:rPr>
              <a:t>与</a:t>
            </a:r>
            <a:r>
              <a:rPr lang="en-US" altLang="zh-CN" sz="2600" i="1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zh-CN" altLang="en-US" sz="2600">
                <a:ea typeface="宋体" panose="02010600030101010101" pitchFamily="2" charset="-122"/>
                <a:sym typeface="Symbol" panose="05050102010706020507" pitchFamily="18" charset="2"/>
              </a:rPr>
              <a:t>之间的</a:t>
            </a:r>
            <a:r>
              <a:rPr lang="zh-CN" altLang="en-US" sz="26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球极平面投影</a:t>
            </a:r>
            <a:r>
              <a:rPr lang="en-US" altLang="zh-CN" sz="26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26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推论</a:t>
            </a:r>
            <a:endParaRPr lang="zh-CN" altLang="en-US"/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/>
              <a:t>:G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zh-CN" altLang="en-US"/>
              <a:t>和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’’</a:t>
            </a:r>
            <a:r>
              <a:rPr lang="zh-CN" altLang="en-US"/>
              <a:t>是平面图</a:t>
            </a:r>
            <a:r>
              <a:rPr lang="en-US" altLang="zh-CN"/>
              <a:t>G</a:t>
            </a:r>
            <a:r>
              <a:rPr lang="zh-CN" altLang="en-US"/>
              <a:t>的球面嵌入与平面嵌入</a:t>
            </a:r>
            <a:r>
              <a:rPr lang="en-US" altLang="zh-CN"/>
              <a:t>,</a:t>
            </a:r>
            <a:r>
              <a:rPr lang="zh-CN" altLang="en-US"/>
              <a:t>则</a:t>
            </a:r>
            <a:endParaRPr lang="en-US" altLang="zh-CN"/>
          </a:p>
          <a:p>
            <a:pPr>
              <a:buNone/>
            </a:pPr>
            <a:r>
              <a:rPr lang="en-US" altLang="zh-CN"/>
              <a:t>     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>
                <a:latin typeface="Lucida Sans Unicode" panose="020B0602030504020204" charset="0"/>
              </a:rPr>
              <a:t>≅G</a:t>
            </a:r>
            <a:r>
              <a:rPr lang="en-US" altLang="zh-CN">
                <a:latin typeface="Tahoma" panose="020B0604030504040204" pitchFamily="34" charset="0"/>
              </a:rPr>
              <a:t>’’</a:t>
            </a:r>
            <a:r>
              <a:rPr lang="en-US" altLang="zh-CN">
                <a:latin typeface="Lucida Sans Unicode" panose="020B0602030504020204" charset="0"/>
              </a:rPr>
              <a:t>.</a:t>
            </a:r>
            <a:endParaRPr lang="en-US" altLang="zh-CN">
              <a:latin typeface="Lucida Sans Unicode" panose="020B0602030504020204" charset="0"/>
            </a:endParaRPr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  <a:latin typeface="Lucida Sans Unicode" panose="020B0602030504020204" charset="0"/>
              </a:rPr>
              <a:t>证明</a:t>
            </a:r>
            <a:r>
              <a:rPr lang="zh-CN" altLang="en-US">
                <a:latin typeface="Lucida Sans Unicode" panose="020B0602030504020204" charset="0"/>
              </a:rPr>
              <a:t>  </a:t>
            </a:r>
            <a:r>
              <a:rPr lang="en-US" altLang="zh-CN"/>
              <a:t> 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>
                <a:latin typeface="Lucida Sans Unicode" panose="020B0602030504020204" charset="0"/>
              </a:rPr>
              <a:t>≅</a:t>
            </a:r>
            <a:r>
              <a:rPr lang="en-US" altLang="zh-CN"/>
              <a:t>G</a:t>
            </a:r>
            <a:r>
              <a:rPr lang="zh-CN" altLang="en-US">
                <a:latin typeface="Lucida Sans Unicode" panose="020B0602030504020204" charset="0"/>
              </a:rPr>
              <a:t>，</a:t>
            </a:r>
            <a:r>
              <a:rPr lang="en-US" altLang="zh-CN">
                <a:latin typeface="Lucida Sans Unicode" panose="020B0602030504020204" charset="0"/>
              </a:rPr>
              <a:t> 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’’ </a:t>
            </a:r>
            <a:r>
              <a:rPr lang="en-US" altLang="zh-CN">
                <a:latin typeface="Lucida Sans Unicode" panose="020B0602030504020204" charset="0"/>
              </a:rPr>
              <a:t>≅</a:t>
            </a:r>
            <a:r>
              <a:rPr lang="en-US" altLang="zh-CN"/>
              <a:t>G</a:t>
            </a:r>
            <a:r>
              <a:rPr lang="zh-CN" altLang="en-US">
                <a:latin typeface="Lucida Sans Unicode" panose="020B0602030504020204" charset="0"/>
              </a:rPr>
              <a:t>，故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en-US" altLang="zh-CN">
                <a:latin typeface="Lucida Sans Unicode" panose="020B0602030504020204" charset="0"/>
              </a:rPr>
              <a:t>≅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’’</a:t>
            </a:r>
            <a:r>
              <a:rPr lang="en-US" altLang="zh-CN">
                <a:latin typeface="Lucida Sans Unicode" panose="020B0602030504020204" charset="0"/>
              </a:rPr>
              <a:t>.</a:t>
            </a:r>
            <a:endParaRPr lang="zh-CN" altLang="en-US"/>
          </a:p>
        </p:txBody>
      </p:sp>
      <p:sp>
        <p:nvSpPr>
          <p:cNvPr id="3891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 dirty="0"/>
              <a:t>实际应用</a:t>
            </a:r>
            <a:endParaRPr lang="zh-CN" altLang="en-US" dirty="0"/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zh-CN" dirty="0"/>
              <a:t>这些概念在研究球面上的几何形状、图形布局等问题时具有广泛的应用。例如，在卫星导航、地图绘制等领域中，需要研究如何在球面上进行地图的绘制和点的定位，这时就需要用到球面嵌入等概念。</a:t>
            </a:r>
            <a:endParaRPr lang="zh-CN" altLang="en-US" dirty="0"/>
          </a:p>
        </p:txBody>
      </p:sp>
      <p:sp>
        <p:nvSpPr>
          <p:cNvPr id="3891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 descr="图片包含 礁石, 看着, 蛋糕, 水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724" y="4186147"/>
            <a:ext cx="4649900" cy="1475101"/>
          </a:xfrm>
          <a:prstGeom prst="rect">
            <a:avLst/>
          </a:prstGeom>
        </p:spPr>
      </p:pic>
      <p:pic>
        <p:nvPicPr>
          <p:cNvPr id="5" name="图片 4" descr="桌子上放着蓝色的星球&#10;&#10;中度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758890"/>
            <a:ext cx="2553318" cy="2406414"/>
          </a:xfrm>
          <a:prstGeom prst="rect">
            <a:avLst/>
          </a:prstGeom>
        </p:spPr>
      </p:pic>
      <p:sp>
        <p:nvSpPr>
          <p:cNvPr id="6" name="箭头: 右 5"/>
          <p:cNvSpPr/>
          <p:nvPr/>
        </p:nvSpPr>
        <p:spPr bwMode="auto">
          <a:xfrm>
            <a:off x="3435894" y="4797152"/>
            <a:ext cx="708852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12662" y="4396070"/>
            <a:ext cx="74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</a:t>
            </a:r>
            <a:endParaRPr lang="zh-CN" altLang="en-US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面和次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rgbClr val="FF0000"/>
                </a:solidFill>
              </a:rPr>
              <a:t>面</a:t>
            </a:r>
            <a:r>
              <a:rPr lang="en-US" altLang="zh-CN"/>
              <a:t>:G</a:t>
            </a:r>
            <a:r>
              <a:rPr lang="zh-CN" altLang="en-US"/>
              <a:t>的边将</a:t>
            </a:r>
            <a:r>
              <a:rPr lang="en-US" altLang="zh-CN"/>
              <a:t>G</a:t>
            </a:r>
            <a:r>
              <a:rPr lang="zh-CN" altLang="en-US"/>
              <a:t>所在的平面划分成若干个区域，每个区域称为</a:t>
            </a:r>
            <a:r>
              <a:rPr lang="en-US" altLang="zh-CN"/>
              <a:t>G</a:t>
            </a:r>
            <a:r>
              <a:rPr lang="zh-CN" altLang="en-US"/>
              <a:t>的一个面</a:t>
            </a:r>
            <a:r>
              <a:rPr lang="en-US" altLang="zh-CN"/>
              <a:t>, R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无限面或外部面</a:t>
            </a:r>
            <a:r>
              <a:rPr lang="en-US" altLang="zh-CN"/>
              <a:t>: </a:t>
            </a:r>
            <a:r>
              <a:rPr lang="zh-CN" altLang="en-US"/>
              <a:t>面积无限的面</a:t>
            </a:r>
            <a:r>
              <a:rPr lang="en-US" altLang="zh-CN"/>
              <a:t>, R</a:t>
            </a:r>
            <a:r>
              <a:rPr lang="en-US" altLang="zh-CN" baseline="-25000"/>
              <a:t>0</a:t>
            </a:r>
            <a:endParaRPr lang="zh-CN" altLang="en-US">
              <a:solidFill>
                <a:schemeClr val="hlink"/>
              </a:solidFill>
            </a:endParaRPr>
          </a:p>
          <a:p>
            <a:r>
              <a:rPr lang="zh-CN" altLang="en-US">
                <a:solidFill>
                  <a:schemeClr val="hlink"/>
                </a:solidFill>
                <a:sym typeface="+mn-ea"/>
              </a:rPr>
              <a:t>有限面或内部面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面积有限的面</a:t>
            </a:r>
            <a:r>
              <a:rPr lang="en-US" altLang="zh-CN">
                <a:sym typeface="+mn-ea"/>
              </a:rPr>
              <a:t>, R</a:t>
            </a:r>
            <a:r>
              <a:rPr lang="en-US" altLang="zh-CN" baseline="-25000">
                <a:sym typeface="+mn-ea"/>
              </a:rPr>
              <a:t>1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>
                <a:sym typeface="+mn-ea"/>
              </a:rPr>
              <a:t>R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 baseline="-25000">
                <a:sym typeface="+mn-ea"/>
              </a:rPr>
              <a:t>...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>
                <a:sym typeface="+mn-ea"/>
              </a:rPr>
              <a:t>R</a:t>
            </a:r>
            <a:r>
              <a:rPr lang="en-US" altLang="zh-CN" baseline="-25000">
                <a:sym typeface="+mn-ea"/>
              </a:rPr>
              <a:t>k</a:t>
            </a:r>
            <a:endParaRPr lang="en-US" altLang="zh-CN" baseline="-25000"/>
          </a:p>
          <a:p>
            <a:r>
              <a:rPr lang="zh-CN" altLang="en-US">
                <a:solidFill>
                  <a:schemeClr val="hlink"/>
                </a:solidFill>
              </a:rPr>
              <a:t>面的边界</a:t>
            </a:r>
            <a:r>
              <a:rPr lang="en-US" altLang="zh-CN"/>
              <a:t>(boundary of region): </a:t>
            </a:r>
            <a:r>
              <a:rPr lang="zh-CN" altLang="en-US"/>
              <a:t>包围每个面的所有边组成的回路。</a:t>
            </a:r>
            <a:endParaRPr lang="en-US" altLang="zh-CN"/>
          </a:p>
          <a:p>
            <a:r>
              <a:rPr lang="zh-CN" altLang="en-US"/>
              <a:t>面的</a:t>
            </a:r>
            <a:r>
              <a:rPr lang="zh-CN" altLang="en-US">
                <a:solidFill>
                  <a:schemeClr val="hlink"/>
                </a:solidFill>
              </a:rPr>
              <a:t>次数</a:t>
            </a:r>
            <a:r>
              <a:rPr lang="en-US" altLang="zh-CN"/>
              <a:t>(degree): </a:t>
            </a:r>
            <a:r>
              <a:rPr lang="zh-CN" altLang="en-US">
                <a:sym typeface="+mn-ea"/>
              </a:rPr>
              <a:t>边界的长度，</a:t>
            </a:r>
            <a:r>
              <a:rPr lang="en-US" altLang="zh-CN"/>
              <a:t>deg( R )</a:t>
            </a:r>
            <a:endParaRPr lang="zh-CN" altLang="en-US"/>
          </a:p>
        </p:txBody>
      </p:sp>
      <p:sp>
        <p:nvSpPr>
          <p:cNvPr id="39939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面的次</a:t>
            </a:r>
            <a:r>
              <a:rPr lang="en-US" altLang="zh-CN"/>
              <a:t>(</a:t>
            </a:r>
            <a:r>
              <a:rPr lang="zh-CN" altLang="en-US"/>
              <a:t>举例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419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1511" name="Picture 7" descr="图7-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850" y="1628775"/>
            <a:ext cx="4200525" cy="306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3" name="Text Box 9"/>
          <p:cNvSpPr txBox="1"/>
          <p:nvPr/>
        </p:nvSpPr>
        <p:spPr>
          <a:xfrm>
            <a:off x="5148263" y="1847850"/>
            <a:ext cx="2547937" cy="3168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folHlink"/>
                </a:solidFill>
              </a:rPr>
              <a:t>面：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4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5</a:t>
            </a:r>
            <a:endParaRPr lang="en-US" altLang="zh-CN" baseline="-25000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folHlink"/>
                </a:solidFill>
              </a:rPr>
              <a:t>deg(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en-US" altLang="zh-CN">
                <a:solidFill>
                  <a:schemeClr val="folHlink"/>
                </a:solidFill>
              </a:rPr>
              <a:t>)=3</a:t>
            </a:r>
            <a:endParaRPr lang="en-US" altLang="zh-CN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folHlink"/>
                </a:solidFill>
              </a:rPr>
              <a:t>deg(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)=3</a:t>
            </a:r>
            <a:endParaRPr lang="en-US" altLang="zh-CN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folHlink"/>
                </a:solidFill>
              </a:rPr>
              <a:t>deg(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r>
              <a:rPr lang="en-US" altLang="zh-CN">
                <a:solidFill>
                  <a:schemeClr val="folHlink"/>
                </a:solidFill>
              </a:rPr>
              <a:t>)=5</a:t>
            </a:r>
            <a:endParaRPr lang="en-US" altLang="zh-CN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folHlink"/>
                </a:solidFill>
              </a:rPr>
              <a:t>deg(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4</a:t>
            </a:r>
            <a:r>
              <a:rPr lang="en-US" altLang="zh-CN">
                <a:solidFill>
                  <a:schemeClr val="folHlink"/>
                </a:solidFill>
              </a:rPr>
              <a:t>)=4</a:t>
            </a:r>
            <a:endParaRPr lang="en-US" altLang="zh-CN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folHlink"/>
                </a:solidFill>
              </a:rPr>
              <a:t>deg(</a:t>
            </a:r>
            <a:r>
              <a:rPr lang="en-US" altLang="zh-CN" i="1">
                <a:solidFill>
                  <a:schemeClr val="folHlink"/>
                </a:solidFill>
              </a:rPr>
              <a:t>r</a:t>
            </a:r>
            <a:r>
              <a:rPr lang="en-US" altLang="zh-CN" baseline="-25000">
                <a:solidFill>
                  <a:schemeClr val="folHlink"/>
                </a:solidFill>
              </a:rPr>
              <a:t>5</a:t>
            </a:r>
            <a:r>
              <a:rPr lang="en-US" altLang="zh-CN">
                <a:solidFill>
                  <a:schemeClr val="folHlink"/>
                </a:solidFill>
              </a:rPr>
              <a:t>)=3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21514" name="Text Box 10"/>
          <p:cNvSpPr txBox="1"/>
          <p:nvPr/>
        </p:nvSpPr>
        <p:spPr>
          <a:xfrm>
            <a:off x="250825" y="5089525"/>
            <a:ext cx="5365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黑体" panose="02010609060101010101" pitchFamily="49" charset="-122"/>
              </a:rPr>
              <a:t>注意</a:t>
            </a:r>
            <a:r>
              <a:rPr lang="en-US" altLang="zh-CN">
                <a:solidFill>
                  <a:schemeClr val="hlink"/>
                </a:solidFill>
                <a:latin typeface="黑体" panose="02010609060101010101" pitchFamily="49" charset="-122"/>
              </a:rPr>
              <a:t>:</a:t>
            </a:r>
            <a:r>
              <a:rPr lang="zh-CN" altLang="en-US">
                <a:latin typeface="黑体" panose="02010609060101010101" pitchFamily="49" charset="-122"/>
              </a:rPr>
              <a:t>悬挂边对面的次的贡献是</a:t>
            </a:r>
            <a:r>
              <a:rPr lang="en-US" altLang="zh-CN">
                <a:latin typeface="黑体" panose="02010609060101010101" pitchFamily="49" charset="-122"/>
              </a:rPr>
              <a:t>2.</a:t>
            </a:r>
            <a:endParaRPr lang="en-US" altLang="zh-CN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build="p"/>
      <p:bldP spid="215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11.2:</a:t>
            </a:r>
            <a:r>
              <a:rPr lang="en-US" altLang="zh-CN"/>
              <a:t> </a:t>
            </a:r>
            <a:r>
              <a:rPr lang="el-GR" altLang="zh-CN"/>
              <a:t>Σ</a:t>
            </a:r>
            <a:r>
              <a:rPr lang="en-US" altLang="zh-CN" i="1" baseline="30000"/>
              <a:t>r</a:t>
            </a:r>
            <a:r>
              <a:rPr lang="en-US" altLang="zh-CN" i="1" baseline="-25000"/>
              <a:t>i</a:t>
            </a:r>
            <a:r>
              <a:rPr lang="en-US" altLang="zh-CN" baseline="-25000"/>
              <a:t>=1</a:t>
            </a:r>
            <a:r>
              <a:rPr lang="en-US" altLang="zh-CN"/>
              <a:t>deg(R</a:t>
            </a:r>
            <a:r>
              <a:rPr lang="en-US" altLang="zh-CN" i="1" baseline="-25000"/>
              <a:t>i</a:t>
            </a:r>
            <a:r>
              <a:rPr lang="en-US" altLang="zh-CN"/>
              <a:t>)=2</a:t>
            </a:r>
            <a:r>
              <a:rPr lang="en-US" altLang="zh-CN" i="1"/>
              <a:t>m</a:t>
            </a:r>
            <a:r>
              <a:rPr lang="en-US" altLang="zh-CN"/>
              <a:t>. 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zh-CN" altLang="en-US"/>
              <a:t>  每条边都是两个面的边界</a:t>
            </a:r>
            <a:r>
              <a:rPr lang="en-US" altLang="zh-CN"/>
              <a:t>,</a:t>
            </a:r>
            <a:r>
              <a:rPr lang="zh-CN" altLang="en-US"/>
              <a:t>因此每条边提供次数</a:t>
            </a:r>
            <a:r>
              <a:rPr lang="en-US" altLang="zh-CN"/>
              <a:t>2,</a:t>
            </a:r>
            <a:r>
              <a:rPr lang="zh-CN" altLang="en-US"/>
              <a:t>从而得证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11.3</a:t>
            </a:r>
            <a:r>
              <a:rPr lang="en-US" altLang="zh-CN"/>
              <a:t>: </a:t>
            </a:r>
            <a:r>
              <a:rPr lang="zh-CN" altLang="en-US"/>
              <a:t>任何平面嵌入的内部面都可以在另一种平面嵌入下成为外部面</a:t>
            </a:r>
            <a:r>
              <a:rPr lang="en-US" altLang="zh-CN"/>
              <a:t>.</a:t>
            </a:r>
            <a:endParaRPr lang="zh-CN" altLang="en-US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平面嵌入</a:t>
            </a:r>
            <a:r>
              <a:rPr lang="zh-CN" altLang="en-US">
                <a:sym typeface="Symbol" panose="05050102010706020507" pitchFamily="18" charset="2"/>
              </a:rPr>
              <a:t></a:t>
            </a:r>
            <a:r>
              <a:rPr lang="zh-CN" altLang="en-US"/>
              <a:t> 球面嵌入 </a:t>
            </a:r>
            <a:r>
              <a:rPr lang="zh-CN" altLang="en-US">
                <a:sym typeface="Symbol" panose="05050102010706020507" pitchFamily="18" charset="2"/>
              </a:rPr>
              <a:t></a:t>
            </a:r>
            <a:r>
              <a:rPr lang="zh-CN" altLang="en-US"/>
              <a:t>把该内部面旋转到北极</a:t>
            </a:r>
            <a:r>
              <a:rPr lang="zh-CN" altLang="en-US">
                <a:sym typeface="Symbol" panose="05050102010706020507" pitchFamily="18" charset="2"/>
              </a:rPr>
              <a:t></a:t>
            </a:r>
            <a:r>
              <a:rPr lang="zh-CN" altLang="en-US"/>
              <a:t> 平面嵌入</a:t>
            </a:r>
            <a:r>
              <a:rPr lang="en-US" altLang="zh-CN"/>
              <a:t>. </a:t>
            </a:r>
            <a:endParaRPr lang="zh-CN" altLang="en-US"/>
          </a:p>
        </p:txBody>
      </p:sp>
      <p:sp>
        <p:nvSpPr>
          <p:cNvPr id="4403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极大平面图</a:t>
            </a:r>
            <a:endParaRPr lang="zh-CN" altLang="en-US"/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250825" y="1341755"/>
            <a:ext cx="8867140" cy="525589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极大平面图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简单</a:t>
            </a:r>
            <a:r>
              <a:rPr lang="zh-CN" altLang="en-US"/>
              <a:t>平面图</a:t>
            </a:r>
            <a:r>
              <a:rPr lang="en-US" altLang="zh-CN"/>
              <a:t>, </a:t>
            </a:r>
            <a:r>
              <a:rPr lang="zh-CN" altLang="en-US"/>
              <a:t>但是在任意两个不相邻顶点之间加边就是非平面图</a:t>
            </a:r>
            <a:r>
              <a:rPr lang="en-US" altLang="zh-CN"/>
              <a:t>.</a:t>
            </a:r>
            <a:r>
              <a:rPr lang="zh-CN" altLang="en-US"/>
              <a:t>（</a:t>
            </a:r>
            <a:r>
              <a:rPr lang="en-US" altLang="zh-CN"/>
              <a:t>K</a:t>
            </a:r>
            <a:r>
              <a:rPr lang="en-US" altLang="zh-CN" baseline="-25000"/>
              <a:t>1</a:t>
            </a:r>
            <a:r>
              <a:rPr lang="en-US" altLang="zh-CN"/>
              <a:t>,K</a:t>
            </a:r>
            <a:r>
              <a:rPr lang="en-US" altLang="zh-CN" baseline="-25000"/>
              <a:t>2</a:t>
            </a:r>
            <a:r>
              <a:rPr lang="en-US" altLang="zh-CN"/>
              <a:t>,K</a:t>
            </a:r>
            <a:r>
              <a:rPr lang="en-US" altLang="zh-CN" baseline="-25000"/>
              <a:t>3</a:t>
            </a:r>
            <a:r>
              <a:rPr lang="en-US" altLang="zh-CN"/>
              <a:t>,K</a:t>
            </a:r>
            <a:r>
              <a:rPr lang="en-US" altLang="zh-CN" baseline="-25000"/>
              <a:t>4</a:t>
            </a:r>
            <a:r>
              <a:rPr lang="en-US" altLang="zh-CN"/>
              <a:t>,K</a:t>
            </a:r>
            <a:r>
              <a:rPr lang="en-US" altLang="zh-CN" baseline="-25000"/>
              <a:t>5</a:t>
            </a:r>
            <a:r>
              <a:rPr lang="en-US" altLang="zh-CN"/>
              <a:t>-e)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特点：</a:t>
            </a:r>
            <a:endParaRPr lang="en-US" altLang="zh-CN">
              <a:solidFill>
                <a:schemeClr val="hlink"/>
              </a:solidFill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极大平面图一定连通</a:t>
            </a:r>
            <a:endParaRPr lang="en-US" altLang="zh-CN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极大平面图不含有割点和桥（</a:t>
            </a:r>
            <a:r>
              <a:rPr lang="en-US" altLang="zh-CN"/>
              <a:t>n≥3</a:t>
            </a:r>
            <a:r>
              <a:rPr lang="zh-CN" altLang="en-US"/>
              <a:t>）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11.4:</a:t>
            </a:r>
            <a:r>
              <a:rPr lang="en-US" altLang="zh-CN"/>
              <a:t> </a:t>
            </a:r>
            <a:r>
              <a:rPr lang="en-US" altLang="zh-CN" i="1"/>
              <a:t>n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3)</a:t>
            </a:r>
            <a:r>
              <a:rPr lang="zh-CN" altLang="en-US"/>
              <a:t>阶</a:t>
            </a:r>
            <a:r>
              <a:rPr lang="zh-CN" altLang="en-US">
                <a:sym typeface="+mn-ea"/>
              </a:rPr>
              <a:t>连通</a:t>
            </a:r>
            <a:r>
              <a:rPr lang="zh-CN" altLang="en-US"/>
              <a:t>简单平面图是极大平面图⇔∀</a:t>
            </a:r>
            <a:r>
              <a:rPr lang="en-US" altLang="zh-CN"/>
              <a:t>R,deg( R )=3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思路：</a:t>
            </a:r>
            <a:r>
              <a:rPr lang="en-US" altLang="zh-CN"/>
              <a:t>(</a:t>
            </a:r>
            <a:r>
              <a:rPr lang="zh-CN" altLang="en-US"/>
              <a:t>⇒</a:t>
            </a:r>
            <a:r>
              <a:rPr lang="en-US" altLang="zh-CN"/>
              <a:t>)</a:t>
            </a:r>
            <a:r>
              <a:rPr lang="zh-CN" altLang="en-US"/>
              <a:t>简单图⇒</a:t>
            </a:r>
            <a:r>
              <a:rPr lang="en-US" altLang="zh-CN"/>
              <a:t>deg( R )</a:t>
            </a:r>
            <a:r>
              <a:rPr lang="zh-CN" altLang="en-US"/>
              <a:t>≥</a:t>
            </a:r>
            <a:r>
              <a:rPr lang="en-US" altLang="zh-CN"/>
              <a:t>3,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极大平面图⇒</a:t>
            </a:r>
            <a:r>
              <a:rPr lang="en-US" altLang="zh-CN"/>
              <a:t>deg( R )≤3</a:t>
            </a:r>
            <a:r>
              <a:rPr lang="zh-CN" altLang="en-US"/>
              <a:t>（反证法）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 (⇐)∀R,deg(R )=3⇒</a:t>
            </a:r>
            <a:r>
              <a:rPr lang="zh-CN" altLang="en-US"/>
              <a:t>不能加边而不交叉</a:t>
            </a:r>
            <a:r>
              <a:rPr lang="en-US" altLang="zh-CN"/>
              <a:t>. </a:t>
            </a:r>
            <a:endParaRPr lang="en-US" altLang="zh-CN"/>
          </a:p>
        </p:txBody>
      </p:sp>
      <p:sp>
        <p:nvSpPr>
          <p:cNvPr id="4506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11.4</a:t>
            </a:r>
            <a:r>
              <a:rPr lang="zh-CN" altLang="en-US"/>
              <a:t>证明</a:t>
            </a:r>
            <a:endParaRPr lang="zh-CN" altLang="en-US"/>
          </a:p>
        </p:txBody>
      </p:sp>
      <p:sp>
        <p:nvSpPr>
          <p:cNvPr id="4608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(</a:t>
            </a:r>
            <a:r>
              <a:rPr lang="zh-CN" altLang="en-US"/>
              <a:t>⇒</a:t>
            </a:r>
            <a:r>
              <a:rPr lang="en-US" altLang="zh-CN"/>
              <a:t>)</a:t>
            </a:r>
            <a:r>
              <a:rPr lang="zh-CN" altLang="en-US"/>
              <a:t>由于简单图中无平行边和自环</a:t>
            </a:r>
            <a:r>
              <a:rPr lang="en-US" altLang="zh-CN"/>
              <a:t>,</a:t>
            </a:r>
            <a:r>
              <a:rPr lang="zh-CN" altLang="en-US"/>
              <a:t>故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>
                <a:sym typeface="Symbol" panose="05050102010706020507" pitchFamily="18" charset="2"/>
              </a:rPr>
              <a:t>R,deg(R)3.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下面证</a:t>
            </a:r>
            <a:r>
              <a:rPr lang="en-US" altLang="zh-CN">
                <a:sym typeface="Symbol" panose="05050102010706020507" pitchFamily="18" charset="2"/>
              </a:rPr>
              <a:t>deg(R)3.</a:t>
            </a:r>
            <a:r>
              <a:rPr lang="zh-CN" altLang="en-US">
                <a:sym typeface="Symbol" panose="05050102010706020507" pitchFamily="18" charset="2"/>
              </a:rPr>
              <a:t>否则</a:t>
            </a:r>
            <a:r>
              <a:rPr lang="en-US" altLang="zh-CN">
                <a:sym typeface="Symbol" panose="05050102010706020507" pitchFamily="18" charset="2"/>
              </a:rPr>
              <a:t>,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>
                <a:sym typeface="Symbol" panose="05050102010706020507" pitchFamily="18" charset="2"/>
              </a:rPr>
              <a:t>,deg(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>
                <a:sym typeface="Symbol" panose="05050102010706020507" pitchFamily="18" charset="2"/>
              </a:rPr>
              <a:t>) 4,</a:t>
            </a:r>
            <a:r>
              <a:rPr lang="zh-CN" altLang="en-US">
                <a:sym typeface="Symbol" panose="05050102010706020507" pitchFamily="18" charset="2"/>
              </a:rPr>
              <a:t>不妨设其边界上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的顶点为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…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i="1" baseline="-50000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 4.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与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3</a:t>
            </a:r>
            <a:r>
              <a:rPr lang="zh-CN" altLang="en-US">
                <a:sym typeface="Symbol" panose="05050102010706020507" pitchFamily="18" charset="2"/>
              </a:rPr>
              <a:t>必相邻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否则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增加边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不破坏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的平面性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与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是极大平面图矛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盾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同理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与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4</a:t>
            </a:r>
            <a:r>
              <a:rPr lang="zh-CN" altLang="en-US">
                <a:sym typeface="Symbol" panose="05050102010706020507" pitchFamily="18" charset="2"/>
              </a:rPr>
              <a:t>必相邻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且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均在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r>
              <a:rPr lang="en-US" altLang="zh-CN" baseline="-25000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的外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部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r>
              <a:rPr lang="zh-CN" altLang="en-US">
                <a:sym typeface="Symbol" panose="05050102010706020507" pitchFamily="18" charset="2"/>
              </a:rPr>
              <a:t>故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i="1" baseline="-25000">
                <a:sym typeface="Symbol" panose="05050102010706020507" pitchFamily="18" charset="2"/>
              </a:rPr>
              <a:t>i</a:t>
            </a:r>
            <a:r>
              <a:rPr lang="en-US" altLang="zh-CN" baseline="-50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必相交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这与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是平面图矛盾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zh-CN" altLang="en-US"/>
          </a:p>
        </p:txBody>
      </p:sp>
      <p:sp>
        <p:nvSpPr>
          <p:cNvPr id="4608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085" name="Group 43"/>
          <p:cNvGrpSpPr/>
          <p:nvPr/>
        </p:nvGrpSpPr>
        <p:grpSpPr>
          <a:xfrm>
            <a:off x="5580063" y="4437063"/>
            <a:ext cx="2278062" cy="2114550"/>
            <a:chOff x="4212" y="2886"/>
            <a:chExt cx="1435" cy="1332"/>
          </a:xfrm>
        </p:grpSpPr>
        <p:grpSp>
          <p:nvGrpSpPr>
            <p:cNvPr id="46086" name="Group 41"/>
            <p:cNvGrpSpPr/>
            <p:nvPr/>
          </p:nvGrpSpPr>
          <p:grpSpPr>
            <a:xfrm>
              <a:off x="4212" y="2886"/>
              <a:ext cx="1435" cy="1332"/>
              <a:chOff x="4212" y="2886"/>
              <a:chExt cx="1435" cy="1332"/>
            </a:xfrm>
          </p:grpSpPr>
          <p:grpSp>
            <p:nvGrpSpPr>
              <p:cNvPr id="46088" name="Group 38"/>
              <p:cNvGrpSpPr/>
              <p:nvPr/>
            </p:nvGrpSpPr>
            <p:grpSpPr>
              <a:xfrm>
                <a:off x="4212" y="2886"/>
                <a:ext cx="1435" cy="1332"/>
                <a:chOff x="3334" y="2341"/>
                <a:chExt cx="1435" cy="1332"/>
              </a:xfrm>
            </p:grpSpPr>
            <p:sp>
              <p:nvSpPr>
                <p:cNvPr id="46090" name="Oval 7"/>
                <p:cNvSpPr/>
                <p:nvPr/>
              </p:nvSpPr>
              <p:spPr>
                <a:xfrm>
                  <a:off x="3833" y="2660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1" name="Oval 8"/>
                <p:cNvSpPr/>
                <p:nvPr/>
              </p:nvSpPr>
              <p:spPr>
                <a:xfrm>
                  <a:off x="4287" y="2705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2" name="Oval 9"/>
                <p:cNvSpPr/>
                <p:nvPr/>
              </p:nvSpPr>
              <p:spPr>
                <a:xfrm>
                  <a:off x="4423" y="3068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3" name="Oval 10"/>
                <p:cNvSpPr/>
                <p:nvPr/>
              </p:nvSpPr>
              <p:spPr>
                <a:xfrm>
                  <a:off x="4060" y="3385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4" name="Oval 11"/>
                <p:cNvSpPr/>
                <p:nvPr/>
              </p:nvSpPr>
              <p:spPr>
                <a:xfrm>
                  <a:off x="3606" y="3023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5" name="Line 12"/>
                <p:cNvSpPr/>
                <p:nvPr/>
              </p:nvSpPr>
              <p:spPr>
                <a:xfrm>
                  <a:off x="3923" y="2704"/>
                  <a:ext cx="409" cy="4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6" name="Line 13"/>
                <p:cNvSpPr/>
                <p:nvPr/>
              </p:nvSpPr>
              <p:spPr>
                <a:xfrm>
                  <a:off x="4332" y="2795"/>
                  <a:ext cx="136" cy="31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7" name="Line 14"/>
                <p:cNvSpPr/>
                <p:nvPr/>
              </p:nvSpPr>
              <p:spPr>
                <a:xfrm flipV="1">
                  <a:off x="4105" y="3113"/>
                  <a:ext cx="363" cy="27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8" name="Line 15"/>
                <p:cNvSpPr/>
                <p:nvPr/>
              </p:nvSpPr>
              <p:spPr>
                <a:xfrm>
                  <a:off x="3651" y="3113"/>
                  <a:ext cx="408" cy="31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9" name="Line 16"/>
                <p:cNvSpPr/>
                <p:nvPr/>
              </p:nvSpPr>
              <p:spPr>
                <a:xfrm flipV="1">
                  <a:off x="3651" y="2704"/>
                  <a:ext cx="227" cy="31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0" name="Text Box 17"/>
                <p:cNvSpPr txBox="1"/>
                <p:nvPr/>
              </p:nvSpPr>
              <p:spPr>
                <a:xfrm>
                  <a:off x="3758" y="2341"/>
                  <a:ext cx="30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2400" baseline="-50000"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50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1" name="Text Box 18"/>
                <p:cNvSpPr txBox="1"/>
                <p:nvPr/>
              </p:nvSpPr>
              <p:spPr>
                <a:xfrm>
                  <a:off x="4212" y="2432"/>
                  <a:ext cx="30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2400" baseline="-50000"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50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2" name="Text Box 19"/>
                <p:cNvSpPr txBox="1"/>
                <p:nvPr/>
              </p:nvSpPr>
              <p:spPr>
                <a:xfrm>
                  <a:off x="4468" y="2931"/>
                  <a:ext cx="30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2400" baseline="-50000">
                      <a:ea typeface="宋体" panose="02010600030101010101" pitchFamily="2" charset="-122"/>
                    </a:rPr>
                    <a:t>3</a:t>
                  </a:r>
                  <a:endParaRPr lang="en-US" altLang="zh-CN" sz="2400" baseline="-50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3" name="Text Box 20"/>
                <p:cNvSpPr txBox="1"/>
                <p:nvPr/>
              </p:nvSpPr>
              <p:spPr>
                <a:xfrm>
                  <a:off x="3334" y="2931"/>
                  <a:ext cx="30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2400" i="1" baseline="-50000">
                      <a:ea typeface="宋体" panose="02010600030101010101" pitchFamily="2" charset="-122"/>
                    </a:rPr>
                    <a:t>k</a:t>
                  </a:r>
                  <a:endParaRPr lang="en-US" altLang="zh-CN" sz="2400" i="1" baseline="-500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104" name="Text Box 37"/>
                <p:cNvSpPr txBox="1"/>
                <p:nvPr/>
              </p:nvSpPr>
              <p:spPr>
                <a:xfrm>
                  <a:off x="3969" y="3385"/>
                  <a:ext cx="301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i="1" baseline="-25000">
                      <a:ea typeface="宋体" panose="02010600030101010101" pitchFamily="2" charset="-122"/>
                    </a:rPr>
                    <a:t>i</a:t>
                  </a:r>
                  <a:r>
                    <a:rPr lang="en-US" altLang="zh-CN" sz="2400" baseline="-50000">
                      <a:ea typeface="宋体" panose="02010600030101010101" pitchFamily="2" charset="-122"/>
                    </a:rPr>
                    <a:t>4</a:t>
                  </a:r>
                  <a:endParaRPr lang="en-US" altLang="zh-CN" sz="2400" baseline="-500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6089" name="Freeform 40"/>
              <p:cNvSpPr/>
              <p:nvPr/>
            </p:nvSpPr>
            <p:spPr>
              <a:xfrm>
                <a:off x="4740" y="3068"/>
                <a:ext cx="771" cy="597"/>
              </a:xfrm>
              <a:custGeom>
                <a:avLst/>
                <a:gdLst>
                  <a:gd name="txL" fmla="*/ 0 w 771"/>
                  <a:gd name="txT" fmla="*/ 0 h 597"/>
                  <a:gd name="txR" fmla="*/ 771 w 771"/>
                  <a:gd name="txB" fmla="*/ 597 h 597"/>
                </a:gdLst>
                <a:ahLst/>
                <a:cxnLst>
                  <a:cxn ang="0">
                    <a:pos x="0" y="143"/>
                  </a:cxn>
                  <a:cxn ang="0">
                    <a:pos x="408" y="7"/>
                  </a:cxn>
                  <a:cxn ang="0">
                    <a:pos x="635" y="98"/>
                  </a:cxn>
                  <a:cxn ang="0">
                    <a:pos x="771" y="325"/>
                  </a:cxn>
                  <a:cxn ang="0">
                    <a:pos x="635" y="597"/>
                  </a:cxn>
                </a:cxnLst>
                <a:rect l="txL" t="txT" r="txR" b="txB"/>
                <a:pathLst>
                  <a:path w="771" h="597">
                    <a:moveTo>
                      <a:pt x="0" y="143"/>
                    </a:moveTo>
                    <a:cubicBezTo>
                      <a:pt x="151" y="78"/>
                      <a:pt x="302" y="14"/>
                      <a:pt x="408" y="7"/>
                    </a:cubicBezTo>
                    <a:cubicBezTo>
                      <a:pt x="514" y="0"/>
                      <a:pt x="575" y="45"/>
                      <a:pt x="635" y="98"/>
                    </a:cubicBezTo>
                    <a:cubicBezTo>
                      <a:pt x="695" y="151"/>
                      <a:pt x="771" y="242"/>
                      <a:pt x="771" y="325"/>
                    </a:cubicBezTo>
                    <a:cubicBezTo>
                      <a:pt x="771" y="408"/>
                      <a:pt x="703" y="502"/>
                      <a:pt x="635" y="597"/>
                    </a:cubicBezTo>
                  </a:path>
                </a:pathLst>
              </a:custGeom>
              <a:noFill/>
              <a:ln w="28575" cap="flat" cmpd="sng">
                <a:solidFill>
                  <a:srgbClr val="FF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087" name="Freeform 42"/>
            <p:cNvSpPr/>
            <p:nvPr/>
          </p:nvSpPr>
          <p:spPr>
            <a:xfrm>
              <a:off x="5012" y="3294"/>
              <a:ext cx="567" cy="688"/>
            </a:xfrm>
            <a:custGeom>
              <a:avLst/>
              <a:gdLst>
                <a:gd name="txL" fmla="*/ 0 w 567"/>
                <a:gd name="txT" fmla="*/ 0 h 688"/>
                <a:gd name="txR" fmla="*/ 567 w 567"/>
                <a:gd name="txB" fmla="*/ 688 h 688"/>
              </a:gdLst>
              <a:ahLst/>
              <a:cxnLst>
                <a:cxn ang="0">
                  <a:pos x="227" y="0"/>
                </a:cxn>
                <a:cxn ang="0">
                  <a:pos x="544" y="363"/>
                </a:cxn>
                <a:cxn ang="0">
                  <a:pos x="363" y="635"/>
                </a:cxn>
                <a:cxn ang="0">
                  <a:pos x="0" y="680"/>
                </a:cxn>
              </a:cxnLst>
              <a:rect l="txL" t="txT" r="txR" b="txB"/>
              <a:pathLst>
                <a:path w="567" h="688">
                  <a:moveTo>
                    <a:pt x="227" y="0"/>
                  </a:moveTo>
                  <a:cubicBezTo>
                    <a:pt x="374" y="128"/>
                    <a:pt x="521" y="257"/>
                    <a:pt x="544" y="363"/>
                  </a:cubicBezTo>
                  <a:cubicBezTo>
                    <a:pt x="567" y="469"/>
                    <a:pt x="454" y="582"/>
                    <a:pt x="363" y="635"/>
                  </a:cubicBezTo>
                  <a:cubicBezTo>
                    <a:pt x="272" y="688"/>
                    <a:pt x="136" y="684"/>
                    <a:pt x="0" y="680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11.4</a:t>
            </a:r>
            <a:r>
              <a:rPr lang="zh-CN" altLang="en-US"/>
              <a:t>证明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111750"/>
          </a:xfrm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>
                <a:solidFill>
                  <a:schemeClr val="hlink"/>
                </a:solidFill>
              </a:rPr>
              <a:t>证明</a:t>
            </a:r>
            <a:r>
              <a:rPr lang="en-US" altLang="zh-CN" sz="2600" dirty="0">
                <a:solidFill>
                  <a:schemeClr val="hlink"/>
                </a:solidFill>
              </a:rPr>
              <a:t>(</a:t>
            </a:r>
            <a:r>
              <a:rPr lang="zh-CN" altLang="en-US" sz="2600" dirty="0">
                <a:solidFill>
                  <a:schemeClr val="hlink"/>
                </a:solidFill>
              </a:rPr>
              <a:t>续</a:t>
            </a:r>
            <a:r>
              <a:rPr lang="en-US" altLang="zh-CN" sz="2600" dirty="0">
                <a:solidFill>
                  <a:schemeClr val="hlink"/>
                </a:solidFill>
              </a:rPr>
              <a:t>):</a:t>
            </a:r>
            <a:r>
              <a:rPr lang="en-US" altLang="zh-CN" sz="2600" dirty="0"/>
              <a:t>(</a:t>
            </a:r>
            <a:r>
              <a:rPr lang="zh-CN" altLang="en-US" sz="2600" dirty="0">
                <a:sym typeface="Symbol" panose="05050102010706020507" pitchFamily="18" charset="2"/>
              </a:rPr>
              <a:t></a:t>
            </a:r>
            <a:r>
              <a:rPr lang="en-US" altLang="zh-CN" sz="2600" dirty="0"/>
              <a:t>)</a:t>
            </a:r>
            <a:r>
              <a:rPr lang="zh-CN" altLang="en-US" sz="2600" dirty="0"/>
              <a:t>若</a:t>
            </a:r>
            <a:r>
              <a:rPr lang="en-US" altLang="zh-CN" sz="2600" dirty="0"/>
              <a:t>G</a:t>
            </a:r>
            <a:r>
              <a:rPr lang="zh-CN" altLang="en-US" sz="2600" dirty="0"/>
              <a:t>中无不相邻结点</a:t>
            </a:r>
            <a:r>
              <a:rPr lang="en-US" altLang="zh-CN" sz="2600" dirty="0"/>
              <a:t>,</a:t>
            </a:r>
            <a:r>
              <a:rPr lang="zh-CN" altLang="en-US" sz="2600" dirty="0"/>
              <a:t>结点显然成立</a:t>
            </a:r>
            <a:r>
              <a:rPr lang="en-US" altLang="zh-CN" sz="2600" dirty="0"/>
              <a:t>.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/>
              <a:t>设</a:t>
            </a:r>
            <a:r>
              <a:rPr lang="zh-CN" altLang="en-US" sz="2600" dirty="0">
                <a:sym typeface="Symbol" panose="05050102010706020507" pitchFamily="18" charset="2"/>
              </a:rPr>
              <a:t></a:t>
            </a:r>
            <a:r>
              <a:rPr lang="en-US" altLang="zh-CN" sz="2600" i="1" dirty="0" err="1">
                <a:sym typeface="Symbol" panose="05050102010706020507" pitchFamily="18" charset="2"/>
              </a:rPr>
              <a:t>u</a:t>
            </a:r>
            <a:r>
              <a:rPr lang="en-US" altLang="zh-CN" sz="2600" dirty="0" err="1">
                <a:sym typeface="Symbol" panose="05050102010706020507" pitchFamily="18" charset="2"/>
              </a:rPr>
              <a:t>,</a:t>
            </a:r>
            <a:r>
              <a:rPr lang="en-US" altLang="zh-CN" sz="2600" i="1" dirty="0" err="1">
                <a:sym typeface="Symbol" panose="05050102010706020507" pitchFamily="18" charset="2"/>
              </a:rPr>
              <a:t>v</a:t>
            </a:r>
            <a:r>
              <a:rPr lang="en-US" altLang="zh-CN" sz="2600" dirty="0" err="1">
                <a:sym typeface="Symbol" panose="05050102010706020507" pitchFamily="18" charset="2"/>
              </a:rPr>
              <a:t>V</a:t>
            </a:r>
            <a:r>
              <a:rPr lang="en-US" altLang="zh-CN" sz="2600" dirty="0">
                <a:sym typeface="Symbol" panose="05050102010706020507" pitchFamily="18" charset="2"/>
              </a:rPr>
              <a:t>,(</a:t>
            </a:r>
            <a:r>
              <a:rPr lang="en-US" altLang="zh-CN" sz="2600" i="1" dirty="0" err="1">
                <a:sym typeface="Symbol" panose="05050102010706020507" pitchFamily="18" charset="2"/>
              </a:rPr>
              <a:t>u</a:t>
            </a:r>
            <a:r>
              <a:rPr lang="en-US" altLang="zh-CN" sz="2600" dirty="0" err="1">
                <a:sym typeface="Symbol" panose="05050102010706020507" pitchFamily="18" charset="2"/>
              </a:rPr>
              <a:t>,</a:t>
            </a:r>
            <a:r>
              <a:rPr lang="en-US" altLang="zh-CN" sz="2600" i="1" dirty="0" err="1">
                <a:sym typeface="Symbol" panose="05050102010706020507" pitchFamily="18" charset="2"/>
              </a:rPr>
              <a:t>v</a:t>
            </a:r>
            <a:r>
              <a:rPr lang="en-US" altLang="zh-CN" sz="2600" dirty="0">
                <a:sym typeface="Symbol" panose="05050102010706020507" pitchFamily="18" charset="2"/>
              </a:rPr>
              <a:t>)E,</a:t>
            </a:r>
            <a:r>
              <a:rPr lang="zh-CN" altLang="en-US" sz="2600" dirty="0">
                <a:sym typeface="Symbol" panose="05050102010706020507" pitchFamily="18" charset="2"/>
              </a:rPr>
              <a:t>由于外部面的</a:t>
            </a:r>
            <a:r>
              <a:rPr lang="en-US" altLang="zh-CN" sz="2600" dirty="0">
                <a:sym typeface="Symbol" panose="05050102010706020507" pitchFamily="18" charset="2"/>
              </a:rPr>
              <a:t>R</a:t>
            </a:r>
            <a:r>
              <a:rPr lang="en-US" altLang="zh-CN" sz="2600" baseline="-25000" dirty="0">
                <a:sym typeface="Symbol" panose="05050102010706020507" pitchFamily="18" charset="2"/>
              </a:rPr>
              <a:t>0</a:t>
            </a:r>
            <a:r>
              <a:rPr lang="zh-CN" altLang="en-US" sz="2600" dirty="0">
                <a:sym typeface="Symbol" panose="05050102010706020507" pitchFamily="18" charset="2"/>
              </a:rPr>
              <a:t>的边界为</a:t>
            </a:r>
            <a:r>
              <a:rPr lang="en-US" altLang="zh-CN" sz="2600" dirty="0">
                <a:sym typeface="Symbol" panose="05050102010706020507" pitchFamily="18" charset="2"/>
              </a:rPr>
              <a:t>K</a:t>
            </a:r>
            <a:r>
              <a:rPr lang="en-US" altLang="zh-CN" sz="2600" baseline="-25000" dirty="0">
                <a:sym typeface="Symbol" panose="05050102010706020507" pitchFamily="18" charset="2"/>
              </a:rPr>
              <a:t>3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则</a:t>
            </a:r>
            <a:r>
              <a:rPr lang="en-US" altLang="zh-CN" sz="2600" i="1" dirty="0" err="1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en-US" altLang="zh-CN" sz="2600" dirty="0" err="1">
                <a:solidFill>
                  <a:srgbClr val="FF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600" i="1" dirty="0" err="1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不能</a:t>
            </a:r>
            <a:endParaRPr lang="en-US" altLang="zh-CN" sz="2600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同时在</a:t>
            </a:r>
            <a:r>
              <a:rPr lang="en-US" altLang="zh-CN" sz="2600" dirty="0">
                <a:solidFill>
                  <a:srgbClr val="FF00FF"/>
                </a:solidFill>
                <a:sym typeface="Symbol" panose="05050102010706020507" pitchFamily="18" charset="2"/>
              </a:rPr>
              <a:t>R</a:t>
            </a:r>
            <a:r>
              <a:rPr lang="en-US" altLang="zh-CN" sz="2600" baseline="-25000" dirty="0">
                <a:solidFill>
                  <a:srgbClr val="FF00FF"/>
                </a:solidFill>
                <a:sym typeface="Symbol" panose="05050102010706020507" pitchFamily="18" charset="2"/>
              </a:rPr>
              <a:t>0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的边界上</a:t>
            </a:r>
            <a:r>
              <a:rPr lang="en-US" altLang="zh-CN" sz="2600" dirty="0">
                <a:solidFill>
                  <a:srgbClr val="FF00FF"/>
                </a:solidFill>
                <a:sym typeface="Symbol" panose="05050102010706020507" pitchFamily="18" charset="2"/>
              </a:rPr>
              <a:t>. </a:t>
            </a:r>
            <a:r>
              <a:rPr lang="zh-CN" altLang="en-US" sz="2600" dirty="0">
                <a:sym typeface="Symbol" panose="05050102010706020507" pitchFamily="18" charset="2"/>
              </a:rPr>
              <a:t>所以至少有一个结点不在</a:t>
            </a:r>
            <a:r>
              <a:rPr lang="en-US" altLang="zh-CN" sz="2600" dirty="0">
                <a:sym typeface="Symbol" panose="05050102010706020507" pitchFamily="18" charset="2"/>
              </a:rPr>
              <a:t>R</a:t>
            </a:r>
            <a:r>
              <a:rPr lang="en-US" altLang="zh-CN" sz="2600" baseline="-25000" dirty="0">
                <a:sym typeface="Symbol" panose="05050102010706020507" pitchFamily="18" charset="2"/>
              </a:rPr>
              <a:t>0</a:t>
            </a:r>
            <a:r>
              <a:rPr lang="zh-CN" altLang="en-US" sz="2600" dirty="0">
                <a:sym typeface="Symbol" panose="05050102010706020507" pitchFamily="18" charset="2"/>
              </a:rPr>
              <a:t>的边界上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endParaRPr lang="en-US" altLang="zh-CN" sz="2600" dirty="0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>
                <a:sym typeface="Symbol" panose="05050102010706020507" pitchFamily="18" charset="2"/>
              </a:rPr>
              <a:t>设为</a:t>
            </a:r>
            <a:r>
              <a:rPr lang="en-US" altLang="zh-CN" sz="2600" i="1" dirty="0">
                <a:sym typeface="Symbol" panose="05050102010706020507" pitchFamily="18" charset="2"/>
              </a:rPr>
              <a:t>u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则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与</a:t>
            </a:r>
            <a:r>
              <a:rPr lang="en-US" altLang="zh-CN" sz="2600" i="1" dirty="0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关联的各边也不在</a:t>
            </a:r>
            <a:r>
              <a:rPr lang="en-US" altLang="zh-CN" sz="2600" dirty="0">
                <a:solidFill>
                  <a:srgbClr val="FF00FF"/>
                </a:solidFill>
                <a:sym typeface="Symbol" panose="05050102010706020507" pitchFamily="18" charset="2"/>
              </a:rPr>
              <a:t>R</a:t>
            </a:r>
            <a:r>
              <a:rPr lang="en-US" altLang="zh-CN" sz="2600" baseline="-25000" dirty="0">
                <a:solidFill>
                  <a:srgbClr val="FF00FF"/>
                </a:solidFill>
                <a:sym typeface="Symbol" panose="05050102010706020507" pitchFamily="18" charset="2"/>
              </a:rPr>
              <a:t>0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的边界上</a:t>
            </a:r>
            <a:r>
              <a:rPr lang="en-US" altLang="zh-CN" sz="2600" dirty="0">
                <a:sym typeface="Symbol" panose="05050102010706020507" pitchFamily="18" charset="2"/>
              </a:rPr>
              <a:t>.</a:t>
            </a:r>
            <a:r>
              <a:rPr lang="zh-CN" altLang="en-US" sz="2600" dirty="0">
                <a:sym typeface="Symbol" panose="05050102010706020507" pitchFamily="18" charset="2"/>
              </a:rPr>
              <a:t>那么</a:t>
            </a:r>
            <a:r>
              <a:rPr lang="en-US" altLang="zh-CN" sz="2600" dirty="0">
                <a:sym typeface="Symbol" panose="05050102010706020507" pitchFamily="18" charset="2"/>
              </a:rPr>
              <a:t>G</a:t>
            </a:r>
            <a:r>
              <a:rPr lang="en-US" altLang="zh-CN" sz="2600" dirty="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sz="2600" dirty="0">
                <a:sym typeface="Symbol" panose="05050102010706020507" pitchFamily="18" charset="2"/>
              </a:rPr>
              <a:t>=G-</a:t>
            </a:r>
            <a:r>
              <a:rPr lang="en-US" altLang="zh-CN" sz="2600" i="1" dirty="0">
                <a:sym typeface="Symbol" panose="05050102010706020507" pitchFamily="18" charset="2"/>
              </a:rPr>
              <a:t>u</a:t>
            </a:r>
            <a:r>
              <a:rPr lang="zh-CN" altLang="en-US" sz="2600" dirty="0">
                <a:sym typeface="Symbol" panose="05050102010706020507" pitchFamily="18" charset="2"/>
              </a:rPr>
              <a:t>中</a:t>
            </a:r>
            <a:endParaRPr lang="en-US" altLang="zh-CN" sz="2600" dirty="0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>
                <a:sym typeface="Symbol" panose="05050102010706020507" pitchFamily="18" charset="2"/>
              </a:rPr>
              <a:t>必存在圈</a:t>
            </a:r>
            <a:r>
              <a:rPr lang="en-US" altLang="zh-CN" sz="2600" dirty="0">
                <a:sym typeface="Symbol" panose="05050102010706020507" pitchFamily="18" charset="2"/>
              </a:rPr>
              <a:t>C,</a:t>
            </a:r>
            <a:r>
              <a:rPr lang="zh-CN" altLang="en-US" sz="2600" dirty="0">
                <a:sym typeface="Symbol" panose="05050102010706020507" pitchFamily="18" charset="2"/>
              </a:rPr>
              <a:t>使得原来的</a:t>
            </a:r>
            <a:r>
              <a:rPr lang="en-US" altLang="zh-CN" sz="2600" i="1" dirty="0">
                <a:sym typeface="Symbol" panose="05050102010706020507" pitchFamily="18" charset="2"/>
              </a:rPr>
              <a:t>u</a:t>
            </a:r>
            <a:r>
              <a:rPr lang="zh-CN" altLang="en-US" sz="2600" dirty="0">
                <a:sym typeface="Symbol" panose="05050102010706020507" pitchFamily="18" charset="2"/>
              </a:rPr>
              <a:t>在</a:t>
            </a:r>
            <a:r>
              <a:rPr lang="en-US" altLang="zh-CN" sz="2600" dirty="0">
                <a:sym typeface="Symbol" panose="05050102010706020507" pitchFamily="18" charset="2"/>
              </a:rPr>
              <a:t>C</a:t>
            </a:r>
            <a:r>
              <a:rPr lang="zh-CN" altLang="en-US" sz="2600" dirty="0">
                <a:sym typeface="Symbol" panose="05050102010706020507" pitchFamily="18" charset="2"/>
              </a:rPr>
              <a:t>的内部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且</a:t>
            </a:r>
            <a:r>
              <a:rPr lang="en-US" altLang="zh-CN" sz="2600" dirty="0">
                <a:solidFill>
                  <a:srgbClr val="FF00FF"/>
                </a:solidFill>
                <a:sym typeface="Symbol" panose="05050102010706020507" pitchFamily="18" charset="2"/>
              </a:rPr>
              <a:t>C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是由</a:t>
            </a:r>
            <a:r>
              <a:rPr lang="en-US" altLang="zh-CN" sz="2600" i="1" dirty="0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的所有邻接</a:t>
            </a:r>
            <a:endParaRPr lang="en-US" altLang="zh-CN" sz="2600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点构成的</a:t>
            </a:r>
            <a:r>
              <a:rPr lang="en-US" altLang="zh-CN" sz="2600" dirty="0">
                <a:sym typeface="Symbol" panose="05050102010706020507" pitchFamily="18" charset="2"/>
              </a:rPr>
              <a:t>.</a:t>
            </a:r>
            <a:r>
              <a:rPr lang="zh-CN" altLang="en-US" sz="2600" dirty="0">
                <a:sym typeface="Symbol" panose="05050102010706020507" pitchFamily="18" charset="2"/>
              </a:rPr>
              <a:t>由于</a:t>
            </a:r>
            <a:r>
              <a:rPr lang="en-US" altLang="zh-CN" sz="2600" i="1" dirty="0">
                <a:sym typeface="Symbol" panose="05050102010706020507" pitchFamily="18" charset="2"/>
              </a:rPr>
              <a:t>v</a:t>
            </a:r>
            <a:r>
              <a:rPr lang="zh-CN" altLang="en-US" sz="2600" dirty="0">
                <a:sym typeface="Symbol" panose="05050102010706020507" pitchFamily="18" charset="2"/>
              </a:rPr>
              <a:t>与</a:t>
            </a:r>
            <a:r>
              <a:rPr lang="en-US" altLang="zh-CN" sz="2600" i="1" dirty="0">
                <a:sym typeface="Symbol" panose="05050102010706020507" pitchFamily="18" charset="2"/>
              </a:rPr>
              <a:t>u</a:t>
            </a:r>
            <a:r>
              <a:rPr lang="zh-CN" altLang="en-US" sz="2600" dirty="0">
                <a:sym typeface="Symbol" panose="05050102010706020507" pitchFamily="18" charset="2"/>
              </a:rPr>
              <a:t>不相邻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故</a:t>
            </a:r>
            <a:r>
              <a:rPr lang="en-US" altLang="zh-CN" sz="2600" i="1" dirty="0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不在</a:t>
            </a:r>
            <a:r>
              <a:rPr lang="en-US" altLang="zh-CN" sz="2600" dirty="0">
                <a:solidFill>
                  <a:srgbClr val="FF00FF"/>
                </a:solidFill>
                <a:sym typeface="Symbol" panose="05050102010706020507" pitchFamily="18" charset="2"/>
              </a:rPr>
              <a:t>C</a:t>
            </a:r>
            <a:r>
              <a:rPr lang="zh-CN" altLang="en-US" sz="2600" dirty="0">
                <a:solidFill>
                  <a:srgbClr val="FF00FF"/>
                </a:solidFill>
                <a:sym typeface="Symbol" panose="05050102010706020507" pitchFamily="18" charset="2"/>
              </a:rPr>
              <a:t>上</a:t>
            </a:r>
            <a:r>
              <a:rPr lang="en-US" altLang="zh-CN" sz="2600" dirty="0">
                <a:sym typeface="Symbol" panose="05050102010706020507" pitchFamily="18" charset="2"/>
              </a:rPr>
              <a:t>.</a:t>
            </a:r>
            <a:r>
              <a:rPr lang="zh-CN" altLang="en-US" sz="2600" dirty="0">
                <a:sym typeface="Symbol" panose="05050102010706020507" pitchFamily="18" charset="2"/>
              </a:rPr>
              <a:t>由约当定理可知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若加边</a:t>
            </a:r>
            <a:r>
              <a:rPr lang="en-US" altLang="zh-CN" sz="2600" dirty="0">
                <a:sym typeface="Symbol" panose="05050102010706020507" pitchFamily="18" charset="2"/>
              </a:rPr>
              <a:t>(</a:t>
            </a:r>
            <a:r>
              <a:rPr lang="en-US" altLang="zh-CN" sz="2600" i="1" dirty="0" err="1">
                <a:sym typeface="Symbol" panose="05050102010706020507" pitchFamily="18" charset="2"/>
              </a:rPr>
              <a:t>u</a:t>
            </a:r>
            <a:r>
              <a:rPr lang="en-US" altLang="zh-CN" sz="2600" dirty="0" err="1">
                <a:sym typeface="Symbol" panose="05050102010706020507" pitchFamily="18" charset="2"/>
              </a:rPr>
              <a:t>,</a:t>
            </a:r>
            <a:r>
              <a:rPr lang="en-US" altLang="zh-CN" sz="2600" i="1" dirty="0" err="1">
                <a:sym typeface="Symbol" panose="05050102010706020507" pitchFamily="18" charset="2"/>
              </a:rPr>
              <a:t>v</a:t>
            </a:r>
            <a:r>
              <a:rPr lang="en-US" altLang="zh-CN" sz="2600" dirty="0">
                <a:sym typeface="Symbol" panose="05050102010706020507" pitchFamily="18" charset="2"/>
              </a:rPr>
              <a:t>),</a:t>
            </a:r>
            <a:r>
              <a:rPr lang="zh-CN" altLang="en-US" sz="2600" dirty="0">
                <a:sym typeface="Symbol" panose="05050102010706020507" pitchFamily="18" charset="2"/>
              </a:rPr>
              <a:t>则它必与</a:t>
            </a:r>
            <a:r>
              <a:rPr lang="en-US" altLang="zh-CN" sz="2600" dirty="0">
                <a:sym typeface="Symbol" panose="05050102010706020507" pitchFamily="18" charset="2"/>
              </a:rPr>
              <a:t>C</a:t>
            </a:r>
            <a:r>
              <a:rPr lang="zh-CN" altLang="en-US" sz="2600" dirty="0">
                <a:sym typeface="Symbol" panose="05050102010706020507" pitchFamily="18" charset="2"/>
              </a:rPr>
              <a:t>相交</a:t>
            </a:r>
            <a:r>
              <a:rPr lang="en-US" altLang="zh-CN" sz="2600" dirty="0">
                <a:sym typeface="Symbol" panose="05050102010706020507" pitchFamily="18" charset="2"/>
              </a:rPr>
              <a:t>,</a:t>
            </a:r>
            <a:r>
              <a:rPr lang="zh-CN" altLang="en-US" sz="2600" dirty="0">
                <a:sym typeface="Symbol" panose="05050102010706020507" pitchFamily="18" charset="2"/>
              </a:rPr>
              <a:t>所以</a:t>
            </a:r>
            <a:r>
              <a:rPr lang="en-US" altLang="zh-CN" sz="2600" dirty="0">
                <a:sym typeface="Symbol" panose="05050102010706020507" pitchFamily="18" charset="2"/>
              </a:rPr>
              <a:t>G</a:t>
            </a:r>
            <a:r>
              <a:rPr lang="zh-CN" altLang="en-US" sz="2600" dirty="0">
                <a:sym typeface="Symbol" panose="05050102010706020507" pitchFamily="18" charset="2"/>
              </a:rPr>
              <a:t>是极大平面图</a:t>
            </a:r>
            <a:r>
              <a:rPr lang="en-US" altLang="zh-CN" sz="2600" dirty="0">
                <a:sym typeface="Symbol" panose="05050102010706020507" pitchFamily="18" charset="2"/>
              </a:rPr>
              <a:t>.</a:t>
            </a:r>
            <a:endParaRPr lang="zh-CN" altLang="en-US" sz="2600" dirty="0"/>
          </a:p>
        </p:txBody>
      </p:sp>
      <p:grpSp>
        <p:nvGrpSpPr>
          <p:cNvPr id="48131" name="Group 28"/>
          <p:cNvGrpSpPr/>
          <p:nvPr/>
        </p:nvGrpSpPr>
        <p:grpSpPr>
          <a:xfrm>
            <a:off x="3460750" y="5013325"/>
            <a:ext cx="2767013" cy="1511300"/>
            <a:chOff x="1565" y="3158"/>
            <a:chExt cx="1743" cy="952"/>
          </a:xfrm>
        </p:grpSpPr>
        <p:grpSp>
          <p:nvGrpSpPr>
            <p:cNvPr id="48132" name="Group 26"/>
            <p:cNvGrpSpPr/>
            <p:nvPr/>
          </p:nvGrpSpPr>
          <p:grpSpPr>
            <a:xfrm>
              <a:off x="1565" y="3158"/>
              <a:ext cx="1743" cy="952"/>
              <a:chOff x="1565" y="3158"/>
              <a:chExt cx="1743" cy="952"/>
            </a:xfrm>
          </p:grpSpPr>
          <p:grpSp>
            <p:nvGrpSpPr>
              <p:cNvPr id="48134" name="Group 23"/>
              <p:cNvGrpSpPr/>
              <p:nvPr/>
            </p:nvGrpSpPr>
            <p:grpSpPr>
              <a:xfrm>
                <a:off x="1565" y="3158"/>
                <a:ext cx="1224" cy="952"/>
                <a:chOff x="1565" y="3158"/>
                <a:chExt cx="1224" cy="952"/>
              </a:xfrm>
            </p:grpSpPr>
            <p:sp>
              <p:nvSpPr>
                <p:cNvPr id="48137" name="Oval 5"/>
                <p:cNvSpPr/>
                <p:nvPr/>
              </p:nvSpPr>
              <p:spPr>
                <a:xfrm>
                  <a:off x="2155" y="3567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38" name="Oval 6"/>
                <p:cNvSpPr/>
                <p:nvPr/>
              </p:nvSpPr>
              <p:spPr>
                <a:xfrm>
                  <a:off x="2517" y="3203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39" name="Oval 7"/>
                <p:cNvSpPr/>
                <p:nvPr/>
              </p:nvSpPr>
              <p:spPr>
                <a:xfrm>
                  <a:off x="2699" y="3793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0" name="Oval 8"/>
                <p:cNvSpPr/>
                <p:nvPr/>
              </p:nvSpPr>
              <p:spPr>
                <a:xfrm>
                  <a:off x="2064" y="4020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1" name="Oval 9"/>
                <p:cNvSpPr/>
                <p:nvPr/>
              </p:nvSpPr>
              <p:spPr>
                <a:xfrm>
                  <a:off x="1565" y="3657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2" name="Oval 10"/>
                <p:cNvSpPr/>
                <p:nvPr/>
              </p:nvSpPr>
              <p:spPr>
                <a:xfrm>
                  <a:off x="1701" y="3158"/>
                  <a:ext cx="90" cy="9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43" name="Line 11"/>
                <p:cNvSpPr/>
                <p:nvPr/>
              </p:nvSpPr>
              <p:spPr>
                <a:xfrm>
                  <a:off x="1746" y="3203"/>
                  <a:ext cx="816" cy="4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4" name="Line 12"/>
                <p:cNvSpPr/>
                <p:nvPr/>
              </p:nvSpPr>
              <p:spPr>
                <a:xfrm>
                  <a:off x="2562" y="3249"/>
                  <a:ext cx="182" cy="58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5" name="Line 13"/>
                <p:cNvSpPr/>
                <p:nvPr/>
              </p:nvSpPr>
              <p:spPr>
                <a:xfrm flipV="1">
                  <a:off x="2154" y="3838"/>
                  <a:ext cx="590" cy="22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6" name="Line 14"/>
                <p:cNvSpPr/>
                <p:nvPr/>
              </p:nvSpPr>
              <p:spPr>
                <a:xfrm>
                  <a:off x="1655" y="3748"/>
                  <a:ext cx="409" cy="27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7" name="Line 15"/>
                <p:cNvSpPr/>
                <p:nvPr/>
              </p:nvSpPr>
              <p:spPr>
                <a:xfrm flipH="1">
                  <a:off x="1610" y="3249"/>
                  <a:ext cx="136" cy="45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8" name="Line 16"/>
                <p:cNvSpPr/>
                <p:nvPr/>
              </p:nvSpPr>
              <p:spPr>
                <a:xfrm>
                  <a:off x="1746" y="3203"/>
                  <a:ext cx="454" cy="40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9" name="Line 17"/>
                <p:cNvSpPr/>
                <p:nvPr/>
              </p:nvSpPr>
              <p:spPr>
                <a:xfrm flipV="1">
                  <a:off x="2109" y="3612"/>
                  <a:ext cx="91" cy="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0" name="Line 18"/>
                <p:cNvSpPr/>
                <p:nvPr/>
              </p:nvSpPr>
              <p:spPr>
                <a:xfrm flipV="1">
                  <a:off x="1610" y="3612"/>
                  <a:ext cx="590" cy="9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1" name="Line 19"/>
                <p:cNvSpPr/>
                <p:nvPr/>
              </p:nvSpPr>
              <p:spPr>
                <a:xfrm flipH="1">
                  <a:off x="2245" y="3294"/>
                  <a:ext cx="317" cy="27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2" name="Line 20"/>
                <p:cNvSpPr/>
                <p:nvPr/>
              </p:nvSpPr>
              <p:spPr>
                <a:xfrm>
                  <a:off x="2245" y="3657"/>
                  <a:ext cx="499" cy="18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3" name="Text Box 21"/>
                <p:cNvSpPr txBox="1"/>
                <p:nvPr/>
              </p:nvSpPr>
              <p:spPr>
                <a:xfrm>
                  <a:off x="2109" y="3307"/>
                  <a:ext cx="223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u</a:t>
                  </a:r>
                  <a:endParaRPr lang="en-US" altLang="zh-CN" sz="2400" i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154" name="Text Box 22"/>
                <p:cNvSpPr txBox="1"/>
                <p:nvPr/>
              </p:nvSpPr>
              <p:spPr>
                <a:xfrm>
                  <a:off x="1565" y="3793"/>
                  <a:ext cx="24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1pPr>
                  <a:lvl2pPr marL="742950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2pPr>
                  <a:lvl3pPr marL="11430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3pPr>
                  <a:lvl4pPr marL="16002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4pPr>
                  <a:lvl5pPr marL="2057400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+mn-ea"/>
                      <a:cs typeface="黑体" panose="02010609060101010101" pitchFamily="49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>
                      <a:ea typeface="宋体" panose="02010600030101010101" pitchFamily="2" charset="-122"/>
                    </a:rPr>
                    <a:t>C</a:t>
                  </a:r>
                  <a:endParaRPr lang="en-US" altLang="zh-CN" sz="2400" i="1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8135" name="Oval 24"/>
              <p:cNvSpPr/>
              <p:nvPr/>
            </p:nvSpPr>
            <p:spPr>
              <a:xfrm>
                <a:off x="3016" y="3612"/>
                <a:ext cx="91" cy="91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36" name="Rectangle 25"/>
              <p:cNvSpPr/>
              <p:nvPr/>
            </p:nvSpPr>
            <p:spPr>
              <a:xfrm>
                <a:off x="3107" y="3570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1pPr>
                <a:lvl2pPr marL="742950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2pPr>
                <a:lvl3pPr marL="11430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3pPr>
                <a:lvl4pPr marL="16002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4pPr>
                <a:lvl5pPr marL="2057400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+mn-ea"/>
                    <a:cs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ea typeface="宋体" panose="02010600030101010101" pitchFamily="2" charset="-122"/>
                  </a:rPr>
                  <a:t>v</a:t>
                </a:r>
                <a:endParaRPr lang="zh-CN" altLang="en-US" sz="2400" i="1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133" name="Line 27"/>
            <p:cNvSpPr/>
            <p:nvPr/>
          </p:nvSpPr>
          <p:spPr>
            <a:xfrm>
              <a:off x="2245" y="3612"/>
              <a:ext cx="816" cy="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en-US"/>
              <a:t>定理</a:t>
            </a:r>
            <a:r>
              <a:rPr lang="en-US" altLang="zh-CN"/>
              <a:t>11.5</a:t>
            </a:r>
            <a:endParaRPr lang="zh-CN" altLang="en-US"/>
          </a:p>
        </p:txBody>
      </p:sp>
      <p:sp>
        <p:nvSpPr>
          <p:cNvPr id="4915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11.5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≥4)</a:t>
            </a:r>
            <a:r>
              <a:rPr lang="zh-CN" altLang="en-US" dirty="0"/>
              <a:t>阶极大平面图</a:t>
            </a:r>
            <a:r>
              <a:rPr lang="en-US" altLang="zh-CN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>
                <a:sym typeface="Symbol" panose="05050102010706020507" pitchFamily="18" charset="2"/>
              </a:rPr>
              <a:t>(G) ≥3.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证</a:t>
            </a:r>
            <a:r>
              <a:rPr lang="zh-CN" altLang="en-US" dirty="0">
                <a:sym typeface="Symbol" panose="05050102010706020507" pitchFamily="18" charset="2"/>
              </a:rPr>
              <a:t>  由定理知</a:t>
            </a:r>
            <a:r>
              <a:rPr lang="en-US" altLang="zh-CN" dirty="0">
                <a:sym typeface="Symbol" panose="05050102010706020507" pitchFamily="18" charset="2"/>
              </a:rPr>
              <a:t>g(G)=3.</a:t>
            </a:r>
            <a:r>
              <a:rPr lang="zh-CN" altLang="en-US" dirty="0">
                <a:sym typeface="Symbol" panose="05050102010706020507" pitchFamily="18" charset="2"/>
              </a:rPr>
              <a:t>由于</a:t>
            </a:r>
            <a:r>
              <a:rPr lang="en-US" altLang="zh-CN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是极大平面图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故任意顶点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endParaRPr lang="en-US" altLang="zh-CN" i="1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的邻接顶点必在某个圈</a:t>
            </a:r>
            <a:r>
              <a:rPr lang="en-US" altLang="zh-CN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上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且Ｃ的长度等于</a:t>
            </a:r>
            <a:r>
              <a:rPr lang="en-US" altLang="zh-CN" dirty="0">
                <a:sym typeface="Symbol" panose="05050102010706020507" pitchFamily="18" charset="2"/>
              </a:rPr>
              <a:t>d(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).(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极大</a:t>
            </a:r>
            <a:endParaRPr lang="en-US" altLang="zh-CN" sz="2400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平面图的任意面的次等于</a:t>
            </a:r>
            <a:r>
              <a:rPr lang="en-US" altLang="zh-CN" sz="2400" dirty="0">
                <a:solidFill>
                  <a:srgbClr val="FF00FF"/>
                </a:solidFill>
                <a:sym typeface="Symbol" panose="05050102010706020507" pitchFamily="18" charset="2"/>
              </a:rPr>
              <a:t>3,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故顶点</a:t>
            </a:r>
            <a:r>
              <a:rPr lang="en-US" altLang="zh-CN" sz="2400" i="1" dirty="0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及其邻接点形成了一个</a:t>
            </a:r>
            <a:endParaRPr lang="en-US" altLang="zh-CN" sz="2400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FF"/>
                </a:solidFill>
                <a:sym typeface="Symbol" panose="05050102010706020507" pitchFamily="18" charset="2"/>
              </a:rPr>
              <a:t>d(</a:t>
            </a:r>
            <a:r>
              <a:rPr lang="en-US" altLang="zh-CN" sz="2400" i="1" dirty="0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en-US" altLang="zh-CN" sz="2400" dirty="0">
                <a:solidFill>
                  <a:srgbClr val="FF00FF"/>
                </a:solidFill>
                <a:sym typeface="Symbol" panose="05050102010706020507" pitchFamily="18" charset="2"/>
              </a:rPr>
              <a:t>)+1</a:t>
            </a:r>
            <a:r>
              <a:rPr lang="zh-CN" altLang="en-US" sz="2400" dirty="0">
                <a:solidFill>
                  <a:srgbClr val="FF00FF"/>
                </a:solidFill>
                <a:sym typeface="Symbol" panose="05050102010706020507" pitchFamily="18" charset="2"/>
              </a:rPr>
              <a:t>阶轮图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。由于</a:t>
            </a:r>
            <a:r>
              <a:rPr lang="en-US" altLang="zh-CN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的长度大于等于</a:t>
            </a:r>
            <a:r>
              <a:rPr lang="en-US" altLang="zh-CN" dirty="0">
                <a:sym typeface="Symbol" panose="05050102010706020507" pitchFamily="18" charset="2"/>
              </a:rPr>
              <a:t>g(G)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故</a:t>
            </a:r>
            <a:r>
              <a:rPr lang="en-US" altLang="zh-CN" dirty="0"/>
              <a:t>d(</a:t>
            </a:r>
            <a:r>
              <a:rPr lang="en-US" altLang="zh-CN" i="1" dirty="0"/>
              <a:t>v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≥3.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由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zh-CN" altLang="en-US" dirty="0">
                <a:sym typeface="Symbol" panose="05050102010706020507" pitchFamily="18" charset="2"/>
              </a:rPr>
              <a:t>的任意性可得</a:t>
            </a:r>
            <a:r>
              <a:rPr lang="en-US" altLang="zh-CN" dirty="0">
                <a:sym typeface="Symbol" panose="05050102010706020507" pitchFamily="18" charset="2"/>
              </a:rPr>
              <a:t>(G) ≥3.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极小非平面图</a:t>
            </a:r>
            <a:r>
              <a:rPr lang="en-US" altLang="zh-CN" dirty="0"/>
              <a:t>:</a:t>
            </a:r>
            <a:r>
              <a:rPr lang="zh-CN" altLang="en-US" dirty="0"/>
              <a:t>非平面图删除任意</a:t>
            </a:r>
            <a:r>
              <a:rPr lang="en-US" altLang="zh-CN" dirty="0"/>
              <a:t>1</a:t>
            </a:r>
            <a:r>
              <a:rPr lang="zh-CN" altLang="en-US" dirty="0"/>
              <a:t>边变为平面图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K</a:t>
            </a:r>
            <a:r>
              <a:rPr lang="en-US" altLang="zh-CN" baseline="-25000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K</a:t>
            </a:r>
            <a:r>
              <a:rPr lang="en-US" altLang="zh-CN" baseline="-25000" dirty="0"/>
              <a:t>3,3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915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>
                <a:latin typeface="Tahoma" panose="020B0604030504040204" pitchFamily="34" charset="0"/>
                <a:ea typeface="宋体" panose="02010600030101010101" pitchFamily="2" charset="-122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课后作业一：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P179</a:t>
            </a:r>
            <a:r>
              <a:rPr lang="zh-CN" altLang="en-US" dirty="0">
                <a:solidFill>
                  <a:srgbClr val="FF0000"/>
                </a:solidFill>
              </a:rPr>
              <a:t>，习题十一：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15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92cc9a11-0819-4676-9dad-32df6eb25f7b"/>
  <p:tag name="COMMONDATA" val="eyJoZGlkIjoiY2FjYjUwYzFhN2VkM2YwN2YyYmE3ZGUyNDQzZTVlNz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2314</Words>
  <Application>WPS 演示</Application>
  <PresentationFormat>全屏显示(4:3)</PresentationFormat>
  <Paragraphs>297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Tahoma</vt:lpstr>
      <vt:lpstr>黑体</vt:lpstr>
      <vt:lpstr>Symbol</vt:lpstr>
      <vt:lpstr>Lucida Sans Unicode</vt:lpstr>
      <vt:lpstr>Times New Roman</vt:lpstr>
      <vt:lpstr>微软雅黑</vt:lpstr>
      <vt:lpstr>Arial Unicode MS</vt:lpstr>
      <vt:lpstr>Blends</vt:lpstr>
      <vt:lpstr>平    面   图</vt:lpstr>
      <vt:lpstr>PowerPoint 演示文稿</vt:lpstr>
      <vt:lpstr>平面图的概念</vt:lpstr>
      <vt:lpstr>平面图举例</vt:lpstr>
      <vt:lpstr>约当定理(Jordan)</vt:lpstr>
      <vt:lpstr>证明K5不是平面图</vt:lpstr>
      <vt:lpstr>证明K3,3不是平面图</vt:lpstr>
      <vt:lpstr>球面嵌入, 曲面嵌入</vt:lpstr>
      <vt:lpstr>定理11.1的证明</vt:lpstr>
      <vt:lpstr>推论</vt:lpstr>
      <vt:lpstr>实际应用</vt:lpstr>
      <vt:lpstr>面和次</vt:lpstr>
      <vt:lpstr>面的次(举例)</vt:lpstr>
      <vt:lpstr>定理</vt:lpstr>
      <vt:lpstr>极大平面图</vt:lpstr>
      <vt:lpstr>定理11.4证明</vt:lpstr>
      <vt:lpstr>定理11.4证明(续)</vt:lpstr>
      <vt:lpstr>定理11.5</vt:lpstr>
      <vt:lpstr>课后作业一：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928</cp:revision>
  <dcterms:created xsi:type="dcterms:W3CDTF">2008-01-04T07:39:00Z</dcterms:created>
  <dcterms:modified xsi:type="dcterms:W3CDTF">2025-11-24T22:33:26Z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C3B457CF2E3F4CA8ABA758A011157101</vt:lpwstr>
  </property>
</Properties>
</file>