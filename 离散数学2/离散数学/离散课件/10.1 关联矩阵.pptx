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8" r:id="rId3"/>
    <p:sldId id="341" r:id="rId4"/>
    <p:sldId id="260" r:id="rId5"/>
    <p:sldId id="262" r:id="rId7"/>
    <p:sldId id="263" r:id="rId8"/>
    <p:sldId id="264" r:id="rId9"/>
    <p:sldId id="265" r:id="rId10"/>
    <p:sldId id="261" r:id="rId11"/>
    <p:sldId id="303" r:id="rId12"/>
    <p:sldId id="344" r:id="rId13"/>
    <p:sldId id="266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346" r:id="rId22"/>
    <p:sldId id="415" r:id="rId23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0066FF"/>
    <a:srgbClr val="808080"/>
    <a:srgbClr val="5F5F5F"/>
    <a:srgbClr val="996633"/>
    <a:srgbClr val="C7F9F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1716" y="108"/>
      </p:cViewPr>
      <p:guideLst>
        <p:guide orient="horz" pos="21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noProof="1" dirty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8C242E-C1D2-4DEE-9764-3FD097D0B6F7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algn="just"/>
            <a:r>
              <a:rPr lang="zh-CN" altLang="en-US" dirty="0"/>
              <a:t>列出一个有向图</a:t>
            </a:r>
            <a:r>
              <a:rPr lang="en-US" altLang="zh-CN" dirty="0"/>
              <a:t>D1</a:t>
            </a:r>
            <a:r>
              <a:rPr lang="zh-CN" altLang="en-US" dirty="0"/>
              <a:t>，通过写出关联矩阵的过程，解释：</a:t>
            </a:r>
            <a:r>
              <a:rPr lang="en-US" altLang="zh-CN" dirty="0"/>
              <a:t>1</a:t>
            </a:r>
            <a:r>
              <a:rPr lang="zh-CN" altLang="en-US" dirty="0"/>
              <a:t>）关联矩阵的概念；</a:t>
            </a:r>
            <a:r>
              <a:rPr lang="en-US" altLang="zh-CN" dirty="0"/>
              <a:t>2</a:t>
            </a:r>
            <a:r>
              <a:rPr lang="zh-CN" altLang="en-US" dirty="0"/>
              <a:t>）关联矩阵的性质：每列元素之和为</a:t>
            </a:r>
            <a:r>
              <a:rPr lang="en-US" altLang="zh-CN" dirty="0"/>
              <a:t>0</a:t>
            </a:r>
            <a:r>
              <a:rPr lang="zh-CN" altLang="en-US" dirty="0"/>
              <a:t>；每行</a:t>
            </a:r>
            <a:r>
              <a:rPr lang="en-US" altLang="zh-CN" dirty="0"/>
              <a:t>1</a:t>
            </a:r>
            <a:r>
              <a:rPr lang="zh-CN" altLang="en-US" dirty="0"/>
              <a:t>的个数是对于顶点的出度；每行负</a:t>
            </a:r>
            <a:r>
              <a:rPr lang="en-US" altLang="zh-CN" dirty="0"/>
              <a:t>1</a:t>
            </a:r>
            <a:r>
              <a:rPr lang="zh-CN" altLang="en-US" dirty="0"/>
              <a:t>的个数是对应顶点的入度；矩阵中所有元素之和为</a:t>
            </a:r>
            <a:r>
              <a:rPr lang="en-US" altLang="zh-CN" dirty="0"/>
              <a:t>0</a:t>
            </a:r>
            <a:r>
              <a:rPr lang="zh-CN" altLang="en-US" dirty="0"/>
              <a:t>；能否表示平行边和自环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根据</a:t>
            </a:r>
            <a:r>
              <a:rPr lang="en-US" altLang="zh-CN" dirty="0"/>
              <a:t>M(D1),</a:t>
            </a:r>
            <a:r>
              <a:rPr lang="zh-CN" altLang="en-US" dirty="0"/>
              <a:t>解释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画出任意一个无向图</a:t>
            </a:r>
            <a:r>
              <a:rPr lang="en-US" altLang="zh-CN" dirty="0"/>
              <a:t>G1</a:t>
            </a:r>
            <a:r>
              <a:rPr lang="zh-CN" altLang="en-US" dirty="0"/>
              <a:t>，写出</a:t>
            </a:r>
            <a:r>
              <a:rPr lang="en-US" altLang="zh-CN" dirty="0"/>
              <a:t>M(G1)</a:t>
            </a:r>
            <a:r>
              <a:rPr lang="zh-CN" altLang="en-US" dirty="0"/>
              <a:t>，解释：</a:t>
            </a:r>
            <a:r>
              <a:rPr lang="en-US" altLang="zh-CN" dirty="0"/>
              <a:t>1</a:t>
            </a:r>
            <a:r>
              <a:rPr lang="zh-CN" altLang="en-US" dirty="0"/>
              <a:t>）无向图关联矩阵；</a:t>
            </a:r>
            <a:r>
              <a:rPr lang="en-US" altLang="zh-CN" dirty="0"/>
              <a:t>2</a:t>
            </a:r>
            <a:r>
              <a:rPr lang="zh-CN" altLang="en-US" dirty="0"/>
              <a:t>）无向图关联矩阵的性质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举出</a:t>
            </a:r>
            <a:r>
              <a:rPr lang="en-US" altLang="zh-CN" dirty="0"/>
              <a:t>1</a:t>
            </a:r>
            <a:r>
              <a:rPr lang="zh-CN" altLang="en-US" dirty="0"/>
              <a:t>个利用基本关联矩阵求生成树的例子</a:t>
            </a:r>
            <a:endParaRPr lang="en-US" altLang="zh-CN" dirty="0"/>
          </a:p>
        </p:txBody>
      </p:sp>
      <p:sp>
        <p:nvSpPr>
          <p:cNvPr id="21508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27763" y="6092825"/>
            <a:ext cx="2324100" cy="636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 anchor="b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AC2DA9E-C8CC-41FC-A1BA-00DA0DF7ADDD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400" noProof="1" dirty="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BA8D64-02D6-4168-AED6-8096322DAAF9}" type="slidenum"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关联矩阵M(D), M(G)</a:t>
            </a:r>
            <a:endParaRPr lang="en-US" altLang="zh-CN" dirty="0"/>
          </a:p>
          <a:p>
            <a:r>
              <a:rPr lang="en-US" altLang="zh-CN" dirty="0"/>
              <a:t>用基本联矩阵M</a:t>
            </a:r>
            <a:r>
              <a:rPr lang="en-US" altLang="zh-CN" i="1" baseline="-25000" dirty="0"/>
              <a:t>f</a:t>
            </a:r>
            <a:r>
              <a:rPr lang="en-US" altLang="zh-CN" dirty="0"/>
              <a:t>(G)求所有生成树</a:t>
            </a:r>
            <a:endParaRPr lang="en-US" altLang="zh-CN" dirty="0"/>
          </a:p>
          <a:p>
            <a:r>
              <a:rPr lang="en-US" altLang="zh-CN" dirty="0"/>
              <a:t>邻接矩阵A(D), 相邻矩阵A(G)</a:t>
            </a:r>
            <a:endParaRPr lang="en-US" altLang="zh-CN" dirty="0"/>
          </a:p>
          <a:p>
            <a:r>
              <a:rPr lang="en-US" altLang="zh-CN" dirty="0"/>
              <a:t>用A的幂求不同长度通路(回路)总数</a:t>
            </a:r>
            <a:endParaRPr lang="en-US" altLang="zh-CN" dirty="0"/>
          </a:p>
          <a:p>
            <a:r>
              <a:rPr lang="en-US" altLang="zh-CN" dirty="0"/>
              <a:t>可达矩阵P(D), 连通矩阵P(G)</a:t>
            </a:r>
            <a:endParaRPr lang="en-US" altLang="zh-CN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 b="0" dirty="0">
                <a:solidFill>
                  <a:schemeClr val="tx2"/>
                </a:solidFill>
                <a:latin typeface="Tahoma" panose="020B0604030504040204" pitchFamily="34" charset="0"/>
              </a:rPr>
              <a:t>第</a:t>
            </a:r>
            <a:r>
              <a:rPr lang="en-US" altLang="zh-CN" sz="4400" b="0" dirty="0">
                <a:solidFill>
                  <a:schemeClr val="tx2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4400" b="0" dirty="0">
                <a:solidFill>
                  <a:schemeClr val="tx2"/>
                </a:solidFill>
                <a:latin typeface="Tahoma" panose="020B0604030504040204" pitchFamily="34" charset="0"/>
              </a:rPr>
              <a:t>章  图的矩阵表示</a:t>
            </a:r>
            <a:endParaRPr lang="zh-CN" altLang="en-US" sz="4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569325" cy="4972050"/>
          </a:xfrm>
        </p:spPr>
        <p:txBody>
          <a:bodyPr vert="horz" wrap="square" lIns="91440" tIns="45720" rIns="91440" bIns="45720" anchor="t" anchorCtr="0"/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</a:pPr>
            <a:r>
              <a:rPr lang="zh-CN" altLang="en-US" sz="2800" dirty="0">
                <a:solidFill>
                  <a:srgbClr val="FF00FF"/>
                </a:solidFill>
              </a:rPr>
              <a:t>前提条件：标定图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无环图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简单图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矩阵中的元素为</a:t>
            </a:r>
            <a:r>
              <a:rPr lang="en-US" altLang="zh-CN" sz="2500" dirty="0"/>
              <a:t>0,1(</a:t>
            </a:r>
            <a:r>
              <a:rPr lang="zh-CN" altLang="en-US" sz="2500" dirty="0"/>
              <a:t>或</a:t>
            </a:r>
            <a:r>
              <a:rPr lang="en-US" altLang="zh-CN" sz="2500" dirty="0"/>
              <a:t>-1)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运算在数域</a:t>
            </a:r>
            <a:r>
              <a:rPr lang="en-US" altLang="zh-CN" sz="2500" dirty="0"/>
              <a:t>F={0,1}</a:t>
            </a:r>
            <a:r>
              <a:rPr lang="zh-CN" altLang="en-US" sz="2500" dirty="0"/>
              <a:t>上进行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500" dirty="0"/>
              <a:t>加法使用模</a:t>
            </a:r>
            <a:r>
              <a:rPr lang="en-US" altLang="zh-CN" sz="2500" dirty="0"/>
              <a:t>2</a:t>
            </a:r>
            <a:r>
              <a:rPr lang="zh-CN" altLang="en-US" sz="2500" dirty="0"/>
              <a:t>加法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en-US" altLang="zh-CN" sz="2500" dirty="0"/>
              <a:t>...</a:t>
            </a:r>
            <a:endParaRPr lang="zh-CN" altLang="en-US" sz="2500" dirty="0"/>
          </a:p>
          <a:p>
            <a:pPr marL="0" lvl="1" inden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</a:pPr>
            <a:endParaRPr lang="zh-CN" altLang="en-US" sz="2500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有向图关联矩阵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23850" y="1412875"/>
            <a:ext cx="8569325" cy="1295400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folHlink"/>
              </a:buClr>
              <a:buSzPct val="75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75000"/>
              <a:buFont typeface="Wingdings" panose="05000000000000000000" pitchFamily="2" charset="2"/>
              <a:defRPr sz="20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rgbClr val="FF00FF"/>
                </a:solidFill>
              </a:rPr>
              <a:t>无环</a:t>
            </a:r>
            <a:r>
              <a:rPr lang="zh-CN" altLang="en-US" sz="2800" dirty="0"/>
              <a:t>有向图</a:t>
            </a:r>
            <a:r>
              <a:rPr lang="en-US" altLang="zh-CN" sz="2800" i="1" dirty="0"/>
              <a:t>D</a:t>
            </a:r>
            <a:r>
              <a:rPr lang="en-US" altLang="zh-CN" sz="2800" dirty="0"/>
              <a:t>=&lt;</a:t>
            </a:r>
            <a:r>
              <a:rPr lang="en-US" altLang="zh-CN" sz="2800" i="1" dirty="0"/>
              <a:t>V</a:t>
            </a:r>
            <a:r>
              <a:rPr lang="en-US" altLang="zh-CN" sz="2800" dirty="0"/>
              <a:t>,</a:t>
            </a:r>
            <a:r>
              <a:rPr lang="en-US" altLang="zh-CN" sz="2800" i="1" dirty="0"/>
              <a:t>E</a:t>
            </a:r>
            <a:r>
              <a:rPr lang="en-US" altLang="zh-CN" sz="2800" dirty="0"/>
              <a:t>&gt;, </a:t>
            </a:r>
            <a:r>
              <a:rPr lang="en-US" altLang="zh-CN" sz="2800" i="1" dirty="0"/>
              <a:t>V</a:t>
            </a:r>
            <a:r>
              <a:rPr lang="en-US" altLang="zh-CN" sz="2800" dirty="0"/>
              <a:t>={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i="1" dirty="0"/>
              <a:t>v</a:t>
            </a:r>
            <a:r>
              <a:rPr lang="zh-CN" altLang="en-US" sz="2800" i="1" baseline="-25000" dirty="0"/>
              <a:t>n</a:t>
            </a:r>
            <a:r>
              <a:rPr lang="en-US" altLang="zh-CN" sz="2800" dirty="0"/>
              <a:t>},</a:t>
            </a:r>
            <a:r>
              <a:rPr lang="en-US" altLang="zh-CN" sz="2800" i="1" dirty="0"/>
              <a:t>E</a:t>
            </a:r>
            <a:r>
              <a:rPr lang="en-US" altLang="zh-CN" sz="2800" dirty="0"/>
              <a:t>={</a:t>
            </a:r>
            <a:r>
              <a:rPr lang="en-US" altLang="zh-CN" sz="2800" i="1" dirty="0"/>
              <a:t>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i="1" dirty="0"/>
              <a:t>e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i="1" dirty="0"/>
              <a:t>e</a:t>
            </a:r>
            <a:r>
              <a:rPr lang="zh-CN" altLang="en-US" sz="2800" i="1" baseline="-25000" dirty="0"/>
              <a:t>m</a:t>
            </a:r>
            <a:r>
              <a:rPr lang="en-US" altLang="zh-CN" sz="2800" dirty="0"/>
              <a:t>}, </a:t>
            </a:r>
            <a:r>
              <a:rPr lang="zh-CN" altLang="en-US" sz="2800" i="1" dirty="0"/>
              <a:t>n</a:t>
            </a:r>
            <a:r>
              <a:rPr lang="en-US" altLang="zh-CN" sz="2800" dirty="0"/>
              <a:t>×</a:t>
            </a:r>
            <a:r>
              <a:rPr lang="zh-CN" altLang="en-US" sz="2800" i="1" dirty="0"/>
              <a:t>m</a:t>
            </a:r>
            <a:r>
              <a:rPr lang="zh-CN" altLang="en-US" sz="2800" dirty="0"/>
              <a:t>阶矩阵</a:t>
            </a:r>
            <a:r>
              <a:rPr lang="en-US" altLang="zh-CN" sz="2800" i="1" dirty="0"/>
              <a:t>M(D)</a:t>
            </a:r>
            <a:r>
              <a:rPr lang="en-US" altLang="zh-CN" sz="2800" dirty="0"/>
              <a:t>=(</a:t>
            </a:r>
            <a:r>
              <a:rPr lang="en-US" altLang="zh-CN" sz="2800" i="1" dirty="0"/>
              <a:t>m</a:t>
            </a:r>
            <a:r>
              <a:rPr lang="en-US" altLang="zh-CN" sz="2800" i="1" baseline="-25000" dirty="0"/>
              <a:t>ij</a:t>
            </a:r>
            <a:r>
              <a:rPr lang="en-US" altLang="zh-CN" sz="2800" dirty="0"/>
              <a:t>) </a:t>
            </a:r>
            <a:r>
              <a:rPr lang="zh-CN" altLang="en-US" sz="2800" i="1" baseline="-25000" dirty="0"/>
              <a:t>n</a:t>
            </a:r>
            <a:r>
              <a:rPr lang="en-US" altLang="zh-CN" sz="2800" baseline="-25000" dirty="0"/>
              <a:t>×</a:t>
            </a:r>
            <a:r>
              <a:rPr lang="zh-CN" altLang="en-US" sz="2800" i="1" baseline="-25000" dirty="0"/>
              <a:t>m</a:t>
            </a:r>
            <a:r>
              <a:rPr lang="en-US" altLang="zh-CN" sz="2800" dirty="0"/>
              <a:t>,</a:t>
            </a:r>
            <a:r>
              <a:rPr lang="zh-CN" altLang="en-US" sz="2800" dirty="0"/>
              <a:t>其中</a:t>
            </a:r>
            <a:endParaRPr lang="zh-CN" altLang="en-US" sz="2800" dirty="0"/>
          </a:p>
        </p:txBody>
      </p:sp>
      <p:graphicFrame>
        <p:nvGraphicFramePr>
          <p:cNvPr id="6148" name="内容占位符 512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319213" y="2781300"/>
          <a:ext cx="4189412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27200" imgH="711200" progId="">
                  <p:embed/>
                </p:oleObj>
              </mc:Choice>
              <mc:Fallback>
                <p:oleObj name="" r:id="rId1" imgW="1727200" imgH="7112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319213" y="2781300"/>
                        <a:ext cx="4189412" cy="1724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Rectangle 5"/>
          <p:cNvSpPr/>
          <p:nvPr/>
        </p:nvSpPr>
        <p:spPr>
          <a:xfrm>
            <a:off x="323850" y="4579938"/>
            <a:ext cx="85693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称</a:t>
            </a:r>
            <a:r>
              <a:rPr lang="en-US" altLang="zh-CN" i="1" dirty="0"/>
              <a:t>M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关联矩阵。</a:t>
            </a:r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有向图关联矩阵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)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81000" y="1412875"/>
            <a:ext cx="4152900" cy="696913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folHlink"/>
              </a:buClr>
              <a:buSzPct val="75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75000"/>
              <a:buFont typeface="Wingdings" panose="05000000000000000000" pitchFamily="2" charset="2"/>
              <a:defRPr sz="20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例</a:t>
            </a:r>
            <a:r>
              <a:rPr lang="en-US" altLang="zh-CN" sz="2800" dirty="0">
                <a:solidFill>
                  <a:schemeClr val="folHlink"/>
                </a:solidFill>
              </a:rPr>
              <a:t>  </a:t>
            </a:r>
            <a:r>
              <a:rPr lang="zh-CN" altLang="en-US" sz="2800" dirty="0">
                <a:solidFill>
                  <a:schemeClr val="folHlink"/>
                </a:solidFill>
              </a:rPr>
              <a:t>求下图的关联矩阵</a:t>
            </a:r>
            <a:endParaRPr lang="zh-CN" altLang="en-US" sz="2800" dirty="0">
              <a:solidFill>
                <a:schemeClr val="folHlink"/>
              </a:solidFill>
            </a:endParaRPr>
          </a:p>
        </p:txBody>
      </p:sp>
      <p:graphicFrame>
        <p:nvGraphicFramePr>
          <p:cNvPr id="7172" name="内容占位符 7171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3984625" y="2082800"/>
          <a:ext cx="4475163" cy="3790950"/>
        </p:xfrm>
        <a:graphic>
          <a:graphicData uri="http://schemas.openxmlformats.org/drawingml/2006/table">
            <a:tbl>
              <a:tblPr/>
              <a:tblGrid>
                <a:gridCol w="539750"/>
                <a:gridCol w="561975"/>
                <a:gridCol w="561975"/>
                <a:gridCol w="561975"/>
                <a:gridCol w="563563"/>
                <a:gridCol w="561975"/>
                <a:gridCol w="561975"/>
                <a:gridCol w="561975"/>
              </a:tblGrid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en-US" sz="2800" baseline="-25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27" marB="457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221" name="Picture 70" descr="图7-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1188" y="2205038"/>
            <a:ext cx="2952750" cy="2706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46" name="AutoShape 97"/>
          <p:cNvSpPr/>
          <p:nvPr/>
        </p:nvSpPr>
        <p:spPr>
          <a:xfrm>
            <a:off x="4389755" y="2852420"/>
            <a:ext cx="135890" cy="2779395"/>
          </a:xfrm>
          <a:prstGeom prst="leftBracket">
            <a:avLst>
              <a:gd name="adj" fmla="val 1413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47" name="AutoShape 98"/>
          <p:cNvSpPr/>
          <p:nvPr/>
        </p:nvSpPr>
        <p:spPr>
          <a:xfrm>
            <a:off x="8317230" y="2781300"/>
            <a:ext cx="143510" cy="2870200"/>
          </a:xfrm>
          <a:prstGeom prst="rightBracket">
            <a:avLst>
              <a:gd name="adj" fmla="val 151203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8" name="内容占位符 819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95288" y="1412875"/>
          <a:ext cx="6480175" cy="296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327400" imgH="1524000" progId="">
                  <p:embed/>
                </p:oleObj>
              </mc:Choice>
              <mc:Fallback>
                <p:oleObj name="" r:id="rId1" imgW="3327400" imgH="152400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95288" y="1412875"/>
                        <a:ext cx="6480175" cy="29670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3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有向图关联矩阵的性质</a:t>
            </a:r>
            <a:endParaRPr lang="en-US" altLang="zh-CN" dirty="0"/>
          </a:p>
        </p:txBody>
      </p:sp>
      <p:sp>
        <p:nvSpPr>
          <p:cNvPr id="8196" name="Rectangle 4"/>
          <p:cNvSpPr/>
          <p:nvPr/>
        </p:nvSpPr>
        <p:spPr>
          <a:xfrm>
            <a:off x="360363" y="4268788"/>
            <a:ext cx="45720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/>
              <a:t>(4) </a:t>
            </a:r>
            <a:r>
              <a:rPr lang="zh-CN" altLang="en-US" dirty="0"/>
              <a:t>平行边对应的列相同；</a:t>
            </a:r>
            <a:endParaRPr lang="zh-CN" altLang="en-US" dirty="0"/>
          </a:p>
          <a:p>
            <a:pPr marL="0" lvl="0" indent="0"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/>
              <a:t>(5) </a:t>
            </a:r>
            <a:r>
              <a:rPr lang="zh-CN" altLang="en-US" dirty="0"/>
              <a:t>不能表示环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无向图的关联矩阵</a:t>
            </a:r>
            <a:endParaRPr lang="zh-CN" altLang="en-US" dirty="0"/>
          </a:p>
        </p:txBody>
      </p:sp>
      <p:sp>
        <p:nvSpPr>
          <p:cNvPr id="1126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23850" y="1412875"/>
            <a:ext cx="8569325" cy="2087563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folHlink"/>
              </a:buClr>
              <a:buSzPct val="75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75000"/>
              <a:buFont typeface="Wingdings" panose="05000000000000000000" pitchFamily="2" charset="2"/>
              <a:defRPr sz="20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无环</a:t>
            </a:r>
            <a:r>
              <a:rPr lang="zh-CN" altLang="en-US" sz="2800" dirty="0"/>
              <a:t>无向图</a:t>
            </a:r>
            <a:r>
              <a:rPr lang="en-US" altLang="zh-CN" sz="2800" i="1" dirty="0"/>
              <a:t>G</a:t>
            </a:r>
            <a:r>
              <a:rPr lang="en-US" altLang="zh-CN" sz="2800" dirty="0"/>
              <a:t>=&lt;V,E&gt;,V={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i="1" dirty="0"/>
              <a:t>v</a:t>
            </a:r>
            <a:r>
              <a:rPr lang="zh-CN" altLang="en-US" sz="2800" i="1" baseline="-25000" dirty="0"/>
              <a:t>n</a:t>
            </a:r>
            <a:r>
              <a:rPr lang="en-US" altLang="zh-CN" sz="2800" dirty="0"/>
              <a:t>},E={</a:t>
            </a:r>
            <a:r>
              <a:rPr lang="en-US" altLang="zh-CN" sz="2800" i="1" dirty="0"/>
              <a:t>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i="1" dirty="0"/>
              <a:t>e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i="1" dirty="0"/>
              <a:t>e</a:t>
            </a:r>
            <a:r>
              <a:rPr lang="zh-CN" altLang="en-US" sz="2800" i="1" baseline="-25000" dirty="0"/>
              <a:t>m</a:t>
            </a:r>
            <a:r>
              <a:rPr lang="en-US" altLang="zh-CN" sz="2800" dirty="0"/>
              <a:t>},</a:t>
            </a:r>
            <a:endParaRPr lang="en-US" altLang="zh-CN" sz="2800" dirty="0"/>
          </a:p>
          <a:p>
            <a:pPr lvl="0">
              <a:buNone/>
            </a:pPr>
            <a:r>
              <a:rPr lang="zh-CN" altLang="en-US" sz="2800" dirty="0"/>
              <a:t>则矩阵</a:t>
            </a:r>
            <a:r>
              <a:rPr lang="en-US" altLang="zh-CN" sz="2800" i="1" dirty="0"/>
              <a:t>M(G)</a:t>
            </a:r>
            <a:r>
              <a:rPr lang="en-US" altLang="zh-CN" sz="2800" dirty="0"/>
              <a:t>=[</a:t>
            </a:r>
            <a:r>
              <a:rPr lang="en-US" altLang="zh-CN" sz="2800" i="1" dirty="0"/>
              <a:t>m</a:t>
            </a:r>
            <a:r>
              <a:rPr lang="en-US" altLang="zh-CN" sz="2800" i="1" baseline="-25000" dirty="0"/>
              <a:t>ij</a:t>
            </a:r>
            <a:r>
              <a:rPr lang="en-US" altLang="zh-CN" sz="2800" dirty="0"/>
              <a:t>] </a:t>
            </a:r>
            <a:r>
              <a:rPr lang="zh-CN" altLang="en-US" sz="2800" i="1" baseline="-25000" dirty="0"/>
              <a:t>n</a:t>
            </a:r>
            <a:r>
              <a:rPr lang="en-US" altLang="zh-CN" sz="2800" baseline="-25000" dirty="0"/>
              <a:t>×</a:t>
            </a:r>
            <a:r>
              <a:rPr lang="zh-CN" altLang="en-US" sz="2800" i="1" baseline="-25000" dirty="0"/>
              <a:t>m</a:t>
            </a:r>
            <a:r>
              <a:rPr lang="en-US" altLang="zh-CN" sz="2800" dirty="0"/>
              <a:t>,</a:t>
            </a:r>
            <a:r>
              <a:rPr lang="zh-CN" altLang="en-US" sz="2800" dirty="0"/>
              <a:t>其中</a:t>
            </a:r>
            <a:endParaRPr lang="zh-CN" altLang="en-US" sz="2800" dirty="0"/>
          </a:p>
        </p:txBody>
      </p:sp>
      <p:graphicFrame>
        <p:nvGraphicFramePr>
          <p:cNvPr id="11268" name="内容占位符 102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331913" y="2781300"/>
          <a:ext cx="360045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536700" imgH="482600" progId="">
                  <p:embed/>
                </p:oleObj>
              </mc:Choice>
              <mc:Fallback>
                <p:oleObj name="" r:id="rId1" imgW="1536700" imgH="48260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331913" y="2781300"/>
                        <a:ext cx="3600450" cy="11303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/>
          <p:nvPr/>
        </p:nvSpPr>
        <p:spPr>
          <a:xfrm>
            <a:off x="395288" y="4076700"/>
            <a:ext cx="4392612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buFont typeface="Arial" panose="020B0604020202020204" pitchFamily="34" charset="0"/>
              <a:buNone/>
            </a:pPr>
            <a:r>
              <a:rPr lang="zh-CN" altLang="en-US" dirty="0"/>
              <a:t>称</a:t>
            </a:r>
            <a:r>
              <a:rPr lang="en-US" altLang="zh-CN" i="1" dirty="0"/>
              <a:t>M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chemeClr val="hlink"/>
                </a:solidFill>
              </a:rPr>
              <a:t>关联矩阵。</a:t>
            </a:r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无向图关联矩阵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331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23850" y="1412875"/>
            <a:ext cx="4752975" cy="792163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folHlink"/>
              </a:buClr>
              <a:buSzPct val="75000"/>
              <a:buFont typeface="Wingdings" panose="05000000000000000000" pitchFamily="2" charset="2"/>
              <a:defRPr sz="2400"/>
            </a:lvl1pPr>
            <a:lvl2pPr lvl="1">
              <a:buClr>
                <a:schemeClr val="hlink"/>
              </a:buClr>
              <a:buSzPct val="75000"/>
              <a:buFont typeface="Wingdings" panose="05000000000000000000" pitchFamily="2" charset="2"/>
              <a:defRPr sz="2000"/>
            </a:lvl2pPr>
            <a:lvl3pPr lvl="2">
              <a:buClr>
                <a:schemeClr val="folHlink"/>
              </a:buClr>
              <a:buSzPct val="50000"/>
              <a:buFont typeface="Wingdings" panose="05000000000000000000" pitchFamily="2" charset="2"/>
              <a:defRPr sz="2000"/>
            </a:lvl3pPr>
            <a:lvl4pPr lvl="3">
              <a:buClr>
                <a:schemeClr val="accent2"/>
              </a:buClr>
              <a:buSzPct val="55000"/>
              <a:buFont typeface="Wingdings" panose="05000000000000000000" pitchFamily="2" charset="2"/>
              <a:defRPr sz="1800"/>
            </a:lvl4pPr>
            <a:lvl5pPr lvl="4">
              <a:buClr>
                <a:schemeClr val="accent1"/>
              </a:buClr>
              <a:buSzPct val="50000"/>
              <a:buFont typeface="Wingdings" panose="05000000000000000000" pitchFamily="2" charset="2"/>
              <a:defRPr sz="1800"/>
            </a:lvl5pPr>
          </a:lstStyle>
          <a:p>
            <a:pPr lvl="0"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求下图的关联矩阵</a:t>
            </a:r>
            <a:r>
              <a:rPr lang="en-US" altLang="zh-CN" sz="2800" dirty="0">
                <a:solidFill>
                  <a:schemeClr val="folHlink"/>
                </a:solidFill>
              </a:rPr>
              <a:t>.</a:t>
            </a:r>
            <a:endParaRPr lang="en-US" altLang="zh-CN" sz="2800" dirty="0">
              <a:solidFill>
                <a:schemeClr val="folHlink"/>
              </a:solidFill>
            </a:endParaRPr>
          </a:p>
        </p:txBody>
      </p:sp>
      <p:graphicFrame>
        <p:nvGraphicFramePr>
          <p:cNvPr id="12292" name="内容占位符 12291"/>
          <p:cNvGraphicFramePr>
            <a:graphicFrameLocks noGrp="1"/>
          </p:cNvGraphicFramePr>
          <p:nvPr>
            <p:ph sz="half" idx="4294967295"/>
          </p:nvPr>
        </p:nvGraphicFramePr>
        <p:xfrm>
          <a:off x="3967163" y="2181225"/>
          <a:ext cx="3844925" cy="3790950"/>
        </p:xfrm>
        <a:graphic>
          <a:graphicData uri="http://schemas.openxmlformats.org/drawingml/2006/table">
            <a:tbl>
              <a:tblPr/>
              <a:tblGrid>
                <a:gridCol w="503238"/>
                <a:gridCol w="595312"/>
                <a:gridCol w="549275"/>
                <a:gridCol w="549275"/>
                <a:gridCol w="549275"/>
                <a:gridCol w="549275"/>
                <a:gridCol w="549275"/>
              </a:tblGrid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en-US" sz="2800" baseline="-25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1" marB="4570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2335" name="Picture 64" descr="图7-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3850" y="2133600"/>
            <a:ext cx="3057525" cy="2247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360" name="Group 91"/>
          <p:cNvGrpSpPr/>
          <p:nvPr/>
        </p:nvGrpSpPr>
        <p:grpSpPr>
          <a:xfrm>
            <a:off x="4398963" y="2924175"/>
            <a:ext cx="3340100" cy="2592388"/>
            <a:chOff x="0" y="0"/>
            <a:chExt cx="2104" cy="1633"/>
          </a:xfrm>
        </p:grpSpPr>
        <p:sp>
          <p:nvSpPr>
            <p:cNvPr id="13361" name="AutoShape 89"/>
            <p:cNvSpPr/>
            <p:nvPr/>
          </p:nvSpPr>
          <p:spPr>
            <a:xfrm>
              <a:off x="0" y="45"/>
              <a:ext cx="91" cy="1543"/>
            </a:xfrm>
            <a:prstGeom prst="leftBracket">
              <a:avLst>
                <a:gd name="adj" fmla="val 14122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62" name="AutoShape 90"/>
            <p:cNvSpPr/>
            <p:nvPr/>
          </p:nvSpPr>
          <p:spPr>
            <a:xfrm>
              <a:off x="2014" y="0"/>
              <a:ext cx="90" cy="1633"/>
            </a:xfrm>
            <a:prstGeom prst="rightBracket">
              <a:avLst>
                <a:gd name="adj" fmla="val 15095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无向图关联矩阵的性质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type="body" idx="4294967295"/>
          </p:nvPr>
        </p:nvSpPr>
        <p:spPr>
          <a:xfrm>
            <a:off x="250825" y="2781300"/>
            <a:ext cx="8994775" cy="266382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dirty="0"/>
              <a:t>(3) </a:t>
            </a:r>
            <a:r>
              <a:rPr lang="zh-CN" altLang="en-US" dirty="0"/>
              <a:t>每行所有</a:t>
            </a:r>
            <a:r>
              <a:rPr lang="en-US" altLang="zh-CN" dirty="0"/>
              <a:t>1</a:t>
            </a:r>
            <a:r>
              <a:rPr lang="zh-CN" altLang="en-US" dirty="0"/>
              <a:t>对应的边构成断集</a:t>
            </a:r>
            <a:r>
              <a:rPr lang="en-US" altLang="zh-CN" dirty="0"/>
              <a:t>: ({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}, {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})</a:t>
            </a:r>
            <a:r>
              <a:rPr lang="zh-CN" altLang="en-US" dirty="0"/>
              <a:t>，是割集吗？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(4) </a:t>
            </a:r>
            <a:r>
              <a:rPr lang="zh-CN" altLang="en-US" dirty="0"/>
              <a:t>平行边对应的列相同；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(5) </a:t>
            </a:r>
            <a:r>
              <a:rPr lang="zh-CN" altLang="en-US" dirty="0"/>
              <a:t>不能表示环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(6) </a:t>
            </a:r>
            <a:r>
              <a:rPr lang="zh-CN" altLang="en-US" dirty="0"/>
              <a:t>伪对角阵</a:t>
            </a:r>
            <a:r>
              <a:rPr lang="en-US" altLang="zh-CN" dirty="0"/>
              <a:t>: </a:t>
            </a:r>
            <a:r>
              <a:rPr lang="zh-CN" altLang="en-US" dirty="0"/>
              <a:t>对角块是连通分支</a:t>
            </a:r>
            <a:endParaRPr lang="en-US" altLang="zh-CN" dirty="0"/>
          </a:p>
        </p:txBody>
      </p:sp>
      <p:graphicFrame>
        <p:nvGraphicFramePr>
          <p:cNvPr id="14340" name="对象 13315"/>
          <p:cNvGraphicFramePr>
            <a:graphicFrameLocks noChangeAspect="1"/>
          </p:cNvGraphicFramePr>
          <p:nvPr/>
        </p:nvGraphicFramePr>
        <p:xfrm>
          <a:off x="323850" y="1385888"/>
          <a:ext cx="6772275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022600" imgH="609600" progId="Equation.DSMT4">
                  <p:embed/>
                </p:oleObj>
              </mc:Choice>
              <mc:Fallback>
                <p:oleObj name="" r:id="rId1" imgW="3022600" imgH="6096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385888"/>
                        <a:ext cx="6772275" cy="146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Line 7"/>
          <p:cNvSpPr/>
          <p:nvPr/>
        </p:nvSpPr>
        <p:spPr>
          <a:xfrm>
            <a:off x="6372225" y="2852738"/>
            <a:ext cx="43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4342" name="对象 13317"/>
          <p:cNvGraphicFramePr>
            <a:graphicFrameLocks noChangeAspect="1"/>
          </p:cNvGraphicFramePr>
          <p:nvPr/>
        </p:nvGraphicFramePr>
        <p:xfrm>
          <a:off x="3563938" y="5084763"/>
          <a:ext cx="4103687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3225800" imgH="1143000" progId="">
                  <p:embed/>
                </p:oleObj>
              </mc:Choice>
              <mc:Fallback>
                <p:oleObj name="" r:id="rId3" imgW="3225800" imgH="114300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3938" y="5084763"/>
                        <a:ext cx="4103687" cy="1560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15363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520825"/>
            <a:ext cx="8496300" cy="82867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dirty="0"/>
              <a:t>用关联矩阵表示下图所示的图。</a:t>
            </a:r>
            <a:endParaRPr lang="en-US" altLang="zh-CN" dirty="0"/>
          </a:p>
        </p:txBody>
      </p:sp>
      <p:grpSp>
        <p:nvGrpSpPr>
          <p:cNvPr id="15364" name="组 26"/>
          <p:cNvGrpSpPr/>
          <p:nvPr/>
        </p:nvGrpSpPr>
        <p:grpSpPr>
          <a:xfrm>
            <a:off x="260350" y="2420938"/>
            <a:ext cx="3375025" cy="2303462"/>
            <a:chOff x="0" y="0"/>
            <a:chExt cx="3375842" cy="2304256"/>
          </a:xfrm>
        </p:grpSpPr>
        <p:grpSp>
          <p:nvGrpSpPr>
            <p:cNvPr id="15390" name="组 24"/>
            <p:cNvGrpSpPr/>
            <p:nvPr/>
          </p:nvGrpSpPr>
          <p:grpSpPr>
            <a:xfrm>
              <a:off x="351506" y="432048"/>
              <a:ext cx="2664296" cy="1656184"/>
              <a:chOff x="0" y="0"/>
              <a:chExt cx="2664296" cy="1656184"/>
            </a:xfrm>
          </p:grpSpPr>
          <p:sp>
            <p:nvSpPr>
              <p:cNvPr id="15402" name="椭圆 3"/>
              <p:cNvSpPr/>
              <p:nvPr/>
            </p:nvSpPr>
            <p:spPr>
              <a:xfrm>
                <a:off x="0" y="0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03" name="椭圆 9"/>
              <p:cNvSpPr/>
              <p:nvPr/>
            </p:nvSpPr>
            <p:spPr>
              <a:xfrm>
                <a:off x="1152128" y="0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04" name="椭圆 10"/>
              <p:cNvSpPr/>
              <p:nvPr/>
            </p:nvSpPr>
            <p:spPr>
              <a:xfrm>
                <a:off x="2520280" y="0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05" name="椭圆 11"/>
              <p:cNvSpPr/>
              <p:nvPr/>
            </p:nvSpPr>
            <p:spPr>
              <a:xfrm>
                <a:off x="504056" y="1512168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06" name="椭圆 12"/>
              <p:cNvSpPr/>
              <p:nvPr/>
            </p:nvSpPr>
            <p:spPr>
              <a:xfrm>
                <a:off x="1800200" y="1512168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15407" name="直线连接符 5"/>
              <p:cNvCxnSpPr>
                <a:stCxn id="15402" idx="5"/>
                <a:endCxn id="15405" idx="1"/>
              </p:cNvCxnSpPr>
              <p:nvPr/>
            </p:nvCxnSpPr>
            <p:spPr>
              <a:xfrm>
                <a:off x="122925" y="122925"/>
                <a:ext cx="402222" cy="141033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5408" name="直线连接符 7"/>
              <p:cNvCxnSpPr>
                <a:stCxn id="15402" idx="6"/>
                <a:endCxn id="15406" idx="2"/>
              </p:cNvCxnSpPr>
              <p:nvPr/>
            </p:nvCxnSpPr>
            <p:spPr>
              <a:xfrm>
                <a:off x="144016" y="72008"/>
                <a:ext cx="1656184" cy="151216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5409" name="直线连接符 15"/>
              <p:cNvCxnSpPr>
                <a:stCxn id="15405" idx="1"/>
                <a:endCxn id="15403" idx="3"/>
              </p:cNvCxnSpPr>
              <p:nvPr/>
            </p:nvCxnSpPr>
            <p:spPr>
              <a:xfrm flipV="1">
                <a:off x="525147" y="122925"/>
                <a:ext cx="648072" cy="141033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5410" name="直线连接符 17"/>
              <p:cNvCxnSpPr>
                <a:stCxn id="15403" idx="5"/>
                <a:endCxn id="15406" idx="0"/>
              </p:cNvCxnSpPr>
              <p:nvPr/>
            </p:nvCxnSpPr>
            <p:spPr>
              <a:xfrm>
                <a:off x="1275053" y="122925"/>
                <a:ext cx="597155" cy="138924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5411" name="直线连接符 20"/>
              <p:cNvCxnSpPr>
                <a:stCxn id="15406" idx="0"/>
                <a:endCxn id="15404" idx="4"/>
              </p:cNvCxnSpPr>
              <p:nvPr/>
            </p:nvCxnSpPr>
            <p:spPr>
              <a:xfrm flipV="1">
                <a:off x="1872208" y="144016"/>
                <a:ext cx="720080" cy="136815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5412" name="直线连接符 22"/>
              <p:cNvCxnSpPr>
                <a:stCxn id="15403" idx="6"/>
                <a:endCxn id="15404" idx="2"/>
              </p:cNvCxnSpPr>
              <p:nvPr/>
            </p:nvCxnSpPr>
            <p:spPr>
              <a:xfrm>
                <a:off x="1296144" y="72008"/>
                <a:ext cx="12241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5391" name="文本框 25"/>
            <p:cNvSpPr txBox="1"/>
            <p:nvPr/>
          </p:nvSpPr>
          <p:spPr>
            <a:xfrm>
              <a:off x="0" y="216024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2" name="文本框 31"/>
            <p:cNvSpPr txBox="1"/>
            <p:nvPr/>
          </p:nvSpPr>
          <p:spPr>
            <a:xfrm>
              <a:off x="1152128" y="72008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3" name="文本框 32"/>
            <p:cNvSpPr txBox="1"/>
            <p:nvPr/>
          </p:nvSpPr>
          <p:spPr>
            <a:xfrm>
              <a:off x="2952328" y="216024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4" name="文本框 33"/>
            <p:cNvSpPr txBox="1"/>
            <p:nvPr/>
          </p:nvSpPr>
          <p:spPr>
            <a:xfrm>
              <a:off x="504056" y="1842591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5" name="文本框 34"/>
            <p:cNvSpPr txBox="1"/>
            <p:nvPr/>
          </p:nvSpPr>
          <p:spPr>
            <a:xfrm>
              <a:off x="2253339" y="1758221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5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6" name="文本框 35"/>
            <p:cNvSpPr txBox="1"/>
            <p:nvPr/>
          </p:nvSpPr>
          <p:spPr>
            <a:xfrm>
              <a:off x="216024" y="834479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1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7" name="文本框 36"/>
            <p:cNvSpPr txBox="1"/>
            <p:nvPr/>
          </p:nvSpPr>
          <p:spPr>
            <a:xfrm>
              <a:off x="1296144" y="1338535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2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8" name="文本框 37"/>
            <p:cNvSpPr txBox="1"/>
            <p:nvPr/>
          </p:nvSpPr>
          <p:spPr>
            <a:xfrm>
              <a:off x="1008112" y="504056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3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399" name="文本框 38"/>
            <p:cNvSpPr txBox="1"/>
            <p:nvPr/>
          </p:nvSpPr>
          <p:spPr>
            <a:xfrm>
              <a:off x="1503634" y="986879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4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400" name="文本框 39"/>
            <p:cNvSpPr txBox="1"/>
            <p:nvPr/>
          </p:nvSpPr>
          <p:spPr>
            <a:xfrm>
              <a:off x="2592288" y="986879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5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15401" name="文本框 40"/>
            <p:cNvSpPr txBox="1"/>
            <p:nvPr/>
          </p:nvSpPr>
          <p:spPr>
            <a:xfrm>
              <a:off x="1944216" y="0"/>
              <a:ext cx="423514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i="1" dirty="0"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ea typeface="宋体" panose="02010600030101010101" pitchFamily="2" charset="-122"/>
                </a:rPr>
                <a:t>6</a:t>
              </a:r>
              <a:endParaRPr lang="zh-CN" altLang="en-US" sz="1800" baseline="-250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15365" name="组 28701"/>
          <p:cNvGrpSpPr/>
          <p:nvPr/>
        </p:nvGrpSpPr>
        <p:grpSpPr>
          <a:xfrm>
            <a:off x="4795838" y="2535238"/>
            <a:ext cx="2871787" cy="2338387"/>
            <a:chOff x="0" y="0"/>
            <a:chExt cx="2871786" cy="2337829"/>
          </a:xfrm>
        </p:grpSpPr>
        <p:grpSp>
          <p:nvGrpSpPr>
            <p:cNvPr id="15366" name="组 42"/>
            <p:cNvGrpSpPr/>
            <p:nvPr/>
          </p:nvGrpSpPr>
          <p:grpSpPr>
            <a:xfrm>
              <a:off x="0" y="0"/>
              <a:ext cx="2871786" cy="2337829"/>
              <a:chOff x="0" y="0"/>
              <a:chExt cx="2871786" cy="2337829"/>
            </a:xfrm>
          </p:grpSpPr>
          <p:grpSp>
            <p:nvGrpSpPr>
              <p:cNvPr id="15372" name="组 43"/>
              <p:cNvGrpSpPr/>
              <p:nvPr/>
            </p:nvGrpSpPr>
            <p:grpSpPr>
              <a:xfrm>
                <a:off x="351506" y="425661"/>
                <a:ext cx="2194313" cy="1656184"/>
                <a:chOff x="0" y="0"/>
                <a:chExt cx="2194313" cy="1656184"/>
              </a:xfrm>
            </p:grpSpPr>
            <p:sp>
              <p:nvSpPr>
                <p:cNvPr id="15382" name="椭圆 56"/>
                <p:cNvSpPr/>
                <p:nvPr/>
              </p:nvSpPr>
              <p:spPr>
                <a:xfrm>
                  <a:off x="0" y="0"/>
                  <a:ext cx="144016" cy="14401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83" name="椭圆 57"/>
                <p:cNvSpPr/>
                <p:nvPr/>
              </p:nvSpPr>
              <p:spPr>
                <a:xfrm>
                  <a:off x="2050297" y="0"/>
                  <a:ext cx="144016" cy="14401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84" name="椭圆 58"/>
                <p:cNvSpPr/>
                <p:nvPr/>
              </p:nvSpPr>
              <p:spPr>
                <a:xfrm>
                  <a:off x="34073" y="1512168"/>
                  <a:ext cx="144016" cy="14401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85" name="椭圆 59"/>
                <p:cNvSpPr/>
                <p:nvPr/>
              </p:nvSpPr>
              <p:spPr>
                <a:xfrm>
                  <a:off x="2016224" y="1512168"/>
                  <a:ext cx="144016" cy="14401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2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lvl="1" indent="-28575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lvl="2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lvl="3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lvl="4" indent="-228600" algn="l" rtl="0" eaLnBrk="0" fontAlgn="base" hangingPunct="0">
                    <a:lnSpc>
                      <a:spcPct val="110000"/>
                    </a:lnSpc>
                    <a:spcBef>
                      <a:spcPct val="3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15386" name="直线连接符 60"/>
                <p:cNvCxnSpPr>
                  <a:stCxn id="15385" idx="2"/>
                  <a:endCxn id="15384" idx="6"/>
                </p:cNvCxnSpPr>
                <p:nvPr/>
              </p:nvCxnSpPr>
              <p:spPr>
                <a:xfrm flipH="1">
                  <a:off x="178089" y="1584176"/>
                  <a:ext cx="1838135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5387" name="直线连接符 62"/>
                <p:cNvCxnSpPr>
                  <a:stCxn id="15384" idx="0"/>
                  <a:endCxn id="15383" idx="3"/>
                </p:cNvCxnSpPr>
                <p:nvPr/>
              </p:nvCxnSpPr>
              <p:spPr>
                <a:xfrm flipV="1">
                  <a:off x="106081" y="122925"/>
                  <a:ext cx="1965307" cy="1389243"/>
                </a:xfrm>
                <a:prstGeom prst="line">
                  <a:avLst/>
                </a:prstGeom>
                <a:ln w="28575" cap="rnd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5388" name="直线连接符 63"/>
                <p:cNvCxnSpPr>
                  <a:stCxn id="15382" idx="5"/>
                  <a:endCxn id="15385" idx="1"/>
                </p:cNvCxnSpPr>
                <p:nvPr/>
              </p:nvCxnSpPr>
              <p:spPr>
                <a:xfrm>
                  <a:off x="122925" y="122925"/>
                  <a:ext cx="1914390" cy="141033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5389" name="直线连接符 65"/>
                <p:cNvCxnSpPr>
                  <a:stCxn id="15382" idx="6"/>
                  <a:endCxn id="15383" idx="2"/>
                </p:cNvCxnSpPr>
                <p:nvPr/>
              </p:nvCxnSpPr>
              <p:spPr>
                <a:xfrm>
                  <a:off x="144016" y="72008"/>
                  <a:ext cx="190628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373" name="文本框 44"/>
              <p:cNvSpPr txBox="1"/>
              <p:nvPr/>
            </p:nvSpPr>
            <p:spPr>
              <a:xfrm>
                <a:off x="0" y="209637"/>
                <a:ext cx="33855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a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74" name="文本框 46"/>
              <p:cNvSpPr txBox="1"/>
              <p:nvPr/>
            </p:nvSpPr>
            <p:spPr>
              <a:xfrm>
                <a:off x="2482345" y="209637"/>
                <a:ext cx="33855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b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75" name="文本框 47"/>
              <p:cNvSpPr txBox="1"/>
              <p:nvPr/>
            </p:nvSpPr>
            <p:spPr>
              <a:xfrm>
                <a:off x="34073" y="1836204"/>
                <a:ext cx="320922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c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76" name="文本框 48"/>
              <p:cNvSpPr txBox="1"/>
              <p:nvPr/>
            </p:nvSpPr>
            <p:spPr>
              <a:xfrm>
                <a:off x="2533232" y="1685801"/>
                <a:ext cx="33855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d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77" name="文本框 49"/>
              <p:cNvSpPr txBox="1"/>
              <p:nvPr/>
            </p:nvSpPr>
            <p:spPr>
              <a:xfrm>
                <a:off x="610137" y="739626"/>
                <a:ext cx="42351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ea typeface="宋体" panose="02010600030101010101" pitchFamily="2" charset="-122"/>
                  </a:rPr>
                  <a:t>1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78" name="文本框 50"/>
              <p:cNvSpPr txBox="1"/>
              <p:nvPr/>
            </p:nvSpPr>
            <p:spPr>
              <a:xfrm>
                <a:off x="1152128" y="0"/>
                <a:ext cx="42351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ea typeface="宋体" panose="02010600030101010101" pitchFamily="2" charset="-122"/>
                  </a:rPr>
                  <a:t>2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79" name="文本框 52"/>
              <p:cNvSpPr txBox="1"/>
              <p:nvPr/>
            </p:nvSpPr>
            <p:spPr>
              <a:xfrm>
                <a:off x="1296144" y="648072"/>
                <a:ext cx="42351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ea typeface="宋体" panose="02010600030101010101" pitchFamily="2" charset="-122"/>
                  </a:rPr>
                  <a:t>3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80" name="文本框 53"/>
              <p:cNvSpPr txBox="1"/>
              <p:nvPr/>
            </p:nvSpPr>
            <p:spPr>
              <a:xfrm>
                <a:off x="1397809" y="1440160"/>
                <a:ext cx="42351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ea typeface="宋体" panose="02010600030101010101" pitchFamily="2" charset="-122"/>
                  </a:rPr>
                  <a:t>4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15381" name="文本框 54"/>
              <p:cNvSpPr txBox="1"/>
              <p:nvPr/>
            </p:nvSpPr>
            <p:spPr>
              <a:xfrm>
                <a:off x="1656184" y="1876164"/>
                <a:ext cx="423514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2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lvl="1" indent="-28575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lvl="2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lvl="3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lvl="4" indent="-228600" algn="l" rtl="0" eaLnBrk="0" fontAlgn="base" hangingPunct="0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i="1" dirty="0"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ea typeface="宋体" panose="02010600030101010101" pitchFamily="2" charset="-122"/>
                  </a:rPr>
                  <a:t>5</a:t>
                </a:r>
                <a:endParaRPr lang="zh-CN" altLang="en-US" sz="1800" baseline="-250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367" name="任意形状 28686"/>
            <p:cNvSpPr/>
            <p:nvPr/>
          </p:nvSpPr>
          <p:spPr>
            <a:xfrm>
              <a:off x="474028" y="550813"/>
              <a:ext cx="2030327" cy="1423020"/>
            </a:xfrm>
            <a:custGeom>
              <a:avLst/>
              <a:gdLst/>
              <a:ahLst/>
              <a:cxnLst>
                <a:cxn ang="0">
                  <a:pos x="2031830" y="0"/>
                </a:cxn>
                <a:cxn ang="0">
                  <a:pos x="1259163" y="935426"/>
                </a:cxn>
                <a:cxn ang="0">
                  <a:pos x="0" y="1417313"/>
                </a:cxn>
              </a:cxnLst>
              <a:pathLst>
                <a:path w="2028825" h="1428750">
                  <a:moveTo>
                    <a:pt x="2028825" y="0"/>
                  </a:moveTo>
                  <a:cubicBezTo>
                    <a:pt x="1812131" y="352425"/>
                    <a:pt x="1595437" y="704850"/>
                    <a:pt x="1257300" y="942975"/>
                  </a:cubicBezTo>
                  <a:cubicBezTo>
                    <a:pt x="919163" y="1181100"/>
                    <a:pt x="0" y="1428750"/>
                    <a:pt x="0" y="1428750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68" name="任意形状 28692"/>
            <p:cNvSpPr/>
            <p:nvPr/>
          </p:nvSpPr>
          <p:spPr>
            <a:xfrm>
              <a:off x="1575642" y="379363"/>
              <a:ext cx="200025" cy="2000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0025" y="114300"/>
                </a:cxn>
                <a:cxn ang="0">
                  <a:pos x="0" y="200025"/>
                </a:cxn>
              </a:cxnLst>
              <a:pathLst>
                <a:path w="200025" h="200025">
                  <a:moveTo>
                    <a:pt x="0" y="0"/>
                  </a:moveTo>
                  <a:cubicBezTo>
                    <a:pt x="100012" y="40481"/>
                    <a:pt x="200025" y="80963"/>
                    <a:pt x="200025" y="114300"/>
                  </a:cubicBezTo>
                  <a:cubicBezTo>
                    <a:pt x="200025" y="147637"/>
                    <a:pt x="0" y="200025"/>
                    <a:pt x="0" y="200025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69" name="任意形状 28698"/>
            <p:cNvSpPr/>
            <p:nvPr/>
          </p:nvSpPr>
          <p:spPr>
            <a:xfrm>
              <a:off x="1875705" y="1108026"/>
              <a:ext cx="228600" cy="242887"/>
            </a:xfrm>
            <a:custGeom>
              <a:avLst/>
              <a:gdLst/>
              <a:ahLst/>
              <a:cxnLst>
                <a:cxn ang="0">
                  <a:pos x="71437" y="0"/>
                </a:cxn>
                <a:cxn ang="0">
                  <a:pos x="0" y="242887"/>
                </a:cxn>
                <a:cxn ang="0">
                  <a:pos x="0" y="242887"/>
                </a:cxn>
                <a:cxn ang="0">
                  <a:pos x="0" y="242887"/>
                </a:cxn>
                <a:cxn ang="0">
                  <a:pos x="228600" y="242887"/>
                </a:cxn>
                <a:cxn ang="0">
                  <a:pos x="228600" y="242887"/>
                </a:cxn>
              </a:cxnLst>
              <a:pathLst>
                <a:path w="228600" h="242887">
                  <a:moveTo>
                    <a:pt x="71437" y="0"/>
                  </a:moveTo>
                  <a:lnTo>
                    <a:pt x="0" y="242887"/>
                  </a:lnTo>
                  <a:lnTo>
                    <a:pt x="228600" y="242887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70" name="任意形状 28699"/>
            <p:cNvSpPr/>
            <p:nvPr/>
          </p:nvSpPr>
          <p:spPr>
            <a:xfrm>
              <a:off x="1105659" y="1019244"/>
              <a:ext cx="298558" cy="213418"/>
            </a:xfrm>
            <a:custGeom>
              <a:avLst/>
              <a:gdLst/>
              <a:ahLst/>
              <a:cxnLst>
                <a:cxn ang="0">
                  <a:pos x="117032" y="261005"/>
                </a:cxn>
                <a:cxn ang="0">
                  <a:pos x="5902" y="4573"/>
                </a:cxn>
                <a:cxn ang="0">
                  <a:pos x="277551" y="90050"/>
                </a:cxn>
              </a:cxnLst>
              <a:pathLst>
                <a:path w="321155" h="174507">
                  <a:moveTo>
                    <a:pt x="135418" y="174507"/>
                  </a:moveTo>
                  <a:cubicBezTo>
                    <a:pt x="55646" y="98307"/>
                    <a:pt x="-24126" y="22107"/>
                    <a:pt x="6830" y="3057"/>
                  </a:cubicBezTo>
                  <a:cubicBezTo>
                    <a:pt x="37786" y="-15993"/>
                    <a:pt x="321155" y="60207"/>
                    <a:pt x="321155" y="60207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71" name="任意形状 28700"/>
            <p:cNvSpPr/>
            <p:nvPr/>
          </p:nvSpPr>
          <p:spPr>
            <a:xfrm>
              <a:off x="1332780" y="1865263"/>
              <a:ext cx="285876" cy="257175"/>
            </a:xfrm>
            <a:custGeom>
              <a:avLst/>
              <a:gdLst/>
              <a:ahLst/>
              <a:cxnLst>
                <a:cxn ang="0">
                  <a:pos x="28575" y="0"/>
                </a:cxn>
                <a:cxn ang="0">
                  <a:pos x="285750" y="142875"/>
                </a:cxn>
                <a:cxn ang="0">
                  <a:pos x="0" y="257175"/>
                </a:cxn>
              </a:cxnLst>
              <a:pathLst>
                <a:path w="285876" h="257175">
                  <a:moveTo>
                    <a:pt x="28575" y="0"/>
                  </a:moveTo>
                  <a:cubicBezTo>
                    <a:pt x="159544" y="50006"/>
                    <a:pt x="290513" y="100013"/>
                    <a:pt x="285750" y="142875"/>
                  </a:cubicBezTo>
                  <a:cubicBezTo>
                    <a:pt x="280988" y="185738"/>
                    <a:pt x="0" y="257175"/>
                    <a:pt x="0" y="257175"/>
                  </a:cubicBez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无向图基本关联矩阵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设</a:t>
            </a:r>
            <a:r>
              <a:rPr lang="en-US" altLang="zh-CN" dirty="0"/>
              <a:t>G=&lt;V,E&gt;</a:t>
            </a:r>
            <a:r>
              <a:rPr lang="zh-CN" altLang="en-US" dirty="0"/>
              <a:t>是无环无向连通图</a:t>
            </a:r>
            <a:r>
              <a:rPr lang="en-US" altLang="zh-CN" dirty="0"/>
              <a:t>,V={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n</a:t>
            </a:r>
            <a:r>
              <a:rPr lang="en-US" altLang="zh-CN" dirty="0"/>
              <a:t>},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E={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m</a:t>
            </a:r>
            <a:r>
              <a:rPr lang="en-US" altLang="zh-CN" dirty="0"/>
              <a:t>}</a:t>
            </a:r>
            <a:endParaRPr lang="en-US" altLang="zh-CN" dirty="0"/>
          </a:p>
          <a:p>
            <a:r>
              <a:rPr lang="zh-CN" altLang="en-US" dirty="0"/>
              <a:t>参考点</a:t>
            </a:r>
            <a:r>
              <a:rPr lang="en-US" altLang="zh-CN" dirty="0"/>
              <a:t>: </a:t>
            </a:r>
            <a:r>
              <a:rPr lang="zh-CN" altLang="en-US" dirty="0"/>
              <a:t>任意</a:t>
            </a:r>
            <a:r>
              <a:rPr lang="en-US" altLang="zh-CN" dirty="0"/>
              <a:t>1</a:t>
            </a:r>
            <a:r>
              <a:rPr lang="zh-CN" altLang="en-US" dirty="0"/>
              <a:t>个顶点</a:t>
            </a:r>
            <a:endParaRPr lang="zh-CN" altLang="en-US" dirty="0"/>
          </a:p>
          <a:p>
            <a:r>
              <a:rPr lang="zh-CN" altLang="en-US" dirty="0">
                <a:solidFill>
                  <a:schemeClr val="hlink"/>
                </a:solidFill>
              </a:rPr>
              <a:t>基本关联矩阵</a:t>
            </a:r>
            <a:r>
              <a:rPr lang="en-US" altLang="zh-CN" dirty="0"/>
              <a:t>(fundamental incidencematrix): </a:t>
            </a:r>
            <a:r>
              <a:rPr lang="zh-CN" altLang="en-US" dirty="0"/>
              <a:t>从</a:t>
            </a:r>
            <a:r>
              <a:rPr lang="en-US" altLang="zh-CN" dirty="0"/>
              <a:t>M(G)</a:t>
            </a:r>
            <a:r>
              <a:rPr lang="zh-CN" altLang="en-US" dirty="0"/>
              <a:t>中删除参考点对应的行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en-US" altLang="zh-CN" dirty="0"/>
              <a:t>M</a:t>
            </a:r>
            <a:r>
              <a:rPr lang="en-US" altLang="zh-CN" i="1" baseline="-25000" dirty="0"/>
              <a:t>f</a:t>
            </a:r>
            <a:r>
              <a:rPr lang="en-US" altLang="zh-CN" dirty="0"/>
              <a:t>(G)</a:t>
            </a:r>
            <a:r>
              <a:rPr lang="zh-CN" altLang="en-US" dirty="0"/>
              <a:t>.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非连通图G的基本关联矩阵</a:t>
            </a:r>
            <a:r>
              <a:rPr lang="en-US" altLang="zh-CN" dirty="0"/>
              <a:t>M</a:t>
            </a:r>
            <a:r>
              <a:rPr lang="en-US" altLang="zh-CN" i="1" baseline="-25000" dirty="0"/>
              <a:t>f</a:t>
            </a:r>
            <a:r>
              <a:rPr lang="en-US" altLang="zh-CN" dirty="0"/>
              <a:t>(G)</a:t>
            </a:r>
            <a:r>
              <a:rPr lang="zh-CN" altLang="en-US" dirty="0"/>
              <a:t>是从</a:t>
            </a:r>
            <a:r>
              <a:rPr lang="en-US" altLang="zh-CN" dirty="0"/>
              <a:t>M(G)</a:t>
            </a:r>
            <a:r>
              <a:rPr lang="zh-CN" altLang="en-US" dirty="0"/>
              <a:t>的每个对角块中删除任意</a:t>
            </a:r>
            <a:r>
              <a:rPr lang="en-US" altLang="zh-CN" dirty="0"/>
              <a:t>1</a:t>
            </a:r>
            <a:r>
              <a:rPr lang="zh-CN" altLang="en-US" dirty="0"/>
              <a:t>行而得到的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无向图关联矩阵的秩</a:t>
            </a:r>
            <a:endParaRPr lang="zh-CN" altLang="en-US" dirty="0"/>
          </a:p>
        </p:txBody>
      </p:sp>
      <p:sp>
        <p:nvSpPr>
          <p:cNvPr id="16386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1219200"/>
            <a:ext cx="8686800" cy="5378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10.1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如果无向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连通图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个结点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r(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))=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-1. 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(1)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M(G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)每行对应1个断集, 断集空间C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断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的维数是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-1, 所以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(M(G))≤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-1.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(2)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下面证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M(G)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的前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行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,M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,…,M</a:t>
            </a:r>
            <a:r>
              <a:rPr kumimoji="0" lang="en-US" altLang="zh-CN" sz="2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线性无关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(M(G))≥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-1. (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反证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必存在不全为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,…,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F={0,1},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在模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加法意义下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使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     </a:t>
            </a:r>
            <a:r>
              <a:rPr kumimoji="0" lang="en-US" altLang="zh-CN" sz="2800" b="1" i="1" u="none" strike="noStrike" kern="1200" cap="none" spc="0" normalizeH="0" baseline="-5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sz="2800" b="1" i="0" u="none" strike="noStrike" kern="1200" cap="none" spc="0" normalizeH="0" baseline="-5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=1</a:t>
            </a:r>
            <a:r>
              <a:rPr kumimoji="0" lang="en-US" altLang="zh-CN" sz="2800" b="1" i="1" u="none" strike="noStrike" kern="1200" cap="none" spc="0" normalizeH="0" baseline="5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n</a:t>
            </a:r>
            <a:r>
              <a:rPr kumimoji="0" lang="en-US" altLang="zh-CN" sz="2800" b="1" i="0" u="none" strike="noStrike" kern="1200" cap="none" spc="0" normalizeH="0" baseline="5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-1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k</a:t>
            </a:r>
            <a:r>
              <a:rPr kumimoji="0" lang="en-US" altLang="zh-CN" sz="2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M</a:t>
            </a:r>
            <a:r>
              <a:rPr kumimoji="0" lang="en-US" altLang="zh-CN" sz="2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=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0(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向量模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加法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,0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是指零向量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).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不妨设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=…=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=1,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s+1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s+2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=…=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=0,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并且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1.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否则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M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=0,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即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b="1" i="0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是孤立点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与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连通矛盾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.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所以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2s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n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-1.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41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93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9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26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74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定理</a:t>
            </a:r>
            <a:r>
              <a:rPr lang="en-US" altLang="zh-CN" dirty="0"/>
              <a:t>10.1(</a:t>
            </a:r>
            <a:r>
              <a:rPr lang="zh-CN" altLang="en-US" dirty="0"/>
              <a:t>证明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8435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ym typeface="Symbol" panose="05050102010706020507" pitchFamily="18" charset="2"/>
              </a:rPr>
              <a:t></a:t>
            </a:r>
            <a:r>
              <a:rPr lang="en-US" altLang="zh-CN" i="1" baseline="-50000" dirty="0">
                <a:sym typeface="Symbol" panose="05050102010706020507" pitchFamily="18" charset="2"/>
              </a:rPr>
              <a:t>i</a:t>
            </a:r>
            <a:r>
              <a:rPr lang="en-US" altLang="zh-CN" baseline="-50000" dirty="0">
                <a:sym typeface="Symbol" panose="05050102010706020507" pitchFamily="18" charset="2"/>
              </a:rPr>
              <a:t>=1</a:t>
            </a:r>
            <a:r>
              <a:rPr lang="en-US" altLang="zh-CN" baseline="50000" dirty="0">
                <a:sym typeface="Symbol" panose="05050102010706020507" pitchFamily="18" charset="2"/>
              </a:rPr>
              <a:t>s</a:t>
            </a:r>
            <a:r>
              <a:rPr lang="en-US" altLang="zh-CN" i="1" dirty="0">
                <a:sym typeface="Symbol" panose="05050102010706020507" pitchFamily="18" charset="2"/>
              </a:rPr>
              <a:t>M</a:t>
            </a:r>
            <a:r>
              <a:rPr lang="en-US" altLang="zh-CN" i="1" baseline="-25000" dirty="0">
                <a:sym typeface="Symbol" panose="05050102010706020507" pitchFamily="18" charset="2"/>
              </a:rPr>
              <a:t>i</a:t>
            </a:r>
            <a:r>
              <a:rPr lang="en-US" altLang="zh-CN" i="1" dirty="0">
                <a:sym typeface="Symbol" panose="05050102010706020507" pitchFamily="18" charset="2"/>
              </a:rPr>
              <a:t>=</a:t>
            </a:r>
            <a:r>
              <a:rPr lang="en-US" altLang="zh-CN" dirty="0">
                <a:sym typeface="Symbol" panose="05050102010706020507" pitchFamily="18" charset="2"/>
              </a:rPr>
              <a:t>0,</a:t>
            </a:r>
            <a:r>
              <a:rPr lang="zh-CN" altLang="en-US" dirty="0">
                <a:sym typeface="Symbol" panose="05050102010706020507" pitchFamily="18" charset="2"/>
              </a:rPr>
              <a:t>即</a:t>
            </a:r>
            <a:r>
              <a:rPr lang="en-US" altLang="zh-CN" dirty="0"/>
              <a:t>M</a:t>
            </a:r>
            <a:r>
              <a:rPr lang="en-US" altLang="zh-CN" baseline="-25000" dirty="0"/>
              <a:t>1</a:t>
            </a:r>
            <a:r>
              <a:rPr lang="en-US" altLang="zh-CN" dirty="0"/>
              <a:t>⊕M</a:t>
            </a:r>
            <a:r>
              <a:rPr lang="en-US" altLang="zh-CN" baseline="-25000" dirty="0"/>
              <a:t>2</a:t>
            </a:r>
            <a:r>
              <a:rPr lang="en-US" altLang="zh-CN" dirty="0"/>
              <a:t>⊕…⊕M</a:t>
            </a:r>
            <a:r>
              <a:rPr lang="en-US" altLang="zh-CN" baseline="-25000" dirty="0"/>
              <a:t>s</a:t>
            </a:r>
            <a:r>
              <a:rPr lang="en-US" altLang="zh-CN" dirty="0"/>
              <a:t>=0</a:t>
            </a:r>
            <a:r>
              <a:rPr lang="en-US" altLang="zh-CN" baseline="-25000" dirty="0"/>
              <a:t>1×m</a:t>
            </a:r>
            <a:r>
              <a:rPr lang="en-US" altLang="zh-CN" dirty="0"/>
              <a:t>,</a:t>
            </a:r>
            <a:r>
              <a:rPr lang="zh-CN" altLang="en-US" dirty="0"/>
              <a:t>易知</a:t>
            </a:r>
            <a:r>
              <a:rPr lang="zh-CN" altLang="en-US" dirty="0">
                <a:sym typeface="Symbol" panose="05050102010706020507" pitchFamily="18" charset="2"/>
              </a:rPr>
              <a:t>在</a:t>
            </a:r>
            <a:r>
              <a:rPr lang="en-US" altLang="zh-CN" dirty="0">
                <a:sym typeface="Symbol" panose="05050102010706020507" pitchFamily="18" charset="2"/>
              </a:rPr>
              <a:t>M(G)</a:t>
            </a:r>
            <a:r>
              <a:rPr lang="zh-CN" altLang="en-US" dirty="0">
                <a:sym typeface="Symbol" panose="05050102010706020507" pitchFamily="18" charset="2"/>
              </a:rPr>
              <a:t>子阵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                        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                               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中</a:t>
            </a:r>
            <a:r>
              <a:rPr lang="zh-CN" altLang="en-US" dirty="0">
                <a:solidFill>
                  <a:srgbClr val="FF00FF"/>
                </a:solidFill>
              </a:rPr>
              <a:t>每列或有</a:t>
            </a:r>
            <a:r>
              <a:rPr lang="en-US" altLang="zh-CN" dirty="0">
                <a:solidFill>
                  <a:srgbClr val="FF00FF"/>
                </a:solidFill>
              </a:rPr>
              <a:t>2</a:t>
            </a:r>
            <a:r>
              <a:rPr lang="zh-CN" altLang="en-US" dirty="0">
                <a:solidFill>
                  <a:srgbClr val="FF00FF"/>
                </a:solidFill>
              </a:rPr>
              <a:t>个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zh-CN" altLang="en-US" dirty="0">
                <a:solidFill>
                  <a:srgbClr val="FF00FF"/>
                </a:solidFill>
              </a:rPr>
              <a:t>或全是</a:t>
            </a:r>
            <a:r>
              <a:rPr lang="en-US" altLang="zh-CN" dirty="0">
                <a:solidFill>
                  <a:srgbClr val="FF00FF"/>
                </a:solidFill>
              </a:rPr>
              <a:t>0.</a:t>
            </a:r>
            <a:endParaRPr lang="zh-CN" altLang="en-US" dirty="0">
              <a:solidFill>
                <a:srgbClr val="FF00FF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令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s</a:t>
            </a:r>
            <a:r>
              <a:rPr lang="en-US" altLang="zh-CN" dirty="0"/>
              <a:t>}, </a:t>
            </a:r>
            <a:r>
              <a:rPr lang="zh-CN" altLang="en-US" dirty="0"/>
              <a:t>则</a:t>
            </a:r>
            <a:r>
              <a:rPr lang="en-US" altLang="zh-CN" dirty="0"/>
              <a:t>(V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1</a:t>
            </a:r>
            <a:r>
              <a:rPr lang="en-US" altLang="zh-CN" dirty="0"/>
              <a:t>)=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 </a:t>
            </a:r>
            <a:r>
              <a:rPr lang="zh-CN" altLang="en-US" dirty="0"/>
              <a:t>即</a:t>
            </a:r>
            <a:r>
              <a:rPr lang="en-US" altLang="zh-CN" dirty="0"/>
              <a:t>G</a:t>
            </a:r>
            <a:r>
              <a:rPr lang="zh-CN" altLang="en-US" dirty="0"/>
              <a:t>不连通</a:t>
            </a:r>
            <a:r>
              <a:rPr lang="en-US" altLang="zh-CN" dirty="0"/>
              <a:t>, </a:t>
            </a:r>
            <a:r>
              <a:rPr lang="zh-CN" altLang="en-US" dirty="0"/>
              <a:t>矛盾</a:t>
            </a:r>
            <a:r>
              <a:rPr lang="en-US" altLang="zh-CN" dirty="0"/>
              <a:t>! </a:t>
            </a:r>
            <a:endParaRPr lang="zh-CN" altLang="en-US" dirty="0"/>
          </a:p>
        </p:txBody>
      </p:sp>
      <p:graphicFrame>
        <p:nvGraphicFramePr>
          <p:cNvPr id="18436" name="对象 17411"/>
          <p:cNvGraphicFramePr>
            <a:graphicFrameLocks noChangeAspect="1"/>
          </p:cNvGraphicFramePr>
          <p:nvPr/>
        </p:nvGraphicFramePr>
        <p:xfrm>
          <a:off x="1547813" y="2132013"/>
          <a:ext cx="1458912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27735" imgH="1156970" progId="">
                  <p:embed/>
                </p:oleObj>
              </mc:Choice>
              <mc:Fallback>
                <p:oleObj name="" r:id="rId1" imgW="927735" imgH="115697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2132013"/>
                        <a:ext cx="1458912" cy="1944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Line 8"/>
          <p:cNvSpPr/>
          <p:nvPr/>
        </p:nvSpPr>
        <p:spPr>
          <a:xfrm>
            <a:off x="4140200" y="4652963"/>
            <a:ext cx="36036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无向图基本关联矩阵的秩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10.2</a:t>
            </a:r>
            <a:r>
              <a:rPr lang="en-US" altLang="zh-CN" dirty="0"/>
              <a:t>: G</a:t>
            </a:r>
            <a:r>
              <a:rPr lang="zh-CN" altLang="en-US" dirty="0"/>
              <a:t>连通⇒</a:t>
            </a:r>
            <a:r>
              <a:rPr lang="en-US" altLang="zh-CN" i="1" dirty="0"/>
              <a:t>r</a:t>
            </a:r>
            <a:r>
              <a:rPr lang="en-US" altLang="zh-CN" dirty="0"/>
              <a:t>(M</a:t>
            </a:r>
            <a:r>
              <a:rPr lang="en-US" altLang="zh-CN" i="1" baseline="-25000" dirty="0"/>
              <a:t>f</a:t>
            </a:r>
            <a:r>
              <a:rPr lang="en-US" altLang="zh-CN" dirty="0"/>
              <a:t>(G))=</a:t>
            </a:r>
            <a:r>
              <a:rPr lang="en-US" altLang="zh-CN" i="1" dirty="0"/>
              <a:t>n</a:t>
            </a:r>
            <a:r>
              <a:rPr lang="en-US" altLang="zh-CN" dirty="0"/>
              <a:t>-1.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推论</a:t>
            </a:r>
            <a:r>
              <a:rPr lang="en-US" altLang="zh-CN" dirty="0">
                <a:solidFill>
                  <a:schemeClr val="hlink"/>
                </a:solidFill>
              </a:rPr>
              <a:t>1:</a:t>
            </a:r>
            <a:r>
              <a:rPr lang="en-US" altLang="zh-CN" dirty="0"/>
              <a:t> G</a:t>
            </a:r>
            <a:r>
              <a:rPr lang="zh-CN" altLang="en-US" dirty="0"/>
              <a:t>有</a:t>
            </a:r>
            <a:r>
              <a:rPr lang="en-US" altLang="zh-CN" i="1" dirty="0"/>
              <a:t>p</a:t>
            </a:r>
            <a:r>
              <a:rPr lang="zh-CN" altLang="en-US" dirty="0"/>
              <a:t>个连通分支⇒</a:t>
            </a:r>
            <a:r>
              <a:rPr lang="en-US" altLang="zh-CN" i="1" dirty="0"/>
              <a:t>r</a:t>
            </a:r>
            <a:r>
              <a:rPr lang="en-US" altLang="zh-CN" dirty="0"/>
              <a:t>(M(G))</a:t>
            </a:r>
            <a:r>
              <a:rPr lang="zh-CN" altLang="en-US" dirty="0"/>
              <a:t>=</a:t>
            </a:r>
            <a:r>
              <a:rPr lang="en-US" altLang="zh-CN" i="1" dirty="0"/>
              <a:t>r</a:t>
            </a:r>
            <a:r>
              <a:rPr lang="en-US" altLang="zh-CN" dirty="0"/>
              <a:t>(M</a:t>
            </a:r>
            <a:r>
              <a:rPr lang="en-US" altLang="zh-CN" i="1" baseline="-25000" dirty="0"/>
              <a:t>f</a:t>
            </a:r>
            <a:r>
              <a:rPr lang="en-US" altLang="zh-CN" dirty="0"/>
              <a:t>(G))=</a:t>
            </a:r>
            <a:r>
              <a:rPr lang="en-US" altLang="zh-CN" i="1" dirty="0"/>
              <a:t>n</a:t>
            </a:r>
            <a:r>
              <a:rPr lang="en-US" altLang="zh-CN" dirty="0"/>
              <a:t>-</a:t>
            </a:r>
            <a:r>
              <a:rPr lang="en-US" altLang="zh-CN" i="1" dirty="0"/>
              <a:t>p</a:t>
            </a:r>
            <a:endParaRPr lang="en-US" altLang="zh-CN" i="1" dirty="0"/>
          </a:p>
          <a:p>
            <a:r>
              <a:rPr lang="zh-CN" altLang="en-US" dirty="0">
                <a:solidFill>
                  <a:schemeClr val="hlink"/>
                </a:solidFill>
              </a:rPr>
              <a:t>推论</a:t>
            </a:r>
            <a:r>
              <a:rPr lang="en-US" altLang="zh-CN" dirty="0">
                <a:solidFill>
                  <a:schemeClr val="hlink"/>
                </a:solidFill>
              </a:rPr>
              <a:t>2:</a:t>
            </a:r>
            <a:r>
              <a:rPr lang="en-US" altLang="zh-CN" dirty="0"/>
              <a:t> G</a:t>
            </a:r>
            <a:r>
              <a:rPr lang="zh-CN" altLang="en-US" dirty="0"/>
              <a:t>连通⇔</a:t>
            </a:r>
            <a:r>
              <a:rPr lang="en-US" altLang="zh-CN" i="1" dirty="0"/>
              <a:t>r</a:t>
            </a:r>
            <a:r>
              <a:rPr lang="en-US" altLang="zh-CN" dirty="0"/>
              <a:t>(M(G))=</a:t>
            </a:r>
            <a:r>
              <a:rPr lang="en-US" altLang="zh-CN" i="1" dirty="0"/>
              <a:t>r</a:t>
            </a:r>
            <a:r>
              <a:rPr lang="en-US" altLang="zh-CN" dirty="0"/>
              <a:t>(M</a:t>
            </a:r>
            <a:r>
              <a:rPr lang="en-US" altLang="zh-CN" i="1" baseline="-25000" dirty="0"/>
              <a:t>f</a:t>
            </a:r>
            <a:r>
              <a:rPr lang="en-US" altLang="zh-CN" dirty="0"/>
              <a:t>(G))=</a:t>
            </a:r>
            <a:r>
              <a:rPr lang="en-US" altLang="zh-CN" i="1" dirty="0"/>
              <a:t>n</a:t>
            </a:r>
            <a:r>
              <a:rPr lang="en-US" altLang="zh-CN" dirty="0"/>
              <a:t>-1. 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基本关联矩阵与生成树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10.3:</a:t>
            </a:r>
            <a:r>
              <a:rPr lang="en-US" altLang="zh-CN" dirty="0"/>
              <a:t> G</a:t>
            </a:r>
            <a:r>
              <a:rPr lang="zh-CN" altLang="en-US" dirty="0"/>
              <a:t>连通</a:t>
            </a:r>
            <a:r>
              <a:rPr lang="en-US" altLang="zh-CN" dirty="0"/>
              <a:t>, 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zh-CN" altLang="en-US" dirty="0"/>
              <a:t>是</a:t>
            </a:r>
            <a:r>
              <a:rPr lang="en-US" altLang="zh-CN" dirty="0"/>
              <a:t>M</a:t>
            </a:r>
            <a:r>
              <a:rPr lang="en-US" altLang="zh-CN" i="1" baseline="-25000" dirty="0"/>
              <a:t>f</a:t>
            </a:r>
            <a:r>
              <a:rPr lang="en-US" altLang="zh-CN" dirty="0"/>
              <a:t>(G)</a:t>
            </a:r>
            <a:r>
              <a:rPr lang="zh-CN" altLang="en-US" dirty="0"/>
              <a:t>中任意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列组成的方阵</a:t>
            </a:r>
            <a:r>
              <a:rPr lang="en-US" altLang="zh-CN" dirty="0"/>
              <a:t>, 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zh-CN" altLang="en-US" dirty="0"/>
              <a:t>中各列对应的边集是</a:t>
            </a:r>
            <a:r>
              <a:rPr lang="en-US" altLang="zh-CN" dirty="0"/>
              <a:t>{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i</a:t>
            </a:r>
            <a:r>
              <a:rPr lang="en-US" altLang="zh-CN" baseline="-50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i</a:t>
            </a:r>
            <a:r>
              <a:rPr lang="en-US" altLang="zh-CN" baseline="-50000" dirty="0"/>
              <a:t>2</a:t>
            </a:r>
            <a:r>
              <a:rPr lang="en-US" altLang="zh-CN" dirty="0"/>
              <a:t>,…,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i</a:t>
            </a:r>
            <a:r>
              <a:rPr lang="en-US" altLang="zh-CN" i="1" baseline="-50000" dirty="0"/>
              <a:t>n-</a:t>
            </a:r>
            <a:r>
              <a:rPr lang="en-US" altLang="zh-CN" baseline="-50000" dirty="0"/>
              <a:t>1</a:t>
            </a:r>
            <a:r>
              <a:rPr lang="en-US" altLang="zh-CN" dirty="0"/>
              <a:t>}, T</a:t>
            </a:r>
            <a:r>
              <a:rPr lang="zh-CN" altLang="en-US" dirty="0"/>
              <a:t>是导出子图</a:t>
            </a:r>
            <a:r>
              <a:rPr lang="en-US" altLang="zh-CN" dirty="0"/>
              <a:t>G[{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i</a:t>
            </a:r>
            <a:r>
              <a:rPr lang="en-US" altLang="zh-CN" baseline="-50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i</a:t>
            </a:r>
            <a:r>
              <a:rPr lang="en-US" altLang="zh-CN" baseline="-50000" dirty="0"/>
              <a:t>2</a:t>
            </a:r>
            <a:r>
              <a:rPr lang="en-US" altLang="zh-CN" dirty="0"/>
              <a:t>,…,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i</a:t>
            </a:r>
            <a:r>
              <a:rPr lang="en-US" altLang="zh-CN" i="1" baseline="-50000" dirty="0"/>
              <a:t>n-</a:t>
            </a:r>
            <a:r>
              <a:rPr lang="en-US" altLang="zh-CN" baseline="-50000" dirty="0"/>
              <a:t>1</a:t>
            </a:r>
            <a:r>
              <a:rPr lang="en-US" altLang="zh-CN" dirty="0"/>
              <a:t>], </a:t>
            </a:r>
            <a:r>
              <a:rPr lang="zh-CN" altLang="en-US" dirty="0"/>
              <a:t>则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       T</a:t>
            </a:r>
            <a:r>
              <a:rPr lang="zh-CN" altLang="en-US" dirty="0"/>
              <a:t>是</a:t>
            </a:r>
            <a:r>
              <a:rPr lang="en-US" altLang="zh-CN" dirty="0"/>
              <a:t>G</a:t>
            </a:r>
            <a:r>
              <a:rPr lang="zh-CN" altLang="en-US" dirty="0"/>
              <a:t>的生成树⇔ </a:t>
            </a:r>
            <a:r>
              <a:rPr lang="en-US" altLang="zh-CN" dirty="0"/>
              <a:t>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zh-CN" altLang="en-US" dirty="0"/>
              <a:t>的行列式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dirty="0"/>
              <a:t>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en-US" altLang="zh-CN" dirty="0"/>
              <a:t>|≠0</a:t>
            </a:r>
            <a:endParaRPr lang="en-US" altLang="zh-CN" dirty="0"/>
          </a:p>
          <a:p>
            <a:pPr>
              <a:buNone/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M(T) =M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en-US" altLang="zh-CN" dirty="0"/>
              <a:t>, T</a:t>
            </a:r>
            <a:r>
              <a:rPr lang="zh-CN" altLang="en-US" dirty="0"/>
              <a:t>是</a:t>
            </a:r>
            <a:r>
              <a:rPr lang="en-US" altLang="zh-CN" dirty="0"/>
              <a:t>G</a:t>
            </a:r>
            <a:r>
              <a:rPr lang="zh-CN" altLang="en-US" dirty="0"/>
              <a:t>的生成树⇔</a:t>
            </a:r>
            <a:r>
              <a:rPr lang="en-US" altLang="zh-CN" dirty="0"/>
              <a:t>T</a:t>
            </a:r>
            <a:r>
              <a:rPr lang="zh-CN" altLang="en-US" dirty="0"/>
              <a:t>连通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⇔</a:t>
            </a:r>
            <a:r>
              <a:rPr lang="en-US" altLang="zh-CN" i="1" dirty="0"/>
              <a:t>r</a:t>
            </a:r>
            <a:r>
              <a:rPr lang="en-US" altLang="zh-CN" dirty="0"/>
              <a:t>(M(T))=</a:t>
            </a:r>
            <a:r>
              <a:rPr lang="en-US" altLang="zh-CN" i="1" dirty="0"/>
              <a:t>n</a:t>
            </a:r>
            <a:r>
              <a:rPr lang="en-US" altLang="zh-CN" dirty="0"/>
              <a:t>-1⇔</a:t>
            </a:r>
            <a:r>
              <a:rPr lang="en-US" altLang="zh-CN" i="1" dirty="0"/>
              <a:t>r</a:t>
            </a:r>
            <a:r>
              <a:rPr lang="en-US" altLang="zh-CN" dirty="0"/>
              <a:t>(M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en-US" altLang="zh-CN" dirty="0"/>
              <a:t>)=</a:t>
            </a:r>
            <a:r>
              <a:rPr lang="en-US" altLang="zh-CN" i="1" dirty="0"/>
              <a:t>n</a:t>
            </a:r>
            <a:r>
              <a:rPr lang="en-US" altLang="zh-CN" dirty="0"/>
              <a:t>-1⇔M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en-US" altLang="zh-CN" dirty="0"/>
              <a:t> </a:t>
            </a:r>
            <a:r>
              <a:rPr lang="zh-CN" altLang="en-US" dirty="0"/>
              <a:t>满秩⇔</a:t>
            </a:r>
            <a:r>
              <a:rPr lang="en-US" altLang="zh-CN" dirty="0"/>
              <a:t>|M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i="1" baseline="-25000" dirty="0"/>
              <a:t>f</a:t>
            </a:r>
            <a:r>
              <a:rPr lang="en-US" altLang="zh-CN" dirty="0"/>
              <a:t>|≠0. </a:t>
            </a:r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说明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上述运算是在</a:t>
            </a:r>
            <a:r>
              <a:rPr lang="en-US" altLang="zh-CN" dirty="0">
                <a:solidFill>
                  <a:srgbClr val="FF0000"/>
                </a:solidFill>
              </a:rPr>
              <a:t>F={0,1}</a:t>
            </a:r>
            <a:r>
              <a:rPr lang="zh-CN" altLang="en-US" dirty="0"/>
              <a:t>上进行的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0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32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59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206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用关联矩阵求所有生成树</a:t>
            </a:r>
            <a:endParaRPr lang="zh-CN" altLang="en-US" dirty="0"/>
          </a:p>
        </p:txBody>
      </p:sp>
      <p:sp>
        <p:nvSpPr>
          <p:cNvPr id="22531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忽略环</a:t>
            </a:r>
            <a:r>
              <a:rPr lang="en-US" altLang="zh-CN" dirty="0"/>
              <a:t>, </a:t>
            </a:r>
            <a:r>
              <a:rPr lang="zh-CN" altLang="en-US" dirty="0"/>
              <a:t>求关联矩阵</a:t>
            </a:r>
            <a:endParaRPr lang="zh-CN" altLang="en-US" dirty="0"/>
          </a:p>
          <a:p>
            <a:r>
              <a:rPr lang="zh-CN" altLang="en-US" dirty="0"/>
              <a:t>任选参考点</a:t>
            </a:r>
            <a:r>
              <a:rPr lang="en-US" altLang="zh-CN" dirty="0"/>
              <a:t>, </a:t>
            </a:r>
            <a:r>
              <a:rPr lang="zh-CN" altLang="en-US" dirty="0"/>
              <a:t>求基本关联矩阵</a:t>
            </a:r>
            <a:endParaRPr lang="zh-CN" altLang="en-US" dirty="0"/>
          </a:p>
          <a:p>
            <a:r>
              <a:rPr lang="zh-CN" altLang="en-US" dirty="0"/>
              <a:t>求所有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阶子方阵</a:t>
            </a:r>
            <a:r>
              <a:rPr lang="en-US" altLang="zh-CN" dirty="0"/>
              <a:t>,</a:t>
            </a:r>
            <a:r>
              <a:rPr lang="zh-CN" altLang="en-US" dirty="0"/>
              <a:t>计算行列式</a:t>
            </a:r>
            <a:r>
              <a:rPr lang="en-US" altLang="zh-CN" dirty="0"/>
              <a:t>,</a:t>
            </a:r>
            <a:r>
              <a:rPr lang="zh-CN" altLang="en-US" dirty="0"/>
              <a:t>行列式非</a:t>
            </a:r>
            <a:r>
              <a:rPr lang="en-US" altLang="zh-CN" dirty="0"/>
              <a:t>0</a:t>
            </a:r>
            <a:r>
              <a:rPr lang="zh-CN" altLang="en-US" dirty="0"/>
              <a:t>的是生成树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求下图所有生成树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22552" name="表格 22551"/>
          <p:cNvGraphicFramePr/>
          <p:nvPr/>
        </p:nvGraphicFramePr>
        <p:xfrm>
          <a:off x="4356100" y="3068638"/>
          <a:ext cx="3844925" cy="3159125"/>
        </p:xfrm>
        <a:graphic>
          <a:graphicData uri="http://schemas.openxmlformats.org/drawingml/2006/table">
            <a:tbl>
              <a:tblPr/>
              <a:tblGrid>
                <a:gridCol w="503238"/>
                <a:gridCol w="595312"/>
                <a:gridCol w="549275"/>
                <a:gridCol w="549275"/>
                <a:gridCol w="549275"/>
                <a:gridCol w="549275"/>
                <a:gridCol w="549275"/>
              </a:tblGrid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en-US" sz="2800" baseline="-25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825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4" marB="457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3592" name="Group 96"/>
          <p:cNvGrpSpPr/>
          <p:nvPr/>
        </p:nvGrpSpPr>
        <p:grpSpPr>
          <a:xfrm>
            <a:off x="4816475" y="3811588"/>
            <a:ext cx="3311525" cy="2136775"/>
            <a:chOff x="0" y="0"/>
            <a:chExt cx="2104" cy="1633"/>
          </a:xfrm>
        </p:grpSpPr>
        <p:sp>
          <p:nvSpPr>
            <p:cNvPr id="23594" name="AutoShape 97"/>
            <p:cNvSpPr/>
            <p:nvPr/>
          </p:nvSpPr>
          <p:spPr>
            <a:xfrm>
              <a:off x="0" y="45"/>
              <a:ext cx="91" cy="1543"/>
            </a:xfrm>
            <a:prstGeom prst="leftBracket">
              <a:avLst>
                <a:gd name="adj" fmla="val 14122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95" name="AutoShape 98"/>
            <p:cNvSpPr/>
            <p:nvPr/>
          </p:nvSpPr>
          <p:spPr>
            <a:xfrm>
              <a:off x="2014" y="0"/>
              <a:ext cx="90" cy="1633"/>
            </a:xfrm>
            <a:prstGeom prst="rightBracket">
              <a:avLst>
                <a:gd name="adj" fmla="val 15095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593" name="Text Box 100"/>
          <p:cNvSpPr txBox="1"/>
          <p:nvPr/>
        </p:nvSpPr>
        <p:spPr>
          <a:xfrm>
            <a:off x="3119438" y="4551363"/>
            <a:ext cx="12366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M(G)=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4579" name="Group 4"/>
          <p:cNvGrpSpPr/>
          <p:nvPr/>
        </p:nvGrpSpPr>
        <p:grpSpPr>
          <a:xfrm>
            <a:off x="611188" y="1341438"/>
            <a:ext cx="3311525" cy="2535237"/>
            <a:chOff x="0" y="0"/>
            <a:chExt cx="2086" cy="1597"/>
          </a:xfrm>
        </p:grpSpPr>
        <p:sp>
          <p:nvSpPr>
            <p:cNvPr id="24620" name="Oval 5"/>
            <p:cNvSpPr/>
            <p:nvPr/>
          </p:nvSpPr>
          <p:spPr>
            <a:xfrm>
              <a:off x="408" y="318"/>
              <a:ext cx="136" cy="136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1" name="Oval 6"/>
            <p:cNvSpPr/>
            <p:nvPr/>
          </p:nvSpPr>
          <p:spPr>
            <a:xfrm>
              <a:off x="1759" y="30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2" name="Oval 7"/>
            <p:cNvSpPr/>
            <p:nvPr/>
          </p:nvSpPr>
          <p:spPr>
            <a:xfrm>
              <a:off x="1769" y="1179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3" name="Oval 8"/>
            <p:cNvSpPr/>
            <p:nvPr/>
          </p:nvSpPr>
          <p:spPr>
            <a:xfrm>
              <a:off x="408" y="1215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4" name="Line 9"/>
            <p:cNvSpPr/>
            <p:nvPr/>
          </p:nvSpPr>
          <p:spPr>
            <a:xfrm>
              <a:off x="544" y="363"/>
              <a:ext cx="12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5" name="Line 10"/>
            <p:cNvSpPr/>
            <p:nvPr/>
          </p:nvSpPr>
          <p:spPr>
            <a:xfrm>
              <a:off x="1832" y="445"/>
              <a:ext cx="0" cy="7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6" name="Line 11"/>
            <p:cNvSpPr/>
            <p:nvPr/>
          </p:nvSpPr>
          <p:spPr>
            <a:xfrm>
              <a:off x="544" y="1270"/>
              <a:ext cx="12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24627" name="AutoShape 12"/>
            <p:cNvCxnSpPr>
              <a:stCxn id="24620" idx="2"/>
              <a:endCxn id="24623" idx="2"/>
            </p:cNvCxnSpPr>
            <p:nvPr/>
          </p:nvCxnSpPr>
          <p:spPr>
            <a:xfrm rot="10800000" flipH="1" flipV="1">
              <a:off x="408" y="386"/>
              <a:ext cx="1" cy="897"/>
            </a:xfrm>
            <a:prstGeom prst="curvedConnector3">
              <a:avLst>
                <a:gd name="adj1" fmla="val -144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4628" name="AutoShape 13"/>
            <p:cNvCxnSpPr>
              <a:stCxn id="24620" idx="2"/>
              <a:endCxn id="24623" idx="2"/>
            </p:cNvCxnSpPr>
            <p:nvPr/>
          </p:nvCxnSpPr>
          <p:spPr>
            <a:xfrm rot="10800000" flipH="1" flipV="1">
              <a:off x="544" y="363"/>
              <a:ext cx="1" cy="897"/>
            </a:xfrm>
            <a:prstGeom prst="curvedConnector3">
              <a:avLst>
                <a:gd name="adj1" fmla="val 112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4629" name="Line 14"/>
            <p:cNvSpPr/>
            <p:nvPr/>
          </p:nvSpPr>
          <p:spPr>
            <a:xfrm>
              <a:off x="544" y="363"/>
              <a:ext cx="1270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0" name="Text Box 15"/>
            <p:cNvSpPr txBox="1"/>
            <p:nvPr/>
          </p:nvSpPr>
          <p:spPr>
            <a:xfrm>
              <a:off x="305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1" name="Text Box 16"/>
            <p:cNvSpPr txBox="1"/>
            <p:nvPr/>
          </p:nvSpPr>
          <p:spPr>
            <a:xfrm>
              <a:off x="1678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2" name="Text Box 17"/>
            <p:cNvSpPr txBox="1"/>
            <p:nvPr/>
          </p:nvSpPr>
          <p:spPr>
            <a:xfrm>
              <a:off x="1769" y="1225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3" name="Text Box 18"/>
            <p:cNvSpPr txBox="1"/>
            <p:nvPr/>
          </p:nvSpPr>
          <p:spPr>
            <a:xfrm>
              <a:off x="317" y="127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4" name="Text Box 19"/>
            <p:cNvSpPr txBox="1"/>
            <p:nvPr/>
          </p:nvSpPr>
          <p:spPr>
            <a:xfrm>
              <a:off x="0" y="59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5" name="Text Box 20"/>
            <p:cNvSpPr txBox="1"/>
            <p:nvPr/>
          </p:nvSpPr>
          <p:spPr>
            <a:xfrm>
              <a:off x="408" y="635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6" name="Text Box 21"/>
            <p:cNvSpPr txBox="1"/>
            <p:nvPr/>
          </p:nvSpPr>
          <p:spPr>
            <a:xfrm>
              <a:off x="1043" y="45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7" name="Text Box 22"/>
            <p:cNvSpPr txBox="1"/>
            <p:nvPr/>
          </p:nvSpPr>
          <p:spPr>
            <a:xfrm>
              <a:off x="998" y="68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8" name="Text Box 23"/>
            <p:cNvSpPr txBox="1"/>
            <p:nvPr/>
          </p:nvSpPr>
          <p:spPr>
            <a:xfrm>
              <a:off x="998" y="1179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5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9" name="Text Box 24"/>
            <p:cNvSpPr txBox="1"/>
            <p:nvPr/>
          </p:nvSpPr>
          <p:spPr>
            <a:xfrm>
              <a:off x="1795" y="68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6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求所有生成树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,</a:t>
            </a:r>
            <a:r>
              <a:rPr lang="zh-CN" altLang="en-US" b="0" dirty="0"/>
              <a:t>续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grpSp>
        <p:nvGrpSpPr>
          <p:cNvPr id="24579" name="Group 4"/>
          <p:cNvGrpSpPr/>
          <p:nvPr/>
        </p:nvGrpSpPr>
        <p:grpSpPr>
          <a:xfrm>
            <a:off x="611188" y="1341438"/>
            <a:ext cx="3311525" cy="2535237"/>
            <a:chOff x="0" y="0"/>
            <a:chExt cx="2086" cy="1597"/>
          </a:xfrm>
        </p:grpSpPr>
        <p:sp>
          <p:nvSpPr>
            <p:cNvPr id="24620" name="Oval 5"/>
            <p:cNvSpPr/>
            <p:nvPr/>
          </p:nvSpPr>
          <p:spPr>
            <a:xfrm>
              <a:off x="408" y="318"/>
              <a:ext cx="136" cy="136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1" name="Oval 6"/>
            <p:cNvSpPr/>
            <p:nvPr/>
          </p:nvSpPr>
          <p:spPr>
            <a:xfrm>
              <a:off x="1759" y="30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2" name="Oval 7"/>
            <p:cNvSpPr/>
            <p:nvPr/>
          </p:nvSpPr>
          <p:spPr>
            <a:xfrm>
              <a:off x="1769" y="1179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3" name="Oval 8"/>
            <p:cNvSpPr/>
            <p:nvPr/>
          </p:nvSpPr>
          <p:spPr>
            <a:xfrm>
              <a:off x="408" y="1215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24" name="Line 9"/>
            <p:cNvSpPr/>
            <p:nvPr/>
          </p:nvSpPr>
          <p:spPr>
            <a:xfrm>
              <a:off x="544" y="363"/>
              <a:ext cx="12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5" name="Line 10"/>
            <p:cNvSpPr/>
            <p:nvPr/>
          </p:nvSpPr>
          <p:spPr>
            <a:xfrm>
              <a:off x="1832" y="445"/>
              <a:ext cx="0" cy="7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6" name="Line 11"/>
            <p:cNvSpPr/>
            <p:nvPr/>
          </p:nvSpPr>
          <p:spPr>
            <a:xfrm>
              <a:off x="544" y="1270"/>
              <a:ext cx="12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24627" name="AutoShape 12"/>
            <p:cNvCxnSpPr>
              <a:stCxn id="24620" idx="2"/>
              <a:endCxn id="24623" idx="2"/>
            </p:cNvCxnSpPr>
            <p:nvPr/>
          </p:nvCxnSpPr>
          <p:spPr>
            <a:xfrm rot="10800000" flipH="1" flipV="1">
              <a:off x="408" y="386"/>
              <a:ext cx="1" cy="897"/>
            </a:xfrm>
            <a:prstGeom prst="curvedConnector3">
              <a:avLst>
                <a:gd name="adj1" fmla="val -144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4628" name="AutoShape 13"/>
            <p:cNvCxnSpPr>
              <a:stCxn id="24620" idx="2"/>
              <a:endCxn id="24623" idx="2"/>
            </p:cNvCxnSpPr>
            <p:nvPr/>
          </p:nvCxnSpPr>
          <p:spPr>
            <a:xfrm rot="10800000" flipH="1" flipV="1">
              <a:off x="544" y="363"/>
              <a:ext cx="1" cy="897"/>
            </a:xfrm>
            <a:prstGeom prst="curvedConnector3">
              <a:avLst>
                <a:gd name="adj1" fmla="val 112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4629" name="Line 14"/>
            <p:cNvSpPr/>
            <p:nvPr/>
          </p:nvSpPr>
          <p:spPr>
            <a:xfrm>
              <a:off x="544" y="363"/>
              <a:ext cx="1270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0" name="Text Box 15"/>
            <p:cNvSpPr txBox="1"/>
            <p:nvPr/>
          </p:nvSpPr>
          <p:spPr>
            <a:xfrm>
              <a:off x="305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1" name="Text Box 16"/>
            <p:cNvSpPr txBox="1"/>
            <p:nvPr/>
          </p:nvSpPr>
          <p:spPr>
            <a:xfrm>
              <a:off x="1678" y="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2" name="Text Box 17"/>
            <p:cNvSpPr txBox="1"/>
            <p:nvPr/>
          </p:nvSpPr>
          <p:spPr>
            <a:xfrm>
              <a:off x="1769" y="1225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3" name="Text Box 18"/>
            <p:cNvSpPr txBox="1"/>
            <p:nvPr/>
          </p:nvSpPr>
          <p:spPr>
            <a:xfrm>
              <a:off x="317" y="127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4" name="Text Box 19"/>
            <p:cNvSpPr txBox="1"/>
            <p:nvPr/>
          </p:nvSpPr>
          <p:spPr>
            <a:xfrm>
              <a:off x="0" y="59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5" name="Text Box 20"/>
            <p:cNvSpPr txBox="1"/>
            <p:nvPr/>
          </p:nvSpPr>
          <p:spPr>
            <a:xfrm>
              <a:off x="408" y="635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6" name="Text Box 21"/>
            <p:cNvSpPr txBox="1"/>
            <p:nvPr/>
          </p:nvSpPr>
          <p:spPr>
            <a:xfrm>
              <a:off x="1043" y="45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7" name="Text Box 22"/>
            <p:cNvSpPr txBox="1"/>
            <p:nvPr/>
          </p:nvSpPr>
          <p:spPr>
            <a:xfrm>
              <a:off x="998" y="68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8" name="Text Box 23"/>
            <p:cNvSpPr txBox="1"/>
            <p:nvPr/>
          </p:nvSpPr>
          <p:spPr>
            <a:xfrm>
              <a:off x="998" y="1179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5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4639" name="Text Box 24"/>
            <p:cNvSpPr txBox="1"/>
            <p:nvPr/>
          </p:nvSpPr>
          <p:spPr>
            <a:xfrm>
              <a:off x="1795" y="680"/>
              <a:ext cx="2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6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3576" name="表格 23575"/>
          <p:cNvGraphicFramePr/>
          <p:nvPr/>
        </p:nvGraphicFramePr>
        <p:xfrm>
          <a:off x="4356100" y="3068638"/>
          <a:ext cx="3844925" cy="3087688"/>
        </p:xfrm>
        <a:graphic>
          <a:graphicData uri="http://schemas.openxmlformats.org/drawingml/2006/table">
            <a:tbl>
              <a:tblPr/>
              <a:tblGrid>
                <a:gridCol w="503238"/>
                <a:gridCol w="595312"/>
                <a:gridCol w="549275"/>
                <a:gridCol w="549275"/>
                <a:gridCol w="549275"/>
                <a:gridCol w="549275"/>
                <a:gridCol w="549275"/>
              </a:tblGrid>
              <a:tr h="63172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en-US" sz="2800" baseline="-25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0796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72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72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72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07" marB="457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4616" name="Group 85"/>
          <p:cNvGrpSpPr/>
          <p:nvPr/>
        </p:nvGrpSpPr>
        <p:grpSpPr>
          <a:xfrm>
            <a:off x="4816475" y="3811588"/>
            <a:ext cx="3311525" cy="2136775"/>
            <a:chOff x="0" y="0"/>
            <a:chExt cx="2104" cy="1633"/>
          </a:xfrm>
        </p:grpSpPr>
        <p:sp>
          <p:nvSpPr>
            <p:cNvPr id="24618" name="AutoShape 86"/>
            <p:cNvSpPr/>
            <p:nvPr/>
          </p:nvSpPr>
          <p:spPr>
            <a:xfrm>
              <a:off x="0" y="45"/>
              <a:ext cx="91" cy="1543"/>
            </a:xfrm>
            <a:prstGeom prst="leftBracket">
              <a:avLst>
                <a:gd name="adj" fmla="val 14122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19" name="AutoShape 87"/>
            <p:cNvSpPr/>
            <p:nvPr/>
          </p:nvSpPr>
          <p:spPr>
            <a:xfrm>
              <a:off x="2014" y="0"/>
              <a:ext cx="90" cy="1633"/>
            </a:xfrm>
            <a:prstGeom prst="rightBracket">
              <a:avLst>
                <a:gd name="adj" fmla="val 15095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617" name="Text Box 88"/>
          <p:cNvSpPr txBox="1"/>
          <p:nvPr/>
        </p:nvSpPr>
        <p:spPr>
          <a:xfrm>
            <a:off x="3119438" y="4551363"/>
            <a:ext cx="13176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M</a:t>
            </a:r>
            <a:r>
              <a:rPr lang="en-US" altLang="zh-CN" i="1" baseline="-25000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(G)=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求所有生成树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,</a:t>
            </a:r>
            <a:r>
              <a:rPr lang="zh-CN" altLang="en-US" b="0" dirty="0"/>
              <a:t>续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grpSp>
        <p:nvGrpSpPr>
          <p:cNvPr id="25603" name="Group 4"/>
          <p:cNvGrpSpPr/>
          <p:nvPr/>
        </p:nvGrpSpPr>
        <p:grpSpPr>
          <a:xfrm>
            <a:off x="179388" y="1412875"/>
            <a:ext cx="3251200" cy="2397125"/>
            <a:chOff x="0" y="0"/>
            <a:chExt cx="2092" cy="1621"/>
          </a:xfrm>
        </p:grpSpPr>
        <p:sp>
          <p:nvSpPr>
            <p:cNvPr id="25703" name="Oval 5"/>
            <p:cNvSpPr/>
            <p:nvPr/>
          </p:nvSpPr>
          <p:spPr>
            <a:xfrm>
              <a:off x="408" y="318"/>
              <a:ext cx="136" cy="136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04" name="Oval 6"/>
            <p:cNvSpPr/>
            <p:nvPr/>
          </p:nvSpPr>
          <p:spPr>
            <a:xfrm>
              <a:off x="1759" y="30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05" name="Oval 7"/>
            <p:cNvSpPr/>
            <p:nvPr/>
          </p:nvSpPr>
          <p:spPr>
            <a:xfrm>
              <a:off x="1769" y="1179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06" name="Oval 8"/>
            <p:cNvSpPr/>
            <p:nvPr/>
          </p:nvSpPr>
          <p:spPr>
            <a:xfrm>
              <a:off x="408" y="1215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07" name="Line 9"/>
            <p:cNvSpPr/>
            <p:nvPr/>
          </p:nvSpPr>
          <p:spPr>
            <a:xfrm>
              <a:off x="544" y="363"/>
              <a:ext cx="12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708" name="Line 10"/>
            <p:cNvSpPr/>
            <p:nvPr/>
          </p:nvSpPr>
          <p:spPr>
            <a:xfrm>
              <a:off x="1832" y="445"/>
              <a:ext cx="0" cy="7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709" name="Line 11"/>
            <p:cNvSpPr/>
            <p:nvPr/>
          </p:nvSpPr>
          <p:spPr>
            <a:xfrm>
              <a:off x="544" y="1270"/>
              <a:ext cx="12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25710" name="AutoShape 12"/>
            <p:cNvCxnSpPr>
              <a:stCxn id="25703" idx="2"/>
              <a:endCxn id="25706" idx="2"/>
            </p:cNvCxnSpPr>
            <p:nvPr/>
          </p:nvCxnSpPr>
          <p:spPr>
            <a:xfrm rot="10800000" flipH="1" flipV="1">
              <a:off x="408" y="386"/>
              <a:ext cx="1" cy="897"/>
            </a:xfrm>
            <a:prstGeom prst="curvedConnector3">
              <a:avLst>
                <a:gd name="adj1" fmla="val -144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5711" name="AutoShape 13"/>
            <p:cNvCxnSpPr>
              <a:stCxn id="25703" idx="2"/>
              <a:endCxn id="25706" idx="2"/>
            </p:cNvCxnSpPr>
            <p:nvPr/>
          </p:nvCxnSpPr>
          <p:spPr>
            <a:xfrm rot="10800000" flipH="1" flipV="1">
              <a:off x="544" y="363"/>
              <a:ext cx="1" cy="897"/>
            </a:xfrm>
            <a:prstGeom prst="curvedConnector3">
              <a:avLst>
                <a:gd name="adj1" fmla="val 11200005"/>
              </a:avLst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5712" name="Line 14"/>
            <p:cNvSpPr/>
            <p:nvPr/>
          </p:nvSpPr>
          <p:spPr>
            <a:xfrm>
              <a:off x="544" y="363"/>
              <a:ext cx="1270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713" name="Text Box 15"/>
            <p:cNvSpPr txBox="1"/>
            <p:nvPr/>
          </p:nvSpPr>
          <p:spPr>
            <a:xfrm>
              <a:off x="305" y="0"/>
              <a:ext cx="29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14" name="Text Box 16"/>
            <p:cNvSpPr txBox="1"/>
            <p:nvPr/>
          </p:nvSpPr>
          <p:spPr>
            <a:xfrm>
              <a:off x="1678" y="0"/>
              <a:ext cx="29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15" name="Text Box 17"/>
            <p:cNvSpPr txBox="1"/>
            <p:nvPr/>
          </p:nvSpPr>
          <p:spPr>
            <a:xfrm>
              <a:off x="1769" y="1225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16" name="Text Box 18"/>
            <p:cNvSpPr txBox="1"/>
            <p:nvPr/>
          </p:nvSpPr>
          <p:spPr>
            <a:xfrm>
              <a:off x="317" y="1270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17" name="Text Box 19"/>
            <p:cNvSpPr txBox="1"/>
            <p:nvPr/>
          </p:nvSpPr>
          <p:spPr>
            <a:xfrm>
              <a:off x="0" y="590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18" name="Text Box 20"/>
            <p:cNvSpPr txBox="1"/>
            <p:nvPr/>
          </p:nvSpPr>
          <p:spPr>
            <a:xfrm>
              <a:off x="408" y="635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19" name="Text Box 21"/>
            <p:cNvSpPr txBox="1"/>
            <p:nvPr/>
          </p:nvSpPr>
          <p:spPr>
            <a:xfrm>
              <a:off x="1043" y="45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0" name="Text Box 22"/>
            <p:cNvSpPr txBox="1"/>
            <p:nvPr/>
          </p:nvSpPr>
          <p:spPr>
            <a:xfrm>
              <a:off x="998" y="680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1" name="Text Box 23"/>
            <p:cNvSpPr txBox="1"/>
            <p:nvPr/>
          </p:nvSpPr>
          <p:spPr>
            <a:xfrm>
              <a:off x="998" y="1180"/>
              <a:ext cx="297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5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2" name="Text Box 24"/>
            <p:cNvSpPr txBox="1"/>
            <p:nvPr/>
          </p:nvSpPr>
          <p:spPr>
            <a:xfrm>
              <a:off x="1795" y="680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e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6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3" name="Text Box 18"/>
            <p:cNvSpPr txBox="1"/>
            <p:nvPr/>
          </p:nvSpPr>
          <p:spPr>
            <a:xfrm>
              <a:off x="328" y="1260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4" name="Text Box 15"/>
            <p:cNvSpPr txBox="1"/>
            <p:nvPr/>
          </p:nvSpPr>
          <p:spPr>
            <a:xfrm>
              <a:off x="305" y="0"/>
              <a:ext cx="29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5" name="Text Box 16"/>
            <p:cNvSpPr txBox="1"/>
            <p:nvPr/>
          </p:nvSpPr>
          <p:spPr>
            <a:xfrm>
              <a:off x="1678" y="0"/>
              <a:ext cx="29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4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6" name="Text Box 17"/>
            <p:cNvSpPr txBox="1"/>
            <p:nvPr/>
          </p:nvSpPr>
          <p:spPr>
            <a:xfrm>
              <a:off x="1769" y="1225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3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25727" name="Text Box 18"/>
            <p:cNvSpPr txBox="1"/>
            <p:nvPr/>
          </p:nvSpPr>
          <p:spPr>
            <a:xfrm>
              <a:off x="328" y="1260"/>
              <a:ext cx="29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i="1" dirty="0"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ea typeface="宋体" panose="02010600030101010101" pitchFamily="2" charset="-122"/>
                </a:rPr>
                <a:t>2</a:t>
              </a:r>
              <a:endParaRPr lang="en-US" altLang="zh-CN" baseline="-25000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" name="表格 24599"/>
          <p:cNvGraphicFramePr/>
          <p:nvPr/>
        </p:nvGraphicFramePr>
        <p:xfrm>
          <a:off x="1236663" y="3500438"/>
          <a:ext cx="3844925" cy="3087688"/>
        </p:xfrm>
        <a:graphic>
          <a:graphicData uri="http://schemas.openxmlformats.org/drawingml/2006/table">
            <a:tbl>
              <a:tblPr/>
              <a:tblGrid>
                <a:gridCol w="503238"/>
                <a:gridCol w="595312"/>
                <a:gridCol w="549275"/>
                <a:gridCol w="549275"/>
                <a:gridCol w="549275"/>
                <a:gridCol w="549275"/>
                <a:gridCol w="549275"/>
              </a:tblGrid>
              <a:tr h="63171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en-US" sz="2800" baseline="-2500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0814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en-US" altLang="x-none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71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71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1718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i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28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716" marB="4571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5640" name="Group 85"/>
          <p:cNvGrpSpPr/>
          <p:nvPr/>
        </p:nvGrpSpPr>
        <p:grpSpPr>
          <a:xfrm>
            <a:off x="1697038" y="4243388"/>
            <a:ext cx="3311525" cy="2136775"/>
            <a:chOff x="0" y="0"/>
            <a:chExt cx="2104" cy="1633"/>
          </a:xfrm>
        </p:grpSpPr>
        <p:sp>
          <p:nvSpPr>
            <p:cNvPr id="25701" name="AutoShape 86"/>
            <p:cNvSpPr/>
            <p:nvPr/>
          </p:nvSpPr>
          <p:spPr>
            <a:xfrm>
              <a:off x="0" y="45"/>
              <a:ext cx="91" cy="1543"/>
            </a:xfrm>
            <a:prstGeom prst="leftBracket">
              <a:avLst>
                <a:gd name="adj" fmla="val 14122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02" name="AutoShape 87"/>
            <p:cNvSpPr/>
            <p:nvPr/>
          </p:nvSpPr>
          <p:spPr>
            <a:xfrm>
              <a:off x="2014" y="0"/>
              <a:ext cx="90" cy="1633"/>
            </a:xfrm>
            <a:prstGeom prst="rightBracket">
              <a:avLst>
                <a:gd name="adj" fmla="val 150951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lvl="1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lvl="2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lvl="3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lvl="4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41" name="Text Box 88"/>
          <p:cNvSpPr txBox="1"/>
          <p:nvPr/>
        </p:nvSpPr>
        <p:spPr>
          <a:xfrm>
            <a:off x="0" y="4983163"/>
            <a:ext cx="13176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M</a:t>
            </a:r>
            <a:r>
              <a:rPr lang="en-US" altLang="zh-CN" i="1" baseline="-25000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(G)=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4640" name="内容占位符 24639"/>
          <p:cNvGraphicFramePr>
            <a:graphicFrameLocks noGrp="1"/>
          </p:cNvGraphicFramePr>
          <p:nvPr>
            <p:ph idx="4294967295"/>
          </p:nvPr>
        </p:nvGraphicFramePr>
        <p:xfrm>
          <a:off x="5435600" y="1412875"/>
          <a:ext cx="3384550" cy="5256213"/>
        </p:xfrm>
        <a:graphic>
          <a:graphicData uri="http://schemas.openxmlformats.org/drawingml/2006/table">
            <a:tbl>
              <a:tblPr/>
              <a:tblGrid>
                <a:gridCol w="1152525"/>
                <a:gridCol w="539750"/>
                <a:gridCol w="1189038"/>
                <a:gridCol w="503237"/>
              </a:tblGrid>
              <a:tr h="525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1,2,3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2,3,4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1,2,4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2,3,5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1,2,5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2,3,6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1,2,6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2,4,5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1,3,4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2,4,6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1,3,5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2,5,6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1,3,6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3,4,5</a:t>
                      </a:r>
                      <a:endParaRPr lang="zh-CN" altLang="en-US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1,4,5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3,4,6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solidFill>
                            <a:srgbClr val="0066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lang="en-US" altLang="zh-CN" sz="2400" dirty="0">
                        <a:solidFill>
                          <a:srgbClr val="0066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2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1,4,6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3,5,6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1,5,6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4,5,6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18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Oval 5"/>
          <p:cNvSpPr/>
          <p:nvPr/>
        </p:nvSpPr>
        <p:spPr>
          <a:xfrm>
            <a:off x="1258888" y="1846263"/>
            <a:ext cx="215900" cy="2159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Oval 6"/>
          <p:cNvSpPr/>
          <p:nvPr/>
        </p:nvSpPr>
        <p:spPr>
          <a:xfrm>
            <a:off x="3403600" y="1830388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Oval 7"/>
          <p:cNvSpPr/>
          <p:nvPr/>
        </p:nvSpPr>
        <p:spPr>
          <a:xfrm>
            <a:off x="3419475" y="3213100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Oval 8"/>
          <p:cNvSpPr/>
          <p:nvPr/>
        </p:nvSpPr>
        <p:spPr>
          <a:xfrm>
            <a:off x="1258888" y="3270250"/>
            <a:ext cx="215900" cy="215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Line 9"/>
          <p:cNvSpPr/>
          <p:nvPr/>
        </p:nvSpPr>
        <p:spPr>
          <a:xfrm>
            <a:off x="1474788" y="1917700"/>
            <a:ext cx="194468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</p:sp>
      <p:cxnSp>
        <p:nvCxnSpPr>
          <p:cNvPr id="26631" name="AutoShape 12"/>
          <p:cNvCxnSpPr>
            <a:stCxn id="26626" idx="2"/>
            <a:endCxn id="26629" idx="2"/>
          </p:cNvCxnSpPr>
          <p:nvPr/>
        </p:nvCxnSpPr>
        <p:spPr>
          <a:xfrm rot="10800000" flipH="1" flipV="1">
            <a:off x="1258888" y="1954213"/>
            <a:ext cx="1587" cy="1423987"/>
          </a:xfrm>
          <a:prstGeom prst="curvedConnector3">
            <a:avLst>
              <a:gd name="adj1" fmla="val -14400005"/>
            </a:avLst>
          </a:prstGeom>
          <a:ln w="2857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</p:cxnSp>
      <p:sp>
        <p:nvSpPr>
          <p:cNvPr id="26632" name="Line 14"/>
          <p:cNvSpPr/>
          <p:nvPr/>
        </p:nvSpPr>
        <p:spPr>
          <a:xfrm>
            <a:off x="1474788" y="1917700"/>
            <a:ext cx="2016125" cy="13684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6633" name="Text Box 19"/>
          <p:cNvSpPr txBox="1"/>
          <p:nvPr/>
        </p:nvSpPr>
        <p:spPr>
          <a:xfrm>
            <a:off x="611188" y="2278063"/>
            <a:ext cx="4619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34" name="Text Box 21"/>
          <p:cNvSpPr txBox="1"/>
          <p:nvPr/>
        </p:nvSpPr>
        <p:spPr>
          <a:xfrm>
            <a:off x="2266950" y="1412875"/>
            <a:ext cx="4619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ea typeface="宋体" panose="02010600030101010101" pitchFamily="2" charset="-122"/>
              </a:rPr>
              <a:t>3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35" name="Text Box 22"/>
          <p:cNvSpPr txBox="1"/>
          <p:nvPr/>
        </p:nvSpPr>
        <p:spPr>
          <a:xfrm>
            <a:off x="2195513" y="2420938"/>
            <a:ext cx="4619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ea typeface="宋体" panose="02010600030101010101" pitchFamily="2" charset="-122"/>
              </a:rPr>
              <a:t>4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36" name="文本框 25611"/>
          <p:cNvSpPr txBox="1"/>
          <p:nvPr/>
        </p:nvSpPr>
        <p:spPr>
          <a:xfrm>
            <a:off x="1979613" y="3933825"/>
            <a:ext cx="608012" cy="4111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dirty="0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1800" baseline="-25000" dirty="0">
                <a:latin typeface="Tahoma" panose="020B0604030504040204" pitchFamily="34" charset="0"/>
                <a:ea typeface="宋体" panose="02010600030101010101" pitchFamily="2" charset="-122"/>
              </a:rPr>
              <a:t>134</a:t>
            </a:r>
            <a:endParaRPr lang="zh-CN" altLang="en-US" sz="1800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7" name="文本框 25612"/>
          <p:cNvSpPr txBox="1"/>
          <p:nvPr/>
        </p:nvSpPr>
        <p:spPr>
          <a:xfrm>
            <a:off x="5148263" y="2565400"/>
            <a:ext cx="4587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0" dirty="0">
                <a:latin typeface="Tahoma" panose="020B0604030504040204" pitchFamily="34" charset="0"/>
                <a:ea typeface="宋体" panose="02010600030101010101" pitchFamily="2" charset="-122"/>
              </a:rPr>
              <a:t>...</a:t>
            </a:r>
            <a:endParaRPr lang="zh-CN" altLang="en-US" sz="2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0" dirty="0"/>
              <a:t>求所有生成树</a:t>
            </a:r>
            <a:r>
              <a:rPr lang="en-US" altLang="zh-CN" b="0" dirty="0"/>
              <a:t>(</a:t>
            </a:r>
            <a:r>
              <a:rPr lang="zh-CN" altLang="en-US" b="0" dirty="0"/>
              <a:t>例</a:t>
            </a:r>
            <a:r>
              <a:rPr lang="en-US" altLang="zh-CN" b="0" dirty="0"/>
              <a:t>,</a:t>
            </a:r>
            <a:r>
              <a:rPr lang="zh-CN" altLang="en-US" b="0" dirty="0"/>
              <a:t>续</a:t>
            </a:r>
            <a:r>
              <a:rPr lang="en-US" altLang="zh-CN" b="0" dirty="0"/>
              <a:t>)</a:t>
            </a:r>
            <a:endParaRPr lang="zh-CN" altLang="en-US" b="0" dirty="0"/>
          </a:p>
        </p:txBody>
      </p:sp>
      <p:sp>
        <p:nvSpPr>
          <p:cNvPr id="26639" name="Text Box 15"/>
          <p:cNvSpPr txBox="1"/>
          <p:nvPr/>
        </p:nvSpPr>
        <p:spPr>
          <a:xfrm>
            <a:off x="1084263" y="1412875"/>
            <a:ext cx="463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40" name="Text Box 16"/>
          <p:cNvSpPr txBox="1"/>
          <p:nvPr/>
        </p:nvSpPr>
        <p:spPr>
          <a:xfrm>
            <a:off x="3217863" y="1412875"/>
            <a:ext cx="463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ea typeface="宋体" panose="02010600030101010101" pitchFamily="2" charset="-122"/>
              </a:rPr>
              <a:t>4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41" name="Text Box 17"/>
          <p:cNvSpPr txBox="1"/>
          <p:nvPr/>
        </p:nvSpPr>
        <p:spPr>
          <a:xfrm>
            <a:off x="3359150" y="3224213"/>
            <a:ext cx="4619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ea typeface="宋体" panose="02010600030101010101" pitchFamily="2" charset="-122"/>
              </a:rPr>
              <a:t>3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26642" name="Text Box 18"/>
          <p:cNvSpPr txBox="1"/>
          <p:nvPr/>
        </p:nvSpPr>
        <p:spPr>
          <a:xfrm>
            <a:off x="1119188" y="3276600"/>
            <a:ext cx="4619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endParaRPr lang="en-US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1" name="Rectangle 3"/>
          <p:cNvSpPr>
            <a:spLocks noGrp="1"/>
          </p:cNvSpPr>
          <p:nvPr>
            <p:ph type="body" idx="4294967295"/>
          </p:nvPr>
        </p:nvSpPr>
        <p:spPr>
          <a:xfrm>
            <a:off x="323850" y="1412875"/>
            <a:ext cx="8496300" cy="792163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画出关联矩阵</a:t>
            </a:r>
            <a:r>
              <a:rPr lang="en-US" altLang="zh-CN" dirty="0"/>
              <a:t>M</a:t>
            </a:r>
            <a:r>
              <a:rPr lang="zh-CN" altLang="en-US" dirty="0"/>
              <a:t>表示的无向图。</a:t>
            </a:r>
            <a:endParaRPr lang="en-US" altLang="zh-CN" dirty="0"/>
          </a:p>
        </p:txBody>
      </p:sp>
      <p:pic>
        <p:nvPicPr>
          <p:cNvPr id="58373" name="文本框 11"/>
          <p:cNvPicPr/>
          <p:nvPr/>
        </p:nvPicPr>
        <p:blipFill>
          <a:blip r:embed="rId1"/>
          <a:stretch>
            <a:fillRect/>
          </a:stretch>
        </p:blipFill>
        <p:spPr>
          <a:xfrm>
            <a:off x="755333" y="2421255"/>
            <a:ext cx="3554412" cy="1500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6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b="0" dirty="0">
                <a:solidFill>
                  <a:srgbClr val="FF0000"/>
                </a:solidFill>
              </a:rPr>
              <a:t>课堂测试一</a:t>
            </a:r>
            <a:r>
              <a:rPr lang="zh-CN" altLang="en-US" sz="3600" b="0" dirty="0"/>
              <a:t>：</a:t>
            </a:r>
            <a:endParaRPr lang="zh-CN" altLang="en-US" sz="3600" b="0" dirty="0"/>
          </a:p>
        </p:txBody>
      </p:sp>
      <p:sp>
        <p:nvSpPr>
          <p:cNvPr id="4099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A0DB2DC-4C9A-4742-B13C-FB6460FD3503}" type="slidenum">
              <a:rPr lang="en-US" altLang="zh-CN" sz="1400" b="0" dirty="0">
                <a:solidFill>
                  <a:srgbClr val="002060"/>
                </a:solidFill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rgbClr val="00206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M_UNIT_TABLE_BEAUTIFY" val="smartTable{caf8fa72-fb02-4755-a982-15b78b273180}"/>
</p:tagLst>
</file>

<file path=ppt/tags/tag2.xml><?xml version="1.0" encoding="utf-8"?>
<p:tagLst xmlns:p="http://schemas.openxmlformats.org/presentationml/2006/main">
  <p:tag name="KSO_WPP_MARK_KEY" val="073b7755-f0dc-455f-ad30-3972a8ebfd82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2134</Words>
  <Application>WPS 演示</Application>
  <PresentationFormat>全屏显示(4:3)</PresentationFormat>
  <Paragraphs>722</Paragraphs>
  <Slides>20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Tahoma</vt:lpstr>
      <vt:lpstr>黑体</vt:lpstr>
      <vt:lpstr>Times New Roman</vt:lpstr>
      <vt:lpstr>微软雅黑</vt:lpstr>
      <vt:lpstr>Arial Unicode MS</vt:lpstr>
      <vt:lpstr>Symbol</vt:lpstr>
      <vt:lpstr>Blends</vt:lpstr>
      <vt:lpstr>Equation.DSMT4</vt:lpstr>
      <vt:lpstr>PowerPoint 演示文稿</vt:lpstr>
      <vt:lpstr>PowerPoint 演示文稿</vt:lpstr>
      <vt:lpstr>有向图关联矩阵</vt:lpstr>
      <vt:lpstr>有向图关联矩阵(例)</vt:lpstr>
      <vt:lpstr>有向图关联矩阵的性质</vt:lpstr>
      <vt:lpstr>无向图的关联矩阵</vt:lpstr>
      <vt:lpstr>无向图关联矩阵(例)</vt:lpstr>
      <vt:lpstr>无向图关联矩阵的性质</vt:lpstr>
      <vt:lpstr>举例</vt:lpstr>
      <vt:lpstr>无向图基本关联矩阵</vt:lpstr>
      <vt:lpstr>无向图关联矩阵的秩</vt:lpstr>
      <vt:lpstr>定理10.1(证明)</vt:lpstr>
      <vt:lpstr>无向图基本关联矩阵的秩</vt:lpstr>
      <vt:lpstr>基本关联矩阵与生成树</vt:lpstr>
      <vt:lpstr>用关联矩阵求所有生成树</vt:lpstr>
      <vt:lpstr>求下图所有生成树(例)</vt:lpstr>
      <vt:lpstr>求所有生成树(例,续)</vt:lpstr>
      <vt:lpstr>求所有生成树(例,续)</vt:lpstr>
      <vt:lpstr>求所有生成树(例,续)</vt:lpstr>
      <vt:lpstr>PowerPoint 演示文稿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864</cp:revision>
  <cp:lastPrinted>2018-05-01T15:35:00Z</cp:lastPrinted>
  <dcterms:created xsi:type="dcterms:W3CDTF">2008-01-04T07:39:00Z</dcterms:created>
  <dcterms:modified xsi:type="dcterms:W3CDTF">2025-11-10T15:51:46Z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D752446371D8498494877E707B77250D</vt:lpwstr>
  </property>
</Properties>
</file>