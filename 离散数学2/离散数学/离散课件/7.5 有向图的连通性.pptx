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320" r:id="rId4"/>
    <p:sldId id="321" r:id="rId6"/>
    <p:sldId id="322" r:id="rId7"/>
    <p:sldId id="323" r:id="rId8"/>
    <p:sldId id="324" r:id="rId9"/>
    <p:sldId id="326" r:id="rId10"/>
    <p:sldId id="327" r:id="rId11"/>
    <p:sldId id="328" r:id="rId12"/>
    <p:sldId id="329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808080"/>
    <a:srgbClr val="996633"/>
    <a:srgbClr val="FF0000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给定图，判定给定两点的可达性</a:t>
            </a:r>
            <a:endParaRPr lang="zh-CN" altLang="en-US" dirty="0"/>
          </a:p>
        </p:txBody>
      </p:sp>
      <p:sp>
        <p:nvSpPr>
          <p:cNvPr id="61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sz="1400" dirty="0">
                <a:solidFill>
                  <a:schemeClr val="hlink"/>
                </a:solidFill>
              </a:rPr>
              <a:t>基图：</a:t>
            </a:r>
            <a:r>
              <a:rPr lang="zh-CN" altLang="en-US" sz="1400" dirty="0"/>
              <a:t>把有向图中边的方向忽略得到的无向图称为该有向图的基图。</a:t>
            </a:r>
            <a:endParaRPr lang="zh-CN" altLang="en-US" sz="1400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先提问，再解答</a:t>
            </a: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给定一个有向图，提问：具有哪种连通性。</a:t>
            </a:r>
            <a:endParaRPr lang="en-US" altLang="zh-CN" dirty="0"/>
          </a:p>
        </p:txBody>
      </p:sp>
      <p:sp>
        <p:nvSpPr>
          <p:cNvPr id="1536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04813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36613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36613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651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0525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04813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36613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36613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651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0525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7.5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有向图的连通性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319213"/>
            <a:ext cx="8458200" cy="520541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/>
              <a:t>设有向图</a:t>
            </a:r>
            <a:r>
              <a:rPr lang="en-US" altLang="zh-CN" i="1" dirty="0"/>
              <a:t>D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i="1" dirty="0">
                <a:solidFill>
                  <a:schemeClr val="hlink"/>
                </a:solidFill>
              </a:rPr>
              <a:t>u</a:t>
            </a:r>
            <a:r>
              <a:rPr lang="zh-CN" altLang="en-US" dirty="0">
                <a:solidFill>
                  <a:schemeClr val="hlink"/>
                </a:solidFill>
              </a:rPr>
              <a:t>可达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u</a:t>
            </a:r>
            <a:r>
              <a:rPr lang="en-US" altLang="zh-CN" dirty="0">
                <a:solidFill>
                  <a:schemeClr val="hlink"/>
                </a:solidFill>
              </a:rPr>
              <a:t>→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i="1" dirty="0"/>
              <a:t>u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zh-CN" altLang="en-US" dirty="0"/>
              <a:t>有一条有向通路</a:t>
            </a:r>
            <a:r>
              <a:rPr lang="en-US" altLang="zh-CN" dirty="0"/>
              <a:t>. 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/>
              <a:t>规定</a:t>
            </a:r>
            <a:r>
              <a:rPr lang="en-US" altLang="zh-CN" i="1" dirty="0"/>
              <a:t>u</a:t>
            </a:r>
            <a:r>
              <a:rPr lang="zh-CN" altLang="en-US" dirty="0"/>
              <a:t>到自身总是可达的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sym typeface="+mn-ea"/>
              </a:rPr>
              <a:t>可达具有自反性和传递性，但不一定具有对称性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相互可达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u</a:t>
            </a:r>
            <a:r>
              <a:rPr lang="en-US" altLang="zh-CN" dirty="0">
                <a:solidFill>
                  <a:schemeClr val="hlink"/>
                </a:solidFill>
              </a:rPr>
              <a:t>↔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i="1" dirty="0"/>
              <a:t>u</a:t>
            </a:r>
            <a:r>
              <a:rPr lang="en-US" altLang="zh-CN" dirty="0"/>
              <a:t>→</a:t>
            </a:r>
            <a:r>
              <a:rPr lang="en-US" altLang="zh-CN" i="1" dirty="0"/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dirty="0"/>
              <a:t>→</a:t>
            </a:r>
            <a:r>
              <a:rPr lang="en-US" altLang="zh-CN" i="1" dirty="0"/>
              <a:t>u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u</a:t>
            </a:r>
            <a:r>
              <a:rPr lang="zh-CN" altLang="en-US" dirty="0">
                <a:solidFill>
                  <a:srgbClr val="FF0000"/>
                </a:solidFill>
              </a:rPr>
              <a:t>到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zh-CN" altLang="en-US" dirty="0">
                <a:solidFill>
                  <a:srgbClr val="FF0000"/>
                </a:solidFill>
              </a:rPr>
              <a:t>的距离（或短程线）：</a:t>
            </a:r>
            <a:r>
              <a:rPr lang="en-US" altLang="zh-CN" i="1" dirty="0"/>
              <a:t>u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zh-CN" altLang="en-US" dirty="0"/>
              <a:t>长度最短的路径长度 </a:t>
            </a:r>
            <a:r>
              <a:rPr lang="en-US" altLang="zh-CN" dirty="0"/>
              <a:t>(</a:t>
            </a:r>
            <a:r>
              <a:rPr lang="en-US" altLang="zh-CN" i="1" dirty="0"/>
              <a:t>u</a:t>
            </a:r>
            <a:r>
              <a:rPr lang="zh-CN" altLang="en-US" dirty="0"/>
              <a:t>可达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r>
              <a:rPr lang="zh-CN" altLang="en-US" dirty="0"/>
              <a:t>，记作</a:t>
            </a:r>
            <a:r>
              <a:rPr lang="en-US" altLang="zh-CN" i="1" dirty="0"/>
              <a:t>d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&gt;.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/>
              <a:t>规定：若</a:t>
            </a:r>
            <a:r>
              <a:rPr lang="en-US" altLang="zh-CN" i="1" dirty="0"/>
              <a:t>u</a:t>
            </a:r>
            <a:r>
              <a:rPr lang="zh-CN" altLang="en-US" dirty="0"/>
              <a:t>不可达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/>
              <a:t>∞.</a:t>
            </a: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距离的性质：</a:t>
            </a:r>
            <a:endParaRPr lang="zh-CN" altLang="en-US" dirty="0">
              <a:solidFill>
                <a:schemeClr val="hlink"/>
              </a:solidFill>
            </a:endParaRPr>
          </a:p>
          <a:p>
            <a:pPr algn="just"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i="1" dirty="0"/>
              <a:t> </a:t>
            </a:r>
            <a:r>
              <a:rPr lang="en-US" altLang="zh-CN" i="1" dirty="0"/>
              <a:t>  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0, </a:t>
            </a:r>
            <a:r>
              <a:rPr lang="en-US" altLang="zh-CN" i="1" dirty="0"/>
              <a:t>    d&lt;u</a:t>
            </a:r>
            <a:r>
              <a:rPr lang="en-US" altLang="zh-CN" dirty="0"/>
              <a:t>,</a:t>
            </a:r>
            <a:r>
              <a:rPr lang="en-US" altLang="zh-CN" i="1" dirty="0"/>
              <a:t>u&gt;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/>
              <a:t>+</a:t>
            </a:r>
            <a:r>
              <a:rPr lang="en-US" altLang="zh-CN" i="1" dirty="0"/>
              <a:t>d&lt;v</a:t>
            </a:r>
            <a:r>
              <a:rPr lang="en-US" altLang="zh-CN" dirty="0"/>
              <a:t>,</a:t>
            </a:r>
            <a:r>
              <a:rPr lang="en-US" altLang="zh-CN" i="1" dirty="0"/>
              <a:t>w&gt; </a:t>
            </a:r>
            <a:r>
              <a:rPr lang="en-US" altLang="zh-CN" sz="2200" dirty="0">
                <a:sym typeface="Symbol" panose="05050102010706020507" pitchFamily="18" charset="2"/>
              </a:rPr>
              <a:t>≥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w&gt;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注意：</a:t>
            </a:r>
            <a:r>
              <a:rPr lang="en-US" altLang="zh-CN" i="1" dirty="0"/>
              <a:t>d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&gt; ≠</a:t>
            </a:r>
            <a:r>
              <a:rPr lang="en-US" altLang="zh-CN" i="1" dirty="0"/>
              <a:t>d</a:t>
            </a:r>
            <a:r>
              <a:rPr lang="en-US" altLang="zh-CN" dirty="0"/>
              <a:t>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u</a:t>
            </a:r>
            <a:r>
              <a:rPr lang="en-US" altLang="zh-CN" dirty="0"/>
              <a:t>&gt;</a:t>
            </a:r>
            <a:endParaRPr lang="en-US" altLang="zh-CN" dirty="0"/>
          </a:p>
        </p:txBody>
      </p:sp>
      <p:sp>
        <p:nvSpPr>
          <p:cNvPr id="512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1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charRg st="1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4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charRg st="49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90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charRg st="90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134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charRg st="134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charRg st="15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162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charRg st="162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211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charRg st="211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ldLvl="2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弱连通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  <a:sym typeface="+mn-ea"/>
              </a:rPr>
              <a:t>、单向连通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  <a:sym typeface="+mn-ea"/>
              </a:rPr>
              <a:t>、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  <a:sym typeface="+mn-ea"/>
              </a:rPr>
              <a:t>强连通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457200" y="1335088"/>
            <a:ext cx="2170113" cy="725487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8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 eaLnBrk="1" hangingPunct="1">
              <a:buNone/>
            </a:pPr>
            <a:r>
              <a:rPr lang="zh-CN" altLang="en-US" sz="2600" dirty="0">
                <a:solidFill>
                  <a:schemeClr val="hlink"/>
                </a:solidFill>
              </a:rPr>
              <a:t>图的直径：</a:t>
            </a:r>
            <a:endParaRPr lang="zh-CN" altLang="en-US" sz="2600" dirty="0">
              <a:solidFill>
                <a:schemeClr val="folHlink"/>
              </a:solidFill>
            </a:endParaRPr>
          </a:p>
        </p:txBody>
      </p:sp>
      <p:graphicFrame>
        <p:nvGraphicFramePr>
          <p:cNvPr id="717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70125" y="1412875"/>
          <a:ext cx="27336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06500" imgH="292100" progId="Equation.3">
                  <p:embed/>
                </p:oleObj>
              </mc:Choice>
              <mc:Fallback>
                <p:oleObj name="" r:id="rId1" imgW="1206500" imgH="292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0125" y="1412875"/>
                        <a:ext cx="2733675" cy="6619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53" name="Rectangle 5"/>
          <p:cNvSpPr/>
          <p:nvPr/>
        </p:nvSpPr>
        <p:spPr>
          <a:xfrm>
            <a:off x="457200" y="2198688"/>
            <a:ext cx="8435975" cy="4325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 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如果有向图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的基图是连通的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则称图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弱连通的</a:t>
            </a:r>
            <a:r>
              <a:rPr lang="en-US" altLang="zh-CN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连通的</a:t>
            </a:r>
            <a:r>
              <a:rPr lang="en-US" altLang="zh-CN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∈V(D),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→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v, v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→u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至少成立一个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是</a:t>
            </a: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单向连通的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如果图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中的任何一对结点之间都是互相可达的，则称图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是</a:t>
            </a: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强连通的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强连通图一定是单向连通的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单向连通图一定是弱连通的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17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765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>
                                            <p:txEl>
                                              <p:charRg st="3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7653">
                                            <p:txEl>
                                              <p:charRg st="3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>
                                            <p:txEl>
                                              <p:charRg st="7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7653">
                                            <p:txEl>
                                              <p:charRg st="73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>
                                            <p:txEl>
                                              <p:charRg st="11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7653">
                                            <p:txEl>
                                              <p:charRg st="110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 bldLvl="2" build="p"/>
      <p:bldP spid="66765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91440" tIns="45720" rIns="91440" bIns="45720" anchor="b" anchorCtr="0"/>
          <a:p>
            <a:pPr marL="0" indent="0" defTabSz="914400" eaLnBrk="1" latinLnBrk="0" hangingPunct="1">
              <a:lnSpc>
                <a:spcPct val="100000"/>
              </a:lnSpc>
              <a:buClrTx/>
              <a:buNone/>
            </a:pPr>
            <a:r>
              <a:rPr lang="zh-CN" altLang="en-US" sz="4000">
                <a:solidFill>
                  <a:srgbClr val="FF0000"/>
                </a:solidFill>
                <a:ea typeface="宋体" panose="02010600030101010101" pitchFamily="2" charset="-122"/>
              </a:rPr>
              <a:t>课后作业六：</a:t>
            </a:r>
            <a:endParaRPr lang="zh-CN" altLang="en-US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496300" cy="6477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例  判断下列图的连通性。</a:t>
            </a:r>
            <a:endParaRPr lang="zh-CN" altLang="en-US" dirty="0"/>
          </a:p>
        </p:txBody>
      </p:sp>
      <p:pic>
        <p:nvPicPr>
          <p:cNvPr id="668676" name="Picture 4" descr="图7-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" y="2286000"/>
            <a:ext cx="236220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8678" name="Picture 6" descr="图7-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7000" y="2514600"/>
            <a:ext cx="1838325" cy="2095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8683" name="Picture 11" descr="图7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838" y="2419350"/>
            <a:ext cx="1838325" cy="230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ldLvl="2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强连通判别法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type="body" idx="4294967295"/>
          </p:nvPr>
        </p:nvSpPr>
        <p:spPr>
          <a:xfrm>
            <a:off x="250825" y="1335088"/>
            <a:ext cx="8458200" cy="4902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7.21  </a:t>
            </a:r>
            <a:r>
              <a:rPr lang="zh-CN" altLang="en-US" dirty="0"/>
              <a:t>有向图</a:t>
            </a:r>
            <a:r>
              <a:rPr lang="en-US" altLang="zh-CN" i="1" dirty="0"/>
              <a:t>D</a:t>
            </a:r>
            <a:r>
              <a:rPr lang="zh-CN" altLang="en-US" dirty="0"/>
              <a:t>是强连通的，当且仅当</a:t>
            </a:r>
            <a:r>
              <a:rPr lang="en-US" altLang="zh-CN" i="1" dirty="0"/>
              <a:t>D</a:t>
            </a:r>
            <a:r>
              <a:rPr lang="zh-CN" altLang="en-US" dirty="0"/>
              <a:t>中存在至少包含每个结点一次的回路。</a:t>
            </a:r>
            <a:endParaRPr lang="zh-CN" altLang="en-US" dirty="0"/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chemeClr val="tx2"/>
                </a:solidFill>
              </a:rPr>
              <a:t>充分性</a:t>
            </a:r>
            <a:endParaRPr lang="zh-CN" altLang="en-US" dirty="0">
              <a:solidFill>
                <a:schemeClr val="tx2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设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中有一个回路，它至少包含每个结点一次，则</a:t>
            </a:r>
            <a:r>
              <a:rPr lang="en-US" altLang="zh-CN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中任</a:t>
            </a:r>
            <a:endParaRPr lang="en-US" altLang="zh-CN" dirty="0">
              <a:solidFill>
                <a:schemeClr val="folHlink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两个结点都是相互可达的，故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是强连通图。</a:t>
            </a:r>
            <a:endParaRPr lang="en-US" altLang="zh-CN" dirty="0">
              <a:solidFill>
                <a:schemeClr val="folHlink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FF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必要性</a:t>
            </a:r>
            <a:endParaRPr lang="zh-CN" altLang="en-US" dirty="0">
              <a:solidFill>
                <a:schemeClr val="tx2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设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含有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zh-CN" altLang="en-US" dirty="0">
                <a:solidFill>
                  <a:schemeClr val="folHlink"/>
                </a:solidFill>
              </a:rPr>
              <a:t>个结点且是强连通的，则任意两个结点都是相</a:t>
            </a:r>
            <a:endParaRPr lang="en-US" altLang="zh-CN" dirty="0">
              <a:solidFill>
                <a:schemeClr val="folHlink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互可达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zh-CN" altLang="en-US" dirty="0">
                <a:solidFill>
                  <a:schemeClr val="folHlink"/>
                </a:solidFill>
              </a:rPr>
              <a:t>故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zh-CN" altLang="en-US" dirty="0">
                <a:solidFill>
                  <a:schemeClr val="folHlink"/>
                </a:solidFill>
              </a:rPr>
              <a:t>可达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baseline="-25000" dirty="0">
                <a:solidFill>
                  <a:schemeClr val="folHlink"/>
                </a:solidFill>
              </a:rPr>
              <a:t>+1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r>
              <a:rPr lang="en-US" altLang="zh-CN" i="1" dirty="0">
                <a:solidFill>
                  <a:schemeClr val="folHlink"/>
                </a:solidFill>
              </a:rPr>
              <a:t>i</a:t>
            </a:r>
            <a:r>
              <a:rPr lang="en-US" altLang="zh-CN" dirty="0">
                <a:solidFill>
                  <a:schemeClr val="folHlink"/>
                </a:solidFill>
              </a:rPr>
              <a:t>=1,2, …,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en-US" altLang="zh-CN" dirty="0">
                <a:solidFill>
                  <a:schemeClr val="folHlink"/>
                </a:solidFill>
              </a:rPr>
              <a:t>-1</a:t>
            </a:r>
            <a:r>
              <a:rPr lang="zh-CN" altLang="en-US" dirty="0">
                <a:solidFill>
                  <a:schemeClr val="folHlink"/>
                </a:solidFill>
              </a:rPr>
              <a:t>，设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zh-CN" altLang="en-US" dirty="0">
                <a:solidFill>
                  <a:schemeClr val="folHlink"/>
                </a:solidFill>
              </a:rPr>
              <a:t>是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i</a:t>
            </a:r>
            <a:r>
              <a:rPr lang="en-US" altLang="zh-CN" baseline="-25000" dirty="0">
                <a:solidFill>
                  <a:schemeClr val="folHlink"/>
                </a:solidFill>
              </a:rPr>
              <a:t>+1</a:t>
            </a:r>
            <a:r>
              <a:rPr lang="zh-CN" altLang="en-US" dirty="0">
                <a:solidFill>
                  <a:schemeClr val="folHlink"/>
                </a:solidFill>
              </a:rPr>
              <a:t>的路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n</a:t>
            </a:r>
            <a:endParaRPr lang="en-US" altLang="zh-CN" i="1" baseline="-25000" dirty="0">
              <a:solidFill>
                <a:schemeClr val="folHlink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是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n</a:t>
            </a:r>
            <a:r>
              <a:rPr lang="zh-CN" altLang="en-US" dirty="0">
                <a:solidFill>
                  <a:schemeClr val="folHlink"/>
                </a:solidFill>
              </a:rPr>
              <a:t>到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的路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zh-CN" altLang="en-US" dirty="0">
                <a:solidFill>
                  <a:schemeClr val="folHlink"/>
                </a:solidFill>
              </a:rPr>
              <a:t>则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en-US" altLang="zh-CN" dirty="0">
                <a:solidFill>
                  <a:schemeClr val="folHlink"/>
                </a:solidFill>
              </a:rPr>
              <a:t>, … 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n</a:t>
            </a:r>
            <a:r>
              <a:rPr lang="en-US" altLang="zh-CN" baseline="-25000" dirty="0">
                <a:solidFill>
                  <a:schemeClr val="folHlink"/>
                </a:solidFill>
              </a:rPr>
              <a:t>-1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P</a:t>
            </a:r>
            <a:r>
              <a:rPr lang="en-US" altLang="zh-CN" i="1" baseline="-25000" dirty="0">
                <a:solidFill>
                  <a:schemeClr val="folHlink"/>
                </a:solidFill>
              </a:rPr>
              <a:t>n</a:t>
            </a:r>
            <a:r>
              <a:rPr lang="zh-CN" altLang="en-US" dirty="0">
                <a:solidFill>
                  <a:schemeClr val="folHlink"/>
                </a:solidFill>
              </a:rPr>
              <a:t>所围成的回路经过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中每</a:t>
            </a:r>
            <a:endParaRPr lang="en-US" altLang="zh-CN" dirty="0">
              <a:solidFill>
                <a:schemeClr val="folHlink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个结点至少一次</a:t>
            </a:r>
            <a:r>
              <a:rPr lang="en-US" altLang="zh-CN" dirty="0">
                <a:solidFill>
                  <a:schemeClr val="folHlink"/>
                </a:solidFill>
              </a:rPr>
              <a:t>.</a:t>
            </a:r>
            <a:endParaRPr lang="zh-CN" altLang="en-US" dirty="0"/>
          </a:p>
        </p:txBody>
      </p:sp>
      <p:sp>
        <p:nvSpPr>
          <p:cNvPr id="1024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4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charRg st="49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7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charRg st="7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9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charRg st="97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02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charRg st="102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29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charRg st="129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charRg st="175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215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charRg st="215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ldLvl="2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黑体" panose="02010609060101010101" pitchFamily="49" charset="-122"/>
              </a:rPr>
              <a:t>单向连通判定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黑体" panose="02010609060101010101" pitchFamily="49" charset="-122"/>
              </a:rPr>
              <a:t>(P129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黑体" panose="02010609060101010101" pitchFamily="49" charset="-122"/>
              </a:rPr>
              <a:t>，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黑体" panose="02010609060101010101" pitchFamily="49" charset="-122"/>
              </a:rPr>
              <a:t>定理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黑体" panose="02010609060101010101" pitchFamily="49" charset="-122"/>
              </a:rPr>
              <a:t>7.22)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341438"/>
            <a:ext cx="8569325" cy="518477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7.22</a:t>
            </a:r>
            <a:r>
              <a:rPr lang="zh-CN" altLang="en-US" dirty="0">
                <a:solidFill>
                  <a:srgbClr val="FF3300"/>
                </a:solidFill>
              </a:rPr>
              <a:t> </a:t>
            </a:r>
            <a:r>
              <a:rPr lang="zh-CN" altLang="en-US" dirty="0"/>
              <a:t>有向图</a:t>
            </a:r>
            <a:r>
              <a:rPr lang="en-US" altLang="zh-CN" i="1" dirty="0"/>
              <a:t>D</a:t>
            </a:r>
            <a:r>
              <a:rPr lang="zh-CN" altLang="en-US" dirty="0"/>
              <a:t>是单向连通的，当且仅当</a:t>
            </a:r>
            <a:r>
              <a:rPr lang="en-US" altLang="zh-CN" i="1" dirty="0"/>
              <a:t>D</a:t>
            </a:r>
            <a:r>
              <a:rPr lang="zh-CN" altLang="en-US" dirty="0"/>
              <a:t>中存在经过每个顶点至少一次的通路。</a:t>
            </a:r>
            <a:endParaRPr lang="zh-CN" altLang="en-US" dirty="0">
              <a:solidFill>
                <a:schemeClr val="hlink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命题 </a:t>
            </a:r>
            <a:r>
              <a:rPr lang="zh-CN" altLang="en-US" dirty="0"/>
              <a:t>设</a:t>
            </a:r>
            <a:r>
              <a:rPr lang="en-US" altLang="zh-CN" dirty="0"/>
              <a:t>D</a:t>
            </a:r>
            <a:r>
              <a:rPr lang="zh-CN" altLang="en-US" dirty="0"/>
              <a:t>是单向连通的有向图</a:t>
            </a:r>
            <a:r>
              <a:rPr lang="en-US" altLang="zh-CN" dirty="0"/>
              <a:t>,</a:t>
            </a:r>
            <a:r>
              <a:rPr lang="zh-CN" altLang="en-US" dirty="0"/>
              <a:t>则对于任意的</a:t>
            </a:r>
            <a:r>
              <a:rPr lang="en-US" altLang="zh-CN" dirty="0"/>
              <a:t>V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V(D),</a:t>
            </a:r>
            <a:r>
              <a:rPr lang="zh-CN" altLang="en-US" dirty="0">
                <a:sym typeface="Symbol" panose="05050102010706020507" pitchFamily="18" charset="2"/>
              </a:rPr>
              <a:t>存在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V</a:t>
            </a:r>
            <a:r>
              <a:rPr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使得任意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 V,</a:t>
            </a:r>
            <a:r>
              <a:rPr lang="zh-CN" altLang="en-US" dirty="0">
                <a:sym typeface="Symbol" panose="05050102010706020507" pitchFamily="18" charset="2"/>
              </a:rPr>
              <a:t>均有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 →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r>
              <a:rPr lang="en-US" altLang="zh-CN" dirty="0">
                <a:solidFill>
                  <a:srgbClr val="FF00FF"/>
                </a:solidFill>
              </a:rPr>
              <a:t> (</a:t>
            </a:r>
            <a:r>
              <a:rPr lang="zh-CN" altLang="en-US" dirty="0">
                <a:solidFill>
                  <a:srgbClr val="FF00FF"/>
                </a:solidFill>
              </a:rPr>
              <a:t>自学证明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endParaRPr lang="zh-CN" altLang="en-US" dirty="0">
              <a:solidFill>
                <a:srgbClr val="FF00FF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FF"/>
                </a:solidFill>
              </a:rPr>
              <a:t>证明 </a:t>
            </a:r>
            <a:r>
              <a:rPr lang="zh-CN" altLang="en-US" dirty="0"/>
              <a:t>充分性显然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FF"/>
                </a:solidFill>
              </a:rPr>
              <a:t>必要性</a:t>
            </a:r>
            <a:r>
              <a:rPr lang="en-US" altLang="zh-CN" dirty="0">
                <a:solidFill>
                  <a:srgbClr val="FF00FF"/>
                </a:solidFill>
              </a:rPr>
              <a:t>.</a:t>
            </a:r>
            <a:r>
              <a:rPr lang="zh-CN" altLang="en-US" dirty="0"/>
              <a:t>根据命题可知</a:t>
            </a:r>
            <a:r>
              <a:rPr lang="en-US" altLang="zh-CN" dirty="0"/>
              <a:t>,V(D)</a:t>
            </a:r>
            <a:r>
              <a:rPr lang="zh-CN" altLang="en-US" dirty="0"/>
              <a:t>中存在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可达其余各结点</a:t>
            </a:r>
            <a:r>
              <a:rPr lang="en-US" altLang="zh-CN" dirty="0"/>
              <a:t>,V</a:t>
            </a:r>
            <a:r>
              <a:rPr lang="en-US" altLang="zh-CN" baseline="-25000" dirty="0"/>
              <a:t>1</a:t>
            </a:r>
            <a:r>
              <a:rPr lang="en-US" altLang="zh-CN" dirty="0"/>
              <a:t>=V(D)-{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}</a:t>
            </a:r>
            <a:r>
              <a:rPr lang="zh-CN" altLang="en-US" dirty="0"/>
              <a:t>中存在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可达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中各结点</a:t>
            </a:r>
            <a:r>
              <a:rPr lang="en-US" altLang="zh-CN" dirty="0"/>
              <a:t>,V</a:t>
            </a:r>
            <a:r>
              <a:rPr lang="en-US" altLang="zh-CN" baseline="-25000" dirty="0"/>
              <a:t>2</a:t>
            </a:r>
            <a:r>
              <a:rPr lang="en-US" altLang="zh-CN" dirty="0"/>
              <a:t>=V-{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}</a:t>
            </a:r>
            <a:r>
              <a:rPr lang="zh-CN" altLang="en-US" dirty="0"/>
              <a:t>中存在</a:t>
            </a:r>
            <a:r>
              <a:rPr lang="en-US" altLang="zh-CN" i="1" dirty="0"/>
              <a:t>v</a:t>
            </a:r>
            <a:r>
              <a:rPr lang="en-US" altLang="zh-CN" baseline="-25000" dirty="0"/>
              <a:t>3</a:t>
            </a:r>
            <a:r>
              <a:rPr lang="zh-CN" altLang="en-US" dirty="0"/>
              <a:t>可达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中各结点</a:t>
            </a:r>
            <a:r>
              <a:rPr lang="en-US" altLang="zh-CN" dirty="0"/>
              <a:t>,…,V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-2</a:t>
            </a:r>
            <a:r>
              <a:rPr lang="en-US" altLang="zh-CN" dirty="0"/>
              <a:t>=V(D)-{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-2</a:t>
            </a:r>
            <a:r>
              <a:rPr lang="en-US" altLang="zh-CN" dirty="0"/>
              <a:t>}</a:t>
            </a:r>
            <a:r>
              <a:rPr lang="zh-CN" altLang="en-US" dirty="0"/>
              <a:t>中存在</a:t>
            </a:r>
            <a:r>
              <a:rPr lang="en-US" altLang="zh-CN" i="1" dirty="0"/>
              <a:t>v</a:t>
            </a:r>
            <a:r>
              <a:rPr lang="en-US" altLang="zh-CN" baseline="-25000" dirty="0"/>
              <a:t>n-1</a:t>
            </a:r>
            <a:r>
              <a:rPr lang="zh-CN" altLang="en-US" dirty="0"/>
              <a:t>可达</a:t>
            </a:r>
            <a:r>
              <a:rPr lang="en-US" altLang="zh-CN" dirty="0"/>
              <a:t>V</a:t>
            </a:r>
            <a:r>
              <a:rPr lang="en-US" altLang="zh-CN" baseline="-25000" dirty="0"/>
              <a:t>n-2</a:t>
            </a:r>
            <a:r>
              <a:rPr lang="zh-CN" altLang="en-US" dirty="0"/>
              <a:t>中各结点</a:t>
            </a:r>
            <a:r>
              <a:rPr lang="en-US" altLang="zh-CN" dirty="0"/>
              <a:t>,</a:t>
            </a:r>
            <a:r>
              <a:rPr lang="zh-CN" altLang="en-US" dirty="0"/>
              <a:t>于是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→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→… → </a:t>
            </a:r>
            <a:r>
              <a:rPr lang="en-US" altLang="zh-CN" i="1" dirty="0"/>
              <a:t>v</a:t>
            </a:r>
            <a:r>
              <a:rPr lang="en-US" altLang="zh-CN" baseline="-25000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因而存在通路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…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 … </a:t>
            </a:r>
            <a:r>
              <a:rPr lang="en-US" altLang="zh-CN" i="1" dirty="0"/>
              <a:t>v</a:t>
            </a:r>
            <a:r>
              <a:rPr lang="en-US" altLang="zh-CN" baseline="-25000" dirty="0"/>
              <a:t>n-1</a:t>
            </a:r>
            <a:r>
              <a:rPr lang="en-US" altLang="zh-CN" dirty="0">
                <a:sym typeface="Symbol" panose="05050102010706020507" pitchFamily="18" charset="2"/>
              </a:rPr>
              <a:t> … </a:t>
            </a:r>
            <a:r>
              <a:rPr lang="en-US" altLang="zh-CN" i="1" dirty="0"/>
              <a:t>v</a:t>
            </a:r>
            <a:r>
              <a:rPr lang="en-US" altLang="zh-CN" baseline="-25000" dirty="0"/>
              <a:t>n</a:t>
            </a:r>
            <a:r>
              <a:rPr lang="zh-CN" altLang="en-US" dirty="0">
                <a:sym typeface="Symbol" panose="05050102010706020507" pitchFamily="18" charset="2"/>
              </a:rPr>
              <a:t>经过</a:t>
            </a:r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sym typeface="Symbol" panose="05050102010706020507" pitchFamily="18" charset="2"/>
              </a:rPr>
              <a:t>中每个结点至少一次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11267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35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charRg st="35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9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charRg st="97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07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charRg st="107" end="2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ldLvl="2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强分图，单向分图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  <a:sym typeface="+mn-ea"/>
              </a:rPr>
              <a:t>，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  <a:sym typeface="+mn-ea"/>
              </a:rPr>
              <a:t>弱分图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343900" cy="52562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在简单有向图中，具有强连通性质的极大子图，称为</a:t>
            </a:r>
            <a:r>
              <a:rPr lang="zh-CN" altLang="en-US" dirty="0">
                <a:solidFill>
                  <a:schemeClr val="hlink"/>
                </a:solidFill>
              </a:rPr>
              <a:t>强分图</a:t>
            </a:r>
            <a:r>
              <a:rPr lang="zh-CN" altLang="en-US" dirty="0"/>
              <a:t>；具有单向连通性质的极大子图，称为</a:t>
            </a:r>
            <a:r>
              <a:rPr lang="zh-CN" altLang="en-US" dirty="0">
                <a:solidFill>
                  <a:schemeClr val="hlink"/>
                </a:solidFill>
              </a:rPr>
              <a:t>单向分图</a:t>
            </a:r>
            <a:r>
              <a:rPr lang="zh-CN" altLang="en-US" dirty="0"/>
              <a:t>；具有弱连通性质的极大子图，称为</a:t>
            </a:r>
            <a:r>
              <a:rPr lang="zh-CN" altLang="en-US" dirty="0">
                <a:solidFill>
                  <a:schemeClr val="hlink"/>
                </a:solidFill>
              </a:rPr>
              <a:t>弱分图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671748" name="Picture 4" descr="图7-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400" y="3335338"/>
            <a:ext cx="3248025" cy="2686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1749" name="Text Box 5"/>
          <p:cNvSpPr txBox="1"/>
          <p:nvPr/>
        </p:nvSpPr>
        <p:spPr>
          <a:xfrm>
            <a:off x="4067175" y="3284538"/>
            <a:ext cx="4167188" cy="20304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强分图：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单向分图：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弱分图：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lang="en-US" altLang="zh-CN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293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174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>
                                            <p:txEl>
                                              <p:charRg st="23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1749">
                                            <p:txEl>
                                              <p:charRg st="23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174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ldLvl="2" build="p"/>
      <p:bldP spid="67174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endParaRPr kumimoji="0" lang="en-US" altLang="zh-CN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268413"/>
            <a:ext cx="8458200" cy="52482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在有向图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r>
              <a:rPr lang="zh-CN" altLang="en-US" dirty="0"/>
              <a:t>中，它的每一个顶点位于且仅位于一个强分图中。</a:t>
            </a:r>
            <a:endParaRPr lang="zh-CN" altLang="en-US" dirty="0"/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  </a:t>
            </a:r>
            <a:r>
              <a:rPr lang="zh-CN" altLang="en-US" dirty="0">
                <a:solidFill>
                  <a:srgbClr val="FF00FF"/>
                </a:solidFill>
              </a:rPr>
              <a:t>先证每一个结点都位于一个强分图中。</a:t>
            </a:r>
            <a:endParaRPr lang="zh-CN" altLang="en-US" dirty="0">
              <a:solidFill>
                <a:srgbClr val="FF00FF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∈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，令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是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中所有与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相互可达的结点的集合，显然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 ∈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，而且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zh-CN" altLang="en-US" dirty="0">
                <a:solidFill>
                  <a:schemeClr val="folHlink"/>
                </a:solidFill>
              </a:rPr>
              <a:t>是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的一个强分图</a:t>
            </a:r>
            <a:r>
              <a:rPr lang="en-US" altLang="zh-CN" dirty="0">
                <a:solidFill>
                  <a:schemeClr val="folHlink"/>
                </a:solidFill>
              </a:rPr>
              <a:t>. </a:t>
            </a:r>
            <a:r>
              <a:rPr lang="zh-CN" altLang="en-US" dirty="0">
                <a:solidFill>
                  <a:schemeClr val="folHlink"/>
                </a:solidFill>
              </a:rPr>
              <a:t>故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的每一结点必位于一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个强分图中。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FF00FF"/>
                </a:solidFill>
              </a:rPr>
              <a:t>再证每一个结点仅位于一个强分图中。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假设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位于两个不同的强分图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与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之中，因为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中每个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结点与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互相可达，而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与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中的每个结点也互相可达，故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中任何结点与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zh-CN" altLang="en-US" dirty="0">
                <a:solidFill>
                  <a:schemeClr val="folHlink"/>
                </a:solidFill>
              </a:rPr>
              <a:t>中任何一个结点通过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zh-CN" altLang="en-US" dirty="0">
                <a:solidFill>
                  <a:schemeClr val="folHlink"/>
                </a:solidFill>
              </a:rPr>
              <a:t>都互相可达，这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与</a:t>
            </a:r>
            <a:r>
              <a:rPr lang="en-US" altLang="zh-CN" i="1" dirty="0">
                <a:solidFill>
                  <a:schemeClr val="folHlink"/>
                </a:solidFill>
              </a:rPr>
              <a:t>S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zh-CN" altLang="en-US" dirty="0">
                <a:solidFill>
                  <a:schemeClr val="folHlink"/>
                </a:solidFill>
              </a:rPr>
              <a:t>为强分图矛盾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zh-CN" altLang="en-US" dirty="0">
                <a:solidFill>
                  <a:schemeClr val="folHlink"/>
                </a:solidFill>
              </a:rPr>
              <a:t> 得证。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14339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3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charRg st="3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59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charRg st="59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87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charRg st="87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17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charRg st="117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24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charRg st="124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42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charRg st="142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71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charRg st="171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99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charRg st="199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227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75">
                                            <p:txEl>
                                              <p:charRg st="227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ldLvl="2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69850"/>
            <a:ext cx="7793038" cy="98266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学习要点与基本要求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深刻理解路通与回路的定义及其分类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理解无向图的连通性、连通分支等概念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理解有向图连通性的概念及其分类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掌握判断有向连通图类型的方法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了解二部图的概念及其判定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16387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36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charRg st="36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5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charRg st="53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6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charRg st="69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ldLvl="2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91440" tIns="45720" rIns="91440" bIns="45720" anchor="b" anchorCtr="0"/>
          <a:p>
            <a:pPr marL="0" indent="0" defTabSz="914400" eaLnBrk="1" latinLnBrk="0" hangingPunct="1">
              <a:lnSpc>
                <a:spcPct val="100000"/>
              </a:lnSpc>
              <a:buClrTx/>
              <a:buNone/>
            </a:pPr>
            <a:r>
              <a:rPr lang="zh-CN" altLang="en-US" sz="4000">
                <a:solidFill>
                  <a:srgbClr val="FF0000"/>
                </a:solidFill>
                <a:ea typeface="宋体" panose="02010600030101010101" pitchFamily="2" charset="-122"/>
              </a:rPr>
              <a:t>课后作业七：</a:t>
            </a:r>
            <a:endParaRPr lang="zh-CN" altLang="en-US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496300" cy="15843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书 </a:t>
            </a:r>
            <a:r>
              <a:rPr lang="en-US" altLang="zh-CN" dirty="0"/>
              <a:t>P131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习题七：</a:t>
            </a:r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17411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12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charRg st="12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ldLvl="2" build="p"/>
    </p:bldLst>
  </p:timing>
</p:sld>
</file>

<file path=ppt/tags/tag1.xml><?xml version="1.0" encoding="utf-8"?>
<p:tagLst xmlns:p="http://schemas.openxmlformats.org/presentationml/2006/main"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0C0C0"/>
            </a:gs>
            <a:gs pos="100000">
              <a:srgbClr val="C0C0C0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1430</Words>
  <Application>WPS 演示</Application>
  <PresentationFormat>全屏显示(4:3)</PresentationFormat>
  <Paragraphs>97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Tahoma</vt:lpstr>
      <vt:lpstr>黑体</vt:lpstr>
      <vt:lpstr>Symbol</vt:lpstr>
      <vt:lpstr>Times New Roman</vt:lpstr>
      <vt:lpstr>微软雅黑</vt:lpstr>
      <vt:lpstr>Arial Unicode MS</vt:lpstr>
      <vt:lpstr>Blends</vt:lpstr>
      <vt:lpstr>1_Blends</vt:lpstr>
      <vt:lpstr>Equation.3</vt:lpstr>
      <vt:lpstr>7.5 有向图的连通性</vt:lpstr>
      <vt:lpstr>弱连通、单向连通、强连通</vt:lpstr>
      <vt:lpstr>课后作业一：</vt:lpstr>
      <vt:lpstr>强连通判别法</vt:lpstr>
      <vt:lpstr>单向连通判定(P129，定理7.22)</vt:lpstr>
      <vt:lpstr>强分图，单向分图，弱分图</vt:lpstr>
      <vt:lpstr>定理</vt:lpstr>
      <vt:lpstr>学习要点与基本要求</vt:lpstr>
      <vt:lpstr>课后作业二：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908</cp:revision>
  <dcterms:created xsi:type="dcterms:W3CDTF">2008-01-04T07:39:00Z</dcterms:created>
  <dcterms:modified xsi:type="dcterms:W3CDTF">2025-09-29T17:02:54Z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A2FF3DF620804F1588C7580FCF069749</vt:lpwstr>
  </property>
</Properties>
</file>