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1252" r:id="rId3"/>
    <p:sldId id="499" r:id="rId4"/>
    <p:sldId id="500" r:id="rId5"/>
    <p:sldId id="503" r:id="rId6"/>
    <p:sldId id="507" r:id="rId7"/>
    <p:sldId id="365" r:id="rId9"/>
    <p:sldId id="259" r:id="rId10"/>
    <p:sldId id="372" r:id="rId11"/>
    <p:sldId id="1164" r:id="rId12"/>
    <p:sldId id="1160" r:id="rId13"/>
    <p:sldId id="1347" r:id="rId14"/>
    <p:sldId id="1161" r:id="rId15"/>
    <p:sldId id="302" r:id="rId16"/>
    <p:sldId id="373" r:id="rId17"/>
    <p:sldId id="260" r:id="rId18"/>
    <p:sldId id="374" r:id="rId19"/>
    <p:sldId id="263" r:id="rId20"/>
    <p:sldId id="303" r:id="rId21"/>
    <p:sldId id="304" r:id="rId22"/>
    <p:sldId id="405" r:id="rId23"/>
    <p:sldId id="305" r:id="rId24"/>
    <p:sldId id="306" r:id="rId25"/>
    <p:sldId id="307" r:id="rId26"/>
    <p:sldId id="407" r:id="rId27"/>
    <p:sldId id="406" r:id="rId28"/>
    <p:sldId id="308" r:id="rId29"/>
    <p:sldId id="265" r:id="rId30"/>
    <p:sldId id="379" r:id="rId31"/>
    <p:sldId id="563" r:id="rId32"/>
    <p:sldId id="564" r:id="rId33"/>
    <p:sldId id="566" r:id="rId34"/>
    <p:sldId id="567" r:id="rId35"/>
    <p:sldId id="649" r:id="rId36"/>
    <p:sldId id="568" r:id="rId37"/>
    <p:sldId id="569" r:id="rId38"/>
    <p:sldId id="570" r:id="rId39"/>
    <p:sldId id="571" r:id="rId40"/>
    <p:sldId id="1429" r:id="rId41"/>
    <p:sldId id="573" r:id="rId42"/>
    <p:sldId id="574" r:id="rId43"/>
    <p:sldId id="575" r:id="rId44"/>
    <p:sldId id="576" r:id="rId45"/>
    <p:sldId id="579" r:id="rId46"/>
    <p:sldId id="730" r:id="rId47"/>
    <p:sldId id="732" r:id="rId48"/>
    <p:sldId id="796" r:id="rId49"/>
    <p:sldId id="1513" r:id="rId50"/>
    <p:sldId id="585" r:id="rId51"/>
    <p:sldId id="586" r:id="rId52"/>
    <p:sldId id="594" r:id="rId53"/>
    <p:sldId id="595" r:id="rId54"/>
    <p:sldId id="596" r:id="rId55"/>
    <p:sldId id="597" r:id="rId56"/>
    <p:sldId id="853" r:id="rId57"/>
    <p:sldId id="598" r:id="rId58"/>
    <p:sldId id="600" r:id="rId59"/>
    <p:sldId id="599" r:id="rId60"/>
    <p:sldId id="601" r:id="rId61"/>
    <p:sldId id="602" r:id="rId62"/>
    <p:sldId id="603" r:id="rId63"/>
    <p:sldId id="1034" r:id="rId64"/>
    <p:sldId id="1035" r:id="rId65"/>
    <p:sldId id="607" r:id="rId66"/>
    <p:sldId id="608" r:id="rId67"/>
    <p:sldId id="609" r:id="rId68"/>
    <p:sldId id="610" r:id="rId69"/>
    <p:sldId id="611" r:id="rId70"/>
    <p:sldId id="612" r:id="rId71"/>
    <p:sldId id="1036" r:id="rId72"/>
    <p:sldId id="1037" r:id="rId73"/>
    <p:sldId id="1038" r:id="rId74"/>
    <p:sldId id="1348" r:id="rId75"/>
    <p:sldId id="1349" r:id="rId76"/>
    <p:sldId id="1350" r:id="rId77"/>
    <p:sldId id="1351" r:id="rId78"/>
    <p:sldId id="1352" r:id="rId79"/>
    <p:sldId id="1353" r:id="rId80"/>
    <p:sldId id="1357" r:id="rId81"/>
    <p:sldId id="1358" r:id="rId82"/>
    <p:sldId id="1359" r:id="rId83"/>
    <p:sldId id="1360" r:id="rId84"/>
    <p:sldId id="1361" r:id="rId85"/>
    <p:sldId id="1362" r:id="rId86"/>
    <p:sldId id="1363" r:id="rId87"/>
    <p:sldId id="1364" r:id="rId88"/>
    <p:sldId id="1365" r:id="rId89"/>
    <p:sldId id="1366" r:id="rId90"/>
    <p:sldId id="1367" r:id="rId91"/>
    <p:sldId id="1368" r:id="rId92"/>
    <p:sldId id="1369" r:id="rId93"/>
    <p:sldId id="1370" r:id="rId94"/>
    <p:sldId id="1371" r:id="rId95"/>
    <p:sldId id="1372" r:id="rId96"/>
    <p:sldId id="1373" r:id="rId97"/>
  </p:sldIdLst>
  <p:sldSz cx="9144000" cy="6858000" type="screen4x3"/>
  <p:notesSz cx="6858000" cy="9144000"/>
  <p:custDataLst>
    <p:tags r:id="rId10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27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E4398"/>
    <a:srgbClr val="FF00FF"/>
    <a:srgbClr val="808080"/>
    <a:srgbClr val="996633"/>
    <a:srgbClr val="C7F9F1"/>
    <a:srgbClr val="BBF7FD"/>
    <a:srgbClr val="5F5F5F"/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 autoAdjust="0"/>
    <p:restoredTop sz="85902" autoAdjust="0"/>
  </p:normalViewPr>
  <p:slideViewPr>
    <p:cSldViewPr showGuides="1">
      <p:cViewPr varScale="1">
        <p:scale>
          <a:sx n="77" d="100"/>
          <a:sy n="77" d="100"/>
        </p:scale>
        <p:origin x="2392" y="176"/>
      </p:cViewPr>
      <p:guideLst>
        <p:guide orient="horz" pos="2080"/>
        <p:guide pos="270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936"/>
    </p:cViewPr>
  </p:sorterViewPr>
  <p:notesViewPr>
    <p:cSldViewPr>
      <p:cViewPr>
        <p:scale>
          <a:sx n="100" d="100"/>
          <a:sy n="100" d="100"/>
        </p:scale>
        <p:origin x="-864" y="1014"/>
      </p:cViewPr>
      <p:guideLst>
        <p:guide orient="horz" pos="2773"/>
        <p:guide pos="20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viewProps" Target="viewProps.xml"/><Relationship Id="rId98" Type="http://schemas.openxmlformats.org/officeDocument/2006/relationships/presProps" Target="presProps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notesMaster" Target="notesMasters/notesMaster1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1" Type="http://schemas.openxmlformats.org/officeDocument/2006/relationships/tags" Target="tags/tag34.xml"/><Relationship Id="rId100" Type="http://schemas.openxmlformats.org/officeDocument/2006/relationships/tableStyles" Target="tableStyle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jpe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14.jpeg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14.jpeg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1686A80-1920-4594-AE89-2A1F3B57F49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F83129-77E9-4285-9AB1-6709F337DB02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366C7-7402-43A1-8AC2-38CB482B2948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502751-CFDD-4F7B-B16E-568975A3E425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1.V</a:t>
            </a:r>
            <a:r>
              <a:rPr lang="zh-CN" altLang="en-US" dirty="0">
                <a:latin typeface="Arial" panose="020B0604020202020204" pitchFamily="34" charset="0"/>
              </a:rPr>
              <a:t>非空；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</a:rPr>
              <a:t>.E</a:t>
            </a:r>
            <a:r>
              <a:rPr lang="zh-CN" altLang="en-US" dirty="0">
                <a:latin typeface="Arial" panose="020B0604020202020204" pitchFamily="34" charset="0"/>
              </a:rPr>
              <a:t>可以是空集、多重集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3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r>
              <a:rPr lang="en-US" altLang="zh-CN" i="1" dirty="0"/>
              <a:t> </a:t>
            </a:r>
            <a:r>
              <a:rPr lang="el-GR" altLang="zh-CN" i="1" dirty="0"/>
              <a:t>Φ</a:t>
            </a:r>
            <a:r>
              <a:rPr lang="zh-CN" altLang="en-US" i="1" dirty="0"/>
              <a:t>是单射函数，不一定是满射</a:t>
            </a:r>
            <a:endParaRPr lang="en-US" altLang="zh-CN" i="1" dirty="0"/>
          </a:p>
          <a:p>
            <a:pPr eaLnBrk="1" hangingPunct="1"/>
            <a:r>
              <a:rPr lang="zh-CN" altLang="zh-CN" i="0" dirty="0">
                <a:latin typeface="Arial" panose="020B0604020202020204" pitchFamily="34" charset="0"/>
              </a:rPr>
              <a:t>4</a:t>
            </a:r>
            <a:r>
              <a:rPr lang="en-US" altLang="zh-CN" i="0" dirty="0">
                <a:latin typeface="Arial" panose="020B0604020202020204" pitchFamily="34" charset="0"/>
              </a:rPr>
              <a:t>.</a:t>
            </a:r>
            <a:r>
              <a:rPr lang="zh-CN" altLang="en-US" i="0" dirty="0">
                <a:latin typeface="Arial" panose="020B0604020202020204" pitchFamily="34" charset="0"/>
              </a:rPr>
              <a:t>边的表示：无序对和有序对，编号（多重集时使用）</a:t>
            </a:r>
            <a:endParaRPr lang="en-US" altLang="zh-CN" i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502751-CFDD-4F7B-B16E-568975A3E425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1.V</a:t>
            </a:r>
            <a:r>
              <a:rPr lang="zh-CN" altLang="en-US" dirty="0">
                <a:latin typeface="Arial" panose="020B0604020202020204" pitchFamily="34" charset="0"/>
              </a:rPr>
              <a:t>非空；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2</a:t>
            </a:r>
            <a:r>
              <a:rPr lang="en-US" altLang="zh-CN" dirty="0">
                <a:latin typeface="Arial" panose="020B0604020202020204" pitchFamily="34" charset="0"/>
              </a:rPr>
              <a:t>.E</a:t>
            </a:r>
            <a:r>
              <a:rPr lang="zh-CN" altLang="en-US" dirty="0">
                <a:latin typeface="Arial" panose="020B0604020202020204" pitchFamily="34" charset="0"/>
              </a:rPr>
              <a:t>可以是空集、多重集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zh-CN" dirty="0">
                <a:latin typeface="Arial" panose="020B0604020202020204" pitchFamily="34" charset="0"/>
              </a:rPr>
              <a:t>3</a:t>
            </a:r>
            <a:r>
              <a:rPr lang="en-US" altLang="zh-CN" dirty="0">
                <a:latin typeface="Arial" panose="020B0604020202020204" pitchFamily="34" charset="0"/>
              </a:rPr>
              <a:t>.</a:t>
            </a:r>
            <a:r>
              <a:rPr lang="en-US" altLang="zh-CN" i="1" dirty="0"/>
              <a:t> </a:t>
            </a:r>
            <a:r>
              <a:rPr lang="el-GR" altLang="zh-CN" i="1" dirty="0"/>
              <a:t>Φ</a:t>
            </a:r>
            <a:r>
              <a:rPr lang="zh-CN" altLang="en-US" i="1" dirty="0"/>
              <a:t>是单射函数，不一定是满射</a:t>
            </a:r>
            <a:endParaRPr lang="en-US" altLang="zh-CN" i="1" dirty="0"/>
          </a:p>
          <a:p>
            <a:pPr eaLnBrk="1" hangingPunct="1"/>
            <a:r>
              <a:rPr lang="zh-CN" altLang="zh-CN" i="0" dirty="0">
                <a:latin typeface="Arial" panose="020B0604020202020204" pitchFamily="34" charset="0"/>
              </a:rPr>
              <a:t>4</a:t>
            </a:r>
            <a:r>
              <a:rPr lang="en-US" altLang="zh-CN" i="0" dirty="0">
                <a:latin typeface="Arial" panose="020B0604020202020204" pitchFamily="34" charset="0"/>
              </a:rPr>
              <a:t>.</a:t>
            </a:r>
            <a:r>
              <a:rPr lang="zh-CN" altLang="en-US" i="0" dirty="0">
                <a:latin typeface="Arial" panose="020B0604020202020204" pitchFamily="34" charset="0"/>
              </a:rPr>
              <a:t>边的表示：无序对和有序对，编号（多重集时使用）</a:t>
            </a:r>
            <a:endParaRPr lang="en-US" altLang="zh-CN" i="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0F683C-9E4B-493B-97C9-143F9B183CB5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图的图形表示，结点和边的位置不重要，重要的是结点之间的关系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图论与图</a:t>
            </a:r>
            <a:r>
              <a:rPr lang="zh-CN" altLang="en-US">
                <a:latin typeface="Arial" panose="020B0604020202020204" pitchFamily="34" charset="0"/>
              </a:rPr>
              <a:t>形的含义不同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给出有序对或无序对表示的顶点集</a:t>
            </a:r>
            <a:r>
              <a:rPr lang="en-US" altLang="zh-CN" dirty="0"/>
              <a:t>E</a:t>
            </a:r>
            <a:r>
              <a:rPr lang="zh-CN" altLang="en-US" dirty="0"/>
              <a:t>和顶点集</a:t>
            </a:r>
            <a:r>
              <a:rPr lang="en-US" altLang="zh-CN" dirty="0"/>
              <a:t>V</a:t>
            </a:r>
            <a:r>
              <a:rPr lang="zh-CN" altLang="en-US" dirty="0"/>
              <a:t>，可画出图形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分别给定无向图和有向图，解释概念（此处给出的图，在接下来求结点的度时用用到）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关联次数：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分别给定无向图和有向图，解释概念（此处给出的图，在接下来求结点的度时用用到）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关联次数：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分别给定无向图和有向图，解释概念（此处给出的图，在接下来求结点的度时用用到）</a:t>
            </a:r>
            <a:endParaRPr lang="en-US" altLang="zh-CN" dirty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关联次数：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</a:t>
            </a:r>
            <a:r>
              <a:rPr lang="en-US" altLang="zh-CN" dirty="0"/>
              <a:t>P15</a:t>
            </a:r>
            <a:r>
              <a:rPr lang="zh-CN" altLang="en-US" dirty="0"/>
              <a:t>备注中使用的图，要求学生能求出此页上的所有量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30D317-52A9-43E1-8D35-333B5D63904A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上左图是无向图简单图，</a:t>
            </a:r>
            <a:r>
              <a:rPr lang="en-US" altLang="zh-CN" dirty="0">
                <a:latin typeface="Arial" panose="020B0604020202020204" pitchFamily="34" charset="0"/>
              </a:rPr>
              <a:t>v</a:t>
            </a:r>
            <a:r>
              <a:rPr lang="en-US" altLang="zh-CN" baseline="-25000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与</a:t>
            </a:r>
            <a:r>
              <a:rPr lang="en-US" altLang="zh-CN" dirty="0">
                <a:latin typeface="Arial" panose="020B0604020202020204" pitchFamily="34" charset="0"/>
              </a:rPr>
              <a:t>v</a:t>
            </a:r>
            <a:r>
              <a:rPr lang="en-US" altLang="zh-CN" baseline="-25000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是邻接点，</a:t>
            </a:r>
            <a:r>
              <a:rPr lang="en-US" altLang="zh-CN" dirty="0">
                <a:latin typeface="Arial" panose="020B0604020202020204" pitchFamily="34" charset="0"/>
              </a:rPr>
              <a:t>v</a:t>
            </a:r>
            <a:r>
              <a:rPr lang="en-US" altLang="zh-CN" baseline="-25000" dirty="0">
                <a:latin typeface="Arial" panose="020B0604020202020204" pitchFamily="34" charset="0"/>
              </a:rPr>
              <a:t>5</a:t>
            </a:r>
            <a:r>
              <a:rPr lang="zh-CN" altLang="en-US" dirty="0">
                <a:latin typeface="Arial" panose="020B0604020202020204" pitchFamily="34" charset="0"/>
              </a:rPr>
              <a:t>是孤立点，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上右图是有向图简单图，箭头指示方向是边的终点，另一个方向上的起始点。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下左图是混合图。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下右图中有环和平行边，是多重图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求出</a:t>
            </a:r>
            <a:r>
              <a:rPr lang="en-US" altLang="zh-CN" dirty="0">
                <a:latin typeface="Arial" panose="020B0604020202020204" pitchFamily="34" charset="0"/>
              </a:rPr>
              <a:t>v1</a:t>
            </a:r>
            <a:r>
              <a:rPr lang="zh-CN" altLang="en-US" dirty="0">
                <a:latin typeface="Arial" panose="020B0604020202020204" pitchFamily="34" charset="0"/>
              </a:rPr>
              <a:t>的领域、闭领域、前驱、后继等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CBADFF-C233-4A30-B235-424F457E41EB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根据</a:t>
            </a:r>
            <a:r>
              <a:rPr lang="en-US" altLang="zh-CN" dirty="0"/>
              <a:t>P15</a:t>
            </a:r>
            <a:r>
              <a:rPr lang="zh-CN" altLang="en-US" dirty="0"/>
              <a:t>备注中使用的图</a:t>
            </a:r>
            <a:r>
              <a:rPr lang="zh-CN" altLang="en-US" dirty="0">
                <a:latin typeface="Arial" panose="020B0604020202020204" pitchFamily="34" charset="0"/>
              </a:rPr>
              <a:t>，要求学生求出：每个结点的度、出度和入度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根据</a:t>
            </a:r>
            <a:r>
              <a:rPr lang="en-US" altLang="zh-CN" dirty="0"/>
              <a:t>P15</a:t>
            </a:r>
            <a:r>
              <a:rPr lang="zh-CN" altLang="en-US" dirty="0"/>
              <a:t>备注中使用的图</a:t>
            </a:r>
            <a:r>
              <a:rPr lang="zh-CN" altLang="en-US" dirty="0">
                <a:latin typeface="Arial" panose="020B0604020202020204" pitchFamily="34" charset="0"/>
              </a:rPr>
              <a:t>，要求学生求出：每个此页上的量</a:t>
            </a:r>
            <a:endParaRPr lang="zh-CN" altLang="zh-CN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FAFFC8-C7CD-4FAF-A47A-FBD0C112AF45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的证明</a:t>
            </a:r>
            <a:r>
              <a:rPr lang="zh-CN" altLang="en-US" b="1" dirty="0">
                <a:latin typeface="Arial" panose="020B0604020202020204" pitchFamily="34" charset="0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因为每条边都关联两个结点，而一条边对其关联的每个结点的度数贡献为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，所以在计算</a:t>
            </a: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</a:rPr>
              <a:t>G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中各顶点度数之和时，每条边均提供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度， 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|</a:t>
            </a: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</a:rPr>
              <a:t>E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|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条边共提供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2|</a:t>
            </a:r>
            <a:r>
              <a:rPr lang="en-US" altLang="zh-CN" b="1" i="1" dirty="0">
                <a:solidFill>
                  <a:schemeClr val="folHlink"/>
                </a:solidFill>
                <a:latin typeface="Arial" panose="020B0604020202020204" pitchFamily="34" charset="0"/>
              </a:rPr>
              <a:t>E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|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度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.</a:t>
            </a:r>
            <a:endParaRPr lang="en-US" altLang="zh-CN" b="1" dirty="0">
              <a:solidFill>
                <a:schemeClr val="folHlink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定理</a:t>
            </a:r>
            <a:r>
              <a:rPr lang="en-US" altLang="zh-CN" b="1" dirty="0">
                <a:solidFill>
                  <a:schemeClr val="folHlink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latin typeface="Arial" panose="020B0604020202020204" pitchFamily="34" charset="0"/>
              </a:rPr>
              <a:t>的证明：</a:t>
            </a:r>
            <a:r>
              <a:rPr lang="zh-CN" altLang="en-US" dirty="0">
                <a:solidFill>
                  <a:schemeClr val="folHlink"/>
                </a:solidFill>
                <a:latin typeface="Arial" panose="020B0604020202020204" pitchFamily="34" charset="0"/>
              </a:rPr>
              <a:t>因为每一条有向边对应一个入度和一个出度，若一个结点具有一个入度或出度，则必关联一条有向边，所以，有向图中个结点入度之和等于边数，各结点的出度之和也等于边数，故任何有向图中，入度之和等于出度之和。</a:t>
            </a:r>
            <a:endParaRPr lang="zh-CN" altLang="en-US" dirty="0">
              <a:solidFill>
                <a:schemeClr val="folHlink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57A4D5-3542-4C89-8252-9EFB5F10F37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F67BAA-AC88-4F07-B4FA-2908B7C832CA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3663AB-6C03-44CF-A1AF-6D120F3A7994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一个非负整数序列可图化：是指存在一个图，使得它的结点的度数序列恰好是该非负整数序列。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可简单图化：是指存在一个简单图，使得它的结点的度数序列恰好是该非负整数序列。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例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</a:rPr>
              <a:t>是对图进行计算的简单例子。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该定理的两个条件：</a:t>
            </a:r>
            <a:r>
              <a:rPr lang="en-US" altLang="zh-CN" dirty="0"/>
              <a:t>1. </a:t>
            </a:r>
            <a:r>
              <a:rPr lang="zh-CN" altLang="en-US" dirty="0"/>
              <a:t>可图化；</a:t>
            </a:r>
            <a:r>
              <a:rPr lang="en-US" altLang="zh-CN" dirty="0"/>
              <a:t>2.</a:t>
            </a:r>
            <a:r>
              <a:rPr lang="zh-CN" altLang="en-US" dirty="0"/>
              <a:t>最大度小于等于</a:t>
            </a:r>
            <a:r>
              <a:rPr lang="en-US" altLang="zh-CN" dirty="0"/>
              <a:t>n-1</a:t>
            </a:r>
            <a:endParaRPr lang="en-US" altLang="zh-CN" dirty="0"/>
          </a:p>
          <a:p>
            <a:r>
              <a:rPr lang="zh-CN" altLang="en-US" dirty="0"/>
              <a:t>利用例子来解释该定理的含义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400C42-9700-4CE5-9567-1E0C614F25FD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不妨把图中结点对与边之间的映射看成二元运算，那么图的同构与代数系统的同构类似。即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不仅要求结点集、边集分别对应，还要求边与结点的关联关系也要对应。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习题</a:t>
            </a:r>
            <a:r>
              <a:rPr lang="en-US" altLang="zh-CN" dirty="0">
                <a:latin typeface="Arial" panose="020B0604020202020204" pitchFamily="34" charset="0"/>
              </a:rPr>
              <a:t>11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  <a:r>
              <a:rPr lang="en-US" altLang="zh-CN" dirty="0">
                <a:latin typeface="Arial" panose="020B0604020202020204" pitchFamily="34" charset="0"/>
              </a:rPr>
              <a:t>n=4k</a:t>
            </a:r>
            <a:r>
              <a:rPr lang="zh-CN" altLang="en-US" dirty="0">
                <a:latin typeface="Arial" panose="020B0604020202020204" pitchFamily="34" charset="0"/>
              </a:rPr>
              <a:t>或</a:t>
            </a:r>
            <a:r>
              <a:rPr lang="en-US" altLang="zh-CN" dirty="0">
                <a:latin typeface="Arial" panose="020B0604020202020204" pitchFamily="34" charset="0"/>
              </a:rPr>
              <a:t>n=4k+1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请</a:t>
            </a:r>
            <a:r>
              <a:rPr lang="en-US" altLang="zh-CN"/>
              <a:t>n=4</a:t>
            </a:r>
            <a:r>
              <a:rPr lang="zh-CN" altLang="en-US" dirty="0"/>
              <a:t>时的自补图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EBD371-BB82-4869-AFE1-1FA34500774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02FFF0-6645-4CC3-87AA-5B4CA17262BC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1FD31F-934F-45A2-B3E8-F97F1A956E6C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提示：</a:t>
            </a:r>
            <a:r>
              <a:rPr lang="en-US" altLang="zh-CN" dirty="0"/>
              <a:t>G2</a:t>
            </a:r>
            <a:r>
              <a:rPr lang="zh-CN" altLang="en-US" dirty="0"/>
              <a:t>中没有长度为</a:t>
            </a:r>
            <a:r>
              <a:rPr lang="en-US" altLang="zh-CN" dirty="0"/>
              <a:t>3</a:t>
            </a:r>
            <a:r>
              <a:rPr lang="zh-CN" altLang="en-US" dirty="0"/>
              <a:t>的圈，即</a:t>
            </a:r>
            <a:r>
              <a:rPr lang="en-US" altLang="zh-CN" dirty="0"/>
              <a:t>G2</a:t>
            </a:r>
            <a:r>
              <a:rPr lang="zh-CN" altLang="en-US" dirty="0"/>
              <a:t>是二部图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7B554B-8AB1-4766-86C1-6D008250099B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提问：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阶</a:t>
            </a:r>
            <a:r>
              <a:rPr lang="en-US" altLang="zh-CN" dirty="0">
                <a:latin typeface="Arial" panose="020B0604020202020204" pitchFamily="34" charset="0"/>
              </a:rPr>
              <a:t>k-</a:t>
            </a:r>
            <a:r>
              <a:rPr lang="zh-CN" altLang="en-US" dirty="0">
                <a:latin typeface="Arial" panose="020B0604020202020204" pitchFamily="34" charset="0"/>
              </a:rPr>
              <a:t>正则图和两种完全图的边数是多少？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240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239B0C-3A86-4C7E-8BE1-5B7C20E0AB9E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F3A392-82CD-494A-87F8-D4D77D75F52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阶有向完全图：任意两个结点间两条方向不同的边。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阶竞赛图：若一个有向图的基图是无向完全图，则称该有向图为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竞赛图。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按照定义， </a:t>
            </a:r>
            <a:r>
              <a:rPr lang="en-US" altLang="zh-CN" dirty="0">
                <a:latin typeface="Arial" panose="020B0604020202020204" pitchFamily="34" charset="0"/>
              </a:rPr>
              <a:t>n</a:t>
            </a:r>
            <a:r>
              <a:rPr lang="zh-CN" altLang="en-US" dirty="0">
                <a:latin typeface="Arial" panose="020B0604020202020204" pitchFamily="34" charset="0"/>
              </a:rPr>
              <a:t>阶有向完全图的边数为</a:t>
            </a:r>
            <a:r>
              <a:rPr lang="en-US" altLang="zh-CN" dirty="0">
                <a:latin typeface="Arial" panose="020B0604020202020204" pitchFamily="34" charset="0"/>
              </a:rPr>
              <a:t>n(n-1)</a:t>
            </a:r>
            <a:r>
              <a:rPr lang="zh-CN" altLang="en-US" dirty="0">
                <a:latin typeface="Arial" panose="020B0604020202020204" pitchFamily="34" charset="0"/>
              </a:rPr>
              <a:t>，每个阶点的度为</a:t>
            </a:r>
            <a:r>
              <a:rPr lang="en-US" altLang="zh-CN" dirty="0">
                <a:latin typeface="Arial" panose="020B0604020202020204" pitchFamily="34" charset="0"/>
              </a:rPr>
              <a:t>2(n-1).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F671EB-A29D-4904-914A-35813A099276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给定一个图，让学生找出子图、生成子图、真子图、导出子图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F27777-94CF-4191-8815-25CF510DEBF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E7D305-D417-43EA-8ADF-0EB9DDE0C667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CE78B9E9-16C2-473A-B9AC-51912912257B}" type="slidenum">
              <a:rPr lang="en-US" altLang="zh-CN" sz="1200">
                <a:latin typeface="Arial" panose="020B0604020202020204" pitchFamily="34" charset="0"/>
              </a:rPr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5C4AC8-BD2B-4ACD-9B52-AF667A805C6B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思考题：</a:t>
            </a:r>
            <a:r>
              <a:rPr lang="en-US" altLang="zh-CN" dirty="0"/>
              <a:t>n=4k</a:t>
            </a:r>
            <a:r>
              <a:rPr lang="zh-CN" altLang="en-US" dirty="0"/>
              <a:t>或</a:t>
            </a:r>
            <a:r>
              <a:rPr lang="en-US" altLang="zh-CN" dirty="0"/>
              <a:t>4k+1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86A80-1920-4594-AE89-2A1F3B57F49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A8D176-19FE-46C6-9471-7B0080748E3C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B0FF3-D079-4AD2-885C-C8F68FDC0FD4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EBCF66-CAC2-4662-888A-68D9AB30D510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讲解习题</a:t>
            </a:r>
            <a:r>
              <a:rPr lang="en-US" altLang="zh-CN" dirty="0">
                <a:latin typeface="Arial" panose="020B0604020202020204" pitchFamily="34" charset="0"/>
              </a:rPr>
              <a:t>8,10,11</a:t>
            </a:r>
            <a:endParaRPr lang="zh-CN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86FC5B-4DF1-4F18-9A66-77C77107D346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61F5FF1-1CFE-49A0-818F-69E3619C619A}" type="slidenum">
              <a:rPr lang="en-US" altLang="zh-CN" smtClean="0">
                <a:latin typeface="Arial" panose="020B0604020202020204" pitchFamily="34" charset="0"/>
              </a:rPr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  <a:effectLst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67954172-B388-4BB3-BEAE-AEB9C88A526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FAAE2-27FA-4C0B-B3B3-268111ABCBF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AF1DE-EE39-4E06-8C94-454112DF24A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0674FD-BC87-4F81-9E7A-047C03BA39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DEA43-5037-4014-950B-D4E20FB50E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1A5FC-5A69-483D-9893-565FCD74A3E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9AE4FA-520C-43B4-9EE0-DFA1CBEFE88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F20FF5-026A-42AD-B0CC-9CC3227056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DBE8B3-067E-4C85-91B1-8695E299767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D67B0-9478-4A82-9C06-E8F07D5A9A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9738" y="69850"/>
            <a:ext cx="2154237" cy="65992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69850"/>
            <a:ext cx="6313488" cy="65992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349E3-DF14-4124-94EE-1BBC6215E0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81A230-0328-4234-874F-0C410928BD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69850"/>
            <a:ext cx="7793037" cy="9826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412875"/>
            <a:ext cx="4171950" cy="5256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2875"/>
            <a:ext cx="4171950" cy="2551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6388"/>
            <a:ext cx="4171950" cy="2552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8A814-632F-4B18-9E91-15FBEBC2064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ltGray">
          <a:xfrm>
            <a:off x="417513" y="441325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ltGray">
          <a:xfrm>
            <a:off x="800100" y="44132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ltGray">
          <a:xfrm>
            <a:off x="541338" y="863600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ltGray">
          <a:xfrm>
            <a:off x="911225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ltGray">
          <a:xfrm>
            <a:off x="1270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gray">
          <a:xfrm>
            <a:off x="762000" y="333375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gray">
          <a:xfrm>
            <a:off x="442913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zh-CN" altLang="zh-CN" sz="2400"/>
          </a:p>
        </p:txBody>
      </p:sp>
      <p:sp>
        <p:nvSpPr>
          <p:cNvPr id="51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9850"/>
            <a:ext cx="7793037" cy="982663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algn="ctr" rotWithShape="0">
              <a:schemeClr val="bg2"/>
            </a:outerShdw>
          </a:effec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412875"/>
            <a:ext cx="8496300" cy="5256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A123451B-BBFF-482D-886E-D9AB3F22E56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" grpId="0" bldLvl="2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1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anose="020B060403050404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10000"/>
        </a:lnSpc>
        <a:spcBef>
          <a:spcPct val="3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wmf"/><Relationship Id="rId8" Type="http://schemas.openxmlformats.org/officeDocument/2006/relationships/oleObject" Target="../embeddings/oleObject6.bin"/><Relationship Id="rId7" Type="http://schemas.openxmlformats.org/officeDocument/2006/relationships/image" Target="../media/image15.wmf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2" Type="http://schemas.openxmlformats.org/officeDocument/2006/relationships/image" Target="../media/image14.jpeg"/><Relationship Id="rId17" Type="http://schemas.openxmlformats.org/officeDocument/2006/relationships/notesSlide" Target="../notesSlides/notesSlide10.xml"/><Relationship Id="rId16" Type="http://schemas.openxmlformats.org/officeDocument/2006/relationships/vmlDrawing" Target="../drawings/vmlDrawing1.v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.xml"/><Relationship Id="rId13" Type="http://schemas.openxmlformats.org/officeDocument/2006/relationships/image" Target="../media/image18.wmf"/><Relationship Id="rId12" Type="http://schemas.openxmlformats.org/officeDocument/2006/relationships/oleObject" Target="../embeddings/oleObject8.bin"/><Relationship Id="rId11" Type="http://schemas.openxmlformats.org/officeDocument/2006/relationships/image" Target="../media/image17.wmf"/><Relationship Id="rId10" Type="http://schemas.openxmlformats.org/officeDocument/2006/relationships/oleObject" Target="../embeddings/oleObject7.bin"/><Relationship Id="rId1" Type="http://schemas.openxmlformats.org/officeDocument/2006/relationships/oleObject" Target="../embeddings/oleObject1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wmf"/><Relationship Id="rId8" Type="http://schemas.openxmlformats.org/officeDocument/2006/relationships/oleObject" Target="../embeddings/oleObject11.bin"/><Relationship Id="rId7" Type="http://schemas.openxmlformats.org/officeDocument/2006/relationships/image" Target="../media/image22.wmf"/><Relationship Id="rId6" Type="http://schemas.openxmlformats.org/officeDocument/2006/relationships/oleObject" Target="../embeddings/oleObject10.bin"/><Relationship Id="rId5" Type="http://schemas.openxmlformats.org/officeDocument/2006/relationships/image" Target="../media/image21.wmf"/><Relationship Id="rId4" Type="http://schemas.openxmlformats.org/officeDocument/2006/relationships/oleObject" Target="../embeddings/oleObject9.bin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3" Type="http://schemas.openxmlformats.org/officeDocument/2006/relationships/notesSlide" Target="../notesSlides/notesSlide11.xml"/><Relationship Id="rId12" Type="http://schemas.openxmlformats.org/officeDocument/2006/relationships/vmlDrawing" Target="../drawings/vmlDrawing2.v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5.xml"/><Relationship Id="rId1" Type="http://schemas.openxmlformats.org/officeDocument/2006/relationships/image" Target="../media/image1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14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7.wmf"/><Relationship Id="rId6" Type="http://schemas.openxmlformats.org/officeDocument/2006/relationships/oleObject" Target="../embeddings/oleObject15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4.bin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4.jpeg"/><Relationship Id="rId10" Type="http://schemas.openxmlformats.org/officeDocument/2006/relationships/notesSlide" Target="../notesSlides/notesSlide15.xml"/><Relationship Id="rId1" Type="http://schemas.openxmlformats.org/officeDocument/2006/relationships/oleObject" Target="../embeddings/oleObject12.bin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4.jpeg"/><Relationship Id="rId13" Type="http://schemas.openxmlformats.org/officeDocument/2006/relationships/notesSlide" Target="../notesSlides/notesSlide16.xml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0.wmf"/><Relationship Id="rId1" Type="http://schemas.openxmlformats.org/officeDocument/2006/relationships/oleObject" Target="../embeddings/oleObject1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14.jpe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4.jpeg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image" Target="../media/image35.png"/><Relationship Id="rId1" Type="http://schemas.openxmlformats.org/officeDocument/2006/relationships/image" Target="../media/image14.jpe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1" Type="http://schemas.openxmlformats.org/officeDocument/2006/relationships/image" Target="../media/image1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14.jpe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8.png"/><Relationship Id="rId1" Type="http://schemas.openxmlformats.org/officeDocument/2006/relationships/image" Target="../media/image14.jpe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0.png"/><Relationship Id="rId6" Type="http://schemas.openxmlformats.org/officeDocument/2006/relationships/tags" Target="../tags/tag20.xml"/><Relationship Id="rId5" Type="http://schemas.openxmlformats.org/officeDocument/2006/relationships/image" Target="../media/image39.png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image" Target="../media/image14.jpeg"/><Relationship Id="rId1" Type="http://schemas.openxmlformats.org/officeDocument/2006/relationships/tags" Target="../tags/tag1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14.jpe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14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image" Target="../media/image44.png"/><Relationship Id="rId1" Type="http://schemas.openxmlformats.org/officeDocument/2006/relationships/image" Target="../media/image14.jpe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image" Target="../media/image45.png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9.xml"/><Relationship Id="rId7" Type="http://schemas.openxmlformats.org/officeDocument/2006/relationships/image" Target="../media/image49.wmf"/><Relationship Id="rId6" Type="http://schemas.openxmlformats.org/officeDocument/2006/relationships/oleObject" Target="../embeddings/oleObject24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3.bin"/><Relationship Id="rId3" Type="http://schemas.openxmlformats.org/officeDocument/2006/relationships/image" Target="../media/image47.wmf"/><Relationship Id="rId2" Type="http://schemas.openxmlformats.org/officeDocument/2006/relationships/oleObject" Target="../embeddings/oleObject22.bin"/><Relationship Id="rId11" Type="http://schemas.openxmlformats.org/officeDocument/2006/relationships/notesSlide" Target="../notesSlides/notesSlide34.xml"/><Relationship Id="rId10" Type="http://schemas.openxmlformats.org/officeDocument/2006/relationships/vmlDrawing" Target="../drawings/vmlDrawing5.vml"/><Relationship Id="rId1" Type="http://schemas.openxmlformats.org/officeDocument/2006/relationships/image" Target="../media/image46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image" Target="../media/image44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7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image" Target="../media/image5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oleObject" Target="../embeddings/oleObject25.bin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3"/>
          <p:cNvSpPr txBox="1">
            <a:spLocks noGrp="1"/>
          </p:cNvSpPr>
          <p:nvPr>
            <p:ph type="sldNum" sz="quarter" idx="4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>
                <a:solidFill>
                  <a:schemeClr val="bg2"/>
                </a:solidFill>
              </a:rPr>
            </a:fld>
            <a:endParaRPr lang="en-US" altLang="zh-CN" sz="1400" b="0" dirty="0">
              <a:solidFill>
                <a:schemeClr val="bg2"/>
              </a:solidFill>
            </a:endParaRPr>
          </a:p>
        </p:txBody>
      </p:sp>
      <p:sp>
        <p:nvSpPr>
          <p:cNvPr id="5" name="Rectangle 2"/>
          <p:cNvSpPr txBox="1">
            <a:spLocks noRot="1" noChangeArrowheads="1"/>
          </p:cNvSpPr>
          <p:nvPr/>
        </p:nvSpPr>
        <p:spPr bwMode="auto">
          <a:xfrm>
            <a:off x="1116013" y="2133600"/>
            <a:ext cx="4103688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marR="0" algn="ctr" defTabSz="914400">
              <a:buClrTx/>
              <a:buSzTx/>
              <a:buFontTx/>
              <a:defRPr/>
            </a:pPr>
            <a:r>
              <a:rPr kumimoji="0" lang="zh-CN" altLang="en-US" sz="5400" kern="0" cap="none" spc="0" normalizeH="0" baseline="0" noProof="0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离散数学Ⅱ</a:t>
            </a:r>
            <a:endParaRPr kumimoji="0" lang="zh-CN" altLang="en-US" sz="5400" kern="0" cap="none" spc="0" normalizeH="0" baseline="0" noProof="0" dirty="0">
              <a:solidFill>
                <a:srgbClr val="0000C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0" y="3867150"/>
            <a:ext cx="4070350" cy="23768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信息学部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-</a:t>
            </a: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计算机学院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2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曹媛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2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西海岸校区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-</a:t>
            </a:r>
            <a:r>
              <a:rPr kumimoji="0" lang="zh-CN" altLang="en-US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计算机楼</a:t>
            </a: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C407</a:t>
            </a:r>
            <a:endParaRPr kumimoji="0" lang="en-US" altLang="zh-CN" sz="2600" kern="0" cap="none" spc="0" normalizeH="0" baseline="0" noProof="0" dirty="0">
              <a:latin typeface="+mn-lt"/>
              <a:ea typeface="+mn-ea"/>
              <a:cs typeface="黑体" panose="02010609060101010101" pitchFamily="2" charset="-122"/>
            </a:endParaRPr>
          </a:p>
          <a:p>
            <a:pPr marR="0" algn="ctr" defTabSz="914400" eaLnBrk="1" hangingPunct="1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defRPr/>
            </a:pPr>
            <a:r>
              <a:rPr kumimoji="0" lang="en-US" altLang="zh-CN" sz="2600" kern="0" cap="none" spc="0" normalizeH="0" baseline="0" noProof="0" dirty="0">
                <a:latin typeface="+mn-lt"/>
                <a:ea typeface="+mn-ea"/>
                <a:cs typeface="黑体" panose="02010609060101010101" pitchFamily="2" charset="-122"/>
              </a:rPr>
              <a:t>cy8661@ouc.edu.cn</a:t>
            </a:r>
            <a:endParaRPr kumimoji="0" lang="zh-CN" altLang="en-US" sz="2600" kern="0" cap="none" spc="0" normalizeH="0" baseline="0" noProof="0" dirty="0">
              <a:latin typeface="+mn-lt"/>
              <a:ea typeface="+mn-ea"/>
              <a:cs typeface="黑体" panose="02010609060101010101" pitchFamily="2" charset="-122"/>
            </a:endParaRPr>
          </a:p>
        </p:txBody>
      </p:sp>
      <p:pic>
        <p:nvPicPr>
          <p:cNvPr id="9221" name="Picture 2" descr="C:\Users\lenovo\AppData\Roaming\Tencent\Users\905529423\QQ\WinTemp\RichOle\OBZPY]6@JZQ`OYQ$UL_J@Q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3" y="188913"/>
            <a:ext cx="2952750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2" charset="-122"/>
              </a:rPr>
              <a:t>引言</a:t>
            </a: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2" charset="-122"/>
            </a:endParaRPr>
          </a:p>
        </p:txBody>
      </p:sp>
      <p:sp>
        <p:nvSpPr>
          <p:cNvPr id="198659" name="Rectangle 3"/>
          <p:cNvSpPr>
            <a:spLocks noGrp="1"/>
          </p:cNvSpPr>
          <p:nvPr>
            <p:ph idx="1"/>
          </p:nvPr>
        </p:nvSpPr>
        <p:spPr>
          <a:xfrm>
            <a:off x="466725" y="1774825"/>
            <a:ext cx="7850188" cy="417512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200000"/>
              </a:lnSpc>
            </a:pPr>
            <a:r>
              <a:rPr lang="zh-CN" altLang="en-US" sz="2600" dirty="0"/>
              <a:t>离散数学是什么？</a:t>
            </a:r>
            <a:endParaRPr lang="zh-CN" altLang="en-US" sz="2600" dirty="0"/>
          </a:p>
          <a:p>
            <a:pPr eaLnBrk="1" hangingPunct="1">
              <a:lnSpc>
                <a:spcPct val="200000"/>
              </a:lnSpc>
            </a:pPr>
            <a:r>
              <a:rPr lang="zh-CN" altLang="en-US" sz="2600" dirty="0"/>
              <a:t>为什么要学习离散数学？</a:t>
            </a:r>
            <a:endParaRPr lang="zh-CN" altLang="en-US" sz="2600" dirty="0"/>
          </a:p>
        </p:txBody>
      </p:sp>
      <p:sp>
        <p:nvSpPr>
          <p:cNvPr id="1024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26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2" charset="-122"/>
              </a:rPr>
              <a:t>离散数学是什么？</a:t>
            </a: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2" charset="-122"/>
            </a:endParaRPr>
          </a:p>
        </p:txBody>
      </p:sp>
      <p:sp>
        <p:nvSpPr>
          <p:cNvPr id="198659" name="Rectangle 3"/>
          <p:cNvSpPr>
            <a:spLocks noGrp="1"/>
          </p:cNvSpPr>
          <p:nvPr>
            <p:ph idx="1"/>
          </p:nvPr>
        </p:nvSpPr>
        <p:spPr>
          <a:xfrm>
            <a:off x="466725" y="1631315"/>
            <a:ext cx="7850505" cy="457644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00000"/>
              </a:lnSpc>
            </a:pPr>
            <a:r>
              <a:rPr lang="zh-CN" altLang="en-US" sz="2600" dirty="0"/>
              <a:t>离散数学是研究离散量的结构和相互关系，研究对象是有限个或可数个元素，体现了计算机离散性的特点</a:t>
            </a:r>
            <a:endParaRPr lang="en-US" altLang="zh-CN" sz="2600" dirty="0"/>
          </a:p>
          <a:p>
            <a:pPr eaLnBrk="1" hangingPunct="1">
              <a:lnSpc>
                <a:spcPct val="100000"/>
              </a:lnSpc>
            </a:pPr>
            <a:r>
              <a:rPr lang="zh-CN" altLang="en-US" sz="2600" dirty="0">
                <a:sym typeface="+mn-ea"/>
              </a:rPr>
              <a:t>离散数学，就是指出构成一个包括了不同领域的通用模型的思维方法，并且告诉我们怎样用不同的语言</a:t>
            </a:r>
            <a:r>
              <a:rPr lang="en-US" altLang="zh-CN" sz="2600" dirty="0">
                <a:sym typeface="+mn-ea"/>
              </a:rPr>
              <a:t>(</a:t>
            </a:r>
            <a:r>
              <a:rPr lang="zh-CN" altLang="en-US" sz="2600" dirty="0">
                <a:sym typeface="+mn-ea"/>
              </a:rPr>
              <a:t>符号语言、逻辑语言</a:t>
            </a:r>
            <a:r>
              <a:rPr lang="zh-CN" altLang="en-US" sz="2600" dirty="0">
                <a:sym typeface="+mn-ea"/>
              </a:rPr>
              <a:t>、图形语言</a:t>
            </a:r>
            <a:r>
              <a:rPr lang="zh-CN" altLang="en-US" sz="2600" dirty="0">
                <a:sym typeface="+mn-ea"/>
              </a:rPr>
              <a:t>等</a:t>
            </a:r>
            <a:r>
              <a:rPr lang="en-US" altLang="zh-CN" sz="2600" dirty="0">
                <a:sym typeface="+mn-ea"/>
              </a:rPr>
              <a:t>)</a:t>
            </a:r>
            <a:r>
              <a:rPr lang="zh-CN" altLang="en-US" sz="2600" dirty="0">
                <a:sym typeface="+mn-ea"/>
              </a:rPr>
              <a:t>从最简单的对象出发，表示通用模型</a:t>
            </a:r>
            <a:endParaRPr lang="zh-CN" altLang="en-US" sz="2600" dirty="0"/>
          </a:p>
          <a:p>
            <a:pPr eaLnBrk="1" hangingPunct="1">
              <a:lnSpc>
                <a:spcPct val="100000"/>
              </a:lnSpc>
            </a:pPr>
            <a:r>
              <a:rPr lang="zh-CN" altLang="en-US" sz="2600" dirty="0"/>
              <a:t>离散数学</a:t>
            </a:r>
            <a:r>
              <a:rPr lang="zh-CN" altLang="en-US" sz="2600">
                <a:sym typeface="+mn-ea"/>
              </a:rPr>
              <a:t>Ⅰ</a:t>
            </a:r>
            <a:r>
              <a:rPr lang="zh-CN" altLang="en-US" sz="2600" dirty="0"/>
              <a:t>课程包括：数理逻辑</a:t>
            </a:r>
            <a:r>
              <a:rPr lang="en-US" altLang="zh-CN" sz="2600" dirty="0"/>
              <a:t>(</a:t>
            </a:r>
            <a:r>
              <a:rPr lang="zh-CN" altLang="en-US" sz="2600" dirty="0"/>
              <a:t>命题逻辑</a:t>
            </a:r>
            <a:r>
              <a:rPr lang="en-US" altLang="zh-CN" sz="2600" dirty="0"/>
              <a:t>+</a:t>
            </a:r>
            <a:r>
              <a:rPr lang="zh-CN" altLang="en-US" sz="2600" dirty="0"/>
              <a:t>谓词逻辑</a:t>
            </a:r>
            <a:r>
              <a:rPr lang="en-US" altLang="zh-CN" sz="2600" dirty="0"/>
              <a:t>+</a:t>
            </a:r>
            <a:r>
              <a:rPr lang="zh-CN" altLang="en-US" sz="2600" dirty="0"/>
              <a:t>集合论</a:t>
            </a:r>
            <a:r>
              <a:rPr lang="en-US" altLang="zh-CN" sz="2600" dirty="0"/>
              <a:t>)</a:t>
            </a:r>
            <a:r>
              <a:rPr lang="zh-CN" altLang="en-US" sz="2600" dirty="0"/>
              <a:t>，代数结构</a:t>
            </a:r>
            <a:endParaRPr lang="zh-CN" altLang="en-US" sz="2600" dirty="0"/>
          </a:p>
          <a:p>
            <a:pPr eaLnBrk="1" hangingPunct="1">
              <a:lnSpc>
                <a:spcPct val="100000"/>
              </a:lnSpc>
            </a:pPr>
            <a:r>
              <a:rPr lang="zh-CN" altLang="en-US" sz="2600" dirty="0"/>
              <a:t>离散数学Ⅱ课程包括：图论</a:t>
            </a:r>
            <a:endParaRPr lang="zh-CN" altLang="en-US" sz="2600" dirty="0"/>
          </a:p>
        </p:txBody>
      </p:sp>
      <p:sp>
        <p:nvSpPr>
          <p:cNvPr id="11268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48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59">
                                            <p:txEl>
                                              <p:char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黑体" panose="02010609060101010101" pitchFamily="2" charset="-122"/>
              </a:rPr>
              <a:t>为什么要学习离散数学？</a:t>
            </a:r>
            <a:endParaRPr kumimoji="0" lang="zh-CN" altLang="en-US" sz="3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黑体" panose="02010609060101010101" pitchFamily="2" charset="-122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466725" y="1774825"/>
            <a:ext cx="7850188" cy="122237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00000"/>
              </a:lnSpc>
            </a:pPr>
            <a:r>
              <a:rPr lang="zh-CN" altLang="en-US" sz="2600" dirty="0"/>
              <a:t>计算机专业人员需要三个方面的能力：</a:t>
            </a:r>
            <a:endParaRPr lang="zh-CN" altLang="en-US" sz="2600" dirty="0"/>
          </a:p>
        </p:txBody>
      </p:sp>
      <p:sp>
        <p:nvSpPr>
          <p:cNvPr id="14340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5" name="Picture 1" descr="C:\Users\IBM\AppData\Roaming\Tencent\Users\905529423\QQ\WinTemp\RichOle\MU_80BV)AYK_%(BLM~3U0R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623" y="2780665"/>
            <a:ext cx="6904037" cy="25923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800" dirty="0"/>
              <a:t>图  论  部  分</a:t>
            </a:r>
            <a:endParaRPr lang="zh-CN" altLang="en-US" sz="48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中国海洋大学</a:t>
            </a:r>
            <a:endParaRPr lang="zh-CN" altLang="en-US"/>
          </a:p>
          <a:p>
            <a:pPr eaLnBrk="1" hangingPunct="1"/>
            <a:r>
              <a:rPr lang="zh-CN" altLang="en-US"/>
              <a:t>计算机学院</a:t>
            </a:r>
            <a:endParaRPr lang="zh-CN" altLang="en-US"/>
          </a:p>
        </p:txBody>
      </p:sp>
      <p:sp>
        <p:nvSpPr>
          <p:cNvPr id="2" name="幻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7001510" y="6248400"/>
            <a:ext cx="1905000" cy="457200"/>
          </a:xfrm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课程主要内容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图的基本概念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路与回路</a:t>
            </a:r>
            <a:r>
              <a:rPr lang="zh-CN" altLang="zh-CN" dirty="0"/>
              <a:t>、</a:t>
            </a:r>
            <a:r>
              <a:rPr lang="zh-CN" altLang="en-US" dirty="0"/>
              <a:t>连通性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欧拉图与</a:t>
            </a:r>
            <a:r>
              <a:rPr lang="en-US" altLang="zh-CN" dirty="0"/>
              <a:t>Hamilton</a:t>
            </a:r>
            <a:r>
              <a:rPr lang="zh-CN" altLang="en-US" dirty="0"/>
              <a:t>图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树与生成树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图的表示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平面图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图的着色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支配集、覆盖集、独立集与匹配</a:t>
            </a:r>
            <a:endParaRPr lang="zh-CN" altLang="en-US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带权图及其应用</a:t>
            </a: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/>
              <a:t>7.1 </a:t>
            </a:r>
            <a:r>
              <a:rPr lang="zh-CN" altLang="en-US"/>
              <a:t>图的基本概念</a:t>
            </a:r>
            <a:endParaRPr lang="zh-CN" alt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图的定义、无向图、有向图、</a:t>
            </a:r>
            <a:r>
              <a:rPr lang="zh-CN" altLang="en-US" dirty="0"/>
              <a:t>简单图</a:t>
            </a:r>
            <a:endParaRPr lang="zh-CN" altLang="en-US" dirty="0"/>
          </a:p>
          <a:p>
            <a:pPr eaLnBrk="1" hangingPunct="1"/>
            <a:r>
              <a:rPr lang="zh-CN" altLang="en-US" dirty="0"/>
              <a:t>度</a:t>
            </a:r>
            <a:r>
              <a:rPr lang="en-US" altLang="zh-CN" dirty="0"/>
              <a:t>,</a:t>
            </a:r>
            <a:r>
              <a:rPr lang="zh-CN" altLang="en-US" dirty="0"/>
              <a:t>握手定理、度数列、</a:t>
            </a:r>
            <a:r>
              <a:rPr lang="zh-CN" altLang="en-US" dirty="0"/>
              <a:t>可</a:t>
            </a:r>
            <a:r>
              <a:rPr lang="en-US" altLang="zh-CN" dirty="0"/>
              <a:t>(</a:t>
            </a:r>
            <a:r>
              <a:rPr lang="zh-CN" altLang="en-US" dirty="0"/>
              <a:t>简单</a:t>
            </a:r>
            <a:r>
              <a:rPr lang="en-US" altLang="zh-CN" dirty="0"/>
              <a:t>)</a:t>
            </a:r>
            <a:r>
              <a:rPr lang="zh-CN" altLang="en-US" dirty="0"/>
              <a:t>图化</a:t>
            </a:r>
            <a:endParaRPr lang="zh-CN" altLang="en-US" dirty="0"/>
          </a:p>
          <a:p>
            <a:pPr eaLnBrk="1" hangingPunct="1"/>
            <a:r>
              <a:rPr lang="zh-CN" altLang="en-US" dirty="0"/>
              <a:t>简单图和多重图</a:t>
            </a:r>
            <a:endParaRPr lang="zh-CN" altLang="en-US" dirty="0"/>
          </a:p>
          <a:p>
            <a:pPr eaLnBrk="1" hangingPunct="1"/>
            <a:r>
              <a:rPr lang="zh-CN" altLang="en-US" dirty="0"/>
              <a:t>图的同构</a:t>
            </a:r>
            <a:endParaRPr lang="zh-CN" altLang="en-US" dirty="0"/>
          </a:p>
          <a:p>
            <a:pPr eaLnBrk="1" hangingPunct="1"/>
            <a:r>
              <a:rPr lang="zh-CN" altLang="en-US" dirty="0"/>
              <a:t>图族</a:t>
            </a:r>
            <a:endParaRPr lang="zh-CN" altLang="en-US" dirty="0"/>
          </a:p>
          <a:p>
            <a:pPr eaLnBrk="1" hangingPunct="1"/>
            <a:r>
              <a:rPr lang="zh-CN" altLang="en-US" dirty="0"/>
              <a:t>学习要点与基本要求</a:t>
            </a:r>
            <a:endParaRPr lang="zh-CN" altLang="en-US" dirty="0"/>
          </a:p>
          <a:p>
            <a:pPr eaLnBrk="1" hangingPunct="1"/>
            <a:r>
              <a:rPr lang="zh-CN" altLang="en-US" dirty="0"/>
              <a:t>实例分析</a:t>
            </a: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图：由顶点和顶点之间的连线构成的离散结构</a:t>
            </a:r>
            <a:endParaRPr lang="en-US" altLang="zh-CN" dirty="0"/>
          </a:p>
          <a:p>
            <a:r>
              <a:rPr lang="zh-CN" altLang="en-US" dirty="0"/>
              <a:t>在各种领域中都可以用图来建模，如：</a:t>
            </a:r>
            <a:endParaRPr lang="en-US" altLang="zh-CN" dirty="0"/>
          </a:p>
          <a:p>
            <a:pPr lvl="1"/>
            <a:r>
              <a:rPr lang="zh-CN" altLang="en-US" dirty="0"/>
              <a:t>用图表示生态环境里不同物种的竞争；</a:t>
            </a:r>
            <a:endParaRPr lang="en-US" altLang="zh-CN" dirty="0"/>
          </a:p>
          <a:p>
            <a:pPr lvl="1"/>
            <a:r>
              <a:rPr lang="zh-CN" altLang="en-US" dirty="0"/>
              <a:t>用图表示组织结构；</a:t>
            </a:r>
            <a:endParaRPr lang="en-US" altLang="zh-CN" dirty="0"/>
          </a:p>
          <a:p>
            <a:pPr lvl="1"/>
            <a:r>
              <a:rPr lang="zh-CN" altLang="en-US" dirty="0"/>
              <a:t>用图表示循环锦标赛的输出；</a:t>
            </a:r>
            <a:endParaRPr lang="en-US" altLang="zh-CN" dirty="0"/>
          </a:p>
          <a:p>
            <a:pPr lvl="1"/>
            <a:r>
              <a:rPr lang="zh-CN" altLang="en-US" dirty="0"/>
              <a:t>用图表示网站之间的连接关系；</a:t>
            </a:r>
            <a:endParaRPr lang="en-US" altLang="zh-CN" dirty="0"/>
          </a:p>
          <a:p>
            <a:pPr lvl="1"/>
            <a:r>
              <a:rPr lang="zh-CN" altLang="en-US" dirty="0"/>
              <a:t>用图表示一个城市的所有街道或地铁线路；</a:t>
            </a:r>
            <a:endParaRPr lang="zh-CN" altLang="en-US" dirty="0"/>
          </a:p>
          <a:p>
            <a:pPr lvl="1"/>
            <a:r>
              <a:rPr lang="zh-CN" altLang="en-US" dirty="0"/>
              <a:t>用图确定一个电路是否能够在在平面电路板上实现；</a:t>
            </a:r>
            <a:endParaRPr lang="en-US" altLang="zh-CN" dirty="0"/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/>
              <a:t>……</a:t>
            </a:r>
            <a:endParaRPr 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19200" y="3284538"/>
            <a:ext cx="19843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关联图谱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275" y="1309688"/>
            <a:ext cx="4465638" cy="2027237"/>
          </a:xfrm>
          <a:prstGeom prst="rect">
            <a:avLst/>
          </a:prstGeom>
          <a:noFill/>
          <a:ln w="222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076825" y="3365500"/>
            <a:ext cx="2087563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图神经网络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331913" y="6092825"/>
            <a:ext cx="1944688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物联网</a:t>
            </a: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7" name="Picture 6" descr="See the source image"/>
          <p:cNvPicPr>
            <a:picLocks noChangeAspect="1"/>
          </p:cNvPicPr>
          <p:nvPr/>
        </p:nvPicPr>
        <p:blipFill>
          <a:blip r:embed="rId2"/>
          <a:srcRect t="10538"/>
          <a:stretch>
            <a:fillRect/>
          </a:stretch>
        </p:blipFill>
        <p:spPr>
          <a:xfrm>
            <a:off x="4787900" y="4014788"/>
            <a:ext cx="3529013" cy="211296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435600" y="6127750"/>
            <a:ext cx="20891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图络拓扑图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9" name="Picture 10" descr="See the source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1268413"/>
            <a:ext cx="2295525" cy="2044700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10250" name="Picture 14" descr="See the source 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014788"/>
            <a:ext cx="3076575" cy="2112962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什么是图</a:t>
            </a:r>
            <a:endParaRPr 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291" name="Picture 2" descr="See the source image"/>
          <p:cNvPicPr>
            <a:picLocks noGrp="1"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042988" y="1484313"/>
            <a:ext cx="2736850" cy="3527425"/>
          </a:xfrm>
          <a:ln w="19050">
            <a:solidFill>
              <a:schemeClr val="accent1">
                <a:alpha val="100000"/>
              </a:schemeClr>
            </a:solidFill>
            <a:miter/>
          </a:ln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419225" y="5084763"/>
            <a:ext cx="1984375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化学图论</a:t>
            </a: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371975" y="5084763"/>
            <a:ext cx="4572000" cy="497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闰盘蛋白质相互作用网络</a:t>
            </a:r>
            <a:r>
              <a:rPr kumimoji="0" lang="en-US" altLang="zh-CN" sz="2400" b="0" i="0" kern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[1]</a:t>
            </a:r>
            <a:endParaRPr kumimoji="0" lang="en-US" altLang="zh-CN" sz="2400" b="0" i="0" kern="0" baseline="3000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2294" name="Picture 4" descr="https://www.researchgate.net/profile/Cristobal-Dos-Remedios-2/publication/225335234/figure/fig3/AS:302652266172418@1449169331402/sualisation-of-the-interaction-network-of-the-intercalated-disc-proteins-This-figure-was_W6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0" y="1484313"/>
            <a:ext cx="3973513" cy="3527425"/>
          </a:xfrm>
          <a:prstGeom prst="rect">
            <a:avLst/>
          </a:prstGeom>
          <a:noFill/>
          <a:ln w="1905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2295" name="Rectangle 5"/>
          <p:cNvSpPr/>
          <p:nvPr/>
        </p:nvSpPr>
        <p:spPr>
          <a:xfrm>
            <a:off x="0" y="-138112"/>
            <a:ext cx="0" cy="27622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ctr" anchorCtr="0">
            <a:spAutoFit/>
          </a:bodyPr>
          <a:p>
            <a:endParaRPr lang="zh-CN" altLang="zh-CN" dirty="0">
              <a:latin typeface="Tahoma" panose="020B0604030504040204" pitchFamily="34" charset="0"/>
            </a:endParaRPr>
          </a:p>
        </p:txBody>
      </p:sp>
      <p:sp>
        <p:nvSpPr>
          <p:cNvPr id="12296" name="矩形 6"/>
          <p:cNvSpPr/>
          <p:nvPr/>
        </p:nvSpPr>
        <p:spPr>
          <a:xfrm>
            <a:off x="1042988" y="5726113"/>
            <a:ext cx="7229475" cy="738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buNone/>
            </a:pPr>
            <a:r>
              <a:rPr lang="en-US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[1]</a:t>
            </a:r>
            <a:r>
              <a:rPr lang="zh-CN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Colleen B. Estigoy</a:t>
            </a:r>
            <a:r>
              <a:rPr lang="en-US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,</a:t>
            </a:r>
            <a:r>
              <a:rPr lang="zh-CN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 Fredrik Pontén</a:t>
            </a:r>
            <a:r>
              <a:rPr lang="en-US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, </a:t>
            </a:r>
            <a:r>
              <a:rPr lang="zh-CN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Jacob Odeberg</a:t>
            </a:r>
            <a:r>
              <a:rPr lang="en-US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, </a:t>
            </a:r>
            <a:r>
              <a:rPr lang="zh-CN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Cristobal dos Remedios</a:t>
            </a:r>
            <a:r>
              <a:rPr lang="en-US" altLang="zh-CN" sz="1400" dirty="0">
                <a:solidFill>
                  <a:srgbClr val="111111"/>
                </a:solidFill>
                <a:latin typeface="Tahoma" panose="020B0604030504040204" pitchFamily="34" charset="0"/>
              </a:rPr>
              <a:t>, </a:t>
            </a:r>
            <a:r>
              <a:rPr lang="en-US" altLang="zh-CN" sz="1400" dirty="0">
                <a:latin typeface="Tahoma" panose="020B0604030504040204" pitchFamily="34" charset="0"/>
              </a:rPr>
              <a:t>Intercalated discs: Multiple proteins perform multiple functions in non-failing and failing human hearts, Biophysical Reviews, 2009, 1(1):43-49</a:t>
            </a:r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/>
              <a:t>什么是图</a:t>
            </a:r>
            <a:endParaRPr lang="en-US" dirty="0"/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268730"/>
            <a:ext cx="7249795" cy="5385435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/>
              <a:t>为什么研究图</a:t>
            </a:r>
            <a:endParaRPr lang="en-US" dirty="0"/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434340" y="1428750"/>
            <a:ext cx="8559165" cy="5215255"/>
          </a:xfrm>
        </p:spPr>
        <p:txBody>
          <a:bodyPr vert="horz" wrap="square" lIns="91440" tIns="45720" rIns="91440" bIns="45720" anchor="t" anchorCtr="0"/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/>
              <a:t>如何布线能使每一部电话都互相连通，并且花费最小？</a:t>
            </a:r>
            <a:endParaRPr lang="zh-CN" altLang="en-US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sz="2600" dirty="0"/>
              <a:t>n</a:t>
            </a:r>
            <a:r>
              <a:rPr lang="zh-CN" altLang="en-US" sz="2600" dirty="0"/>
              <a:t>项任务怎样最有效的由</a:t>
            </a:r>
            <a:r>
              <a:rPr lang="en-US" altLang="zh-CN" sz="2600" dirty="0"/>
              <a:t>n</a:t>
            </a:r>
            <a:r>
              <a:rPr lang="zh-CN" altLang="en-US" sz="2600" dirty="0"/>
              <a:t>个人完成？</a:t>
            </a:r>
            <a:endParaRPr lang="zh-CN" altLang="en-US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/>
              <a:t>管道网络中从源点到汇点的单位时间最大流是多少？</a:t>
            </a:r>
            <a:endParaRPr lang="zh-CN" altLang="en-US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/>
              <a:t>一个计算机芯片需要多少层才能使得同一层的线路互不相交？</a:t>
            </a:r>
            <a:endParaRPr lang="zh-CN" altLang="en-US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/>
              <a:t>一个推销员能够使旅行的城市不重复，再回起点吗？能不重复的通过不同的道路，再回到起点吗？要以怎样的顺序到达每一个城市</a:t>
            </a:r>
            <a:r>
              <a:rPr lang="en-US" altLang="zh-CN" sz="2600" dirty="0"/>
              <a:t>, </a:t>
            </a:r>
            <a:r>
              <a:rPr lang="zh-CN" altLang="en-US" sz="2600" dirty="0"/>
              <a:t>才能使得旅行时间最短？</a:t>
            </a:r>
            <a:endParaRPr lang="zh-CN" altLang="en-US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/>
              <a:t>我们能用</a:t>
            </a:r>
            <a:r>
              <a:rPr lang="en-US" altLang="zh-CN" sz="2600" dirty="0"/>
              <a:t>4</a:t>
            </a:r>
            <a:r>
              <a:rPr lang="zh-CN" altLang="en-US" sz="2600" dirty="0"/>
              <a:t>种颜色为地图的各区域着色，使相邻区域的颜色不同吗？      </a:t>
            </a:r>
            <a:endParaRPr lang="en-US" altLang="zh-CN" sz="2600" dirty="0"/>
          </a:p>
          <a:p>
            <a:pPr>
              <a:lnSpc>
                <a:spcPct val="100000"/>
              </a:lnSpc>
              <a:buSzPct val="60000"/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>
              <a:buNone/>
            </a:pPr>
            <a:r>
              <a:rPr lang="zh-CN" altLang="en-US" dirty="0"/>
              <a:t>图论在不同领域的应用</a:t>
            </a:r>
            <a:endParaRPr lang="zh-CN" altLang="en-US" dirty="0"/>
          </a:p>
        </p:txBody>
      </p:sp>
    </p:spTree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有序对与无序对</a:t>
            </a:r>
            <a:endParaRPr lang="zh-CN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6300" cy="51117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  <a:sym typeface="+mn-ea"/>
              </a:rPr>
              <a:t>无序积</a:t>
            </a:r>
            <a:r>
              <a:rPr lang="en-US" altLang="zh-CN" dirty="0">
                <a:solidFill>
                  <a:schemeClr val="hlink"/>
                </a:solidFill>
                <a:sym typeface="+mn-ea"/>
              </a:rPr>
              <a:t>: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dirty="0">
                <a:sym typeface="+mn-ea"/>
              </a:rPr>
              <a:t>A</a:t>
            </a:r>
            <a:r>
              <a:rPr lang="en-US" altLang="zh-CN" dirty="0">
                <a:sym typeface="+mn-ea"/>
              </a:rPr>
              <a:t>&amp;</a:t>
            </a:r>
            <a:r>
              <a:rPr lang="en-US" altLang="zh-CN" i="1" dirty="0">
                <a:sym typeface="+mn-ea"/>
              </a:rPr>
              <a:t>B</a:t>
            </a:r>
            <a:r>
              <a:rPr lang="en-US" altLang="zh-CN" dirty="0">
                <a:sym typeface="+mn-ea"/>
              </a:rPr>
              <a:t>={ (</a:t>
            </a:r>
            <a:r>
              <a:rPr lang="en-US" altLang="zh-CN" i="1" dirty="0" err="1">
                <a:sym typeface="+mn-ea"/>
              </a:rPr>
              <a:t>x</a:t>
            </a:r>
            <a:r>
              <a:rPr lang="en-US" altLang="zh-CN" dirty="0" err="1">
                <a:sym typeface="+mn-ea"/>
              </a:rPr>
              <a:t>,</a:t>
            </a:r>
            <a:r>
              <a:rPr lang="en-US" altLang="zh-CN" i="1" dirty="0" err="1">
                <a:sym typeface="+mn-ea"/>
              </a:rPr>
              <a:t>y</a:t>
            </a:r>
            <a:r>
              <a:rPr lang="en-US" altLang="zh-CN" dirty="0">
                <a:sym typeface="+mn-ea"/>
              </a:rPr>
              <a:t>) |</a:t>
            </a:r>
            <a:r>
              <a:rPr lang="en-US" altLang="zh-CN" i="1" dirty="0" err="1">
                <a:sym typeface="+mn-ea"/>
              </a:rPr>
              <a:t>x</a:t>
            </a:r>
            <a:r>
              <a:rPr lang="en-US" altLang="zh-CN" dirty="0" err="1">
                <a:sym typeface="+mn-ea"/>
              </a:rPr>
              <a:t>∈</a:t>
            </a:r>
            <a:r>
              <a:rPr lang="en-US" altLang="zh-CN" i="1" dirty="0" err="1">
                <a:sym typeface="+mn-ea"/>
              </a:rPr>
              <a:t>A</a:t>
            </a:r>
            <a:r>
              <a:rPr lang="en-US" altLang="zh-CN" dirty="0" err="1">
                <a:sym typeface="+mn-ea"/>
              </a:rPr>
              <a:t>∧</a:t>
            </a:r>
            <a:r>
              <a:rPr lang="en-US" altLang="zh-CN" i="1" dirty="0" err="1">
                <a:sym typeface="+mn-ea"/>
              </a:rPr>
              <a:t>y</a:t>
            </a:r>
            <a:r>
              <a:rPr lang="en-US" altLang="zh-CN" dirty="0" err="1">
                <a:sym typeface="+mn-ea"/>
              </a:rPr>
              <a:t>∈</a:t>
            </a:r>
            <a:r>
              <a:rPr lang="en-US" altLang="zh-CN" i="1" dirty="0" err="1">
                <a:sym typeface="+mn-ea"/>
              </a:rPr>
              <a:t>B</a:t>
            </a:r>
            <a:r>
              <a:rPr lang="en-US" altLang="zh-CN" dirty="0">
                <a:sym typeface="+mn-ea"/>
              </a:rPr>
              <a:t>}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+mn-ea"/>
              </a:rPr>
              <a:t>    </a:t>
            </a:r>
            <a:r>
              <a:rPr lang="zh-CN" altLang="en-US" dirty="0">
                <a:solidFill>
                  <a:schemeClr val="hlink"/>
                </a:solidFill>
                <a:sym typeface="+mn-ea"/>
              </a:rPr>
              <a:t>无序对</a:t>
            </a:r>
            <a:r>
              <a:rPr lang="en-US" altLang="zh-CN" dirty="0">
                <a:solidFill>
                  <a:schemeClr val="hlink"/>
                </a:solidFill>
                <a:sym typeface="+mn-ea"/>
              </a:rPr>
              <a:t>:</a:t>
            </a:r>
            <a:r>
              <a:rPr lang="en-US" altLang="zh-CN" dirty="0">
                <a:sym typeface="+mn-ea"/>
              </a:rPr>
              <a:t> (</a:t>
            </a:r>
            <a:r>
              <a:rPr lang="en-US" altLang="zh-CN" i="1" dirty="0" err="1">
                <a:sym typeface="+mn-ea"/>
              </a:rPr>
              <a:t>x</a:t>
            </a:r>
            <a:r>
              <a:rPr lang="en-US" altLang="zh-CN" dirty="0" err="1">
                <a:sym typeface="+mn-ea"/>
              </a:rPr>
              <a:t>,</a:t>
            </a:r>
            <a:r>
              <a:rPr lang="en-US" altLang="zh-CN" i="1" dirty="0" err="1">
                <a:sym typeface="+mn-ea"/>
              </a:rPr>
              <a:t>y</a:t>
            </a:r>
            <a:r>
              <a:rPr lang="en-US" altLang="zh-CN" dirty="0">
                <a:sym typeface="+mn-ea"/>
              </a:rPr>
              <a:t>)=(</a:t>
            </a:r>
            <a:r>
              <a:rPr lang="en-US" altLang="zh-CN" i="1" dirty="0" err="1">
                <a:sym typeface="+mn-ea"/>
              </a:rPr>
              <a:t>y</a:t>
            </a:r>
            <a:r>
              <a:rPr lang="en-US" altLang="zh-CN" dirty="0" err="1">
                <a:sym typeface="+mn-ea"/>
              </a:rPr>
              <a:t>,</a:t>
            </a:r>
            <a:r>
              <a:rPr lang="en-US" altLang="zh-CN" i="1" dirty="0" err="1">
                <a:sym typeface="+mn-ea"/>
              </a:rPr>
              <a:t>x</a:t>
            </a:r>
            <a:r>
              <a:rPr lang="en-US" altLang="zh-CN" dirty="0">
                <a:sym typeface="+mn-ea"/>
              </a:rPr>
              <a:t>)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有序积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A×B={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 |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chemeClr val="hlink"/>
                </a:solidFill>
              </a:rPr>
              <a:t>有序对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&gt;≠&lt;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多重集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元素可以重复出现的集合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>
                <a:solidFill>
                  <a:schemeClr val="hlink"/>
                </a:solidFill>
              </a:rPr>
              <a:t>重复度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某元素重复出现的次数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如：集合</a:t>
            </a:r>
            <a:r>
              <a:rPr lang="en-US" altLang="zh-CN" dirty="0"/>
              <a:t>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</a:t>
            </a:r>
            <a:r>
              <a:rPr lang="zh-CN" altLang="en-US" dirty="0"/>
              <a:t>是多重集</a:t>
            </a:r>
            <a:r>
              <a:rPr lang="en-US" altLang="zh-CN" dirty="0"/>
              <a:t>, 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}≠{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},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其中</a:t>
            </a:r>
            <a:r>
              <a:rPr lang="en-US" altLang="zh-CN" i="1" dirty="0"/>
              <a:t>a</a:t>
            </a:r>
            <a:r>
              <a:rPr lang="zh-CN" altLang="en-US" dirty="0"/>
              <a:t>的重复度为</a:t>
            </a:r>
            <a:r>
              <a:rPr lang="en-US" altLang="zh-CN" dirty="0"/>
              <a:t>3, </a:t>
            </a:r>
            <a:r>
              <a:rPr lang="en-US" altLang="zh-CN" i="1" dirty="0"/>
              <a:t>b</a:t>
            </a:r>
            <a:r>
              <a:rPr lang="zh-CN" altLang="en-US" dirty="0"/>
              <a:t>的为</a:t>
            </a:r>
            <a:r>
              <a:rPr lang="en-US" altLang="zh-CN" dirty="0"/>
              <a:t>2, </a:t>
            </a:r>
            <a:r>
              <a:rPr lang="en-US" altLang="zh-CN" i="1" dirty="0"/>
              <a:t>c</a:t>
            </a:r>
            <a:r>
              <a:rPr lang="zh-CN" altLang="en-US" dirty="0"/>
              <a:t>的为</a:t>
            </a:r>
            <a:r>
              <a:rPr lang="en-US" altLang="zh-CN" dirty="0"/>
              <a:t>1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4067810" y="2493010"/>
            <a:ext cx="4171315" cy="1079500"/>
            <a:chOff x="6067" y="3699"/>
            <a:chExt cx="6917" cy="1700"/>
          </a:xfrm>
        </p:grpSpPr>
        <p:sp>
          <p:nvSpPr>
            <p:cNvPr id="2" name="标注: 弯曲线形(带边框和强调线) 1"/>
            <p:cNvSpPr/>
            <p:nvPr/>
          </p:nvSpPr>
          <p:spPr>
            <a:xfrm>
              <a:off x="10716" y="3699"/>
              <a:ext cx="2268" cy="1361"/>
            </a:xfrm>
            <a:prstGeom prst="accent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-15433"/>
                <a:gd name="adj6" fmla="val -189108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Tip</a:t>
              </a:r>
              <a:r>
                <a:rPr lang="zh-CN" altLang="en-US" b="1" dirty="0">
                  <a:solidFill>
                    <a:schemeClr val="tx1"/>
                  </a:solidFill>
                </a:rPr>
                <a:t>：允许</a:t>
              </a:r>
              <a:r>
                <a:rPr lang="en-US" altLang="zh-CN" b="1" i="1" dirty="0">
                  <a:solidFill>
                    <a:schemeClr val="tx1"/>
                  </a:solidFill>
                </a:rPr>
                <a:t>x</a:t>
              </a:r>
              <a:r>
                <a:rPr lang="en-US" altLang="zh-CN" b="1" dirty="0">
                  <a:solidFill>
                    <a:schemeClr val="tx1"/>
                  </a:solidFill>
                </a:rPr>
                <a:t>=</a:t>
              </a:r>
              <a:r>
                <a:rPr lang="en-US" altLang="zh-CN" b="1" i="1" dirty="0">
                  <a:solidFill>
                    <a:schemeClr val="tx1"/>
                  </a:solidFill>
                </a:rPr>
                <a:t>y</a:t>
              </a:r>
              <a:endParaRPr lang="en-US" altLang="zh-CN" b="1" i="1" dirty="0">
                <a:solidFill>
                  <a:schemeClr val="tx1"/>
                </a:solidFill>
              </a:endParaRPr>
            </a:p>
          </p:txBody>
        </p:sp>
        <p:cxnSp>
          <p:nvCxnSpPr>
            <p:cNvPr id="4" name="直接连接符 3"/>
            <p:cNvCxnSpPr/>
            <p:nvPr/>
          </p:nvCxnSpPr>
          <p:spPr>
            <a:xfrm flipV="1">
              <a:off x="6067" y="4833"/>
              <a:ext cx="4423" cy="567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图的定义</a:t>
            </a:r>
            <a:endParaRPr lang="zh-CN" altLang="en-US" sz="400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04925"/>
            <a:ext cx="8305800" cy="5004395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>
                <a:solidFill>
                  <a:schemeClr val="hlink"/>
                </a:solidFill>
              </a:rPr>
              <a:t>定义 </a:t>
            </a:r>
            <a:r>
              <a:rPr lang="zh-CN" altLang="en-US" dirty="0"/>
              <a:t>一个图是一个三元组</a:t>
            </a:r>
            <a:r>
              <a:rPr lang="en-US" altLang="zh-CN" dirty="0"/>
              <a:t>&lt;</a:t>
            </a:r>
            <a:r>
              <a:rPr lang="en-US" altLang="zh-CN" i="1" dirty="0" err="1"/>
              <a:t>V</a:t>
            </a:r>
            <a:r>
              <a:rPr lang="en-US" altLang="zh-CN" dirty="0" err="1"/>
              <a:t>,</a:t>
            </a:r>
            <a:r>
              <a:rPr lang="en-US" altLang="zh-CN" i="1" dirty="0" err="1"/>
              <a:t>E</a:t>
            </a:r>
            <a:r>
              <a:rPr lang="en-US" altLang="zh-CN" dirty="0" err="1"/>
              <a:t>,φ</a:t>
            </a:r>
            <a:r>
              <a:rPr lang="en-US" altLang="zh-CN" dirty="0"/>
              <a:t>&gt;</a:t>
            </a:r>
            <a:r>
              <a:rPr lang="zh-CN" altLang="en-US" dirty="0"/>
              <a:t>，记作</a:t>
            </a:r>
            <a:r>
              <a:rPr lang="en-US" altLang="zh-CN" dirty="0"/>
              <a:t>G</a:t>
            </a:r>
            <a:r>
              <a:rPr lang="zh-CN" altLang="en-US" dirty="0"/>
              <a:t>，</a:t>
            </a:r>
            <a:r>
              <a:rPr lang="zh-CN" altLang="en-US" dirty="0"/>
              <a:t>其中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/>
              <a:t>(1) </a:t>
            </a:r>
            <a:r>
              <a:rPr lang="en-US" altLang="zh-CN" i="1" dirty="0"/>
              <a:t>V</a:t>
            </a:r>
            <a:r>
              <a:rPr lang="zh-CN" altLang="en-US" dirty="0"/>
              <a:t>是一个</a:t>
            </a:r>
            <a:r>
              <a:rPr lang="zh-CN" altLang="en-US" u="sng" dirty="0">
                <a:solidFill>
                  <a:srgbClr val="333399"/>
                </a:solidFill>
              </a:rPr>
              <a:t>非空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FF"/>
                </a:solidFill>
              </a:rPr>
              <a:t>顶点集合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/>
              <a:t>(2) </a:t>
            </a:r>
            <a:r>
              <a:rPr lang="en-US" altLang="zh-CN" i="1" dirty="0"/>
              <a:t>E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FF"/>
                </a:solidFill>
              </a:rPr>
              <a:t>边集合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>
                <a:sym typeface="Symbol" panose="05050102010706020507"/>
              </a:rPr>
              <a:t>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/>
              </a:rPr>
              <a:t>V(</a:t>
            </a:r>
            <a:r>
              <a:rPr lang="zh-CN" altLang="en-US" dirty="0">
                <a:sym typeface="Symbol" panose="05050102010706020507"/>
              </a:rPr>
              <a:t>或</a:t>
            </a:r>
            <a:r>
              <a:rPr lang="en-US" altLang="zh-CN" dirty="0">
                <a:sym typeface="Symbol" panose="05050102010706020507"/>
              </a:rPr>
              <a:t>VV)</a:t>
            </a:r>
            <a:r>
              <a:rPr lang="en-US" altLang="zh-CN" dirty="0"/>
              <a:t>, </a:t>
            </a:r>
            <a:r>
              <a:rPr lang="zh-CN" altLang="en-US" dirty="0"/>
              <a:t>并且是</a:t>
            </a:r>
            <a:r>
              <a:rPr lang="zh-CN" altLang="en-US" u="sng" dirty="0">
                <a:solidFill>
                  <a:schemeClr val="tx2"/>
                </a:solidFill>
              </a:rPr>
              <a:t>多重集合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dirty="0"/>
              <a:t>E</a:t>
            </a:r>
            <a:r>
              <a:rPr lang="zh-CN" altLang="en-US" dirty="0">
                <a:sym typeface="Symbol" panose="05050102010706020507"/>
              </a:rPr>
              <a:t>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/>
              </a:rPr>
              <a:t>V</a:t>
            </a:r>
            <a:r>
              <a:rPr lang="zh-CN" altLang="en-US" dirty="0">
                <a:sym typeface="Symbol" panose="05050102010706020507"/>
              </a:rPr>
              <a:t>，则</a:t>
            </a:r>
            <a:r>
              <a:rPr lang="en-US" altLang="zh-CN" dirty="0">
                <a:sym typeface="Symbol" panose="05050102010706020507"/>
              </a:rPr>
              <a:t>G</a:t>
            </a:r>
            <a:r>
              <a:rPr lang="zh-CN" altLang="en-US" dirty="0">
                <a:sym typeface="Symbol" panose="05050102010706020507"/>
              </a:rPr>
              <a:t>是无向图</a:t>
            </a:r>
            <a:endParaRPr lang="en-US" altLang="zh-CN" dirty="0">
              <a:sym typeface="Symbol" panose="05050102010706020507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>
                <a:sym typeface="Symbol" panose="05050102010706020507"/>
              </a:rPr>
              <a:t>    </a:t>
            </a:r>
            <a:r>
              <a:rPr lang="zh-CN" altLang="en-US" dirty="0">
                <a:sym typeface="Symbol" panose="05050102010706020507"/>
              </a:rPr>
              <a:t>若</a:t>
            </a:r>
            <a:r>
              <a:rPr lang="en-US" altLang="zh-CN" dirty="0"/>
              <a:t>E</a:t>
            </a:r>
            <a:r>
              <a:rPr lang="zh-CN" altLang="en-US" dirty="0">
                <a:sym typeface="Symbol" panose="05050102010706020507"/>
              </a:rPr>
              <a:t></a:t>
            </a:r>
            <a:r>
              <a:rPr lang="en-US" altLang="zh-CN" dirty="0">
                <a:sym typeface="Symbol" panose="05050102010706020507"/>
              </a:rPr>
              <a:t>VV</a:t>
            </a:r>
            <a:r>
              <a:rPr lang="zh-CN" altLang="en-US" dirty="0">
                <a:sym typeface="Symbol" panose="05050102010706020507"/>
              </a:rPr>
              <a:t>，则</a:t>
            </a:r>
            <a:r>
              <a:rPr lang="en-US" altLang="zh-CN" dirty="0">
                <a:sym typeface="Symbol" panose="05050102010706020507"/>
              </a:rPr>
              <a:t>G</a:t>
            </a:r>
            <a:r>
              <a:rPr lang="zh-CN" altLang="en-US" dirty="0">
                <a:sym typeface="Symbol" panose="05050102010706020507"/>
              </a:rPr>
              <a:t>是有向图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dirty="0"/>
              <a:t>(3) </a:t>
            </a:r>
            <a:r>
              <a:rPr lang="en-US" altLang="zh-CN" i="1" dirty="0" err="1"/>
              <a:t>φ</a:t>
            </a:r>
            <a:r>
              <a:rPr lang="zh-CN" altLang="en-US" dirty="0"/>
              <a:t>是从</a:t>
            </a:r>
            <a:r>
              <a:rPr lang="en-US" altLang="zh-CN" dirty="0"/>
              <a:t>E</a:t>
            </a:r>
            <a:r>
              <a:rPr lang="zh-CN" altLang="en-US" dirty="0"/>
              <a:t>到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/>
              </a:rPr>
              <a:t>V(</a:t>
            </a:r>
            <a:r>
              <a:rPr lang="zh-CN" altLang="en-US" dirty="0">
                <a:sym typeface="Symbol" panose="05050102010706020507"/>
              </a:rPr>
              <a:t>或</a:t>
            </a:r>
            <a:r>
              <a:rPr lang="en-US" altLang="zh-CN" dirty="0">
                <a:sym typeface="Symbol" panose="05050102010706020507"/>
              </a:rPr>
              <a:t>VV)</a:t>
            </a:r>
            <a:r>
              <a:rPr lang="zh-CN" altLang="en-US" dirty="0">
                <a:solidFill>
                  <a:srgbClr val="FF00FF"/>
                </a:solidFill>
                <a:sym typeface="Symbol" panose="05050102010706020507"/>
              </a:rPr>
              <a:t>的单射函数</a:t>
            </a:r>
            <a:r>
              <a:rPr lang="zh-CN" altLang="en-US" dirty="0">
                <a:solidFill>
                  <a:schemeClr val="tx1"/>
                </a:solidFill>
                <a:sym typeface="Symbol" panose="05050102010706020507"/>
              </a:rPr>
              <a:t>。</a:t>
            </a:r>
            <a:endParaRPr lang="en-US" altLang="zh-CN" dirty="0">
              <a:solidFill>
                <a:srgbClr val="FF00FF"/>
              </a:solidFill>
              <a:sym typeface="Symbol" panose="05050102010706020507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dirty="0"/>
              <a:t>注意：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顶点集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V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为无限集的图称为</a:t>
            </a:r>
            <a:r>
              <a:rPr lang="zh-CN" altLang="en-US" dirty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无限图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，与之相对地，顶点集</a:t>
            </a:r>
            <a:r>
              <a:rPr lang="en-US" altLang="zh-CN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V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为有限集的图称为</a:t>
            </a:r>
            <a:r>
              <a:rPr lang="zh-CN" altLang="en-US" dirty="0">
                <a:solidFill>
                  <a:srgbClr val="0070C0"/>
                </a:solidFill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有限图</a:t>
            </a:r>
            <a:r>
              <a:rPr lang="zh-CN" altLang="en-US" dirty="0">
                <a:latin typeface="华文仿宋" panose="02010600040101010101" charset="-122"/>
                <a:ea typeface="华文仿宋" panose="02010600040101010101" charset="-122"/>
                <a:cs typeface="华文仿宋" panose="02010600040101010101" charset="-122"/>
              </a:rPr>
              <a:t>。本课中，只考虑有限图。</a:t>
            </a:r>
            <a:endParaRPr lang="zh-CN" altLang="en-US" dirty="0">
              <a:latin typeface="华文仿宋" panose="02010600040101010101" charset="-122"/>
              <a:ea typeface="华文仿宋" panose="02010600040101010101" charset="-122"/>
              <a:cs typeface="华文仿宋" panose="02010600040101010101" charset="-122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图</a:t>
            </a:r>
            <a:r>
              <a:rPr lang="zh-CN" altLang="en-US" sz="4000" dirty="0">
                <a:sym typeface="+mn-ea"/>
              </a:rPr>
              <a:t>的</a:t>
            </a:r>
            <a:r>
              <a:rPr lang="zh-CN" altLang="en-US" sz="4000" dirty="0"/>
              <a:t>定义举例</a:t>
            </a:r>
            <a:endParaRPr lang="zh-CN" altLang="en-US" sz="4000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6933"/>
            <a:ext cx="8305800" cy="89993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用小圆圈表示顶点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用无向（有向）线段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（直线或曲线）表示边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dirty="0"/>
              <a:t>下图所示的图</a:t>
            </a:r>
            <a:endParaRPr lang="zh-CN" altLang="en-US" dirty="0"/>
          </a:p>
        </p:txBody>
      </p:sp>
      <p:grpSp>
        <p:nvGrpSpPr>
          <p:cNvPr id="2" name="Group 27"/>
          <p:cNvGrpSpPr/>
          <p:nvPr/>
        </p:nvGrpSpPr>
        <p:grpSpPr bwMode="auto">
          <a:xfrm>
            <a:off x="1979712" y="2276872"/>
            <a:ext cx="4248150" cy="2536825"/>
            <a:chOff x="1837" y="2376"/>
            <a:chExt cx="2676" cy="1598"/>
          </a:xfrm>
        </p:grpSpPr>
        <p:sp>
          <p:nvSpPr>
            <p:cNvPr id="13318" name="Rectangle 26"/>
            <p:cNvSpPr>
              <a:spLocks noChangeArrowheads="1"/>
            </p:cNvSpPr>
            <p:nvPr/>
          </p:nvSpPr>
          <p:spPr bwMode="auto">
            <a:xfrm>
              <a:off x="1837" y="2432"/>
              <a:ext cx="2676" cy="154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19" name="Group 25"/>
            <p:cNvGrpSpPr/>
            <p:nvPr/>
          </p:nvGrpSpPr>
          <p:grpSpPr bwMode="auto">
            <a:xfrm>
              <a:off x="2018" y="2376"/>
              <a:ext cx="2269" cy="1598"/>
              <a:chOff x="3016" y="2341"/>
              <a:chExt cx="2269" cy="1598"/>
            </a:xfrm>
          </p:grpSpPr>
          <p:sp>
            <p:nvSpPr>
              <p:cNvPr id="13320" name="Oval 5"/>
              <p:cNvSpPr>
                <a:spLocks noChangeArrowheads="1"/>
              </p:cNvSpPr>
              <p:nvPr/>
            </p:nvSpPr>
            <p:spPr bwMode="auto">
              <a:xfrm>
                <a:off x="3243" y="311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1" name="Oval 6"/>
              <p:cNvSpPr>
                <a:spLocks noChangeArrowheads="1"/>
              </p:cNvSpPr>
              <p:nvPr/>
            </p:nvSpPr>
            <p:spPr bwMode="auto">
              <a:xfrm>
                <a:off x="4967" y="311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2" name="Line 9"/>
              <p:cNvSpPr>
                <a:spLocks noChangeShapeType="1"/>
              </p:cNvSpPr>
              <p:nvPr/>
            </p:nvSpPr>
            <p:spPr bwMode="auto">
              <a:xfrm flipV="1">
                <a:off x="3334" y="2713"/>
                <a:ext cx="481" cy="4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3" name="Oval 7"/>
              <p:cNvSpPr>
                <a:spLocks noChangeArrowheads="1"/>
              </p:cNvSpPr>
              <p:nvPr/>
            </p:nvSpPr>
            <p:spPr bwMode="auto">
              <a:xfrm>
                <a:off x="3787" y="26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4" name="Line 10"/>
              <p:cNvSpPr>
                <a:spLocks noChangeShapeType="1"/>
              </p:cNvSpPr>
              <p:nvPr/>
            </p:nvSpPr>
            <p:spPr bwMode="auto">
              <a:xfrm>
                <a:off x="3334" y="3249"/>
                <a:ext cx="544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5" name="Line 11"/>
              <p:cNvSpPr>
                <a:spLocks noChangeShapeType="1"/>
              </p:cNvSpPr>
              <p:nvPr/>
            </p:nvSpPr>
            <p:spPr bwMode="auto">
              <a:xfrm>
                <a:off x="3923" y="2704"/>
                <a:ext cx="1089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6" name="Line 12"/>
              <p:cNvSpPr>
                <a:spLocks noChangeShapeType="1"/>
              </p:cNvSpPr>
              <p:nvPr/>
            </p:nvSpPr>
            <p:spPr bwMode="auto">
              <a:xfrm flipV="1">
                <a:off x="3969" y="3249"/>
                <a:ext cx="1043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7" name="Line 13"/>
              <p:cNvSpPr>
                <a:spLocks noChangeShapeType="1"/>
              </p:cNvSpPr>
              <p:nvPr/>
            </p:nvSpPr>
            <p:spPr bwMode="auto">
              <a:xfrm>
                <a:off x="3878" y="2750"/>
                <a:ext cx="0" cy="8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8" name="Line 14"/>
              <p:cNvSpPr>
                <a:spLocks noChangeShapeType="1"/>
              </p:cNvSpPr>
              <p:nvPr/>
            </p:nvSpPr>
            <p:spPr bwMode="auto">
              <a:xfrm>
                <a:off x="3379" y="3203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29" name="Oval 8"/>
              <p:cNvSpPr>
                <a:spLocks noChangeArrowheads="1"/>
              </p:cNvSpPr>
              <p:nvPr/>
            </p:nvSpPr>
            <p:spPr bwMode="auto">
              <a:xfrm>
                <a:off x="3833" y="356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Text Box 15"/>
              <p:cNvSpPr txBox="1">
                <a:spLocks noChangeArrowheads="1"/>
              </p:cNvSpPr>
              <p:nvPr/>
            </p:nvSpPr>
            <p:spPr bwMode="auto">
              <a:xfrm>
                <a:off x="3198" y="2685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1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1" name="Text Box 16"/>
              <p:cNvSpPr txBox="1">
                <a:spLocks noChangeArrowheads="1"/>
              </p:cNvSpPr>
              <p:nvPr/>
            </p:nvSpPr>
            <p:spPr bwMode="auto">
              <a:xfrm>
                <a:off x="3833" y="2886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2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2" name="Text Box 17"/>
              <p:cNvSpPr txBox="1">
                <a:spLocks noChangeArrowheads="1"/>
              </p:cNvSpPr>
              <p:nvPr/>
            </p:nvSpPr>
            <p:spPr bwMode="auto">
              <a:xfrm>
                <a:off x="4286" y="2886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3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3" name="Text Box 18"/>
              <p:cNvSpPr txBox="1">
                <a:spLocks noChangeArrowheads="1"/>
              </p:cNvSpPr>
              <p:nvPr/>
            </p:nvSpPr>
            <p:spPr bwMode="auto">
              <a:xfrm>
                <a:off x="3379" y="3294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4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4" name="Text Box 19"/>
              <p:cNvSpPr txBox="1">
                <a:spLocks noChangeArrowheads="1"/>
              </p:cNvSpPr>
              <p:nvPr/>
            </p:nvSpPr>
            <p:spPr bwMode="auto">
              <a:xfrm>
                <a:off x="4241" y="3385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5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5" name="Text Box 20"/>
              <p:cNvSpPr txBox="1">
                <a:spLocks noChangeArrowheads="1"/>
              </p:cNvSpPr>
              <p:nvPr/>
            </p:nvSpPr>
            <p:spPr bwMode="auto">
              <a:xfrm>
                <a:off x="4313" y="2614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 dirty="0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 dirty="0">
                    <a:latin typeface="Times New Roman" panose="02020603050405020304" pitchFamily="18" charset="0"/>
                    <a:ea typeface="黑体" panose="02010609060101010101" pitchFamily="2" charset="-122"/>
                  </a:rPr>
                  <a:t>6</a:t>
                </a:r>
                <a:endParaRPr lang="en-US" altLang="zh-CN" sz="2800" b="1" baseline="-25000" dirty="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6" name="Text Box 21"/>
              <p:cNvSpPr txBox="1">
                <a:spLocks noChangeArrowheads="1"/>
              </p:cNvSpPr>
              <p:nvPr/>
            </p:nvSpPr>
            <p:spPr bwMode="auto">
              <a:xfrm>
                <a:off x="3651" y="2341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a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7" name="Text Box 22"/>
              <p:cNvSpPr txBox="1">
                <a:spLocks noChangeArrowheads="1"/>
              </p:cNvSpPr>
              <p:nvPr/>
            </p:nvSpPr>
            <p:spPr bwMode="auto">
              <a:xfrm>
                <a:off x="3016" y="306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b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8" name="Text Box 23"/>
              <p:cNvSpPr txBox="1">
                <a:spLocks noChangeArrowheads="1"/>
              </p:cNvSpPr>
              <p:nvPr/>
            </p:nvSpPr>
            <p:spPr bwMode="auto">
              <a:xfrm>
                <a:off x="3787" y="3612"/>
                <a:ext cx="215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3339" name="Text Box 24"/>
              <p:cNvSpPr txBox="1">
                <a:spLocks noChangeArrowheads="1"/>
              </p:cNvSpPr>
              <p:nvPr/>
            </p:nvSpPr>
            <p:spPr bwMode="auto">
              <a:xfrm>
                <a:off x="5057" y="306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d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</p:grpSp>
      <p:sp>
        <p:nvSpPr>
          <p:cNvPr id="594972" name="Text Box 28"/>
          <p:cNvSpPr txBox="1">
            <a:spLocks noChangeArrowheads="1"/>
          </p:cNvSpPr>
          <p:nvPr/>
        </p:nvSpPr>
        <p:spPr bwMode="auto">
          <a:xfrm>
            <a:off x="467544" y="4633018"/>
            <a:ext cx="8424936" cy="18148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V=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{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}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E=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{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6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}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r>
              <a:rPr lang="en-US" altLang="zh-CN" sz="2800" b="1" i="1" dirty="0" err="1">
                <a:solidFill>
                  <a:srgbClr val="000000"/>
                </a:solidFill>
                <a:latin typeface="+mn-lt"/>
              </a:rPr>
              <a:t>φ</a:t>
            </a:r>
            <a:r>
              <a:rPr lang="zh-CN" altLang="en-US" sz="2800" dirty="0">
                <a:solidFill>
                  <a:srgbClr val="000000"/>
                </a:solidFill>
              </a:rPr>
              <a:t>：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E</a:t>
            </a:r>
            <a:r>
              <a:rPr lang="en-US" sz="2800" b="1" dirty="0">
                <a:solidFill>
                  <a:srgbClr val="000000"/>
                </a:solidFill>
                <a:latin typeface="+mn-lt"/>
                <a:sym typeface="Symbol" panose="05050102010706020507"/>
              </a:rPr>
              <a:t>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</a:rPr>
              <a:t>V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sym typeface="Symbol" panose="05050102010706020507"/>
              </a:rPr>
              <a:t>V</a:t>
            </a:r>
            <a:endParaRPr lang="en-US" altLang="zh-CN" sz="2800" b="1" dirty="0">
              <a:solidFill>
                <a:srgbClr val="000000"/>
              </a:solidFill>
              <a:latin typeface="+mn-lt"/>
              <a:sym typeface="Symbol" panose="05050102010706020507"/>
            </a:endParaRPr>
          </a:p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),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  <a:p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4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 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),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altLang="zh-CN" sz="2800" dirty="0">
                <a:solidFill>
                  <a:srgbClr val="000000"/>
                </a:solidFill>
              </a:rPr>
              <a:t>(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6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)=(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800" b="1" i="1" dirty="0" err="1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94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949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949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949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497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用图对社交网络建模</a:t>
            </a:r>
            <a:endParaRPr 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4390" y="2788285"/>
            <a:ext cx="3837305" cy="32581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3140710"/>
            <a:ext cx="4051300" cy="2552700"/>
          </a:xfrm>
          <a:prstGeom prst="rect">
            <a:avLst/>
          </a:prstGeom>
        </p:spPr>
      </p:pic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23850" y="1484630"/>
            <a:ext cx="8496300" cy="5256213"/>
          </a:xfrm>
        </p:spPr>
        <p:txBody>
          <a:bodyPr/>
          <a:p>
            <a:pPr marL="0" indent="0">
              <a:buNone/>
            </a:pPr>
            <a:r>
              <a:rPr lang="zh-CN" altLang="en-US" dirty="0"/>
              <a:t>每个人用一个顶点表示，人与人之间的关系用一条线段来表示，如下图所示：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关于图的几点说明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40768"/>
            <a:ext cx="8458200" cy="2232248"/>
          </a:xfrm>
        </p:spPr>
        <p:txBody>
          <a:bodyPr/>
          <a:lstStyle/>
          <a:p>
            <a:pPr eaLnBrk="1" hangingPunct="1"/>
            <a:r>
              <a:rPr lang="zh-CN" altLang="en-US" dirty="0"/>
              <a:t>一个图由若干个顶点和边所组成，与边的</a:t>
            </a:r>
            <a:r>
              <a:rPr lang="zh-CN" altLang="en-US" dirty="0">
                <a:solidFill>
                  <a:srgbClr val="FF00FF"/>
                </a:solidFill>
              </a:rPr>
              <a:t>长短、曲直及顶点</a:t>
            </a:r>
            <a:r>
              <a:rPr lang="zh-CN" altLang="en-US" dirty="0"/>
              <a:t>的位置无关，下面的两个图是一样的。</a:t>
            </a:r>
            <a:endParaRPr lang="zh-CN" altLang="en-US" dirty="0"/>
          </a:p>
          <a:p>
            <a:pPr eaLnBrk="1" hangingPunct="1"/>
            <a:r>
              <a:rPr lang="zh-CN" altLang="en-US" dirty="0"/>
              <a:t>图可简记为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r>
              <a:rPr lang="zh-CN" altLang="en-US" dirty="0"/>
              <a:t>，其中</a:t>
            </a:r>
            <a:r>
              <a:rPr lang="en-US" altLang="zh-CN" i="1" dirty="0"/>
              <a:t>V</a:t>
            </a:r>
            <a:r>
              <a:rPr lang="zh-CN" altLang="en-US" dirty="0"/>
              <a:t>是非空结点集，</a:t>
            </a:r>
            <a:r>
              <a:rPr lang="en-US" altLang="zh-CN" i="1" dirty="0"/>
              <a:t>E</a:t>
            </a:r>
            <a:r>
              <a:rPr lang="zh-CN" altLang="en-US" dirty="0"/>
              <a:t>是边集。</a:t>
            </a:r>
            <a:endParaRPr lang="zh-CN" altLang="en-US" dirty="0"/>
          </a:p>
        </p:txBody>
      </p:sp>
      <p:grpSp>
        <p:nvGrpSpPr>
          <p:cNvPr id="2" name="Group 53"/>
          <p:cNvGrpSpPr/>
          <p:nvPr/>
        </p:nvGrpSpPr>
        <p:grpSpPr bwMode="auto">
          <a:xfrm>
            <a:off x="539750" y="3356992"/>
            <a:ext cx="8353425" cy="2536825"/>
            <a:chOff x="340" y="2251"/>
            <a:chExt cx="5262" cy="1598"/>
          </a:xfrm>
        </p:grpSpPr>
        <p:sp>
          <p:nvSpPr>
            <p:cNvPr id="14341" name="Rectangle 7"/>
            <p:cNvSpPr>
              <a:spLocks noChangeArrowheads="1"/>
            </p:cNvSpPr>
            <p:nvPr/>
          </p:nvSpPr>
          <p:spPr bwMode="auto">
            <a:xfrm>
              <a:off x="340" y="2307"/>
              <a:ext cx="5262" cy="153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42" name="Group 8"/>
            <p:cNvGrpSpPr/>
            <p:nvPr/>
          </p:nvGrpSpPr>
          <p:grpSpPr bwMode="auto">
            <a:xfrm>
              <a:off x="521" y="2251"/>
              <a:ext cx="2269" cy="1598"/>
              <a:chOff x="3016" y="2341"/>
              <a:chExt cx="2269" cy="1598"/>
            </a:xfrm>
          </p:grpSpPr>
          <p:sp>
            <p:nvSpPr>
              <p:cNvPr id="14364" name="Oval 9"/>
              <p:cNvSpPr>
                <a:spLocks noChangeArrowheads="1"/>
              </p:cNvSpPr>
              <p:nvPr/>
            </p:nvSpPr>
            <p:spPr bwMode="auto">
              <a:xfrm>
                <a:off x="3243" y="311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5" name="Oval 10"/>
              <p:cNvSpPr>
                <a:spLocks noChangeArrowheads="1"/>
              </p:cNvSpPr>
              <p:nvPr/>
            </p:nvSpPr>
            <p:spPr bwMode="auto">
              <a:xfrm>
                <a:off x="4967" y="311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6" name="Line 11"/>
              <p:cNvSpPr>
                <a:spLocks noChangeShapeType="1"/>
              </p:cNvSpPr>
              <p:nvPr/>
            </p:nvSpPr>
            <p:spPr bwMode="auto">
              <a:xfrm flipV="1">
                <a:off x="3334" y="2713"/>
                <a:ext cx="481" cy="4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7" name="Oval 12"/>
              <p:cNvSpPr>
                <a:spLocks noChangeArrowheads="1"/>
              </p:cNvSpPr>
              <p:nvPr/>
            </p:nvSpPr>
            <p:spPr bwMode="auto">
              <a:xfrm>
                <a:off x="3787" y="26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68" name="Line 13"/>
              <p:cNvSpPr>
                <a:spLocks noChangeShapeType="1"/>
              </p:cNvSpPr>
              <p:nvPr/>
            </p:nvSpPr>
            <p:spPr bwMode="auto">
              <a:xfrm>
                <a:off x="3334" y="3249"/>
                <a:ext cx="544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69" name="Line 14"/>
              <p:cNvSpPr>
                <a:spLocks noChangeShapeType="1"/>
              </p:cNvSpPr>
              <p:nvPr/>
            </p:nvSpPr>
            <p:spPr bwMode="auto">
              <a:xfrm>
                <a:off x="3923" y="2704"/>
                <a:ext cx="1089" cy="45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0" name="Line 15"/>
              <p:cNvSpPr>
                <a:spLocks noChangeShapeType="1"/>
              </p:cNvSpPr>
              <p:nvPr/>
            </p:nvSpPr>
            <p:spPr bwMode="auto">
              <a:xfrm flipV="1">
                <a:off x="3969" y="3249"/>
                <a:ext cx="1043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1" name="Line 16"/>
              <p:cNvSpPr>
                <a:spLocks noChangeShapeType="1"/>
              </p:cNvSpPr>
              <p:nvPr/>
            </p:nvSpPr>
            <p:spPr bwMode="auto">
              <a:xfrm>
                <a:off x="3878" y="2750"/>
                <a:ext cx="0" cy="86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2" name="Line 17"/>
              <p:cNvSpPr>
                <a:spLocks noChangeShapeType="1"/>
              </p:cNvSpPr>
              <p:nvPr/>
            </p:nvSpPr>
            <p:spPr bwMode="auto">
              <a:xfrm>
                <a:off x="3379" y="3203"/>
                <a:ext cx="16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73" name="Oval 18"/>
              <p:cNvSpPr>
                <a:spLocks noChangeArrowheads="1"/>
              </p:cNvSpPr>
              <p:nvPr/>
            </p:nvSpPr>
            <p:spPr bwMode="auto">
              <a:xfrm>
                <a:off x="3833" y="356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74" name="Text Box 19"/>
              <p:cNvSpPr txBox="1">
                <a:spLocks noChangeArrowheads="1"/>
              </p:cNvSpPr>
              <p:nvPr/>
            </p:nvSpPr>
            <p:spPr bwMode="auto">
              <a:xfrm>
                <a:off x="3198" y="2685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1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75" name="Text Box 20"/>
              <p:cNvSpPr txBox="1">
                <a:spLocks noChangeArrowheads="1"/>
              </p:cNvSpPr>
              <p:nvPr/>
            </p:nvSpPr>
            <p:spPr bwMode="auto">
              <a:xfrm>
                <a:off x="3833" y="2886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2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76" name="Text Box 21"/>
              <p:cNvSpPr txBox="1">
                <a:spLocks noChangeArrowheads="1"/>
              </p:cNvSpPr>
              <p:nvPr/>
            </p:nvSpPr>
            <p:spPr bwMode="auto">
              <a:xfrm>
                <a:off x="4286" y="2886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3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77" name="Text Box 22"/>
              <p:cNvSpPr txBox="1">
                <a:spLocks noChangeArrowheads="1"/>
              </p:cNvSpPr>
              <p:nvPr/>
            </p:nvSpPr>
            <p:spPr bwMode="auto">
              <a:xfrm>
                <a:off x="3379" y="3294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4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78" name="Text Box 23"/>
              <p:cNvSpPr txBox="1">
                <a:spLocks noChangeArrowheads="1"/>
              </p:cNvSpPr>
              <p:nvPr/>
            </p:nvSpPr>
            <p:spPr bwMode="auto">
              <a:xfrm>
                <a:off x="4241" y="3385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5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79" name="Text Box 24"/>
              <p:cNvSpPr txBox="1">
                <a:spLocks noChangeArrowheads="1"/>
              </p:cNvSpPr>
              <p:nvPr/>
            </p:nvSpPr>
            <p:spPr bwMode="auto">
              <a:xfrm>
                <a:off x="4313" y="2614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6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80" name="Text Box 25"/>
              <p:cNvSpPr txBox="1">
                <a:spLocks noChangeArrowheads="1"/>
              </p:cNvSpPr>
              <p:nvPr/>
            </p:nvSpPr>
            <p:spPr bwMode="auto">
              <a:xfrm>
                <a:off x="3651" y="2341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a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81" name="Text Box 26"/>
              <p:cNvSpPr txBox="1">
                <a:spLocks noChangeArrowheads="1"/>
              </p:cNvSpPr>
              <p:nvPr/>
            </p:nvSpPr>
            <p:spPr bwMode="auto">
              <a:xfrm>
                <a:off x="3016" y="306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b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82" name="Text Box 27"/>
              <p:cNvSpPr txBox="1">
                <a:spLocks noChangeArrowheads="1"/>
              </p:cNvSpPr>
              <p:nvPr/>
            </p:nvSpPr>
            <p:spPr bwMode="auto">
              <a:xfrm>
                <a:off x="3787" y="3612"/>
                <a:ext cx="215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83" name="Text Box 28"/>
              <p:cNvSpPr txBox="1">
                <a:spLocks noChangeArrowheads="1"/>
              </p:cNvSpPr>
              <p:nvPr/>
            </p:nvSpPr>
            <p:spPr bwMode="auto">
              <a:xfrm>
                <a:off x="5057" y="306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d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14343" name="Group 52"/>
            <p:cNvGrpSpPr/>
            <p:nvPr/>
          </p:nvGrpSpPr>
          <p:grpSpPr bwMode="auto">
            <a:xfrm>
              <a:off x="3106" y="2251"/>
              <a:ext cx="2042" cy="1598"/>
              <a:chOff x="3106" y="2251"/>
              <a:chExt cx="2042" cy="1598"/>
            </a:xfrm>
          </p:grpSpPr>
          <p:sp>
            <p:nvSpPr>
              <p:cNvPr id="14344" name="Oval 30"/>
              <p:cNvSpPr>
                <a:spLocks noChangeArrowheads="1"/>
              </p:cNvSpPr>
              <p:nvPr/>
            </p:nvSpPr>
            <p:spPr bwMode="auto">
              <a:xfrm>
                <a:off x="3333" y="302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5" name="Oval 31"/>
              <p:cNvSpPr>
                <a:spLocks noChangeArrowheads="1"/>
              </p:cNvSpPr>
              <p:nvPr/>
            </p:nvSpPr>
            <p:spPr bwMode="auto">
              <a:xfrm>
                <a:off x="4513" y="302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6" name="Line 32"/>
              <p:cNvSpPr>
                <a:spLocks noChangeShapeType="1"/>
              </p:cNvSpPr>
              <p:nvPr/>
            </p:nvSpPr>
            <p:spPr bwMode="auto">
              <a:xfrm flipV="1">
                <a:off x="3424" y="2623"/>
                <a:ext cx="481" cy="44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7" name="Oval 33"/>
              <p:cNvSpPr>
                <a:spLocks noChangeArrowheads="1"/>
              </p:cNvSpPr>
              <p:nvPr/>
            </p:nvSpPr>
            <p:spPr bwMode="auto">
              <a:xfrm>
                <a:off x="3877" y="252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48" name="Line 34"/>
              <p:cNvSpPr>
                <a:spLocks noChangeShapeType="1"/>
              </p:cNvSpPr>
              <p:nvPr/>
            </p:nvSpPr>
            <p:spPr bwMode="auto">
              <a:xfrm>
                <a:off x="3424" y="3159"/>
                <a:ext cx="544" cy="36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49" name="Line 35"/>
              <p:cNvSpPr>
                <a:spLocks noChangeShapeType="1"/>
              </p:cNvSpPr>
              <p:nvPr/>
            </p:nvSpPr>
            <p:spPr bwMode="auto">
              <a:xfrm>
                <a:off x="4013" y="2614"/>
                <a:ext cx="545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0" name="Line 36"/>
              <p:cNvSpPr>
                <a:spLocks noChangeShapeType="1"/>
              </p:cNvSpPr>
              <p:nvPr/>
            </p:nvSpPr>
            <p:spPr bwMode="auto">
              <a:xfrm flipV="1">
                <a:off x="4059" y="3158"/>
                <a:ext cx="499" cy="36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1" name="Line 38"/>
              <p:cNvSpPr>
                <a:spLocks noChangeShapeType="1"/>
              </p:cNvSpPr>
              <p:nvPr/>
            </p:nvSpPr>
            <p:spPr bwMode="auto">
              <a:xfrm>
                <a:off x="3469" y="3113"/>
                <a:ext cx="10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52" name="Oval 39"/>
              <p:cNvSpPr>
                <a:spLocks noChangeArrowheads="1"/>
              </p:cNvSpPr>
              <p:nvPr/>
            </p:nvSpPr>
            <p:spPr bwMode="auto">
              <a:xfrm>
                <a:off x="3923" y="347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53" name="Text Box 40"/>
              <p:cNvSpPr txBox="1">
                <a:spLocks noChangeArrowheads="1"/>
              </p:cNvSpPr>
              <p:nvPr/>
            </p:nvSpPr>
            <p:spPr bwMode="auto">
              <a:xfrm>
                <a:off x="3288" y="2595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1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4" name="Text Box 41"/>
              <p:cNvSpPr txBox="1">
                <a:spLocks noChangeArrowheads="1"/>
              </p:cNvSpPr>
              <p:nvPr/>
            </p:nvSpPr>
            <p:spPr bwMode="auto">
              <a:xfrm>
                <a:off x="4857" y="2750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2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5" name="Text Box 42"/>
              <p:cNvSpPr txBox="1">
                <a:spLocks noChangeArrowheads="1"/>
              </p:cNvSpPr>
              <p:nvPr/>
            </p:nvSpPr>
            <p:spPr bwMode="auto">
              <a:xfrm>
                <a:off x="3833" y="2786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3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6" name="Text Box 43"/>
              <p:cNvSpPr txBox="1">
                <a:spLocks noChangeArrowheads="1"/>
              </p:cNvSpPr>
              <p:nvPr/>
            </p:nvSpPr>
            <p:spPr bwMode="auto">
              <a:xfrm>
                <a:off x="3469" y="3204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4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7" name="Text Box 44"/>
              <p:cNvSpPr txBox="1">
                <a:spLocks noChangeArrowheads="1"/>
              </p:cNvSpPr>
              <p:nvPr/>
            </p:nvSpPr>
            <p:spPr bwMode="auto">
              <a:xfrm>
                <a:off x="3923" y="3103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5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8" name="Text Box 45"/>
              <p:cNvSpPr txBox="1">
                <a:spLocks noChangeArrowheads="1"/>
              </p:cNvSpPr>
              <p:nvPr/>
            </p:nvSpPr>
            <p:spPr bwMode="auto">
              <a:xfrm>
                <a:off x="4241" y="2568"/>
                <a:ext cx="291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e</a:t>
                </a:r>
                <a:r>
                  <a:rPr lang="en-US" altLang="zh-CN" sz="2800" b="1" baseline="-25000">
                    <a:latin typeface="Times New Roman" panose="02020603050405020304" pitchFamily="18" charset="0"/>
                    <a:ea typeface="黑体" panose="02010609060101010101" pitchFamily="2" charset="-122"/>
                  </a:rPr>
                  <a:t>6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59" name="Text Box 46"/>
              <p:cNvSpPr txBox="1">
                <a:spLocks noChangeArrowheads="1"/>
              </p:cNvSpPr>
              <p:nvPr/>
            </p:nvSpPr>
            <p:spPr bwMode="auto">
              <a:xfrm>
                <a:off x="3741" y="2251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a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60" name="Text Box 47"/>
              <p:cNvSpPr txBox="1">
                <a:spLocks noChangeArrowheads="1"/>
              </p:cNvSpPr>
              <p:nvPr/>
            </p:nvSpPr>
            <p:spPr bwMode="auto">
              <a:xfrm>
                <a:off x="3106" y="2977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b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61" name="Text Box 48"/>
              <p:cNvSpPr txBox="1">
                <a:spLocks noChangeArrowheads="1"/>
              </p:cNvSpPr>
              <p:nvPr/>
            </p:nvSpPr>
            <p:spPr bwMode="auto">
              <a:xfrm>
                <a:off x="3877" y="3522"/>
                <a:ext cx="215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c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62" name="Text Box 49"/>
              <p:cNvSpPr txBox="1">
                <a:spLocks noChangeArrowheads="1"/>
              </p:cNvSpPr>
              <p:nvPr/>
            </p:nvSpPr>
            <p:spPr bwMode="auto">
              <a:xfrm>
                <a:off x="4602" y="2886"/>
                <a:ext cx="228" cy="32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latin typeface="Times New Roman" panose="02020603050405020304" pitchFamily="18" charset="0"/>
                    <a:ea typeface="黑体" panose="02010609060101010101" pitchFamily="2" charset="-122"/>
                  </a:rPr>
                  <a:t>d</a:t>
                </a:r>
                <a:endParaRPr lang="en-US" altLang="zh-CN" sz="2800" b="1" baseline="-25000"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14363" name="Freeform 51"/>
              <p:cNvSpPr/>
              <p:nvPr/>
            </p:nvSpPr>
            <p:spPr bwMode="auto">
              <a:xfrm>
                <a:off x="3969" y="2568"/>
                <a:ext cx="915" cy="998"/>
              </a:xfrm>
              <a:custGeom>
                <a:avLst/>
                <a:gdLst>
                  <a:gd name="T0" fmla="*/ 90 w 915"/>
                  <a:gd name="T1" fmla="*/ 998 h 998"/>
                  <a:gd name="T2" fmla="*/ 635 w 915"/>
                  <a:gd name="T3" fmla="*/ 862 h 998"/>
                  <a:gd name="T4" fmla="*/ 907 w 915"/>
                  <a:gd name="T5" fmla="*/ 454 h 998"/>
                  <a:gd name="T6" fmla="*/ 589 w 915"/>
                  <a:gd name="T7" fmla="*/ 136 h 998"/>
                  <a:gd name="T8" fmla="*/ 0 w 915"/>
                  <a:gd name="T9" fmla="*/ 0 h 9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15"/>
                  <a:gd name="T16" fmla="*/ 0 h 998"/>
                  <a:gd name="T17" fmla="*/ 915 w 915"/>
                  <a:gd name="T18" fmla="*/ 998 h 9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15" h="998">
                    <a:moveTo>
                      <a:pt x="90" y="998"/>
                    </a:moveTo>
                    <a:cubicBezTo>
                      <a:pt x="294" y="975"/>
                      <a:pt x="499" y="953"/>
                      <a:pt x="635" y="862"/>
                    </a:cubicBezTo>
                    <a:cubicBezTo>
                      <a:pt x="771" y="771"/>
                      <a:pt x="915" y="575"/>
                      <a:pt x="907" y="454"/>
                    </a:cubicBezTo>
                    <a:cubicBezTo>
                      <a:pt x="899" y="333"/>
                      <a:pt x="740" y="212"/>
                      <a:pt x="589" y="136"/>
                    </a:cubicBezTo>
                    <a:cubicBezTo>
                      <a:pt x="438" y="60"/>
                      <a:pt x="219" y="30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无向图</a:t>
            </a:r>
            <a:r>
              <a:rPr lang="en-US" altLang="zh-CN"/>
              <a:t>(undirected graph)</a:t>
            </a:r>
            <a:endParaRPr lang="en-US" altLang="zh-CN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无向图</a:t>
            </a:r>
            <a:r>
              <a:rPr lang="en-US" altLang="zh-CN" dirty="0">
                <a:solidFill>
                  <a:schemeClr val="hlink"/>
                </a:solidFill>
              </a:rPr>
              <a:t>(graph):</a:t>
            </a:r>
            <a:r>
              <a:rPr lang="en-US" altLang="zh-CN" dirty="0"/>
              <a:t> G=&lt;V,E&gt;,</a:t>
            </a:r>
            <a:endParaRPr lang="en-US" altLang="zh-CN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(1) V≠∅, </a:t>
            </a:r>
            <a:r>
              <a:rPr lang="zh-CN" altLang="en-US" dirty="0">
                <a:solidFill>
                  <a:srgbClr val="FF00FF"/>
                </a:solidFill>
              </a:rPr>
              <a:t>顶点</a:t>
            </a:r>
            <a:r>
              <a:rPr lang="en-US" altLang="zh-CN" dirty="0"/>
              <a:t>, </a:t>
            </a:r>
            <a:r>
              <a:rPr lang="zh-CN" altLang="en-US" dirty="0"/>
              <a:t>结点</a:t>
            </a:r>
            <a:r>
              <a:rPr lang="en-US" altLang="zh-CN" dirty="0"/>
              <a:t>(vertex / node)</a:t>
            </a:r>
            <a:endParaRPr lang="en-US" altLang="zh-CN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(2) </a:t>
            </a:r>
            <a:r>
              <a:rPr lang="zh-CN" altLang="en-US" dirty="0"/>
              <a:t>多重集</a:t>
            </a:r>
            <a:r>
              <a:rPr lang="en-US" altLang="zh-CN" dirty="0"/>
              <a:t>E⊆V</a:t>
            </a:r>
            <a:r>
              <a:rPr lang="en-US" altLang="zh-CN" dirty="0">
                <a:solidFill>
                  <a:srgbClr val="FF00FF"/>
                </a:solidFill>
              </a:rPr>
              <a:t>&amp;</a:t>
            </a:r>
            <a:r>
              <a:rPr lang="en-US" altLang="zh-CN" dirty="0"/>
              <a:t>V, </a:t>
            </a:r>
            <a:r>
              <a:rPr lang="zh-CN" altLang="en-US" dirty="0">
                <a:solidFill>
                  <a:srgbClr val="FF00FF"/>
                </a:solidFill>
              </a:rPr>
              <a:t>边</a:t>
            </a:r>
            <a:r>
              <a:rPr lang="en-US" altLang="zh-CN" dirty="0"/>
              <a:t>(edge / link)</a:t>
            </a:r>
            <a:endParaRPr lang="en-US" altLang="zh-CN" dirty="0"/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G=&lt;V,E&gt;,V={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3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4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6</a:t>
            </a:r>
            <a:r>
              <a:rPr lang="en-US" altLang="zh-CN" dirty="0">
                <a:solidFill>
                  <a:schemeClr val="tx2"/>
                </a:solidFill>
              </a:rPr>
              <a:t>},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E={(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3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3</a:t>
            </a:r>
            <a:r>
              <a:rPr lang="en-US" altLang="zh-CN" dirty="0">
                <a:solidFill>
                  <a:schemeClr val="tx2"/>
                </a:solidFill>
              </a:rPr>
              <a:t>),(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4</a:t>
            </a:r>
            <a:r>
              <a:rPr lang="en-US" altLang="zh-CN" dirty="0">
                <a:solidFill>
                  <a:schemeClr val="tx2"/>
                </a:solidFill>
              </a:rPr>
              <a:t>,</a:t>
            </a:r>
            <a:r>
              <a:rPr lang="en-US" altLang="zh-CN" i="1" dirty="0">
                <a:solidFill>
                  <a:schemeClr val="tx2"/>
                </a:solidFill>
              </a:rPr>
              <a:t>v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)}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spcBef>
                <a:spcPct val="1000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                       </a:t>
            </a:r>
            <a:r>
              <a:rPr lang="zh-CN" altLang="en-US" dirty="0">
                <a:solidFill>
                  <a:schemeClr val="tx2"/>
                </a:solidFill>
              </a:rPr>
              <a:t>也可表示为</a:t>
            </a:r>
            <a:r>
              <a:rPr lang="en-US" altLang="zh-CN" dirty="0">
                <a:solidFill>
                  <a:schemeClr val="tx2"/>
                </a:solidFill>
              </a:rPr>
              <a:t>E={e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3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4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6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7</a:t>
            </a:r>
            <a:r>
              <a:rPr lang="en-US" altLang="zh-CN" dirty="0">
                <a:solidFill>
                  <a:schemeClr val="tx2"/>
                </a:solidFill>
              </a:rPr>
              <a:t>}</a:t>
            </a:r>
            <a:endParaRPr lang="en-US" altLang="zh-CN" dirty="0">
              <a:solidFill>
                <a:schemeClr val="tx2"/>
              </a:solidFill>
            </a:endParaRPr>
          </a:p>
        </p:txBody>
      </p:sp>
      <p:grpSp>
        <p:nvGrpSpPr>
          <p:cNvPr id="2" name="Group 21"/>
          <p:cNvGrpSpPr/>
          <p:nvPr/>
        </p:nvGrpSpPr>
        <p:grpSpPr bwMode="auto">
          <a:xfrm>
            <a:off x="5673626" y="5296048"/>
            <a:ext cx="1490662" cy="1157288"/>
            <a:chOff x="2913" y="2808"/>
            <a:chExt cx="939" cy="729"/>
          </a:xfrm>
        </p:grpSpPr>
        <p:grpSp>
          <p:nvGrpSpPr>
            <p:cNvPr id="15369" name="Group 12"/>
            <p:cNvGrpSpPr/>
            <p:nvPr/>
          </p:nvGrpSpPr>
          <p:grpSpPr bwMode="auto">
            <a:xfrm>
              <a:off x="2913" y="3094"/>
              <a:ext cx="939" cy="443"/>
              <a:chOff x="2913" y="3094"/>
              <a:chExt cx="939" cy="443"/>
            </a:xfrm>
          </p:grpSpPr>
          <p:grpSp>
            <p:nvGrpSpPr>
              <p:cNvPr id="15371" name="Group 9"/>
              <p:cNvGrpSpPr/>
              <p:nvPr/>
            </p:nvGrpSpPr>
            <p:grpSpPr bwMode="auto">
              <a:xfrm>
                <a:off x="3016" y="3094"/>
                <a:ext cx="771" cy="136"/>
                <a:chOff x="3016" y="3094"/>
                <a:chExt cx="771" cy="136"/>
              </a:xfrm>
            </p:grpSpPr>
            <p:sp>
              <p:nvSpPr>
                <p:cNvPr id="15374" name="Oval 6"/>
                <p:cNvSpPr>
                  <a:spLocks noChangeArrowheads="1"/>
                </p:cNvSpPr>
                <p:nvPr/>
              </p:nvSpPr>
              <p:spPr bwMode="auto">
                <a:xfrm>
                  <a:off x="3016" y="3094"/>
                  <a:ext cx="136" cy="13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75" name="Oval 7"/>
                <p:cNvSpPr>
                  <a:spLocks noChangeArrowheads="1"/>
                </p:cNvSpPr>
                <p:nvPr/>
              </p:nvSpPr>
              <p:spPr bwMode="auto">
                <a:xfrm>
                  <a:off x="3651" y="3094"/>
                  <a:ext cx="136" cy="13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bg1"/>
                    </a:gs>
                    <a:gs pos="100000">
                      <a:srgbClr val="5F5F5F"/>
                    </a:gs>
                  </a:gsLst>
                  <a:path path="shape">
                    <a:fillToRect l="50000" t="50000" r="50000" b="50000"/>
                  </a:path>
                </a:gra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376" name="Line 8"/>
                <p:cNvSpPr>
                  <a:spLocks noChangeShapeType="1"/>
                </p:cNvSpPr>
                <p:nvPr/>
              </p:nvSpPr>
              <p:spPr bwMode="auto">
                <a:xfrm>
                  <a:off x="3152" y="3158"/>
                  <a:ext cx="499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5372" name="Text Box 10"/>
              <p:cNvSpPr txBox="1">
                <a:spLocks noChangeArrowheads="1"/>
              </p:cNvSpPr>
              <p:nvPr/>
            </p:nvSpPr>
            <p:spPr bwMode="auto">
              <a:xfrm>
                <a:off x="2913" y="3216"/>
                <a:ext cx="22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u</a:t>
                </a:r>
                <a:endParaRPr lang="en-US" altLang="zh-CN" sz="2400" b="1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373" name="Text Box 11"/>
              <p:cNvSpPr txBox="1">
                <a:spLocks noChangeArrowheads="1"/>
              </p:cNvSpPr>
              <p:nvPr/>
            </p:nvSpPr>
            <p:spPr bwMode="auto">
              <a:xfrm>
                <a:off x="3651" y="3249"/>
                <a:ext cx="201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r>
                  <a:rPr lang="en-US" altLang="zh-CN" sz="2400" b="1" i="1">
                    <a:latin typeface="Times New Roman" panose="02020603050405020304" pitchFamily="18" charset="0"/>
                  </a:rPr>
                  <a:t>v</a:t>
                </a:r>
                <a:endParaRPr lang="en-US" altLang="zh-CN" sz="2400" b="1" i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370" name="Text Box 20"/>
            <p:cNvSpPr txBox="1">
              <a:spLocks noChangeArrowheads="1"/>
            </p:cNvSpPr>
            <p:nvPr/>
          </p:nvSpPr>
          <p:spPr bwMode="auto">
            <a:xfrm>
              <a:off x="3230" y="2808"/>
              <a:ext cx="48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>
                  <a:latin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33"/>
          <p:cNvGrpSpPr/>
          <p:nvPr/>
        </p:nvGrpSpPr>
        <p:grpSpPr bwMode="auto">
          <a:xfrm>
            <a:off x="3400426" y="5734050"/>
            <a:ext cx="420688" cy="476250"/>
            <a:chOff x="2142" y="3612"/>
            <a:chExt cx="265" cy="300"/>
          </a:xfrm>
        </p:grpSpPr>
        <p:sp>
          <p:nvSpPr>
            <p:cNvPr id="15367" name="Oval 31"/>
            <p:cNvSpPr>
              <a:spLocks noChangeArrowheads="1"/>
            </p:cNvSpPr>
            <p:nvPr/>
          </p:nvSpPr>
          <p:spPr bwMode="auto">
            <a:xfrm>
              <a:off x="2245" y="361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68" name="Text Box 32"/>
            <p:cNvSpPr txBox="1">
              <a:spLocks noChangeArrowheads="1"/>
            </p:cNvSpPr>
            <p:nvPr/>
          </p:nvSpPr>
          <p:spPr bwMode="auto">
            <a:xfrm>
              <a:off x="2142" y="362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6</a:t>
              </a:r>
              <a:endParaRPr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标注: 线形(带强调线) 2"/>
          <p:cNvSpPr/>
          <p:nvPr/>
        </p:nvSpPr>
        <p:spPr>
          <a:xfrm>
            <a:off x="6595745" y="2317750"/>
            <a:ext cx="2348230" cy="1029970"/>
          </a:xfrm>
          <a:prstGeom prst="accentCallout1">
            <a:avLst>
              <a:gd name="adj1" fmla="val 18750"/>
              <a:gd name="adj2" fmla="val -8333"/>
              <a:gd name="adj3" fmla="val 92041"/>
              <a:gd name="adj4" fmla="val -255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给出有序对或无序对表示的边集</a:t>
            </a:r>
            <a:r>
              <a:rPr lang="en-US" altLang="zh-CN" b="1" dirty="0">
                <a:solidFill>
                  <a:schemeClr val="tx1"/>
                </a:solidFill>
              </a:rPr>
              <a:t>E</a:t>
            </a:r>
            <a:r>
              <a:rPr lang="zh-CN" altLang="en-US" b="1" dirty="0">
                <a:solidFill>
                  <a:schemeClr val="tx1"/>
                </a:solidFill>
              </a:rPr>
              <a:t>和顶点集</a:t>
            </a:r>
            <a:r>
              <a:rPr lang="en-US" altLang="zh-CN" b="1" dirty="0">
                <a:solidFill>
                  <a:schemeClr val="tx1"/>
                </a:solidFill>
              </a:rPr>
              <a:t>V</a:t>
            </a:r>
            <a:r>
              <a:rPr lang="zh-CN" altLang="en-US" b="1" dirty="0">
                <a:solidFill>
                  <a:schemeClr val="tx1"/>
                </a:solidFill>
              </a:rPr>
              <a:t>，可画出图形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pSp>
        <p:nvGrpSpPr>
          <p:cNvPr id="4" name="Group 33"/>
          <p:cNvGrpSpPr/>
          <p:nvPr/>
        </p:nvGrpSpPr>
        <p:grpSpPr bwMode="auto">
          <a:xfrm>
            <a:off x="684213" y="4076700"/>
            <a:ext cx="3136900" cy="2743200"/>
            <a:chOff x="431" y="2568"/>
            <a:chExt cx="1976" cy="1728"/>
          </a:xfrm>
        </p:grpSpPr>
        <p:pic>
          <p:nvPicPr>
            <p:cNvPr id="6" name="Picture 4" descr="14-1"/>
            <p:cNvPicPr>
              <a:picLocks noChangeAspect="1" noChangeArrowheads="1"/>
            </p:cNvPicPr>
            <p:nvPr/>
          </p:nvPicPr>
          <p:blipFill>
            <a:blip r:embed="rId1">
              <a:lum bright="-100000"/>
            </a:blip>
            <a:srcRect/>
            <a:stretch>
              <a:fillRect/>
            </a:stretch>
          </p:blipFill>
          <p:spPr bwMode="auto">
            <a:xfrm>
              <a:off x="431" y="2568"/>
              <a:ext cx="1718" cy="1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Oval 31"/>
            <p:cNvSpPr>
              <a:spLocks noChangeArrowheads="1"/>
            </p:cNvSpPr>
            <p:nvPr/>
          </p:nvSpPr>
          <p:spPr bwMode="auto">
            <a:xfrm>
              <a:off x="2245" y="361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" name="Text Box 32"/>
            <p:cNvSpPr txBox="1">
              <a:spLocks noChangeArrowheads="1"/>
            </p:cNvSpPr>
            <p:nvPr/>
          </p:nvSpPr>
          <p:spPr bwMode="auto">
            <a:xfrm>
              <a:off x="2142" y="3624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 baseline="-25000">
                  <a:latin typeface="Times New Roman" panose="02020603050405020304" pitchFamily="18" charset="0"/>
                </a:rPr>
                <a:t>6</a:t>
              </a:r>
              <a:endParaRPr lang="en-US" altLang="zh-CN" sz="2400" b="1" baseline="-25000">
                <a:latin typeface="Times New Roman" panose="02020603050405020304" pitchFamily="18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3289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有向图</a:t>
            </a:r>
            <a:r>
              <a:rPr lang="en-US" altLang="zh-CN"/>
              <a:t>(directed graph)</a:t>
            </a:r>
            <a:endParaRPr lang="en-US" altLang="zh-CN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有向图</a:t>
            </a:r>
            <a:r>
              <a:rPr lang="en-US" altLang="zh-CN" dirty="0"/>
              <a:t>(digraph): </a:t>
            </a:r>
            <a:r>
              <a:rPr lang="en-US" altLang="zh-CN" dirty="0">
                <a:solidFill>
                  <a:srgbClr val="FF00FF"/>
                </a:solidFill>
              </a:rPr>
              <a:t>D</a:t>
            </a:r>
            <a:r>
              <a:rPr lang="en-US" altLang="zh-CN" dirty="0"/>
              <a:t>=&lt;</a:t>
            </a:r>
            <a:r>
              <a:rPr lang="en-US" altLang="zh-CN" dirty="0">
                <a:solidFill>
                  <a:srgbClr val="FF00FF"/>
                </a:solidFill>
              </a:rPr>
              <a:t>V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E</a:t>
            </a:r>
            <a:r>
              <a:rPr lang="en-US" altLang="zh-CN" dirty="0"/>
              <a:t>&gt;,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(1) V≠∅, </a:t>
            </a:r>
            <a:r>
              <a:rPr lang="zh-CN" altLang="en-US" dirty="0">
                <a:solidFill>
                  <a:srgbClr val="FF00FF"/>
                </a:solidFill>
              </a:rPr>
              <a:t>顶点</a:t>
            </a:r>
            <a:r>
              <a:rPr lang="zh-CN" altLang="en-US" dirty="0"/>
              <a:t>，</a:t>
            </a:r>
            <a:r>
              <a:rPr lang="zh-CN" altLang="en-US" dirty="0"/>
              <a:t>结点</a:t>
            </a:r>
            <a:r>
              <a:rPr lang="en-US" altLang="zh-CN" dirty="0"/>
              <a:t>(vertex / node)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(2) </a:t>
            </a:r>
            <a:r>
              <a:rPr lang="zh-CN" altLang="en-US" dirty="0"/>
              <a:t>多重集</a:t>
            </a:r>
            <a:r>
              <a:rPr lang="en-US" altLang="zh-CN" dirty="0"/>
              <a:t>E⊆V</a:t>
            </a:r>
            <a:r>
              <a:rPr lang="en-US" altLang="zh-CN" dirty="0">
                <a:solidFill>
                  <a:srgbClr val="FF00FF"/>
                </a:solidFill>
              </a:rPr>
              <a:t>×</a:t>
            </a:r>
            <a:r>
              <a:rPr lang="en-US" altLang="zh-CN" dirty="0"/>
              <a:t>V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FF"/>
                </a:solidFill>
              </a:rPr>
              <a:t>边</a:t>
            </a:r>
            <a:r>
              <a:rPr lang="en-US" altLang="zh-CN" dirty="0"/>
              <a:t>(edge / link / arc)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D=&lt;V,E&gt;,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tx2"/>
                </a:solidFill>
              </a:rPr>
              <a:t>V={</a:t>
            </a:r>
            <a:r>
              <a:rPr lang="en-US" altLang="zh-CN" i="1" dirty="0" err="1">
                <a:solidFill>
                  <a:schemeClr val="tx2"/>
                </a:solidFill>
              </a:rPr>
              <a:t>a,b,c,d,e</a:t>
            </a:r>
            <a:r>
              <a:rPr lang="en-US" altLang="zh-CN" dirty="0">
                <a:solidFill>
                  <a:schemeClr val="tx2"/>
                </a:solidFill>
              </a:rPr>
              <a:t>},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>
                <a:solidFill>
                  <a:schemeClr val="tx2"/>
                </a:solidFill>
              </a:rPr>
              <a:t>          E={&lt;</a:t>
            </a:r>
            <a:r>
              <a:rPr lang="en-US" altLang="zh-CN" i="1" dirty="0" err="1">
                <a:solidFill>
                  <a:schemeClr val="tx2"/>
                </a:solidFill>
              </a:rPr>
              <a:t>a,a</a:t>
            </a:r>
            <a:r>
              <a:rPr lang="en-US" altLang="zh-CN" dirty="0">
                <a:solidFill>
                  <a:schemeClr val="tx2"/>
                </a:solidFill>
              </a:rPr>
              <a:t>&gt;,&lt;</a:t>
            </a:r>
            <a:r>
              <a:rPr lang="en-US" altLang="zh-CN" i="1" dirty="0" err="1">
                <a:solidFill>
                  <a:schemeClr val="tx2"/>
                </a:solidFill>
              </a:rPr>
              <a:t>a,b</a:t>
            </a:r>
            <a:r>
              <a:rPr lang="en-US" altLang="zh-CN" dirty="0">
                <a:solidFill>
                  <a:schemeClr val="tx2"/>
                </a:solidFill>
              </a:rPr>
              <a:t>&gt;,&lt;</a:t>
            </a:r>
            <a:r>
              <a:rPr lang="en-US" altLang="zh-CN" i="1" dirty="0" err="1">
                <a:solidFill>
                  <a:schemeClr val="tx2"/>
                </a:solidFill>
              </a:rPr>
              <a:t>a,b</a:t>
            </a:r>
            <a:r>
              <a:rPr lang="en-US" altLang="zh-CN" dirty="0">
                <a:solidFill>
                  <a:schemeClr val="tx2"/>
                </a:solidFill>
              </a:rPr>
              <a:t>&gt;,&lt;</a:t>
            </a:r>
            <a:r>
              <a:rPr lang="en-US" altLang="zh-CN" i="1" dirty="0" err="1">
                <a:solidFill>
                  <a:schemeClr val="tx2"/>
                </a:solidFill>
              </a:rPr>
              <a:t>a</a:t>
            </a:r>
            <a:r>
              <a:rPr lang="en-US" altLang="zh-CN" dirty="0" err="1">
                <a:solidFill>
                  <a:schemeClr val="tx2"/>
                </a:solidFill>
              </a:rPr>
              <a:t>,</a:t>
            </a:r>
            <a:r>
              <a:rPr lang="en-US" altLang="zh-CN" i="1" dirty="0" err="1">
                <a:solidFill>
                  <a:schemeClr val="tx2"/>
                </a:solidFill>
              </a:rPr>
              <a:t>d</a:t>
            </a:r>
            <a:r>
              <a:rPr lang="en-US" altLang="zh-CN" dirty="0">
                <a:solidFill>
                  <a:schemeClr val="tx2"/>
                </a:solidFill>
              </a:rPr>
              <a:t>&gt;,&lt;</a:t>
            </a:r>
            <a:r>
              <a:rPr lang="en-US" altLang="zh-CN" i="1" dirty="0" err="1">
                <a:solidFill>
                  <a:schemeClr val="tx2"/>
                </a:solidFill>
              </a:rPr>
              <a:t>c</a:t>
            </a:r>
            <a:r>
              <a:rPr lang="en-US" altLang="zh-CN" dirty="0" err="1">
                <a:solidFill>
                  <a:schemeClr val="tx2"/>
                </a:solidFill>
              </a:rPr>
              <a:t>,</a:t>
            </a:r>
            <a:r>
              <a:rPr lang="en-US" altLang="zh-CN" i="1" dirty="0" err="1">
                <a:solidFill>
                  <a:schemeClr val="tx2"/>
                </a:solidFill>
              </a:rPr>
              <a:t>b</a:t>
            </a:r>
            <a:r>
              <a:rPr lang="en-US" altLang="zh-CN" dirty="0">
                <a:solidFill>
                  <a:schemeClr val="tx2"/>
                </a:solidFill>
              </a:rPr>
              <a:t>&gt;,&lt;</a:t>
            </a:r>
            <a:r>
              <a:rPr lang="en-US" altLang="zh-CN" i="1" dirty="0" err="1">
                <a:solidFill>
                  <a:schemeClr val="tx2"/>
                </a:solidFill>
              </a:rPr>
              <a:t>c</a:t>
            </a:r>
            <a:r>
              <a:rPr lang="en-US" altLang="zh-CN" dirty="0" err="1">
                <a:solidFill>
                  <a:schemeClr val="tx2"/>
                </a:solidFill>
              </a:rPr>
              <a:t>,</a:t>
            </a:r>
            <a:r>
              <a:rPr lang="en-US" altLang="zh-CN" i="1" dirty="0" err="1">
                <a:solidFill>
                  <a:schemeClr val="tx2"/>
                </a:solidFill>
              </a:rPr>
              <a:t>d</a:t>
            </a:r>
            <a:r>
              <a:rPr lang="en-US" altLang="zh-CN" i="1" dirty="0">
                <a:solidFill>
                  <a:schemeClr val="tx2"/>
                </a:solidFill>
              </a:rPr>
              <a:t>&gt;,</a:t>
            </a:r>
            <a:r>
              <a:rPr lang="en-US" altLang="zh-CN" dirty="0">
                <a:solidFill>
                  <a:schemeClr val="tx2"/>
                </a:solidFill>
              </a:rPr>
              <a:t>&lt;</a:t>
            </a:r>
            <a:r>
              <a:rPr lang="en-US" altLang="zh-CN" i="1" dirty="0" err="1">
                <a:solidFill>
                  <a:schemeClr val="tx2"/>
                </a:solidFill>
              </a:rPr>
              <a:t>d</a:t>
            </a:r>
            <a:r>
              <a:rPr lang="en-US" altLang="zh-CN" dirty="0" err="1">
                <a:solidFill>
                  <a:schemeClr val="tx2"/>
                </a:solidFill>
              </a:rPr>
              <a:t>,</a:t>
            </a:r>
            <a:r>
              <a:rPr lang="en-US" altLang="zh-CN" i="1" dirty="0" err="1">
                <a:solidFill>
                  <a:schemeClr val="tx2"/>
                </a:solidFill>
              </a:rPr>
              <a:t>c</a:t>
            </a:r>
            <a:r>
              <a:rPr lang="en-US" altLang="zh-CN" dirty="0">
                <a:solidFill>
                  <a:schemeClr val="tx2"/>
                </a:solidFill>
              </a:rPr>
              <a:t>&gt;}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chemeClr val="tx2"/>
                </a:solidFill>
              </a:rPr>
              <a:t>                          也可表示为</a:t>
            </a:r>
            <a:r>
              <a:rPr lang="en-US" altLang="zh-CN" dirty="0">
                <a:solidFill>
                  <a:schemeClr val="tx2"/>
                </a:solidFill>
              </a:rPr>
              <a:t>E={e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3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4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5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6</a:t>
            </a:r>
            <a:r>
              <a:rPr lang="en-US" altLang="zh-CN" dirty="0">
                <a:solidFill>
                  <a:schemeClr val="tx2"/>
                </a:solidFill>
              </a:rPr>
              <a:t>, e</a:t>
            </a:r>
            <a:r>
              <a:rPr lang="en-US" altLang="zh-CN" baseline="-25000" dirty="0">
                <a:solidFill>
                  <a:schemeClr val="tx2"/>
                </a:solidFill>
              </a:rPr>
              <a:t>7</a:t>
            </a:r>
            <a:r>
              <a:rPr lang="en-US" altLang="zh-CN" dirty="0">
                <a:solidFill>
                  <a:schemeClr val="tx2"/>
                </a:solidFill>
              </a:rPr>
              <a:t>}</a:t>
            </a:r>
            <a:endParaRPr lang="en-US" altLang="zh-CN" dirty="0"/>
          </a:p>
        </p:txBody>
      </p:sp>
      <p:grpSp>
        <p:nvGrpSpPr>
          <p:cNvPr id="3" name="Group 24"/>
          <p:cNvGrpSpPr/>
          <p:nvPr/>
        </p:nvGrpSpPr>
        <p:grpSpPr bwMode="auto">
          <a:xfrm>
            <a:off x="4643438" y="4941168"/>
            <a:ext cx="3151187" cy="1252538"/>
            <a:chOff x="2925" y="2808"/>
            <a:chExt cx="1985" cy="789"/>
          </a:xfrm>
        </p:grpSpPr>
        <p:sp>
          <p:nvSpPr>
            <p:cNvPr id="16390" name="Oval 15"/>
            <p:cNvSpPr>
              <a:spLocks noChangeArrowheads="1"/>
            </p:cNvSpPr>
            <p:nvPr/>
          </p:nvSpPr>
          <p:spPr bwMode="auto">
            <a:xfrm>
              <a:off x="3016" y="309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1" name="Oval 16"/>
            <p:cNvSpPr>
              <a:spLocks noChangeArrowheads="1"/>
            </p:cNvSpPr>
            <p:nvPr/>
          </p:nvSpPr>
          <p:spPr bwMode="auto">
            <a:xfrm>
              <a:off x="4241" y="3094"/>
              <a:ext cx="136" cy="136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92" name="Line 17"/>
            <p:cNvSpPr>
              <a:spLocks noChangeShapeType="1"/>
            </p:cNvSpPr>
            <p:nvPr/>
          </p:nvSpPr>
          <p:spPr bwMode="auto">
            <a:xfrm>
              <a:off x="3152" y="3158"/>
              <a:ext cx="10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Text Box 18"/>
            <p:cNvSpPr txBox="1">
              <a:spLocks noChangeArrowheads="1"/>
            </p:cNvSpPr>
            <p:nvPr/>
          </p:nvSpPr>
          <p:spPr bwMode="auto">
            <a:xfrm>
              <a:off x="2925" y="3307"/>
              <a:ext cx="736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zh-CN" altLang="en-US" sz="2400" b="1">
                  <a:latin typeface="Times New Roman" panose="02020603050405020304" pitchFamily="18" charset="0"/>
                </a:rPr>
                <a:t>始点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394" name="Text Box 19"/>
            <p:cNvSpPr txBox="1">
              <a:spLocks noChangeArrowheads="1"/>
            </p:cNvSpPr>
            <p:nvPr/>
          </p:nvSpPr>
          <p:spPr bwMode="auto">
            <a:xfrm>
              <a:off x="4195" y="3285"/>
              <a:ext cx="71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>
                  <a:latin typeface="Times New Roman" panose="02020603050405020304" pitchFamily="18" charset="0"/>
                </a:rPr>
                <a:t>(</a:t>
              </a:r>
              <a:r>
                <a:rPr lang="zh-CN" altLang="en-US" sz="2400" b="1">
                  <a:latin typeface="Times New Roman" panose="02020603050405020304" pitchFamily="18" charset="0"/>
                </a:rPr>
                <a:t>终点</a:t>
              </a:r>
              <a:r>
                <a:rPr lang="en-US" altLang="zh-CN" sz="2400" b="1">
                  <a:latin typeface="Times New Roman" panose="02020603050405020304" pitchFamily="18" charset="0"/>
                </a:rPr>
                <a:t>)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395" name="Text Box 20"/>
            <p:cNvSpPr txBox="1">
              <a:spLocks noChangeArrowheads="1"/>
            </p:cNvSpPr>
            <p:nvPr/>
          </p:nvSpPr>
          <p:spPr bwMode="auto">
            <a:xfrm>
              <a:off x="3395" y="2808"/>
              <a:ext cx="57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&lt;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>
                  <a:latin typeface="Times New Roman" panose="02020603050405020304" pitchFamily="18" charset="0"/>
                </a:rPr>
                <a:t>,</a:t>
              </a:r>
              <a:r>
                <a:rPr lang="en-US" altLang="zh-CN" sz="24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="1">
                  <a:latin typeface="Times New Roman" panose="02020603050405020304" pitchFamily="18" charset="0"/>
                </a:rPr>
                <a:t>&gt;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16396" name="AutoShape 22"/>
            <p:cNvSpPr>
              <a:spLocks noChangeArrowheads="1"/>
            </p:cNvSpPr>
            <p:nvPr/>
          </p:nvSpPr>
          <p:spPr bwMode="auto">
            <a:xfrm rot="5400000">
              <a:off x="3629" y="3090"/>
              <a:ext cx="9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pSp>
        <p:nvGrpSpPr>
          <p:cNvPr id="4" name="Group 11"/>
          <p:cNvGrpSpPr/>
          <p:nvPr/>
        </p:nvGrpSpPr>
        <p:grpSpPr bwMode="auto">
          <a:xfrm>
            <a:off x="117475" y="3933825"/>
            <a:ext cx="3260725" cy="2851150"/>
            <a:chOff x="74" y="2478"/>
            <a:chExt cx="2054" cy="1796"/>
          </a:xfrm>
        </p:grpSpPr>
        <p:pic>
          <p:nvPicPr>
            <p:cNvPr id="5" name="Picture 8" descr="14-2"/>
            <p:cNvPicPr>
              <a:picLocks noChangeAspect="1" noChangeArrowheads="1"/>
            </p:cNvPicPr>
            <p:nvPr/>
          </p:nvPicPr>
          <p:blipFill>
            <a:blip r:embed="rId1">
              <a:lum bright="-100000"/>
            </a:blip>
            <a:srcRect/>
            <a:stretch>
              <a:fillRect/>
            </a:stretch>
          </p:blipFill>
          <p:spPr bwMode="auto">
            <a:xfrm>
              <a:off x="74" y="2478"/>
              <a:ext cx="1756" cy="17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1973" y="361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1927" y="3657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p>
              <a:r>
                <a:rPr lang="en-US" altLang="zh-CN" sz="2400" b="1" i="1">
                  <a:latin typeface="Times New Roman" panose="02020603050405020304" pitchFamily="18" charset="0"/>
                </a:rPr>
                <a:t>e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22667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关键术语的符号表示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G</a:t>
            </a:r>
            <a:r>
              <a:rPr lang="zh-CN" altLang="en-US" dirty="0"/>
              <a:t>泛指图，也常指无向图</a:t>
            </a:r>
            <a:endParaRPr lang="en-US" altLang="zh-CN" dirty="0"/>
          </a:p>
          <a:p>
            <a:r>
              <a:rPr lang="en-US" altLang="zh-CN" dirty="0"/>
              <a:t>D</a:t>
            </a:r>
            <a:r>
              <a:rPr lang="zh-CN" altLang="en-US" dirty="0"/>
              <a:t>只表示有向图</a:t>
            </a:r>
            <a:endParaRPr lang="en-US" altLang="zh-CN" dirty="0"/>
          </a:p>
          <a:p>
            <a:r>
              <a:rPr lang="en-US" altLang="zh-CN" dirty="0"/>
              <a:t>V(G)</a:t>
            </a:r>
            <a:r>
              <a:rPr lang="zh-CN" altLang="en-US" dirty="0"/>
              <a:t>、</a:t>
            </a:r>
            <a:r>
              <a:rPr lang="en-US" altLang="zh-CN" dirty="0"/>
              <a:t>V(D)</a:t>
            </a:r>
            <a:r>
              <a:rPr lang="zh-CN" altLang="en-US" dirty="0"/>
              <a:t>表示图</a:t>
            </a:r>
            <a:r>
              <a:rPr lang="en-US" altLang="zh-CN" dirty="0"/>
              <a:t>G</a:t>
            </a:r>
            <a:r>
              <a:rPr lang="zh-CN" altLang="en-US" dirty="0"/>
              <a:t>或</a:t>
            </a:r>
            <a:r>
              <a:rPr lang="en-US" altLang="zh-CN" dirty="0"/>
              <a:t>D</a:t>
            </a:r>
            <a:r>
              <a:rPr lang="zh-CN" altLang="en-US" dirty="0"/>
              <a:t>的</a:t>
            </a:r>
            <a:r>
              <a:rPr lang="zh-CN" altLang="en-US" dirty="0">
                <a:sym typeface="+mn-ea"/>
              </a:rPr>
              <a:t>顶点</a:t>
            </a:r>
            <a:r>
              <a:rPr lang="zh-CN" altLang="en-US" dirty="0"/>
              <a:t>集</a:t>
            </a:r>
            <a:endParaRPr lang="en-US" altLang="zh-CN" dirty="0"/>
          </a:p>
          <a:p>
            <a:r>
              <a:rPr lang="en-US" altLang="zh-CN" dirty="0"/>
              <a:t>E(G)</a:t>
            </a:r>
            <a:r>
              <a:rPr lang="zh-CN" altLang="en-US" dirty="0"/>
              <a:t>、</a:t>
            </a:r>
            <a:r>
              <a:rPr lang="en-US" altLang="zh-CN" dirty="0"/>
              <a:t>E(D)</a:t>
            </a:r>
            <a:r>
              <a:rPr lang="zh-CN" altLang="en-US" dirty="0"/>
              <a:t>表示图</a:t>
            </a:r>
            <a:r>
              <a:rPr lang="en-US" altLang="zh-CN" dirty="0"/>
              <a:t>G</a:t>
            </a:r>
            <a:r>
              <a:rPr lang="zh-CN" altLang="en-US" dirty="0"/>
              <a:t>或</a:t>
            </a:r>
            <a:r>
              <a:rPr lang="en-US" altLang="zh-CN" dirty="0"/>
              <a:t>D</a:t>
            </a:r>
            <a:r>
              <a:rPr lang="zh-CN" altLang="en-US" dirty="0"/>
              <a:t>的</a:t>
            </a:r>
            <a:r>
              <a:rPr lang="zh-CN" altLang="en-US" dirty="0">
                <a:sym typeface="+mn-ea"/>
              </a:rPr>
              <a:t>边</a:t>
            </a:r>
            <a:r>
              <a:rPr lang="zh-CN" altLang="en-US" dirty="0"/>
              <a:t>集</a:t>
            </a:r>
            <a:endParaRPr lang="en-US" altLang="zh-CN" dirty="0"/>
          </a:p>
          <a:p>
            <a:r>
              <a:rPr lang="en-US" altLang="zh-CN" dirty="0"/>
              <a:t>|V(G)|</a:t>
            </a:r>
            <a:r>
              <a:rPr lang="zh-CN" altLang="en-US" dirty="0"/>
              <a:t>、</a:t>
            </a:r>
            <a:r>
              <a:rPr lang="en-US" altLang="zh-CN" dirty="0"/>
              <a:t>E(G)|</a:t>
            </a:r>
            <a:r>
              <a:rPr lang="zh-CN" altLang="en-US" dirty="0"/>
              <a:t>分别表示图</a:t>
            </a:r>
            <a:r>
              <a:rPr lang="en-US" altLang="zh-CN" dirty="0"/>
              <a:t>G</a:t>
            </a:r>
            <a:r>
              <a:rPr lang="zh-CN" altLang="en-US" dirty="0"/>
              <a:t>的顶点数和边数</a:t>
            </a:r>
            <a:endParaRPr lang="en-US" altLang="zh-CN" dirty="0"/>
          </a:p>
          <a:p>
            <a:r>
              <a:rPr lang="en-US" altLang="zh-CN" dirty="0"/>
              <a:t>|V(D)|</a:t>
            </a:r>
            <a:r>
              <a:rPr lang="zh-CN" altLang="en-US" dirty="0"/>
              <a:t>、</a:t>
            </a:r>
            <a:r>
              <a:rPr lang="en-US" altLang="zh-CN" dirty="0"/>
              <a:t>|E(D)|</a:t>
            </a:r>
            <a:r>
              <a:rPr lang="zh-CN" altLang="en-US" dirty="0"/>
              <a:t>分别表示图</a:t>
            </a:r>
            <a:r>
              <a:rPr lang="en-US" altLang="zh-CN" dirty="0"/>
              <a:t>D</a:t>
            </a:r>
            <a:r>
              <a:rPr lang="zh-CN" altLang="en-US" dirty="0"/>
              <a:t>的顶点数和边数</a:t>
            </a: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n</a:t>
            </a:r>
            <a:r>
              <a:rPr lang="zh-CN" altLang="en-US" dirty="0"/>
              <a:t>阶图</a:t>
            </a:r>
            <a:r>
              <a:rPr lang="zh-CN" altLang="zh-CN" dirty="0"/>
              <a:t> </a:t>
            </a:r>
            <a:r>
              <a:rPr lang="zh-CN" altLang="en-US" dirty="0"/>
              <a:t>零图</a:t>
            </a:r>
            <a:r>
              <a:rPr lang="zh-CN" altLang="zh-CN" dirty="0"/>
              <a:t> </a:t>
            </a:r>
            <a:r>
              <a:rPr lang="zh-CN" altLang="en-US" dirty="0"/>
              <a:t>平凡图</a:t>
            </a:r>
            <a:r>
              <a:rPr lang="zh-CN" altLang="zh-CN" dirty="0"/>
              <a:t> </a:t>
            </a:r>
            <a:r>
              <a:rPr lang="zh-CN" altLang="en-US" dirty="0"/>
              <a:t>空图</a:t>
            </a:r>
            <a:endParaRPr lang="zh-CN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6"/>
            <a:ext cx="8136582" cy="3286942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endParaRPr lang="en-US" altLang="zh-CN" i="1" dirty="0">
              <a:solidFill>
                <a:srgbClr val="FF00FF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zh-CN" i="1" dirty="0">
                <a:solidFill>
                  <a:schemeClr val="hlink"/>
                </a:solidFill>
              </a:rPr>
              <a:t>n</a:t>
            </a:r>
            <a:r>
              <a:rPr lang="zh-CN" altLang="en-US" dirty="0">
                <a:solidFill>
                  <a:schemeClr val="hlink"/>
                </a:solidFill>
              </a:rPr>
              <a:t>阶图</a:t>
            </a:r>
            <a:r>
              <a:rPr lang="en-US" altLang="zh-CN" dirty="0"/>
              <a:t>(order-</a:t>
            </a:r>
            <a:r>
              <a:rPr lang="en-US" altLang="zh-CN" i="1" dirty="0"/>
              <a:t>n</a:t>
            </a:r>
            <a:r>
              <a:rPr lang="en-US" altLang="zh-CN" dirty="0"/>
              <a:t> graph): |</a:t>
            </a:r>
            <a:r>
              <a:rPr lang="en-US" altLang="zh-CN" i="1" dirty="0"/>
              <a:t>V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零图</a:t>
            </a:r>
            <a:r>
              <a:rPr lang="en-US" altLang="zh-CN" dirty="0"/>
              <a:t>(null graph)</a:t>
            </a:r>
            <a:r>
              <a:rPr lang="en-US" altLang="zh-CN" i="1" dirty="0">
                <a:solidFill>
                  <a:srgbClr val="FF00FF"/>
                </a:solidFill>
              </a:rPr>
              <a:t> </a:t>
            </a:r>
            <a:r>
              <a:rPr lang="en-US" altLang="zh-CN" dirty="0"/>
              <a:t>:  </a:t>
            </a:r>
            <a:r>
              <a:rPr lang="en-US" altLang="zh-CN" i="1" dirty="0"/>
              <a:t>V</a:t>
            </a:r>
            <a:r>
              <a:rPr lang="en-US" dirty="0">
                <a:sym typeface="Symbol" panose="05050102010706020507"/>
              </a:rPr>
              <a:t></a:t>
            </a:r>
            <a:r>
              <a:rPr lang="en-US" altLang="zh-CN" dirty="0"/>
              <a:t>∅</a:t>
            </a:r>
            <a:r>
              <a:rPr lang="zh-CN" altLang="en-US" dirty="0"/>
              <a:t>，</a:t>
            </a:r>
            <a:r>
              <a:rPr lang="en-US" altLang="zh-CN" i="1" dirty="0"/>
              <a:t>E</a:t>
            </a:r>
            <a:r>
              <a:rPr lang="en-US" altLang="zh-CN" dirty="0"/>
              <a:t>=∅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en-US" altLang="zh-CN" dirty="0"/>
              <a:t>n</a:t>
            </a:r>
            <a:r>
              <a:rPr lang="zh-CN" altLang="en-US" dirty="0"/>
              <a:t>阶零图</a:t>
            </a:r>
            <a:r>
              <a:rPr lang="en-US" altLang="zh-CN" i="1" dirty="0" err="1">
                <a:solidFill>
                  <a:srgbClr val="000000"/>
                </a:solidFill>
              </a:rPr>
              <a:t>N</a:t>
            </a:r>
            <a:r>
              <a:rPr lang="en-US" altLang="zh-CN" i="1" baseline="-25000" dirty="0" err="1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en-US" altLang="zh-CN" dirty="0"/>
              <a:t>|</a:t>
            </a:r>
            <a:r>
              <a:rPr lang="en-US" altLang="zh-CN" i="1" dirty="0"/>
              <a:t>V</a:t>
            </a:r>
            <a:r>
              <a:rPr lang="en-US" altLang="zh-CN" dirty="0"/>
              <a:t>|=</a:t>
            </a:r>
            <a:r>
              <a:rPr lang="en-US" altLang="zh-CN" i="1" dirty="0"/>
              <a:t>n, E</a:t>
            </a:r>
            <a:r>
              <a:rPr lang="en-US" altLang="zh-CN" dirty="0"/>
              <a:t>=∅</a:t>
            </a:r>
            <a:endParaRPr lang="en-US" altLang="zh-CN" dirty="0">
              <a:solidFill>
                <a:srgbClr val="FF00FF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平凡图</a:t>
            </a:r>
            <a:r>
              <a:rPr lang="en-US" altLang="zh-CN" dirty="0"/>
              <a:t>(</a:t>
            </a:r>
            <a:r>
              <a:rPr lang="en-US" altLang="zh-CN" dirty="0" err="1"/>
              <a:t>trival</a:t>
            </a:r>
            <a:r>
              <a:rPr lang="en-US" altLang="zh-CN" dirty="0"/>
              <a:t> graph)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en-US" altLang="zh-CN" dirty="0"/>
              <a:t>: 1</a:t>
            </a:r>
            <a:r>
              <a:rPr lang="zh-CN" altLang="en-US" dirty="0"/>
              <a:t>阶零图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en-US" altLang="zh-CN" baseline="-25000" dirty="0">
                <a:solidFill>
                  <a:srgbClr val="000000"/>
                </a:solidFill>
              </a:rPr>
              <a:t>1</a:t>
            </a:r>
            <a:endParaRPr lang="en-US" altLang="zh-CN" baseline="-25000" dirty="0">
              <a:solidFill>
                <a:srgbClr val="FF00FF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空图</a:t>
            </a:r>
            <a:r>
              <a:rPr lang="en-US" altLang="zh-CN" dirty="0"/>
              <a:t>(empty graph)</a:t>
            </a:r>
            <a:r>
              <a:rPr lang="en-US" altLang="zh-CN" dirty="0">
                <a:solidFill>
                  <a:srgbClr val="FF00FF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∅</a:t>
            </a:r>
            <a:r>
              <a:rPr lang="en-US" altLang="zh-CN" dirty="0"/>
              <a:t>: V=E=∅,</a:t>
            </a:r>
            <a:endParaRPr lang="en-US" altLang="zh-CN" dirty="0">
              <a:solidFill>
                <a:srgbClr val="FF00FF"/>
              </a:solidFill>
            </a:endParaRPr>
          </a:p>
        </p:txBody>
      </p:sp>
      <p:grpSp>
        <p:nvGrpSpPr>
          <p:cNvPr id="17412" name="Group 7"/>
          <p:cNvGrpSpPr/>
          <p:nvPr/>
        </p:nvGrpSpPr>
        <p:grpSpPr bwMode="auto">
          <a:xfrm>
            <a:off x="251520" y="5157092"/>
            <a:ext cx="1293813" cy="142875"/>
            <a:chOff x="4332" y="935"/>
            <a:chExt cx="815" cy="90"/>
          </a:xfrm>
        </p:grpSpPr>
        <p:sp>
          <p:nvSpPr>
            <p:cNvPr id="17437" name="Oval 4"/>
            <p:cNvSpPr>
              <a:spLocks noChangeArrowheads="1"/>
            </p:cNvSpPr>
            <p:nvPr/>
          </p:nvSpPr>
          <p:spPr bwMode="auto">
            <a:xfrm>
              <a:off x="4332" y="935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Oval 5"/>
            <p:cNvSpPr>
              <a:spLocks noChangeArrowheads="1"/>
            </p:cNvSpPr>
            <p:nvPr/>
          </p:nvSpPr>
          <p:spPr bwMode="auto">
            <a:xfrm>
              <a:off x="5057" y="935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6"/>
            <p:cNvSpPr>
              <a:spLocks noChangeShapeType="1"/>
            </p:cNvSpPr>
            <p:nvPr/>
          </p:nvSpPr>
          <p:spPr bwMode="auto">
            <a:xfrm>
              <a:off x="4422" y="981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3" name="Group 15"/>
          <p:cNvGrpSpPr/>
          <p:nvPr/>
        </p:nvGrpSpPr>
        <p:grpSpPr bwMode="auto">
          <a:xfrm>
            <a:off x="2195736" y="4869060"/>
            <a:ext cx="1293813" cy="688975"/>
            <a:chOff x="4332" y="1180"/>
            <a:chExt cx="815" cy="434"/>
          </a:xfrm>
        </p:grpSpPr>
        <p:sp>
          <p:nvSpPr>
            <p:cNvPr id="17431" name="Oval 8"/>
            <p:cNvSpPr>
              <a:spLocks noChangeArrowheads="1"/>
            </p:cNvSpPr>
            <p:nvPr/>
          </p:nvSpPr>
          <p:spPr bwMode="auto">
            <a:xfrm>
              <a:off x="4332" y="1524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2" name="Oval 9"/>
            <p:cNvSpPr>
              <a:spLocks noChangeArrowheads="1"/>
            </p:cNvSpPr>
            <p:nvPr/>
          </p:nvSpPr>
          <p:spPr bwMode="auto">
            <a:xfrm>
              <a:off x="5057" y="1524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10"/>
            <p:cNvSpPr>
              <a:spLocks noChangeShapeType="1"/>
            </p:cNvSpPr>
            <p:nvPr/>
          </p:nvSpPr>
          <p:spPr bwMode="auto">
            <a:xfrm>
              <a:off x="4422" y="1570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4" name="Oval 11"/>
            <p:cNvSpPr>
              <a:spLocks noChangeArrowheads="1"/>
            </p:cNvSpPr>
            <p:nvPr/>
          </p:nvSpPr>
          <p:spPr bwMode="auto">
            <a:xfrm>
              <a:off x="4694" y="1180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12"/>
            <p:cNvSpPr>
              <a:spLocks noChangeShapeType="1"/>
            </p:cNvSpPr>
            <p:nvPr/>
          </p:nvSpPr>
          <p:spPr bwMode="auto">
            <a:xfrm flipH="1">
              <a:off x="4377" y="1253"/>
              <a:ext cx="317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6" name="Line 13"/>
            <p:cNvSpPr>
              <a:spLocks noChangeShapeType="1"/>
            </p:cNvSpPr>
            <p:nvPr/>
          </p:nvSpPr>
          <p:spPr bwMode="auto">
            <a:xfrm>
              <a:off x="4785" y="1253"/>
              <a:ext cx="318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4" name="Group 27"/>
          <p:cNvGrpSpPr/>
          <p:nvPr/>
        </p:nvGrpSpPr>
        <p:grpSpPr bwMode="auto">
          <a:xfrm>
            <a:off x="4355976" y="4725144"/>
            <a:ext cx="1366838" cy="936625"/>
            <a:chOff x="4286" y="1888"/>
            <a:chExt cx="861" cy="590"/>
          </a:xfrm>
        </p:grpSpPr>
        <p:sp>
          <p:nvSpPr>
            <p:cNvPr id="17421" name="Oval 17"/>
            <p:cNvSpPr>
              <a:spLocks noChangeArrowheads="1"/>
            </p:cNvSpPr>
            <p:nvPr/>
          </p:nvSpPr>
          <p:spPr bwMode="auto">
            <a:xfrm>
              <a:off x="4286" y="1888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2" name="Oval 18"/>
            <p:cNvSpPr>
              <a:spLocks noChangeArrowheads="1"/>
            </p:cNvSpPr>
            <p:nvPr/>
          </p:nvSpPr>
          <p:spPr bwMode="auto">
            <a:xfrm>
              <a:off x="5057" y="1888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3" name="Line 19"/>
            <p:cNvSpPr>
              <a:spLocks noChangeShapeType="1"/>
            </p:cNvSpPr>
            <p:nvPr/>
          </p:nvSpPr>
          <p:spPr bwMode="auto">
            <a:xfrm>
              <a:off x="4377" y="1933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4" name="Oval 20"/>
            <p:cNvSpPr>
              <a:spLocks noChangeArrowheads="1"/>
            </p:cNvSpPr>
            <p:nvPr/>
          </p:nvSpPr>
          <p:spPr bwMode="auto">
            <a:xfrm>
              <a:off x="4286" y="2388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5" name="Oval 21"/>
            <p:cNvSpPr>
              <a:spLocks noChangeArrowheads="1"/>
            </p:cNvSpPr>
            <p:nvPr/>
          </p:nvSpPr>
          <p:spPr bwMode="auto">
            <a:xfrm>
              <a:off x="5057" y="2388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Line 22"/>
            <p:cNvSpPr>
              <a:spLocks noChangeShapeType="1"/>
            </p:cNvSpPr>
            <p:nvPr/>
          </p:nvSpPr>
          <p:spPr bwMode="auto">
            <a:xfrm>
              <a:off x="4377" y="2433"/>
              <a:ext cx="6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7" name="Line 23"/>
            <p:cNvSpPr>
              <a:spLocks noChangeShapeType="1"/>
            </p:cNvSpPr>
            <p:nvPr/>
          </p:nvSpPr>
          <p:spPr bwMode="auto">
            <a:xfrm>
              <a:off x="4332" y="197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Line 24"/>
            <p:cNvSpPr>
              <a:spLocks noChangeShapeType="1"/>
            </p:cNvSpPr>
            <p:nvPr/>
          </p:nvSpPr>
          <p:spPr bwMode="auto">
            <a:xfrm>
              <a:off x="5103" y="1979"/>
              <a:ext cx="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9" name="Line 25"/>
            <p:cNvSpPr>
              <a:spLocks noChangeShapeType="1"/>
            </p:cNvSpPr>
            <p:nvPr/>
          </p:nvSpPr>
          <p:spPr bwMode="auto">
            <a:xfrm>
              <a:off x="4332" y="1979"/>
              <a:ext cx="771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0" name="Line 26"/>
            <p:cNvSpPr>
              <a:spLocks noChangeShapeType="1"/>
            </p:cNvSpPr>
            <p:nvPr/>
          </p:nvSpPr>
          <p:spPr bwMode="auto">
            <a:xfrm flipV="1">
              <a:off x="4377" y="1979"/>
              <a:ext cx="726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415" name="Group 40"/>
          <p:cNvGrpSpPr/>
          <p:nvPr/>
        </p:nvGrpSpPr>
        <p:grpSpPr bwMode="auto">
          <a:xfrm>
            <a:off x="6588224" y="4798020"/>
            <a:ext cx="1004887" cy="719137"/>
            <a:chOff x="4514" y="2659"/>
            <a:chExt cx="633" cy="453"/>
          </a:xfrm>
        </p:grpSpPr>
        <p:sp>
          <p:nvSpPr>
            <p:cNvPr id="17417" name="Oval 29"/>
            <p:cNvSpPr>
              <a:spLocks noChangeArrowheads="1"/>
            </p:cNvSpPr>
            <p:nvPr/>
          </p:nvSpPr>
          <p:spPr bwMode="auto">
            <a:xfrm>
              <a:off x="4514" y="2659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8" name="Oval 30"/>
            <p:cNvSpPr>
              <a:spLocks noChangeArrowheads="1"/>
            </p:cNvSpPr>
            <p:nvPr/>
          </p:nvSpPr>
          <p:spPr bwMode="auto">
            <a:xfrm>
              <a:off x="5057" y="2659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19" name="Oval 32"/>
            <p:cNvSpPr>
              <a:spLocks noChangeArrowheads="1"/>
            </p:cNvSpPr>
            <p:nvPr/>
          </p:nvSpPr>
          <p:spPr bwMode="auto">
            <a:xfrm>
              <a:off x="4514" y="302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0" name="Oval 33"/>
            <p:cNvSpPr>
              <a:spLocks noChangeArrowheads="1"/>
            </p:cNvSpPr>
            <p:nvPr/>
          </p:nvSpPr>
          <p:spPr bwMode="auto">
            <a:xfrm>
              <a:off x="5057" y="302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416" name="Oval 41"/>
          <p:cNvSpPr>
            <a:spLocks noChangeArrowheads="1"/>
          </p:cNvSpPr>
          <p:nvPr/>
        </p:nvSpPr>
        <p:spPr bwMode="auto">
          <a:xfrm>
            <a:off x="8460432" y="5084737"/>
            <a:ext cx="144462" cy="1444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63105" y="5805264"/>
            <a:ext cx="968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338611" y="5803452"/>
            <a:ext cx="968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434053" y="5844734"/>
            <a:ext cx="968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372200" y="5802288"/>
            <a:ext cx="16433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阶零图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400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100392" y="5802287"/>
            <a:ext cx="1112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平凡图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注: 线形(带边框和强调线) 2"/>
          <p:cNvSpPr/>
          <p:nvPr/>
        </p:nvSpPr>
        <p:spPr>
          <a:xfrm>
            <a:off x="6372200" y="2348880"/>
            <a:ext cx="1584176" cy="612648"/>
          </a:xfrm>
          <a:prstGeom prst="accentBorderCallout1">
            <a:avLst>
              <a:gd name="adj1" fmla="val 18750"/>
              <a:gd name="adj2" fmla="val -8333"/>
              <a:gd name="adj3" fmla="val 76882"/>
              <a:gd name="adj4" fmla="val -5558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solidFill>
                  <a:schemeClr val="tx1"/>
                </a:solidFill>
              </a:rPr>
              <a:t>零图与空图的区别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 animBg="1"/>
      <p:bldP spid="2" grpId="0"/>
      <p:bldP spid="33" grpId="0"/>
      <p:bldP spid="34" grpId="0"/>
      <p:bldP spid="35" grpId="0"/>
      <p:bldP spid="36" grpId="0"/>
      <p:bldP spid="3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 dirty="0"/>
              <a:t>标定图</a:t>
            </a:r>
            <a:r>
              <a:rPr lang="zh-CN" altLang="zh-CN" b="0" dirty="0"/>
              <a:t> </a:t>
            </a:r>
            <a:r>
              <a:rPr lang="zh-CN" altLang="en-US" b="0" dirty="0"/>
              <a:t>非标定图</a:t>
            </a:r>
            <a:r>
              <a:rPr lang="zh-CN" altLang="zh-CN" b="0" dirty="0"/>
              <a:t> </a:t>
            </a:r>
            <a:r>
              <a:rPr lang="zh-CN" altLang="en-US" b="0" dirty="0"/>
              <a:t>基图</a:t>
            </a:r>
            <a:endParaRPr lang="zh-CN" altLang="en-US" b="0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940165" cy="221424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标定图</a:t>
            </a:r>
            <a:r>
              <a:rPr lang="en-US" altLang="zh-CN" dirty="0"/>
              <a:t>(labeled graph): </a:t>
            </a:r>
            <a:r>
              <a:rPr lang="zh-CN" altLang="en-US" dirty="0"/>
              <a:t>顶点或边</a:t>
            </a:r>
            <a:r>
              <a:rPr lang="zh-CN" altLang="en-US" dirty="0">
                <a:solidFill>
                  <a:srgbClr val="FF0000"/>
                </a:solidFill>
              </a:rPr>
              <a:t>带标记字母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非标定图</a:t>
            </a:r>
            <a:r>
              <a:rPr lang="en-US" altLang="zh-CN" dirty="0"/>
              <a:t>(unlabeled graph): </a:t>
            </a:r>
            <a:r>
              <a:rPr lang="zh-CN" altLang="en-US" dirty="0"/>
              <a:t>顶点和边</a:t>
            </a:r>
            <a:r>
              <a:rPr lang="zh-CN" altLang="en-US" dirty="0">
                <a:solidFill>
                  <a:srgbClr val="FF0000"/>
                </a:solidFill>
              </a:rPr>
              <a:t>都</a:t>
            </a:r>
            <a:r>
              <a:rPr lang="zh-CN" altLang="en-US" dirty="0">
                <a:solidFill>
                  <a:srgbClr val="FF0000"/>
                </a:solidFill>
              </a:rPr>
              <a:t>不带标记字母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zh-CN" altLang="en-US" dirty="0">
                <a:solidFill>
                  <a:srgbClr val="FF0000"/>
                </a:solidFill>
              </a:rPr>
              <a:t>的基图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底图</a:t>
            </a:r>
            <a:r>
              <a:rPr lang="en-US" altLang="zh-CN" dirty="0">
                <a:solidFill>
                  <a:srgbClr val="FF0000"/>
                </a:solidFill>
              </a:rPr>
              <a:t>):</a:t>
            </a:r>
            <a:r>
              <a:rPr lang="en-US" altLang="zh-CN" dirty="0"/>
              <a:t> </a:t>
            </a:r>
            <a:r>
              <a:rPr lang="zh-CN" altLang="en-US" dirty="0"/>
              <a:t>去掉有向图</a:t>
            </a:r>
            <a:r>
              <a:rPr lang="en-US" altLang="zh-CN" dirty="0"/>
              <a:t>D</a:t>
            </a:r>
            <a:r>
              <a:rPr lang="zh-CN" altLang="en-US" dirty="0"/>
              <a:t>边的方向后得到的无向图</a:t>
            </a:r>
            <a:r>
              <a:rPr lang="en-US" altLang="zh-CN" dirty="0"/>
              <a:t>G</a:t>
            </a:r>
            <a:endParaRPr lang="zh-CN" altLang="en-US" dirty="0"/>
          </a:p>
        </p:txBody>
      </p:sp>
      <p:grpSp>
        <p:nvGrpSpPr>
          <p:cNvPr id="18436" name="Group 16"/>
          <p:cNvGrpSpPr/>
          <p:nvPr/>
        </p:nvGrpSpPr>
        <p:grpSpPr bwMode="auto">
          <a:xfrm>
            <a:off x="468313" y="3744565"/>
            <a:ext cx="1376362" cy="1844675"/>
            <a:chOff x="581" y="2115"/>
            <a:chExt cx="867" cy="1162"/>
          </a:xfrm>
        </p:grpSpPr>
        <p:sp>
          <p:nvSpPr>
            <p:cNvPr id="18465" name="Oval 5"/>
            <p:cNvSpPr>
              <a:spLocks noChangeArrowheads="1"/>
            </p:cNvSpPr>
            <p:nvPr/>
          </p:nvSpPr>
          <p:spPr bwMode="auto">
            <a:xfrm>
              <a:off x="657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Oval 6"/>
            <p:cNvSpPr>
              <a:spLocks noChangeArrowheads="1"/>
            </p:cNvSpPr>
            <p:nvPr/>
          </p:nvSpPr>
          <p:spPr bwMode="auto">
            <a:xfrm>
              <a:off x="1293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7" name="Oval 7"/>
            <p:cNvSpPr>
              <a:spLocks noChangeArrowheads="1"/>
            </p:cNvSpPr>
            <p:nvPr/>
          </p:nvSpPr>
          <p:spPr bwMode="auto">
            <a:xfrm>
              <a:off x="657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Oval 8"/>
            <p:cNvSpPr>
              <a:spLocks noChangeArrowheads="1"/>
            </p:cNvSpPr>
            <p:nvPr/>
          </p:nvSpPr>
          <p:spPr bwMode="auto">
            <a:xfrm>
              <a:off x="1293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9" name="Line 9"/>
            <p:cNvSpPr>
              <a:spLocks noChangeShapeType="1"/>
            </p:cNvSpPr>
            <p:nvPr/>
          </p:nvSpPr>
          <p:spPr bwMode="auto">
            <a:xfrm>
              <a:off x="748" y="2432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0" name="Line 10"/>
            <p:cNvSpPr>
              <a:spLocks noChangeShapeType="1"/>
            </p:cNvSpPr>
            <p:nvPr/>
          </p:nvSpPr>
          <p:spPr bwMode="auto">
            <a:xfrm>
              <a:off x="703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1" name="Line 11"/>
            <p:cNvSpPr>
              <a:spLocks noChangeShapeType="1"/>
            </p:cNvSpPr>
            <p:nvPr/>
          </p:nvSpPr>
          <p:spPr bwMode="auto">
            <a:xfrm>
              <a:off x="1338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2" name="Text Box 12"/>
            <p:cNvSpPr txBox="1">
              <a:spLocks noChangeArrowheads="1"/>
            </p:cNvSpPr>
            <p:nvPr/>
          </p:nvSpPr>
          <p:spPr bwMode="auto">
            <a:xfrm>
              <a:off x="599" y="2989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a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8473" name="Text Box 13"/>
            <p:cNvSpPr txBox="1">
              <a:spLocks noChangeArrowheads="1"/>
            </p:cNvSpPr>
            <p:nvPr/>
          </p:nvSpPr>
          <p:spPr bwMode="auto">
            <a:xfrm>
              <a:off x="581" y="211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b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8474" name="Text Box 14"/>
            <p:cNvSpPr txBox="1">
              <a:spLocks noChangeArrowheads="1"/>
            </p:cNvSpPr>
            <p:nvPr/>
          </p:nvSpPr>
          <p:spPr bwMode="auto">
            <a:xfrm>
              <a:off x="1247" y="2115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c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8475" name="Text Box 15"/>
            <p:cNvSpPr txBox="1">
              <a:spLocks noChangeArrowheads="1"/>
            </p:cNvSpPr>
            <p:nvPr/>
          </p:nvSpPr>
          <p:spPr bwMode="auto">
            <a:xfrm>
              <a:off x="1202" y="296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</a:rPr>
                <a:t>d</a:t>
              </a:r>
              <a:endParaRPr lang="en-US" altLang="zh-CN" sz="2400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8437" name="Group 28"/>
          <p:cNvGrpSpPr/>
          <p:nvPr/>
        </p:nvGrpSpPr>
        <p:grpSpPr bwMode="auto">
          <a:xfrm>
            <a:off x="2246313" y="4176365"/>
            <a:ext cx="1152525" cy="1008062"/>
            <a:chOff x="1817" y="2387"/>
            <a:chExt cx="726" cy="635"/>
          </a:xfrm>
        </p:grpSpPr>
        <p:sp>
          <p:nvSpPr>
            <p:cNvPr id="18458" name="Oval 17"/>
            <p:cNvSpPr>
              <a:spLocks noChangeArrowheads="1"/>
            </p:cNvSpPr>
            <p:nvPr/>
          </p:nvSpPr>
          <p:spPr bwMode="auto">
            <a:xfrm>
              <a:off x="1817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Oval 18"/>
            <p:cNvSpPr>
              <a:spLocks noChangeArrowheads="1"/>
            </p:cNvSpPr>
            <p:nvPr/>
          </p:nvSpPr>
          <p:spPr bwMode="auto">
            <a:xfrm>
              <a:off x="2453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0" name="Oval 19"/>
            <p:cNvSpPr>
              <a:spLocks noChangeArrowheads="1"/>
            </p:cNvSpPr>
            <p:nvPr/>
          </p:nvSpPr>
          <p:spPr bwMode="auto">
            <a:xfrm>
              <a:off x="1817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1" name="Oval 20"/>
            <p:cNvSpPr>
              <a:spLocks noChangeArrowheads="1"/>
            </p:cNvSpPr>
            <p:nvPr/>
          </p:nvSpPr>
          <p:spPr bwMode="auto">
            <a:xfrm>
              <a:off x="2453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Line 21"/>
            <p:cNvSpPr>
              <a:spLocks noChangeShapeType="1"/>
            </p:cNvSpPr>
            <p:nvPr/>
          </p:nvSpPr>
          <p:spPr bwMode="auto">
            <a:xfrm>
              <a:off x="1908" y="2432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Line 22"/>
            <p:cNvSpPr>
              <a:spLocks noChangeShapeType="1"/>
            </p:cNvSpPr>
            <p:nvPr/>
          </p:nvSpPr>
          <p:spPr bwMode="auto">
            <a:xfrm>
              <a:off x="1863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Line 23"/>
            <p:cNvSpPr>
              <a:spLocks noChangeShapeType="1"/>
            </p:cNvSpPr>
            <p:nvPr/>
          </p:nvSpPr>
          <p:spPr bwMode="auto">
            <a:xfrm>
              <a:off x="2498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38" name="Group 51"/>
          <p:cNvGrpSpPr/>
          <p:nvPr/>
        </p:nvGrpSpPr>
        <p:grpSpPr bwMode="auto">
          <a:xfrm>
            <a:off x="4918710" y="4176365"/>
            <a:ext cx="1168400" cy="1008062"/>
            <a:chOff x="3188" y="2387"/>
            <a:chExt cx="736" cy="635"/>
          </a:xfrm>
        </p:grpSpPr>
        <p:grpSp>
          <p:nvGrpSpPr>
            <p:cNvPr id="18447" name="Group 40"/>
            <p:cNvGrpSpPr/>
            <p:nvPr/>
          </p:nvGrpSpPr>
          <p:grpSpPr bwMode="auto">
            <a:xfrm>
              <a:off x="3198" y="2387"/>
              <a:ext cx="726" cy="635"/>
              <a:chOff x="1817" y="2387"/>
              <a:chExt cx="726" cy="635"/>
            </a:xfrm>
          </p:grpSpPr>
          <p:sp>
            <p:nvSpPr>
              <p:cNvPr id="18451" name="Oval 41"/>
              <p:cNvSpPr>
                <a:spLocks noChangeArrowheads="1"/>
              </p:cNvSpPr>
              <p:nvPr/>
            </p:nvSpPr>
            <p:spPr bwMode="auto">
              <a:xfrm>
                <a:off x="1817" y="2387"/>
                <a:ext cx="90" cy="9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2" name="Oval 42"/>
              <p:cNvSpPr>
                <a:spLocks noChangeArrowheads="1"/>
              </p:cNvSpPr>
              <p:nvPr/>
            </p:nvSpPr>
            <p:spPr bwMode="auto">
              <a:xfrm>
                <a:off x="2453" y="2387"/>
                <a:ext cx="90" cy="9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3" name="Oval 43"/>
              <p:cNvSpPr>
                <a:spLocks noChangeArrowheads="1"/>
              </p:cNvSpPr>
              <p:nvPr/>
            </p:nvSpPr>
            <p:spPr bwMode="auto">
              <a:xfrm>
                <a:off x="1817" y="2932"/>
                <a:ext cx="90" cy="9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4" name="Oval 44"/>
              <p:cNvSpPr>
                <a:spLocks noChangeArrowheads="1"/>
              </p:cNvSpPr>
              <p:nvPr/>
            </p:nvSpPr>
            <p:spPr bwMode="auto">
              <a:xfrm>
                <a:off x="2453" y="2932"/>
                <a:ext cx="90" cy="9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5" name="Line 45"/>
              <p:cNvSpPr>
                <a:spLocks noChangeShapeType="1"/>
              </p:cNvSpPr>
              <p:nvPr/>
            </p:nvSpPr>
            <p:spPr bwMode="auto">
              <a:xfrm>
                <a:off x="1908" y="2432"/>
                <a:ext cx="5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6" name="Line 46"/>
              <p:cNvSpPr>
                <a:spLocks noChangeShapeType="1"/>
              </p:cNvSpPr>
              <p:nvPr/>
            </p:nvSpPr>
            <p:spPr bwMode="auto">
              <a:xfrm>
                <a:off x="1863" y="2478"/>
                <a:ext cx="0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7" name="Line 47"/>
              <p:cNvSpPr>
                <a:spLocks noChangeShapeType="1"/>
              </p:cNvSpPr>
              <p:nvPr/>
            </p:nvSpPr>
            <p:spPr bwMode="auto">
              <a:xfrm>
                <a:off x="2498" y="2478"/>
                <a:ext cx="0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48" name="AutoShape 48"/>
            <p:cNvSpPr>
              <a:spLocks noChangeArrowheads="1"/>
            </p:cNvSpPr>
            <p:nvPr/>
          </p:nvSpPr>
          <p:spPr bwMode="auto">
            <a:xfrm rot="5400000">
              <a:off x="3493" y="2364"/>
              <a:ext cx="9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9" name="AutoShape 49"/>
            <p:cNvSpPr>
              <a:spLocks noChangeArrowheads="1"/>
            </p:cNvSpPr>
            <p:nvPr/>
          </p:nvSpPr>
          <p:spPr bwMode="auto">
            <a:xfrm>
              <a:off x="3188" y="2659"/>
              <a:ext cx="9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AutoShape 50"/>
            <p:cNvSpPr>
              <a:spLocks noChangeArrowheads="1"/>
            </p:cNvSpPr>
            <p:nvPr/>
          </p:nvSpPr>
          <p:spPr bwMode="auto">
            <a:xfrm rot="10800000">
              <a:off x="3833" y="2659"/>
              <a:ext cx="9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439" name="Group 52"/>
          <p:cNvGrpSpPr/>
          <p:nvPr/>
        </p:nvGrpSpPr>
        <p:grpSpPr bwMode="auto">
          <a:xfrm>
            <a:off x="6518910" y="4176365"/>
            <a:ext cx="1152525" cy="1008062"/>
            <a:chOff x="1817" y="2387"/>
            <a:chExt cx="726" cy="635"/>
          </a:xfrm>
        </p:grpSpPr>
        <p:sp>
          <p:nvSpPr>
            <p:cNvPr id="18440" name="Oval 53"/>
            <p:cNvSpPr>
              <a:spLocks noChangeArrowheads="1"/>
            </p:cNvSpPr>
            <p:nvPr/>
          </p:nvSpPr>
          <p:spPr bwMode="auto">
            <a:xfrm>
              <a:off x="1817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1" name="Oval 54"/>
            <p:cNvSpPr>
              <a:spLocks noChangeArrowheads="1"/>
            </p:cNvSpPr>
            <p:nvPr/>
          </p:nvSpPr>
          <p:spPr bwMode="auto">
            <a:xfrm>
              <a:off x="2453" y="2387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2" name="Oval 55"/>
            <p:cNvSpPr>
              <a:spLocks noChangeArrowheads="1"/>
            </p:cNvSpPr>
            <p:nvPr/>
          </p:nvSpPr>
          <p:spPr bwMode="auto">
            <a:xfrm>
              <a:off x="1817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3" name="Oval 56"/>
            <p:cNvSpPr>
              <a:spLocks noChangeArrowheads="1"/>
            </p:cNvSpPr>
            <p:nvPr/>
          </p:nvSpPr>
          <p:spPr bwMode="auto">
            <a:xfrm>
              <a:off x="2453" y="2932"/>
              <a:ext cx="90" cy="9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44" name="Line 57"/>
            <p:cNvSpPr>
              <a:spLocks noChangeShapeType="1"/>
            </p:cNvSpPr>
            <p:nvPr/>
          </p:nvSpPr>
          <p:spPr bwMode="auto">
            <a:xfrm>
              <a:off x="1908" y="2432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5" name="Line 58"/>
            <p:cNvSpPr>
              <a:spLocks noChangeShapeType="1"/>
            </p:cNvSpPr>
            <p:nvPr/>
          </p:nvSpPr>
          <p:spPr bwMode="auto">
            <a:xfrm>
              <a:off x="1863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46" name="Line 59"/>
            <p:cNvSpPr>
              <a:spLocks noChangeShapeType="1"/>
            </p:cNvSpPr>
            <p:nvPr/>
          </p:nvSpPr>
          <p:spPr bwMode="auto">
            <a:xfrm>
              <a:off x="2498" y="2478"/>
              <a:ext cx="0" cy="4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47739" y="5762279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标定图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123728" y="5733256"/>
            <a:ext cx="1436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非标定图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75917" y="5735327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90347" y="5769720"/>
            <a:ext cx="1335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的基图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5" grpId="0"/>
      <p:bldP spid="46" grpId="0"/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相邻</a:t>
            </a:r>
            <a:r>
              <a:rPr lang="en-US" altLang="zh-CN" sz="4000" dirty="0"/>
              <a:t>(adjacent) </a:t>
            </a:r>
            <a:r>
              <a:rPr lang="zh-CN" altLang="en-US" sz="4000" dirty="0"/>
              <a:t>关联</a:t>
            </a:r>
            <a:r>
              <a:rPr lang="en-US" altLang="zh-CN" sz="4000" dirty="0"/>
              <a:t>(incident)</a:t>
            </a:r>
            <a:endParaRPr lang="en-US" altLang="zh-CN" sz="40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49" y="1340645"/>
            <a:ext cx="5959679" cy="3672532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zh-CN" altLang="en-US" dirty="0"/>
              <a:t>图</a:t>
            </a:r>
            <a:r>
              <a:rPr lang="en-US" altLang="zh-CN" dirty="0"/>
              <a:t>G=&lt;V,E&gt;</a:t>
            </a:r>
            <a:r>
              <a:rPr lang="zh-CN" altLang="en-US" dirty="0"/>
              <a:t>，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=(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端点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相邻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邻接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(adjacent): 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点与点相邻</a:t>
            </a:r>
            <a:endParaRPr lang="en-US" altLang="zh-CN" dirty="0"/>
          </a:p>
          <a:p>
            <a:pPr marL="457200" lvl="1" indent="0" eaLnBrk="1" hangingPunct="1">
              <a:spcBef>
                <a:spcPts val="600"/>
              </a:spcBef>
              <a:buNone/>
            </a:pP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与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相邻当且仅当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zh-CN" altLang="en-US" dirty="0"/>
              <a:t>与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之间有边相连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边与边相邻</a:t>
            </a:r>
            <a:endParaRPr lang="en-US" altLang="zh-CN" dirty="0"/>
          </a:p>
          <a:p>
            <a:pPr marL="457200" lvl="1" indent="0" eaLnBrk="1" hangingPunct="1">
              <a:spcBef>
                <a:spcPts val="600"/>
              </a:spcBef>
              <a:buNone/>
            </a:pPr>
            <a:r>
              <a:rPr lang="en-US" altLang="zh-CN" i="1" dirty="0" err="1"/>
              <a:t>e</a:t>
            </a:r>
            <a:r>
              <a:rPr lang="en-US" altLang="zh-CN" i="1" baseline="-25000" dirty="0" err="1"/>
              <a:t>i</a:t>
            </a:r>
            <a:r>
              <a:rPr lang="zh-CN" altLang="en-US" dirty="0"/>
              <a:t>与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相邻当且仅当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i</a:t>
            </a:r>
            <a:r>
              <a:rPr lang="zh-CN" altLang="en-US" dirty="0"/>
              <a:t>与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有共同的端点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572901" y="2852936"/>
            <a:ext cx="1296144" cy="684014"/>
            <a:chOff x="5364088" y="2852936"/>
            <a:chExt cx="1296144" cy="684014"/>
          </a:xfrm>
        </p:grpSpPr>
        <p:grpSp>
          <p:nvGrpSpPr>
            <p:cNvPr id="19460" name="Group 27"/>
            <p:cNvGrpSpPr/>
            <p:nvPr/>
          </p:nvGrpSpPr>
          <p:grpSpPr bwMode="auto">
            <a:xfrm>
              <a:off x="5508104" y="3321050"/>
              <a:ext cx="1006475" cy="215900"/>
              <a:chOff x="4332" y="1026"/>
              <a:chExt cx="634" cy="136"/>
            </a:xfrm>
          </p:grpSpPr>
          <p:sp>
            <p:nvSpPr>
              <p:cNvPr id="19534" name="Oval 7"/>
              <p:cNvSpPr>
                <a:spLocks noChangeArrowheads="1"/>
              </p:cNvSpPr>
              <p:nvPr/>
            </p:nvSpPr>
            <p:spPr bwMode="auto">
              <a:xfrm>
                <a:off x="4332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5" name="Oval 8"/>
              <p:cNvSpPr>
                <a:spLocks noChangeArrowheads="1"/>
              </p:cNvSpPr>
              <p:nvPr/>
            </p:nvSpPr>
            <p:spPr bwMode="auto">
              <a:xfrm>
                <a:off x="4830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6" name="Line 10"/>
              <p:cNvSpPr>
                <a:spLocks noChangeShapeType="1"/>
              </p:cNvSpPr>
              <p:nvPr/>
            </p:nvSpPr>
            <p:spPr bwMode="auto">
              <a:xfrm>
                <a:off x="4468" y="1117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5364088" y="2852936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6281602" y="2852936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520661" y="3671542"/>
            <a:ext cx="2083787" cy="693438"/>
            <a:chOff x="5311848" y="3671542"/>
            <a:chExt cx="2083787" cy="693438"/>
          </a:xfrm>
        </p:grpSpPr>
        <p:grpSp>
          <p:nvGrpSpPr>
            <p:cNvPr id="19461" name="Group 26"/>
            <p:cNvGrpSpPr/>
            <p:nvPr/>
          </p:nvGrpSpPr>
          <p:grpSpPr bwMode="auto">
            <a:xfrm>
              <a:off x="5470797" y="4149080"/>
              <a:ext cx="1871663" cy="215900"/>
              <a:chOff x="4332" y="754"/>
              <a:chExt cx="1179" cy="136"/>
            </a:xfrm>
          </p:grpSpPr>
          <p:sp>
            <p:nvSpPr>
              <p:cNvPr id="19529" name="Oval 4"/>
              <p:cNvSpPr>
                <a:spLocks noChangeArrowheads="1"/>
              </p:cNvSpPr>
              <p:nvPr/>
            </p:nvSpPr>
            <p:spPr bwMode="auto">
              <a:xfrm>
                <a:off x="4332" y="75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0" name="Oval 5"/>
              <p:cNvSpPr>
                <a:spLocks noChangeArrowheads="1"/>
              </p:cNvSpPr>
              <p:nvPr/>
            </p:nvSpPr>
            <p:spPr bwMode="auto">
              <a:xfrm>
                <a:off x="4830" y="75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1" name="Oval 6"/>
              <p:cNvSpPr>
                <a:spLocks noChangeArrowheads="1"/>
              </p:cNvSpPr>
              <p:nvPr/>
            </p:nvSpPr>
            <p:spPr bwMode="auto">
              <a:xfrm>
                <a:off x="5375" y="75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chemeClr val="bg1"/>
                  </a:gs>
                  <a:gs pos="100000">
                    <a:srgbClr val="5F5F5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2" name="Line 14"/>
              <p:cNvSpPr>
                <a:spLocks noChangeShapeType="1"/>
              </p:cNvSpPr>
              <p:nvPr/>
            </p:nvSpPr>
            <p:spPr bwMode="auto">
              <a:xfrm>
                <a:off x="4450" y="808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3" name="Line 15"/>
              <p:cNvSpPr>
                <a:spLocks noChangeShapeType="1"/>
              </p:cNvSpPr>
              <p:nvPr/>
            </p:nvSpPr>
            <p:spPr bwMode="auto">
              <a:xfrm>
                <a:off x="4967" y="817"/>
                <a:ext cx="453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4" name="文本框 83"/>
            <p:cNvSpPr txBox="1"/>
            <p:nvPr/>
          </p:nvSpPr>
          <p:spPr>
            <a:xfrm>
              <a:off x="5792657" y="3737917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6590678" y="3737421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5311848" y="3709097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017005" y="3671542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6153785" y="3715992"/>
              <a:ext cx="4331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323527" y="5013176"/>
            <a:ext cx="8620448" cy="16561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+mn-lt"/>
                <a:ea typeface="+mn-ea"/>
              </a:rPr>
              <a:t>关联</a:t>
            </a:r>
            <a:r>
              <a:rPr lang="en-US" altLang="zh-CN" sz="2400" b="1" dirty="0">
                <a:latin typeface="+mn-lt"/>
                <a:ea typeface="+mn-ea"/>
              </a:rPr>
              <a:t>(incident): </a:t>
            </a:r>
            <a:r>
              <a:rPr lang="zh-CN" altLang="en-US" sz="2400" b="1" dirty="0">
                <a:latin typeface="+mn-lt"/>
                <a:ea typeface="+mn-ea"/>
              </a:rPr>
              <a:t>点与边</a:t>
            </a:r>
            <a:endParaRPr lang="en-US" altLang="zh-CN" sz="2400" b="1" dirty="0">
              <a:latin typeface="+mn-lt"/>
              <a:ea typeface="+mn-ea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</a:pPr>
            <a:r>
              <a:rPr lang="zh-CN" altLang="en-US" sz="2400" b="1" dirty="0">
                <a:latin typeface="+mn-lt"/>
                <a:ea typeface="+mn-ea"/>
              </a:rPr>
              <a:t>当顶点</a:t>
            </a:r>
            <a:r>
              <a:rPr lang="en-US" altLang="zh-CN" sz="2400" b="1" i="1" dirty="0">
                <a:latin typeface="+mn-lt"/>
                <a:ea typeface="+mn-ea"/>
              </a:rPr>
              <a:t>v</a:t>
            </a:r>
            <a:r>
              <a:rPr lang="en-US" altLang="zh-CN" sz="2400" b="1" i="1" baseline="-25000" dirty="0">
                <a:latin typeface="+mn-lt"/>
                <a:ea typeface="+mn-ea"/>
              </a:rPr>
              <a:t>i</a:t>
            </a:r>
            <a:r>
              <a:rPr lang="zh-CN" altLang="en-US" sz="2400" b="1" dirty="0">
                <a:latin typeface="+mn-lt"/>
                <a:ea typeface="+mn-ea"/>
              </a:rPr>
              <a:t>是边</a:t>
            </a:r>
            <a:r>
              <a:rPr lang="en-US" altLang="zh-CN" sz="2400" b="1" i="1" dirty="0" err="1">
                <a:latin typeface="+mn-lt"/>
                <a:ea typeface="+mn-ea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zh-CN" altLang="en-US" sz="2400" b="1" dirty="0">
                <a:latin typeface="+mn-lt"/>
                <a:ea typeface="+mn-ea"/>
              </a:rPr>
              <a:t>的端点时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+mn-lt"/>
                <a:ea typeface="+mn-ea"/>
                <a:cs typeface="Times New Roman" panose="02020603050405020304" pitchFamily="18" charset="0"/>
              </a:rPr>
              <a:t> v</a:t>
            </a:r>
            <a:r>
              <a:rPr lang="en-US" altLang="zh-CN" sz="2400" b="1" i="1" baseline="-25000" dirty="0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互相关联。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</a:pP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+mn-lt"/>
                <a:ea typeface="+mn-ea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zh-CN" altLang="en-US" sz="2400" b="1" dirty="0">
                <a:latin typeface="+mn-lt"/>
                <a:ea typeface="+mn-ea"/>
              </a:rPr>
              <a:t>与</a:t>
            </a:r>
            <a:r>
              <a:rPr lang="en-US" altLang="zh-CN" sz="2400" b="1" i="1" dirty="0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的关联次数为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否则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关联次数为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400" b="1" dirty="0">
              <a:latin typeface="+mn-lt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92" name="Group 52"/>
          <p:cNvGrpSpPr/>
          <p:nvPr/>
        </p:nvGrpSpPr>
        <p:grpSpPr bwMode="auto">
          <a:xfrm>
            <a:off x="6652622" y="5178071"/>
            <a:ext cx="1076325" cy="647700"/>
            <a:chOff x="1688" y="1933"/>
            <a:chExt cx="678" cy="408"/>
          </a:xfrm>
        </p:grpSpPr>
        <p:grpSp>
          <p:nvGrpSpPr>
            <p:cNvPr id="93" name="Group 38"/>
            <p:cNvGrpSpPr/>
            <p:nvPr/>
          </p:nvGrpSpPr>
          <p:grpSpPr bwMode="auto">
            <a:xfrm>
              <a:off x="1701" y="2205"/>
              <a:ext cx="634" cy="136"/>
              <a:chOff x="4332" y="1026"/>
              <a:chExt cx="634" cy="136"/>
            </a:xfrm>
          </p:grpSpPr>
          <p:sp>
            <p:nvSpPr>
              <p:cNvPr id="96" name="Oval 39"/>
              <p:cNvSpPr>
                <a:spLocks noChangeArrowheads="1"/>
              </p:cNvSpPr>
              <p:nvPr/>
            </p:nvSpPr>
            <p:spPr bwMode="auto">
              <a:xfrm>
                <a:off x="4332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Oval 40"/>
              <p:cNvSpPr>
                <a:spLocks noChangeArrowheads="1"/>
              </p:cNvSpPr>
              <p:nvPr/>
            </p:nvSpPr>
            <p:spPr bwMode="auto">
              <a:xfrm>
                <a:off x="4830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41"/>
              <p:cNvSpPr>
                <a:spLocks noChangeShapeType="1"/>
              </p:cNvSpPr>
              <p:nvPr/>
            </p:nvSpPr>
            <p:spPr bwMode="auto">
              <a:xfrm>
                <a:off x="4468" y="1117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4" name="Text Box 42"/>
            <p:cNvSpPr txBox="1">
              <a:spLocks noChangeArrowheads="1"/>
            </p:cNvSpPr>
            <p:nvPr/>
          </p:nvSpPr>
          <p:spPr bwMode="auto">
            <a:xfrm>
              <a:off x="1688" y="19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95" name="Text Box 43"/>
            <p:cNvSpPr txBox="1">
              <a:spLocks noChangeArrowheads="1"/>
            </p:cNvSpPr>
            <p:nvPr/>
          </p:nvSpPr>
          <p:spPr bwMode="auto">
            <a:xfrm>
              <a:off x="2154" y="1933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9" name="Group 56"/>
          <p:cNvGrpSpPr/>
          <p:nvPr/>
        </p:nvGrpSpPr>
        <p:grpSpPr bwMode="auto">
          <a:xfrm>
            <a:off x="8119473" y="5220746"/>
            <a:ext cx="647700" cy="719137"/>
            <a:chOff x="3969" y="1934"/>
            <a:chExt cx="408" cy="453"/>
          </a:xfrm>
        </p:grpSpPr>
        <p:sp>
          <p:nvSpPr>
            <p:cNvPr id="100" name="Oval 54"/>
            <p:cNvSpPr>
              <a:spLocks noChangeArrowheads="1"/>
            </p:cNvSpPr>
            <p:nvPr/>
          </p:nvSpPr>
          <p:spPr bwMode="auto">
            <a:xfrm>
              <a:off x="3969" y="1934"/>
              <a:ext cx="408" cy="4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1" name="Oval 53"/>
            <p:cNvSpPr>
              <a:spLocks noChangeArrowheads="1"/>
            </p:cNvSpPr>
            <p:nvPr/>
          </p:nvSpPr>
          <p:spPr bwMode="auto">
            <a:xfrm>
              <a:off x="4150" y="2251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55"/>
            <p:cNvSpPr txBox="1">
              <a:spLocks noChangeArrowheads="1"/>
            </p:cNvSpPr>
            <p:nvPr/>
          </p:nvSpPr>
          <p:spPr bwMode="auto">
            <a:xfrm>
              <a:off x="4074" y="199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2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46"/>
          <p:cNvSpPr>
            <a:spLocks noChangeShapeType="1"/>
          </p:cNvSpPr>
          <p:nvPr/>
        </p:nvSpPr>
        <p:spPr bwMode="auto">
          <a:xfrm>
            <a:off x="5246511" y="2301469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邻接</a:t>
            </a:r>
            <a:r>
              <a:rPr lang="en-US" altLang="zh-CN" sz="4000" dirty="0"/>
              <a:t>(adjacent) </a:t>
            </a:r>
            <a:r>
              <a:rPr lang="zh-CN" altLang="en-US" sz="4000" dirty="0"/>
              <a:t>关联</a:t>
            </a:r>
            <a:r>
              <a:rPr lang="en-US" altLang="zh-CN" sz="4000" dirty="0"/>
              <a:t>(incident)</a:t>
            </a:r>
            <a:endParaRPr lang="en-US" altLang="zh-CN" sz="40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49" y="1340645"/>
            <a:ext cx="7068548" cy="3384499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zh-CN" altLang="en-US" dirty="0"/>
              <a:t>图</a:t>
            </a:r>
            <a:r>
              <a:rPr lang="en-US" altLang="zh-CN" dirty="0"/>
              <a:t>D=&lt;V,E&gt;</a:t>
            </a:r>
            <a:r>
              <a:rPr lang="zh-CN" altLang="en-US" dirty="0"/>
              <a:t>，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=&lt;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&gt;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始点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FF0000"/>
                </a:solidFill>
              </a:rPr>
              <a:t>终点</a:t>
            </a:r>
            <a:r>
              <a:rPr lang="en-US" altLang="zh-CN" dirty="0"/>
              <a:t>: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相邻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邻接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(adjacent): 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点与点相邻</a:t>
            </a:r>
            <a:endParaRPr lang="en-US" altLang="zh-CN" dirty="0"/>
          </a:p>
          <a:p>
            <a:pPr marL="457200" lvl="1" indent="0" eaLnBrk="1" hangingPunct="1">
              <a:spcBef>
                <a:spcPts val="600"/>
              </a:spcBef>
              <a:buNone/>
            </a:pPr>
            <a:r>
              <a:rPr lang="zh-CN" altLang="en-US" dirty="0">
                <a:solidFill>
                  <a:srgbClr val="FF0000"/>
                </a:solidFill>
              </a:rPr>
              <a:t>邻接到：</a:t>
            </a:r>
            <a:r>
              <a:rPr lang="en-US" altLang="zh-CN" i="1" dirty="0"/>
              <a:t> v</a:t>
            </a:r>
            <a:r>
              <a:rPr lang="en-US" altLang="zh-CN" i="1" baseline="-25000" dirty="0"/>
              <a:t>i</a:t>
            </a:r>
            <a:r>
              <a:rPr lang="zh-CN" altLang="en-US" dirty="0"/>
              <a:t>邻接到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；</a:t>
            </a:r>
            <a:r>
              <a:rPr lang="zh-CN" altLang="en-US" dirty="0">
                <a:solidFill>
                  <a:srgbClr val="FF0000"/>
                </a:solidFill>
              </a:rPr>
              <a:t>邻接于：</a:t>
            </a:r>
            <a:r>
              <a:rPr lang="en-US" altLang="zh-CN" i="1" dirty="0"/>
              <a:t>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邻接于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4945015" y="1678013"/>
            <a:ext cx="1296144" cy="684014"/>
            <a:chOff x="5364088" y="2852936"/>
            <a:chExt cx="1296144" cy="684014"/>
          </a:xfrm>
        </p:grpSpPr>
        <p:grpSp>
          <p:nvGrpSpPr>
            <p:cNvPr id="19460" name="Group 27"/>
            <p:cNvGrpSpPr/>
            <p:nvPr/>
          </p:nvGrpSpPr>
          <p:grpSpPr bwMode="auto">
            <a:xfrm>
              <a:off x="5508104" y="3321050"/>
              <a:ext cx="1006475" cy="215900"/>
              <a:chOff x="4332" y="1026"/>
              <a:chExt cx="634" cy="136"/>
            </a:xfrm>
          </p:grpSpPr>
          <p:sp>
            <p:nvSpPr>
              <p:cNvPr id="19534" name="Oval 7"/>
              <p:cNvSpPr>
                <a:spLocks noChangeArrowheads="1"/>
              </p:cNvSpPr>
              <p:nvPr/>
            </p:nvSpPr>
            <p:spPr bwMode="auto">
              <a:xfrm>
                <a:off x="4332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5" name="Oval 8"/>
              <p:cNvSpPr>
                <a:spLocks noChangeArrowheads="1"/>
              </p:cNvSpPr>
              <p:nvPr/>
            </p:nvSpPr>
            <p:spPr bwMode="auto">
              <a:xfrm>
                <a:off x="4830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5364088" y="2852936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6281602" y="2852936"/>
              <a:ext cx="3786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altLang="zh-CN" sz="2400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CN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323527" y="4578579"/>
            <a:ext cx="8620448" cy="16561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b="1" dirty="0">
                <a:latin typeface="+mn-lt"/>
                <a:ea typeface="+mn-ea"/>
              </a:rPr>
              <a:t>关联</a:t>
            </a:r>
            <a:r>
              <a:rPr lang="en-US" altLang="zh-CN" sz="2400" b="1" dirty="0">
                <a:latin typeface="+mn-lt"/>
                <a:ea typeface="+mn-ea"/>
              </a:rPr>
              <a:t>(incident): </a:t>
            </a:r>
            <a:r>
              <a:rPr lang="zh-CN" altLang="en-US" sz="2400" b="1" dirty="0">
                <a:latin typeface="+mn-lt"/>
                <a:ea typeface="+mn-ea"/>
              </a:rPr>
              <a:t>点与边</a:t>
            </a:r>
            <a:endParaRPr lang="en-US" altLang="zh-CN" sz="2400" b="1" dirty="0">
              <a:latin typeface="+mn-lt"/>
              <a:ea typeface="+mn-ea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</a:pPr>
            <a:r>
              <a:rPr lang="zh-CN" altLang="en-US" sz="2400" b="1" dirty="0">
                <a:latin typeface="+mn-lt"/>
                <a:ea typeface="+mn-ea"/>
              </a:rPr>
              <a:t>当顶点</a:t>
            </a:r>
            <a:r>
              <a:rPr lang="en-US" altLang="zh-CN" sz="2400" b="1" i="1" dirty="0">
                <a:latin typeface="+mn-lt"/>
                <a:ea typeface="+mn-ea"/>
              </a:rPr>
              <a:t>v</a:t>
            </a:r>
            <a:r>
              <a:rPr lang="en-US" altLang="zh-CN" sz="2400" b="1" i="1" baseline="-25000" dirty="0">
                <a:latin typeface="+mn-lt"/>
                <a:ea typeface="+mn-ea"/>
              </a:rPr>
              <a:t>i</a:t>
            </a:r>
            <a:r>
              <a:rPr lang="zh-CN" altLang="en-US" sz="2400" b="1" dirty="0">
                <a:latin typeface="+mn-lt"/>
                <a:ea typeface="+mn-ea"/>
              </a:rPr>
              <a:t>是边</a:t>
            </a:r>
            <a:r>
              <a:rPr lang="en-US" altLang="zh-CN" sz="2400" b="1" i="1" dirty="0" err="1">
                <a:latin typeface="+mn-lt"/>
                <a:ea typeface="+mn-ea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zh-CN" altLang="en-US" sz="2400" b="1" dirty="0">
                <a:latin typeface="+mn-lt"/>
                <a:ea typeface="+mn-ea"/>
              </a:rPr>
              <a:t>的端点时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+mn-lt"/>
                <a:ea typeface="+mn-ea"/>
                <a:cs typeface="Times New Roman" panose="02020603050405020304" pitchFamily="18" charset="0"/>
              </a:rPr>
              <a:t> v</a:t>
            </a:r>
            <a:r>
              <a:rPr lang="en-US" altLang="zh-CN" sz="2400" b="1" i="1" baseline="-25000" dirty="0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与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互相关联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</a:rPr>
              <a:t>.</a:t>
            </a:r>
            <a:endParaRPr lang="en-US" altLang="zh-CN" sz="2400" b="1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  <a:buClr>
                <a:schemeClr val="folHlink"/>
              </a:buClr>
              <a:buSzPct val="75000"/>
            </a:pP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当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dirty="0" err="1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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j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</a:rPr>
              <a:t>时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</a:rPr>
              <a:t>, </a:t>
            </a:r>
            <a:r>
              <a:rPr lang="en-US" altLang="zh-CN" sz="2400" b="1" i="1" dirty="0" err="1">
                <a:latin typeface="+mn-lt"/>
                <a:ea typeface="+mn-ea"/>
              </a:rPr>
              <a:t>e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zh-CN" altLang="en-US" sz="2400" b="1" dirty="0">
                <a:latin typeface="+mn-lt"/>
                <a:ea typeface="+mn-ea"/>
              </a:rPr>
              <a:t>与</a:t>
            </a:r>
            <a:r>
              <a:rPr lang="en-US" altLang="zh-CN" sz="2400" b="1" i="1" dirty="0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>
                <a:latin typeface="+mn-lt"/>
                <a:ea typeface="+mn-ea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或</a:t>
            </a:r>
            <a:r>
              <a:rPr lang="en-US" altLang="zh-CN" sz="2400" b="1" i="1" dirty="0" err="1">
                <a:latin typeface="+mn-lt"/>
                <a:ea typeface="+mn-ea"/>
                <a:cs typeface="Times New Roman" panose="02020603050405020304" pitchFamily="18" charset="0"/>
              </a:rPr>
              <a:t>v</a:t>
            </a:r>
            <a:r>
              <a:rPr lang="en-US" altLang="zh-CN" sz="2400" b="1" i="1" baseline="-25000" dirty="0" err="1">
                <a:latin typeface="+mn-lt"/>
                <a:ea typeface="+mn-ea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的关联次数为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1;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否则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关联次数为</a:t>
            </a:r>
            <a:r>
              <a:rPr lang="en-US" altLang="zh-CN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400" b="1" dirty="0">
              <a:latin typeface="+mn-lt"/>
              <a:ea typeface="+mn-ea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grpSp>
        <p:nvGrpSpPr>
          <p:cNvPr id="35" name="Group 51"/>
          <p:cNvGrpSpPr/>
          <p:nvPr/>
        </p:nvGrpSpPr>
        <p:grpSpPr bwMode="auto">
          <a:xfrm>
            <a:off x="4401643" y="4254729"/>
            <a:ext cx="1271588" cy="649288"/>
            <a:chOff x="2744" y="1933"/>
            <a:chExt cx="801" cy="409"/>
          </a:xfrm>
        </p:grpSpPr>
        <p:sp>
          <p:nvSpPr>
            <p:cNvPr id="36" name="Oval 45"/>
            <p:cNvSpPr>
              <a:spLocks noChangeArrowheads="1"/>
            </p:cNvSpPr>
            <p:nvPr/>
          </p:nvSpPr>
          <p:spPr bwMode="auto">
            <a:xfrm>
              <a:off x="2789" y="2205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46"/>
            <p:cNvSpPr>
              <a:spLocks noChangeShapeType="1"/>
            </p:cNvSpPr>
            <p:nvPr/>
          </p:nvSpPr>
          <p:spPr bwMode="auto">
            <a:xfrm>
              <a:off x="2925" y="2295"/>
              <a:ext cx="45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Oval 47"/>
            <p:cNvSpPr>
              <a:spLocks noChangeArrowheads="1"/>
            </p:cNvSpPr>
            <p:nvPr/>
          </p:nvSpPr>
          <p:spPr bwMode="auto">
            <a:xfrm>
              <a:off x="3379" y="2205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AutoShape 48"/>
            <p:cNvSpPr>
              <a:spLocks noChangeArrowheads="1"/>
            </p:cNvSpPr>
            <p:nvPr/>
          </p:nvSpPr>
          <p:spPr bwMode="auto">
            <a:xfrm rot="5400000">
              <a:off x="3083" y="2228"/>
              <a:ext cx="91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Text Box 49"/>
            <p:cNvSpPr txBox="1">
              <a:spLocks noChangeArrowheads="1"/>
            </p:cNvSpPr>
            <p:nvPr/>
          </p:nvSpPr>
          <p:spPr bwMode="auto">
            <a:xfrm>
              <a:off x="2744" y="1933"/>
              <a:ext cx="21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1" name="Text Box 50"/>
            <p:cNvSpPr txBox="1">
              <a:spLocks noChangeArrowheads="1"/>
            </p:cNvSpPr>
            <p:nvPr/>
          </p:nvSpPr>
          <p:spPr bwMode="auto">
            <a:xfrm>
              <a:off x="3334" y="1933"/>
              <a:ext cx="211" cy="2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1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2" name="Group 61"/>
          <p:cNvGrpSpPr/>
          <p:nvPr/>
        </p:nvGrpSpPr>
        <p:grpSpPr bwMode="auto">
          <a:xfrm>
            <a:off x="6635070" y="4290447"/>
            <a:ext cx="647700" cy="785812"/>
            <a:chOff x="4740" y="1937"/>
            <a:chExt cx="408" cy="495"/>
          </a:xfrm>
        </p:grpSpPr>
        <p:sp>
          <p:nvSpPr>
            <p:cNvPr id="43" name="Oval 57"/>
            <p:cNvSpPr>
              <a:spLocks noChangeArrowheads="1"/>
            </p:cNvSpPr>
            <p:nvPr/>
          </p:nvSpPr>
          <p:spPr bwMode="auto">
            <a:xfrm>
              <a:off x="4740" y="1979"/>
              <a:ext cx="408" cy="4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Oval 58"/>
            <p:cNvSpPr>
              <a:spLocks noChangeArrowheads="1"/>
            </p:cNvSpPr>
            <p:nvPr/>
          </p:nvSpPr>
          <p:spPr bwMode="auto">
            <a:xfrm>
              <a:off x="4921" y="2296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Text Box 59"/>
            <p:cNvSpPr txBox="1">
              <a:spLocks noChangeArrowheads="1"/>
            </p:cNvSpPr>
            <p:nvPr/>
          </p:nvSpPr>
          <p:spPr bwMode="auto">
            <a:xfrm>
              <a:off x="4845" y="203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>
                  <a:latin typeface="Times New Roman" panose="02020603050405020304" pitchFamily="18" charset="0"/>
                </a:rPr>
                <a:t>?</a:t>
              </a:r>
              <a:endParaRPr lang="en-US" altLang="zh-CN" sz="2400" b="1">
                <a:latin typeface="Times New Roman" panose="02020603050405020304" pitchFamily="18" charset="0"/>
              </a:endParaRPr>
            </a:p>
          </p:txBody>
        </p:sp>
        <p:sp>
          <p:nvSpPr>
            <p:cNvPr id="46" name="AutoShape 60"/>
            <p:cNvSpPr>
              <a:spLocks noChangeArrowheads="1"/>
            </p:cNvSpPr>
            <p:nvPr/>
          </p:nvSpPr>
          <p:spPr bwMode="auto">
            <a:xfrm rot="-5400000">
              <a:off x="4921" y="1915"/>
              <a:ext cx="91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" name="AutoShape 48"/>
          <p:cNvSpPr>
            <a:spLocks noChangeArrowheads="1"/>
          </p:cNvSpPr>
          <p:nvPr/>
        </p:nvSpPr>
        <p:spPr bwMode="auto">
          <a:xfrm rot="5400000">
            <a:off x="5497336" y="2195107"/>
            <a:ext cx="144463" cy="215900"/>
          </a:xfrm>
          <a:prstGeom prst="triangle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相邻</a:t>
            </a:r>
            <a:r>
              <a:rPr lang="en-US" altLang="zh-CN" sz="4000" dirty="0"/>
              <a:t>(adjacent) </a:t>
            </a:r>
            <a:r>
              <a:rPr lang="zh-CN" altLang="en-US" sz="4000" dirty="0"/>
              <a:t>关联</a:t>
            </a:r>
            <a:r>
              <a:rPr lang="en-US" altLang="zh-CN" sz="4000" dirty="0"/>
              <a:t>(incident)</a:t>
            </a:r>
            <a:endParaRPr lang="en-US" altLang="zh-CN" sz="4000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0644"/>
            <a:ext cx="8568630" cy="5256213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buNone/>
            </a:pPr>
            <a:r>
              <a:rPr lang="zh-CN" altLang="en-US" dirty="0"/>
              <a:t>图</a:t>
            </a:r>
            <a:r>
              <a:rPr lang="en-US" altLang="zh-CN" dirty="0"/>
              <a:t>G=&lt;V,E&gt;</a:t>
            </a:r>
            <a:r>
              <a:rPr lang="zh-CN" altLang="en-US" dirty="0"/>
              <a:t>，</a:t>
            </a:r>
            <a:r>
              <a:rPr lang="en-US" altLang="zh-CN" i="1" dirty="0" err="1"/>
              <a:t>e</a:t>
            </a:r>
            <a:r>
              <a:rPr lang="en-US" altLang="zh-CN" i="1" baseline="-25000" dirty="0" err="1"/>
              <a:t>k</a:t>
            </a:r>
            <a:r>
              <a:rPr lang="en-US" altLang="zh-CN" dirty="0"/>
              <a:t>=(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环</a:t>
            </a:r>
            <a:r>
              <a:rPr lang="en-US" altLang="zh-CN" dirty="0">
                <a:solidFill>
                  <a:srgbClr val="FF0000"/>
                </a:solidFill>
              </a:rPr>
              <a:t>(loop):</a:t>
            </a:r>
            <a:r>
              <a:rPr lang="en-US" altLang="zh-CN" i="1" dirty="0"/>
              <a:t> v</a:t>
            </a:r>
            <a:r>
              <a:rPr lang="en-US" altLang="zh-CN" i="1" baseline="-25000" dirty="0"/>
              <a:t>i</a:t>
            </a:r>
            <a:r>
              <a:rPr lang="en-US" altLang="zh-CN" dirty="0"/>
              <a:t>=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dirty="0"/>
              <a:t>, </a:t>
            </a:r>
            <a:r>
              <a:rPr lang="zh-CN" altLang="en-US" dirty="0"/>
              <a:t>只与一个顶点关联的边</a:t>
            </a:r>
            <a:endParaRPr lang="zh-CN" altLang="en-US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孤立点</a:t>
            </a:r>
            <a:r>
              <a:rPr lang="en-US" altLang="zh-CN" dirty="0"/>
              <a:t>(isolated vertex): </a:t>
            </a:r>
            <a:r>
              <a:rPr lang="zh-CN" altLang="en-US" dirty="0"/>
              <a:t>没有边与其关联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平行边</a:t>
            </a:r>
            <a:r>
              <a:rPr lang="en-US" altLang="zh-CN" dirty="0"/>
              <a:t>(parallel edge):</a:t>
            </a:r>
            <a:endParaRPr lang="en-US" altLang="zh-CN" dirty="0"/>
          </a:p>
          <a:p>
            <a:pPr eaLnBrk="1" hangingPunct="1">
              <a:spcBef>
                <a:spcPts val="600"/>
              </a:spcBef>
            </a:pP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平行边的重数：两个顶点之间边的条数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/>
              <a:t>多重图：含平行边的图</a:t>
            </a:r>
            <a:endParaRPr lang="en-US" altLang="zh-CN" dirty="0"/>
          </a:p>
          <a:p>
            <a:pPr lvl="1" eaLnBrk="1" hangingPunct="1"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</a:rPr>
              <a:t>简单图</a:t>
            </a:r>
            <a:r>
              <a:rPr lang="zh-CN" altLang="en-US" dirty="0"/>
              <a:t>：不含平行边和环的图</a:t>
            </a:r>
            <a:endParaRPr lang="en-US" altLang="zh-CN" dirty="0"/>
          </a:p>
        </p:txBody>
      </p:sp>
      <p:grpSp>
        <p:nvGrpSpPr>
          <p:cNvPr id="19469" name="Group 62"/>
          <p:cNvGrpSpPr/>
          <p:nvPr/>
        </p:nvGrpSpPr>
        <p:grpSpPr bwMode="auto">
          <a:xfrm>
            <a:off x="7020272" y="1701750"/>
            <a:ext cx="647700" cy="719138"/>
            <a:chOff x="3969" y="1934"/>
            <a:chExt cx="408" cy="453"/>
          </a:xfrm>
        </p:grpSpPr>
        <p:sp>
          <p:nvSpPr>
            <p:cNvPr id="19494" name="Oval 63"/>
            <p:cNvSpPr>
              <a:spLocks noChangeArrowheads="1"/>
            </p:cNvSpPr>
            <p:nvPr/>
          </p:nvSpPr>
          <p:spPr bwMode="auto">
            <a:xfrm>
              <a:off x="3969" y="1934"/>
              <a:ext cx="408" cy="4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5" name="Oval 64"/>
            <p:cNvSpPr>
              <a:spLocks noChangeArrowheads="1"/>
            </p:cNvSpPr>
            <p:nvPr/>
          </p:nvSpPr>
          <p:spPr bwMode="auto">
            <a:xfrm>
              <a:off x="4150" y="2251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6" name="Text Box 65"/>
            <p:cNvSpPr txBox="1">
              <a:spLocks noChangeArrowheads="1"/>
            </p:cNvSpPr>
            <p:nvPr/>
          </p:nvSpPr>
          <p:spPr bwMode="auto">
            <a:xfrm>
              <a:off x="4074" y="1978"/>
              <a:ext cx="116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endParaRPr lang="zh-CN" altLang="zh-CN" sz="2400" b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9474" name="Group 76"/>
          <p:cNvGrpSpPr/>
          <p:nvPr/>
        </p:nvGrpSpPr>
        <p:grpSpPr bwMode="auto">
          <a:xfrm>
            <a:off x="3203848" y="3585989"/>
            <a:ext cx="1006475" cy="371475"/>
            <a:chOff x="2789" y="3294"/>
            <a:chExt cx="634" cy="234"/>
          </a:xfrm>
        </p:grpSpPr>
        <p:grpSp>
          <p:nvGrpSpPr>
            <p:cNvPr id="19489" name="Group 71"/>
            <p:cNvGrpSpPr/>
            <p:nvPr/>
          </p:nvGrpSpPr>
          <p:grpSpPr bwMode="auto">
            <a:xfrm>
              <a:off x="2789" y="3294"/>
              <a:ext cx="634" cy="136"/>
              <a:chOff x="4332" y="1026"/>
              <a:chExt cx="634" cy="136"/>
            </a:xfrm>
          </p:grpSpPr>
          <p:sp>
            <p:nvSpPr>
              <p:cNvPr id="19491" name="Oval 72"/>
              <p:cNvSpPr>
                <a:spLocks noChangeArrowheads="1"/>
              </p:cNvSpPr>
              <p:nvPr/>
            </p:nvSpPr>
            <p:spPr bwMode="auto">
              <a:xfrm>
                <a:off x="4332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2" name="Oval 73"/>
              <p:cNvSpPr>
                <a:spLocks noChangeArrowheads="1"/>
              </p:cNvSpPr>
              <p:nvPr/>
            </p:nvSpPr>
            <p:spPr bwMode="auto">
              <a:xfrm>
                <a:off x="4830" y="1026"/>
                <a:ext cx="136" cy="136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93" name="Line 74"/>
              <p:cNvSpPr>
                <a:spLocks noChangeShapeType="1"/>
              </p:cNvSpPr>
              <p:nvPr/>
            </p:nvSpPr>
            <p:spPr bwMode="auto">
              <a:xfrm>
                <a:off x="4468" y="1117"/>
                <a:ext cx="40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90" name="Freeform 75"/>
            <p:cNvSpPr/>
            <p:nvPr/>
          </p:nvSpPr>
          <p:spPr bwMode="auto">
            <a:xfrm>
              <a:off x="2880" y="3430"/>
              <a:ext cx="454" cy="98"/>
            </a:xfrm>
            <a:custGeom>
              <a:avLst/>
              <a:gdLst>
                <a:gd name="T0" fmla="*/ 0 w 454"/>
                <a:gd name="T1" fmla="*/ 0 h 98"/>
                <a:gd name="T2" fmla="*/ 227 w 454"/>
                <a:gd name="T3" fmla="*/ 91 h 98"/>
                <a:gd name="T4" fmla="*/ 363 w 454"/>
                <a:gd name="T5" fmla="*/ 45 h 98"/>
                <a:gd name="T6" fmla="*/ 454 w 454"/>
                <a:gd name="T7" fmla="*/ 0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4"/>
                <a:gd name="T13" fmla="*/ 0 h 98"/>
                <a:gd name="T14" fmla="*/ 454 w 454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4" h="98">
                  <a:moveTo>
                    <a:pt x="0" y="0"/>
                  </a:moveTo>
                  <a:cubicBezTo>
                    <a:pt x="83" y="42"/>
                    <a:pt x="166" y="84"/>
                    <a:pt x="227" y="91"/>
                  </a:cubicBezTo>
                  <a:cubicBezTo>
                    <a:pt x="288" y="98"/>
                    <a:pt x="325" y="60"/>
                    <a:pt x="363" y="45"/>
                  </a:cubicBezTo>
                  <a:cubicBezTo>
                    <a:pt x="401" y="30"/>
                    <a:pt x="427" y="15"/>
                    <a:pt x="454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475" name="Group 86"/>
          <p:cNvGrpSpPr/>
          <p:nvPr/>
        </p:nvGrpSpPr>
        <p:grpSpPr bwMode="auto">
          <a:xfrm>
            <a:off x="4733913" y="3552007"/>
            <a:ext cx="1006475" cy="446087"/>
            <a:chOff x="3754" y="3249"/>
            <a:chExt cx="634" cy="281"/>
          </a:xfrm>
        </p:grpSpPr>
        <p:sp>
          <p:nvSpPr>
            <p:cNvPr id="19483" name="Oval 78"/>
            <p:cNvSpPr>
              <a:spLocks noChangeArrowheads="1"/>
            </p:cNvSpPr>
            <p:nvPr/>
          </p:nvSpPr>
          <p:spPr bwMode="auto">
            <a:xfrm>
              <a:off x="3754" y="3249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4" name="Oval 79"/>
            <p:cNvSpPr>
              <a:spLocks noChangeArrowheads="1"/>
            </p:cNvSpPr>
            <p:nvPr/>
          </p:nvSpPr>
          <p:spPr bwMode="auto">
            <a:xfrm>
              <a:off x="4252" y="3249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5" name="Line 80"/>
            <p:cNvSpPr>
              <a:spLocks noChangeShapeType="1"/>
            </p:cNvSpPr>
            <p:nvPr/>
          </p:nvSpPr>
          <p:spPr bwMode="auto">
            <a:xfrm>
              <a:off x="3890" y="3340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AutoShape 81"/>
            <p:cNvSpPr>
              <a:spLocks noChangeArrowheads="1"/>
            </p:cNvSpPr>
            <p:nvPr/>
          </p:nvSpPr>
          <p:spPr bwMode="auto">
            <a:xfrm rot="5400000">
              <a:off x="4044" y="3276"/>
              <a:ext cx="10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7" name="Freeform 84"/>
            <p:cNvSpPr/>
            <p:nvPr/>
          </p:nvSpPr>
          <p:spPr bwMode="auto">
            <a:xfrm>
              <a:off x="3833" y="3385"/>
              <a:ext cx="499" cy="90"/>
            </a:xfrm>
            <a:custGeom>
              <a:avLst/>
              <a:gdLst>
                <a:gd name="T0" fmla="*/ 0 w 499"/>
                <a:gd name="T1" fmla="*/ 0 h 90"/>
                <a:gd name="T2" fmla="*/ 226 w 499"/>
                <a:gd name="T3" fmla="*/ 90 h 90"/>
                <a:gd name="T4" fmla="*/ 499 w 499"/>
                <a:gd name="T5" fmla="*/ 0 h 90"/>
                <a:gd name="T6" fmla="*/ 0 60000 65536"/>
                <a:gd name="T7" fmla="*/ 0 60000 65536"/>
                <a:gd name="T8" fmla="*/ 0 60000 65536"/>
                <a:gd name="T9" fmla="*/ 0 w 499"/>
                <a:gd name="T10" fmla="*/ 0 h 90"/>
                <a:gd name="T11" fmla="*/ 499 w 499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9" h="90">
                  <a:moveTo>
                    <a:pt x="0" y="0"/>
                  </a:moveTo>
                  <a:cubicBezTo>
                    <a:pt x="71" y="45"/>
                    <a:pt x="143" y="90"/>
                    <a:pt x="226" y="90"/>
                  </a:cubicBezTo>
                  <a:cubicBezTo>
                    <a:pt x="309" y="90"/>
                    <a:pt x="404" y="45"/>
                    <a:pt x="499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AutoShape 85"/>
            <p:cNvSpPr>
              <a:spLocks noChangeArrowheads="1"/>
            </p:cNvSpPr>
            <p:nvPr/>
          </p:nvSpPr>
          <p:spPr bwMode="auto">
            <a:xfrm rot="5400000">
              <a:off x="4032" y="3412"/>
              <a:ext cx="100" cy="136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76" name="Group 94"/>
          <p:cNvGrpSpPr/>
          <p:nvPr/>
        </p:nvGrpSpPr>
        <p:grpSpPr bwMode="auto">
          <a:xfrm>
            <a:off x="6371258" y="3630984"/>
            <a:ext cx="1006475" cy="446088"/>
            <a:chOff x="4740" y="3294"/>
            <a:chExt cx="634" cy="281"/>
          </a:xfrm>
        </p:grpSpPr>
        <p:sp>
          <p:nvSpPr>
            <p:cNvPr id="19477" name="Oval 88"/>
            <p:cNvSpPr>
              <a:spLocks noChangeArrowheads="1"/>
            </p:cNvSpPr>
            <p:nvPr/>
          </p:nvSpPr>
          <p:spPr bwMode="auto">
            <a:xfrm>
              <a:off x="4740" y="3294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8" name="Oval 89"/>
            <p:cNvSpPr>
              <a:spLocks noChangeArrowheads="1"/>
            </p:cNvSpPr>
            <p:nvPr/>
          </p:nvSpPr>
          <p:spPr bwMode="auto">
            <a:xfrm>
              <a:off x="5238" y="3294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90"/>
            <p:cNvSpPr>
              <a:spLocks noChangeShapeType="1"/>
            </p:cNvSpPr>
            <p:nvPr/>
          </p:nvSpPr>
          <p:spPr bwMode="auto">
            <a:xfrm>
              <a:off x="4876" y="3385"/>
              <a:ext cx="40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AutoShape 91"/>
            <p:cNvSpPr>
              <a:spLocks noChangeArrowheads="1"/>
            </p:cNvSpPr>
            <p:nvPr/>
          </p:nvSpPr>
          <p:spPr bwMode="auto">
            <a:xfrm rot="5400000">
              <a:off x="5030" y="3321"/>
              <a:ext cx="100" cy="136"/>
            </a:xfrm>
            <a:prstGeom prst="triangle">
              <a:avLst>
                <a:gd name="adj" fmla="val 50000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rot="10800000" vert="eaVert" wrap="none" anchor="ctr"/>
            <a:lstStyle/>
            <a:p>
              <a:endParaRPr lang="zh-CN" altLang="en-US"/>
            </a:p>
          </p:txBody>
        </p:sp>
        <p:sp>
          <p:nvSpPr>
            <p:cNvPr id="19481" name="Freeform 92"/>
            <p:cNvSpPr/>
            <p:nvPr/>
          </p:nvSpPr>
          <p:spPr bwMode="auto">
            <a:xfrm>
              <a:off x="4819" y="3430"/>
              <a:ext cx="499" cy="90"/>
            </a:xfrm>
            <a:custGeom>
              <a:avLst/>
              <a:gdLst>
                <a:gd name="T0" fmla="*/ 0 w 499"/>
                <a:gd name="T1" fmla="*/ 0 h 90"/>
                <a:gd name="T2" fmla="*/ 226 w 499"/>
                <a:gd name="T3" fmla="*/ 90 h 90"/>
                <a:gd name="T4" fmla="*/ 499 w 499"/>
                <a:gd name="T5" fmla="*/ 0 h 90"/>
                <a:gd name="T6" fmla="*/ 0 60000 65536"/>
                <a:gd name="T7" fmla="*/ 0 60000 65536"/>
                <a:gd name="T8" fmla="*/ 0 60000 65536"/>
                <a:gd name="T9" fmla="*/ 0 w 499"/>
                <a:gd name="T10" fmla="*/ 0 h 90"/>
                <a:gd name="T11" fmla="*/ 499 w 499"/>
                <a:gd name="T12" fmla="*/ 90 h 9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9" h="90">
                  <a:moveTo>
                    <a:pt x="0" y="0"/>
                  </a:moveTo>
                  <a:cubicBezTo>
                    <a:pt x="71" y="45"/>
                    <a:pt x="143" y="90"/>
                    <a:pt x="226" y="90"/>
                  </a:cubicBezTo>
                  <a:cubicBezTo>
                    <a:pt x="309" y="90"/>
                    <a:pt x="404" y="45"/>
                    <a:pt x="499" y="0"/>
                  </a:cubicBezTo>
                </a:path>
              </a:pathLst>
            </a:custGeom>
            <a:noFill/>
            <a:ln w="28575">
              <a:solidFill>
                <a:srgbClr val="FF00FF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AutoShape 93"/>
            <p:cNvSpPr>
              <a:spLocks noChangeArrowheads="1"/>
            </p:cNvSpPr>
            <p:nvPr/>
          </p:nvSpPr>
          <p:spPr bwMode="auto">
            <a:xfrm rot="16200000" flipH="1">
              <a:off x="5018" y="3457"/>
              <a:ext cx="100" cy="136"/>
            </a:xfrm>
            <a:prstGeom prst="triangle">
              <a:avLst>
                <a:gd name="adj" fmla="val 50000"/>
              </a:avLst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</a:ln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27398">
    <p:wipe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邻域</a:t>
            </a:r>
            <a:r>
              <a:rPr lang="en-US" altLang="zh-CN" b="0"/>
              <a:t>(neighborhood)</a:t>
            </a:r>
            <a:endParaRPr lang="en-US" altLang="zh-CN" b="0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6300" cy="194411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/>
              <a:t>图</a:t>
            </a:r>
            <a:r>
              <a:rPr lang="en-US" altLang="zh-CN" dirty="0"/>
              <a:t>G=&lt;V,E&gt;</a:t>
            </a:r>
            <a:r>
              <a:rPr lang="zh-CN" altLang="en-US" dirty="0"/>
              <a:t>，</a:t>
            </a:r>
            <a:r>
              <a:rPr lang="en-US" altLang="zh-CN" i="1" dirty="0" err="1"/>
              <a:t>v</a:t>
            </a:r>
            <a:r>
              <a:rPr lang="en-US" altLang="zh-CN" dirty="0" err="1">
                <a:sym typeface="Symbol" panose="05050102010706020507" pitchFamily="18" charset="2"/>
              </a:rPr>
              <a:t>V</a:t>
            </a:r>
            <a:r>
              <a:rPr lang="zh-CN" altLang="zh-CN" dirty="0"/>
              <a:t> </a:t>
            </a:r>
            <a:endParaRPr lang="en-US" altLang="zh-CN" dirty="0">
              <a:solidFill>
                <a:schemeClr val="hlink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邻域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i="1" baseline="-25000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)={</a:t>
            </a:r>
            <a:r>
              <a:rPr lang="en-US" altLang="zh-CN" i="1" dirty="0" err="1"/>
              <a:t>u</a:t>
            </a:r>
            <a:r>
              <a:rPr lang="en-US" altLang="zh-CN" dirty="0" err="1"/>
              <a:t>|</a:t>
            </a:r>
            <a:r>
              <a:rPr lang="en-US" altLang="zh-CN" i="1" dirty="0" err="1"/>
              <a:t>u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)∧(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)∈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)∧</a:t>
            </a:r>
            <a:r>
              <a:rPr lang="en-US" altLang="zh-CN" i="1" dirty="0" err="1"/>
              <a:t>u</a:t>
            </a:r>
            <a:r>
              <a:rPr lang="en-US" altLang="zh-CN" dirty="0" err="1"/>
              <a:t>≠</a:t>
            </a:r>
            <a:r>
              <a:rPr lang="en-US" altLang="zh-CN" i="1" dirty="0" err="1"/>
              <a:t>v</a:t>
            </a:r>
            <a:r>
              <a:rPr lang="en-US" altLang="zh-CN" dirty="0"/>
              <a:t>}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闭</a:t>
            </a:r>
            <a:r>
              <a:rPr lang="en-US" altLang="zh-CN" dirty="0">
                <a:solidFill>
                  <a:schemeClr val="hlink"/>
                </a:solidFill>
              </a:rPr>
              <a:t>(closed)</a:t>
            </a:r>
            <a:r>
              <a:rPr lang="zh-CN" altLang="en-US" dirty="0">
                <a:solidFill>
                  <a:schemeClr val="hlink"/>
                </a:solidFill>
              </a:rPr>
              <a:t>邻域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endParaRPr lang="en-US" altLang="zh-CN" dirty="0">
              <a:solidFill>
                <a:schemeClr val="hlink"/>
              </a:solidFill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3227388" y="2520950"/>
          <a:ext cx="331311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1" name="公式" r:id="rId1" imgW="0" imgH="0" progId="Equation.3">
                  <p:embed/>
                </p:oleObj>
              </mc:Choice>
              <mc:Fallback>
                <p:oleObj name="公式" r:id="rId1" imgW="0" imgH="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388" y="2520950"/>
                        <a:ext cx="331311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2" name="Group 31"/>
          <p:cNvGrpSpPr/>
          <p:nvPr/>
        </p:nvGrpSpPr>
        <p:grpSpPr bwMode="auto">
          <a:xfrm>
            <a:off x="6444560" y="404178"/>
            <a:ext cx="1800225" cy="1584325"/>
            <a:chOff x="4377" y="164"/>
            <a:chExt cx="1134" cy="998"/>
          </a:xfrm>
        </p:grpSpPr>
        <p:sp>
          <p:nvSpPr>
            <p:cNvPr id="1048" name="Oval 19"/>
            <p:cNvSpPr>
              <a:spLocks noChangeArrowheads="1"/>
            </p:cNvSpPr>
            <p:nvPr/>
          </p:nvSpPr>
          <p:spPr bwMode="auto">
            <a:xfrm>
              <a:off x="4377" y="663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49" name="Oval 20"/>
            <p:cNvSpPr>
              <a:spLocks noChangeArrowheads="1"/>
            </p:cNvSpPr>
            <p:nvPr/>
          </p:nvSpPr>
          <p:spPr bwMode="auto">
            <a:xfrm>
              <a:off x="4649" y="164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0" name="Oval 21"/>
            <p:cNvSpPr>
              <a:spLocks noChangeArrowheads="1"/>
            </p:cNvSpPr>
            <p:nvPr/>
          </p:nvSpPr>
          <p:spPr bwMode="auto">
            <a:xfrm>
              <a:off x="5148" y="164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3" name="Oval 24"/>
            <p:cNvSpPr>
              <a:spLocks noChangeArrowheads="1"/>
            </p:cNvSpPr>
            <p:nvPr/>
          </p:nvSpPr>
          <p:spPr bwMode="auto">
            <a:xfrm>
              <a:off x="4740" y="1026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4" name="Line 25"/>
            <p:cNvSpPr>
              <a:spLocks noChangeShapeType="1"/>
            </p:cNvSpPr>
            <p:nvPr/>
          </p:nvSpPr>
          <p:spPr bwMode="auto">
            <a:xfrm>
              <a:off x="4740" y="300"/>
              <a:ext cx="181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Line 26"/>
            <p:cNvSpPr>
              <a:spLocks noChangeShapeType="1"/>
            </p:cNvSpPr>
            <p:nvPr/>
          </p:nvSpPr>
          <p:spPr bwMode="auto">
            <a:xfrm flipV="1">
              <a:off x="4967" y="300"/>
              <a:ext cx="226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Line 27"/>
            <p:cNvSpPr>
              <a:spLocks noChangeShapeType="1"/>
            </p:cNvSpPr>
            <p:nvPr/>
          </p:nvSpPr>
          <p:spPr bwMode="auto">
            <a:xfrm>
              <a:off x="5012" y="663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Line 28"/>
            <p:cNvSpPr>
              <a:spLocks noChangeShapeType="1"/>
            </p:cNvSpPr>
            <p:nvPr/>
          </p:nvSpPr>
          <p:spPr bwMode="auto">
            <a:xfrm>
              <a:off x="4967" y="709"/>
              <a:ext cx="362" cy="3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8" name="Line 29"/>
            <p:cNvSpPr>
              <a:spLocks noChangeShapeType="1"/>
            </p:cNvSpPr>
            <p:nvPr/>
          </p:nvSpPr>
          <p:spPr bwMode="auto">
            <a:xfrm>
              <a:off x="4513" y="709"/>
              <a:ext cx="40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9" name="Line 30"/>
            <p:cNvSpPr>
              <a:spLocks noChangeShapeType="1"/>
            </p:cNvSpPr>
            <p:nvPr/>
          </p:nvSpPr>
          <p:spPr bwMode="auto">
            <a:xfrm flipV="1">
              <a:off x="4830" y="754"/>
              <a:ext cx="91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Oval 18"/>
            <p:cNvSpPr>
              <a:spLocks noChangeArrowheads="1"/>
            </p:cNvSpPr>
            <p:nvPr/>
          </p:nvSpPr>
          <p:spPr bwMode="auto">
            <a:xfrm>
              <a:off x="4876" y="618"/>
              <a:ext cx="136" cy="1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1" name="Oval 22"/>
            <p:cNvSpPr>
              <a:spLocks noChangeArrowheads="1"/>
            </p:cNvSpPr>
            <p:nvPr/>
          </p:nvSpPr>
          <p:spPr bwMode="auto">
            <a:xfrm>
              <a:off x="5375" y="572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52" name="Oval 23"/>
            <p:cNvSpPr>
              <a:spLocks noChangeArrowheads="1"/>
            </p:cNvSpPr>
            <p:nvPr/>
          </p:nvSpPr>
          <p:spPr bwMode="auto">
            <a:xfrm>
              <a:off x="5284" y="1026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323850" y="3213348"/>
            <a:ext cx="8496300" cy="12517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chemeClr val="hlink"/>
                </a:solidFill>
              </a:rPr>
              <a:t>关联集</a:t>
            </a:r>
            <a:r>
              <a:rPr lang="en-US" altLang="zh-CN" kern="0" dirty="0">
                <a:solidFill>
                  <a:schemeClr val="hlink"/>
                </a:solidFill>
              </a:rPr>
              <a:t>:</a:t>
            </a:r>
            <a:r>
              <a:rPr lang="en-US" altLang="zh-CN" kern="0" dirty="0"/>
              <a:t> </a:t>
            </a:r>
            <a:r>
              <a:rPr lang="en-US" altLang="zh-CN" i="1" kern="0" dirty="0"/>
              <a:t>I</a:t>
            </a:r>
            <a:r>
              <a:rPr lang="en-US" altLang="zh-CN" i="1" kern="0" baseline="-25000" dirty="0"/>
              <a:t>G</a:t>
            </a:r>
            <a:r>
              <a:rPr lang="en-US" altLang="zh-CN" kern="0" dirty="0"/>
              <a:t>(</a:t>
            </a:r>
            <a:r>
              <a:rPr lang="en-US" altLang="zh-CN" i="1" kern="0" dirty="0"/>
              <a:t>v</a:t>
            </a:r>
            <a:r>
              <a:rPr lang="en-US" altLang="zh-CN" kern="0" dirty="0"/>
              <a:t>) = { </a:t>
            </a:r>
            <a:r>
              <a:rPr lang="en-US" altLang="zh-CN" i="1" kern="0" dirty="0"/>
              <a:t>e</a:t>
            </a:r>
            <a:r>
              <a:rPr lang="en-US" altLang="zh-CN" kern="0" dirty="0"/>
              <a:t> | </a:t>
            </a:r>
            <a:r>
              <a:rPr lang="en-US" altLang="zh-CN" i="1" kern="0" dirty="0"/>
              <a:t>e</a:t>
            </a:r>
            <a:r>
              <a:rPr lang="zh-CN" altLang="en-US" kern="0" dirty="0"/>
              <a:t>与</a:t>
            </a:r>
            <a:r>
              <a:rPr lang="en-US" altLang="zh-CN" i="1" kern="0" dirty="0"/>
              <a:t>v</a:t>
            </a:r>
            <a:r>
              <a:rPr lang="zh-CN" altLang="en-US" kern="0" dirty="0"/>
              <a:t>关联</a:t>
            </a:r>
            <a:r>
              <a:rPr lang="en-US" altLang="zh-CN" kern="0" dirty="0"/>
              <a:t>}</a:t>
            </a:r>
            <a:endParaRPr lang="en-US" altLang="zh-CN" kern="0" dirty="0"/>
          </a:p>
          <a:p>
            <a:pPr marL="0" indent="0" eaLnBrk="1" hangingPunct="1">
              <a:buNone/>
            </a:pPr>
            <a:r>
              <a:rPr lang="zh-CN" altLang="en-US" dirty="0">
                <a:sym typeface="+mn-ea"/>
              </a:rPr>
              <a:t>图</a:t>
            </a:r>
            <a:r>
              <a:rPr lang="en-US" altLang="zh-CN" dirty="0">
                <a:sym typeface="+mn-ea"/>
              </a:rPr>
              <a:t>D=&lt;V,E&gt;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i="1" dirty="0" err="1">
                <a:sym typeface="+mn-ea"/>
              </a:rPr>
              <a:t>v</a:t>
            </a:r>
            <a:r>
              <a:rPr lang="en-US" altLang="zh-CN" dirty="0" err="1">
                <a:sym typeface="Symbol" panose="05050102010706020507" pitchFamily="18" charset="2"/>
              </a:rPr>
              <a:t>V</a:t>
            </a:r>
            <a:r>
              <a:rPr lang="zh-CN" altLang="zh-CN" dirty="0">
                <a:sym typeface="+mn-ea"/>
              </a:rPr>
              <a:t> </a:t>
            </a:r>
            <a:endParaRPr lang="en-US" altLang="zh-CN" kern="0" dirty="0"/>
          </a:p>
          <a:p>
            <a:pPr eaLnBrk="1" hangingPunct="1"/>
            <a:r>
              <a:rPr lang="zh-CN" altLang="en-US" kern="0" dirty="0">
                <a:solidFill>
                  <a:schemeClr val="hlink"/>
                </a:solidFill>
              </a:rPr>
              <a:t>后继集</a:t>
            </a:r>
            <a:r>
              <a:rPr lang="en-US" altLang="zh-CN" kern="0" dirty="0">
                <a:solidFill>
                  <a:schemeClr val="hlink"/>
                </a:solidFill>
              </a:rPr>
              <a:t>:</a:t>
            </a:r>
            <a:endParaRPr lang="en-US" altLang="zh-CN" kern="0" dirty="0">
              <a:solidFill>
                <a:schemeClr val="hlink"/>
              </a:solidFill>
            </a:endParaRPr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 bwMode="auto">
          <a:xfrm>
            <a:off x="323850" y="4867235"/>
            <a:ext cx="8496300" cy="6600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chemeClr val="hlink"/>
                </a:solidFill>
              </a:rPr>
              <a:t>前驱集</a:t>
            </a:r>
            <a:r>
              <a:rPr lang="en-US" altLang="zh-CN" kern="0" dirty="0">
                <a:solidFill>
                  <a:schemeClr val="hlink"/>
                </a:solidFill>
              </a:rPr>
              <a:t>:</a:t>
            </a:r>
            <a:endParaRPr lang="en-US" altLang="zh-CN" kern="0" dirty="0">
              <a:solidFill>
                <a:schemeClr val="hlink"/>
              </a:solidFill>
            </a:endParaRPr>
          </a:p>
        </p:txBody>
      </p:sp>
      <p:graphicFrame>
        <p:nvGraphicFramePr>
          <p:cNvPr id="40" name="Object 14"/>
          <p:cNvGraphicFramePr>
            <a:graphicFrameLocks noChangeAspect="1"/>
          </p:cNvGraphicFramePr>
          <p:nvPr/>
        </p:nvGraphicFramePr>
        <p:xfrm>
          <a:off x="2051214" y="4835839"/>
          <a:ext cx="6912744" cy="55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2" name="公式" r:id="rId3" imgW="0" imgH="0" progId="Equation.3">
                  <p:embed/>
                </p:oleObj>
              </mc:Choice>
              <mc:Fallback>
                <p:oleObj name="公式" r:id="rId3" imgW="0" imgH="0" progId="Equation.3">
                  <p:embed/>
                  <p:pic>
                    <p:nvPicPr>
                      <p:cNvPr id="0" name="图片 69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214" y="4835839"/>
                        <a:ext cx="6912744" cy="554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1"/>
          <p:cNvGraphicFramePr>
            <a:graphicFrameLocks noChangeAspect="1"/>
          </p:cNvGraphicFramePr>
          <p:nvPr/>
        </p:nvGraphicFramePr>
        <p:xfrm>
          <a:off x="2051720" y="4414843"/>
          <a:ext cx="6768752" cy="54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3" name="公式" r:id="rId4" imgW="0" imgH="0" progId="Equation.3">
                  <p:embed/>
                </p:oleObj>
              </mc:Choice>
              <mc:Fallback>
                <p:oleObj name="公式" r:id="rId4" imgW="0" imgH="0" progId="Equation.3">
                  <p:embed/>
                  <p:pic>
                    <p:nvPicPr>
                      <p:cNvPr id="0" name="图片 69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414843"/>
                        <a:ext cx="6768752" cy="5432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7"/>
          <p:cNvGraphicFramePr>
            <a:graphicFrameLocks noChangeAspect="1"/>
          </p:cNvGraphicFramePr>
          <p:nvPr/>
        </p:nvGraphicFramePr>
        <p:xfrm>
          <a:off x="2065832" y="5973132"/>
          <a:ext cx="291592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54" name="公式" r:id="rId5" imgW="0" imgH="0" progId="Equation.3">
                  <p:embed/>
                </p:oleObj>
              </mc:Choice>
              <mc:Fallback>
                <p:oleObj name="公式" r:id="rId5" imgW="0" imgH="0" progId="Equation.3">
                  <p:embed/>
                  <p:pic>
                    <p:nvPicPr>
                      <p:cNvPr id="0" name="图片 69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5832" y="5973132"/>
                        <a:ext cx="2915920" cy="550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23850" y="5444852"/>
            <a:ext cx="8496300" cy="1177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kern="0" dirty="0">
                <a:solidFill>
                  <a:schemeClr val="hlink"/>
                </a:solidFill>
              </a:rPr>
              <a:t>邻域</a:t>
            </a:r>
            <a:r>
              <a:rPr lang="en-US" altLang="zh-CN" kern="0" dirty="0">
                <a:solidFill>
                  <a:schemeClr val="hlink"/>
                </a:solidFill>
              </a:rPr>
              <a:t>:</a:t>
            </a:r>
            <a:r>
              <a:rPr lang="en-US" altLang="zh-CN" kern="0" dirty="0"/>
              <a:t> </a:t>
            </a:r>
            <a:r>
              <a:rPr lang="zh-CN" altLang="en-US" kern="0" dirty="0"/>
              <a:t> </a:t>
            </a:r>
            <a:r>
              <a:rPr lang="en-US" altLang="zh-CN" i="1" kern="0" dirty="0"/>
              <a:t>N</a:t>
            </a:r>
            <a:r>
              <a:rPr lang="en-US" altLang="zh-CN" kern="0" baseline="-25000" dirty="0"/>
              <a:t>D</a:t>
            </a:r>
            <a:r>
              <a:rPr lang="en-US" altLang="zh-CN" kern="0" dirty="0"/>
              <a:t>(</a:t>
            </a:r>
            <a:r>
              <a:rPr lang="en-US" altLang="zh-CN" i="1" kern="0" dirty="0"/>
              <a:t>v</a:t>
            </a:r>
            <a:r>
              <a:rPr lang="en-US" altLang="zh-CN" kern="0" dirty="0"/>
              <a:t>)=</a:t>
            </a:r>
            <a:r>
              <a:rPr lang="en-US" altLang="zh-CN" i="1" kern="0" dirty="0"/>
              <a:t>Γ</a:t>
            </a:r>
            <a:r>
              <a:rPr lang="en-US" altLang="zh-CN" i="1" kern="0" baseline="-25000" dirty="0"/>
              <a:t>D</a:t>
            </a:r>
            <a:r>
              <a:rPr lang="en-US" altLang="zh-CN" kern="0" baseline="30000" dirty="0"/>
              <a:t>+</a:t>
            </a:r>
            <a:r>
              <a:rPr lang="en-US" altLang="zh-CN" kern="0" dirty="0"/>
              <a:t>(</a:t>
            </a:r>
            <a:r>
              <a:rPr lang="en-US" altLang="zh-CN" i="1" kern="0" dirty="0"/>
              <a:t>v</a:t>
            </a:r>
            <a:r>
              <a:rPr lang="en-US" altLang="zh-CN" kern="0" dirty="0"/>
              <a:t>)∪</a:t>
            </a:r>
            <a:r>
              <a:rPr lang="en-US" altLang="zh-CN" i="1" kern="0" dirty="0"/>
              <a:t>Γ</a:t>
            </a:r>
            <a:r>
              <a:rPr lang="en-US" altLang="zh-CN" i="1" kern="0" baseline="-25000" dirty="0"/>
              <a:t>D</a:t>
            </a:r>
            <a:r>
              <a:rPr lang="en-US" altLang="zh-CN" kern="0" baseline="30000" dirty="0"/>
              <a:t>-</a:t>
            </a:r>
            <a:r>
              <a:rPr lang="en-US" altLang="zh-CN" kern="0" dirty="0"/>
              <a:t>(</a:t>
            </a:r>
            <a:r>
              <a:rPr lang="en-US" altLang="zh-CN" i="1" kern="0" dirty="0"/>
              <a:t>v</a:t>
            </a:r>
            <a:r>
              <a:rPr lang="en-US" altLang="zh-CN" kern="0" dirty="0"/>
              <a:t>)</a:t>
            </a:r>
            <a:endParaRPr lang="en-US" altLang="zh-CN" kern="0" dirty="0"/>
          </a:p>
          <a:p>
            <a:pPr eaLnBrk="1" hangingPunct="1"/>
            <a:r>
              <a:rPr lang="zh-CN" altLang="en-US" kern="0" dirty="0">
                <a:solidFill>
                  <a:schemeClr val="hlink"/>
                </a:solidFill>
              </a:rPr>
              <a:t>闭邻域</a:t>
            </a:r>
            <a:r>
              <a:rPr lang="en-US" altLang="zh-CN" kern="0" dirty="0">
                <a:solidFill>
                  <a:schemeClr val="hlink"/>
                </a:solidFill>
              </a:rPr>
              <a:t>:</a:t>
            </a:r>
            <a:endParaRPr lang="en-US" altLang="zh-CN" i="1" kern="0" dirty="0"/>
          </a:p>
        </p:txBody>
      </p:sp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2178214" y="4890449"/>
          <a:ext cx="6912744" cy="5548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公式" r:id="rId6" imgW="3009265" imgH="241300" progId="Equation.3">
                  <p:embed/>
                </p:oleObj>
              </mc:Choice>
              <mc:Fallback>
                <p:oleObj name="公式" r:id="rId6" imgW="3009265" imgH="241300" progId="Equation.3">
                  <p:embed/>
                  <p:pic>
                    <p:nvPicPr>
                      <p:cNvPr id="0" name="图片 69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214" y="4890449"/>
                        <a:ext cx="6912744" cy="5548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2177911" y="4397884"/>
          <a:ext cx="651383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公式" r:id="rId8" imgW="2895600" imgH="241300" progId="Equation.3">
                  <p:embed/>
                </p:oleObj>
              </mc:Choice>
              <mc:Fallback>
                <p:oleObj name="公式" r:id="rId8" imgW="2895600" imgH="241300" progId="Equation.3">
                  <p:embed/>
                  <p:pic>
                    <p:nvPicPr>
                      <p:cNvPr id="0" name="图片 69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7911" y="4397884"/>
                        <a:ext cx="651383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2178227" y="5981387"/>
          <a:ext cx="2915920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公式" r:id="rId10" imgW="1282700" imgH="241300" progId="Equation.3">
                  <p:embed/>
                </p:oleObj>
              </mc:Choice>
              <mc:Fallback>
                <p:oleObj name="公式" r:id="rId10" imgW="1282700" imgH="241300" progId="Equation.3">
                  <p:embed/>
                  <p:pic>
                    <p:nvPicPr>
                      <p:cNvPr id="0" name="图片 69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227" y="5981387"/>
                        <a:ext cx="2915920" cy="550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8"/>
          <p:cNvGraphicFramePr>
            <a:graphicFrameLocks noChangeAspect="1"/>
          </p:cNvGraphicFramePr>
          <p:nvPr/>
        </p:nvGraphicFramePr>
        <p:xfrm>
          <a:off x="3226753" y="2564765"/>
          <a:ext cx="3313113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12" imgW="1333500" imgH="254000" progId="Equation.3">
                  <p:embed/>
                </p:oleObj>
              </mc:Choice>
              <mc:Fallback>
                <p:oleObj name="公式" r:id="rId12" imgW="1333500" imgH="25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6753" y="2564765"/>
                        <a:ext cx="3313113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4"/>
    </p:custDataLst>
  </p:cSld>
  <p:clrMapOvr>
    <a:masterClrMapping/>
  </p:clrMapOvr>
  <p:transition advTm="4797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9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3200">
                <a:solidFill>
                  <a:srgbClr val="FF0000"/>
                </a:solidFill>
              </a:rPr>
              <a:t>课堂测试一：</a:t>
            </a:r>
            <a:endParaRPr lang="zh-CN" altLang="en-US" sz="3200">
              <a:solidFill>
                <a:srgbClr val="FF0000"/>
              </a:solidFill>
            </a:endParaRPr>
          </a:p>
        </p:txBody>
      </p:sp>
      <p:pic>
        <p:nvPicPr>
          <p:cNvPr id="601094" name="Picture 6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895" y="1174750"/>
            <a:ext cx="2640013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34"/>
          <p:cNvGrpSpPr/>
          <p:nvPr/>
        </p:nvGrpSpPr>
        <p:grpSpPr bwMode="auto">
          <a:xfrm>
            <a:off x="3166110" y="1260475"/>
            <a:ext cx="2865438" cy="2817813"/>
            <a:chOff x="2245" y="2069"/>
            <a:chExt cx="2056" cy="2113"/>
          </a:xfrm>
        </p:grpSpPr>
        <p:sp>
          <p:nvSpPr>
            <p:cNvPr id="20488" name="Oval 8"/>
            <p:cNvSpPr>
              <a:spLocks noChangeArrowheads="1"/>
            </p:cNvSpPr>
            <p:nvPr/>
          </p:nvSpPr>
          <p:spPr bwMode="auto">
            <a:xfrm>
              <a:off x="2472" y="3113"/>
              <a:ext cx="136" cy="136"/>
            </a:xfrm>
            <a:prstGeom prst="ellipse">
              <a:avLst/>
            </a:prstGeom>
            <a:gradFill rotWithShape="1">
              <a:gsLst>
                <a:gs pos="0">
                  <a:srgbClr val="ECECEC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9" name="Oval 9"/>
            <p:cNvSpPr>
              <a:spLocks noChangeArrowheads="1"/>
            </p:cNvSpPr>
            <p:nvPr/>
          </p:nvSpPr>
          <p:spPr bwMode="auto">
            <a:xfrm>
              <a:off x="3107" y="3838"/>
              <a:ext cx="136" cy="136"/>
            </a:xfrm>
            <a:prstGeom prst="ellipse">
              <a:avLst/>
            </a:prstGeom>
            <a:gradFill rotWithShape="1">
              <a:gsLst>
                <a:gs pos="0">
                  <a:srgbClr val="ECECEC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0" name="Oval 10"/>
            <p:cNvSpPr>
              <a:spLocks noChangeArrowheads="1"/>
            </p:cNvSpPr>
            <p:nvPr/>
          </p:nvSpPr>
          <p:spPr bwMode="auto">
            <a:xfrm>
              <a:off x="4014" y="3339"/>
              <a:ext cx="136" cy="136"/>
            </a:xfrm>
            <a:prstGeom prst="ellipse">
              <a:avLst/>
            </a:prstGeom>
            <a:gradFill rotWithShape="1">
              <a:gsLst>
                <a:gs pos="0">
                  <a:srgbClr val="ECECEC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1" name="Oval 11"/>
            <p:cNvSpPr>
              <a:spLocks noChangeArrowheads="1"/>
            </p:cNvSpPr>
            <p:nvPr/>
          </p:nvSpPr>
          <p:spPr bwMode="auto">
            <a:xfrm>
              <a:off x="3243" y="2387"/>
              <a:ext cx="136" cy="136"/>
            </a:xfrm>
            <a:prstGeom prst="ellipse">
              <a:avLst/>
            </a:prstGeom>
            <a:gradFill rotWithShape="1">
              <a:gsLst>
                <a:gs pos="0">
                  <a:srgbClr val="ECECEC"/>
                </a:gs>
                <a:gs pos="100000">
                  <a:srgbClr val="5F5F5F"/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492" name="Group 26"/>
            <p:cNvGrpSpPr/>
            <p:nvPr/>
          </p:nvGrpSpPr>
          <p:grpSpPr bwMode="auto">
            <a:xfrm>
              <a:off x="2562" y="2523"/>
              <a:ext cx="726" cy="635"/>
              <a:chOff x="2562" y="2523"/>
              <a:chExt cx="726" cy="635"/>
            </a:xfrm>
          </p:grpSpPr>
          <p:sp>
            <p:nvSpPr>
              <p:cNvPr id="20509" name="Line 12"/>
              <p:cNvSpPr>
                <a:spLocks noChangeShapeType="1"/>
              </p:cNvSpPr>
              <p:nvPr/>
            </p:nvSpPr>
            <p:spPr bwMode="auto">
              <a:xfrm flipH="1">
                <a:off x="2562" y="2523"/>
                <a:ext cx="726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10" name="Freeform 16"/>
              <p:cNvSpPr/>
              <p:nvPr/>
            </p:nvSpPr>
            <p:spPr bwMode="auto">
              <a:xfrm>
                <a:off x="2798" y="2840"/>
                <a:ext cx="127" cy="122"/>
              </a:xfrm>
              <a:custGeom>
                <a:avLst/>
                <a:gdLst>
                  <a:gd name="T0" fmla="*/ 17 w 247"/>
                  <a:gd name="T1" fmla="*/ 0 h 210"/>
                  <a:gd name="T2" fmla="*/ 0 w 247"/>
                  <a:gd name="T3" fmla="*/ 24 h 210"/>
                  <a:gd name="T4" fmla="*/ 0 60000 65536"/>
                  <a:gd name="T5" fmla="*/ 0 60000 65536"/>
                  <a:gd name="T6" fmla="*/ 0 w 247"/>
                  <a:gd name="T7" fmla="*/ 0 h 210"/>
                  <a:gd name="T8" fmla="*/ 247 w 247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210">
                    <a:moveTo>
                      <a:pt x="247" y="0"/>
                    </a:moveTo>
                    <a:lnTo>
                      <a:pt x="0" y="21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3" name="Group 27"/>
            <p:cNvGrpSpPr/>
            <p:nvPr/>
          </p:nvGrpSpPr>
          <p:grpSpPr bwMode="auto">
            <a:xfrm>
              <a:off x="3198" y="2478"/>
              <a:ext cx="136" cy="1406"/>
              <a:chOff x="3198" y="2478"/>
              <a:chExt cx="136" cy="1406"/>
            </a:xfrm>
          </p:grpSpPr>
          <p:sp>
            <p:nvSpPr>
              <p:cNvPr id="20507" name="Line 20"/>
              <p:cNvSpPr>
                <a:spLocks noChangeShapeType="1"/>
              </p:cNvSpPr>
              <p:nvPr/>
            </p:nvSpPr>
            <p:spPr bwMode="auto">
              <a:xfrm flipH="1">
                <a:off x="3198" y="2478"/>
                <a:ext cx="136" cy="140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8" name="Freeform 21"/>
              <p:cNvSpPr/>
              <p:nvPr/>
            </p:nvSpPr>
            <p:spPr bwMode="auto">
              <a:xfrm rot="10800000">
                <a:off x="3273" y="2853"/>
                <a:ext cx="28" cy="256"/>
              </a:xfrm>
              <a:custGeom>
                <a:avLst/>
                <a:gdLst>
                  <a:gd name="T0" fmla="*/ 28 w 28"/>
                  <a:gd name="T1" fmla="*/ 0 h 256"/>
                  <a:gd name="T2" fmla="*/ 0 w 28"/>
                  <a:gd name="T3" fmla="*/ 256 h 256"/>
                  <a:gd name="T4" fmla="*/ 0 60000 65536"/>
                  <a:gd name="T5" fmla="*/ 0 60000 65536"/>
                  <a:gd name="T6" fmla="*/ 0 w 28"/>
                  <a:gd name="T7" fmla="*/ 0 h 256"/>
                  <a:gd name="T8" fmla="*/ 28 w 28"/>
                  <a:gd name="T9" fmla="*/ 256 h 2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8" h="256">
                    <a:moveTo>
                      <a:pt x="28" y="0"/>
                    </a:moveTo>
                    <a:lnTo>
                      <a:pt x="0" y="256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4" name="Group 28"/>
            <p:cNvGrpSpPr/>
            <p:nvPr/>
          </p:nvGrpSpPr>
          <p:grpSpPr bwMode="auto">
            <a:xfrm>
              <a:off x="3334" y="2478"/>
              <a:ext cx="725" cy="861"/>
              <a:chOff x="3334" y="2478"/>
              <a:chExt cx="725" cy="861"/>
            </a:xfrm>
          </p:grpSpPr>
          <p:sp>
            <p:nvSpPr>
              <p:cNvPr id="20505" name="Line 17"/>
              <p:cNvSpPr>
                <a:spLocks noChangeShapeType="1"/>
              </p:cNvSpPr>
              <p:nvPr/>
            </p:nvSpPr>
            <p:spPr bwMode="auto">
              <a:xfrm>
                <a:off x="3334" y="2478"/>
                <a:ext cx="725" cy="86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6" name="Freeform 22"/>
              <p:cNvSpPr/>
              <p:nvPr/>
            </p:nvSpPr>
            <p:spPr bwMode="auto">
              <a:xfrm>
                <a:off x="3606" y="2795"/>
                <a:ext cx="97" cy="131"/>
              </a:xfrm>
              <a:custGeom>
                <a:avLst/>
                <a:gdLst>
                  <a:gd name="T0" fmla="*/ 0 w 110"/>
                  <a:gd name="T1" fmla="*/ 0 h 119"/>
                  <a:gd name="T2" fmla="*/ 67 w 110"/>
                  <a:gd name="T3" fmla="*/ 175 h 119"/>
                  <a:gd name="T4" fmla="*/ 0 60000 65536"/>
                  <a:gd name="T5" fmla="*/ 0 60000 65536"/>
                  <a:gd name="T6" fmla="*/ 0 w 110"/>
                  <a:gd name="T7" fmla="*/ 0 h 119"/>
                  <a:gd name="T8" fmla="*/ 110 w 110"/>
                  <a:gd name="T9" fmla="*/ 119 h 11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0" h="119">
                    <a:moveTo>
                      <a:pt x="0" y="0"/>
                    </a:moveTo>
                    <a:lnTo>
                      <a:pt x="110" y="119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5" name="Group 29"/>
            <p:cNvGrpSpPr/>
            <p:nvPr/>
          </p:nvGrpSpPr>
          <p:grpSpPr bwMode="auto">
            <a:xfrm>
              <a:off x="2608" y="3203"/>
              <a:ext cx="1451" cy="227"/>
              <a:chOff x="2608" y="3203"/>
              <a:chExt cx="1451" cy="227"/>
            </a:xfrm>
          </p:grpSpPr>
          <p:sp>
            <p:nvSpPr>
              <p:cNvPr id="20503" name="Line 19"/>
              <p:cNvSpPr>
                <a:spLocks noChangeShapeType="1"/>
              </p:cNvSpPr>
              <p:nvPr/>
            </p:nvSpPr>
            <p:spPr bwMode="auto">
              <a:xfrm>
                <a:off x="2608" y="3203"/>
                <a:ext cx="1451" cy="22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4" name="Freeform 23"/>
              <p:cNvSpPr/>
              <p:nvPr/>
            </p:nvSpPr>
            <p:spPr bwMode="auto">
              <a:xfrm rot="20219254" flipV="1">
                <a:off x="3106" y="3242"/>
                <a:ext cx="138" cy="87"/>
              </a:xfrm>
              <a:custGeom>
                <a:avLst/>
                <a:gdLst>
                  <a:gd name="T0" fmla="*/ 24 w 247"/>
                  <a:gd name="T1" fmla="*/ 0 h 210"/>
                  <a:gd name="T2" fmla="*/ 0 w 247"/>
                  <a:gd name="T3" fmla="*/ 6 h 210"/>
                  <a:gd name="T4" fmla="*/ 0 60000 65536"/>
                  <a:gd name="T5" fmla="*/ 0 60000 65536"/>
                  <a:gd name="T6" fmla="*/ 0 w 247"/>
                  <a:gd name="T7" fmla="*/ 0 h 210"/>
                  <a:gd name="T8" fmla="*/ 247 w 247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210">
                    <a:moveTo>
                      <a:pt x="247" y="0"/>
                    </a:moveTo>
                    <a:lnTo>
                      <a:pt x="0" y="21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496" name="Group 25"/>
            <p:cNvGrpSpPr/>
            <p:nvPr/>
          </p:nvGrpSpPr>
          <p:grpSpPr bwMode="auto">
            <a:xfrm>
              <a:off x="2562" y="3249"/>
              <a:ext cx="590" cy="635"/>
              <a:chOff x="2562" y="3249"/>
              <a:chExt cx="590" cy="635"/>
            </a:xfrm>
          </p:grpSpPr>
          <p:sp>
            <p:nvSpPr>
              <p:cNvPr id="20501" name="Line 18"/>
              <p:cNvSpPr>
                <a:spLocks noChangeShapeType="1"/>
              </p:cNvSpPr>
              <p:nvPr/>
            </p:nvSpPr>
            <p:spPr bwMode="auto">
              <a:xfrm>
                <a:off x="2562" y="3249"/>
                <a:ext cx="590" cy="63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02" name="Freeform 24"/>
              <p:cNvSpPr/>
              <p:nvPr/>
            </p:nvSpPr>
            <p:spPr bwMode="auto">
              <a:xfrm flipH="1">
                <a:off x="2744" y="3442"/>
                <a:ext cx="112" cy="136"/>
              </a:xfrm>
              <a:custGeom>
                <a:avLst/>
                <a:gdLst>
                  <a:gd name="T0" fmla="*/ 10 w 247"/>
                  <a:gd name="T1" fmla="*/ 0 h 210"/>
                  <a:gd name="T2" fmla="*/ 0 w 247"/>
                  <a:gd name="T3" fmla="*/ 37 h 210"/>
                  <a:gd name="T4" fmla="*/ 0 60000 65536"/>
                  <a:gd name="T5" fmla="*/ 0 60000 65536"/>
                  <a:gd name="T6" fmla="*/ 0 w 247"/>
                  <a:gd name="T7" fmla="*/ 0 h 210"/>
                  <a:gd name="T8" fmla="*/ 247 w 247"/>
                  <a:gd name="T9" fmla="*/ 210 h 2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7" h="210">
                    <a:moveTo>
                      <a:pt x="247" y="0"/>
                    </a:moveTo>
                    <a:lnTo>
                      <a:pt x="0" y="210"/>
                    </a:lnTo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497" name="Text Box 30"/>
            <p:cNvSpPr txBox="1">
              <a:spLocks noChangeArrowheads="1"/>
            </p:cNvSpPr>
            <p:nvPr/>
          </p:nvSpPr>
          <p:spPr bwMode="auto">
            <a:xfrm>
              <a:off x="3049" y="2069"/>
              <a:ext cx="332" cy="3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sz="2800" baseline="-2500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0498" name="Text Box 31"/>
            <p:cNvSpPr txBox="1">
              <a:spLocks noChangeArrowheads="1"/>
            </p:cNvSpPr>
            <p:nvPr/>
          </p:nvSpPr>
          <p:spPr bwMode="auto">
            <a:xfrm>
              <a:off x="2245" y="3023"/>
              <a:ext cx="331" cy="3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sz="2800" baseline="-2500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0499" name="Text Box 32"/>
            <p:cNvSpPr txBox="1">
              <a:spLocks noChangeArrowheads="1"/>
            </p:cNvSpPr>
            <p:nvPr/>
          </p:nvSpPr>
          <p:spPr bwMode="auto">
            <a:xfrm>
              <a:off x="3223" y="3793"/>
              <a:ext cx="332" cy="3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endParaRPr lang="en-US" altLang="zh-CN" sz="2800" baseline="-2500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20500" name="Text Box 33"/>
            <p:cNvSpPr txBox="1">
              <a:spLocks noChangeArrowheads="1"/>
            </p:cNvSpPr>
            <p:nvPr/>
          </p:nvSpPr>
          <p:spPr bwMode="auto">
            <a:xfrm>
              <a:off x="3970" y="3375"/>
              <a:ext cx="331" cy="38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i="1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lang="en-US" altLang="zh-CN" sz="2800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endParaRPr lang="en-US" altLang="zh-CN" sz="2800" baseline="-2500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pic>
        <p:nvPicPr>
          <p:cNvPr id="601123" name="Picture 35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5923" y="4292600"/>
            <a:ext cx="2376487" cy="20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文本框 3"/>
          <p:cNvSpPr txBox="1"/>
          <p:nvPr/>
        </p:nvSpPr>
        <p:spPr>
          <a:xfrm>
            <a:off x="1475740" y="4062730"/>
            <a:ext cx="558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图</a:t>
            </a:r>
            <a:r>
              <a:rPr lang="en-US" altLang="zh-CN" b="1"/>
              <a:t>1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7236460" y="3985895"/>
            <a:ext cx="558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图</a:t>
            </a:r>
            <a:r>
              <a:rPr lang="en-US" altLang="zh-CN" b="1"/>
              <a:t>3</a:t>
            </a:r>
            <a:endParaRPr lang="en-US" altLang="zh-CN" b="1"/>
          </a:p>
        </p:txBody>
      </p:sp>
      <p:sp>
        <p:nvSpPr>
          <p:cNvPr id="7" name="文本框 6"/>
          <p:cNvSpPr txBox="1"/>
          <p:nvPr/>
        </p:nvSpPr>
        <p:spPr>
          <a:xfrm>
            <a:off x="4319905" y="3985895"/>
            <a:ext cx="5581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b="1"/>
              <a:t>图</a:t>
            </a:r>
            <a:r>
              <a:rPr lang="en-US" altLang="zh-CN" b="1"/>
              <a:t>2</a:t>
            </a:r>
            <a:endParaRPr lang="en-US" altLang="zh-CN" b="1"/>
          </a:p>
        </p:txBody>
      </p:sp>
      <p:pic>
        <p:nvPicPr>
          <p:cNvPr id="3" name="Picture 6" descr="图7-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0395" y="1325880"/>
            <a:ext cx="2640013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6" descr="图7-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228080" y="1524953"/>
            <a:ext cx="2447925" cy="233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文本框 9"/>
          <p:cNvSpPr txBox="1"/>
          <p:nvPr/>
        </p:nvSpPr>
        <p:spPr>
          <a:xfrm>
            <a:off x="158750" y="4653915"/>
            <a:ext cx="747141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>
                <a:latin typeface="+mn-ea"/>
                <a:ea typeface="+mn-ea"/>
                <a:cs typeface="+mn-ea"/>
              </a:rPr>
              <a:t>1.</a:t>
            </a:r>
            <a:r>
              <a:rPr lang="zh-CN" altLang="en-US" sz="2800">
                <a:latin typeface="+mn-ea"/>
                <a:ea typeface="+mn-ea"/>
                <a:cs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</a:rPr>
              <a:t>1</a:t>
            </a:r>
            <a:r>
              <a:rPr lang="zh-CN" altLang="en-US" sz="2800">
                <a:latin typeface="+mn-ea"/>
                <a:ea typeface="+mn-ea"/>
                <a:cs typeface="+mn-ea"/>
              </a:rPr>
              <a:t>：求</a:t>
            </a:r>
            <a:r>
              <a:rPr lang="en-US" altLang="zh-CN" sz="2800" i="1" dirty="0">
                <a:latin typeface="+mn-ea"/>
                <a:ea typeface="+mn-ea"/>
                <a:cs typeface="+mn-ea"/>
                <a:sym typeface="+mn-ea"/>
              </a:rPr>
              <a:t>N</a:t>
            </a:r>
            <a:r>
              <a:rPr lang="en-US" altLang="zh-CN" sz="2800" i="1" baseline="-25000" dirty="0">
                <a:latin typeface="+mn-ea"/>
                <a:ea typeface="+mn-ea"/>
                <a:cs typeface="+mn-ea"/>
                <a:sym typeface="+mn-ea"/>
              </a:rPr>
              <a:t>G</a:t>
            </a:r>
            <a:r>
              <a:rPr lang="en-US" altLang="zh-CN" sz="2800" dirty="0">
                <a:latin typeface="+mn-ea"/>
                <a:ea typeface="+mn-ea"/>
                <a:cs typeface="+mn-ea"/>
                <a:sym typeface="+mn-ea"/>
              </a:rPr>
              <a:t>(</a:t>
            </a:r>
            <a:r>
              <a:rPr lang="en-US" altLang="zh-CN" sz="2800" i="1" dirty="0">
                <a:latin typeface="+mn-ea"/>
                <a:ea typeface="+mn-ea"/>
                <a:cs typeface="+mn-ea"/>
                <a:sym typeface="+mn-ea"/>
              </a:rPr>
              <a:t>v</a:t>
            </a:r>
            <a:r>
              <a:rPr lang="en-US" altLang="zh-CN" sz="2800" i="1" baseline="-25000" dirty="0">
                <a:solidFill>
                  <a:schemeClr val="tx1"/>
                </a:solidFill>
                <a:uFillTx/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en-US" altLang="zh-CN" sz="2800" dirty="0">
                <a:latin typeface="+mn-ea"/>
                <a:ea typeface="+mn-ea"/>
                <a:cs typeface="+mn-ea"/>
                <a:sym typeface="+mn-ea"/>
              </a:rPr>
              <a:t>)</a:t>
            </a:r>
            <a:r>
              <a:rPr lang="zh-CN" altLang="en-US" sz="2800" dirty="0">
                <a:latin typeface="+mn-ea"/>
                <a:ea typeface="+mn-ea"/>
                <a:cs typeface="+mn-ea"/>
                <a:sym typeface="+mn-ea"/>
              </a:rPr>
              <a:t>，</a:t>
            </a:r>
            <a:endParaRPr lang="en-US" altLang="zh-CN" sz="2800" dirty="0">
              <a:latin typeface="+mn-ea"/>
              <a:ea typeface="+mn-ea"/>
              <a:cs typeface="+mn-ea"/>
              <a:sym typeface="+mn-ea"/>
            </a:endParaRPr>
          </a:p>
          <a:p>
            <a:pPr algn="l"/>
            <a:r>
              <a:rPr lang="en-US" altLang="zh-CN" sz="2800">
                <a:latin typeface="+mn-ea"/>
                <a:ea typeface="+mn-ea"/>
                <a:cs typeface="+mn-ea"/>
              </a:rPr>
              <a:t>2.</a:t>
            </a:r>
            <a:r>
              <a:rPr lang="zh-CN" altLang="en-US" sz="2800">
                <a:latin typeface="+mn-ea"/>
                <a:ea typeface="+mn-ea"/>
                <a:cs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</a:rPr>
              <a:t>2</a:t>
            </a:r>
            <a:r>
              <a:rPr lang="zh-CN" altLang="en-US" sz="2800">
                <a:latin typeface="+mn-ea"/>
                <a:ea typeface="+mn-ea"/>
                <a:cs typeface="+mn-ea"/>
              </a:rPr>
              <a:t>：求</a:t>
            </a:r>
            <a:r>
              <a:rPr lang="en-US" altLang="zh-CN" sz="2800">
                <a:latin typeface="+mn-ea"/>
                <a:ea typeface="+mn-ea"/>
                <a:cs typeface="+mn-ea"/>
              </a:rPr>
              <a:t>      </a:t>
            </a:r>
            <a:r>
              <a:rPr lang="zh-CN" altLang="en-US" sz="2800">
                <a:latin typeface="+mn-ea"/>
                <a:ea typeface="+mn-ea"/>
                <a:cs typeface="+mn-ea"/>
              </a:rPr>
              <a:t>，</a:t>
            </a:r>
            <a:r>
              <a:rPr lang="en-US" altLang="zh-CN" sz="2800">
                <a:latin typeface="+mn-ea"/>
                <a:ea typeface="+mn-ea"/>
                <a:cs typeface="+mn-ea"/>
              </a:rPr>
              <a:t>     </a:t>
            </a:r>
            <a:r>
              <a:rPr lang="zh-CN" sz="2800">
                <a:latin typeface="+mn-ea"/>
                <a:ea typeface="+mn-ea"/>
                <a:cs typeface="+mn-ea"/>
              </a:rPr>
              <a:t>，</a:t>
            </a:r>
            <a:r>
              <a:rPr lang="en-US" altLang="zh-CN" sz="2800" i="1" dirty="0">
                <a:sym typeface="+mn-ea"/>
              </a:rPr>
              <a:t>N</a:t>
            </a:r>
            <a:r>
              <a:rPr lang="en-US" altLang="zh-CN" sz="2800" i="1" baseline="-25000" dirty="0">
                <a:sym typeface="+mn-ea"/>
              </a:rPr>
              <a:t>D</a:t>
            </a:r>
            <a:r>
              <a:rPr lang="en-US" altLang="zh-CN" sz="2800" dirty="0">
                <a:sym typeface="+mn-ea"/>
              </a:rPr>
              <a:t>(</a:t>
            </a:r>
            <a:r>
              <a:rPr lang="en-US" altLang="zh-CN" sz="2800" i="1" dirty="0">
                <a:sym typeface="+mn-ea"/>
              </a:rPr>
              <a:t>v</a:t>
            </a:r>
            <a:r>
              <a:rPr lang="en-US" altLang="zh-CN" sz="2800" i="1" baseline="-25000" dirty="0">
                <a:uFillTx/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en-US" altLang="zh-CN" sz="2800" dirty="0">
                <a:sym typeface="+mn-ea"/>
              </a:rPr>
              <a:t>) </a:t>
            </a:r>
            <a:r>
              <a:rPr lang="en-US" altLang="zh-CN" sz="2800">
                <a:latin typeface="+mn-ea"/>
                <a:ea typeface="+mn-ea"/>
                <a:cs typeface="+mn-ea"/>
              </a:rPr>
              <a:t>     </a:t>
            </a:r>
            <a:endParaRPr lang="en-US" altLang="zh-CN" sz="2800">
              <a:latin typeface="+mn-ea"/>
              <a:ea typeface="+mn-ea"/>
              <a:cs typeface="+mn-ea"/>
            </a:endParaRPr>
          </a:p>
          <a:p>
            <a:pPr algn="l"/>
            <a:r>
              <a:rPr lang="en-US" altLang="zh-CN" sz="2800">
                <a:latin typeface="+mn-ea"/>
                <a:ea typeface="+mn-ea"/>
                <a:cs typeface="+mn-ea"/>
              </a:rPr>
              <a:t>3.</a:t>
            </a:r>
            <a:r>
              <a:rPr lang="zh-CN" altLang="en-US" sz="2800">
                <a:latin typeface="+mn-ea"/>
                <a:ea typeface="+mn-ea"/>
                <a:cs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</a:rPr>
              <a:t>3</a:t>
            </a:r>
            <a:r>
              <a:rPr lang="zh-CN" altLang="en-US" sz="2800">
                <a:latin typeface="+mn-ea"/>
                <a:ea typeface="+mn-ea"/>
                <a:cs typeface="+mn-ea"/>
              </a:rPr>
              <a:t>：求</a:t>
            </a:r>
            <a:r>
              <a:rPr lang="en-US" altLang="zh-CN" sz="2800" i="1" dirty="0">
                <a:latin typeface="+mn-ea"/>
                <a:ea typeface="+mn-ea"/>
                <a:cs typeface="+mn-ea"/>
                <a:sym typeface="+mn-ea"/>
              </a:rPr>
              <a:t>N</a:t>
            </a:r>
            <a:r>
              <a:rPr lang="en-US" altLang="zh-CN" sz="2800" i="1" baseline="-25000" dirty="0">
                <a:latin typeface="+mn-ea"/>
                <a:ea typeface="+mn-ea"/>
                <a:cs typeface="+mn-ea"/>
                <a:sym typeface="+mn-ea"/>
              </a:rPr>
              <a:t>G</a:t>
            </a:r>
            <a:r>
              <a:rPr lang="en-US" altLang="zh-CN" sz="2800" dirty="0">
                <a:latin typeface="+mn-ea"/>
                <a:ea typeface="+mn-ea"/>
                <a:cs typeface="+mn-ea"/>
                <a:sym typeface="+mn-ea"/>
              </a:rPr>
              <a:t>(c)</a:t>
            </a:r>
            <a:r>
              <a:rPr lang="en-US" altLang="zh-CN" dirty="0">
                <a:sym typeface="+mn-ea"/>
              </a:rPr>
              <a:t> </a:t>
            </a:r>
            <a:endParaRPr lang="zh-CN" altLang="en-US"/>
          </a:p>
        </p:txBody>
      </p:sp>
      <p:graphicFrame>
        <p:nvGraphicFramePr>
          <p:cNvPr id="13" name="Object 17"/>
          <p:cNvGraphicFramePr>
            <a:graphicFrameLocks noChangeAspect="1"/>
          </p:cNvGraphicFramePr>
          <p:nvPr/>
        </p:nvGraphicFramePr>
        <p:xfrm>
          <a:off x="3022460" y="4653284"/>
          <a:ext cx="1068705" cy="580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公式" r:id="rId4" imgW="469900" imgH="254000" progId="Equation.3">
                  <p:embed/>
                </p:oleObj>
              </mc:Choice>
              <mc:Fallback>
                <p:oleObj name="公式" r:id="rId4" imgW="469900" imgH="254000" progId="Equation.3">
                  <p:embed/>
                  <p:pic>
                    <p:nvPicPr>
                      <p:cNvPr id="0" name="图片 69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460" y="4653284"/>
                        <a:ext cx="1068705" cy="5803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1858010" y="5068570"/>
          <a:ext cx="986155" cy="480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公式" r:id="rId6" imgW="495300" imgH="241300" progId="Equation.3">
                  <p:embed/>
                </p:oleObj>
              </mc:Choice>
              <mc:Fallback>
                <p:oleObj name="公式" r:id="rId6" imgW="495300" imgH="241300" progId="Equation.3">
                  <p:embed/>
                  <p:pic>
                    <p:nvPicPr>
                      <p:cNvPr id="0" name="图片 69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010" y="5068570"/>
                        <a:ext cx="986155" cy="480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/>
        </p:nvGraphicFramePr>
        <p:xfrm>
          <a:off x="3086331" y="5028811"/>
          <a:ext cx="1137920" cy="554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公式" r:id="rId8" imgW="495300" imgH="241300" progId="Equation.3">
                  <p:embed/>
                </p:oleObj>
              </mc:Choice>
              <mc:Fallback>
                <p:oleObj name="公式" r:id="rId8" imgW="495300" imgH="241300" progId="Equation.3">
                  <p:embed/>
                  <p:pic>
                    <p:nvPicPr>
                      <p:cNvPr id="0" name="图片 69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331" y="5028811"/>
                        <a:ext cx="1137920" cy="554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5697855" y="4653915"/>
            <a:ext cx="371284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+mn-ea"/>
                <a:ea typeface="+mn-ea"/>
                <a:cs typeface="+mn-ea"/>
              </a:rPr>
              <a:t>4.</a:t>
            </a:r>
            <a:r>
              <a:rPr lang="zh-CN" altLang="en-US" sz="2800">
                <a:latin typeface="+mn-ea"/>
                <a:ea typeface="+mn-ea"/>
                <a:cs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</a:rPr>
              <a:t>1</a:t>
            </a:r>
            <a:r>
              <a:rPr lang="zh-CN" altLang="en-US" sz="2800">
                <a:latin typeface="+mn-ea"/>
                <a:ea typeface="+mn-ea"/>
                <a:cs typeface="+mn-ea"/>
              </a:rPr>
              <a:t>是</a:t>
            </a:r>
            <a:r>
              <a:rPr lang="en-US" altLang="zh-CN" sz="2800" u="sng">
                <a:latin typeface="+mn-ea"/>
                <a:ea typeface="+mn-ea"/>
                <a:cs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</a:rPr>
              <a:t>阶</a:t>
            </a:r>
            <a:r>
              <a:rPr lang="en-US" altLang="zh-CN" sz="2800" u="sng">
                <a:latin typeface="+mn-ea"/>
                <a:ea typeface="+mn-ea"/>
                <a:cs typeface="+mn-ea"/>
              </a:rPr>
              <a:t> </a:t>
            </a:r>
            <a:r>
              <a:rPr lang="zh-CN" altLang="en-US" sz="2800">
                <a:latin typeface="+mn-ea"/>
                <a:ea typeface="+mn-ea"/>
                <a:cs typeface="+mn-ea"/>
              </a:rPr>
              <a:t>向</a:t>
            </a:r>
            <a:r>
              <a:rPr lang="en-US" altLang="zh-CN" sz="2800" u="sng">
                <a:latin typeface="+mn-ea"/>
                <a:ea typeface="+mn-ea"/>
                <a:cs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</a:rPr>
              <a:t>图</a:t>
            </a:r>
            <a:endParaRPr lang="zh-CN" altLang="en-US" sz="2800">
              <a:latin typeface="+mn-ea"/>
              <a:ea typeface="+mn-ea"/>
              <a:cs typeface="+mn-ea"/>
            </a:endParaRPr>
          </a:p>
          <a:p>
            <a:r>
              <a:rPr lang="en-US" altLang="zh-CN" sz="2800">
                <a:latin typeface="+mn-ea"/>
                <a:ea typeface="+mn-ea"/>
                <a:cs typeface="+mn-ea"/>
                <a:sym typeface="+mn-ea"/>
              </a:rPr>
              <a:t>5.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  <a:sym typeface="+mn-ea"/>
              </a:rPr>
              <a:t>2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是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阶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向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图</a:t>
            </a:r>
            <a:endParaRPr lang="zh-CN" altLang="en-US" sz="2800">
              <a:latin typeface="+mn-ea"/>
              <a:ea typeface="+mn-ea"/>
              <a:cs typeface="+mn-ea"/>
              <a:sym typeface="+mn-ea"/>
            </a:endParaRPr>
          </a:p>
          <a:p>
            <a:r>
              <a:rPr lang="en-US" altLang="zh-CN" sz="2800">
                <a:latin typeface="+mn-ea"/>
                <a:ea typeface="+mn-ea"/>
                <a:cs typeface="+mn-ea"/>
                <a:sym typeface="+mn-ea"/>
              </a:rPr>
              <a:t>6.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图</a:t>
            </a:r>
            <a:r>
              <a:rPr lang="en-US" altLang="zh-CN" sz="2800">
                <a:latin typeface="+mn-ea"/>
                <a:ea typeface="+mn-ea"/>
                <a:cs typeface="+mn-ea"/>
                <a:sym typeface="+mn-ea"/>
              </a:rPr>
              <a:t>3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是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阶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向</a:t>
            </a:r>
            <a:r>
              <a:rPr lang="en-US" altLang="zh-CN" sz="2800" u="sng">
                <a:latin typeface="+mn-ea"/>
                <a:ea typeface="+mn-ea"/>
                <a:cs typeface="+mn-ea"/>
                <a:sym typeface="+mn-ea"/>
              </a:rPr>
              <a:t>  </a:t>
            </a:r>
            <a:r>
              <a:rPr lang="zh-CN" altLang="en-US" sz="2800">
                <a:latin typeface="+mn-ea"/>
                <a:ea typeface="+mn-ea"/>
                <a:cs typeface="+mn-ea"/>
                <a:sym typeface="+mn-ea"/>
              </a:rPr>
              <a:t>图</a:t>
            </a:r>
            <a:endParaRPr lang="zh-CN" altLang="en-US" sz="2800">
              <a:latin typeface="+mn-ea"/>
              <a:ea typeface="+mn-ea"/>
              <a:cs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1760" y="4582160"/>
            <a:ext cx="5431155" cy="1584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697855" y="4582160"/>
            <a:ext cx="3382645" cy="158432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0"/>
    </p:custData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01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1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01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01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图术语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23850" y="1452736"/>
          <a:ext cx="842461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926"/>
                <a:gridCol w="1728192"/>
                <a:gridCol w="2520280"/>
                <a:gridCol w="194421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类型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边有方向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允许平行边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rgbClr val="000000"/>
                          </a:solidFill>
                        </a:rPr>
                        <a:t>允许环</a:t>
                      </a:r>
                      <a:endParaRPr lang="en-US" sz="240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简单图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否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多重图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是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有向图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有向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有向多重图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有向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是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无向图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无向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无向多重图</a:t>
                      </a:r>
                      <a:endParaRPr lang="en-US" sz="2400" dirty="0"/>
                    </a:p>
                  </a:txBody>
                  <a:tcPr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无向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是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*</a:t>
                      </a:r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5605" y="4869180"/>
            <a:ext cx="8272145" cy="977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Heiti SC Light"/>
                <a:ea typeface="Heiti SC Light"/>
                <a:cs typeface="Heiti SC Light"/>
              </a:rPr>
              <a:t>虽然科学家们用以描述图的术语已经逐步得到规范，但是它们的实际含义还是要根据实际情况确定</a:t>
            </a:r>
            <a:endParaRPr lang="en-US" sz="2400" b="1" dirty="0">
              <a:latin typeface="Heiti SC Light"/>
              <a:ea typeface="Heiti SC Light"/>
              <a:cs typeface="Heiti SC Light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3952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顶点的度</a:t>
            </a:r>
            <a:r>
              <a:rPr lang="en-US" altLang="zh-CN" dirty="0"/>
              <a:t>(degree/valence)</a:t>
            </a:r>
            <a:endParaRPr lang="en-US" altLang="zh-CN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60512"/>
            <a:ext cx="8534400" cy="4876800"/>
          </a:xfrm>
        </p:spPr>
        <p:txBody>
          <a:bodyPr/>
          <a:lstStyle/>
          <a:p>
            <a:pPr eaLnBrk="1" hangingPunct="1"/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度</a:t>
            </a:r>
            <a:r>
              <a:rPr lang="en-US" altLang="zh-CN" i="1" dirty="0" err="1">
                <a:solidFill>
                  <a:srgbClr val="FF0000"/>
                </a:solidFill>
              </a:rPr>
              <a:t>d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zh-CN" altLang="en-US" dirty="0"/>
              <a:t>作为</a:t>
            </a:r>
            <a:r>
              <a:rPr lang="en-US" altLang="zh-CN" dirty="0"/>
              <a:t>G</a:t>
            </a:r>
            <a:r>
              <a:rPr lang="zh-CN" altLang="en-US" dirty="0"/>
              <a:t>中边的端点的</a:t>
            </a:r>
            <a:r>
              <a:rPr lang="zh-CN" altLang="en-US" dirty="0">
                <a:solidFill>
                  <a:srgbClr val="FF0000"/>
                </a:solidFill>
              </a:rPr>
              <a:t>次数</a:t>
            </a:r>
            <a:r>
              <a:rPr lang="zh-CN" altLang="en-US" dirty="0"/>
              <a:t>之和</a:t>
            </a:r>
            <a:endParaRPr lang="zh-CN" altLang="en-US" dirty="0"/>
          </a:p>
          <a:p>
            <a:pPr eaLnBrk="1" hangingPunct="1"/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出度</a:t>
            </a:r>
            <a:r>
              <a:rPr lang="en-US" altLang="zh-CN" i="1" dirty="0" err="1">
                <a:solidFill>
                  <a:srgbClr val="FF0000"/>
                </a:solidFill>
              </a:rPr>
              <a:t>d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D</a:t>
            </a:r>
            <a:r>
              <a:rPr lang="en-US" altLang="zh-CN" baseline="30000" dirty="0">
                <a:solidFill>
                  <a:srgbClr val="FF0000"/>
                </a:solidFill>
              </a:rPr>
              <a:t>+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zh-CN" altLang="en-US" dirty="0"/>
              <a:t>作为</a:t>
            </a:r>
            <a:r>
              <a:rPr lang="en-US" altLang="zh-CN" dirty="0"/>
              <a:t>D</a:t>
            </a:r>
            <a:r>
              <a:rPr lang="zh-CN" altLang="en-US" dirty="0"/>
              <a:t>中边的始点的</a:t>
            </a:r>
            <a:r>
              <a:rPr lang="zh-CN" altLang="en-US" dirty="0">
                <a:solidFill>
                  <a:srgbClr val="FF0000"/>
                </a:solidFill>
              </a:rPr>
              <a:t>次数</a:t>
            </a:r>
            <a:r>
              <a:rPr lang="zh-CN" altLang="en-US" dirty="0"/>
              <a:t>之和</a:t>
            </a:r>
            <a:endParaRPr lang="zh-CN" altLang="en-US" dirty="0"/>
          </a:p>
          <a:p>
            <a:pPr eaLnBrk="1" hangingPunct="1"/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入度</a:t>
            </a:r>
            <a:r>
              <a:rPr lang="en-US" altLang="zh-CN" i="1" dirty="0" err="1">
                <a:solidFill>
                  <a:srgbClr val="FF0000"/>
                </a:solidFill>
              </a:rPr>
              <a:t>d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D</a:t>
            </a:r>
            <a:r>
              <a:rPr lang="en-US" altLang="zh-CN" dirty="0">
                <a:solidFill>
                  <a:srgbClr val="FF0000"/>
                </a:solidFill>
              </a:rPr>
              <a:t>-(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zh-CN" altLang="en-US" dirty="0"/>
              <a:t>作为</a:t>
            </a:r>
            <a:r>
              <a:rPr lang="en-US" altLang="zh-CN" dirty="0"/>
              <a:t>D</a:t>
            </a:r>
            <a:r>
              <a:rPr lang="zh-CN" altLang="en-US" dirty="0"/>
              <a:t>中边的终点的</a:t>
            </a:r>
            <a:r>
              <a:rPr lang="zh-CN" altLang="en-US" dirty="0">
                <a:solidFill>
                  <a:srgbClr val="FF0000"/>
                </a:solidFill>
              </a:rPr>
              <a:t>次数</a:t>
            </a:r>
            <a:r>
              <a:rPr lang="zh-CN" altLang="en-US" dirty="0"/>
              <a:t>之和</a:t>
            </a:r>
            <a:endParaRPr lang="zh-CN" altLang="en-US" dirty="0"/>
          </a:p>
          <a:p>
            <a:pPr eaLnBrk="1" hangingPunct="1"/>
            <a:r>
              <a:rPr lang="en-US" altLang="zh-CN" i="1" dirty="0"/>
              <a:t>v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度</a:t>
            </a:r>
            <a:r>
              <a:rPr lang="en-US" altLang="zh-CN" i="1" dirty="0" err="1">
                <a:solidFill>
                  <a:srgbClr val="FF0000"/>
                </a:solidFill>
              </a:rPr>
              <a:t>d</a:t>
            </a:r>
            <a:r>
              <a:rPr lang="en-US" altLang="zh-CN" i="1" baseline="-25000" dirty="0" err="1">
                <a:solidFill>
                  <a:srgbClr val="FF0000"/>
                </a:solidFill>
              </a:rPr>
              <a:t>D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r>
              <a:rPr lang="en-US" altLang="zh-CN" dirty="0"/>
              <a:t> =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+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</a:t>
            </a:r>
            <a:endParaRPr lang="en-US" altLang="zh-CN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注意：</a:t>
            </a:r>
            <a:r>
              <a:rPr lang="en-US" altLang="zh-CN" dirty="0"/>
              <a:t>1. </a:t>
            </a:r>
            <a:r>
              <a:rPr lang="zh-CN" altLang="en-US" dirty="0"/>
              <a:t>环对于顶点度的贡献是</a:t>
            </a:r>
            <a:r>
              <a:rPr lang="en-US" altLang="zh-CN" dirty="0"/>
              <a:t>2</a:t>
            </a:r>
            <a:endParaRPr lang="en-US" altLang="zh-CN" dirty="0"/>
          </a:p>
          <a:p>
            <a:pPr algn="just" eaLnBrk="1" hangingPunct="1">
              <a:buNone/>
            </a:pPr>
            <a:r>
              <a:rPr lang="en-US" altLang="zh-CN" dirty="0"/>
              <a:t>            2. </a:t>
            </a:r>
            <a:r>
              <a:rPr lang="zh-CN" altLang="en-US" dirty="0"/>
              <a:t>度为</a:t>
            </a:r>
            <a:r>
              <a:rPr lang="en-US" altLang="zh-CN" dirty="0"/>
              <a:t>1</a:t>
            </a:r>
            <a:r>
              <a:rPr lang="zh-CN" altLang="en-US" dirty="0"/>
              <a:t>的顶点称为</a:t>
            </a:r>
            <a:r>
              <a:rPr lang="zh-CN" altLang="en-US" dirty="0">
                <a:solidFill>
                  <a:srgbClr val="FF0000"/>
                </a:solidFill>
              </a:rPr>
              <a:t>悬挂顶点</a:t>
            </a:r>
            <a:endParaRPr lang="en-US" altLang="zh-CN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folHlink"/>
                </a:solidFill>
              </a:rPr>
              <a:t>            </a:t>
            </a:r>
            <a:r>
              <a:rPr lang="en-US" altLang="zh-CN" dirty="0"/>
              <a:t>3. </a:t>
            </a:r>
            <a:r>
              <a:rPr lang="zh-CN" altLang="en-US" dirty="0">
                <a:solidFill>
                  <a:schemeClr val="hlink"/>
                </a:solidFill>
              </a:rPr>
              <a:t>悬挂边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与悬挂顶点关联的边</a:t>
            </a:r>
            <a:endParaRPr lang="zh-CN" altLang="en-US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         </a:t>
            </a:r>
            <a:r>
              <a:rPr lang="en-US" altLang="zh-CN" dirty="0"/>
              <a:t>4. </a:t>
            </a:r>
            <a:r>
              <a:rPr lang="zh-CN" altLang="en-US" dirty="0">
                <a:solidFill>
                  <a:schemeClr val="hlink"/>
                </a:solidFill>
              </a:rPr>
              <a:t>孤立顶点</a:t>
            </a:r>
            <a:r>
              <a:rPr lang="zh-CN" altLang="en-US" dirty="0"/>
              <a:t>的度为</a:t>
            </a:r>
            <a:r>
              <a:rPr lang="en-US" altLang="zh-CN" dirty="0"/>
              <a:t>0</a:t>
            </a: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20233">
    <p:wipe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0"/>
              <a:t>最大</a:t>
            </a:r>
            <a:r>
              <a:rPr lang="en-US" altLang="zh-CN" b="0"/>
              <a:t>(</a:t>
            </a:r>
            <a:r>
              <a:rPr lang="zh-CN" altLang="en-US" b="0"/>
              <a:t>出</a:t>
            </a:r>
            <a:r>
              <a:rPr lang="en-US" altLang="zh-CN" b="0"/>
              <a:t>/</a:t>
            </a:r>
            <a:r>
              <a:rPr lang="zh-CN" altLang="en-US" b="0"/>
              <a:t>入</a:t>
            </a:r>
            <a:r>
              <a:rPr lang="en-US" altLang="zh-CN" b="0"/>
              <a:t>)</a:t>
            </a:r>
            <a:r>
              <a:rPr lang="zh-CN" altLang="en-US" b="0"/>
              <a:t>度</a:t>
            </a:r>
            <a:r>
              <a:rPr lang="en-US" altLang="zh-CN" b="0"/>
              <a:t>,</a:t>
            </a:r>
            <a:r>
              <a:rPr lang="zh-CN" altLang="en-US" b="0"/>
              <a:t>最小</a:t>
            </a:r>
            <a:r>
              <a:rPr lang="en-US" altLang="zh-CN" b="0"/>
              <a:t>(</a:t>
            </a:r>
            <a:r>
              <a:rPr lang="zh-CN" altLang="en-US" b="0"/>
              <a:t>出</a:t>
            </a:r>
            <a:r>
              <a:rPr lang="en-US" altLang="zh-CN" b="0"/>
              <a:t>/</a:t>
            </a:r>
            <a:r>
              <a:rPr lang="zh-CN" altLang="en-US" b="0"/>
              <a:t>入</a:t>
            </a:r>
            <a:r>
              <a:rPr lang="en-US" altLang="zh-CN" b="0"/>
              <a:t>)</a:t>
            </a:r>
            <a:r>
              <a:rPr lang="zh-CN" altLang="en-US" b="0"/>
              <a:t>度</a:t>
            </a:r>
            <a:endParaRPr lang="zh-CN" altLang="en-US" b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最大度</a:t>
            </a:r>
            <a:r>
              <a:rPr lang="en-US" altLang="zh-CN" dirty="0"/>
              <a:t>: Δ(G) = max{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最小度</a:t>
            </a:r>
            <a:r>
              <a:rPr lang="en-US" altLang="zh-CN" dirty="0"/>
              <a:t>: δ(</a:t>
            </a:r>
            <a:r>
              <a:rPr lang="en-US" altLang="zh-CN" i="1" dirty="0"/>
              <a:t>G</a:t>
            </a:r>
            <a:r>
              <a:rPr lang="en-US" altLang="zh-CN" dirty="0"/>
              <a:t>) = min{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最大出度</a:t>
            </a:r>
            <a:r>
              <a:rPr lang="en-US" altLang="zh-CN" dirty="0"/>
              <a:t>: </a:t>
            </a:r>
            <a:r>
              <a:rPr lang="en-US" altLang="zh-CN" i="1" dirty="0"/>
              <a:t>Δ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= max{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最小出度</a:t>
            </a:r>
            <a:r>
              <a:rPr lang="en-US" altLang="zh-CN" dirty="0"/>
              <a:t>: δ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= min{</a:t>
            </a:r>
            <a:r>
              <a:rPr lang="en-US" altLang="zh-CN" i="1" dirty="0"/>
              <a:t>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+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最大入度</a:t>
            </a:r>
            <a:r>
              <a:rPr lang="en-US" altLang="zh-CN" dirty="0"/>
              <a:t>: Δ</a:t>
            </a:r>
            <a:r>
              <a:rPr lang="en-US" altLang="zh-CN" baseline="30000" dirty="0"/>
              <a:t>-</a:t>
            </a:r>
            <a:r>
              <a:rPr lang="en-US" altLang="zh-CN" dirty="0"/>
              <a:t>(D) = max{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最小入度</a:t>
            </a:r>
            <a:r>
              <a:rPr lang="en-US" altLang="zh-CN" dirty="0"/>
              <a:t>: δ</a:t>
            </a:r>
            <a:r>
              <a:rPr lang="en-US" altLang="zh-CN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= min{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D</a:t>
            </a:r>
            <a:r>
              <a:rPr lang="en-US" altLang="zh-CN" baseline="30000" dirty="0"/>
              <a:t>-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dirty="0"/>
              <a:t>) | </a:t>
            </a:r>
            <a:r>
              <a:rPr lang="en-US" altLang="zh-CN" i="1" dirty="0" err="1"/>
              <a:t>v</a:t>
            </a:r>
            <a:r>
              <a:rPr lang="en-US" altLang="zh-CN" dirty="0" err="1"/>
              <a:t>∈</a:t>
            </a:r>
            <a:r>
              <a:rPr lang="en-US" altLang="zh-CN" i="1" dirty="0" err="1"/>
              <a:t>V</a:t>
            </a:r>
            <a:r>
              <a:rPr lang="en-US" altLang="zh-CN" dirty="0"/>
              <a:t>(</a:t>
            </a:r>
            <a:r>
              <a:rPr lang="en-US" altLang="zh-CN" i="1" dirty="0"/>
              <a:t>D</a:t>
            </a:r>
            <a:r>
              <a:rPr lang="en-US" altLang="zh-CN" dirty="0"/>
              <a:t>) }</a:t>
            </a:r>
            <a:endParaRPr lang="en-US" altLang="zh-CN" dirty="0"/>
          </a:p>
          <a:p>
            <a:pPr eaLnBrk="1" hangingPunct="1"/>
            <a:r>
              <a:rPr lang="zh-CN" altLang="en-US" dirty="0"/>
              <a:t>简记为</a:t>
            </a:r>
            <a:r>
              <a:rPr lang="en-US" altLang="zh-CN" dirty="0"/>
              <a:t>Δ, δ, Δ</a:t>
            </a:r>
            <a:r>
              <a:rPr lang="en-US" altLang="zh-CN" baseline="30000" dirty="0"/>
              <a:t>+</a:t>
            </a:r>
            <a:r>
              <a:rPr lang="en-US" altLang="zh-CN" dirty="0"/>
              <a:t>, δ</a:t>
            </a:r>
            <a:r>
              <a:rPr lang="en-US" altLang="zh-CN" baseline="30000" dirty="0"/>
              <a:t>+</a:t>
            </a:r>
            <a:r>
              <a:rPr lang="en-US" altLang="zh-CN" dirty="0"/>
              <a:t>, Δ</a:t>
            </a:r>
            <a:r>
              <a:rPr lang="en-US" altLang="zh-CN" baseline="30000" dirty="0"/>
              <a:t>-</a:t>
            </a:r>
            <a:r>
              <a:rPr lang="en-US" altLang="zh-CN" dirty="0"/>
              <a:t>, δ</a:t>
            </a:r>
            <a:r>
              <a:rPr lang="en-US" altLang="zh-CN" baseline="30000" dirty="0"/>
              <a:t>-</a:t>
            </a:r>
            <a:endParaRPr lang="en-US" altLang="zh-CN" baseline="30000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度的举例</a:t>
            </a:r>
            <a:endParaRPr lang="en-US" altLang="zh-C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例：求下图中每个顶点的度数及</a:t>
            </a:r>
            <a:r>
              <a:rPr lang="en-US" altLang="zh-CN" dirty="0" err="1"/>
              <a:t>Δ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屏幕快照 2018-03-07 上午7.07.01.png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1514"/>
          <a:stretch>
            <a:fillRect/>
          </a:stretch>
        </p:blipFill>
        <p:spPr>
          <a:xfrm>
            <a:off x="179512" y="2312117"/>
            <a:ext cx="8496300" cy="266429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24525" y="2060575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课堂测试二：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5" name="Picture 6" descr="屏幕快照 2018-03-07 上午7.07.01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4" t="1514"/>
          <a:stretch>
            <a:fillRect/>
          </a:stretch>
        </p:blipFill>
        <p:spPr>
          <a:xfrm>
            <a:off x="179512" y="2440387"/>
            <a:ext cx="8496300" cy="2664296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>
                <a:solidFill>
                  <a:srgbClr val="FF0000"/>
                </a:solidFill>
              </a:rPr>
              <a:t>课后作业一</a:t>
            </a:r>
            <a:r>
              <a:rPr lang="en-US" altLang="zh-CN" sz="4000" dirty="0">
                <a:solidFill>
                  <a:srgbClr val="FF0000"/>
                </a:solidFill>
              </a:rPr>
              <a:t>:</a:t>
            </a:r>
            <a:endParaRPr lang="en-US" altLang="zh-C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444625"/>
            <a:ext cx="8496300" cy="52562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例：求下图中每个顶点的出度，入度，度数及</a:t>
            </a:r>
            <a:r>
              <a:rPr lang="en-US" altLang="zh-CN" dirty="0" err="1"/>
              <a:t>Δ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en-US" altLang="zh-CN" baseline="30000" dirty="0"/>
              <a:t>+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en-US" altLang="zh-CN" baseline="30000" dirty="0"/>
              <a:t>+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en-US" altLang="zh-CN" baseline="30000" dirty="0"/>
              <a:t>-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en-US" altLang="zh-CN" baseline="30000" dirty="0"/>
              <a:t>-</a:t>
            </a:r>
            <a:r>
              <a:rPr lang="zh-CN" altLang="en-US" dirty="0">
                <a:sym typeface="+mn-ea"/>
              </a:rPr>
              <a:t>。</a:t>
            </a:r>
            <a:endParaRPr lang="zh-CN" altLang="en-US" baseline="30000" dirty="0">
              <a:sym typeface="+mn-ea"/>
            </a:endParaRPr>
          </a:p>
        </p:txBody>
      </p:sp>
      <p:pic>
        <p:nvPicPr>
          <p:cNvPr id="5" name="Picture 4" descr="屏幕快照 2018-03-07 上午7.09.15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443" y="3063473"/>
            <a:ext cx="4470400" cy="2667000"/>
          </a:xfrm>
          <a:prstGeom prst="rect">
            <a:avLst/>
          </a:prstGeom>
        </p:spPr>
      </p:pic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4" name="Picture 4" descr="屏幕快照 2018-03-07 上午7.09.1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955" y="2708910"/>
            <a:ext cx="5038090" cy="300545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G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阶无向简单图，则</a:t>
            </a:r>
            <a:r>
              <a:rPr lang="en-US" altLang="zh-CN" dirty="0"/>
              <a:t>(   )≤Δ≤(   )</a:t>
            </a:r>
            <a:endParaRPr lang="en-US" altLang="zh-CN" dirty="0"/>
          </a:p>
          <a:p>
            <a:pPr marL="0" indent="0" eaLnBrk="1" hangingPunct="1">
              <a:buNone/>
            </a:pPr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pPr marL="0" indent="0" eaLnBrk="1" hangingPunct="1">
              <a:buNone/>
            </a:pPr>
            <a:r>
              <a:rPr lang="zh-CN" alt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  <a:sym typeface="+mn-ea"/>
              </a:rPr>
              <a:t>课后作业二：</a:t>
            </a:r>
            <a:endParaRPr lang="zh-CN" alt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  <a:p>
            <a:pPr eaLnBrk="1" hangingPunct="1"/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i="1" dirty="0"/>
              <a:t>n</a:t>
            </a:r>
            <a:r>
              <a:rPr lang="zh-CN" altLang="en-US" dirty="0"/>
              <a:t>阶有向简单图，则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(     )≤ Δ≤(     )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(     )≤ Δ</a:t>
            </a:r>
            <a:r>
              <a:rPr lang="en-US" altLang="zh-CN" baseline="30000" dirty="0"/>
              <a:t>+</a:t>
            </a:r>
            <a:r>
              <a:rPr lang="en-US" altLang="zh-CN" dirty="0"/>
              <a:t>≤(     )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en-US" altLang="zh-CN" dirty="0"/>
              <a:t>     (     )≤ Δ</a:t>
            </a:r>
            <a:r>
              <a:rPr lang="en-US" altLang="zh-CN" baseline="30000" dirty="0"/>
              <a:t>-</a:t>
            </a:r>
            <a:r>
              <a:rPr lang="en-US" altLang="zh-CN" dirty="0"/>
              <a:t>≤(     )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握手定理</a:t>
            </a:r>
            <a:r>
              <a:rPr lang="en-US" altLang="zh-CN" dirty="0">
                <a:latin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</a:rPr>
              <a:t>图论基本定理</a:t>
            </a:r>
            <a:r>
              <a:rPr lang="en-US" altLang="zh-CN" dirty="0">
                <a:latin typeface="宋体" panose="02010600030101010101" pitchFamily="2" charset="-122"/>
              </a:rPr>
              <a:t>)</a:t>
            </a:r>
            <a:r>
              <a:rPr lang="en-US" altLang="zh-CN" sz="4000" b="0" dirty="0">
                <a:latin typeface="宋体" panose="02010600030101010101" pitchFamily="2" charset="-122"/>
              </a:rPr>
              <a:t> </a:t>
            </a:r>
            <a:endParaRPr lang="en-US" altLang="zh-CN" sz="4000" b="0" dirty="0">
              <a:latin typeface="宋体" panose="02010600030101010101" pitchFamily="2" charset="-122"/>
            </a:endParaRP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1412875"/>
            <a:ext cx="8352559" cy="10080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定理</a:t>
            </a:r>
            <a:r>
              <a:rPr lang="en-US" altLang="zh-CN" dirty="0">
                <a:solidFill>
                  <a:schemeClr val="hlink"/>
                </a:solidFill>
              </a:rPr>
              <a:t>7.1</a:t>
            </a:r>
            <a:r>
              <a:rPr lang="zh-CN" altLang="en-US" dirty="0">
                <a:solidFill>
                  <a:schemeClr val="hlink"/>
                </a:solidFill>
              </a:rPr>
              <a:t>：</a:t>
            </a:r>
            <a:r>
              <a:rPr lang="zh-CN" altLang="en-US" dirty="0"/>
              <a:t>每个图</a:t>
            </a:r>
            <a:r>
              <a:rPr lang="en-US" altLang="zh-CN" dirty="0"/>
              <a:t>G</a:t>
            </a:r>
            <a:r>
              <a:rPr lang="zh-CN" altLang="en-US" dirty="0"/>
              <a:t>中</a:t>
            </a:r>
            <a:r>
              <a:rPr lang="en-US" altLang="zh-CN" dirty="0"/>
              <a:t>, </a:t>
            </a:r>
            <a:r>
              <a:rPr lang="zh-CN" altLang="en-US" dirty="0"/>
              <a:t>所有顶点度数的总和等于边数的两倍</a:t>
            </a:r>
            <a:endParaRPr lang="zh-CN" altLang="en-US" dirty="0"/>
          </a:p>
        </p:txBody>
      </p:sp>
      <p:graphicFrame>
        <p:nvGraphicFramePr>
          <p:cNvPr id="603140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008188" y="2155825"/>
          <a:ext cx="26019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" name="公式" r:id="rId1" imgW="0" imgH="0" progId="Equation.3">
                  <p:embed/>
                </p:oleObj>
              </mc:Choice>
              <mc:Fallback>
                <p:oleObj name="公式" r:id="rId1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2155825"/>
                        <a:ext cx="2601912" cy="742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5"/>
          <p:cNvSpPr txBox="1">
            <a:spLocks noChangeArrowheads="1"/>
          </p:cNvSpPr>
          <p:nvPr/>
        </p:nvSpPr>
        <p:spPr bwMode="auto">
          <a:xfrm>
            <a:off x="381000" y="2917825"/>
            <a:ext cx="8382000" cy="7334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endParaRPr lang="zh-CN" altLang="zh-CN" sz="2800" b="1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250825" y="2995613"/>
            <a:ext cx="84963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定理</a:t>
            </a:r>
            <a:r>
              <a: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7.2</a:t>
            </a: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D=&lt;V,E&gt;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是有向图，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={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,…,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i="1" baseline="-25000" dirty="0" err="1">
                <a:latin typeface="Times New Roman" panose="02020603050405020304" pitchFamily="18" charset="0"/>
                <a:ea typeface="黑体" panose="02010609060101010101" pitchFamily="2" charset="-122"/>
              </a:rPr>
              <a:t>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}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|=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051" name="Object 9"/>
          <p:cNvGraphicFramePr>
            <a:graphicFrameLocks noChangeAspect="1"/>
          </p:cNvGraphicFramePr>
          <p:nvPr/>
        </p:nvGraphicFramePr>
        <p:xfrm>
          <a:off x="1763713" y="3573463"/>
          <a:ext cx="37449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4" name="公式" r:id="rId3" imgW="0" imgH="0" progId="Equation.3">
                  <p:embed/>
                </p:oleObj>
              </mc:Choice>
              <mc:Fallback>
                <p:oleObj name="公式" r:id="rId3" imgW="0" imgH="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573463"/>
                        <a:ext cx="37449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ectangle 10"/>
          <p:cNvSpPr>
            <a:spLocks noChangeArrowheads="1"/>
          </p:cNvSpPr>
          <p:nvPr/>
        </p:nvSpPr>
        <p:spPr bwMode="auto">
          <a:xfrm>
            <a:off x="250825" y="4724499"/>
            <a:ext cx="8496300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3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推论：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在任何图中，奇数度顶点的个数是偶数。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51520" y="5445273"/>
            <a:ext cx="8352559" cy="648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 typeface="Wingdings" panose="05000000000000000000" pitchFamily="2" charset="2"/>
              <a:buChar char="u"/>
            </a:pPr>
            <a:r>
              <a:rPr lang="zh-CN" altLang="en-US" sz="2400" kern="0" dirty="0">
                <a:solidFill>
                  <a:schemeClr val="tx2"/>
                </a:solidFill>
              </a:rPr>
              <a:t>握手定理由欧拉于</a:t>
            </a:r>
            <a:r>
              <a:rPr lang="en-US" altLang="zh-CN" sz="2400" kern="0" dirty="0">
                <a:solidFill>
                  <a:schemeClr val="tx2"/>
                </a:solidFill>
              </a:rPr>
              <a:t>1736</a:t>
            </a:r>
            <a:r>
              <a:rPr lang="zh-CN" altLang="en-US" sz="2400" kern="0" dirty="0">
                <a:solidFill>
                  <a:schemeClr val="tx2"/>
                </a:solidFill>
              </a:rPr>
              <a:t>年给出</a:t>
            </a:r>
            <a:endParaRPr lang="zh-CN" altLang="en-US" sz="2400" kern="0" dirty="0">
              <a:solidFill>
                <a:schemeClr val="tx2"/>
              </a:solidFill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aphicFrame>
        <p:nvGraphicFramePr>
          <p:cNvPr id="2" name="Object 4"/>
          <p:cNvGraphicFramePr>
            <a:graphicFrameLocks noGrp="1" noChangeAspect="1"/>
          </p:cNvGraphicFramePr>
          <p:nvPr/>
        </p:nvGraphicFramePr>
        <p:xfrm>
          <a:off x="2843848" y="2249805"/>
          <a:ext cx="2601912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公式" r:id="rId4" imgW="1333500" imgH="381000" progId="Equation.3">
                  <p:embed/>
                </p:oleObj>
              </mc:Choice>
              <mc:Fallback>
                <p:oleObj name="公式" r:id="rId4" imgW="13335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48" y="2249805"/>
                        <a:ext cx="2601912" cy="7429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2411413" y="3653473"/>
          <a:ext cx="3744912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6" imgW="1866265" imgH="507365" progId="Equation.3">
                  <p:embed/>
                </p:oleObj>
              </mc:Choice>
              <mc:Fallback>
                <p:oleObj name="公式" r:id="rId6" imgW="1866265" imgH="50736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653473"/>
                        <a:ext cx="3744912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/>
      <p:bldP spid="2056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latin typeface="宋体" panose="02010600030101010101" pitchFamily="2" charset="-122"/>
              </a:rPr>
              <a:t>握手定理推论的证明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58888"/>
            <a:ext cx="8686800" cy="2890837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推论：</a:t>
            </a:r>
            <a:r>
              <a:rPr lang="zh-CN" altLang="en-US" dirty="0"/>
              <a:t>在任何图中，度数为奇数的顶点必定是偶数个。</a:t>
            </a:r>
            <a:endParaRPr lang="zh-CN" altLang="en-US" dirty="0"/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证明：</a:t>
            </a:r>
            <a:r>
              <a:rPr lang="zh-CN" altLang="en-US" dirty="0">
                <a:solidFill>
                  <a:schemeClr val="folHlink"/>
                </a:solidFill>
              </a:rPr>
              <a:t>设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en-US" altLang="zh-CN" dirty="0">
                <a:solidFill>
                  <a:schemeClr val="folHlink"/>
                </a:solidFill>
              </a:rPr>
              <a:t>=&lt;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en-US" altLang="zh-CN" i="1" dirty="0">
                <a:solidFill>
                  <a:schemeClr val="folHlink"/>
                </a:solidFill>
              </a:rPr>
              <a:t>E</a:t>
            </a:r>
            <a:r>
              <a:rPr lang="en-US" altLang="zh-CN" dirty="0">
                <a:solidFill>
                  <a:schemeClr val="folHlink"/>
                </a:solidFill>
              </a:rPr>
              <a:t>&gt;</a:t>
            </a:r>
            <a:r>
              <a:rPr lang="zh-CN" altLang="en-US" dirty="0">
                <a:solidFill>
                  <a:schemeClr val="folHlink"/>
                </a:solidFill>
              </a:rPr>
              <a:t>为任意图，令</a:t>
            </a:r>
            <a:endParaRPr lang="zh-CN" altLang="en-US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       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={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 | </a:t>
            </a:r>
            <a:r>
              <a:rPr lang="en-US" altLang="zh-CN" i="1" dirty="0" err="1">
                <a:solidFill>
                  <a:schemeClr val="folHlink"/>
                </a:solidFill>
              </a:rPr>
              <a:t>v</a:t>
            </a:r>
            <a:r>
              <a:rPr lang="en-US" altLang="zh-CN" dirty="0" err="1">
                <a:solidFill>
                  <a:schemeClr val="folHlink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chemeClr val="folHlink"/>
                </a:solidFill>
              </a:rPr>
              <a:t>V</a:t>
            </a:r>
            <a:r>
              <a:rPr lang="en-US" altLang="zh-CN" dirty="0" err="1">
                <a:solidFill>
                  <a:schemeClr val="folHlink"/>
                </a:solidFill>
                <a:sym typeface="Symbol" panose="05050102010706020507" pitchFamily="18" charset="2"/>
              </a:rPr>
              <a:t>∧</a:t>
            </a:r>
            <a:r>
              <a:rPr lang="en-US" altLang="zh-CN" i="1" dirty="0" err="1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为奇数</a:t>
            </a:r>
            <a:r>
              <a:rPr lang="en-US" altLang="zh-CN" dirty="0">
                <a:solidFill>
                  <a:schemeClr val="folHlink"/>
                </a:solidFill>
              </a:rPr>
              <a:t>}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folHlink"/>
                </a:solidFill>
              </a:rPr>
              <a:t>        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en-US" altLang="zh-CN" dirty="0">
                <a:solidFill>
                  <a:schemeClr val="folHlink"/>
                </a:solidFill>
              </a:rPr>
              <a:t>={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 | </a:t>
            </a:r>
            <a:r>
              <a:rPr lang="en-US" altLang="zh-CN" i="1" dirty="0" err="1">
                <a:solidFill>
                  <a:schemeClr val="folHlink"/>
                </a:solidFill>
              </a:rPr>
              <a:t>v</a:t>
            </a:r>
            <a:r>
              <a:rPr lang="en-US" altLang="zh-CN" dirty="0" err="1">
                <a:solidFill>
                  <a:schemeClr val="folHlink"/>
                </a:solidFill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solidFill>
                  <a:schemeClr val="folHlink"/>
                </a:solidFill>
              </a:rPr>
              <a:t>V</a:t>
            </a:r>
            <a:r>
              <a:rPr lang="en-US" altLang="zh-CN" dirty="0" err="1">
                <a:solidFill>
                  <a:schemeClr val="folHlink"/>
                </a:solidFill>
                <a:sym typeface="Symbol" panose="05050102010706020507" pitchFamily="18" charset="2"/>
              </a:rPr>
              <a:t>∧</a:t>
            </a:r>
            <a:r>
              <a:rPr lang="en-US" altLang="zh-CN" i="1" dirty="0" err="1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为偶数</a:t>
            </a:r>
            <a:r>
              <a:rPr lang="en-US" altLang="zh-CN" dirty="0">
                <a:solidFill>
                  <a:schemeClr val="folHlink"/>
                </a:solidFill>
              </a:rPr>
              <a:t>}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       则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∪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en-US" altLang="zh-CN" dirty="0">
                <a:solidFill>
                  <a:schemeClr val="folHlink"/>
                </a:solidFill>
              </a:rPr>
              <a:t>=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dirty="0">
                <a:solidFill>
                  <a:schemeClr val="folHlink"/>
                </a:solidFill>
              </a:rPr>
              <a:t>, 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∩</a:t>
            </a:r>
            <a:r>
              <a:rPr lang="en-US" altLang="zh-CN" i="1" dirty="0">
                <a:solidFill>
                  <a:schemeClr val="folHlink"/>
                </a:solidFill>
              </a:rPr>
              <a:t>V</a:t>
            </a:r>
            <a:r>
              <a:rPr lang="en-US" altLang="zh-CN" baseline="-25000" dirty="0">
                <a:solidFill>
                  <a:schemeClr val="folHlink"/>
                </a:solidFill>
              </a:rPr>
              <a:t>2</a:t>
            </a:r>
            <a:r>
              <a:rPr lang="en-US" altLang="zh-CN" dirty="0">
                <a:solidFill>
                  <a:schemeClr val="folHlink"/>
                </a:solidFill>
              </a:rPr>
              <a:t>=</a:t>
            </a:r>
            <a:r>
              <a:rPr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</a:t>
            </a:r>
            <a:r>
              <a:rPr lang="zh-CN" altLang="en-US" dirty="0">
                <a:solidFill>
                  <a:schemeClr val="folHlink"/>
                </a:solidFill>
              </a:rPr>
              <a:t>，由握手定理可知</a:t>
            </a:r>
            <a:endParaRPr lang="zh-CN" altLang="en-US" dirty="0"/>
          </a:p>
        </p:txBody>
      </p:sp>
      <p:graphicFrame>
        <p:nvGraphicFramePr>
          <p:cNvPr id="604164" name="Object 4"/>
          <p:cNvGraphicFramePr>
            <a:graphicFrameLocks noChangeAspect="1"/>
          </p:cNvGraphicFramePr>
          <p:nvPr/>
        </p:nvGraphicFramePr>
        <p:xfrm>
          <a:off x="1219200" y="4164013"/>
          <a:ext cx="4419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4" name="Equation" r:id="rId1" imgW="0" imgH="0" progId="Equation.3">
                  <p:embed/>
                </p:oleObj>
              </mc:Choice>
              <mc:Fallback>
                <p:oleObj name="Equation" r:id="rId1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64013"/>
                        <a:ext cx="4419600" cy="777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5" name="Object 5"/>
          <p:cNvGraphicFramePr>
            <a:graphicFrameLocks noChangeAspect="1"/>
          </p:cNvGraphicFramePr>
          <p:nvPr/>
        </p:nvGraphicFramePr>
        <p:xfrm>
          <a:off x="1606476" y="4878040"/>
          <a:ext cx="9969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5" name="公式" r:id="rId3" imgW="0" imgH="0" progId="Equation.3">
                  <p:embed/>
                </p:oleObj>
              </mc:Choice>
              <mc:Fallback>
                <p:oleObj name="公式" r:id="rId3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6476" y="4878040"/>
                        <a:ext cx="996950" cy="71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166" name="Object 6"/>
          <p:cNvGraphicFramePr>
            <a:graphicFrameLocks noChangeAspect="1"/>
          </p:cNvGraphicFramePr>
          <p:nvPr/>
        </p:nvGraphicFramePr>
        <p:xfrm>
          <a:off x="1582093" y="5516563"/>
          <a:ext cx="9906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26" name="公式" r:id="rId4" imgW="0" imgH="0" progId="Equation.3">
                  <p:embed/>
                </p:oleObj>
              </mc:Choice>
              <mc:Fallback>
                <p:oleObj name="公式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2093" y="5516563"/>
                        <a:ext cx="990600" cy="703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167" name="Rectangle 7"/>
          <p:cNvSpPr>
            <a:spLocks noChangeArrowheads="1"/>
          </p:cNvSpPr>
          <p:nvPr/>
        </p:nvSpPr>
        <p:spPr bwMode="auto">
          <a:xfrm>
            <a:off x="4390381" y="5573713"/>
            <a:ext cx="4859337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由于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中顶点度数都为奇数，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68" name="Rectangle 8"/>
          <p:cNvSpPr>
            <a:spLocks noChangeArrowheads="1"/>
          </p:cNvSpPr>
          <p:nvPr/>
        </p:nvSpPr>
        <p:spPr bwMode="auto">
          <a:xfrm>
            <a:off x="755576" y="4878040"/>
            <a:ext cx="8985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显然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69" name="Rectangle 9"/>
          <p:cNvSpPr>
            <a:spLocks noChangeArrowheads="1"/>
          </p:cNvSpPr>
          <p:nvPr/>
        </p:nvSpPr>
        <p:spPr bwMode="auto">
          <a:xfrm>
            <a:off x="2627239" y="4920903"/>
            <a:ext cx="16129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是偶数，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70" name="Rectangle 10"/>
          <p:cNvSpPr>
            <a:spLocks noChangeArrowheads="1"/>
          </p:cNvSpPr>
          <p:nvPr/>
        </p:nvSpPr>
        <p:spPr bwMode="auto">
          <a:xfrm>
            <a:off x="4140126" y="4936778"/>
            <a:ext cx="2781300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而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m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也是偶数，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72" name="Rectangle 12"/>
          <p:cNvSpPr>
            <a:spLocks noChangeArrowheads="1"/>
          </p:cNvSpPr>
          <p:nvPr/>
        </p:nvSpPr>
        <p:spPr bwMode="auto">
          <a:xfrm>
            <a:off x="683568" y="5518150"/>
            <a:ext cx="898525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所以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73" name="Rectangle 13"/>
          <p:cNvSpPr>
            <a:spLocks noChangeArrowheads="1"/>
          </p:cNvSpPr>
          <p:nvPr/>
        </p:nvSpPr>
        <p:spPr bwMode="auto">
          <a:xfrm>
            <a:off x="2661593" y="5516563"/>
            <a:ext cx="1970088" cy="519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也为偶数，</a:t>
            </a:r>
            <a:endParaRPr lang="zh-CN" altLang="en-US" sz="2800" b="1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04174" name="Rectangle 14"/>
          <p:cNvSpPr>
            <a:spLocks noChangeArrowheads="1"/>
          </p:cNvSpPr>
          <p:nvPr/>
        </p:nvSpPr>
        <p:spPr bwMode="auto">
          <a:xfrm>
            <a:off x="683568" y="6165850"/>
            <a:ext cx="4859338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所以</a:t>
            </a:r>
            <a:r>
              <a:rPr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|</a:t>
            </a:r>
            <a:r>
              <a:rPr lang="en-US" altLang="zh-CN" sz="2800" b="1" i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en-US" altLang="zh-CN" sz="2800" b="1" baseline="-2500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|</a:t>
            </a:r>
            <a:r>
              <a:rPr lang="zh-CN" altLang="en-US" sz="2800" b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必为偶数。</a:t>
            </a:r>
            <a:endParaRPr lang="zh-CN" altLang="en-US" sz="280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437005" y="4188143"/>
          <a:ext cx="44196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5" imgW="2094865" imgH="368300" progId="Equation.3">
                  <p:embed/>
                </p:oleObj>
              </mc:Choice>
              <mc:Fallback>
                <p:oleObj name="Equation" r:id="rId5" imgW="2094865" imgH="36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005" y="4188143"/>
                        <a:ext cx="4419600" cy="777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648386" y="4869150"/>
          <a:ext cx="99695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公式" r:id="rId7" imgW="520700" imgH="368300" progId="Equation.3">
                  <p:embed/>
                </p:oleObj>
              </mc:Choice>
              <mc:Fallback>
                <p:oleObj name="公式" r:id="rId7" imgW="520700" imgH="368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386" y="4869150"/>
                        <a:ext cx="996950" cy="71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641783" y="5540693"/>
          <a:ext cx="990600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公式" r:id="rId9" imgW="520700" imgH="368300" progId="Equation.3">
                  <p:embed/>
                </p:oleObj>
              </mc:Choice>
              <mc:Fallback>
                <p:oleObj name="公式" r:id="rId9" imgW="520700" imgH="368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1783" y="5540693"/>
                        <a:ext cx="990600" cy="7032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0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04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4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4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0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04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04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67" grpId="0"/>
      <p:bldP spid="604168" grpId="0"/>
      <p:bldP spid="604169" grpId="0"/>
      <p:bldP spid="604170" grpId="0"/>
      <p:bldP spid="604172" grpId="0"/>
      <p:bldP spid="604173" grpId="0"/>
      <p:bldP spid="60417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握手定理的应用举例</a:t>
            </a:r>
            <a:r>
              <a:rPr lang="en-US" altLang="zh-CN" sz="4000" dirty="0"/>
              <a:t>(1)</a:t>
            </a:r>
            <a:endParaRPr lang="zh-CN" altLang="en-US" sz="4000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31925"/>
            <a:ext cx="8610600" cy="48768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folHlink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已知无向图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zh-CN" altLang="en-US" dirty="0">
                <a:solidFill>
                  <a:srgbClr val="000000"/>
                </a:solidFill>
              </a:rPr>
              <a:t>有</a:t>
            </a:r>
            <a:r>
              <a:rPr lang="en-US" altLang="zh-CN" dirty="0">
                <a:solidFill>
                  <a:srgbClr val="000000"/>
                </a:solidFill>
              </a:rPr>
              <a:t>10</a:t>
            </a:r>
            <a:r>
              <a:rPr lang="zh-CN" altLang="en-US" dirty="0">
                <a:solidFill>
                  <a:srgbClr val="000000"/>
                </a:solidFill>
              </a:rPr>
              <a:t>条边</a:t>
            </a:r>
            <a:r>
              <a:rPr lang="en-US" altLang="zh-CN" dirty="0">
                <a:solidFill>
                  <a:srgbClr val="000000"/>
                </a:solidFill>
              </a:rPr>
              <a:t>, 4</a:t>
            </a:r>
            <a:r>
              <a:rPr lang="zh-CN" altLang="en-US" dirty="0">
                <a:solidFill>
                  <a:srgbClr val="000000"/>
                </a:solidFill>
              </a:rPr>
              <a:t>个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</a:rPr>
              <a:t>度顶点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其余顶点的度数均不大于</a:t>
            </a:r>
            <a:r>
              <a:rPr lang="en-US" altLang="zh-CN" dirty="0">
                <a:solidFill>
                  <a:srgbClr val="000000"/>
                </a:solidFill>
              </a:rPr>
              <a:t>2, </a:t>
            </a:r>
            <a:r>
              <a:rPr lang="zh-CN" altLang="en-US" dirty="0">
                <a:solidFill>
                  <a:srgbClr val="000000"/>
                </a:solidFill>
              </a:rPr>
              <a:t>问</a:t>
            </a:r>
            <a:r>
              <a:rPr lang="en-US" altLang="zh-CN" i="1" dirty="0">
                <a:solidFill>
                  <a:srgbClr val="000000"/>
                </a:solidFill>
              </a:rPr>
              <a:t>G</a:t>
            </a:r>
            <a:r>
              <a:rPr lang="zh-CN" altLang="en-US" dirty="0">
                <a:solidFill>
                  <a:srgbClr val="000000"/>
                </a:solidFill>
              </a:rPr>
              <a:t>至少有多少个顶点</a:t>
            </a:r>
            <a:r>
              <a:rPr lang="en-US" altLang="zh-CN" dirty="0">
                <a:solidFill>
                  <a:srgbClr val="000000"/>
                </a:solidFill>
              </a:rPr>
              <a:t>? 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hlink"/>
                </a:solidFill>
              </a:rPr>
              <a:t>解</a:t>
            </a:r>
            <a:r>
              <a:rPr lang="zh-CN" altLang="en-US" dirty="0">
                <a:solidFill>
                  <a:schemeClr val="folHlink"/>
                </a:solidFill>
              </a:rPr>
              <a:t> 设</a:t>
            </a:r>
            <a:r>
              <a:rPr lang="en-US" altLang="zh-CN" i="1" dirty="0">
                <a:solidFill>
                  <a:schemeClr val="folHlink"/>
                </a:solidFill>
              </a:rPr>
              <a:t>G</a:t>
            </a:r>
            <a:r>
              <a:rPr lang="zh-CN" altLang="en-US" dirty="0">
                <a:solidFill>
                  <a:schemeClr val="folHlink"/>
                </a:solidFill>
              </a:rPr>
              <a:t>有</a:t>
            </a:r>
            <a:r>
              <a:rPr lang="en-US" altLang="zh-CN" i="1" dirty="0">
                <a:solidFill>
                  <a:schemeClr val="folHlink"/>
                </a:solidFill>
              </a:rPr>
              <a:t>n</a:t>
            </a:r>
            <a:r>
              <a:rPr lang="zh-CN" altLang="en-US" dirty="0">
                <a:solidFill>
                  <a:schemeClr val="folHlink"/>
                </a:solidFill>
              </a:rPr>
              <a:t>个顶点</a:t>
            </a:r>
            <a:r>
              <a:rPr lang="en-US" altLang="zh-CN" dirty="0">
                <a:solidFill>
                  <a:schemeClr val="folHlink"/>
                </a:solidFill>
              </a:rPr>
              <a:t>. </a:t>
            </a:r>
            <a:r>
              <a:rPr lang="zh-CN" altLang="en-US" dirty="0">
                <a:solidFill>
                  <a:schemeClr val="folHlink"/>
                </a:solidFill>
              </a:rPr>
              <a:t>由握手定理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folHlink"/>
                </a:solidFill>
              </a:rPr>
              <a:t>                4</a:t>
            </a:r>
            <a:r>
              <a:rPr kumimoji="1"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3+2(</a:t>
            </a:r>
            <a:r>
              <a:rPr kumimoji="1" lang="en-US" altLang="zh-CN" i="1" dirty="0">
                <a:solidFill>
                  <a:schemeClr val="folHlink"/>
                </a:solidFill>
                <a:sym typeface="Symbol" panose="05050102010706020507" pitchFamily="18" charset="2"/>
              </a:rPr>
              <a:t>n</a:t>
            </a:r>
            <a:r>
              <a:rPr kumimoji="1"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-4)210</a:t>
            </a:r>
            <a:endParaRPr kumimoji="1" lang="en-US" altLang="zh-CN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解得            </a:t>
            </a:r>
            <a:r>
              <a:rPr kumimoji="1" lang="en-US" altLang="zh-CN" i="1" dirty="0">
                <a:solidFill>
                  <a:schemeClr val="folHlink"/>
                </a:solidFill>
                <a:sym typeface="Symbol" panose="05050102010706020507" pitchFamily="18" charset="2"/>
              </a:rPr>
              <a:t>n</a:t>
            </a:r>
            <a:r>
              <a:rPr kumimoji="1"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8</a:t>
            </a:r>
            <a:endParaRPr kumimoji="1" lang="en-US" altLang="zh-CN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1"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所以 </a:t>
            </a:r>
            <a:r>
              <a:rPr kumimoji="1"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G</a:t>
            </a:r>
            <a:r>
              <a:rPr kumimoji="1"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至少有</a:t>
            </a:r>
            <a:r>
              <a:rPr kumimoji="1" lang="en-US" altLang="zh-CN" dirty="0">
                <a:solidFill>
                  <a:schemeClr val="folHlink"/>
                </a:solidFill>
                <a:sym typeface="Symbol" panose="05050102010706020507" pitchFamily="18" charset="2"/>
              </a:rPr>
              <a:t>8</a:t>
            </a:r>
            <a:r>
              <a:rPr kumimoji="1" lang="zh-CN" altLang="en-US" dirty="0">
                <a:solidFill>
                  <a:schemeClr val="folHlink"/>
                </a:solidFill>
                <a:sym typeface="Symbol" panose="05050102010706020507" pitchFamily="18" charset="2"/>
              </a:rPr>
              <a:t>个顶点。</a:t>
            </a:r>
            <a:endParaRPr kumimoji="1" lang="en-US" altLang="zh-CN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1" lang="en-US" altLang="zh-CN" dirty="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kumimoji="1" lang="en-US" altLang="zh-CN" dirty="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课后作业三：</a:t>
            </a:r>
            <a:endParaRPr lang="zh-CN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55725"/>
            <a:ext cx="8763000" cy="5168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2"/>
                </a:solidFill>
              </a:rPr>
              <a:t>例：一个部门有</a:t>
            </a:r>
            <a:r>
              <a:rPr lang="en-US" altLang="zh-CN" dirty="0">
                <a:solidFill>
                  <a:schemeClr val="tx2"/>
                </a:solidFill>
              </a:rPr>
              <a:t>25</a:t>
            </a:r>
            <a:r>
              <a:rPr lang="zh-CN" altLang="en-US" dirty="0">
                <a:solidFill>
                  <a:schemeClr val="tx2"/>
                </a:solidFill>
              </a:rPr>
              <a:t>个人，由于意见不同，是否可能每个人恰好与其他</a:t>
            </a:r>
            <a:r>
              <a:rPr lang="en-US" altLang="zh-CN" dirty="0">
                <a:solidFill>
                  <a:schemeClr val="tx2"/>
                </a:solidFill>
              </a:rPr>
              <a:t>5</a:t>
            </a:r>
            <a:r>
              <a:rPr lang="zh-CN" altLang="en-US" dirty="0">
                <a:solidFill>
                  <a:schemeClr val="tx2"/>
                </a:solidFill>
              </a:rPr>
              <a:t>个人意见一致？</a:t>
            </a:r>
            <a:endParaRPr lang="zh-CN" altLang="en-US" dirty="0">
              <a:solidFill>
                <a:schemeClr val="tx2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91440" tIns="45720" rIns="91440" bIns="45720" anchor="b" anchorCtr="0"/>
          <a:p>
            <a:pPr marL="0" indent="0" defTabSz="914400" eaLnBrk="1" latinLnBrk="0" hangingPunct="1">
              <a:lnSpc>
                <a:spcPct val="100000"/>
              </a:lnSpc>
              <a:buClrTx/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课后作业四：</a:t>
            </a:r>
            <a:endParaRPr lang="zh-CN" altLang="en-US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539750" y="1557020"/>
            <a:ext cx="7556500" cy="15843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书 </a:t>
            </a:r>
            <a:r>
              <a:rPr lang="en-US" altLang="zh-CN" dirty="0"/>
              <a:t>P130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习题七：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7411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ldLvl="2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度数列</a:t>
            </a:r>
            <a:endParaRPr lang="zh-CN" alt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6300" cy="194468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度数列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dirty="0"/>
              <a:t>G=&lt;V,E&gt;,V={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}, </a:t>
            </a:r>
            <a:r>
              <a:rPr lang="zh-CN" altLang="en-US" dirty="0"/>
              <a:t>称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i="1" dirty="0"/>
              <a:t>        </a:t>
            </a:r>
            <a:r>
              <a:rPr lang="en-US" altLang="zh-CN" i="1" dirty="0"/>
              <a:t> </a:t>
            </a:r>
            <a:r>
              <a:rPr lang="zh-CN" altLang="en-US" i="1" dirty="0"/>
              <a:t> </a:t>
            </a:r>
            <a:r>
              <a:rPr lang="en-US" altLang="zh-CN" i="1" dirty="0"/>
              <a:t>d</a:t>
            </a:r>
            <a:r>
              <a:rPr lang="en-US" altLang="zh-CN" dirty="0"/>
              <a:t> = (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),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),…, </a:t>
            </a:r>
            <a:r>
              <a:rPr lang="en-US" altLang="zh-CN" i="1" dirty="0"/>
              <a:t>d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) )</a:t>
            </a:r>
            <a:r>
              <a:rPr lang="zh-CN" altLang="en-US" dirty="0"/>
              <a:t>为</a:t>
            </a:r>
            <a:r>
              <a:rPr lang="en-US" altLang="zh-CN" dirty="0"/>
              <a:t>G</a:t>
            </a:r>
            <a:r>
              <a:rPr lang="zh-CN" altLang="en-US" dirty="0"/>
              <a:t>的度数列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:</a:t>
            </a:r>
            <a:r>
              <a:rPr lang="en-US" altLang="zh-CN" dirty="0"/>
              <a:t> </a:t>
            </a:r>
            <a:r>
              <a:rPr lang="en-US" altLang="zh-CN" i="1" dirty="0"/>
              <a:t>d</a:t>
            </a:r>
            <a:r>
              <a:rPr lang="en-US" altLang="zh-CN" dirty="0"/>
              <a:t> = ( 5, 1, 2, 3, 3 )</a:t>
            </a:r>
            <a:endParaRPr lang="en-US" altLang="zh-CN" dirty="0"/>
          </a:p>
        </p:txBody>
      </p:sp>
      <p:grpSp>
        <p:nvGrpSpPr>
          <p:cNvPr id="2" name="Group 21"/>
          <p:cNvGrpSpPr/>
          <p:nvPr/>
        </p:nvGrpSpPr>
        <p:grpSpPr bwMode="auto">
          <a:xfrm>
            <a:off x="1619250" y="3233738"/>
            <a:ext cx="2868613" cy="2451100"/>
            <a:chOff x="1020" y="2037"/>
            <a:chExt cx="1807" cy="1544"/>
          </a:xfrm>
        </p:grpSpPr>
        <p:sp>
          <p:nvSpPr>
            <p:cNvPr id="29701" name="Oval 9"/>
            <p:cNvSpPr>
              <a:spLocks noChangeArrowheads="1"/>
            </p:cNvSpPr>
            <p:nvPr/>
          </p:nvSpPr>
          <p:spPr bwMode="auto">
            <a:xfrm>
              <a:off x="1655" y="2069"/>
              <a:ext cx="499" cy="2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2" name="Oval 4"/>
            <p:cNvSpPr>
              <a:spLocks noChangeArrowheads="1"/>
            </p:cNvSpPr>
            <p:nvPr/>
          </p:nvSpPr>
          <p:spPr bwMode="auto">
            <a:xfrm>
              <a:off x="1837" y="2296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3" name="Oval 5"/>
            <p:cNvSpPr>
              <a:spLocks noChangeArrowheads="1"/>
            </p:cNvSpPr>
            <p:nvPr/>
          </p:nvSpPr>
          <p:spPr bwMode="auto">
            <a:xfrm>
              <a:off x="1247" y="2704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4" name="Oval 6"/>
            <p:cNvSpPr>
              <a:spLocks noChangeArrowheads="1"/>
            </p:cNvSpPr>
            <p:nvPr/>
          </p:nvSpPr>
          <p:spPr bwMode="auto">
            <a:xfrm>
              <a:off x="2426" y="2704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5" name="Oval 7"/>
            <p:cNvSpPr>
              <a:spLocks noChangeArrowheads="1"/>
            </p:cNvSpPr>
            <p:nvPr/>
          </p:nvSpPr>
          <p:spPr bwMode="auto">
            <a:xfrm>
              <a:off x="2290" y="3339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6" name="Oval 8"/>
            <p:cNvSpPr>
              <a:spLocks noChangeArrowheads="1"/>
            </p:cNvSpPr>
            <p:nvPr/>
          </p:nvSpPr>
          <p:spPr bwMode="auto">
            <a:xfrm>
              <a:off x="1610" y="3385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7" name="Line 10"/>
            <p:cNvSpPr>
              <a:spLocks noChangeShapeType="1"/>
            </p:cNvSpPr>
            <p:nvPr/>
          </p:nvSpPr>
          <p:spPr bwMode="auto">
            <a:xfrm flipV="1">
              <a:off x="1338" y="2387"/>
              <a:ext cx="544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Line 11"/>
            <p:cNvSpPr>
              <a:spLocks noChangeShapeType="1"/>
            </p:cNvSpPr>
            <p:nvPr/>
          </p:nvSpPr>
          <p:spPr bwMode="auto">
            <a:xfrm flipH="1">
              <a:off x="2381" y="2840"/>
              <a:ext cx="91" cy="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Freeform 12"/>
            <p:cNvSpPr/>
            <p:nvPr/>
          </p:nvSpPr>
          <p:spPr bwMode="auto">
            <a:xfrm>
              <a:off x="1973" y="2318"/>
              <a:ext cx="544" cy="386"/>
            </a:xfrm>
            <a:custGeom>
              <a:avLst/>
              <a:gdLst>
                <a:gd name="T0" fmla="*/ 0 w 544"/>
                <a:gd name="T1" fmla="*/ 23 h 386"/>
                <a:gd name="T2" fmla="*/ 272 w 544"/>
                <a:gd name="T3" fmla="*/ 23 h 386"/>
                <a:gd name="T4" fmla="*/ 453 w 544"/>
                <a:gd name="T5" fmla="*/ 160 h 386"/>
                <a:gd name="T6" fmla="*/ 544 w 544"/>
                <a:gd name="T7" fmla="*/ 386 h 3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386"/>
                <a:gd name="T14" fmla="*/ 544 w 544"/>
                <a:gd name="T15" fmla="*/ 386 h 3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386">
                  <a:moveTo>
                    <a:pt x="0" y="23"/>
                  </a:moveTo>
                  <a:cubicBezTo>
                    <a:pt x="98" y="11"/>
                    <a:pt x="196" y="0"/>
                    <a:pt x="272" y="23"/>
                  </a:cubicBezTo>
                  <a:cubicBezTo>
                    <a:pt x="348" y="46"/>
                    <a:pt x="408" y="100"/>
                    <a:pt x="453" y="160"/>
                  </a:cubicBezTo>
                  <a:cubicBezTo>
                    <a:pt x="498" y="220"/>
                    <a:pt x="521" y="303"/>
                    <a:pt x="544" y="38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Freeform 13"/>
            <p:cNvSpPr/>
            <p:nvPr/>
          </p:nvSpPr>
          <p:spPr bwMode="auto">
            <a:xfrm>
              <a:off x="1927" y="2432"/>
              <a:ext cx="545" cy="318"/>
            </a:xfrm>
            <a:custGeom>
              <a:avLst/>
              <a:gdLst>
                <a:gd name="T0" fmla="*/ 0 w 545"/>
                <a:gd name="T1" fmla="*/ 0 h 318"/>
                <a:gd name="T2" fmla="*/ 91 w 545"/>
                <a:gd name="T3" fmla="*/ 136 h 318"/>
                <a:gd name="T4" fmla="*/ 273 w 545"/>
                <a:gd name="T5" fmla="*/ 272 h 318"/>
                <a:gd name="T6" fmla="*/ 545 w 545"/>
                <a:gd name="T7" fmla="*/ 318 h 3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5"/>
                <a:gd name="T13" fmla="*/ 0 h 318"/>
                <a:gd name="T14" fmla="*/ 545 w 545"/>
                <a:gd name="T15" fmla="*/ 318 h 3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5" h="318">
                  <a:moveTo>
                    <a:pt x="0" y="0"/>
                  </a:moveTo>
                  <a:cubicBezTo>
                    <a:pt x="23" y="45"/>
                    <a:pt x="46" y="91"/>
                    <a:pt x="91" y="136"/>
                  </a:cubicBezTo>
                  <a:cubicBezTo>
                    <a:pt x="136" y="181"/>
                    <a:pt x="197" y="242"/>
                    <a:pt x="273" y="272"/>
                  </a:cubicBezTo>
                  <a:cubicBezTo>
                    <a:pt x="349" y="302"/>
                    <a:pt x="447" y="310"/>
                    <a:pt x="545" y="318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Freeform 14"/>
            <p:cNvSpPr/>
            <p:nvPr/>
          </p:nvSpPr>
          <p:spPr bwMode="auto">
            <a:xfrm>
              <a:off x="1746" y="3475"/>
              <a:ext cx="635" cy="106"/>
            </a:xfrm>
            <a:custGeom>
              <a:avLst/>
              <a:gdLst>
                <a:gd name="T0" fmla="*/ 0 w 635"/>
                <a:gd name="T1" fmla="*/ 0 h 106"/>
                <a:gd name="T2" fmla="*/ 181 w 635"/>
                <a:gd name="T3" fmla="*/ 91 h 106"/>
                <a:gd name="T4" fmla="*/ 499 w 635"/>
                <a:gd name="T5" fmla="*/ 91 h 106"/>
                <a:gd name="T6" fmla="*/ 635 w 635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5"/>
                <a:gd name="T13" fmla="*/ 0 h 106"/>
                <a:gd name="T14" fmla="*/ 635 w 635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5" h="106">
                  <a:moveTo>
                    <a:pt x="0" y="0"/>
                  </a:moveTo>
                  <a:cubicBezTo>
                    <a:pt x="49" y="38"/>
                    <a:pt x="98" y="76"/>
                    <a:pt x="181" y="91"/>
                  </a:cubicBezTo>
                  <a:cubicBezTo>
                    <a:pt x="264" y="106"/>
                    <a:pt x="423" y="106"/>
                    <a:pt x="499" y="91"/>
                  </a:cubicBezTo>
                  <a:cubicBezTo>
                    <a:pt x="575" y="76"/>
                    <a:pt x="605" y="38"/>
                    <a:pt x="635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Freeform 15"/>
            <p:cNvSpPr/>
            <p:nvPr/>
          </p:nvSpPr>
          <p:spPr bwMode="auto">
            <a:xfrm>
              <a:off x="1746" y="3331"/>
              <a:ext cx="544" cy="99"/>
            </a:xfrm>
            <a:custGeom>
              <a:avLst/>
              <a:gdLst>
                <a:gd name="T0" fmla="*/ 0 w 544"/>
                <a:gd name="T1" fmla="*/ 99 h 99"/>
                <a:gd name="T2" fmla="*/ 227 w 544"/>
                <a:gd name="T3" fmla="*/ 8 h 99"/>
                <a:gd name="T4" fmla="*/ 544 w 544"/>
                <a:gd name="T5" fmla="*/ 54 h 99"/>
                <a:gd name="T6" fmla="*/ 0 60000 65536"/>
                <a:gd name="T7" fmla="*/ 0 60000 65536"/>
                <a:gd name="T8" fmla="*/ 0 60000 65536"/>
                <a:gd name="T9" fmla="*/ 0 w 544"/>
                <a:gd name="T10" fmla="*/ 0 h 99"/>
                <a:gd name="T11" fmla="*/ 544 w 544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4" h="99">
                  <a:moveTo>
                    <a:pt x="0" y="99"/>
                  </a:moveTo>
                  <a:cubicBezTo>
                    <a:pt x="68" y="57"/>
                    <a:pt x="136" y="16"/>
                    <a:pt x="227" y="8"/>
                  </a:cubicBezTo>
                  <a:cubicBezTo>
                    <a:pt x="318" y="0"/>
                    <a:pt x="431" y="27"/>
                    <a:pt x="544" y="5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Text Box 16"/>
            <p:cNvSpPr txBox="1">
              <a:spLocks noChangeArrowheads="1"/>
            </p:cNvSpPr>
            <p:nvPr/>
          </p:nvSpPr>
          <p:spPr bwMode="auto">
            <a:xfrm>
              <a:off x="1824" y="203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14" name="Text Box 17"/>
            <p:cNvSpPr txBox="1">
              <a:spLocks noChangeArrowheads="1"/>
            </p:cNvSpPr>
            <p:nvPr/>
          </p:nvSpPr>
          <p:spPr bwMode="auto">
            <a:xfrm>
              <a:off x="1020" y="2568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15" name="Text Box 18"/>
            <p:cNvSpPr txBox="1">
              <a:spLocks noChangeArrowheads="1"/>
            </p:cNvSpPr>
            <p:nvPr/>
          </p:nvSpPr>
          <p:spPr bwMode="auto">
            <a:xfrm>
              <a:off x="1338" y="320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16" name="Text Box 19"/>
            <p:cNvSpPr txBox="1">
              <a:spLocks noChangeArrowheads="1"/>
            </p:cNvSpPr>
            <p:nvPr/>
          </p:nvSpPr>
          <p:spPr bwMode="auto">
            <a:xfrm>
              <a:off x="2426" y="320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29717" name="Text Box 20"/>
            <p:cNvSpPr txBox="1">
              <a:spLocks noChangeArrowheads="1"/>
            </p:cNvSpPr>
            <p:nvPr/>
          </p:nvSpPr>
          <p:spPr bwMode="auto">
            <a:xfrm>
              <a:off x="2562" y="2659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可图化、可简单图化</a:t>
            </a:r>
            <a:endParaRPr lang="zh-CN" altLang="en-US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4"/>
            <a:ext cx="8496300" cy="4310071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可图化</a:t>
            </a:r>
            <a:r>
              <a:rPr lang="zh-CN" altLang="en-US" dirty="0"/>
              <a:t>：设非负整数数列</a:t>
            </a:r>
            <a:r>
              <a:rPr lang="en-US" altLang="zh-CN" i="1" dirty="0"/>
              <a:t>d</a:t>
            </a:r>
            <a:r>
              <a:rPr lang="en-US" altLang="zh-CN" dirty="0"/>
              <a:t>=(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 )</a:t>
            </a:r>
            <a:r>
              <a:rPr lang="zh-CN" altLang="en-US" dirty="0"/>
              <a:t>，若存在</a:t>
            </a:r>
            <a:r>
              <a:rPr lang="zh-CN" altLang="en-US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无向图</a:t>
            </a:r>
            <a:r>
              <a:rPr lang="en-US" altLang="zh-CN" dirty="0"/>
              <a:t>G, </a:t>
            </a:r>
            <a:r>
              <a:rPr lang="zh-CN" altLang="en-US" dirty="0"/>
              <a:t>使得</a:t>
            </a:r>
            <a:r>
              <a:rPr lang="en-US" altLang="zh-CN" dirty="0"/>
              <a:t>G</a:t>
            </a:r>
            <a:r>
              <a:rPr lang="zh-CN" altLang="en-US" dirty="0"/>
              <a:t>的度数列是</a:t>
            </a:r>
            <a:r>
              <a:rPr lang="en-US" altLang="zh-CN" i="1" dirty="0"/>
              <a:t>d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d</a:t>
            </a:r>
            <a:r>
              <a:rPr lang="zh-CN" altLang="en-US" dirty="0"/>
              <a:t>为可图化的。</a:t>
            </a:r>
            <a:endParaRPr lang="zh-CN" altLang="en-US" dirty="0"/>
          </a:p>
          <a:p>
            <a:pPr eaLnBrk="1" hangingPunct="1"/>
            <a:r>
              <a:rPr lang="zh-CN" altLang="en-US" dirty="0">
                <a:solidFill>
                  <a:schemeClr val="hlink"/>
                </a:solidFill>
              </a:rPr>
              <a:t>可简单图化</a:t>
            </a:r>
            <a:r>
              <a:rPr lang="zh-CN" altLang="en-US" dirty="0"/>
              <a:t>：设非负整数列</a:t>
            </a:r>
            <a:r>
              <a:rPr lang="en-US" altLang="zh-CN" i="1" dirty="0"/>
              <a:t>d</a:t>
            </a:r>
            <a:r>
              <a:rPr lang="en-US" altLang="zh-CN" dirty="0"/>
              <a:t>=(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 …,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 ),</a:t>
            </a:r>
            <a:r>
              <a:rPr lang="zh-CN" altLang="en-US" dirty="0">
                <a:solidFill>
                  <a:srgbClr val="000000"/>
                </a:solidFill>
              </a:rPr>
              <a:t>若存在</a:t>
            </a:r>
            <a:r>
              <a:rPr lang="zh-CN" altLang="en-US" dirty="0">
                <a:solidFill>
                  <a:srgbClr val="000000"/>
                </a:solidFill>
                <a:uFill>
                  <a:solidFill>
                    <a:srgbClr val="FF0000"/>
                  </a:solidFill>
                </a:uFill>
              </a:rPr>
              <a:t>无向简单图</a:t>
            </a:r>
            <a:r>
              <a:rPr lang="en-US" altLang="zh-CN" dirty="0">
                <a:solidFill>
                  <a:srgbClr val="000000"/>
                </a:solidFill>
              </a:rPr>
              <a:t>G</a:t>
            </a:r>
            <a:r>
              <a:rPr lang="zh-CN" altLang="en-US" dirty="0"/>
              <a:t>，使得</a:t>
            </a:r>
            <a:r>
              <a:rPr lang="en-US" altLang="zh-CN" dirty="0"/>
              <a:t>G</a:t>
            </a:r>
            <a:r>
              <a:rPr lang="zh-CN" altLang="en-US" dirty="0"/>
              <a:t>的度数列是</a:t>
            </a:r>
            <a:r>
              <a:rPr lang="en-US" altLang="zh-CN" i="1" dirty="0"/>
              <a:t>d</a:t>
            </a:r>
            <a:r>
              <a:rPr lang="en-US" altLang="zh-CN" dirty="0"/>
              <a:t>,</a:t>
            </a:r>
            <a:r>
              <a:rPr lang="zh-CN" altLang="en-US" dirty="0"/>
              <a:t>则称</a:t>
            </a:r>
            <a:r>
              <a:rPr lang="en-US" altLang="zh-CN" i="1" dirty="0"/>
              <a:t>d</a:t>
            </a:r>
            <a:r>
              <a:rPr lang="zh-CN" altLang="en-US" dirty="0"/>
              <a:t>为可简单图化的。</a:t>
            </a:r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: </a:t>
            </a:r>
            <a:r>
              <a:rPr lang="zh-CN" altLang="en-US" dirty="0">
                <a:solidFill>
                  <a:srgbClr val="000000"/>
                </a:solidFill>
              </a:rPr>
              <a:t>右侧两个图的度数列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r>
              <a:rPr lang="zh-CN" altLang="en-US" dirty="0">
                <a:solidFill>
                  <a:srgbClr val="000000"/>
                </a:solidFill>
              </a:rPr>
              <a:t>都是 </a:t>
            </a:r>
            <a:r>
              <a:rPr lang="en-US" altLang="zh-CN" i="1" dirty="0"/>
              <a:t>d</a:t>
            </a:r>
            <a:r>
              <a:rPr lang="en-US" altLang="zh-CN" dirty="0"/>
              <a:t> = ( 5, 3, 3, 2, 1 )</a:t>
            </a:r>
            <a:endParaRPr lang="en-US" altLang="zh-CN" dirty="0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5857884" y="4071942"/>
            <a:ext cx="2868612" cy="2451100"/>
            <a:chOff x="1020" y="2037"/>
            <a:chExt cx="1807" cy="1544"/>
          </a:xfrm>
        </p:grpSpPr>
        <p:sp>
          <p:nvSpPr>
            <p:cNvPr id="30738" name="Oval 5"/>
            <p:cNvSpPr>
              <a:spLocks noChangeArrowheads="1"/>
            </p:cNvSpPr>
            <p:nvPr/>
          </p:nvSpPr>
          <p:spPr bwMode="auto">
            <a:xfrm>
              <a:off x="1655" y="2069"/>
              <a:ext cx="499" cy="2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9" name="Oval 6"/>
            <p:cNvSpPr>
              <a:spLocks noChangeArrowheads="1"/>
            </p:cNvSpPr>
            <p:nvPr/>
          </p:nvSpPr>
          <p:spPr bwMode="auto">
            <a:xfrm>
              <a:off x="1837" y="2296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0" name="Oval 7"/>
            <p:cNvSpPr>
              <a:spLocks noChangeArrowheads="1"/>
            </p:cNvSpPr>
            <p:nvPr/>
          </p:nvSpPr>
          <p:spPr bwMode="auto">
            <a:xfrm>
              <a:off x="1247" y="2704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1" name="Oval 8"/>
            <p:cNvSpPr>
              <a:spLocks noChangeArrowheads="1"/>
            </p:cNvSpPr>
            <p:nvPr/>
          </p:nvSpPr>
          <p:spPr bwMode="auto">
            <a:xfrm>
              <a:off x="2426" y="2704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2" name="Oval 9"/>
            <p:cNvSpPr>
              <a:spLocks noChangeArrowheads="1"/>
            </p:cNvSpPr>
            <p:nvPr/>
          </p:nvSpPr>
          <p:spPr bwMode="auto">
            <a:xfrm>
              <a:off x="2290" y="3339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3" name="Oval 10"/>
            <p:cNvSpPr>
              <a:spLocks noChangeArrowheads="1"/>
            </p:cNvSpPr>
            <p:nvPr/>
          </p:nvSpPr>
          <p:spPr bwMode="auto">
            <a:xfrm>
              <a:off x="1610" y="3385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44" name="Line 11"/>
            <p:cNvSpPr>
              <a:spLocks noChangeShapeType="1"/>
            </p:cNvSpPr>
            <p:nvPr/>
          </p:nvSpPr>
          <p:spPr bwMode="auto">
            <a:xfrm flipV="1">
              <a:off x="1338" y="2387"/>
              <a:ext cx="544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5" name="Line 12"/>
            <p:cNvSpPr>
              <a:spLocks noChangeShapeType="1"/>
            </p:cNvSpPr>
            <p:nvPr/>
          </p:nvSpPr>
          <p:spPr bwMode="auto">
            <a:xfrm flipH="1">
              <a:off x="2381" y="2840"/>
              <a:ext cx="91" cy="5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6" name="Freeform 13"/>
            <p:cNvSpPr/>
            <p:nvPr/>
          </p:nvSpPr>
          <p:spPr bwMode="auto">
            <a:xfrm>
              <a:off x="1973" y="2318"/>
              <a:ext cx="544" cy="386"/>
            </a:xfrm>
            <a:custGeom>
              <a:avLst/>
              <a:gdLst>
                <a:gd name="T0" fmla="*/ 0 w 544"/>
                <a:gd name="T1" fmla="*/ 23 h 386"/>
                <a:gd name="T2" fmla="*/ 272 w 544"/>
                <a:gd name="T3" fmla="*/ 23 h 386"/>
                <a:gd name="T4" fmla="*/ 453 w 544"/>
                <a:gd name="T5" fmla="*/ 160 h 386"/>
                <a:gd name="T6" fmla="*/ 544 w 544"/>
                <a:gd name="T7" fmla="*/ 386 h 3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386"/>
                <a:gd name="T14" fmla="*/ 544 w 544"/>
                <a:gd name="T15" fmla="*/ 386 h 3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386">
                  <a:moveTo>
                    <a:pt x="0" y="23"/>
                  </a:moveTo>
                  <a:cubicBezTo>
                    <a:pt x="98" y="11"/>
                    <a:pt x="196" y="0"/>
                    <a:pt x="272" y="23"/>
                  </a:cubicBezTo>
                  <a:cubicBezTo>
                    <a:pt x="348" y="46"/>
                    <a:pt x="408" y="100"/>
                    <a:pt x="453" y="160"/>
                  </a:cubicBezTo>
                  <a:cubicBezTo>
                    <a:pt x="498" y="220"/>
                    <a:pt x="521" y="303"/>
                    <a:pt x="544" y="38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7" name="Freeform 14"/>
            <p:cNvSpPr/>
            <p:nvPr/>
          </p:nvSpPr>
          <p:spPr bwMode="auto">
            <a:xfrm>
              <a:off x="1927" y="2432"/>
              <a:ext cx="545" cy="318"/>
            </a:xfrm>
            <a:custGeom>
              <a:avLst/>
              <a:gdLst>
                <a:gd name="T0" fmla="*/ 0 w 545"/>
                <a:gd name="T1" fmla="*/ 0 h 318"/>
                <a:gd name="T2" fmla="*/ 91 w 545"/>
                <a:gd name="T3" fmla="*/ 136 h 318"/>
                <a:gd name="T4" fmla="*/ 273 w 545"/>
                <a:gd name="T5" fmla="*/ 272 h 318"/>
                <a:gd name="T6" fmla="*/ 545 w 545"/>
                <a:gd name="T7" fmla="*/ 318 h 3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5"/>
                <a:gd name="T13" fmla="*/ 0 h 318"/>
                <a:gd name="T14" fmla="*/ 545 w 545"/>
                <a:gd name="T15" fmla="*/ 318 h 3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5" h="318">
                  <a:moveTo>
                    <a:pt x="0" y="0"/>
                  </a:moveTo>
                  <a:cubicBezTo>
                    <a:pt x="23" y="45"/>
                    <a:pt x="46" y="91"/>
                    <a:pt x="91" y="136"/>
                  </a:cubicBezTo>
                  <a:cubicBezTo>
                    <a:pt x="136" y="181"/>
                    <a:pt x="197" y="242"/>
                    <a:pt x="273" y="272"/>
                  </a:cubicBezTo>
                  <a:cubicBezTo>
                    <a:pt x="349" y="302"/>
                    <a:pt x="447" y="310"/>
                    <a:pt x="545" y="318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8" name="Freeform 15"/>
            <p:cNvSpPr/>
            <p:nvPr/>
          </p:nvSpPr>
          <p:spPr bwMode="auto">
            <a:xfrm>
              <a:off x="1746" y="3475"/>
              <a:ext cx="635" cy="106"/>
            </a:xfrm>
            <a:custGeom>
              <a:avLst/>
              <a:gdLst>
                <a:gd name="T0" fmla="*/ 0 w 635"/>
                <a:gd name="T1" fmla="*/ 0 h 106"/>
                <a:gd name="T2" fmla="*/ 181 w 635"/>
                <a:gd name="T3" fmla="*/ 91 h 106"/>
                <a:gd name="T4" fmla="*/ 499 w 635"/>
                <a:gd name="T5" fmla="*/ 91 h 106"/>
                <a:gd name="T6" fmla="*/ 635 w 635"/>
                <a:gd name="T7" fmla="*/ 0 h 1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35"/>
                <a:gd name="T13" fmla="*/ 0 h 106"/>
                <a:gd name="T14" fmla="*/ 635 w 635"/>
                <a:gd name="T15" fmla="*/ 106 h 1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35" h="106">
                  <a:moveTo>
                    <a:pt x="0" y="0"/>
                  </a:moveTo>
                  <a:cubicBezTo>
                    <a:pt x="49" y="38"/>
                    <a:pt x="98" y="76"/>
                    <a:pt x="181" y="91"/>
                  </a:cubicBezTo>
                  <a:cubicBezTo>
                    <a:pt x="264" y="106"/>
                    <a:pt x="423" y="106"/>
                    <a:pt x="499" y="91"/>
                  </a:cubicBezTo>
                  <a:cubicBezTo>
                    <a:pt x="575" y="76"/>
                    <a:pt x="605" y="38"/>
                    <a:pt x="635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49" name="Freeform 16"/>
            <p:cNvSpPr/>
            <p:nvPr/>
          </p:nvSpPr>
          <p:spPr bwMode="auto">
            <a:xfrm>
              <a:off x="1746" y="3331"/>
              <a:ext cx="544" cy="99"/>
            </a:xfrm>
            <a:custGeom>
              <a:avLst/>
              <a:gdLst>
                <a:gd name="T0" fmla="*/ 0 w 544"/>
                <a:gd name="T1" fmla="*/ 99 h 99"/>
                <a:gd name="T2" fmla="*/ 227 w 544"/>
                <a:gd name="T3" fmla="*/ 8 h 99"/>
                <a:gd name="T4" fmla="*/ 544 w 544"/>
                <a:gd name="T5" fmla="*/ 54 h 99"/>
                <a:gd name="T6" fmla="*/ 0 60000 65536"/>
                <a:gd name="T7" fmla="*/ 0 60000 65536"/>
                <a:gd name="T8" fmla="*/ 0 60000 65536"/>
                <a:gd name="T9" fmla="*/ 0 w 544"/>
                <a:gd name="T10" fmla="*/ 0 h 99"/>
                <a:gd name="T11" fmla="*/ 544 w 544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4" h="99">
                  <a:moveTo>
                    <a:pt x="0" y="99"/>
                  </a:moveTo>
                  <a:cubicBezTo>
                    <a:pt x="68" y="57"/>
                    <a:pt x="136" y="16"/>
                    <a:pt x="227" y="8"/>
                  </a:cubicBezTo>
                  <a:cubicBezTo>
                    <a:pt x="318" y="0"/>
                    <a:pt x="431" y="27"/>
                    <a:pt x="544" y="5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50" name="Text Box 17"/>
            <p:cNvSpPr txBox="1">
              <a:spLocks noChangeArrowheads="1"/>
            </p:cNvSpPr>
            <p:nvPr/>
          </p:nvSpPr>
          <p:spPr bwMode="auto">
            <a:xfrm>
              <a:off x="1824" y="2037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1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1" name="Text Box 18"/>
            <p:cNvSpPr txBox="1">
              <a:spLocks noChangeArrowheads="1"/>
            </p:cNvSpPr>
            <p:nvPr/>
          </p:nvSpPr>
          <p:spPr bwMode="auto">
            <a:xfrm>
              <a:off x="1020" y="2568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2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2" name="Text Box 19"/>
            <p:cNvSpPr txBox="1">
              <a:spLocks noChangeArrowheads="1"/>
            </p:cNvSpPr>
            <p:nvPr/>
          </p:nvSpPr>
          <p:spPr bwMode="auto">
            <a:xfrm>
              <a:off x="1338" y="320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3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3" name="Text Box 20"/>
            <p:cNvSpPr txBox="1">
              <a:spLocks noChangeArrowheads="1"/>
            </p:cNvSpPr>
            <p:nvPr/>
          </p:nvSpPr>
          <p:spPr bwMode="auto">
            <a:xfrm>
              <a:off x="2426" y="3203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4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0754" name="Text Box 21"/>
            <p:cNvSpPr txBox="1">
              <a:spLocks noChangeArrowheads="1"/>
            </p:cNvSpPr>
            <p:nvPr/>
          </p:nvSpPr>
          <p:spPr bwMode="auto">
            <a:xfrm>
              <a:off x="2562" y="2659"/>
              <a:ext cx="2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i="1">
                  <a:latin typeface="Times New Roman" panose="02020603050405020304" pitchFamily="18" charset="0"/>
                </a:rPr>
                <a:t>v</a:t>
              </a:r>
              <a:r>
                <a:rPr lang="en-US" altLang="zh-CN" sz="2400" baseline="-25000">
                  <a:latin typeface="Times New Roman" panose="02020603050405020304" pitchFamily="18" charset="0"/>
                </a:rPr>
                <a:t>5</a:t>
              </a:r>
              <a:endParaRPr lang="en-US" altLang="zh-CN" sz="2400" baseline="-25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2"/>
          <p:cNvGrpSpPr/>
          <p:nvPr/>
        </p:nvGrpSpPr>
        <p:grpSpPr bwMode="auto">
          <a:xfrm>
            <a:off x="4140196" y="4652971"/>
            <a:ext cx="1584325" cy="1597025"/>
            <a:chOff x="884" y="3022"/>
            <a:chExt cx="998" cy="1006"/>
          </a:xfrm>
        </p:grpSpPr>
        <p:sp>
          <p:nvSpPr>
            <p:cNvPr id="30726" name="Oval 45"/>
            <p:cNvSpPr>
              <a:spLocks noChangeArrowheads="1"/>
            </p:cNvSpPr>
            <p:nvPr/>
          </p:nvSpPr>
          <p:spPr bwMode="auto">
            <a:xfrm>
              <a:off x="930" y="3022"/>
              <a:ext cx="316" cy="36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7" name="Oval 22"/>
            <p:cNvSpPr>
              <a:spLocks noChangeArrowheads="1"/>
            </p:cNvSpPr>
            <p:nvPr/>
          </p:nvSpPr>
          <p:spPr bwMode="auto">
            <a:xfrm>
              <a:off x="1156" y="3203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8" name="Oval 41"/>
            <p:cNvSpPr>
              <a:spLocks noChangeArrowheads="1"/>
            </p:cNvSpPr>
            <p:nvPr/>
          </p:nvSpPr>
          <p:spPr bwMode="auto">
            <a:xfrm>
              <a:off x="1746" y="3339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9" name="Oval 42"/>
            <p:cNvSpPr>
              <a:spLocks noChangeArrowheads="1"/>
            </p:cNvSpPr>
            <p:nvPr/>
          </p:nvSpPr>
          <p:spPr bwMode="auto">
            <a:xfrm>
              <a:off x="884" y="3521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0" name="Oval 43"/>
            <p:cNvSpPr>
              <a:spLocks noChangeArrowheads="1"/>
            </p:cNvSpPr>
            <p:nvPr/>
          </p:nvSpPr>
          <p:spPr bwMode="auto">
            <a:xfrm>
              <a:off x="1610" y="3793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1" name="Oval 44"/>
            <p:cNvSpPr>
              <a:spLocks noChangeArrowheads="1"/>
            </p:cNvSpPr>
            <p:nvPr/>
          </p:nvSpPr>
          <p:spPr bwMode="auto">
            <a:xfrm>
              <a:off x="1156" y="3838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2" name="Line 46"/>
            <p:cNvSpPr>
              <a:spLocks noChangeShapeType="1"/>
            </p:cNvSpPr>
            <p:nvPr/>
          </p:nvSpPr>
          <p:spPr bwMode="auto">
            <a:xfrm>
              <a:off x="1292" y="3294"/>
              <a:ext cx="499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3" name="Freeform 47"/>
            <p:cNvSpPr/>
            <p:nvPr/>
          </p:nvSpPr>
          <p:spPr bwMode="auto">
            <a:xfrm>
              <a:off x="1292" y="3158"/>
              <a:ext cx="499" cy="227"/>
            </a:xfrm>
            <a:custGeom>
              <a:avLst/>
              <a:gdLst>
                <a:gd name="T0" fmla="*/ 0 w 499"/>
                <a:gd name="T1" fmla="*/ 91 h 227"/>
                <a:gd name="T2" fmla="*/ 227 w 499"/>
                <a:gd name="T3" fmla="*/ 0 h 227"/>
                <a:gd name="T4" fmla="*/ 409 w 499"/>
                <a:gd name="T5" fmla="*/ 91 h 227"/>
                <a:gd name="T6" fmla="*/ 499 w 499"/>
                <a:gd name="T7" fmla="*/ 227 h 2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227"/>
                <a:gd name="T14" fmla="*/ 499 w 499"/>
                <a:gd name="T15" fmla="*/ 227 h 2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227">
                  <a:moveTo>
                    <a:pt x="0" y="91"/>
                  </a:moveTo>
                  <a:cubicBezTo>
                    <a:pt x="79" y="45"/>
                    <a:pt x="159" y="0"/>
                    <a:pt x="227" y="0"/>
                  </a:cubicBezTo>
                  <a:cubicBezTo>
                    <a:pt x="295" y="0"/>
                    <a:pt x="364" y="53"/>
                    <a:pt x="409" y="91"/>
                  </a:cubicBezTo>
                  <a:cubicBezTo>
                    <a:pt x="454" y="129"/>
                    <a:pt x="476" y="178"/>
                    <a:pt x="499" y="22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4" name="Freeform 48"/>
            <p:cNvSpPr/>
            <p:nvPr/>
          </p:nvSpPr>
          <p:spPr bwMode="auto">
            <a:xfrm>
              <a:off x="1247" y="3339"/>
              <a:ext cx="544" cy="136"/>
            </a:xfrm>
            <a:custGeom>
              <a:avLst/>
              <a:gdLst>
                <a:gd name="T0" fmla="*/ 0 w 544"/>
                <a:gd name="T1" fmla="*/ 0 h 136"/>
                <a:gd name="T2" fmla="*/ 136 w 544"/>
                <a:gd name="T3" fmla="*/ 91 h 136"/>
                <a:gd name="T4" fmla="*/ 363 w 544"/>
                <a:gd name="T5" fmla="*/ 136 h 136"/>
                <a:gd name="T6" fmla="*/ 544 w 544"/>
                <a:gd name="T7" fmla="*/ 91 h 13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44"/>
                <a:gd name="T13" fmla="*/ 0 h 136"/>
                <a:gd name="T14" fmla="*/ 544 w 544"/>
                <a:gd name="T15" fmla="*/ 136 h 1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44" h="136">
                  <a:moveTo>
                    <a:pt x="0" y="0"/>
                  </a:moveTo>
                  <a:cubicBezTo>
                    <a:pt x="37" y="34"/>
                    <a:pt x="75" y="68"/>
                    <a:pt x="136" y="91"/>
                  </a:cubicBezTo>
                  <a:cubicBezTo>
                    <a:pt x="197" y="114"/>
                    <a:pt x="295" y="136"/>
                    <a:pt x="363" y="136"/>
                  </a:cubicBezTo>
                  <a:cubicBezTo>
                    <a:pt x="431" y="136"/>
                    <a:pt x="487" y="113"/>
                    <a:pt x="544" y="91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5" name="Line 49"/>
            <p:cNvSpPr>
              <a:spLocks noChangeShapeType="1"/>
            </p:cNvSpPr>
            <p:nvPr/>
          </p:nvSpPr>
          <p:spPr bwMode="auto">
            <a:xfrm>
              <a:off x="1020" y="3612"/>
              <a:ext cx="635" cy="2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6" name="Freeform 50"/>
            <p:cNvSpPr/>
            <p:nvPr/>
          </p:nvSpPr>
          <p:spPr bwMode="auto">
            <a:xfrm>
              <a:off x="1247" y="3929"/>
              <a:ext cx="408" cy="99"/>
            </a:xfrm>
            <a:custGeom>
              <a:avLst/>
              <a:gdLst>
                <a:gd name="T0" fmla="*/ 0 w 408"/>
                <a:gd name="T1" fmla="*/ 45 h 99"/>
                <a:gd name="T2" fmla="*/ 227 w 408"/>
                <a:gd name="T3" fmla="*/ 91 h 99"/>
                <a:gd name="T4" fmla="*/ 408 w 408"/>
                <a:gd name="T5" fmla="*/ 0 h 99"/>
                <a:gd name="T6" fmla="*/ 0 60000 65536"/>
                <a:gd name="T7" fmla="*/ 0 60000 65536"/>
                <a:gd name="T8" fmla="*/ 0 60000 65536"/>
                <a:gd name="T9" fmla="*/ 0 w 408"/>
                <a:gd name="T10" fmla="*/ 0 h 99"/>
                <a:gd name="T11" fmla="*/ 408 w 408"/>
                <a:gd name="T12" fmla="*/ 99 h 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8" h="99">
                  <a:moveTo>
                    <a:pt x="0" y="45"/>
                  </a:moveTo>
                  <a:cubicBezTo>
                    <a:pt x="79" y="72"/>
                    <a:pt x="159" y="99"/>
                    <a:pt x="227" y="91"/>
                  </a:cubicBezTo>
                  <a:cubicBezTo>
                    <a:pt x="295" y="83"/>
                    <a:pt x="351" y="41"/>
                    <a:pt x="40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7" name="Freeform 51"/>
            <p:cNvSpPr/>
            <p:nvPr/>
          </p:nvSpPr>
          <p:spPr bwMode="auto">
            <a:xfrm>
              <a:off x="1292" y="3838"/>
              <a:ext cx="363" cy="46"/>
            </a:xfrm>
            <a:custGeom>
              <a:avLst/>
              <a:gdLst>
                <a:gd name="T0" fmla="*/ 0 w 363"/>
                <a:gd name="T1" fmla="*/ 46 h 46"/>
                <a:gd name="T2" fmla="*/ 137 w 363"/>
                <a:gd name="T3" fmla="*/ 0 h 46"/>
                <a:gd name="T4" fmla="*/ 363 w 363"/>
                <a:gd name="T5" fmla="*/ 46 h 46"/>
                <a:gd name="T6" fmla="*/ 0 60000 65536"/>
                <a:gd name="T7" fmla="*/ 0 60000 65536"/>
                <a:gd name="T8" fmla="*/ 0 60000 65536"/>
                <a:gd name="T9" fmla="*/ 0 w 363"/>
                <a:gd name="T10" fmla="*/ 0 h 46"/>
                <a:gd name="T11" fmla="*/ 363 w 36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" h="46">
                  <a:moveTo>
                    <a:pt x="0" y="46"/>
                  </a:moveTo>
                  <a:cubicBezTo>
                    <a:pt x="38" y="23"/>
                    <a:pt x="77" y="0"/>
                    <a:pt x="137" y="0"/>
                  </a:cubicBezTo>
                  <a:cubicBezTo>
                    <a:pt x="197" y="0"/>
                    <a:pt x="280" y="23"/>
                    <a:pt x="363" y="4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3(</a:t>
            </a:r>
            <a:r>
              <a:rPr lang="zh-CN" altLang="en-US" dirty="0"/>
              <a:t>可图化充要条件</a:t>
            </a:r>
            <a:r>
              <a:rPr lang="en-US" altLang="zh-CN" dirty="0"/>
              <a:t>)</a:t>
            </a:r>
            <a:endParaRPr lang="en-US" altLang="zh-CN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35405"/>
            <a:ext cx="8496300" cy="374904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7.3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非负整数列</a:t>
            </a:r>
            <a:r>
              <a:rPr lang="en-US" altLang="zh-CN" i="1" dirty="0"/>
              <a:t>d</a:t>
            </a:r>
            <a:r>
              <a:rPr lang="en-US" altLang="zh-CN" dirty="0"/>
              <a:t>=(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i="1" dirty="0"/>
              <a:t>)</a:t>
            </a:r>
            <a:r>
              <a:rPr lang="zh-CN" altLang="en-US" dirty="0"/>
              <a:t>是可图化的，当且仅当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=0(mod 2)</a:t>
            </a:r>
            <a:r>
              <a:rPr lang="zh-CN" altLang="en-US" dirty="0"/>
              <a:t>。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证明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(⇒) </a:t>
            </a:r>
            <a:r>
              <a:rPr lang="zh-CN" altLang="en-US" dirty="0">
                <a:sym typeface="+mn-ea"/>
              </a:rPr>
              <a:t>（必要性）</a:t>
            </a:r>
            <a:r>
              <a:rPr lang="zh-CN" altLang="en-US" dirty="0"/>
              <a:t>握手定理。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</a:t>
            </a:r>
            <a:r>
              <a:rPr lang="en-US" altLang="zh-CN" dirty="0"/>
              <a:t>(⇐) </a:t>
            </a:r>
            <a:r>
              <a:rPr lang="zh-CN" altLang="en-US" dirty="0"/>
              <a:t>（充分性）奇数度点两两之间连一边</a:t>
            </a:r>
            <a:r>
              <a:rPr lang="en-US" altLang="zh-CN" dirty="0"/>
              <a:t>, </a:t>
            </a:r>
            <a:r>
              <a:rPr lang="zh-CN" altLang="en-US" dirty="0"/>
              <a:t>剩余度用环来实现。</a:t>
            </a:r>
            <a:endParaRPr lang="en-US" altLang="zh-CN" dirty="0"/>
          </a:p>
          <a:p>
            <a:pPr marL="0" indent="0" eaLnBrk="1" hangingPunct="1">
              <a:buNone/>
            </a:pPr>
            <a:r>
              <a:rPr lang="zh-CN" altLang="en-US" dirty="0">
                <a:solidFill>
                  <a:srgbClr val="000000"/>
                </a:solidFill>
              </a:rPr>
              <a:t>例</a:t>
            </a:r>
            <a:r>
              <a:rPr lang="en-US" altLang="zh-CN" dirty="0">
                <a:solidFill>
                  <a:srgbClr val="000000"/>
                </a:solidFill>
              </a:rPr>
              <a:t>: </a:t>
            </a:r>
            <a:r>
              <a:rPr lang="zh-CN" altLang="en-US" dirty="0">
                <a:solidFill>
                  <a:srgbClr val="000000"/>
                </a:solidFill>
              </a:rPr>
              <a:t>下面的两个</a:t>
            </a:r>
            <a:r>
              <a:rPr lang="zh-CN" altLang="en-US" dirty="0"/>
              <a:t>非负整数列</a:t>
            </a:r>
            <a:r>
              <a:rPr lang="en-US" altLang="zh-CN" i="1" dirty="0"/>
              <a:t>d</a:t>
            </a:r>
            <a:r>
              <a:rPr lang="zh-CN" altLang="en-US" dirty="0"/>
              <a:t>，哪个是可图化的？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>
              <a:buNone/>
            </a:pP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dirty="0"/>
              <a:t>(1) </a:t>
            </a:r>
            <a:r>
              <a:rPr lang="en-US" altLang="zh-CN" i="1" dirty="0"/>
              <a:t>d </a:t>
            </a:r>
            <a:r>
              <a:rPr lang="en-US" altLang="zh-CN" dirty="0"/>
              <a:t>=(5,4,4,3,3,2)		(2) </a:t>
            </a:r>
            <a:r>
              <a:rPr lang="en-US" altLang="zh-CN" i="1" dirty="0"/>
              <a:t>d</a:t>
            </a:r>
            <a:r>
              <a:rPr lang="en-US" altLang="zh-CN" dirty="0"/>
              <a:t>=(5,3,3,2,1)</a:t>
            </a:r>
            <a:endParaRPr lang="zh-CN" altLang="en-US" dirty="0"/>
          </a:p>
        </p:txBody>
      </p:sp>
      <p:grpSp>
        <p:nvGrpSpPr>
          <p:cNvPr id="2" name="Group 36"/>
          <p:cNvGrpSpPr/>
          <p:nvPr/>
        </p:nvGrpSpPr>
        <p:grpSpPr bwMode="auto">
          <a:xfrm>
            <a:off x="1671955" y="5372566"/>
            <a:ext cx="2228850" cy="1393825"/>
            <a:chOff x="962" y="2931"/>
            <a:chExt cx="1404" cy="878"/>
          </a:xfrm>
        </p:grpSpPr>
        <p:sp>
          <p:nvSpPr>
            <p:cNvPr id="31768" name="Oval 8"/>
            <p:cNvSpPr>
              <a:spLocks noChangeArrowheads="1"/>
            </p:cNvSpPr>
            <p:nvPr/>
          </p:nvSpPr>
          <p:spPr bwMode="auto">
            <a:xfrm>
              <a:off x="1156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9" name="Oval 9"/>
            <p:cNvSpPr>
              <a:spLocks noChangeArrowheads="1"/>
            </p:cNvSpPr>
            <p:nvPr/>
          </p:nvSpPr>
          <p:spPr bwMode="auto">
            <a:xfrm>
              <a:off x="2018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0" name="Oval 10"/>
            <p:cNvSpPr>
              <a:spLocks noChangeArrowheads="1"/>
            </p:cNvSpPr>
            <p:nvPr/>
          </p:nvSpPr>
          <p:spPr bwMode="auto">
            <a:xfrm>
              <a:off x="1156" y="3612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1" name="Oval 11"/>
            <p:cNvSpPr>
              <a:spLocks noChangeArrowheads="1"/>
            </p:cNvSpPr>
            <p:nvPr/>
          </p:nvSpPr>
          <p:spPr bwMode="auto">
            <a:xfrm>
              <a:off x="1973" y="3612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72" name="Text Box 12"/>
            <p:cNvSpPr txBox="1">
              <a:spLocks noChangeArrowheads="1"/>
            </p:cNvSpPr>
            <p:nvPr/>
          </p:nvSpPr>
          <p:spPr bwMode="auto">
            <a:xfrm>
              <a:off x="962" y="294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73" name="Text Box 13"/>
            <p:cNvSpPr txBox="1">
              <a:spLocks noChangeArrowheads="1"/>
            </p:cNvSpPr>
            <p:nvPr/>
          </p:nvSpPr>
          <p:spPr bwMode="auto">
            <a:xfrm>
              <a:off x="2154" y="29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74" name="Text Box 14"/>
            <p:cNvSpPr txBox="1">
              <a:spLocks noChangeArrowheads="1"/>
            </p:cNvSpPr>
            <p:nvPr/>
          </p:nvSpPr>
          <p:spPr bwMode="auto">
            <a:xfrm>
              <a:off x="975" y="347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75" name="Text Box 15"/>
            <p:cNvSpPr txBox="1">
              <a:spLocks noChangeArrowheads="1"/>
            </p:cNvSpPr>
            <p:nvPr/>
          </p:nvSpPr>
          <p:spPr bwMode="auto">
            <a:xfrm>
              <a:off x="2109" y="352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76" name="Line 16"/>
            <p:cNvSpPr>
              <a:spLocks noChangeShapeType="1"/>
            </p:cNvSpPr>
            <p:nvPr/>
          </p:nvSpPr>
          <p:spPr bwMode="auto">
            <a:xfrm>
              <a:off x="1292" y="3113"/>
              <a:ext cx="7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77" name="Line 17"/>
            <p:cNvSpPr>
              <a:spLocks noChangeShapeType="1"/>
            </p:cNvSpPr>
            <p:nvPr/>
          </p:nvSpPr>
          <p:spPr bwMode="auto">
            <a:xfrm>
              <a:off x="1292" y="3702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5"/>
          <p:cNvGrpSpPr/>
          <p:nvPr/>
        </p:nvGrpSpPr>
        <p:grpSpPr bwMode="auto">
          <a:xfrm>
            <a:off x="4549458" y="5252740"/>
            <a:ext cx="3071812" cy="1655762"/>
            <a:chOff x="3107" y="2795"/>
            <a:chExt cx="1935" cy="1043"/>
          </a:xfrm>
        </p:grpSpPr>
        <p:sp>
          <p:nvSpPr>
            <p:cNvPr id="31751" name="Oval 28"/>
            <p:cNvSpPr>
              <a:spLocks noChangeArrowheads="1"/>
            </p:cNvSpPr>
            <p:nvPr/>
          </p:nvSpPr>
          <p:spPr bwMode="auto">
            <a:xfrm>
              <a:off x="3107" y="2795"/>
              <a:ext cx="499" cy="31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2" name="Oval 18"/>
            <p:cNvSpPr>
              <a:spLocks noChangeArrowheads="1"/>
            </p:cNvSpPr>
            <p:nvPr/>
          </p:nvSpPr>
          <p:spPr bwMode="auto">
            <a:xfrm>
              <a:off x="3348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3" name="Oval 19"/>
            <p:cNvSpPr>
              <a:spLocks noChangeArrowheads="1"/>
            </p:cNvSpPr>
            <p:nvPr/>
          </p:nvSpPr>
          <p:spPr bwMode="auto">
            <a:xfrm>
              <a:off x="4210" y="306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4" name="Oval 20"/>
            <p:cNvSpPr>
              <a:spLocks noChangeArrowheads="1"/>
            </p:cNvSpPr>
            <p:nvPr/>
          </p:nvSpPr>
          <p:spPr bwMode="auto">
            <a:xfrm>
              <a:off x="3348" y="3612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5" name="Oval 21"/>
            <p:cNvSpPr>
              <a:spLocks noChangeArrowheads="1"/>
            </p:cNvSpPr>
            <p:nvPr/>
          </p:nvSpPr>
          <p:spPr bwMode="auto">
            <a:xfrm>
              <a:off x="4165" y="3612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56" name="Text Box 22"/>
            <p:cNvSpPr txBox="1">
              <a:spLocks noChangeArrowheads="1"/>
            </p:cNvSpPr>
            <p:nvPr/>
          </p:nvSpPr>
          <p:spPr bwMode="auto">
            <a:xfrm>
              <a:off x="3107" y="3006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5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57" name="Text Box 23"/>
            <p:cNvSpPr txBox="1">
              <a:spLocks noChangeArrowheads="1"/>
            </p:cNvSpPr>
            <p:nvPr/>
          </p:nvSpPr>
          <p:spPr bwMode="auto">
            <a:xfrm>
              <a:off x="4392" y="293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58" name="Text Box 24"/>
            <p:cNvSpPr txBox="1">
              <a:spLocks noChangeArrowheads="1"/>
            </p:cNvSpPr>
            <p:nvPr/>
          </p:nvSpPr>
          <p:spPr bwMode="auto">
            <a:xfrm>
              <a:off x="3167" y="3550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3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59" name="Text Box 25"/>
            <p:cNvSpPr txBox="1">
              <a:spLocks noChangeArrowheads="1"/>
            </p:cNvSpPr>
            <p:nvPr/>
          </p:nvSpPr>
          <p:spPr bwMode="auto">
            <a:xfrm>
              <a:off x="4301" y="3521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31760" name="Line 26"/>
            <p:cNvSpPr>
              <a:spLocks noChangeShapeType="1"/>
            </p:cNvSpPr>
            <p:nvPr/>
          </p:nvSpPr>
          <p:spPr bwMode="auto">
            <a:xfrm>
              <a:off x="3484" y="3113"/>
              <a:ext cx="7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Line 27"/>
            <p:cNvSpPr>
              <a:spLocks noChangeShapeType="1"/>
            </p:cNvSpPr>
            <p:nvPr/>
          </p:nvSpPr>
          <p:spPr bwMode="auto">
            <a:xfrm>
              <a:off x="3484" y="3702"/>
              <a:ext cx="68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Oval 29"/>
            <p:cNvSpPr>
              <a:spLocks noChangeArrowheads="1"/>
            </p:cNvSpPr>
            <p:nvPr/>
          </p:nvSpPr>
          <p:spPr bwMode="auto">
            <a:xfrm>
              <a:off x="3243" y="2886"/>
              <a:ext cx="272" cy="227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3" name="Oval 30"/>
            <p:cNvSpPr>
              <a:spLocks noChangeArrowheads="1"/>
            </p:cNvSpPr>
            <p:nvPr/>
          </p:nvSpPr>
          <p:spPr bwMode="auto">
            <a:xfrm>
              <a:off x="4105" y="2840"/>
              <a:ext cx="363" cy="2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" name="Oval 31"/>
            <p:cNvSpPr>
              <a:spLocks noChangeArrowheads="1"/>
            </p:cNvSpPr>
            <p:nvPr/>
          </p:nvSpPr>
          <p:spPr bwMode="auto">
            <a:xfrm>
              <a:off x="3243" y="3385"/>
              <a:ext cx="317" cy="27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" name="Oval 32"/>
            <p:cNvSpPr>
              <a:spLocks noChangeArrowheads="1"/>
            </p:cNvSpPr>
            <p:nvPr/>
          </p:nvSpPr>
          <p:spPr bwMode="auto">
            <a:xfrm>
              <a:off x="4694" y="3339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6" name="Oval 33"/>
            <p:cNvSpPr>
              <a:spLocks noChangeArrowheads="1"/>
            </p:cNvSpPr>
            <p:nvPr/>
          </p:nvSpPr>
          <p:spPr bwMode="auto">
            <a:xfrm>
              <a:off x="4513" y="3249"/>
              <a:ext cx="272" cy="363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7" name="Text Box 34"/>
            <p:cNvSpPr txBox="1">
              <a:spLocks noChangeArrowheads="1"/>
            </p:cNvSpPr>
            <p:nvPr/>
          </p:nvSpPr>
          <p:spPr bwMode="auto">
            <a:xfrm>
              <a:off x="4830" y="329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>
                  <a:latin typeface="Times New Roman" panose="02020603050405020304" pitchFamily="18" charset="0"/>
                </a:rPr>
                <a:t>2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186536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dirty="0"/>
              <a:t>Havel</a:t>
            </a:r>
            <a:r>
              <a:rPr lang="zh-CN" altLang="en-US" sz="4000" dirty="0"/>
              <a:t>定理</a:t>
            </a:r>
            <a:r>
              <a:rPr lang="en-US" altLang="zh-CN" sz="4000" dirty="0"/>
              <a:t>(</a:t>
            </a:r>
            <a:r>
              <a:rPr lang="zh-CN" altLang="en-US" sz="4000" dirty="0"/>
              <a:t>可简单图化充要条件</a:t>
            </a:r>
            <a:r>
              <a:rPr lang="en-US" altLang="zh-CN" sz="4000" dirty="0"/>
              <a:t>)</a:t>
            </a:r>
            <a:endParaRPr lang="en-US" altLang="zh-CN" sz="40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4"/>
            <a:ext cx="8496300" cy="5016521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7.5(V. Havel, 1955):</a:t>
            </a:r>
            <a:r>
              <a:rPr lang="zh-CN" altLang="en-US" dirty="0"/>
              <a:t>设非负整数列</a:t>
            </a:r>
            <a:r>
              <a:rPr lang="en-US" altLang="zh-CN" dirty="0"/>
              <a:t>d=(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满足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=0(mod 2)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      </a:t>
            </a:r>
            <a:r>
              <a:rPr lang="en-US" altLang="zh-CN" i="1" dirty="0"/>
              <a:t>n</a:t>
            </a:r>
            <a:r>
              <a:rPr lang="en-US" altLang="zh-CN" dirty="0"/>
              <a:t>-1≥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≥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≥…≥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en-US" altLang="zh-CN" dirty="0"/>
              <a:t>≥0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则</a:t>
            </a:r>
            <a:r>
              <a:rPr lang="en-US" altLang="zh-CN" i="1" dirty="0"/>
              <a:t>d</a:t>
            </a:r>
            <a:r>
              <a:rPr lang="zh-CN" altLang="en-US" dirty="0"/>
              <a:t>可简单图化当且仅当</a:t>
            </a:r>
            <a:endParaRPr lang="zh-CN" alt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i="1" dirty="0"/>
              <a:t>d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dirty="0"/>
              <a:t>=(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-1,</a:t>
            </a:r>
            <a:r>
              <a:rPr lang="en-US" altLang="zh-CN" i="1" dirty="0"/>
              <a:t>d</a:t>
            </a:r>
            <a:r>
              <a:rPr lang="en-US" altLang="zh-CN" baseline="-25000" dirty="0"/>
              <a:t>3</a:t>
            </a:r>
            <a:r>
              <a:rPr lang="en-US" altLang="zh-CN" dirty="0"/>
              <a:t>-1,…,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d</a:t>
            </a:r>
            <a:r>
              <a:rPr lang="en-US" altLang="zh-CN" baseline="-50000" dirty="0"/>
              <a:t>1</a:t>
            </a:r>
            <a:r>
              <a:rPr lang="en-US" altLang="zh-CN" baseline="-25000" dirty="0"/>
              <a:t>+1</a:t>
            </a:r>
            <a:r>
              <a:rPr lang="en-US" altLang="zh-CN" dirty="0"/>
              <a:t>-1, 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d</a:t>
            </a:r>
            <a:r>
              <a:rPr lang="en-US" altLang="zh-CN" baseline="-50000" dirty="0"/>
              <a:t>1</a:t>
            </a:r>
            <a:r>
              <a:rPr lang="en-US" altLang="zh-CN" baseline="-25000" dirty="0"/>
              <a:t>+2</a:t>
            </a:r>
            <a:r>
              <a:rPr lang="en-US" altLang="zh-CN" dirty="0"/>
              <a:t>,…,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可简单图化。</a:t>
            </a:r>
            <a:endParaRPr lang="en-US" altLang="zh-CN" dirty="0"/>
          </a:p>
          <a:p>
            <a:pPr eaLnBrk="1" hangingPunct="1"/>
            <a:r>
              <a:rPr lang="zh-CN" altLang="en-US" dirty="0"/>
              <a:t>例</a:t>
            </a:r>
            <a:r>
              <a:rPr lang="en-US" altLang="zh-CN" dirty="0"/>
              <a:t>: </a:t>
            </a:r>
            <a:r>
              <a:rPr lang="en-US" altLang="zh-CN" i="1" dirty="0"/>
              <a:t>d</a:t>
            </a:r>
            <a:r>
              <a:rPr lang="en-US" altLang="zh-CN" dirty="0"/>
              <a:t>=(</a:t>
            </a:r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4,3,3,2</a:t>
            </a:r>
            <a:r>
              <a:rPr lang="en-US" altLang="zh-CN" dirty="0"/>
              <a:t>,2)</a:t>
            </a:r>
            <a:r>
              <a:rPr lang="zh-CN" altLang="en-US" dirty="0"/>
              <a:t>可简单图化</a:t>
            </a:r>
            <a:r>
              <a:rPr lang="en-US" dirty="0">
                <a:sym typeface="Symbol" panose="05050102010706020507"/>
              </a:rPr>
              <a:t></a:t>
            </a:r>
            <a:r>
              <a:rPr lang="zh-CN" altLang="en-US" dirty="0"/>
              <a:t> </a:t>
            </a:r>
            <a:r>
              <a:rPr lang="en-US" altLang="zh-CN" dirty="0"/>
              <a:t>d</a:t>
            </a:r>
            <a:r>
              <a:rPr lang="en-US" altLang="zh-CN" dirty="0">
                <a:latin typeface="Tahoma" panose="020B0604030504040204" pitchFamily="34" charset="0"/>
              </a:rPr>
              <a:t>’</a:t>
            </a:r>
            <a:r>
              <a:rPr lang="en-US" altLang="zh-CN" dirty="0"/>
              <a:t>=(</a:t>
            </a:r>
            <a:r>
              <a:rPr lang="en-US" altLang="zh-CN" dirty="0">
                <a:solidFill>
                  <a:srgbClr val="FF00FF"/>
                </a:solidFill>
              </a:rPr>
              <a:t>3,2,2,1</a:t>
            </a:r>
            <a:r>
              <a:rPr lang="en-US" altLang="zh-CN" dirty="0"/>
              <a:t>,2)</a:t>
            </a:r>
            <a:r>
              <a:rPr lang="zh-CN" altLang="en-US" dirty="0"/>
              <a:t>可简单图化</a:t>
            </a: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102383">
    <p:wipe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/>
              <a:t>Havel</a:t>
            </a:r>
            <a:r>
              <a:rPr lang="zh-CN" altLang="en-US" dirty="0"/>
              <a:t>定理</a:t>
            </a:r>
            <a:r>
              <a:rPr lang="en-US" altLang="zh-CN" dirty="0"/>
              <a:t>(</a:t>
            </a:r>
            <a:r>
              <a:rPr lang="zh-CN" altLang="en-US" dirty="0"/>
              <a:t>证明示意</a:t>
            </a:r>
            <a:r>
              <a:rPr lang="en-US" altLang="zh-CN" dirty="0"/>
              <a:t>)</a:t>
            </a:r>
            <a:r>
              <a:rPr lang="en-US" altLang="zh-CN" sz="3600" dirty="0"/>
              <a:t>P112</a:t>
            </a:r>
            <a:endParaRPr lang="en-US" altLang="zh-CN" sz="3600" dirty="0"/>
          </a:p>
        </p:txBody>
      </p:sp>
      <p:grpSp>
        <p:nvGrpSpPr>
          <p:cNvPr id="34820" name="Group 60"/>
          <p:cNvGrpSpPr/>
          <p:nvPr/>
        </p:nvGrpSpPr>
        <p:grpSpPr bwMode="auto">
          <a:xfrm>
            <a:off x="376238" y="4076700"/>
            <a:ext cx="7621587" cy="1728788"/>
            <a:chOff x="237" y="2568"/>
            <a:chExt cx="4801" cy="1089"/>
          </a:xfrm>
        </p:grpSpPr>
        <p:sp>
          <p:nvSpPr>
            <p:cNvPr id="34846" name="Oval 36"/>
            <p:cNvSpPr>
              <a:spLocks noChangeArrowheads="1"/>
            </p:cNvSpPr>
            <p:nvPr/>
          </p:nvSpPr>
          <p:spPr bwMode="auto">
            <a:xfrm>
              <a:off x="1292" y="2885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7" name="Oval 37"/>
            <p:cNvSpPr>
              <a:spLocks noChangeArrowheads="1"/>
            </p:cNvSpPr>
            <p:nvPr/>
          </p:nvSpPr>
          <p:spPr bwMode="auto">
            <a:xfrm>
              <a:off x="1655" y="2885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48" name="Oval 38"/>
            <p:cNvSpPr>
              <a:spLocks noChangeArrowheads="1"/>
            </p:cNvSpPr>
            <p:nvPr/>
          </p:nvSpPr>
          <p:spPr bwMode="auto">
            <a:xfrm>
              <a:off x="2018" y="2885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zh-CN" altLang="zh-CN" sz="2800" b="1"/>
            </a:p>
          </p:txBody>
        </p:sp>
        <p:sp>
          <p:nvSpPr>
            <p:cNvPr id="34849" name="Oval 39"/>
            <p:cNvSpPr>
              <a:spLocks noChangeArrowheads="1"/>
            </p:cNvSpPr>
            <p:nvPr/>
          </p:nvSpPr>
          <p:spPr bwMode="auto">
            <a:xfrm>
              <a:off x="2426" y="2885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0" name="Oval 40"/>
            <p:cNvSpPr>
              <a:spLocks noChangeArrowheads="1"/>
            </p:cNvSpPr>
            <p:nvPr/>
          </p:nvSpPr>
          <p:spPr bwMode="auto">
            <a:xfrm>
              <a:off x="2880" y="2885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1" name="Oval 41"/>
            <p:cNvSpPr>
              <a:spLocks noChangeArrowheads="1"/>
            </p:cNvSpPr>
            <p:nvPr/>
          </p:nvSpPr>
          <p:spPr bwMode="auto">
            <a:xfrm>
              <a:off x="3424" y="2885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2" name="Oval 42"/>
            <p:cNvSpPr>
              <a:spLocks noChangeArrowheads="1"/>
            </p:cNvSpPr>
            <p:nvPr/>
          </p:nvSpPr>
          <p:spPr bwMode="auto">
            <a:xfrm>
              <a:off x="3878" y="2885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3" name="Oval 43"/>
            <p:cNvSpPr>
              <a:spLocks noChangeArrowheads="1"/>
            </p:cNvSpPr>
            <p:nvPr/>
          </p:nvSpPr>
          <p:spPr bwMode="auto">
            <a:xfrm>
              <a:off x="4377" y="2885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4" name="Oval 49"/>
            <p:cNvSpPr>
              <a:spLocks noChangeArrowheads="1"/>
            </p:cNvSpPr>
            <p:nvPr/>
          </p:nvSpPr>
          <p:spPr bwMode="auto">
            <a:xfrm>
              <a:off x="1156" y="2568"/>
              <a:ext cx="3674" cy="6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55" name="Text Box 51"/>
            <p:cNvSpPr txBox="1">
              <a:spLocks noChangeArrowheads="1"/>
            </p:cNvSpPr>
            <p:nvPr/>
          </p:nvSpPr>
          <p:spPr bwMode="auto">
            <a:xfrm>
              <a:off x="1201" y="2944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56" name="Text Box 52"/>
            <p:cNvSpPr txBox="1">
              <a:spLocks noChangeArrowheads="1"/>
            </p:cNvSpPr>
            <p:nvPr/>
          </p:nvSpPr>
          <p:spPr bwMode="auto">
            <a:xfrm>
              <a:off x="1564" y="2944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57" name="Text Box 53"/>
            <p:cNvSpPr txBox="1">
              <a:spLocks noChangeArrowheads="1"/>
            </p:cNvSpPr>
            <p:nvPr/>
          </p:nvSpPr>
          <p:spPr bwMode="auto">
            <a:xfrm>
              <a:off x="1973" y="2944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58" name="Text Box 54"/>
            <p:cNvSpPr txBox="1">
              <a:spLocks noChangeArrowheads="1"/>
            </p:cNvSpPr>
            <p:nvPr/>
          </p:nvSpPr>
          <p:spPr bwMode="auto">
            <a:xfrm>
              <a:off x="2789" y="2944"/>
              <a:ext cx="53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+1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59" name="Text Box 55"/>
            <p:cNvSpPr txBox="1">
              <a:spLocks noChangeArrowheads="1"/>
            </p:cNvSpPr>
            <p:nvPr/>
          </p:nvSpPr>
          <p:spPr bwMode="auto">
            <a:xfrm>
              <a:off x="3288" y="2944"/>
              <a:ext cx="53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+2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60" name="Text Box 56"/>
            <p:cNvSpPr txBox="1">
              <a:spLocks noChangeArrowheads="1"/>
            </p:cNvSpPr>
            <p:nvPr/>
          </p:nvSpPr>
          <p:spPr bwMode="auto">
            <a:xfrm>
              <a:off x="4286" y="2944"/>
              <a:ext cx="300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61" name="Text Box 57"/>
            <p:cNvSpPr txBox="1">
              <a:spLocks noChangeArrowheads="1"/>
            </p:cNvSpPr>
            <p:nvPr/>
          </p:nvSpPr>
          <p:spPr bwMode="auto">
            <a:xfrm>
              <a:off x="657" y="3330"/>
              <a:ext cx="438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/>
                <a:t>’</a:t>
              </a:r>
              <a:r>
                <a:rPr lang="en-US" altLang="zh-CN" sz="2800" b="1">
                  <a:latin typeface="Times New Roman" panose="02020603050405020304" pitchFamily="18" charset="0"/>
                </a:rPr>
                <a:t>=(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>
                  <a:latin typeface="Times New Roman" panose="02020603050405020304" pitchFamily="18" charset="0"/>
                </a:rPr>
                <a:t>-1,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b="1"/>
                <a:t>-1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b="1"/>
                <a:t>-1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…,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+1</a:t>
              </a:r>
              <a:r>
                <a:rPr lang="en-US" altLang="zh-CN" b="1"/>
                <a:t>-1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+2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 …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4862" name="Text Box 58"/>
            <p:cNvSpPr txBox="1">
              <a:spLocks noChangeArrowheads="1"/>
            </p:cNvSpPr>
            <p:nvPr/>
          </p:nvSpPr>
          <p:spPr bwMode="auto">
            <a:xfrm>
              <a:off x="237" y="2771"/>
              <a:ext cx="352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anose="02020603050405020304" pitchFamily="18" charset="0"/>
                </a:rPr>
                <a:t>G</a:t>
              </a:r>
              <a:r>
                <a:rPr lang="en-US" altLang="zh-CN" sz="2800" b="1"/>
                <a:t>’</a:t>
              </a:r>
              <a:endParaRPr lang="en-US" altLang="zh-CN" sz="2800" b="1"/>
            </a:p>
          </p:txBody>
        </p:sp>
      </p:grpSp>
      <p:grpSp>
        <p:nvGrpSpPr>
          <p:cNvPr id="34821" name="Group 71"/>
          <p:cNvGrpSpPr/>
          <p:nvPr/>
        </p:nvGrpSpPr>
        <p:grpSpPr bwMode="auto">
          <a:xfrm>
            <a:off x="376238" y="1412875"/>
            <a:ext cx="7291387" cy="1728788"/>
            <a:chOff x="237" y="890"/>
            <a:chExt cx="4593" cy="1089"/>
          </a:xfrm>
        </p:grpSpPr>
        <p:sp>
          <p:nvSpPr>
            <p:cNvPr id="34822" name="Oval 4"/>
            <p:cNvSpPr>
              <a:spLocks noChangeArrowheads="1"/>
            </p:cNvSpPr>
            <p:nvPr/>
          </p:nvSpPr>
          <p:spPr bwMode="auto">
            <a:xfrm>
              <a:off x="793" y="1207"/>
              <a:ext cx="136" cy="136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3" name="Oval 5"/>
            <p:cNvSpPr>
              <a:spLocks noChangeArrowheads="1"/>
            </p:cNvSpPr>
            <p:nvPr/>
          </p:nvSpPr>
          <p:spPr bwMode="auto">
            <a:xfrm>
              <a:off x="1292" y="1207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4" name="Oval 6"/>
            <p:cNvSpPr>
              <a:spLocks noChangeArrowheads="1"/>
            </p:cNvSpPr>
            <p:nvPr/>
          </p:nvSpPr>
          <p:spPr bwMode="auto">
            <a:xfrm>
              <a:off x="1655" y="1207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5" name="Oval 7"/>
            <p:cNvSpPr>
              <a:spLocks noChangeArrowheads="1"/>
            </p:cNvSpPr>
            <p:nvPr/>
          </p:nvSpPr>
          <p:spPr bwMode="auto">
            <a:xfrm>
              <a:off x="2018" y="1207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pPr algn="ctr"/>
              <a:endParaRPr lang="zh-CN" altLang="zh-CN" sz="2800" b="1"/>
            </a:p>
          </p:txBody>
        </p:sp>
        <p:sp>
          <p:nvSpPr>
            <p:cNvPr id="34826" name="Oval 8"/>
            <p:cNvSpPr>
              <a:spLocks noChangeArrowheads="1"/>
            </p:cNvSpPr>
            <p:nvPr/>
          </p:nvSpPr>
          <p:spPr bwMode="auto">
            <a:xfrm>
              <a:off x="2426" y="1207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7" name="Oval 9"/>
            <p:cNvSpPr>
              <a:spLocks noChangeArrowheads="1"/>
            </p:cNvSpPr>
            <p:nvPr/>
          </p:nvSpPr>
          <p:spPr bwMode="auto">
            <a:xfrm>
              <a:off x="2880" y="1207"/>
              <a:ext cx="136" cy="136"/>
            </a:xfrm>
            <a:prstGeom prst="ellipse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8" name="Oval 10"/>
            <p:cNvSpPr>
              <a:spLocks noChangeArrowheads="1"/>
            </p:cNvSpPr>
            <p:nvPr/>
          </p:nvSpPr>
          <p:spPr bwMode="auto">
            <a:xfrm>
              <a:off x="3424" y="120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29" name="Oval 11"/>
            <p:cNvSpPr>
              <a:spLocks noChangeArrowheads="1"/>
            </p:cNvSpPr>
            <p:nvPr/>
          </p:nvSpPr>
          <p:spPr bwMode="auto">
            <a:xfrm>
              <a:off x="3878" y="120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0" name="Oval 12"/>
            <p:cNvSpPr>
              <a:spLocks noChangeArrowheads="1"/>
            </p:cNvSpPr>
            <p:nvPr/>
          </p:nvSpPr>
          <p:spPr bwMode="auto">
            <a:xfrm>
              <a:off x="4377" y="1207"/>
              <a:ext cx="136" cy="13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1" name="Freeform 13"/>
            <p:cNvSpPr/>
            <p:nvPr/>
          </p:nvSpPr>
          <p:spPr bwMode="auto">
            <a:xfrm>
              <a:off x="884" y="1208"/>
              <a:ext cx="454" cy="45"/>
            </a:xfrm>
            <a:custGeom>
              <a:avLst/>
              <a:gdLst>
                <a:gd name="T0" fmla="*/ 0 w 454"/>
                <a:gd name="T1" fmla="*/ 45 h 45"/>
                <a:gd name="T2" fmla="*/ 227 w 454"/>
                <a:gd name="T3" fmla="*/ 0 h 45"/>
                <a:gd name="T4" fmla="*/ 454 w 454"/>
                <a:gd name="T5" fmla="*/ 45 h 45"/>
                <a:gd name="T6" fmla="*/ 0 60000 65536"/>
                <a:gd name="T7" fmla="*/ 0 60000 65536"/>
                <a:gd name="T8" fmla="*/ 0 60000 65536"/>
                <a:gd name="T9" fmla="*/ 0 w 454"/>
                <a:gd name="T10" fmla="*/ 0 h 45"/>
                <a:gd name="T11" fmla="*/ 454 w 454"/>
                <a:gd name="T12" fmla="*/ 45 h 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4" h="45">
                  <a:moveTo>
                    <a:pt x="0" y="45"/>
                  </a:moveTo>
                  <a:cubicBezTo>
                    <a:pt x="75" y="22"/>
                    <a:pt x="151" y="0"/>
                    <a:pt x="227" y="0"/>
                  </a:cubicBezTo>
                  <a:cubicBezTo>
                    <a:pt x="303" y="0"/>
                    <a:pt x="378" y="22"/>
                    <a:pt x="454" y="45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Freeform 16"/>
            <p:cNvSpPr/>
            <p:nvPr/>
          </p:nvSpPr>
          <p:spPr bwMode="auto">
            <a:xfrm>
              <a:off x="884" y="1121"/>
              <a:ext cx="816" cy="105"/>
            </a:xfrm>
            <a:custGeom>
              <a:avLst/>
              <a:gdLst>
                <a:gd name="T0" fmla="*/ 0 w 816"/>
                <a:gd name="T1" fmla="*/ 105 h 105"/>
                <a:gd name="T2" fmla="*/ 136 w 816"/>
                <a:gd name="T3" fmla="*/ 15 h 105"/>
                <a:gd name="T4" fmla="*/ 317 w 816"/>
                <a:gd name="T5" fmla="*/ 15 h 105"/>
                <a:gd name="T6" fmla="*/ 816 w 816"/>
                <a:gd name="T7" fmla="*/ 105 h 1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6"/>
                <a:gd name="T13" fmla="*/ 0 h 105"/>
                <a:gd name="T14" fmla="*/ 816 w 816"/>
                <a:gd name="T15" fmla="*/ 105 h 1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6" h="105">
                  <a:moveTo>
                    <a:pt x="0" y="105"/>
                  </a:moveTo>
                  <a:cubicBezTo>
                    <a:pt x="41" y="67"/>
                    <a:pt x="83" y="30"/>
                    <a:pt x="136" y="15"/>
                  </a:cubicBezTo>
                  <a:cubicBezTo>
                    <a:pt x="189" y="0"/>
                    <a:pt x="204" y="0"/>
                    <a:pt x="317" y="15"/>
                  </a:cubicBezTo>
                  <a:cubicBezTo>
                    <a:pt x="430" y="30"/>
                    <a:pt x="623" y="67"/>
                    <a:pt x="816" y="105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Freeform 18"/>
            <p:cNvSpPr/>
            <p:nvPr/>
          </p:nvSpPr>
          <p:spPr bwMode="auto">
            <a:xfrm>
              <a:off x="884" y="1056"/>
              <a:ext cx="1179" cy="151"/>
            </a:xfrm>
            <a:custGeom>
              <a:avLst/>
              <a:gdLst>
                <a:gd name="T0" fmla="*/ 0 w 1179"/>
                <a:gd name="T1" fmla="*/ 151 h 151"/>
                <a:gd name="T2" fmla="*/ 181 w 1179"/>
                <a:gd name="T3" fmla="*/ 15 h 151"/>
                <a:gd name="T4" fmla="*/ 635 w 1179"/>
                <a:gd name="T5" fmla="*/ 61 h 151"/>
                <a:gd name="T6" fmla="*/ 1179 w 1179"/>
                <a:gd name="T7" fmla="*/ 151 h 15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79"/>
                <a:gd name="T13" fmla="*/ 0 h 151"/>
                <a:gd name="T14" fmla="*/ 1179 w 1179"/>
                <a:gd name="T15" fmla="*/ 151 h 15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79" h="151">
                  <a:moveTo>
                    <a:pt x="0" y="151"/>
                  </a:moveTo>
                  <a:cubicBezTo>
                    <a:pt x="37" y="90"/>
                    <a:pt x="75" y="30"/>
                    <a:pt x="181" y="15"/>
                  </a:cubicBezTo>
                  <a:cubicBezTo>
                    <a:pt x="287" y="0"/>
                    <a:pt x="469" y="38"/>
                    <a:pt x="635" y="61"/>
                  </a:cubicBezTo>
                  <a:cubicBezTo>
                    <a:pt x="801" y="84"/>
                    <a:pt x="990" y="117"/>
                    <a:pt x="1179" y="151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Oval 23"/>
            <p:cNvSpPr>
              <a:spLocks noChangeArrowheads="1"/>
            </p:cNvSpPr>
            <p:nvPr/>
          </p:nvSpPr>
          <p:spPr bwMode="auto">
            <a:xfrm>
              <a:off x="1156" y="890"/>
              <a:ext cx="3674" cy="6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35" name="Text Box 24"/>
            <p:cNvSpPr txBox="1">
              <a:spLocks noChangeArrowheads="1"/>
            </p:cNvSpPr>
            <p:nvPr/>
          </p:nvSpPr>
          <p:spPr bwMode="auto">
            <a:xfrm>
              <a:off x="735" y="1279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36" name="Text Box 25"/>
            <p:cNvSpPr txBox="1">
              <a:spLocks noChangeArrowheads="1"/>
            </p:cNvSpPr>
            <p:nvPr/>
          </p:nvSpPr>
          <p:spPr bwMode="auto">
            <a:xfrm>
              <a:off x="1201" y="1266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37" name="Text Box 26"/>
            <p:cNvSpPr txBox="1">
              <a:spLocks noChangeArrowheads="1"/>
            </p:cNvSpPr>
            <p:nvPr/>
          </p:nvSpPr>
          <p:spPr bwMode="auto">
            <a:xfrm>
              <a:off x="1564" y="1266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38" name="Text Box 27"/>
            <p:cNvSpPr txBox="1">
              <a:spLocks noChangeArrowheads="1"/>
            </p:cNvSpPr>
            <p:nvPr/>
          </p:nvSpPr>
          <p:spPr bwMode="auto">
            <a:xfrm>
              <a:off x="1973" y="1266"/>
              <a:ext cx="29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39" name="Text Box 28"/>
            <p:cNvSpPr txBox="1">
              <a:spLocks noChangeArrowheads="1"/>
            </p:cNvSpPr>
            <p:nvPr/>
          </p:nvSpPr>
          <p:spPr bwMode="auto">
            <a:xfrm>
              <a:off x="2789" y="1266"/>
              <a:ext cx="53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+1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40" name="Text Box 29"/>
            <p:cNvSpPr txBox="1">
              <a:spLocks noChangeArrowheads="1"/>
            </p:cNvSpPr>
            <p:nvPr/>
          </p:nvSpPr>
          <p:spPr bwMode="auto">
            <a:xfrm>
              <a:off x="3288" y="1266"/>
              <a:ext cx="539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+2</a:t>
              </a:r>
              <a:endParaRPr lang="en-US" altLang="zh-CN" sz="2800" b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41" name="Text Box 30"/>
            <p:cNvSpPr txBox="1">
              <a:spLocks noChangeArrowheads="1"/>
            </p:cNvSpPr>
            <p:nvPr/>
          </p:nvSpPr>
          <p:spPr bwMode="auto">
            <a:xfrm>
              <a:off x="4286" y="1266"/>
              <a:ext cx="300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v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n</a:t>
              </a:r>
              <a:endParaRPr lang="en-US" altLang="zh-CN" sz="2800" b="1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34842" name="Text Box 31"/>
            <p:cNvSpPr txBox="1">
              <a:spLocks noChangeArrowheads="1"/>
            </p:cNvSpPr>
            <p:nvPr/>
          </p:nvSpPr>
          <p:spPr bwMode="auto">
            <a:xfrm>
              <a:off x="340" y="1652"/>
              <a:ext cx="4381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>
                  <a:latin typeface="Times New Roman" panose="02020603050405020304" pitchFamily="18" charset="0"/>
                </a:rPr>
                <a:t>=(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2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3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4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  …,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+1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baseline="-50000">
                  <a:latin typeface="Times New Roman" panose="02020603050405020304" pitchFamily="18" charset="0"/>
                </a:rPr>
                <a:t>1</a:t>
              </a:r>
              <a:r>
                <a:rPr lang="en-US" altLang="zh-CN" sz="2800" b="1" baseline="-25000">
                  <a:latin typeface="Times New Roman" panose="02020603050405020304" pitchFamily="18" charset="0"/>
                </a:rPr>
                <a:t>+2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  …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 i="1" baseline="-25000">
                  <a:latin typeface="Times New Roman" panose="02020603050405020304" pitchFamily="18" charset="0"/>
                </a:rPr>
                <a:t>n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  <a:r>
                <a:rPr lang="en-US" altLang="zh-CN" sz="2800">
                  <a:latin typeface="Times New Roman" panose="02020603050405020304" pitchFamily="18" charset="0"/>
                </a:rPr>
                <a:t> </a:t>
              </a:r>
              <a:endParaRPr lang="en-US" altLang="zh-CN" sz="2800">
                <a:latin typeface="Times New Roman" panose="02020603050405020304" pitchFamily="18" charset="0"/>
              </a:endParaRPr>
            </a:p>
          </p:txBody>
        </p:sp>
        <p:sp>
          <p:nvSpPr>
            <p:cNvPr id="34843" name="Text Box 33"/>
            <p:cNvSpPr txBox="1">
              <a:spLocks noChangeArrowheads="1"/>
            </p:cNvSpPr>
            <p:nvPr/>
          </p:nvSpPr>
          <p:spPr bwMode="auto">
            <a:xfrm>
              <a:off x="237" y="1098"/>
              <a:ext cx="290" cy="32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>
                  <a:latin typeface="Times New Roman" panose="02020603050405020304" pitchFamily="18" charset="0"/>
                </a:rPr>
                <a:t>G</a:t>
              </a:r>
              <a:endParaRPr lang="en-US" altLang="zh-CN" sz="2800" b="1">
                <a:latin typeface="Times New Roman" panose="02020603050405020304" pitchFamily="18" charset="0"/>
              </a:endParaRPr>
            </a:p>
          </p:txBody>
        </p:sp>
        <p:sp>
          <p:nvSpPr>
            <p:cNvPr id="34844" name="Freeform 64"/>
            <p:cNvSpPr/>
            <p:nvPr/>
          </p:nvSpPr>
          <p:spPr bwMode="auto">
            <a:xfrm>
              <a:off x="839" y="996"/>
              <a:ext cx="1633" cy="211"/>
            </a:xfrm>
            <a:custGeom>
              <a:avLst/>
              <a:gdLst>
                <a:gd name="T0" fmla="*/ 0 w 1633"/>
                <a:gd name="T1" fmla="*/ 211 h 211"/>
                <a:gd name="T2" fmla="*/ 136 w 1633"/>
                <a:gd name="T3" fmla="*/ 30 h 211"/>
                <a:gd name="T4" fmla="*/ 408 w 1633"/>
                <a:gd name="T5" fmla="*/ 30 h 211"/>
                <a:gd name="T6" fmla="*/ 1633 w 1633"/>
                <a:gd name="T7" fmla="*/ 211 h 21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33"/>
                <a:gd name="T13" fmla="*/ 0 h 211"/>
                <a:gd name="T14" fmla="*/ 1633 w 1633"/>
                <a:gd name="T15" fmla="*/ 211 h 21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33" h="211">
                  <a:moveTo>
                    <a:pt x="0" y="211"/>
                  </a:moveTo>
                  <a:cubicBezTo>
                    <a:pt x="34" y="135"/>
                    <a:pt x="68" y="60"/>
                    <a:pt x="136" y="30"/>
                  </a:cubicBezTo>
                  <a:cubicBezTo>
                    <a:pt x="204" y="0"/>
                    <a:pt x="159" y="0"/>
                    <a:pt x="408" y="30"/>
                  </a:cubicBezTo>
                  <a:cubicBezTo>
                    <a:pt x="657" y="60"/>
                    <a:pt x="1145" y="135"/>
                    <a:pt x="1633" y="211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Freeform 70"/>
            <p:cNvSpPr/>
            <p:nvPr/>
          </p:nvSpPr>
          <p:spPr bwMode="auto">
            <a:xfrm>
              <a:off x="839" y="920"/>
              <a:ext cx="2086" cy="333"/>
            </a:xfrm>
            <a:custGeom>
              <a:avLst/>
              <a:gdLst>
                <a:gd name="T0" fmla="*/ 0 w 2086"/>
                <a:gd name="T1" fmla="*/ 287 h 333"/>
                <a:gd name="T2" fmla="*/ 91 w 2086"/>
                <a:gd name="T3" fmla="*/ 106 h 333"/>
                <a:gd name="T4" fmla="*/ 227 w 2086"/>
                <a:gd name="T5" fmla="*/ 15 h 333"/>
                <a:gd name="T6" fmla="*/ 363 w 2086"/>
                <a:gd name="T7" fmla="*/ 15 h 333"/>
                <a:gd name="T8" fmla="*/ 771 w 2086"/>
                <a:gd name="T9" fmla="*/ 61 h 333"/>
                <a:gd name="T10" fmla="*/ 2086 w 2086"/>
                <a:gd name="T11" fmla="*/ 333 h 3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086"/>
                <a:gd name="T19" fmla="*/ 0 h 333"/>
                <a:gd name="T20" fmla="*/ 2086 w 2086"/>
                <a:gd name="T21" fmla="*/ 333 h 33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086" h="333">
                  <a:moveTo>
                    <a:pt x="0" y="287"/>
                  </a:moveTo>
                  <a:cubicBezTo>
                    <a:pt x="26" y="219"/>
                    <a:pt x="53" y="151"/>
                    <a:pt x="91" y="106"/>
                  </a:cubicBezTo>
                  <a:cubicBezTo>
                    <a:pt x="129" y="61"/>
                    <a:pt x="182" y="30"/>
                    <a:pt x="227" y="15"/>
                  </a:cubicBezTo>
                  <a:cubicBezTo>
                    <a:pt x="272" y="0"/>
                    <a:pt x="272" y="7"/>
                    <a:pt x="363" y="15"/>
                  </a:cubicBezTo>
                  <a:cubicBezTo>
                    <a:pt x="454" y="23"/>
                    <a:pt x="484" y="8"/>
                    <a:pt x="771" y="61"/>
                  </a:cubicBezTo>
                  <a:cubicBezTo>
                    <a:pt x="1058" y="114"/>
                    <a:pt x="1572" y="223"/>
                    <a:pt x="2086" y="333"/>
                  </a:cubicBezTo>
                </a:path>
              </a:pathLst>
            </a:custGeom>
            <a:noFill/>
            <a:ln w="28575">
              <a:solidFill>
                <a:schemeClr val="tx2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73264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可简单图化举例</a:t>
            </a:r>
            <a:endParaRPr lang="en-US" altLang="zh-CN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4"/>
            <a:ext cx="8496300" cy="496845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例</a:t>
            </a:r>
            <a:r>
              <a:rPr lang="en-US" altLang="zh-CN" dirty="0"/>
              <a:t>7.4</a:t>
            </a:r>
            <a:r>
              <a:rPr lang="zh-CN" altLang="en-US" dirty="0"/>
              <a:t>：判断下列非负整数列是否是可简单图化的。</a:t>
            </a:r>
            <a:r>
              <a:rPr lang="en-US" altLang="zh-CN" dirty="0"/>
              <a:t>                       (1) d</a:t>
            </a:r>
            <a:r>
              <a:rPr lang="en-US" altLang="zh-CN" baseline="-25000" dirty="0"/>
              <a:t>1</a:t>
            </a:r>
            <a:r>
              <a:rPr lang="en-US" altLang="zh-CN" dirty="0"/>
              <a:t>=(5,5,4,4,2,2)       	(2) d</a:t>
            </a:r>
            <a:r>
              <a:rPr lang="en-US" altLang="zh-CN" baseline="-25000" dirty="0"/>
              <a:t>2</a:t>
            </a:r>
            <a:r>
              <a:rPr lang="en-US" altLang="zh-CN" dirty="0"/>
              <a:t>=(4,4,3,3,2,2)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>
                <a:solidFill>
                  <a:srgbClr val="000000"/>
                </a:solidFill>
              </a:rPr>
              <a:t>解</a:t>
            </a:r>
            <a:r>
              <a:rPr lang="en-US" altLang="zh-CN" dirty="0">
                <a:solidFill>
                  <a:srgbClr val="000000"/>
                </a:solidFill>
              </a:rPr>
              <a:t>:</a:t>
            </a:r>
            <a:r>
              <a:rPr lang="en-US" altLang="zh-CN" dirty="0"/>
              <a:t> (1) 0</a:t>
            </a:r>
            <a:r>
              <a:rPr lang="en-US" altLang="zh-CN" dirty="0">
                <a:sym typeface="Symbol" panose="05050102010706020507" pitchFamily="18" charset="2"/>
              </a:rPr>
              <a:t> </a:t>
            </a:r>
            <a:r>
              <a:rPr lang="en-US" altLang="zh-CN" dirty="0"/>
              <a:t>maxd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 5, (5+5+</a:t>
            </a:r>
            <a:r>
              <a:rPr lang="en-US" altLang="zh-CN" dirty="0"/>
              <a:t>4+4+2+2)mod2=0</a:t>
            </a:r>
            <a:endParaRPr lang="en-US" altLang="zh-CN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  (</a:t>
            </a:r>
            <a:r>
              <a:rPr lang="en-US" altLang="zh-CN" dirty="0">
                <a:solidFill>
                  <a:schemeClr val="tx2"/>
                </a:solidFill>
              </a:rPr>
              <a:t>5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5,4,4,2,2</a:t>
            </a:r>
            <a:r>
              <a:rPr lang="en-US" altLang="zh-CN" dirty="0"/>
              <a:t>)</a:t>
            </a:r>
            <a:r>
              <a:rPr lang="zh-CN" altLang="en-US" dirty="0"/>
              <a:t>可简单图化</a:t>
            </a:r>
            <a:r>
              <a:rPr lang="en-US" dirty="0">
                <a:sym typeface="Symbol" panose="05050102010706020507"/>
              </a:rPr>
              <a:t>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3,3,1,1</a:t>
            </a:r>
            <a:r>
              <a:rPr lang="en-US" altLang="zh-CN" dirty="0"/>
              <a:t>) </a:t>
            </a:r>
            <a:r>
              <a:rPr lang="zh-CN" altLang="en-US" dirty="0"/>
              <a:t>可简单图化</a:t>
            </a:r>
            <a:endParaRPr lang="en-US" altLang="zh-CN" dirty="0"/>
          </a:p>
          <a:p>
            <a:pPr eaLnBrk="1" hangingPunct="1">
              <a:buNone/>
            </a:pPr>
            <a:r>
              <a:rPr lang="en-US" dirty="0">
                <a:sym typeface="Symbol" panose="05050102010706020507"/>
              </a:rPr>
              <a:t>       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2,0</a:t>
            </a:r>
            <a:r>
              <a:rPr lang="en-US" altLang="zh-CN" dirty="0"/>
              <a:t>,0)</a:t>
            </a:r>
            <a:r>
              <a:rPr lang="zh-CN" altLang="en-US" dirty="0"/>
              <a:t>可简单图化</a:t>
            </a:r>
            <a:r>
              <a:rPr lang="en-US" dirty="0">
                <a:sym typeface="Symbol" panose="05050102010706020507"/>
              </a:rPr>
              <a:t></a:t>
            </a:r>
            <a:r>
              <a:rPr lang="en-US" altLang="zh-CN" dirty="0"/>
              <a:t> (1,-1,0)</a:t>
            </a:r>
            <a:r>
              <a:rPr lang="zh-CN" altLang="en-US" dirty="0"/>
              <a:t>可简单图化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显然</a:t>
            </a:r>
            <a:r>
              <a:rPr lang="en-US" altLang="zh-CN" dirty="0"/>
              <a:t>(1,-1,0)</a:t>
            </a:r>
            <a:r>
              <a:rPr lang="zh-CN" altLang="en-US" dirty="0"/>
              <a:t>不可简单图化</a:t>
            </a:r>
            <a:r>
              <a:rPr lang="en-US" altLang="zh-CN" dirty="0"/>
              <a:t>, </a:t>
            </a:r>
            <a:r>
              <a:rPr lang="zh-CN" altLang="en-US" dirty="0"/>
              <a:t>所以</a:t>
            </a: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zh-CN" altLang="en-US" dirty="0"/>
              <a:t>不是可简单图化的。</a:t>
            </a: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858">
    <p:wipe dir="r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7.4  Havel</a:t>
            </a:r>
            <a:r>
              <a:rPr lang="zh-CN" altLang="en-US" dirty="0"/>
              <a:t>定理</a:t>
            </a:r>
            <a:r>
              <a:rPr lang="en-US" altLang="zh-CN" dirty="0"/>
              <a:t>(</a:t>
            </a:r>
            <a:r>
              <a:rPr lang="zh-CN" altLang="en-US" dirty="0"/>
              <a:t>举例</a:t>
            </a:r>
            <a:r>
              <a:rPr lang="en-US" altLang="zh-CN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412875"/>
            <a:ext cx="8623300" cy="5256530"/>
          </a:xfrm>
        </p:spPr>
        <p:txBody>
          <a:bodyPr/>
          <a:lstStyle/>
          <a:p>
            <a:pPr eaLnBrk="1" hangingPunct="1">
              <a:buNone/>
            </a:pPr>
            <a:r>
              <a:rPr lang="en-US" altLang="zh-CN" dirty="0">
                <a:sym typeface="+mn-ea"/>
              </a:rPr>
              <a:t>(2) d</a:t>
            </a:r>
            <a:r>
              <a:rPr lang="en-US" altLang="zh-CN" baseline="-25000" dirty="0">
                <a:sym typeface="+mn-ea"/>
              </a:rPr>
              <a:t>2</a:t>
            </a:r>
            <a:r>
              <a:rPr lang="en-US" altLang="zh-CN" dirty="0">
                <a:sym typeface="+mn-ea"/>
              </a:rPr>
              <a:t>=(4,4,3,3,2,2)</a:t>
            </a:r>
            <a:endParaRPr lang="zh-CN" altLang="en-US" dirty="0"/>
          </a:p>
          <a:p>
            <a:pPr eaLnBrk="1" hangingPunct="1">
              <a:buNone/>
            </a:pPr>
            <a:r>
              <a:rPr lang="zh-CN" altLang="en-US" dirty="0"/>
              <a:t>解</a:t>
            </a:r>
            <a:r>
              <a:rPr lang="en-US" altLang="zh-CN" dirty="0"/>
              <a:t>(2) 0</a:t>
            </a:r>
            <a:r>
              <a:rPr lang="en-US" altLang="zh-CN" dirty="0">
                <a:sym typeface="Symbol" panose="05050102010706020507" pitchFamily="18" charset="2"/>
              </a:rPr>
              <a:t> </a:t>
            </a:r>
            <a:r>
              <a:rPr lang="en-US" altLang="zh-CN" dirty="0"/>
              <a:t>maxd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=4&lt;5, (</a:t>
            </a:r>
            <a:r>
              <a:rPr lang="en-US" altLang="zh-CN" dirty="0"/>
              <a:t>4+4+3+3+2+2)mod2=0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(</a:t>
            </a:r>
            <a:r>
              <a:rPr lang="en-US" altLang="zh-CN" dirty="0">
                <a:solidFill>
                  <a:schemeClr val="tx2"/>
                </a:solidFill>
              </a:rPr>
              <a:t>4</a:t>
            </a:r>
            <a:r>
              <a:rPr lang="en-US" altLang="zh-CN" dirty="0"/>
              <a:t>,</a:t>
            </a:r>
            <a:r>
              <a:rPr lang="en-US" altLang="zh-CN" dirty="0">
                <a:solidFill>
                  <a:srgbClr val="FF00FF"/>
                </a:solidFill>
              </a:rPr>
              <a:t>4,3,3,2</a:t>
            </a:r>
            <a:r>
              <a:rPr lang="en-US" altLang="zh-CN" dirty="0"/>
              <a:t>,2)</a:t>
            </a:r>
            <a:r>
              <a:rPr lang="zh-CN" altLang="en-US" dirty="0"/>
              <a:t>可简单图化</a:t>
            </a:r>
            <a:r>
              <a:rPr lang="en-US" dirty="0">
                <a:sym typeface="Symbol" panose="05050102010706020507"/>
              </a:rPr>
              <a:t> </a:t>
            </a:r>
            <a:r>
              <a:rPr lang="en-US" altLang="zh-CN" dirty="0"/>
              <a:t>(3,2,2,</a:t>
            </a:r>
            <a:r>
              <a:rPr lang="en-US" altLang="zh-CN" dirty="0">
                <a:solidFill>
                  <a:srgbClr val="FF00FF"/>
                </a:solidFill>
              </a:rPr>
              <a:t>1,2</a:t>
            </a:r>
            <a:r>
              <a:rPr lang="en-US" altLang="zh-CN" dirty="0"/>
              <a:t>) </a:t>
            </a:r>
            <a:r>
              <a:rPr lang="zh-CN" altLang="en-US" dirty="0"/>
              <a:t>可简单图化</a:t>
            </a:r>
            <a:endParaRPr lang="en-US" altLang="zh-CN" dirty="0"/>
          </a:p>
          <a:p>
            <a:pPr eaLnBrk="1" hangingPunct="1">
              <a:buNone/>
            </a:pPr>
            <a:r>
              <a:rPr lang="en-US" dirty="0">
                <a:sym typeface="Symbol" panose="05050102010706020507"/>
              </a:rPr>
              <a:t></a:t>
            </a:r>
            <a:r>
              <a:rPr lang="en-US" altLang="zh-CN" dirty="0"/>
              <a:t> (</a:t>
            </a:r>
            <a:r>
              <a:rPr lang="en-US" altLang="zh-CN" dirty="0">
                <a:solidFill>
                  <a:schemeClr val="tx2"/>
                </a:solidFill>
              </a:rPr>
              <a:t>3</a:t>
            </a:r>
            <a:r>
              <a:rPr lang="en-US" altLang="zh-CN" dirty="0"/>
              <a:t>,2,2,2,1) </a:t>
            </a:r>
            <a:r>
              <a:rPr lang="zh-CN" altLang="en-US" dirty="0"/>
              <a:t>可简单图化</a:t>
            </a:r>
            <a:r>
              <a:rPr lang="en-US" dirty="0">
                <a:sym typeface="Symbol" panose="05050102010706020507"/>
              </a:rPr>
              <a:t></a:t>
            </a:r>
            <a:r>
              <a:rPr lang="en-US" altLang="zh-CN" dirty="0">
                <a:solidFill>
                  <a:srgbClr val="000000"/>
                </a:solidFill>
              </a:rPr>
              <a:t>(1,1,1,1) </a:t>
            </a:r>
            <a:r>
              <a:rPr lang="zh-CN" altLang="en-US" dirty="0"/>
              <a:t>可简单图化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显然</a:t>
            </a:r>
            <a:r>
              <a:rPr lang="en-US" altLang="zh-CN" dirty="0">
                <a:solidFill>
                  <a:srgbClr val="000000"/>
                </a:solidFill>
              </a:rPr>
              <a:t>(1,1,1,1)</a:t>
            </a:r>
            <a:r>
              <a:rPr lang="zh-CN" altLang="en-US" dirty="0">
                <a:solidFill>
                  <a:srgbClr val="000000"/>
                </a:solidFill>
              </a:rPr>
              <a:t>是</a:t>
            </a:r>
            <a:r>
              <a:rPr lang="zh-CN" altLang="en-US" dirty="0"/>
              <a:t>可简单图化的，</a:t>
            </a:r>
            <a:r>
              <a:rPr lang="zh-CN" altLang="en-US" dirty="0"/>
              <a:t>所以</a:t>
            </a:r>
            <a:r>
              <a:rPr lang="en-US" altLang="zh-CN" dirty="0"/>
              <a:t>d</a:t>
            </a:r>
            <a:r>
              <a:rPr lang="en-US" altLang="zh-CN" baseline="-25000" dirty="0"/>
              <a:t>2</a:t>
            </a:r>
            <a:r>
              <a:rPr lang="zh-CN" altLang="en-US" dirty="0"/>
              <a:t>是可简单图化的。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>
                <a:solidFill>
                  <a:srgbClr val="FF0000"/>
                </a:solidFill>
              </a:rPr>
              <a:t>讨论：如何找出与</a:t>
            </a:r>
            <a:r>
              <a:rPr lang="en-US" altLang="zh-CN" dirty="0">
                <a:solidFill>
                  <a:srgbClr val="FF0000"/>
                </a:solidFill>
              </a:rPr>
              <a:t>(2)</a:t>
            </a:r>
            <a:r>
              <a:rPr lang="zh-CN" altLang="en-US" dirty="0">
                <a:solidFill>
                  <a:srgbClr val="FF0000"/>
                </a:solidFill>
              </a:rPr>
              <a:t>中数列对应的简单图呢？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4" name="内容占位符 2"/>
          <p:cNvSpPr txBox="1"/>
          <p:nvPr/>
        </p:nvSpPr>
        <p:spPr bwMode="auto">
          <a:xfrm>
            <a:off x="323781" y="5228188"/>
            <a:ext cx="8424936" cy="11521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10000"/>
              </a:lnSpc>
              <a:spcBef>
                <a:spcPct val="3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注意：可简单图化的非负整数数列对应的无向简单图不唯一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advTm="39997">
    <p:wipe dir="r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例</a:t>
            </a:r>
            <a:r>
              <a:rPr lang="en-US" altLang="zh-CN" dirty="0"/>
              <a:t>7.3 </a:t>
            </a:r>
            <a:r>
              <a:rPr lang="zh-CN" altLang="en-US" dirty="0"/>
              <a:t>定理</a:t>
            </a:r>
            <a:r>
              <a:rPr lang="en-US" altLang="zh-CN" dirty="0"/>
              <a:t>7.5(</a:t>
            </a:r>
            <a:r>
              <a:rPr lang="zh-CN" altLang="en-US" dirty="0"/>
              <a:t>举例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2130425"/>
            <a:ext cx="8496300" cy="525621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90"/>
                </a:solidFill>
              </a:rPr>
              <a:t>例</a:t>
            </a:r>
            <a:r>
              <a:rPr lang="en-US" altLang="zh-CN" dirty="0">
                <a:solidFill>
                  <a:srgbClr val="000090"/>
                </a:solidFill>
              </a:rPr>
              <a:t>7.3  </a:t>
            </a:r>
            <a:r>
              <a:rPr lang="zh-CN" altLang="en-US" dirty="0">
                <a:solidFill>
                  <a:schemeClr val="tx2"/>
                </a:solidFill>
              </a:rPr>
              <a:t>判断下列非负整数列是否是可简单图化的</a:t>
            </a:r>
            <a:r>
              <a:rPr lang="en-US" altLang="zh-CN" dirty="0">
                <a:solidFill>
                  <a:schemeClr val="tx2"/>
                </a:solidFill>
              </a:rPr>
              <a:t> 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(1) (5,4,3,2,2,1) 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(2) (5,4,4,3,2)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(3) (3,3,3,1) 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(4) (6,6,5,4,3,3,1)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(5) (5,5,3,3,2,2,2)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tx2"/>
                </a:solidFill>
              </a:rPr>
              <a:t>    (6) (d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, d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,…, </a:t>
            </a:r>
            <a:r>
              <a:rPr lang="en-US" altLang="zh-CN" dirty="0" err="1">
                <a:solidFill>
                  <a:schemeClr val="tx2"/>
                </a:solidFill>
              </a:rPr>
              <a:t>d</a:t>
            </a:r>
            <a:r>
              <a:rPr lang="en-US" altLang="zh-CN" i="1" baseline="-25000" dirty="0" err="1">
                <a:solidFill>
                  <a:schemeClr val="tx2"/>
                </a:solidFill>
              </a:rPr>
              <a:t>n</a:t>
            </a:r>
            <a:r>
              <a:rPr lang="en-US" altLang="zh-CN" dirty="0">
                <a:solidFill>
                  <a:schemeClr val="tx2"/>
                </a:solidFill>
              </a:rPr>
              <a:t>), d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</a:rPr>
              <a:t>&gt;d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r>
              <a:rPr lang="en-US" altLang="zh-CN" dirty="0">
                <a:solidFill>
                  <a:schemeClr val="tx2"/>
                </a:solidFill>
              </a:rPr>
              <a:t>&gt;…&gt; </a:t>
            </a:r>
            <a:r>
              <a:rPr lang="en-US" altLang="zh-CN" dirty="0" err="1">
                <a:solidFill>
                  <a:schemeClr val="tx2"/>
                </a:solidFill>
              </a:rPr>
              <a:t>d</a:t>
            </a:r>
            <a:r>
              <a:rPr lang="en-US" altLang="zh-CN" i="1" baseline="-25000" dirty="0" err="1">
                <a:solidFill>
                  <a:schemeClr val="tx2"/>
                </a:solidFill>
              </a:rPr>
              <a:t>n</a:t>
            </a:r>
            <a:r>
              <a:rPr lang="en-US" altLang="zh-CN" i="1" baseline="-25000" dirty="0">
                <a:solidFill>
                  <a:schemeClr val="tx2"/>
                </a:solidFill>
              </a:rPr>
              <a:t> </a:t>
            </a:r>
            <a:r>
              <a:rPr lang="en-US" altLang="zh-CN" dirty="0">
                <a:solidFill>
                  <a:schemeClr val="tx2"/>
                </a:solidFill>
              </a:rPr>
              <a:t>≥1</a:t>
            </a:r>
            <a:endParaRPr lang="en-US" altLang="zh-CN" dirty="0">
              <a:solidFill>
                <a:schemeClr val="tx2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" name="文本框 3"/>
          <p:cNvSpPr txBox="1"/>
          <p:nvPr/>
        </p:nvSpPr>
        <p:spPr>
          <a:xfrm>
            <a:off x="395605" y="1412875"/>
            <a:ext cx="32461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4000" b="1" kern="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课后作业五：</a:t>
            </a:r>
            <a:endParaRPr lang="en-US" altLang="zh-CN" sz="2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91440" tIns="45720" rIns="91440" bIns="45720" anchor="b" anchorCtr="0"/>
          <a:p>
            <a:pPr marL="0" indent="0" defTabSz="914400" eaLnBrk="1" latinLnBrk="0" hangingPunct="1">
              <a:lnSpc>
                <a:spcPct val="100000"/>
              </a:lnSpc>
              <a:buClrTx/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课后习题六：</a:t>
            </a:r>
            <a:endParaRPr lang="zh-CN" altLang="en-US" sz="4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body" idx="4294967295"/>
          </p:nvPr>
        </p:nvSpPr>
        <p:spPr>
          <a:xfrm>
            <a:off x="467995" y="1485265"/>
            <a:ext cx="7854315" cy="1584325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/>
              <a:t>书 </a:t>
            </a:r>
            <a:r>
              <a:rPr lang="en-US" altLang="zh-CN" dirty="0"/>
              <a:t>P130-P131</a:t>
            </a:r>
            <a:endParaRPr lang="en-US" altLang="zh-CN" dirty="0"/>
          </a:p>
          <a:p>
            <a:pPr eaLnBrk="1" hangingPunct="1">
              <a:buNone/>
            </a:pPr>
            <a:r>
              <a:rPr lang="zh-CN" altLang="en-US" dirty="0"/>
              <a:t>习题七：</a:t>
            </a:r>
            <a:r>
              <a:rPr lang="en-US" altLang="zh-CN" dirty="0"/>
              <a:t>7(3)</a:t>
            </a:r>
            <a:endParaRPr lang="zh-CN" altLang="en-US" dirty="0"/>
          </a:p>
        </p:txBody>
      </p:sp>
      <p:sp>
        <p:nvSpPr>
          <p:cNvPr id="17411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0" hangingPunct="0"/>
            <a:fld id="{9A0DB2DC-4C9A-4742-B13C-FB6460FD3503}" type="slidenum">
              <a:rPr lang="en-US" altLang="zh-CN" sz="1400" dirty="0">
                <a:latin typeface="Times New Roman" panose="02020603050405020304" pitchFamily="18" charset="0"/>
              </a:rPr>
            </a:fld>
            <a:endParaRPr lang="en-US" altLang="zh-CN" sz="14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ldLvl="2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定理</a:t>
            </a:r>
            <a:r>
              <a:rPr lang="en-US" altLang="zh-CN" dirty="0"/>
              <a:t>4 (</a:t>
            </a:r>
            <a:r>
              <a:rPr lang="zh-CN" altLang="en-US" dirty="0"/>
              <a:t>可简单图化充要条件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6300" cy="4392613"/>
          </a:xfrm>
        </p:spPr>
        <p:txBody>
          <a:bodyPr/>
          <a:lstStyle/>
          <a:p>
            <a:pPr marL="0" indent="0" eaLnBrk="1" hangingPunct="1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7.4</a:t>
            </a:r>
            <a:r>
              <a:rPr lang="en-US" altLang="zh-CN" dirty="0"/>
              <a:t>(P.Erdös,T.Gallai,1960):</a:t>
            </a:r>
            <a:r>
              <a:rPr lang="zh-CN" altLang="en-US" dirty="0"/>
              <a:t>设非负整数列</a:t>
            </a:r>
            <a:r>
              <a:rPr lang="en-US" altLang="zh-CN" dirty="0"/>
              <a:t>d=(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满足</a:t>
            </a:r>
            <a:r>
              <a:rPr lang="en-US" altLang="zh-CN" dirty="0"/>
              <a:t>: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</a:t>
            </a:r>
            <a:r>
              <a:rPr lang="en-US" altLang="zh-CN" i="1" dirty="0"/>
              <a:t>n</a:t>
            </a:r>
            <a:r>
              <a:rPr lang="en-US" altLang="zh-CN" dirty="0"/>
              <a:t>-1≥d</a:t>
            </a:r>
            <a:r>
              <a:rPr lang="en-US" altLang="zh-CN" baseline="-25000" dirty="0"/>
              <a:t>1</a:t>
            </a:r>
            <a:r>
              <a:rPr lang="en-US" altLang="zh-CN" dirty="0"/>
              <a:t>≥d</a:t>
            </a:r>
            <a:r>
              <a:rPr lang="en-US" altLang="zh-CN" baseline="-25000" dirty="0"/>
              <a:t>2</a:t>
            </a:r>
            <a:r>
              <a:rPr lang="en-US" altLang="zh-CN" dirty="0"/>
              <a:t>≥…≥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en-US" altLang="zh-CN" dirty="0"/>
              <a:t>≥0,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则</a:t>
            </a:r>
            <a:r>
              <a:rPr lang="en-US" altLang="zh-CN" i="1" dirty="0"/>
              <a:t>d</a:t>
            </a:r>
            <a:r>
              <a:rPr lang="zh-CN" altLang="en-US" dirty="0"/>
              <a:t>可简单图化当且仅当</a:t>
            </a:r>
            <a:endParaRPr lang="zh-CN" altLang="en-US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=0(mod 2)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并且对</a:t>
            </a:r>
            <a:r>
              <a:rPr lang="en-US" altLang="zh-CN" i="1" dirty="0"/>
              <a:t>r</a:t>
            </a:r>
            <a:r>
              <a:rPr lang="en-US" altLang="zh-CN" dirty="0"/>
              <a:t>=1,2,…,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-1</a:t>
            </a:r>
            <a:r>
              <a:rPr lang="zh-CN" altLang="en-US" dirty="0"/>
              <a:t>有</a:t>
            </a:r>
            <a:endParaRPr lang="zh-CN" altLang="en-US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≤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-1)+min{</a:t>
            </a:r>
            <a:r>
              <a:rPr lang="en-US" altLang="zh-CN" i="1" dirty="0"/>
              <a:t>r</a:t>
            </a:r>
            <a:r>
              <a:rPr lang="en-US" altLang="zh-CN" dirty="0"/>
              <a:t>,d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+1</a:t>
            </a:r>
            <a:r>
              <a:rPr lang="en-US" altLang="zh-CN" dirty="0"/>
              <a:t>}+min{</a:t>
            </a:r>
            <a:r>
              <a:rPr lang="en-US" altLang="zh-CN" i="1" dirty="0"/>
              <a:t>r</a:t>
            </a:r>
            <a:r>
              <a:rPr lang="en-US" altLang="zh-CN" dirty="0"/>
              <a:t>,d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+2</a:t>
            </a:r>
            <a:r>
              <a:rPr lang="en-US" altLang="zh-CN" dirty="0"/>
              <a:t>}+  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…+min{</a:t>
            </a:r>
            <a:r>
              <a:rPr lang="en-US" altLang="zh-CN" i="1" dirty="0" err="1"/>
              <a:t>r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}.</a:t>
            </a: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28061">
    <p:wipe dir="r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定理</a:t>
            </a:r>
            <a:r>
              <a:rPr lang="en-US" altLang="zh-CN" dirty="0"/>
              <a:t>4’(</a:t>
            </a:r>
            <a:r>
              <a:rPr lang="zh-CN" altLang="en-US" dirty="0"/>
              <a:t>等价形式</a:t>
            </a:r>
            <a:r>
              <a:rPr lang="en-US" altLang="zh-CN" dirty="0"/>
              <a:t>)</a:t>
            </a:r>
            <a:endParaRPr lang="zh-CN" altLang="zh-CN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7.4</a:t>
            </a:r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zh-CN" dirty="0"/>
              <a:t>(P.Erdös,T.Gallai,1960):</a:t>
            </a:r>
            <a:r>
              <a:rPr lang="zh-CN" altLang="en-US" dirty="0"/>
              <a:t>非负整数</a:t>
            </a:r>
            <a:endParaRPr lang="en-US" altLang="zh-CN" dirty="0"/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zh-CN" i="1" dirty="0"/>
              <a:t>d</a:t>
            </a:r>
            <a:r>
              <a:rPr lang="en-US" altLang="zh-CN" dirty="0"/>
              <a:t>=(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)</a:t>
            </a:r>
            <a:r>
              <a:rPr lang="zh-CN" altLang="en-US" dirty="0"/>
              <a:t>可简单图化当且仅当</a:t>
            </a:r>
            <a:endParaRPr lang="zh-CN" altLang="en-US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=0(mod 2),   </a:t>
            </a:r>
            <a:r>
              <a:rPr lang="zh-CN" altLang="en-US" dirty="0"/>
              <a:t>并且对</a:t>
            </a:r>
            <a:r>
              <a:rPr lang="en-US" altLang="zh-CN" i="1" dirty="0"/>
              <a:t>r</a:t>
            </a:r>
            <a:r>
              <a:rPr lang="en-US" altLang="zh-CN" dirty="0"/>
              <a:t>=1,2,…,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zh-CN" altLang="en-US" dirty="0"/>
              <a:t>有</a:t>
            </a:r>
            <a:endParaRPr lang="zh-CN" altLang="en-US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≤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-1)+min{</a:t>
            </a:r>
            <a:r>
              <a:rPr lang="en-US" altLang="zh-CN" i="1" dirty="0"/>
              <a:t>r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+1</a:t>
            </a:r>
            <a:r>
              <a:rPr lang="en-US" altLang="zh-CN" dirty="0"/>
              <a:t>}+min{</a:t>
            </a:r>
            <a:r>
              <a:rPr lang="en-US" altLang="zh-CN" i="1" dirty="0"/>
              <a:t>r</a:t>
            </a:r>
            <a:r>
              <a:rPr lang="en-US" altLang="zh-CN" dirty="0"/>
              <a:t>,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r</a:t>
            </a:r>
            <a:r>
              <a:rPr lang="en-US" altLang="zh-CN" baseline="-25000" dirty="0"/>
              <a:t>+2</a:t>
            </a:r>
            <a:r>
              <a:rPr lang="en-US" altLang="zh-CN" dirty="0"/>
              <a:t>}+</a:t>
            </a:r>
            <a:endParaRPr lang="en-US" altLang="zh-CN" dirty="0"/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…+min{</a:t>
            </a:r>
            <a:r>
              <a:rPr lang="en-US" altLang="zh-CN" i="1" dirty="0" err="1"/>
              <a:t>r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}.</a:t>
            </a:r>
            <a:endParaRPr lang="en-US" altLang="zh-CN" dirty="0"/>
          </a:p>
          <a:p>
            <a:pPr eaLnBrk="1" hangingPunct="1"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说明</a:t>
            </a:r>
            <a:r>
              <a:rPr lang="en-US" altLang="zh-CN" dirty="0">
                <a:solidFill>
                  <a:srgbClr val="FF0000"/>
                </a:solidFill>
              </a:rPr>
              <a:t>:  </a:t>
            </a:r>
            <a:r>
              <a:rPr lang="en-US" altLang="zh-CN" i="1" dirty="0"/>
              <a:t>n</a:t>
            </a:r>
            <a:r>
              <a:rPr lang="en-US" altLang="zh-CN" dirty="0"/>
              <a:t>-1≥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≥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≥…≥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n</a:t>
            </a:r>
            <a:r>
              <a:rPr lang="en-US" altLang="zh-CN" dirty="0"/>
              <a:t>≥0 ⇒</a:t>
            </a:r>
            <a:r>
              <a:rPr lang="en-US" altLang="zh-CN" i="1" dirty="0"/>
              <a:t>d</a:t>
            </a:r>
            <a:r>
              <a:rPr lang="en-US" altLang="zh-CN" baseline="-25000" dirty="0"/>
              <a:t>1</a:t>
            </a:r>
            <a:r>
              <a:rPr lang="en-US" altLang="zh-CN" dirty="0"/>
              <a:t>+</a:t>
            </a:r>
            <a:r>
              <a:rPr lang="en-US" altLang="zh-CN" i="1" dirty="0"/>
              <a:t>d</a:t>
            </a:r>
            <a:r>
              <a:rPr lang="en-US" altLang="zh-CN" baseline="-25000" dirty="0"/>
              <a:t>2</a:t>
            </a:r>
            <a:r>
              <a:rPr lang="en-US" altLang="zh-CN" dirty="0"/>
              <a:t>+…+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n</a:t>
            </a:r>
            <a:r>
              <a:rPr lang="en-US" altLang="zh-CN" dirty="0"/>
              <a:t> ≤ 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-1).</a:t>
            </a: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图的同构</a:t>
            </a:r>
            <a:endParaRPr lang="zh-CN" altLang="en-US" sz="400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496300" cy="5040312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图同构：</a:t>
            </a:r>
            <a:r>
              <a:rPr lang="zh-CN" altLang="en-US" dirty="0"/>
              <a:t>设无向图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r>
              <a:rPr lang="zh-CN" altLang="en-US" dirty="0"/>
              <a:t>及图 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=&lt;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&gt;</a:t>
            </a:r>
            <a:r>
              <a:rPr lang="zh-CN" altLang="en-US" dirty="0"/>
              <a:t>，如果存在双射函数 </a:t>
            </a:r>
            <a:r>
              <a:rPr lang="en-US" altLang="zh-CN" i="1" dirty="0"/>
              <a:t>f</a:t>
            </a:r>
            <a:r>
              <a:rPr lang="en-US" altLang="zh-CN" dirty="0"/>
              <a:t>: </a:t>
            </a:r>
            <a:r>
              <a:rPr lang="en-US" altLang="zh-CN" i="1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 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使得对于</a:t>
            </a:r>
            <a:endParaRPr lang="zh-CN" altLang="en-US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  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V</a:t>
            </a:r>
            <a:r>
              <a:rPr lang="en-US" altLang="zh-CN" dirty="0"/>
              <a:t>,  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 </a:t>
            </a:r>
            <a:r>
              <a:rPr lang="zh-CN" altLang="en-US" dirty="0">
                <a:sym typeface="Symbol" panose="05050102010706020507" pitchFamily="18" charset="2"/>
              </a:rPr>
              <a:t>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),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))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baseline="-30000" dirty="0"/>
              <a:t> </a:t>
            </a:r>
            <a:endParaRPr lang="en-US" altLang="zh-CN" baseline="-30000" dirty="0"/>
          </a:p>
          <a:p>
            <a:pPr eaLnBrk="1" hangingPunct="1">
              <a:spcBef>
                <a:spcPct val="10000"/>
              </a:spcBef>
              <a:buNone/>
            </a:pPr>
            <a:r>
              <a:rPr lang="zh-CN" altLang="en-US" dirty="0"/>
              <a:t>    且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</a:t>
            </a:r>
            <a:r>
              <a:rPr lang="zh-CN" altLang="en-US" dirty="0"/>
              <a:t>与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),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))</a:t>
            </a:r>
            <a:r>
              <a:rPr lang="zh-CN" altLang="en-US" dirty="0"/>
              <a:t>的重数相同。</a:t>
            </a:r>
            <a:endParaRPr lang="en-US" altLang="zh-CN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    则称</a:t>
            </a:r>
            <a:r>
              <a:rPr lang="en-US" altLang="zh-CN" i="1" dirty="0"/>
              <a:t>G</a:t>
            </a:r>
            <a:r>
              <a:rPr lang="zh-CN" altLang="en-US" dirty="0"/>
              <a:t>与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是同构的，记作</a:t>
            </a:r>
            <a:r>
              <a:rPr lang="en-US" altLang="zh-CN" i="1" dirty="0">
                <a:solidFill>
                  <a:schemeClr val="hlink"/>
                </a:solidFill>
              </a:rPr>
              <a:t>G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</a:t>
            </a:r>
            <a:r>
              <a:rPr lang="en-US" altLang="zh-CN" i="1" dirty="0">
                <a:solidFill>
                  <a:schemeClr val="hlink"/>
                </a:solidFill>
              </a:rPr>
              <a:t>G </a:t>
            </a:r>
            <a:r>
              <a:rPr lang="en-US" altLang="zh-CN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hlink"/>
              </a:solidFill>
            </a:endParaRPr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有向图的同构：</a:t>
            </a:r>
            <a:r>
              <a:rPr lang="en-US" altLang="zh-CN" baseline="-30000" dirty="0"/>
              <a:t> </a:t>
            </a:r>
            <a:r>
              <a:rPr lang="en-US" altLang="zh-CN" dirty="0"/>
              <a:t>&lt;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E</a:t>
            </a:r>
            <a:r>
              <a:rPr lang="zh-CN" altLang="en-US" dirty="0">
                <a:sym typeface="Symbol" panose="05050102010706020507" pitchFamily="18" charset="2"/>
              </a:rPr>
              <a:t> </a:t>
            </a:r>
            <a:r>
              <a:rPr lang="en-US" altLang="zh-CN" dirty="0"/>
              <a:t>&lt;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)&gt;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baseline="-30000" dirty="0"/>
              <a:t> </a:t>
            </a:r>
            <a:endParaRPr lang="en-US" altLang="zh-CN" baseline="-30000" dirty="0"/>
          </a:p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dirty="0"/>
              <a:t>    且</a:t>
            </a:r>
            <a:r>
              <a:rPr lang="en-US" altLang="zh-CN" dirty="0"/>
              <a:t>&lt;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i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v</a:t>
            </a:r>
            <a:r>
              <a:rPr lang="en-US" altLang="zh-CN" i="1" baseline="-30000" dirty="0"/>
              <a:t>i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 err="1"/>
              <a:t>v</a:t>
            </a:r>
            <a:r>
              <a:rPr lang="en-US" altLang="zh-CN" i="1" baseline="-30000" dirty="0" err="1"/>
              <a:t>j</a:t>
            </a:r>
            <a:r>
              <a:rPr lang="en-US" altLang="zh-CN" dirty="0"/>
              <a:t>)&gt;</a:t>
            </a:r>
            <a:r>
              <a:rPr lang="zh-CN" altLang="en-US" dirty="0"/>
              <a:t>的重数相同。</a:t>
            </a:r>
            <a:endParaRPr lang="en-US" altLang="zh-CN" dirty="0">
              <a:solidFill>
                <a:schemeClr val="hlink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说明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zh-CN" altLang="en-US" dirty="0"/>
              <a:t>同构的图，</a:t>
            </a:r>
            <a:r>
              <a:rPr lang="zh-CN" altLang="en-US" dirty="0"/>
              <a:t>其图论性质完全一样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72526">
    <p:wipe dir="r"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图的同构举例</a:t>
            </a:r>
            <a:endParaRPr lang="zh-CN" altLang="en-US" dirty="0"/>
          </a:p>
        </p:txBody>
      </p:sp>
      <p:pic>
        <p:nvPicPr>
          <p:cNvPr id="4" name="Picture 9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76375" y="2304653"/>
            <a:ext cx="23241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879975" y="2349103"/>
            <a:ext cx="2295525" cy="215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3" name="Picture 9" descr="图7-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41425" y="1988820"/>
            <a:ext cx="2686050" cy="26308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0" descr="图7-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5" y="1966595"/>
            <a:ext cx="2922905" cy="2741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4"/>
    </p:custDataLst>
  </p:cSld>
  <p:clrMapOvr>
    <a:masterClrMapping/>
  </p:clrMapOvr>
  <p:transition advTm="27257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同构的实例</a:t>
            </a:r>
            <a:endParaRPr lang="zh-CN" altLang="en-US"/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82700"/>
            <a:ext cx="8458200" cy="561975"/>
          </a:xfrm>
        </p:spPr>
        <p:txBody>
          <a:bodyPr/>
          <a:lstStyle/>
          <a:p>
            <a:pPr eaLnBrk="1" hangingPunct="1">
              <a:buNone/>
            </a:pPr>
            <a:r>
              <a:rPr lang="zh-CN" altLang="en-US" dirty="0">
                <a:solidFill>
                  <a:schemeClr val="folHlink"/>
                </a:solidFill>
              </a:rPr>
              <a:t>例 证明下图中的</a:t>
            </a:r>
            <a:r>
              <a:rPr lang="en-US" altLang="zh-CN" i="1" dirty="0">
                <a:solidFill>
                  <a:schemeClr val="tx2"/>
                </a:solidFill>
              </a:rPr>
              <a:t>G</a:t>
            </a:r>
            <a:r>
              <a:rPr lang="en-US" altLang="zh-CN" baseline="-25000" dirty="0">
                <a:solidFill>
                  <a:schemeClr val="tx2"/>
                </a:solidFill>
              </a:rPr>
              <a:t>1</a:t>
            </a:r>
            <a:r>
              <a:rPr lang="en-US" altLang="zh-CN" dirty="0">
                <a:solidFill>
                  <a:schemeClr val="tx2"/>
                </a:solidFill>
                <a:sym typeface="Symbol" panose="05050102010706020507" pitchFamily="18" charset="2"/>
              </a:rPr>
              <a:t></a:t>
            </a:r>
            <a:r>
              <a:rPr lang="en-US" altLang="zh-CN" i="1" dirty="0">
                <a:solidFill>
                  <a:schemeClr val="tx2"/>
                </a:solidFill>
              </a:rPr>
              <a:t>G</a:t>
            </a:r>
            <a:r>
              <a:rPr lang="en-US" altLang="zh-CN" baseline="-25000" dirty="0">
                <a:solidFill>
                  <a:schemeClr val="tx2"/>
                </a:solidFill>
              </a:rPr>
              <a:t>2</a:t>
            </a: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624651" name="Rectangle 11"/>
          <p:cNvSpPr>
            <a:spLocks noChangeArrowheads="1"/>
          </p:cNvSpPr>
          <p:nvPr/>
        </p:nvSpPr>
        <p:spPr bwMode="auto">
          <a:xfrm>
            <a:off x="414164" y="4365104"/>
            <a:ext cx="8497887" cy="21186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作双射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f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↦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↦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↦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↦ 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2400" b="1" baseline="-25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a,b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f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endParaRPr lang="en-US" altLang="zh-CN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a,c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f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75000"/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b,d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f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，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spcBef>
                <a:spcPct val="10000"/>
              </a:spcBef>
              <a:buClr>
                <a:schemeClr val="folHlink"/>
              </a:buClr>
              <a:buSzPct val="75000"/>
            </a:pP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</a:t>
            </a:r>
            <a:r>
              <a:rPr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c,d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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&lt;f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f 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=&lt;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&gt;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E(G</a:t>
            </a:r>
            <a:r>
              <a:rPr lang="en-US" altLang="zh-CN" sz="24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) </a:t>
            </a:r>
            <a:endParaRPr lang="zh-CN" altLang="en-US" sz="2400" b="1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5833807" y="1896641"/>
            <a:ext cx="1686555" cy="2028508"/>
            <a:chOff x="6715140" y="1761660"/>
            <a:chExt cx="2241562" cy="2696044"/>
          </a:xfrm>
        </p:grpSpPr>
        <p:sp>
          <p:nvSpPr>
            <p:cNvPr id="15" name="椭圆 14"/>
            <p:cNvSpPr/>
            <p:nvPr/>
          </p:nvSpPr>
          <p:spPr>
            <a:xfrm>
              <a:off x="8501090" y="2285992"/>
              <a:ext cx="214314" cy="2143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6858016" y="2285992"/>
              <a:ext cx="214314" cy="2143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8528986" y="3786190"/>
              <a:ext cx="214314" cy="2143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8501090" y="1761660"/>
              <a:ext cx="455612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6786578" y="1761660"/>
              <a:ext cx="455612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20" name="Text Box 11"/>
            <p:cNvSpPr txBox="1">
              <a:spLocks noChangeArrowheads="1"/>
            </p:cNvSpPr>
            <p:nvPr/>
          </p:nvSpPr>
          <p:spPr bwMode="auto">
            <a:xfrm>
              <a:off x="8429652" y="4000504"/>
              <a:ext cx="455612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30" name="直接箭头连接符 29"/>
            <p:cNvCxnSpPr>
              <a:stCxn id="16" idx="6"/>
              <a:endCxn id="15" idx="2"/>
            </p:cNvCxnSpPr>
            <p:nvPr/>
          </p:nvCxnSpPr>
          <p:spPr>
            <a:xfrm>
              <a:off x="7072330" y="2393149"/>
              <a:ext cx="1428760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5" idx="4"/>
            </p:cNvCxnSpPr>
            <p:nvPr/>
          </p:nvCxnSpPr>
          <p:spPr>
            <a:xfrm rot="16200000" flipH="1">
              <a:off x="7983164" y="3125388"/>
              <a:ext cx="1285884" cy="357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椭圆 32"/>
            <p:cNvSpPr/>
            <p:nvPr/>
          </p:nvSpPr>
          <p:spPr>
            <a:xfrm>
              <a:off x="6958482" y="3814086"/>
              <a:ext cx="214314" cy="2143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5" name="直接箭头连接符 34"/>
            <p:cNvCxnSpPr>
              <a:endCxn id="17" idx="2"/>
            </p:cNvCxnSpPr>
            <p:nvPr/>
          </p:nvCxnSpPr>
          <p:spPr>
            <a:xfrm flipV="1">
              <a:off x="7143768" y="3893347"/>
              <a:ext cx="1385218" cy="357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>
              <a:stCxn id="16" idx="4"/>
              <a:endCxn id="33" idx="1"/>
            </p:cNvCxnSpPr>
            <p:nvPr/>
          </p:nvCxnSpPr>
          <p:spPr>
            <a:xfrm rot="16200000" flipH="1">
              <a:off x="6304937" y="3160541"/>
              <a:ext cx="1345166" cy="2469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 Box 11"/>
            <p:cNvSpPr txBox="1">
              <a:spLocks noChangeArrowheads="1"/>
            </p:cNvSpPr>
            <p:nvPr/>
          </p:nvSpPr>
          <p:spPr bwMode="auto">
            <a:xfrm>
              <a:off x="6715140" y="4000504"/>
              <a:ext cx="455612" cy="4572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7349" name="Group 13"/>
          <p:cNvGrpSpPr/>
          <p:nvPr/>
        </p:nvGrpSpPr>
        <p:grpSpPr bwMode="auto">
          <a:xfrm rot="0">
            <a:off x="395605" y="1814830"/>
            <a:ext cx="4546600" cy="2300605"/>
            <a:chOff x="249" y="1162"/>
            <a:chExt cx="3765" cy="1905"/>
          </a:xfrm>
        </p:grpSpPr>
        <p:grpSp>
          <p:nvGrpSpPr>
            <p:cNvPr id="57350" name="Group 14"/>
            <p:cNvGrpSpPr/>
            <p:nvPr/>
          </p:nvGrpSpPr>
          <p:grpSpPr bwMode="auto">
            <a:xfrm>
              <a:off x="249" y="1162"/>
              <a:ext cx="3765" cy="1905"/>
              <a:chOff x="249" y="1162"/>
              <a:chExt cx="3765" cy="1905"/>
            </a:xfrm>
          </p:grpSpPr>
          <p:sp>
            <p:nvSpPr>
              <p:cNvPr id="57353" name="Rectangle 10"/>
              <p:cNvSpPr>
                <a:spLocks noChangeArrowheads="1"/>
              </p:cNvSpPr>
              <p:nvPr/>
            </p:nvSpPr>
            <p:spPr bwMode="auto">
              <a:xfrm>
                <a:off x="249" y="1162"/>
                <a:ext cx="3765" cy="190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en-US" dirty="0"/>
              </a:p>
            </p:txBody>
          </p:sp>
          <p:pic>
            <p:nvPicPr>
              <p:cNvPr id="57354" name="Picture 12" descr="图7-1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67" y="1298"/>
                <a:ext cx="1374" cy="1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7355" name="Picture 13" descr="图7-1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2103" y="1298"/>
                <a:ext cx="1554" cy="15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57352" name="Text Box 11"/>
            <p:cNvSpPr txBox="1">
              <a:spLocks noChangeArrowheads="1"/>
            </p:cNvSpPr>
            <p:nvPr/>
          </p:nvSpPr>
          <p:spPr bwMode="auto">
            <a:xfrm>
              <a:off x="3624" y="1344"/>
              <a:ext cx="287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 dirty="0">
                  <a:latin typeface="Times New Roman" panose="02020603050405020304" pitchFamily="18" charset="0"/>
                </a:rPr>
                <a:t>u</a:t>
              </a:r>
              <a:r>
                <a:rPr lang="en-US" altLang="zh-CN" sz="2400" b="1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24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pSp>
        <p:nvGrpSpPr>
          <p:cNvPr id="6" name="Group 2"/>
          <p:cNvGrpSpPr/>
          <p:nvPr/>
        </p:nvGrpSpPr>
        <p:grpSpPr>
          <a:xfrm>
            <a:off x="965518" y="1844903"/>
            <a:ext cx="4546642" cy="2478038"/>
            <a:chOff x="395288" y="1844675"/>
            <a:chExt cx="5976937" cy="3257586"/>
          </a:xfrm>
        </p:grpSpPr>
        <p:grpSp>
          <p:nvGrpSpPr>
            <p:cNvPr id="7" name="Group 13"/>
            <p:cNvGrpSpPr/>
            <p:nvPr/>
          </p:nvGrpSpPr>
          <p:grpSpPr bwMode="auto">
            <a:xfrm>
              <a:off x="395288" y="1844675"/>
              <a:ext cx="5976937" cy="3024188"/>
              <a:chOff x="249" y="1162"/>
              <a:chExt cx="3765" cy="1905"/>
            </a:xfrm>
          </p:grpSpPr>
          <p:grpSp>
            <p:nvGrpSpPr>
              <p:cNvPr id="8" name="Group 14"/>
              <p:cNvGrpSpPr/>
              <p:nvPr/>
            </p:nvGrpSpPr>
            <p:grpSpPr bwMode="auto">
              <a:xfrm>
                <a:off x="249" y="1162"/>
                <a:ext cx="3765" cy="1905"/>
                <a:chOff x="249" y="1162"/>
                <a:chExt cx="3765" cy="1905"/>
              </a:xfrm>
            </p:grpSpPr>
            <p:sp>
              <p:nvSpPr>
                <p:cNvPr id="9" name="Rectangle 10"/>
                <p:cNvSpPr>
                  <a:spLocks noChangeArrowheads="1"/>
                </p:cNvSpPr>
                <p:nvPr/>
              </p:nvSpPr>
              <p:spPr bwMode="auto">
                <a:xfrm>
                  <a:off x="249" y="1162"/>
                  <a:ext cx="3765" cy="1905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</a:ln>
              </p:spPr>
              <p:txBody>
                <a:bodyPr wrap="none" anchor="ctr"/>
                <a:p>
                  <a:endParaRPr lang="zh-CN" altLang="en-US" dirty="0"/>
                </a:p>
              </p:txBody>
            </p:sp>
            <p:pic>
              <p:nvPicPr>
                <p:cNvPr id="10" name="Picture 12" descr="图7-1"/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/>
                <a:stretch>
                  <a:fillRect/>
                </a:stretch>
              </p:blipFill>
              <p:spPr bwMode="auto">
                <a:xfrm>
                  <a:off x="567" y="1298"/>
                  <a:ext cx="1374" cy="155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pic>
              <p:nvPicPr>
                <p:cNvPr id="11" name="Picture 13" descr="图7-1"/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</a:blip>
                <a:srcRect/>
                <a:stretch>
                  <a:fillRect/>
                </a:stretch>
              </p:blipFill>
              <p:spPr bwMode="auto">
                <a:xfrm>
                  <a:off x="2103" y="1298"/>
                  <a:ext cx="1554" cy="15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</p:grpSp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312" y="1991"/>
                <a:ext cx="212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b</a:t>
                </a:r>
                <a:endParaRPr lang="en-US" altLang="zh-CN" sz="2400" b="1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Text Box 11"/>
              <p:cNvSpPr txBox="1">
                <a:spLocks noChangeArrowheads="1"/>
              </p:cNvSpPr>
              <p:nvPr/>
            </p:nvSpPr>
            <p:spPr bwMode="auto">
              <a:xfrm>
                <a:off x="3624" y="1344"/>
                <a:ext cx="287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p>
                <a:r>
                  <a:rPr lang="en-US" altLang="zh-CN" sz="2400" b="1" i="1" dirty="0">
                    <a:latin typeface="Times New Roman" panose="02020603050405020304" pitchFamily="18" charset="0"/>
                  </a:rPr>
                  <a:t>u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</a:rPr>
                  <a:t>4</a:t>
                </a:r>
                <a:endParaRPr lang="en-US" altLang="zh-CN" sz="2400" b="1" baseline="-25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4" name="TextBox 1"/>
            <p:cNvSpPr txBox="1"/>
            <p:nvPr/>
          </p:nvSpPr>
          <p:spPr>
            <a:xfrm>
              <a:off x="1403647" y="4509120"/>
              <a:ext cx="813508" cy="593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 dirty="0">
                  <a:latin typeface="+mn-lt"/>
                </a:rPr>
                <a:t>G</a:t>
              </a:r>
              <a:r>
                <a:rPr lang="en-US" altLang="zh-CN" sz="2400" b="1" baseline="-25000" dirty="0">
                  <a:latin typeface="+mn-lt"/>
                </a:rPr>
                <a:t>1</a:t>
              </a:r>
              <a:endParaRPr lang="en-US" sz="2400" b="1" baseline="-25000" dirty="0">
                <a:latin typeface="+mn-lt"/>
              </a:endParaRPr>
            </a:p>
          </p:txBody>
        </p:sp>
        <p:sp>
          <p:nvSpPr>
            <p:cNvPr id="21" name="TextBox 25"/>
            <p:cNvSpPr txBox="1"/>
            <p:nvPr/>
          </p:nvSpPr>
          <p:spPr>
            <a:xfrm>
              <a:off x="4355976" y="4509120"/>
              <a:ext cx="942923" cy="5931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 b="1" dirty="0">
                  <a:latin typeface="+mn-lt"/>
                </a:rPr>
                <a:t>G</a:t>
              </a:r>
              <a:r>
                <a:rPr lang="en-US" altLang="zh-CN" sz="2400" b="1" baseline="-25000" dirty="0">
                  <a:latin typeface="+mn-lt"/>
                </a:rPr>
                <a:t>2</a:t>
              </a:r>
              <a:endParaRPr lang="en-US" sz="2400" b="1" baseline="-25000" dirty="0">
                <a:latin typeface="+mn-lt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advTm="6919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24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4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4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3" grpId="0" build="p"/>
      <p:bldP spid="624651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同构的实例</a:t>
            </a:r>
            <a:endParaRPr lang="zh-CN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96300" cy="6477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如下图中的两个图同构吗？为什么？</a:t>
            </a:r>
            <a:endParaRPr lang="zh-CN" altLang="en-US" dirty="0"/>
          </a:p>
        </p:txBody>
      </p:sp>
      <p:pic>
        <p:nvPicPr>
          <p:cNvPr id="629764" name="Picture 4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1773238"/>
            <a:ext cx="4800600" cy="272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9765" name="Text Box 5"/>
          <p:cNvSpPr txBox="1">
            <a:spLocks noChangeArrowheads="1"/>
          </p:cNvSpPr>
          <p:nvPr/>
        </p:nvSpPr>
        <p:spPr bwMode="auto">
          <a:xfrm>
            <a:off x="324485" y="4581525"/>
            <a:ext cx="8449310" cy="20294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解：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结点数和边数相同，度数序列都是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4,4,3,3,2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如果同构，对应结点的度相同，则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与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+mj-lt"/>
                <a:ea typeface="黑体" panose="02010609060101010101" pitchFamily="2" charset="-122"/>
              </a:rPr>
              <a:t>’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对应，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的相邻点度序列为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3,3,4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+mj-lt"/>
                <a:ea typeface="黑体" panose="02010609060101010101" pitchFamily="2" charset="-122"/>
              </a:rPr>
              <a:t>’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的相邻点度序列为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3,3,2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，同理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也不与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800" b="1" dirty="0">
                <a:solidFill>
                  <a:schemeClr val="folHlink"/>
                </a:solidFill>
                <a:latin typeface="+mj-lt"/>
                <a:ea typeface="黑体" panose="02010609060101010101" pitchFamily="2" charset="-122"/>
              </a:rPr>
              <a:t>’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对应，因此不同构。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2" name="Picture 4" descr="图7-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59840" y="1844358"/>
            <a:ext cx="4800600" cy="272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3"/>
    </p:custDataLst>
  </p:cSld>
  <p:clrMapOvr>
    <a:masterClrMapping/>
  </p:clrMapOvr>
  <p:transition advTm="98953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9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297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297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699895"/>
            <a:ext cx="8496300" cy="7207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chemeClr val="folHlink"/>
                </a:solidFill>
              </a:rPr>
              <a:t>例</a:t>
            </a:r>
            <a:r>
              <a:rPr lang="en-US" altLang="zh-CN">
                <a:solidFill>
                  <a:schemeClr val="folHlink"/>
                </a:solidFill>
              </a:rPr>
              <a:t> </a:t>
            </a:r>
            <a:r>
              <a:rPr lang="zh-CN" altLang="en-US">
                <a:solidFill>
                  <a:schemeClr val="folHlink"/>
                </a:solidFill>
              </a:rPr>
              <a:t>判断下述这一对图是否同构，并给出理由。</a:t>
            </a:r>
            <a:endParaRPr lang="en-US" altLang="zh-CN">
              <a:solidFill>
                <a:schemeClr val="folHlink"/>
              </a:solidFill>
            </a:endParaRPr>
          </a:p>
        </p:txBody>
      </p:sp>
      <p:pic>
        <p:nvPicPr>
          <p:cNvPr id="631812" name="Picture 4" descr="14-3(1)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800" y="2344420"/>
            <a:ext cx="4173538" cy="2243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eaLnBrk="1" hangingPunct="1">
              <a:defRPr/>
            </a:pPr>
            <a:r>
              <a:rPr lang="zh-CN" altLang="en-US" sz="4000" dirty="0">
                <a:solidFill>
                  <a:srgbClr val="FF0000"/>
                </a:solidFill>
                <a:sym typeface="+mn-ea"/>
              </a:rPr>
              <a:t>课后作业七：</a:t>
            </a:r>
            <a:endParaRPr lang="zh-CN" altLang="en-US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2" name="Picture 4" descr="14-3(1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2637155"/>
            <a:ext cx="5832475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18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图同构（举例）</a:t>
            </a:r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931476" y="1453034"/>
            <a:ext cx="2016224" cy="2016224"/>
            <a:chOff x="827584" y="1484784"/>
            <a:chExt cx="2016224" cy="2016224"/>
          </a:xfrm>
        </p:grpSpPr>
        <p:sp>
          <p:nvSpPr>
            <p:cNvPr id="7" name="Oval 6"/>
            <p:cNvSpPr/>
            <p:nvPr/>
          </p:nvSpPr>
          <p:spPr>
            <a:xfrm>
              <a:off x="1691680" y="1484784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691680" y="206084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331640" y="2564904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051720" y="2564904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827584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627784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5" name="Straight Connector 14"/>
            <p:cNvCxnSpPr>
              <a:stCxn id="9" idx="7"/>
              <a:endCxn id="8" idx="3"/>
            </p:cNvCxnSpPr>
            <p:nvPr/>
          </p:nvCxnSpPr>
          <p:spPr>
            <a:xfrm flipV="1">
              <a:off x="1516028" y="2245236"/>
              <a:ext cx="207288" cy="3513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10" idx="1"/>
              <a:endCxn id="8" idx="5"/>
            </p:cNvCxnSpPr>
            <p:nvPr/>
          </p:nvCxnSpPr>
          <p:spPr>
            <a:xfrm flipH="1" flipV="1">
              <a:off x="1876068" y="2245236"/>
              <a:ext cx="207288" cy="3513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8" idx="0"/>
              <a:endCxn id="7" idx="4"/>
            </p:cNvCxnSpPr>
            <p:nvPr/>
          </p:nvCxnSpPr>
          <p:spPr>
            <a:xfrm flipV="1">
              <a:off x="1799692" y="1700808"/>
              <a:ext cx="0" cy="36004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9" idx="6"/>
              <a:endCxn id="10" idx="2"/>
            </p:cNvCxnSpPr>
            <p:nvPr/>
          </p:nvCxnSpPr>
          <p:spPr>
            <a:xfrm>
              <a:off x="1547664" y="2672916"/>
              <a:ext cx="504056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11" idx="7"/>
              <a:endCxn id="7" idx="3"/>
            </p:cNvCxnSpPr>
            <p:nvPr/>
          </p:nvCxnSpPr>
          <p:spPr>
            <a:xfrm flipV="1">
              <a:off x="1011972" y="1669172"/>
              <a:ext cx="711344" cy="121540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2" idx="0"/>
              <a:endCxn id="7" idx="5"/>
            </p:cNvCxnSpPr>
            <p:nvPr/>
          </p:nvCxnSpPr>
          <p:spPr>
            <a:xfrm flipH="1" flipV="1">
              <a:off x="1876068" y="1669172"/>
              <a:ext cx="859728" cy="118376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12" idx="2"/>
            </p:cNvCxnSpPr>
            <p:nvPr/>
          </p:nvCxnSpPr>
          <p:spPr>
            <a:xfrm flipV="1">
              <a:off x="899592" y="2960948"/>
              <a:ext cx="1728192" cy="360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endCxn id="9" idx="3"/>
            </p:cNvCxnSpPr>
            <p:nvPr/>
          </p:nvCxnSpPr>
          <p:spPr>
            <a:xfrm flipV="1">
              <a:off x="1043608" y="2749292"/>
              <a:ext cx="319668" cy="16691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endCxn id="12" idx="1"/>
            </p:cNvCxnSpPr>
            <p:nvPr/>
          </p:nvCxnSpPr>
          <p:spPr>
            <a:xfrm>
              <a:off x="2267744" y="2700184"/>
              <a:ext cx="391676" cy="18438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/>
            <p:cNvSpPr txBox="1"/>
            <p:nvPr/>
          </p:nvSpPr>
          <p:spPr>
            <a:xfrm>
              <a:off x="1619672" y="3039343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lt"/>
                </a:rPr>
                <a:t>G</a:t>
              </a:r>
              <a:r>
                <a:rPr lang="en-US" altLang="zh-CN" sz="2400" b="1" baseline="-25000" dirty="0">
                  <a:latin typeface="+mn-lt"/>
                </a:rPr>
                <a:t>1</a:t>
              </a:r>
              <a:endParaRPr lang="en-US" sz="2400" b="1" baseline="-25000" dirty="0">
                <a:latin typeface="+mn-lt"/>
              </a:endParaRPr>
            </a:p>
          </p:txBody>
        </p:sp>
      </p:grpSp>
      <p:grpSp>
        <p:nvGrpSpPr>
          <p:cNvPr id="91" name="Group 90"/>
          <p:cNvGrpSpPr/>
          <p:nvPr/>
        </p:nvGrpSpPr>
        <p:grpSpPr>
          <a:xfrm>
            <a:off x="5975965" y="1493674"/>
            <a:ext cx="2736304" cy="1975584"/>
            <a:chOff x="3707904" y="1484784"/>
            <a:chExt cx="2736304" cy="1975584"/>
          </a:xfrm>
        </p:grpSpPr>
        <p:sp>
          <p:nvSpPr>
            <p:cNvPr id="47" name="Oval 46"/>
            <p:cNvSpPr/>
            <p:nvPr/>
          </p:nvSpPr>
          <p:spPr>
            <a:xfrm>
              <a:off x="4355976" y="1484784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5508104" y="1484784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4355976" y="263691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508104" y="263691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3707904" y="209685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6228184" y="209685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57" name="Straight Connector 56"/>
            <p:cNvCxnSpPr>
              <a:endCxn id="47" idx="3"/>
            </p:cNvCxnSpPr>
            <p:nvPr/>
          </p:nvCxnSpPr>
          <p:spPr>
            <a:xfrm flipV="1">
              <a:off x="3851920" y="1669172"/>
              <a:ext cx="535692" cy="5269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51" idx="6"/>
              <a:endCxn id="52" idx="2"/>
            </p:cNvCxnSpPr>
            <p:nvPr/>
          </p:nvCxnSpPr>
          <p:spPr>
            <a:xfrm>
              <a:off x="3923928" y="2204864"/>
              <a:ext cx="2304256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4917311" y="2998703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lt"/>
                </a:rPr>
                <a:t>G</a:t>
              </a:r>
              <a:r>
                <a:rPr lang="en-US" altLang="zh-CN" sz="2400" b="1" baseline="-25000" dirty="0">
                  <a:latin typeface="+mn-lt"/>
                </a:rPr>
                <a:t>3</a:t>
              </a:r>
              <a:endParaRPr lang="en-US" sz="2400" b="1" baseline="-25000" dirty="0">
                <a:latin typeface="+mn-lt"/>
              </a:endParaRPr>
            </a:p>
          </p:txBody>
        </p:sp>
        <p:cxnSp>
          <p:nvCxnSpPr>
            <p:cNvPr id="72" name="Straight Connector 71"/>
            <p:cNvCxnSpPr>
              <a:endCxn id="48" idx="2"/>
            </p:cNvCxnSpPr>
            <p:nvPr/>
          </p:nvCxnSpPr>
          <p:spPr>
            <a:xfrm>
              <a:off x="4572000" y="1579692"/>
              <a:ext cx="936104" cy="131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52" idx="1"/>
              <a:endCxn id="48" idx="5"/>
            </p:cNvCxnSpPr>
            <p:nvPr/>
          </p:nvCxnSpPr>
          <p:spPr>
            <a:xfrm flipH="1" flipV="1">
              <a:off x="5692492" y="1669172"/>
              <a:ext cx="567328" cy="45931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51" idx="5"/>
              <a:endCxn id="49" idx="1"/>
            </p:cNvCxnSpPr>
            <p:nvPr/>
          </p:nvCxnSpPr>
          <p:spPr>
            <a:xfrm>
              <a:off x="3892292" y="2281240"/>
              <a:ext cx="495320" cy="38730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endCxn id="52" idx="3"/>
            </p:cNvCxnSpPr>
            <p:nvPr/>
          </p:nvCxnSpPr>
          <p:spPr>
            <a:xfrm flipV="1">
              <a:off x="5724128" y="2281240"/>
              <a:ext cx="535692" cy="4505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4540364" y="2753213"/>
              <a:ext cx="999376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49" idx="0"/>
              <a:endCxn id="47" idx="4"/>
            </p:cNvCxnSpPr>
            <p:nvPr/>
          </p:nvCxnSpPr>
          <p:spPr>
            <a:xfrm flipV="1">
              <a:off x="4463988" y="1700808"/>
              <a:ext cx="0" cy="9361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50" idx="0"/>
              <a:endCxn id="48" idx="4"/>
            </p:cNvCxnSpPr>
            <p:nvPr/>
          </p:nvCxnSpPr>
          <p:spPr>
            <a:xfrm flipV="1">
              <a:off x="5616116" y="1700808"/>
              <a:ext cx="0" cy="9361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3" name="Group 112"/>
          <p:cNvGrpSpPr/>
          <p:nvPr/>
        </p:nvGrpSpPr>
        <p:grpSpPr>
          <a:xfrm>
            <a:off x="3224808" y="1525042"/>
            <a:ext cx="2448272" cy="1933674"/>
            <a:chOff x="2843808" y="1556792"/>
            <a:chExt cx="2448272" cy="1933674"/>
          </a:xfrm>
        </p:grpSpPr>
        <p:sp>
          <p:nvSpPr>
            <p:cNvPr id="101" name="TextBox 100"/>
            <p:cNvSpPr txBox="1"/>
            <p:nvPr/>
          </p:nvSpPr>
          <p:spPr>
            <a:xfrm>
              <a:off x="3744099" y="3028801"/>
              <a:ext cx="57606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+mn-lt"/>
                </a:rPr>
                <a:t>G</a:t>
              </a:r>
              <a:r>
                <a:rPr lang="en-US" altLang="zh-CN" sz="2400" b="1" baseline="-25000" dirty="0">
                  <a:latin typeface="+mn-lt"/>
                </a:rPr>
                <a:t>2</a:t>
              </a:r>
              <a:endParaRPr lang="en-US" sz="2400" b="1" baseline="-25000" dirty="0">
                <a:latin typeface="+mn-lt"/>
              </a:endParaRPr>
            </a:p>
          </p:txBody>
        </p:sp>
        <p:grpSp>
          <p:nvGrpSpPr>
            <p:cNvPr id="112" name="Group 111"/>
            <p:cNvGrpSpPr/>
            <p:nvPr/>
          </p:nvGrpSpPr>
          <p:grpSpPr>
            <a:xfrm>
              <a:off x="2843808" y="1556792"/>
              <a:ext cx="2448272" cy="1368152"/>
              <a:chOff x="2843808" y="1556792"/>
              <a:chExt cx="2448272" cy="1368152"/>
            </a:xfrm>
          </p:grpSpPr>
          <p:sp>
            <p:nvSpPr>
              <p:cNvPr id="93" name="Oval 92"/>
              <p:cNvSpPr/>
              <p:nvPr/>
            </p:nvSpPr>
            <p:spPr>
              <a:xfrm>
                <a:off x="3347864" y="155679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4499992" y="155679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3347864" y="2708920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4499992" y="2708920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2843808" y="220486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5076056" y="2168860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99" name="Straight Connector 98"/>
              <p:cNvCxnSpPr>
                <a:stCxn id="97" idx="7"/>
                <a:endCxn id="93" idx="3"/>
              </p:cNvCxnSpPr>
              <p:nvPr/>
            </p:nvCxnSpPr>
            <p:spPr>
              <a:xfrm flipV="1">
                <a:off x="3028196" y="1741180"/>
                <a:ext cx="351304" cy="49532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>
                <a:stCxn id="97" idx="6"/>
                <a:endCxn id="98" idx="2"/>
              </p:cNvCxnSpPr>
              <p:nvPr/>
            </p:nvCxnSpPr>
            <p:spPr>
              <a:xfrm flipV="1">
                <a:off x="3059832" y="2276872"/>
                <a:ext cx="2016224" cy="360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/>
              <p:cNvCxnSpPr>
                <a:endCxn id="94" idx="2"/>
              </p:cNvCxnSpPr>
              <p:nvPr/>
            </p:nvCxnSpPr>
            <p:spPr>
              <a:xfrm>
                <a:off x="3563888" y="1651700"/>
                <a:ext cx="936104" cy="131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/>
              <p:cNvCxnSpPr>
                <a:stCxn id="98" idx="1"/>
                <a:endCxn id="94" idx="5"/>
              </p:cNvCxnSpPr>
              <p:nvPr/>
            </p:nvCxnSpPr>
            <p:spPr>
              <a:xfrm flipH="1" flipV="1">
                <a:off x="4684380" y="1741180"/>
                <a:ext cx="423312" cy="4593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/>
              <p:cNvCxnSpPr>
                <a:stCxn id="97" idx="5"/>
                <a:endCxn id="95" idx="1"/>
              </p:cNvCxnSpPr>
              <p:nvPr/>
            </p:nvCxnSpPr>
            <p:spPr>
              <a:xfrm>
                <a:off x="3028196" y="2389252"/>
                <a:ext cx="351304" cy="3513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/>
              <p:cNvCxnSpPr>
                <a:endCxn id="98" idx="3"/>
              </p:cNvCxnSpPr>
              <p:nvPr/>
            </p:nvCxnSpPr>
            <p:spPr>
              <a:xfrm flipV="1">
                <a:off x="4572000" y="2353248"/>
                <a:ext cx="535692" cy="45058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/>
              <p:cNvCxnSpPr/>
              <p:nvPr/>
            </p:nvCxnSpPr>
            <p:spPr>
              <a:xfrm>
                <a:off x="3532252" y="2825221"/>
                <a:ext cx="999376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/>
              <p:cNvCxnSpPr>
                <a:stCxn id="96" idx="2"/>
                <a:endCxn id="93" idx="4"/>
              </p:cNvCxnSpPr>
              <p:nvPr/>
            </p:nvCxnSpPr>
            <p:spPr>
              <a:xfrm flipH="1" flipV="1">
                <a:off x="3455876" y="1772816"/>
                <a:ext cx="1044116" cy="10441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/>
              <p:cNvCxnSpPr>
                <a:stCxn id="95" idx="7"/>
                <a:endCxn id="94" idx="4"/>
              </p:cNvCxnSpPr>
              <p:nvPr/>
            </p:nvCxnSpPr>
            <p:spPr>
              <a:xfrm flipV="1">
                <a:off x="3532252" y="1772816"/>
                <a:ext cx="1075752" cy="96774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14" name="TextBox 113"/>
          <p:cNvSpPr txBox="1"/>
          <p:nvPr/>
        </p:nvSpPr>
        <p:spPr>
          <a:xfrm>
            <a:off x="827584" y="3645024"/>
            <a:ext cx="56886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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与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G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不同构，为什么？</a:t>
            </a:r>
            <a:endParaRPr lang="en-US" sz="2800" b="1" dirty="0">
              <a:solidFill>
                <a:srgbClr val="000000"/>
              </a:solidFill>
              <a:latin typeface="+mn-lt"/>
            </a:endParaRPr>
          </a:p>
        </p:txBody>
      </p:sp>
      <p:grpSp>
        <p:nvGrpSpPr>
          <p:cNvPr id="138" name="Group 137"/>
          <p:cNvGrpSpPr/>
          <p:nvPr/>
        </p:nvGrpSpPr>
        <p:grpSpPr>
          <a:xfrm>
            <a:off x="1454602" y="4263097"/>
            <a:ext cx="2570802" cy="2261865"/>
            <a:chOff x="35496" y="4335487"/>
            <a:chExt cx="2570802" cy="2261865"/>
          </a:xfrm>
        </p:grpSpPr>
        <p:grpSp>
          <p:nvGrpSpPr>
            <p:cNvPr id="115" name="Group 114"/>
            <p:cNvGrpSpPr/>
            <p:nvPr/>
          </p:nvGrpSpPr>
          <p:grpSpPr>
            <a:xfrm>
              <a:off x="323528" y="4581128"/>
              <a:ext cx="2016224" cy="2016224"/>
              <a:chOff x="827584" y="1484784"/>
              <a:chExt cx="2016224" cy="2016224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1691680" y="148478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1691680" y="2060848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1331640" y="256490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9" name="Oval 118"/>
              <p:cNvSpPr/>
              <p:nvPr/>
            </p:nvSpPr>
            <p:spPr>
              <a:xfrm>
                <a:off x="2051720" y="256490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20" name="Oval 119"/>
              <p:cNvSpPr/>
              <p:nvPr/>
            </p:nvSpPr>
            <p:spPr>
              <a:xfrm>
                <a:off x="827584" y="2852936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21" name="Oval 120"/>
              <p:cNvSpPr/>
              <p:nvPr/>
            </p:nvSpPr>
            <p:spPr>
              <a:xfrm>
                <a:off x="2627784" y="2852936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22" name="Straight Connector 121"/>
              <p:cNvCxnSpPr>
                <a:stCxn id="118" idx="7"/>
                <a:endCxn id="117" idx="3"/>
              </p:cNvCxnSpPr>
              <p:nvPr/>
            </p:nvCxnSpPr>
            <p:spPr>
              <a:xfrm flipV="1">
                <a:off x="1516028" y="2245236"/>
                <a:ext cx="207288" cy="3513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>
                <a:stCxn id="119" idx="1"/>
                <a:endCxn id="117" idx="5"/>
              </p:cNvCxnSpPr>
              <p:nvPr/>
            </p:nvCxnSpPr>
            <p:spPr>
              <a:xfrm flipH="1" flipV="1">
                <a:off x="1876068" y="2245236"/>
                <a:ext cx="207288" cy="3513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>
                <a:stCxn id="117" idx="0"/>
                <a:endCxn id="116" idx="4"/>
              </p:cNvCxnSpPr>
              <p:nvPr/>
            </p:nvCxnSpPr>
            <p:spPr>
              <a:xfrm flipV="1">
                <a:off x="1799692" y="1700808"/>
                <a:ext cx="0" cy="36004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>
                <a:stCxn id="118" idx="6"/>
                <a:endCxn id="119" idx="2"/>
              </p:cNvCxnSpPr>
              <p:nvPr/>
            </p:nvCxnSpPr>
            <p:spPr>
              <a:xfrm>
                <a:off x="1547664" y="2672916"/>
                <a:ext cx="504056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/>
              <p:cNvCxnSpPr>
                <a:stCxn id="120" idx="7"/>
                <a:endCxn id="116" idx="3"/>
              </p:cNvCxnSpPr>
              <p:nvPr/>
            </p:nvCxnSpPr>
            <p:spPr>
              <a:xfrm flipV="1">
                <a:off x="1011972" y="1669172"/>
                <a:ext cx="711344" cy="121540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/>
              <p:cNvCxnSpPr>
                <a:stCxn id="121" idx="0"/>
                <a:endCxn id="116" idx="5"/>
              </p:cNvCxnSpPr>
              <p:nvPr/>
            </p:nvCxnSpPr>
            <p:spPr>
              <a:xfrm flipH="1" flipV="1">
                <a:off x="1876068" y="1669172"/>
                <a:ext cx="859728" cy="118376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/>
              <p:cNvCxnSpPr>
                <a:endCxn id="121" idx="2"/>
              </p:cNvCxnSpPr>
              <p:nvPr/>
            </p:nvCxnSpPr>
            <p:spPr>
              <a:xfrm flipV="1">
                <a:off x="899592" y="2960948"/>
                <a:ext cx="1728192" cy="360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/>
              <p:cNvCxnSpPr>
                <a:endCxn id="118" idx="3"/>
              </p:cNvCxnSpPr>
              <p:nvPr/>
            </p:nvCxnSpPr>
            <p:spPr>
              <a:xfrm flipV="1">
                <a:off x="1043608" y="2749292"/>
                <a:ext cx="319668" cy="1669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/>
              <p:cNvCxnSpPr>
                <a:endCxn id="121" idx="1"/>
              </p:cNvCxnSpPr>
              <p:nvPr/>
            </p:nvCxnSpPr>
            <p:spPr>
              <a:xfrm>
                <a:off x="2267744" y="2700184"/>
                <a:ext cx="391676" cy="18438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TextBox 130"/>
              <p:cNvSpPr txBox="1"/>
              <p:nvPr/>
            </p:nvSpPr>
            <p:spPr>
              <a:xfrm>
                <a:off x="1619672" y="3039343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+mn-lt"/>
                  </a:rPr>
                  <a:t>G</a:t>
                </a:r>
                <a:r>
                  <a:rPr lang="en-US" altLang="zh-CN" sz="2400" b="1" baseline="-25000" dirty="0">
                    <a:latin typeface="+mn-lt"/>
                  </a:rPr>
                  <a:t>1</a:t>
                </a:r>
                <a:endParaRPr lang="en-US" sz="2400" b="1" baseline="-25000" dirty="0">
                  <a:latin typeface="+mn-lt"/>
                </a:endParaRPr>
              </a:p>
            </p:txBody>
          </p:sp>
        </p:grpSp>
        <p:sp>
          <p:nvSpPr>
            <p:cNvPr id="132" name="TextBox 131"/>
            <p:cNvSpPr txBox="1"/>
            <p:nvPr/>
          </p:nvSpPr>
          <p:spPr>
            <a:xfrm>
              <a:off x="921078" y="43354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1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35496" y="570363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2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2267744" y="566124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3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353126" y="491155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6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619672" y="537321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4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755576" y="527159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5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</p:grpSp>
      <p:grpSp>
        <p:nvGrpSpPr>
          <p:cNvPr id="162" name="Group 161"/>
          <p:cNvGrpSpPr/>
          <p:nvPr/>
        </p:nvGrpSpPr>
        <p:grpSpPr>
          <a:xfrm>
            <a:off x="4571772" y="4269854"/>
            <a:ext cx="3002850" cy="2213069"/>
            <a:chOff x="3275856" y="4365104"/>
            <a:chExt cx="3002850" cy="2213069"/>
          </a:xfrm>
        </p:grpSpPr>
        <p:grpSp>
          <p:nvGrpSpPr>
            <p:cNvPr id="139" name="Group 138"/>
            <p:cNvGrpSpPr/>
            <p:nvPr/>
          </p:nvGrpSpPr>
          <p:grpSpPr>
            <a:xfrm>
              <a:off x="3347864" y="4725144"/>
              <a:ext cx="2736304" cy="1853029"/>
              <a:chOff x="3707904" y="1484784"/>
              <a:chExt cx="2736304" cy="1853029"/>
            </a:xfrm>
          </p:grpSpPr>
          <p:sp>
            <p:nvSpPr>
              <p:cNvPr id="140" name="Oval 139"/>
              <p:cNvSpPr/>
              <p:nvPr/>
            </p:nvSpPr>
            <p:spPr>
              <a:xfrm>
                <a:off x="4355976" y="148478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5508104" y="148478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4355976" y="263691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5508104" y="263691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3707904" y="209685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6228184" y="2096852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46" name="Straight Connector 145"/>
              <p:cNvCxnSpPr>
                <a:endCxn id="140" idx="3"/>
              </p:cNvCxnSpPr>
              <p:nvPr/>
            </p:nvCxnSpPr>
            <p:spPr>
              <a:xfrm flipV="1">
                <a:off x="3851920" y="1669172"/>
                <a:ext cx="535692" cy="52695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>
                <a:stCxn id="144" idx="6"/>
                <a:endCxn id="145" idx="2"/>
              </p:cNvCxnSpPr>
              <p:nvPr/>
            </p:nvCxnSpPr>
            <p:spPr>
              <a:xfrm>
                <a:off x="3923928" y="2204864"/>
                <a:ext cx="2304256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8" name="TextBox 147"/>
              <p:cNvSpPr txBox="1"/>
              <p:nvPr/>
            </p:nvSpPr>
            <p:spPr>
              <a:xfrm>
                <a:off x="4859526" y="2876148"/>
                <a:ext cx="5760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b="1" dirty="0">
                    <a:latin typeface="+mn-lt"/>
                  </a:rPr>
                  <a:t>G</a:t>
                </a:r>
                <a:r>
                  <a:rPr lang="en-US" altLang="zh-CN" sz="2400" b="1" baseline="-25000" dirty="0">
                    <a:latin typeface="+mn-lt"/>
                  </a:rPr>
                  <a:t>3</a:t>
                </a:r>
                <a:endParaRPr lang="en-US" sz="2400" b="1" baseline="-25000" dirty="0">
                  <a:latin typeface="+mn-lt"/>
                </a:endParaRPr>
              </a:p>
            </p:txBody>
          </p:sp>
          <p:cxnSp>
            <p:nvCxnSpPr>
              <p:cNvPr id="149" name="Straight Connector 148"/>
              <p:cNvCxnSpPr>
                <a:endCxn id="141" idx="2"/>
              </p:cNvCxnSpPr>
              <p:nvPr/>
            </p:nvCxnSpPr>
            <p:spPr>
              <a:xfrm>
                <a:off x="4572000" y="1579692"/>
                <a:ext cx="936104" cy="131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>
                <a:stCxn id="145" idx="1"/>
                <a:endCxn id="141" idx="5"/>
              </p:cNvCxnSpPr>
              <p:nvPr/>
            </p:nvCxnSpPr>
            <p:spPr>
              <a:xfrm flipH="1" flipV="1">
                <a:off x="5692492" y="1669172"/>
                <a:ext cx="567328" cy="4593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/>
              <p:cNvCxnSpPr>
                <a:stCxn id="144" idx="5"/>
                <a:endCxn id="142" idx="1"/>
              </p:cNvCxnSpPr>
              <p:nvPr/>
            </p:nvCxnSpPr>
            <p:spPr>
              <a:xfrm>
                <a:off x="3892292" y="2281240"/>
                <a:ext cx="495320" cy="3873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/>
              <p:cNvCxnSpPr>
                <a:endCxn id="145" idx="3"/>
              </p:cNvCxnSpPr>
              <p:nvPr/>
            </p:nvCxnSpPr>
            <p:spPr>
              <a:xfrm flipV="1">
                <a:off x="5724128" y="2281240"/>
                <a:ext cx="535692" cy="45058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/>
              <p:nvPr/>
            </p:nvCxnSpPr>
            <p:spPr>
              <a:xfrm>
                <a:off x="4540364" y="2753213"/>
                <a:ext cx="999376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/>
              <p:cNvCxnSpPr>
                <a:stCxn id="142" idx="0"/>
                <a:endCxn id="140" idx="4"/>
              </p:cNvCxnSpPr>
              <p:nvPr/>
            </p:nvCxnSpPr>
            <p:spPr>
              <a:xfrm flipV="1">
                <a:off x="4463988" y="1700808"/>
                <a:ext cx="0" cy="9361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>
                <a:stCxn id="143" idx="0"/>
                <a:endCxn id="141" idx="4"/>
              </p:cNvCxnSpPr>
              <p:nvPr/>
            </p:nvCxnSpPr>
            <p:spPr>
              <a:xfrm flipV="1">
                <a:off x="5616116" y="1700808"/>
                <a:ext cx="0" cy="9361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6" name="TextBox 155"/>
            <p:cNvSpPr txBox="1"/>
            <p:nvPr/>
          </p:nvSpPr>
          <p:spPr>
            <a:xfrm>
              <a:off x="3779912" y="4365104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1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275856" y="4941168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2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3707904" y="5805264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3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5220072" y="5949280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4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5940152" y="5373216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5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5292080" y="4437112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latin typeface="+mn-lt"/>
                </a:rPr>
                <a:t>6</a:t>
              </a:r>
              <a:endParaRPr lang="en-US" sz="2400" dirty="0">
                <a:solidFill>
                  <a:srgbClr val="FF0000"/>
                </a:solidFill>
                <a:latin typeface="+mn-lt"/>
              </a:endParaRPr>
            </a:p>
          </p:txBody>
        </p:sp>
      </p:grp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图同构（举例）</a:t>
            </a:r>
            <a:endParaRPr lang="en-US" dirty="0"/>
          </a:p>
        </p:txBody>
      </p:sp>
      <p:grpSp>
        <p:nvGrpSpPr>
          <p:cNvPr id="22" name="Group 21"/>
          <p:cNvGrpSpPr/>
          <p:nvPr/>
        </p:nvGrpSpPr>
        <p:grpSpPr>
          <a:xfrm>
            <a:off x="1003360" y="2104749"/>
            <a:ext cx="2160240" cy="2158370"/>
            <a:chOff x="251520" y="1353091"/>
            <a:chExt cx="2160240" cy="2158370"/>
          </a:xfrm>
        </p:grpSpPr>
        <p:sp>
          <p:nvSpPr>
            <p:cNvPr id="4" name="Oval 3"/>
            <p:cNvSpPr/>
            <p:nvPr/>
          </p:nvSpPr>
          <p:spPr>
            <a:xfrm>
              <a:off x="899592" y="170080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251520" y="227687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1619672" y="227687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899592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195736" y="185320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9" name="Straight Arrow Connector 8"/>
            <p:cNvCxnSpPr>
              <a:stCxn id="4" idx="3"/>
              <a:endCxn id="5" idx="7"/>
            </p:cNvCxnSpPr>
            <p:nvPr/>
          </p:nvCxnSpPr>
          <p:spPr>
            <a:xfrm flipH="1">
              <a:off x="435908" y="1885196"/>
              <a:ext cx="495320" cy="42331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4" idx="6"/>
              <a:endCxn id="6" idx="1"/>
            </p:cNvCxnSpPr>
            <p:nvPr/>
          </p:nvCxnSpPr>
          <p:spPr>
            <a:xfrm>
              <a:off x="1115616" y="1808820"/>
              <a:ext cx="535692" cy="499688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7" idx="1"/>
              <a:endCxn id="5" idx="5"/>
            </p:cNvCxnSpPr>
            <p:nvPr/>
          </p:nvCxnSpPr>
          <p:spPr>
            <a:xfrm flipH="1" flipV="1">
              <a:off x="435908" y="2461260"/>
              <a:ext cx="495320" cy="42331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7"/>
              <a:endCxn id="6" idx="3"/>
            </p:cNvCxnSpPr>
            <p:nvPr/>
          </p:nvCxnSpPr>
          <p:spPr>
            <a:xfrm flipV="1">
              <a:off x="1083980" y="2461260"/>
              <a:ext cx="567328" cy="42331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6" idx="7"/>
              <a:endCxn id="8" idx="3"/>
            </p:cNvCxnSpPr>
            <p:nvPr/>
          </p:nvCxnSpPr>
          <p:spPr>
            <a:xfrm flipV="1">
              <a:off x="1804060" y="2037596"/>
              <a:ext cx="423312" cy="27091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Freeform 17"/>
            <p:cNvSpPr/>
            <p:nvPr/>
          </p:nvSpPr>
          <p:spPr>
            <a:xfrm>
              <a:off x="825400" y="1917700"/>
              <a:ext cx="152500" cy="952500"/>
            </a:xfrm>
            <a:custGeom>
              <a:avLst/>
              <a:gdLst>
                <a:gd name="connsiteX0" fmla="*/ 152500 w 152500"/>
                <a:gd name="connsiteY0" fmla="*/ 0 h 952500"/>
                <a:gd name="connsiteX1" fmla="*/ 100 w 152500"/>
                <a:gd name="connsiteY1" fmla="*/ 368300 h 952500"/>
                <a:gd name="connsiteX2" fmla="*/ 127100 w 152500"/>
                <a:gd name="connsiteY2" fmla="*/ 952500 h 952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2500" h="952500">
                  <a:moveTo>
                    <a:pt x="152500" y="0"/>
                  </a:moveTo>
                  <a:cubicBezTo>
                    <a:pt x="78416" y="104775"/>
                    <a:pt x="4333" y="209550"/>
                    <a:pt x="100" y="368300"/>
                  </a:cubicBezTo>
                  <a:cubicBezTo>
                    <a:pt x="-4133" y="527050"/>
                    <a:pt x="127100" y="952500"/>
                    <a:pt x="127100" y="952500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41400" y="1892300"/>
              <a:ext cx="203522" cy="939800"/>
            </a:xfrm>
            <a:custGeom>
              <a:avLst/>
              <a:gdLst>
                <a:gd name="connsiteX0" fmla="*/ 0 w 203522"/>
                <a:gd name="connsiteY0" fmla="*/ 939800 h 939800"/>
                <a:gd name="connsiteX1" fmla="*/ 203200 w 203522"/>
                <a:gd name="connsiteY1" fmla="*/ 546100 h 939800"/>
                <a:gd name="connsiteX2" fmla="*/ 50800 w 203522"/>
                <a:gd name="connsiteY2" fmla="*/ 0 h 93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522" h="939800">
                  <a:moveTo>
                    <a:pt x="0" y="939800"/>
                  </a:moveTo>
                  <a:cubicBezTo>
                    <a:pt x="97366" y="821266"/>
                    <a:pt x="194733" y="702733"/>
                    <a:pt x="203200" y="546100"/>
                  </a:cubicBezTo>
                  <a:cubicBezTo>
                    <a:pt x="211667" y="389467"/>
                    <a:pt x="50800" y="0"/>
                    <a:pt x="50800" y="0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814279" y="1353091"/>
              <a:ext cx="481277" cy="399509"/>
            </a:xfrm>
            <a:custGeom>
              <a:avLst/>
              <a:gdLst>
                <a:gd name="connsiteX0" fmla="*/ 303321 w 481277"/>
                <a:gd name="connsiteY0" fmla="*/ 374109 h 399509"/>
                <a:gd name="connsiteX1" fmla="*/ 481121 w 481277"/>
                <a:gd name="connsiteY1" fmla="*/ 196309 h 399509"/>
                <a:gd name="connsiteX2" fmla="*/ 328721 w 481277"/>
                <a:gd name="connsiteY2" fmla="*/ 5809 h 399509"/>
                <a:gd name="connsiteX3" fmla="*/ 36621 w 481277"/>
                <a:gd name="connsiteY3" fmla="*/ 69309 h 399509"/>
                <a:gd name="connsiteX4" fmla="*/ 11221 w 481277"/>
                <a:gd name="connsiteY4" fmla="*/ 272509 h 399509"/>
                <a:gd name="connsiteX5" fmla="*/ 100121 w 481277"/>
                <a:gd name="connsiteY5" fmla="*/ 399509 h 399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1277" h="399509">
                  <a:moveTo>
                    <a:pt x="303321" y="374109"/>
                  </a:moveTo>
                  <a:cubicBezTo>
                    <a:pt x="390104" y="315900"/>
                    <a:pt x="476888" y="257692"/>
                    <a:pt x="481121" y="196309"/>
                  </a:cubicBezTo>
                  <a:cubicBezTo>
                    <a:pt x="485354" y="134926"/>
                    <a:pt x="402804" y="26976"/>
                    <a:pt x="328721" y="5809"/>
                  </a:cubicBezTo>
                  <a:cubicBezTo>
                    <a:pt x="254638" y="-15358"/>
                    <a:pt x="89538" y="24859"/>
                    <a:pt x="36621" y="69309"/>
                  </a:cubicBezTo>
                  <a:cubicBezTo>
                    <a:pt x="-16296" y="113759"/>
                    <a:pt x="638" y="217476"/>
                    <a:pt x="11221" y="272509"/>
                  </a:cubicBezTo>
                  <a:cubicBezTo>
                    <a:pt x="21804" y="327542"/>
                    <a:pt x="100121" y="399509"/>
                    <a:pt x="100121" y="399509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22115" y="3111351"/>
              <a:ext cx="455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+mn-lt"/>
                </a:rPr>
                <a:t>D</a:t>
              </a:r>
              <a:r>
                <a:rPr lang="en-US" altLang="zh-CN" sz="2000" b="1" baseline="-25000" dirty="0">
                  <a:latin typeface="+mn-lt"/>
                </a:rPr>
                <a:t>1</a:t>
              </a:r>
              <a:endParaRPr lang="en-US" sz="2000" b="1" baseline="-25000" dirty="0">
                <a:latin typeface="+mn-lt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594871" y="1976603"/>
            <a:ext cx="1990107" cy="2257949"/>
            <a:chOff x="3197361" y="1355137"/>
            <a:chExt cx="1990107" cy="2257949"/>
          </a:xfrm>
        </p:grpSpPr>
        <p:sp>
          <p:nvSpPr>
            <p:cNvPr id="23" name="Oval 22"/>
            <p:cNvSpPr/>
            <p:nvPr/>
          </p:nvSpPr>
          <p:spPr>
            <a:xfrm>
              <a:off x="3491880" y="170080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4499992" y="198884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3563888" y="249289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499992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067944" y="227687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29" name="Straight Arrow Connector 28"/>
            <p:cNvCxnSpPr>
              <a:stCxn id="23" idx="6"/>
              <a:endCxn id="24" idx="1"/>
            </p:cNvCxnSpPr>
            <p:nvPr/>
          </p:nvCxnSpPr>
          <p:spPr>
            <a:xfrm>
              <a:off x="3707904" y="1808820"/>
              <a:ext cx="823724" cy="211656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3" idx="4"/>
              <a:endCxn id="25" idx="0"/>
            </p:cNvCxnSpPr>
            <p:nvPr/>
          </p:nvCxnSpPr>
          <p:spPr>
            <a:xfrm>
              <a:off x="3599892" y="1916832"/>
              <a:ext cx="72008" cy="576064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6" idx="2"/>
              <a:endCxn id="25" idx="5"/>
            </p:cNvCxnSpPr>
            <p:nvPr/>
          </p:nvCxnSpPr>
          <p:spPr>
            <a:xfrm flipH="1" flipV="1">
              <a:off x="3748276" y="2677284"/>
              <a:ext cx="751716" cy="283664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26" idx="0"/>
              <a:endCxn id="24" idx="4"/>
            </p:cNvCxnSpPr>
            <p:nvPr/>
          </p:nvCxnSpPr>
          <p:spPr>
            <a:xfrm flipV="1">
              <a:off x="4608004" y="2204864"/>
              <a:ext cx="0" cy="64807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24" idx="3"/>
              <a:endCxn id="27" idx="7"/>
            </p:cNvCxnSpPr>
            <p:nvPr/>
          </p:nvCxnSpPr>
          <p:spPr>
            <a:xfrm flipH="1">
              <a:off x="4252332" y="2173228"/>
              <a:ext cx="279296" cy="135280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Freeform 37"/>
            <p:cNvSpPr/>
            <p:nvPr/>
          </p:nvSpPr>
          <p:spPr>
            <a:xfrm>
              <a:off x="3670300" y="1511300"/>
              <a:ext cx="1517168" cy="1384300"/>
            </a:xfrm>
            <a:custGeom>
              <a:avLst/>
              <a:gdLst>
                <a:gd name="connsiteX0" fmla="*/ 1054100 w 1517168"/>
                <a:gd name="connsiteY0" fmla="*/ 1384300 h 1384300"/>
                <a:gd name="connsiteX1" fmla="*/ 1511300 w 1517168"/>
                <a:gd name="connsiteY1" fmla="*/ 825500 h 1384300"/>
                <a:gd name="connsiteX2" fmla="*/ 1257300 w 1517168"/>
                <a:gd name="connsiteY2" fmla="*/ 203200 h 1384300"/>
                <a:gd name="connsiteX3" fmla="*/ 482600 w 1517168"/>
                <a:gd name="connsiteY3" fmla="*/ 0 h 1384300"/>
                <a:gd name="connsiteX4" fmla="*/ 0 w 1517168"/>
                <a:gd name="connsiteY4" fmla="*/ 203200 h 138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168" h="1384300">
                  <a:moveTo>
                    <a:pt x="1054100" y="1384300"/>
                  </a:moveTo>
                  <a:cubicBezTo>
                    <a:pt x="1265766" y="1203325"/>
                    <a:pt x="1477433" y="1022350"/>
                    <a:pt x="1511300" y="825500"/>
                  </a:cubicBezTo>
                  <a:cubicBezTo>
                    <a:pt x="1545167" y="628650"/>
                    <a:pt x="1428750" y="340783"/>
                    <a:pt x="1257300" y="203200"/>
                  </a:cubicBezTo>
                  <a:cubicBezTo>
                    <a:pt x="1085850" y="65617"/>
                    <a:pt x="692150" y="0"/>
                    <a:pt x="482600" y="0"/>
                  </a:cubicBezTo>
                  <a:cubicBezTo>
                    <a:pt x="273050" y="0"/>
                    <a:pt x="0" y="203200"/>
                    <a:pt x="0" y="203200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3208305" y="1892300"/>
              <a:ext cx="1350995" cy="1273358"/>
            </a:xfrm>
            <a:custGeom>
              <a:avLst/>
              <a:gdLst>
                <a:gd name="connsiteX0" fmla="*/ 322295 w 1350995"/>
                <a:gd name="connsiteY0" fmla="*/ 0 h 1273358"/>
                <a:gd name="connsiteX1" fmla="*/ 17495 w 1350995"/>
                <a:gd name="connsiteY1" fmla="*/ 393700 h 1273358"/>
                <a:gd name="connsiteX2" fmla="*/ 106395 w 1350995"/>
                <a:gd name="connsiteY2" fmla="*/ 1016000 h 1273358"/>
                <a:gd name="connsiteX3" fmla="*/ 677895 w 1350995"/>
                <a:gd name="connsiteY3" fmla="*/ 1270000 h 1273358"/>
                <a:gd name="connsiteX4" fmla="*/ 1350995 w 1350995"/>
                <a:gd name="connsiteY4" fmla="*/ 1168400 h 127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995" h="1273358">
                  <a:moveTo>
                    <a:pt x="322295" y="0"/>
                  </a:moveTo>
                  <a:cubicBezTo>
                    <a:pt x="187886" y="112183"/>
                    <a:pt x="53478" y="224367"/>
                    <a:pt x="17495" y="393700"/>
                  </a:cubicBezTo>
                  <a:cubicBezTo>
                    <a:pt x="-18488" y="563033"/>
                    <a:pt x="-3672" y="869950"/>
                    <a:pt x="106395" y="1016000"/>
                  </a:cubicBezTo>
                  <a:cubicBezTo>
                    <a:pt x="216462" y="1162050"/>
                    <a:pt x="470462" y="1244600"/>
                    <a:pt x="677895" y="1270000"/>
                  </a:cubicBezTo>
                  <a:cubicBezTo>
                    <a:pt x="885328" y="1295400"/>
                    <a:pt x="1350995" y="1168400"/>
                    <a:pt x="1350995" y="1168400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3197361" y="1355137"/>
              <a:ext cx="489846" cy="453930"/>
            </a:xfrm>
            <a:custGeom>
              <a:avLst/>
              <a:gdLst>
                <a:gd name="connsiteX0" fmla="*/ 434839 w 489846"/>
                <a:gd name="connsiteY0" fmla="*/ 321263 h 453930"/>
                <a:gd name="connsiteX1" fmla="*/ 472939 w 489846"/>
                <a:gd name="connsiteY1" fmla="*/ 54563 h 453930"/>
                <a:gd name="connsiteX2" fmla="*/ 193539 w 489846"/>
                <a:gd name="connsiteY2" fmla="*/ 16463 h 453930"/>
                <a:gd name="connsiteX3" fmla="*/ 3039 w 489846"/>
                <a:gd name="connsiteY3" fmla="*/ 257763 h 453930"/>
                <a:gd name="connsiteX4" fmla="*/ 91939 w 489846"/>
                <a:gd name="connsiteY4" fmla="*/ 435563 h 453930"/>
                <a:gd name="connsiteX5" fmla="*/ 295139 w 489846"/>
                <a:gd name="connsiteY5" fmla="*/ 448263 h 45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9846" h="453930">
                  <a:moveTo>
                    <a:pt x="434839" y="321263"/>
                  </a:moveTo>
                  <a:cubicBezTo>
                    <a:pt x="473997" y="213313"/>
                    <a:pt x="513156" y="105363"/>
                    <a:pt x="472939" y="54563"/>
                  </a:cubicBezTo>
                  <a:cubicBezTo>
                    <a:pt x="432722" y="3763"/>
                    <a:pt x="271856" y="-17404"/>
                    <a:pt x="193539" y="16463"/>
                  </a:cubicBezTo>
                  <a:cubicBezTo>
                    <a:pt x="115222" y="50330"/>
                    <a:pt x="19972" y="187913"/>
                    <a:pt x="3039" y="257763"/>
                  </a:cubicBezTo>
                  <a:cubicBezTo>
                    <a:pt x="-13894" y="327613"/>
                    <a:pt x="43256" y="403813"/>
                    <a:pt x="91939" y="435563"/>
                  </a:cubicBezTo>
                  <a:cubicBezTo>
                    <a:pt x="140622" y="467313"/>
                    <a:pt x="295139" y="448263"/>
                    <a:pt x="295139" y="448263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23928" y="3212976"/>
              <a:ext cx="455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+mn-lt"/>
                </a:rPr>
                <a:t>D</a:t>
              </a:r>
              <a:r>
                <a:rPr lang="en-US" altLang="zh-CN" sz="2000" b="1" baseline="-25000" dirty="0">
                  <a:latin typeface="+mn-lt"/>
                </a:rPr>
                <a:t>2</a:t>
              </a:r>
              <a:endParaRPr lang="en-US" sz="2000" b="1" baseline="-25000" dirty="0">
                <a:latin typeface="+mn-lt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221916" y="1904213"/>
            <a:ext cx="1990107" cy="2257949"/>
            <a:chOff x="3197361" y="1355137"/>
            <a:chExt cx="1990107" cy="2257949"/>
          </a:xfrm>
        </p:grpSpPr>
        <p:sp>
          <p:nvSpPr>
            <p:cNvPr id="44" name="Oval 43"/>
            <p:cNvSpPr/>
            <p:nvPr/>
          </p:nvSpPr>
          <p:spPr>
            <a:xfrm>
              <a:off x="3491880" y="170080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4499992" y="198884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3563888" y="249289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4499992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4067944" y="227687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9" name="Straight Arrow Connector 48"/>
            <p:cNvCxnSpPr>
              <a:stCxn id="44" idx="6"/>
              <a:endCxn id="45" idx="1"/>
            </p:cNvCxnSpPr>
            <p:nvPr/>
          </p:nvCxnSpPr>
          <p:spPr>
            <a:xfrm>
              <a:off x="3707904" y="1808820"/>
              <a:ext cx="823724" cy="211656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4" idx="4"/>
              <a:endCxn id="46" idx="0"/>
            </p:cNvCxnSpPr>
            <p:nvPr/>
          </p:nvCxnSpPr>
          <p:spPr>
            <a:xfrm>
              <a:off x="3599892" y="1916832"/>
              <a:ext cx="72008" cy="576064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stCxn id="47" idx="2"/>
              <a:endCxn id="46" idx="5"/>
            </p:cNvCxnSpPr>
            <p:nvPr/>
          </p:nvCxnSpPr>
          <p:spPr>
            <a:xfrm flipH="1" flipV="1">
              <a:off x="3748276" y="2677284"/>
              <a:ext cx="751716" cy="283664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7" idx="0"/>
              <a:endCxn id="45" idx="4"/>
            </p:cNvCxnSpPr>
            <p:nvPr/>
          </p:nvCxnSpPr>
          <p:spPr>
            <a:xfrm flipV="1">
              <a:off x="4608004" y="2204864"/>
              <a:ext cx="0" cy="648072"/>
            </a:xfrm>
            <a:prstGeom prst="straightConnector1">
              <a:avLst/>
            </a:prstGeom>
            <a:ln w="28575" cmpd="sng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5" idx="3"/>
              <a:endCxn id="48" idx="7"/>
            </p:cNvCxnSpPr>
            <p:nvPr/>
          </p:nvCxnSpPr>
          <p:spPr>
            <a:xfrm flipH="1">
              <a:off x="4252332" y="2173228"/>
              <a:ext cx="279296" cy="135280"/>
            </a:xfrm>
            <a:prstGeom prst="straightConnector1">
              <a:avLst/>
            </a:pr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Freeform 53"/>
            <p:cNvSpPr/>
            <p:nvPr/>
          </p:nvSpPr>
          <p:spPr>
            <a:xfrm>
              <a:off x="3670300" y="1511300"/>
              <a:ext cx="1517168" cy="1384300"/>
            </a:xfrm>
            <a:custGeom>
              <a:avLst/>
              <a:gdLst>
                <a:gd name="connsiteX0" fmla="*/ 1054100 w 1517168"/>
                <a:gd name="connsiteY0" fmla="*/ 1384300 h 1384300"/>
                <a:gd name="connsiteX1" fmla="*/ 1511300 w 1517168"/>
                <a:gd name="connsiteY1" fmla="*/ 825500 h 1384300"/>
                <a:gd name="connsiteX2" fmla="*/ 1257300 w 1517168"/>
                <a:gd name="connsiteY2" fmla="*/ 203200 h 1384300"/>
                <a:gd name="connsiteX3" fmla="*/ 482600 w 1517168"/>
                <a:gd name="connsiteY3" fmla="*/ 0 h 1384300"/>
                <a:gd name="connsiteX4" fmla="*/ 0 w 1517168"/>
                <a:gd name="connsiteY4" fmla="*/ 203200 h 138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7168" h="1384300">
                  <a:moveTo>
                    <a:pt x="1054100" y="1384300"/>
                  </a:moveTo>
                  <a:cubicBezTo>
                    <a:pt x="1265766" y="1203325"/>
                    <a:pt x="1477433" y="1022350"/>
                    <a:pt x="1511300" y="825500"/>
                  </a:cubicBezTo>
                  <a:cubicBezTo>
                    <a:pt x="1545167" y="628650"/>
                    <a:pt x="1428750" y="340783"/>
                    <a:pt x="1257300" y="203200"/>
                  </a:cubicBezTo>
                  <a:cubicBezTo>
                    <a:pt x="1085850" y="65617"/>
                    <a:pt x="692150" y="0"/>
                    <a:pt x="482600" y="0"/>
                  </a:cubicBezTo>
                  <a:cubicBezTo>
                    <a:pt x="273050" y="0"/>
                    <a:pt x="0" y="203200"/>
                    <a:pt x="0" y="203200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3208305" y="1892300"/>
              <a:ext cx="1350995" cy="1273358"/>
            </a:xfrm>
            <a:custGeom>
              <a:avLst/>
              <a:gdLst>
                <a:gd name="connsiteX0" fmla="*/ 322295 w 1350995"/>
                <a:gd name="connsiteY0" fmla="*/ 0 h 1273358"/>
                <a:gd name="connsiteX1" fmla="*/ 17495 w 1350995"/>
                <a:gd name="connsiteY1" fmla="*/ 393700 h 1273358"/>
                <a:gd name="connsiteX2" fmla="*/ 106395 w 1350995"/>
                <a:gd name="connsiteY2" fmla="*/ 1016000 h 1273358"/>
                <a:gd name="connsiteX3" fmla="*/ 677895 w 1350995"/>
                <a:gd name="connsiteY3" fmla="*/ 1270000 h 1273358"/>
                <a:gd name="connsiteX4" fmla="*/ 1350995 w 1350995"/>
                <a:gd name="connsiteY4" fmla="*/ 1168400 h 127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0995" h="1273358">
                  <a:moveTo>
                    <a:pt x="322295" y="0"/>
                  </a:moveTo>
                  <a:cubicBezTo>
                    <a:pt x="187886" y="112183"/>
                    <a:pt x="53478" y="224367"/>
                    <a:pt x="17495" y="393700"/>
                  </a:cubicBezTo>
                  <a:cubicBezTo>
                    <a:pt x="-18488" y="563033"/>
                    <a:pt x="-3672" y="869950"/>
                    <a:pt x="106395" y="1016000"/>
                  </a:cubicBezTo>
                  <a:cubicBezTo>
                    <a:pt x="216462" y="1162050"/>
                    <a:pt x="470462" y="1244600"/>
                    <a:pt x="677895" y="1270000"/>
                  </a:cubicBezTo>
                  <a:cubicBezTo>
                    <a:pt x="885328" y="1295400"/>
                    <a:pt x="1350995" y="1168400"/>
                    <a:pt x="1350995" y="1168400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3197361" y="1355137"/>
              <a:ext cx="489846" cy="453930"/>
            </a:xfrm>
            <a:custGeom>
              <a:avLst/>
              <a:gdLst>
                <a:gd name="connsiteX0" fmla="*/ 434839 w 489846"/>
                <a:gd name="connsiteY0" fmla="*/ 321263 h 453930"/>
                <a:gd name="connsiteX1" fmla="*/ 472939 w 489846"/>
                <a:gd name="connsiteY1" fmla="*/ 54563 h 453930"/>
                <a:gd name="connsiteX2" fmla="*/ 193539 w 489846"/>
                <a:gd name="connsiteY2" fmla="*/ 16463 h 453930"/>
                <a:gd name="connsiteX3" fmla="*/ 3039 w 489846"/>
                <a:gd name="connsiteY3" fmla="*/ 257763 h 453930"/>
                <a:gd name="connsiteX4" fmla="*/ 91939 w 489846"/>
                <a:gd name="connsiteY4" fmla="*/ 435563 h 453930"/>
                <a:gd name="connsiteX5" fmla="*/ 295139 w 489846"/>
                <a:gd name="connsiteY5" fmla="*/ 448263 h 453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9846" h="453930">
                  <a:moveTo>
                    <a:pt x="434839" y="321263"/>
                  </a:moveTo>
                  <a:cubicBezTo>
                    <a:pt x="473997" y="213313"/>
                    <a:pt x="513156" y="105363"/>
                    <a:pt x="472939" y="54563"/>
                  </a:cubicBezTo>
                  <a:cubicBezTo>
                    <a:pt x="432722" y="3763"/>
                    <a:pt x="271856" y="-17404"/>
                    <a:pt x="193539" y="16463"/>
                  </a:cubicBezTo>
                  <a:cubicBezTo>
                    <a:pt x="115222" y="50330"/>
                    <a:pt x="19972" y="187913"/>
                    <a:pt x="3039" y="257763"/>
                  </a:cubicBezTo>
                  <a:cubicBezTo>
                    <a:pt x="-13894" y="327613"/>
                    <a:pt x="43256" y="403813"/>
                    <a:pt x="91939" y="435563"/>
                  </a:cubicBezTo>
                  <a:cubicBezTo>
                    <a:pt x="140622" y="467313"/>
                    <a:pt x="295139" y="448263"/>
                    <a:pt x="295139" y="448263"/>
                  </a:cubicBezTo>
                </a:path>
              </a:pathLst>
            </a:custGeom>
            <a:ln w="28575" cmpd="sng">
              <a:headEnd type="arrow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3923928" y="3212976"/>
              <a:ext cx="4553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 dirty="0">
                  <a:latin typeface="+mn-lt"/>
                </a:rPr>
                <a:t>D</a:t>
              </a:r>
              <a:r>
                <a:rPr lang="en-US" altLang="zh-CN" sz="2000" b="1" baseline="-25000" dirty="0">
                  <a:latin typeface="+mn-lt"/>
                </a:rPr>
                <a:t>3</a:t>
              </a:r>
              <a:endParaRPr lang="en-US" sz="2000" b="1" baseline="-25000" dirty="0">
                <a:latin typeface="+mn-lt"/>
              </a:endParaRPr>
            </a:p>
          </p:txBody>
        </p:sp>
      </p:grpSp>
      <p:sp>
        <p:nvSpPr>
          <p:cNvPr id="58" name="Rectangle 57"/>
          <p:cNvSpPr/>
          <p:nvPr/>
        </p:nvSpPr>
        <p:spPr>
          <a:xfrm>
            <a:off x="2844190" y="4653369"/>
            <a:ext cx="374332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D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  <a:sym typeface="Symbol" panose="05050102010706020507" pitchFamily="18" charset="2"/>
              </a:rPr>
              <a:t>2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latin typeface="+mn-lt"/>
              </a:rPr>
              <a:t> 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与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</a:rPr>
              <a:t>D</a:t>
            </a:r>
            <a:r>
              <a:rPr lang="en-US" altLang="zh-CN" sz="2800" b="1" baseline="-25000" dirty="0">
                <a:solidFill>
                  <a:srgbClr val="000000"/>
                </a:solidFill>
                <a:latin typeface="+mn-lt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不同构</a:t>
            </a:r>
            <a:endParaRPr lang="en-US" sz="2800" dirty="0">
              <a:latin typeface="+mn-lt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彼得森图</a:t>
            </a:r>
            <a:endParaRPr lang="en-US" dirty="0"/>
          </a:p>
        </p:txBody>
      </p:sp>
      <p:pic>
        <p:nvPicPr>
          <p:cNvPr id="10" name="Picture 9" descr="屏幕快照 2018-03-07 下午3.38.17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772816"/>
            <a:ext cx="2348072" cy="2232248"/>
          </a:xfrm>
          <a:prstGeom prst="rect">
            <a:avLst/>
          </a:prstGeom>
        </p:spPr>
      </p:pic>
      <p:grpSp>
        <p:nvGrpSpPr>
          <p:cNvPr id="86" name="Group 85"/>
          <p:cNvGrpSpPr/>
          <p:nvPr/>
        </p:nvGrpSpPr>
        <p:grpSpPr>
          <a:xfrm>
            <a:off x="3440832" y="1895877"/>
            <a:ext cx="2304256" cy="2232248"/>
            <a:chOff x="4139952" y="1556792"/>
            <a:chExt cx="2304256" cy="2232248"/>
          </a:xfrm>
        </p:grpSpPr>
        <p:sp>
          <p:nvSpPr>
            <p:cNvPr id="12" name="Oval 11"/>
            <p:cNvSpPr/>
            <p:nvPr/>
          </p:nvSpPr>
          <p:spPr>
            <a:xfrm>
              <a:off x="5148064" y="155679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4139952" y="213285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5148064" y="357301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6228184" y="306896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4139952" y="306896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6228184" y="213285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22" name="Straight Connector 21"/>
            <p:cNvCxnSpPr>
              <a:stCxn id="13" idx="7"/>
              <a:endCxn id="12" idx="3"/>
            </p:cNvCxnSpPr>
            <p:nvPr/>
          </p:nvCxnSpPr>
          <p:spPr>
            <a:xfrm flipV="1">
              <a:off x="4324340" y="1741180"/>
              <a:ext cx="855360" cy="42331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2" idx="5"/>
              <a:endCxn id="17" idx="1"/>
            </p:cNvCxnSpPr>
            <p:nvPr/>
          </p:nvCxnSpPr>
          <p:spPr>
            <a:xfrm>
              <a:off x="5332452" y="1741180"/>
              <a:ext cx="927368" cy="42331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6" idx="5"/>
              <a:endCxn id="14" idx="2"/>
            </p:cNvCxnSpPr>
            <p:nvPr/>
          </p:nvCxnSpPr>
          <p:spPr>
            <a:xfrm>
              <a:off x="4324340" y="3253348"/>
              <a:ext cx="823724" cy="4276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14" idx="6"/>
              <a:endCxn id="15" idx="3"/>
            </p:cNvCxnSpPr>
            <p:nvPr/>
          </p:nvCxnSpPr>
          <p:spPr>
            <a:xfrm flipV="1">
              <a:off x="5364088" y="3253348"/>
              <a:ext cx="895732" cy="4276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16" idx="0"/>
              <a:endCxn id="13" idx="4"/>
            </p:cNvCxnSpPr>
            <p:nvPr/>
          </p:nvCxnSpPr>
          <p:spPr>
            <a:xfrm flipV="1">
              <a:off x="4247964" y="2348880"/>
              <a:ext cx="0" cy="7200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15" idx="0"/>
              <a:endCxn id="17" idx="4"/>
            </p:cNvCxnSpPr>
            <p:nvPr/>
          </p:nvCxnSpPr>
          <p:spPr>
            <a:xfrm flipV="1">
              <a:off x="6336196" y="2348880"/>
              <a:ext cx="0" cy="7200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Oval 60"/>
            <p:cNvSpPr/>
            <p:nvPr/>
          </p:nvSpPr>
          <p:spPr>
            <a:xfrm>
              <a:off x="5148064" y="263691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62" name="Straight Connector 61"/>
            <p:cNvCxnSpPr>
              <a:stCxn id="16" idx="6"/>
              <a:endCxn id="61" idx="2"/>
            </p:cNvCxnSpPr>
            <p:nvPr/>
          </p:nvCxnSpPr>
          <p:spPr>
            <a:xfrm flipV="1">
              <a:off x="4355976" y="2744924"/>
              <a:ext cx="792088" cy="43204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1" idx="6"/>
              <a:endCxn id="15" idx="2"/>
            </p:cNvCxnSpPr>
            <p:nvPr/>
          </p:nvCxnSpPr>
          <p:spPr>
            <a:xfrm>
              <a:off x="5364088" y="2744924"/>
              <a:ext cx="864096" cy="43204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12" idx="4"/>
              <a:endCxn id="61" idx="0"/>
            </p:cNvCxnSpPr>
            <p:nvPr/>
          </p:nvCxnSpPr>
          <p:spPr>
            <a:xfrm>
              <a:off x="5256076" y="1772816"/>
              <a:ext cx="0" cy="86409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Oval 70"/>
            <p:cNvSpPr/>
            <p:nvPr/>
          </p:nvSpPr>
          <p:spPr>
            <a:xfrm>
              <a:off x="5148064" y="213285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4644008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5652120" y="285293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0" name="Freeform 79"/>
            <p:cNvSpPr/>
            <p:nvPr/>
          </p:nvSpPr>
          <p:spPr>
            <a:xfrm>
              <a:off x="4368800" y="2273300"/>
              <a:ext cx="1308100" cy="749300"/>
            </a:xfrm>
            <a:custGeom>
              <a:avLst/>
              <a:gdLst>
                <a:gd name="connsiteX0" fmla="*/ 0 w 1308100"/>
                <a:gd name="connsiteY0" fmla="*/ 0 h 749300"/>
                <a:gd name="connsiteX1" fmla="*/ 228600 w 1308100"/>
                <a:gd name="connsiteY1" fmla="*/ 304800 h 749300"/>
                <a:gd name="connsiteX2" fmla="*/ 635000 w 1308100"/>
                <a:gd name="connsiteY2" fmla="*/ 647700 h 749300"/>
                <a:gd name="connsiteX3" fmla="*/ 1308100 w 1308100"/>
                <a:gd name="connsiteY3" fmla="*/ 749300 h 749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8100" h="749300">
                  <a:moveTo>
                    <a:pt x="0" y="0"/>
                  </a:moveTo>
                  <a:cubicBezTo>
                    <a:pt x="61383" y="98425"/>
                    <a:pt x="122767" y="196850"/>
                    <a:pt x="228600" y="304800"/>
                  </a:cubicBezTo>
                  <a:cubicBezTo>
                    <a:pt x="334433" y="412750"/>
                    <a:pt x="455083" y="573617"/>
                    <a:pt x="635000" y="647700"/>
                  </a:cubicBezTo>
                  <a:cubicBezTo>
                    <a:pt x="814917" y="721783"/>
                    <a:pt x="1308100" y="749300"/>
                    <a:pt x="1308100" y="749300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4648200" y="2241144"/>
              <a:ext cx="1612900" cy="629056"/>
            </a:xfrm>
            <a:custGeom>
              <a:avLst/>
              <a:gdLst>
                <a:gd name="connsiteX0" fmla="*/ 1612900 w 1612900"/>
                <a:gd name="connsiteY0" fmla="*/ 82956 h 629056"/>
                <a:gd name="connsiteX1" fmla="*/ 1104900 w 1612900"/>
                <a:gd name="connsiteY1" fmla="*/ 6756 h 629056"/>
                <a:gd name="connsiteX2" fmla="*/ 406400 w 1612900"/>
                <a:gd name="connsiteY2" fmla="*/ 235356 h 629056"/>
                <a:gd name="connsiteX3" fmla="*/ 0 w 1612900"/>
                <a:gd name="connsiteY3" fmla="*/ 629056 h 629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2900" h="629056">
                  <a:moveTo>
                    <a:pt x="1612900" y="82956"/>
                  </a:moveTo>
                  <a:cubicBezTo>
                    <a:pt x="1459441" y="32156"/>
                    <a:pt x="1305983" y="-18644"/>
                    <a:pt x="1104900" y="6756"/>
                  </a:cubicBezTo>
                  <a:cubicBezTo>
                    <a:pt x="903817" y="32156"/>
                    <a:pt x="590550" y="131639"/>
                    <a:pt x="406400" y="235356"/>
                  </a:cubicBezTo>
                  <a:cubicBezTo>
                    <a:pt x="222250" y="339073"/>
                    <a:pt x="0" y="629056"/>
                    <a:pt x="0" y="629056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5308600" y="2209800"/>
              <a:ext cx="281786" cy="1384300"/>
            </a:xfrm>
            <a:custGeom>
              <a:avLst/>
              <a:gdLst>
                <a:gd name="connsiteX0" fmla="*/ 38100 w 281786"/>
                <a:gd name="connsiteY0" fmla="*/ 0 h 1384300"/>
                <a:gd name="connsiteX1" fmla="*/ 266700 w 281786"/>
                <a:gd name="connsiteY1" fmla="*/ 152400 h 1384300"/>
                <a:gd name="connsiteX2" fmla="*/ 241300 w 281786"/>
                <a:gd name="connsiteY2" fmla="*/ 635000 h 1384300"/>
                <a:gd name="connsiteX3" fmla="*/ 88900 w 281786"/>
                <a:gd name="connsiteY3" fmla="*/ 1257300 h 1384300"/>
                <a:gd name="connsiteX4" fmla="*/ 0 w 281786"/>
                <a:gd name="connsiteY4" fmla="*/ 1384300 h 138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786" h="1384300">
                  <a:moveTo>
                    <a:pt x="38100" y="0"/>
                  </a:moveTo>
                  <a:cubicBezTo>
                    <a:pt x="135466" y="23283"/>
                    <a:pt x="232833" y="46567"/>
                    <a:pt x="266700" y="152400"/>
                  </a:cubicBezTo>
                  <a:cubicBezTo>
                    <a:pt x="300567" y="258233"/>
                    <a:pt x="270933" y="450850"/>
                    <a:pt x="241300" y="635000"/>
                  </a:cubicBezTo>
                  <a:cubicBezTo>
                    <a:pt x="211667" y="819150"/>
                    <a:pt x="129117" y="1132417"/>
                    <a:pt x="88900" y="1257300"/>
                  </a:cubicBezTo>
                  <a:cubicBezTo>
                    <a:pt x="48683" y="1382183"/>
                    <a:pt x="0" y="1384300"/>
                    <a:pt x="0" y="1384300"/>
                  </a:cubicBezTo>
                </a:path>
              </a:pathLst>
            </a:custGeom>
            <a:ln w="28575" cmpd="sng">
              <a:solidFill>
                <a:srgbClr val="00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6003925" y="1727200"/>
            <a:ext cx="2706370" cy="2283460"/>
            <a:chOff x="5940152" y="1556792"/>
            <a:chExt cx="3096344" cy="2592288"/>
          </a:xfrm>
        </p:grpSpPr>
        <p:grpSp>
          <p:nvGrpSpPr>
            <p:cNvPr id="116" name="Group 115"/>
            <p:cNvGrpSpPr/>
            <p:nvPr/>
          </p:nvGrpSpPr>
          <p:grpSpPr>
            <a:xfrm>
              <a:off x="6948264" y="2492896"/>
              <a:ext cx="1080120" cy="1080120"/>
              <a:chOff x="6588224" y="4005064"/>
              <a:chExt cx="1080120" cy="1080120"/>
            </a:xfrm>
          </p:grpSpPr>
          <p:sp>
            <p:nvSpPr>
              <p:cNvPr id="109" name="Regular Pentagon 108"/>
              <p:cNvSpPr/>
              <p:nvPr/>
            </p:nvSpPr>
            <p:spPr>
              <a:xfrm>
                <a:off x="6660232" y="4077072"/>
                <a:ext cx="960120" cy="914400"/>
              </a:xfrm>
              <a:prstGeom prst="pentagon">
                <a:avLst/>
              </a:prstGeom>
              <a:ln w="28575" cmpd="sng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/>
              <p:cNvSpPr/>
              <p:nvPr/>
            </p:nvSpPr>
            <p:spPr>
              <a:xfrm>
                <a:off x="7020272" y="400506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6588224" y="4293096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7452320" y="432700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6740872" y="4855964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7308304" y="4869160"/>
                <a:ext cx="216024" cy="216024"/>
              </a:xfrm>
              <a:prstGeom prst="ellipse">
                <a:avLst/>
              </a:prstGeom>
              <a:solidFill>
                <a:srgbClr val="000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17" name="Oval 116"/>
            <p:cNvSpPr/>
            <p:nvPr/>
          </p:nvSpPr>
          <p:spPr>
            <a:xfrm>
              <a:off x="7380312" y="1556792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8" name="Oval 117"/>
            <p:cNvSpPr/>
            <p:nvPr/>
          </p:nvSpPr>
          <p:spPr>
            <a:xfrm>
              <a:off x="5940152" y="234888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9" name="Oval 118"/>
            <p:cNvSpPr/>
            <p:nvPr/>
          </p:nvSpPr>
          <p:spPr>
            <a:xfrm>
              <a:off x="8820472" y="2348880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0" name="Oval 119"/>
            <p:cNvSpPr/>
            <p:nvPr/>
          </p:nvSpPr>
          <p:spPr>
            <a:xfrm>
              <a:off x="6372200" y="3861048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1" name="Oval 120"/>
            <p:cNvSpPr/>
            <p:nvPr/>
          </p:nvSpPr>
          <p:spPr>
            <a:xfrm>
              <a:off x="8388424" y="3933056"/>
              <a:ext cx="216024" cy="216024"/>
            </a:xfrm>
            <a:prstGeom prst="ellipse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23" name="Straight Connector 122"/>
            <p:cNvCxnSpPr>
              <a:stCxn id="117" idx="4"/>
              <a:endCxn id="110" idx="0"/>
            </p:cNvCxnSpPr>
            <p:nvPr/>
          </p:nvCxnSpPr>
          <p:spPr>
            <a:xfrm>
              <a:off x="7488324" y="1772816"/>
              <a:ext cx="0" cy="7200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118" idx="6"/>
              <a:endCxn id="111" idx="1"/>
            </p:cNvCxnSpPr>
            <p:nvPr/>
          </p:nvCxnSpPr>
          <p:spPr>
            <a:xfrm>
              <a:off x="6156176" y="2456892"/>
              <a:ext cx="823724" cy="35567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120" idx="6"/>
              <a:endCxn id="113" idx="3"/>
            </p:cNvCxnSpPr>
            <p:nvPr/>
          </p:nvCxnSpPr>
          <p:spPr>
            <a:xfrm flipV="1">
              <a:off x="6588224" y="3528184"/>
              <a:ext cx="544324" cy="44087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>
              <a:stCxn id="114" idx="6"/>
              <a:endCxn id="121" idx="1"/>
            </p:cNvCxnSpPr>
            <p:nvPr/>
          </p:nvCxnSpPr>
          <p:spPr>
            <a:xfrm>
              <a:off x="7884368" y="3465004"/>
              <a:ext cx="535692" cy="49968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>
              <a:stCxn id="112" idx="7"/>
              <a:endCxn id="119" idx="3"/>
            </p:cNvCxnSpPr>
            <p:nvPr/>
          </p:nvCxnSpPr>
          <p:spPr>
            <a:xfrm flipV="1">
              <a:off x="7996748" y="2533268"/>
              <a:ext cx="855360" cy="3132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Freeform 139"/>
            <p:cNvSpPr/>
            <p:nvPr/>
          </p:nvSpPr>
          <p:spPr>
            <a:xfrm>
              <a:off x="6159500" y="2209722"/>
              <a:ext cx="2692400" cy="190578"/>
            </a:xfrm>
            <a:custGeom>
              <a:avLst/>
              <a:gdLst>
                <a:gd name="connsiteX0" fmla="*/ 0 w 2692400"/>
                <a:gd name="connsiteY0" fmla="*/ 190578 h 190578"/>
                <a:gd name="connsiteX1" fmla="*/ 1104900 w 2692400"/>
                <a:gd name="connsiteY1" fmla="*/ 78 h 190578"/>
                <a:gd name="connsiteX2" fmla="*/ 2692400 w 2692400"/>
                <a:gd name="connsiteY2" fmla="*/ 165178 h 190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92400" h="190578">
                  <a:moveTo>
                    <a:pt x="0" y="190578"/>
                  </a:moveTo>
                  <a:cubicBezTo>
                    <a:pt x="328083" y="97444"/>
                    <a:pt x="656167" y="4311"/>
                    <a:pt x="1104900" y="78"/>
                  </a:cubicBezTo>
                  <a:cubicBezTo>
                    <a:pt x="1553633" y="-4155"/>
                    <a:pt x="2692400" y="165178"/>
                    <a:pt x="2692400" y="165178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Freeform 143"/>
            <p:cNvSpPr/>
            <p:nvPr/>
          </p:nvSpPr>
          <p:spPr>
            <a:xfrm>
              <a:off x="6070600" y="2565400"/>
              <a:ext cx="2336800" cy="1485900"/>
            </a:xfrm>
            <a:custGeom>
              <a:avLst/>
              <a:gdLst>
                <a:gd name="connsiteX0" fmla="*/ 0 w 2336800"/>
                <a:gd name="connsiteY0" fmla="*/ 0 h 1485900"/>
                <a:gd name="connsiteX1" fmla="*/ 266700 w 2336800"/>
                <a:gd name="connsiteY1" fmla="*/ 368300 h 1485900"/>
                <a:gd name="connsiteX2" fmla="*/ 736600 w 2336800"/>
                <a:gd name="connsiteY2" fmla="*/ 901700 h 1485900"/>
                <a:gd name="connsiteX3" fmla="*/ 1498600 w 2336800"/>
                <a:gd name="connsiteY3" fmla="*/ 1358900 h 1485900"/>
                <a:gd name="connsiteX4" fmla="*/ 2336800 w 2336800"/>
                <a:gd name="connsiteY4" fmla="*/ 1485900 h 1485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6800" h="1485900">
                  <a:moveTo>
                    <a:pt x="0" y="0"/>
                  </a:moveTo>
                  <a:cubicBezTo>
                    <a:pt x="71966" y="109008"/>
                    <a:pt x="143933" y="218017"/>
                    <a:pt x="266700" y="368300"/>
                  </a:cubicBezTo>
                  <a:cubicBezTo>
                    <a:pt x="389467" y="518583"/>
                    <a:pt x="531283" y="736600"/>
                    <a:pt x="736600" y="901700"/>
                  </a:cubicBezTo>
                  <a:cubicBezTo>
                    <a:pt x="941917" y="1066800"/>
                    <a:pt x="1231900" y="1261533"/>
                    <a:pt x="1498600" y="1358900"/>
                  </a:cubicBezTo>
                  <a:cubicBezTo>
                    <a:pt x="1765300" y="1456267"/>
                    <a:pt x="2336800" y="1485900"/>
                    <a:pt x="2336800" y="1485900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Freeform 144"/>
            <p:cNvSpPr/>
            <p:nvPr/>
          </p:nvSpPr>
          <p:spPr>
            <a:xfrm>
              <a:off x="6489700" y="1739900"/>
              <a:ext cx="901700" cy="2133600"/>
            </a:xfrm>
            <a:custGeom>
              <a:avLst/>
              <a:gdLst>
                <a:gd name="connsiteX0" fmla="*/ 901700 w 901700"/>
                <a:gd name="connsiteY0" fmla="*/ 0 h 2133600"/>
                <a:gd name="connsiteX1" fmla="*/ 520700 w 901700"/>
                <a:gd name="connsiteY1" fmla="*/ 444500 h 2133600"/>
                <a:gd name="connsiteX2" fmla="*/ 165100 w 901700"/>
                <a:gd name="connsiteY2" fmla="*/ 1193800 h 2133600"/>
                <a:gd name="connsiteX3" fmla="*/ 0 w 901700"/>
                <a:gd name="connsiteY3" fmla="*/ 2133600 h 21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01700" h="2133600">
                  <a:moveTo>
                    <a:pt x="901700" y="0"/>
                  </a:moveTo>
                  <a:cubicBezTo>
                    <a:pt x="772583" y="122766"/>
                    <a:pt x="643467" y="245533"/>
                    <a:pt x="520700" y="444500"/>
                  </a:cubicBezTo>
                  <a:cubicBezTo>
                    <a:pt x="397933" y="643467"/>
                    <a:pt x="251883" y="912283"/>
                    <a:pt x="165100" y="1193800"/>
                  </a:cubicBezTo>
                  <a:cubicBezTo>
                    <a:pt x="78317" y="1475317"/>
                    <a:pt x="0" y="2133600"/>
                    <a:pt x="0" y="2133600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Freeform 145"/>
            <p:cNvSpPr/>
            <p:nvPr/>
          </p:nvSpPr>
          <p:spPr>
            <a:xfrm>
              <a:off x="7569200" y="1727200"/>
              <a:ext cx="939800" cy="2247900"/>
            </a:xfrm>
            <a:custGeom>
              <a:avLst/>
              <a:gdLst>
                <a:gd name="connsiteX0" fmla="*/ 0 w 939800"/>
                <a:gd name="connsiteY0" fmla="*/ 0 h 2247900"/>
                <a:gd name="connsiteX1" fmla="*/ 444500 w 939800"/>
                <a:gd name="connsiteY1" fmla="*/ 444500 h 2247900"/>
                <a:gd name="connsiteX2" fmla="*/ 800100 w 939800"/>
                <a:gd name="connsiteY2" fmla="*/ 1346200 h 2247900"/>
                <a:gd name="connsiteX3" fmla="*/ 939800 w 939800"/>
                <a:gd name="connsiteY3" fmla="*/ 2247900 h 22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9800" h="2247900">
                  <a:moveTo>
                    <a:pt x="0" y="0"/>
                  </a:moveTo>
                  <a:cubicBezTo>
                    <a:pt x="155575" y="110066"/>
                    <a:pt x="311150" y="220133"/>
                    <a:pt x="444500" y="444500"/>
                  </a:cubicBezTo>
                  <a:cubicBezTo>
                    <a:pt x="577850" y="668867"/>
                    <a:pt x="717550" y="1045633"/>
                    <a:pt x="800100" y="1346200"/>
                  </a:cubicBezTo>
                  <a:cubicBezTo>
                    <a:pt x="882650" y="1646767"/>
                    <a:pt x="939800" y="2247900"/>
                    <a:pt x="939800" y="2247900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Freeform 146"/>
            <p:cNvSpPr/>
            <p:nvPr/>
          </p:nvSpPr>
          <p:spPr>
            <a:xfrm>
              <a:off x="6604000" y="2540000"/>
              <a:ext cx="2311400" cy="1496221"/>
            </a:xfrm>
            <a:custGeom>
              <a:avLst/>
              <a:gdLst>
                <a:gd name="connsiteX0" fmla="*/ 0 w 2311400"/>
                <a:gd name="connsiteY0" fmla="*/ 1460500 h 1496221"/>
                <a:gd name="connsiteX1" fmla="*/ 825500 w 2311400"/>
                <a:gd name="connsiteY1" fmla="*/ 1422400 h 1496221"/>
                <a:gd name="connsiteX2" fmla="*/ 1765300 w 2311400"/>
                <a:gd name="connsiteY2" fmla="*/ 800100 h 1496221"/>
                <a:gd name="connsiteX3" fmla="*/ 2311400 w 2311400"/>
                <a:gd name="connsiteY3" fmla="*/ 0 h 1496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11400" h="1496221">
                  <a:moveTo>
                    <a:pt x="0" y="1460500"/>
                  </a:moveTo>
                  <a:cubicBezTo>
                    <a:pt x="265641" y="1496483"/>
                    <a:pt x="531283" y="1532467"/>
                    <a:pt x="825500" y="1422400"/>
                  </a:cubicBezTo>
                  <a:cubicBezTo>
                    <a:pt x="1119717" y="1312333"/>
                    <a:pt x="1517650" y="1037167"/>
                    <a:pt x="1765300" y="800100"/>
                  </a:cubicBezTo>
                  <a:cubicBezTo>
                    <a:pt x="2012950" y="563033"/>
                    <a:pt x="2311400" y="0"/>
                    <a:pt x="2311400" y="0"/>
                  </a:cubicBezTo>
                </a:path>
              </a:pathLst>
            </a:cu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TextBox 148"/>
          <p:cNvSpPr txBox="1"/>
          <p:nvPr/>
        </p:nvSpPr>
        <p:spPr>
          <a:xfrm>
            <a:off x="795576" y="4653136"/>
            <a:ext cx="5688632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上面的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</a:rPr>
              <a:t>3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</a:rPr>
              <a:t>个图均同构</a:t>
            </a:r>
            <a:endParaRPr lang="en-US" altLang="zh-CN" sz="28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3" name="Picture 9" descr="屏幕快照 2018-03-07 下午3.38.17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312" y="1844571"/>
            <a:ext cx="2348072" cy="2232248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关于同构的说明</a:t>
            </a:r>
            <a:endParaRPr lang="zh-CN" altLang="en-US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46188"/>
            <a:ext cx="8686800" cy="5278437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2600" i="1" dirty="0">
                <a:solidFill>
                  <a:schemeClr val="hlink"/>
                </a:solidFill>
              </a:rPr>
              <a:t>G</a:t>
            </a:r>
            <a:r>
              <a:rPr lang="zh-CN" altLang="en-US" sz="2600" dirty="0">
                <a:solidFill>
                  <a:schemeClr val="hlink"/>
                </a:solidFill>
              </a:rPr>
              <a:t>与</a:t>
            </a:r>
            <a:r>
              <a:rPr lang="en-US" altLang="zh-CN" sz="2600" i="1" dirty="0">
                <a:solidFill>
                  <a:schemeClr val="hlink"/>
                </a:solidFill>
              </a:rPr>
              <a:t>G </a:t>
            </a:r>
            <a:r>
              <a:rPr lang="en-US" altLang="zh-CN" sz="2600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600" dirty="0">
                <a:solidFill>
                  <a:schemeClr val="hlink"/>
                </a:solidFill>
                <a:sym typeface="Symbol" panose="05050102010706020507" pitchFamily="18" charset="2"/>
              </a:rPr>
              <a:t>同构的充要条件是：</a:t>
            </a:r>
            <a:endParaRPr lang="zh-CN" altLang="en-US" sz="2600" dirty="0">
              <a:solidFill>
                <a:schemeClr val="hlink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600" dirty="0">
                <a:sym typeface="Symbol" panose="05050102010706020507" pitchFamily="18" charset="2"/>
              </a:rPr>
              <a:t>两个图的结点和边分别存在一一对应</a:t>
            </a:r>
            <a:r>
              <a:rPr lang="en-US" altLang="zh-CN" sz="2600" dirty="0">
                <a:sym typeface="Symbol" panose="05050102010706020507" pitchFamily="18" charset="2"/>
              </a:rPr>
              <a:t>, </a:t>
            </a:r>
            <a:r>
              <a:rPr lang="zh-CN" altLang="en-US" sz="2600" dirty="0">
                <a:sym typeface="Symbol" panose="05050102010706020507" pitchFamily="18" charset="2"/>
              </a:rPr>
              <a:t>且保持关联关系。</a:t>
            </a:r>
            <a:endParaRPr lang="zh-CN" altLang="en-US" sz="2600" dirty="0"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600" dirty="0"/>
              <a:t>图之间的同构关系</a:t>
            </a:r>
            <a:r>
              <a:rPr lang="en-US" altLang="zh-CN" sz="2400" dirty="0">
                <a:solidFill>
                  <a:srgbClr val="000000"/>
                </a:solidFill>
                <a:sym typeface="Symbol" panose="05050102010706020507" pitchFamily="18" charset="2"/>
              </a:rPr>
              <a:t></a:t>
            </a:r>
            <a:r>
              <a:rPr lang="zh-CN" altLang="en-US" sz="2600" dirty="0"/>
              <a:t>具有自反性、对称性和传递性。</a:t>
            </a:r>
            <a:endParaRPr lang="en-US" altLang="zh-CN" sz="2600" dirty="0"/>
          </a:p>
          <a:p>
            <a:pPr eaLnBrk="1" hangingPunct="1">
              <a:spcBef>
                <a:spcPct val="20000"/>
              </a:spcBef>
            </a:pPr>
            <a:r>
              <a:rPr lang="zh-CN" altLang="en-US" sz="2600" dirty="0"/>
              <a:t>能找到多条同构的</a:t>
            </a:r>
            <a:r>
              <a:rPr lang="zh-CN" altLang="en-US" sz="2600" dirty="0">
                <a:solidFill>
                  <a:schemeClr val="hlink"/>
                </a:solidFill>
              </a:rPr>
              <a:t>必要条件</a:t>
            </a:r>
            <a:r>
              <a:rPr lang="en-US" altLang="zh-CN" sz="2600" dirty="0"/>
              <a:t>, </a:t>
            </a:r>
            <a:r>
              <a:rPr lang="zh-CN" altLang="en-US" sz="2600" dirty="0"/>
              <a:t>但它们都不是充分条件</a:t>
            </a:r>
            <a:r>
              <a:rPr lang="en-US" altLang="zh-CN" sz="2600" dirty="0"/>
              <a:t>:</a:t>
            </a:r>
            <a:endParaRPr lang="en-US" altLang="zh-CN" sz="2600" dirty="0"/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600" dirty="0"/>
              <a:t>   (1)  </a:t>
            </a:r>
            <a:r>
              <a:rPr lang="zh-CN" altLang="en-US" sz="2600" dirty="0"/>
              <a:t>顶点数相同，</a:t>
            </a:r>
            <a:r>
              <a:rPr lang="zh-CN" altLang="en-US" sz="2600" dirty="0">
                <a:sym typeface="+mn-ea"/>
              </a:rPr>
              <a:t>边数相同</a:t>
            </a:r>
            <a:endParaRPr lang="zh-CN" altLang="en-US" sz="2600" dirty="0"/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600" dirty="0"/>
              <a:t>  </a:t>
            </a:r>
            <a:r>
              <a:rPr lang="en-US" altLang="zh-CN" sz="2600" dirty="0"/>
              <a:t> (2) </a:t>
            </a:r>
            <a:r>
              <a:rPr lang="zh-CN" altLang="en-US" sz="2600" dirty="0"/>
              <a:t>度数相同的顶点数目相等，即度数列相同</a:t>
            </a:r>
            <a:r>
              <a:rPr lang="en-US" altLang="zh-CN" sz="2600" dirty="0"/>
              <a:t>(</a:t>
            </a:r>
            <a:r>
              <a:rPr lang="zh-CN" altLang="en-US" sz="2600" dirty="0"/>
              <a:t>不计度数的顺序</a:t>
            </a:r>
            <a:r>
              <a:rPr lang="en-US" altLang="zh-CN" sz="2600" dirty="0"/>
              <a:t>)</a:t>
            </a:r>
            <a:endParaRPr lang="en-US" altLang="zh-CN" sz="2600" dirty="0"/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600" dirty="0"/>
              <a:t>  </a:t>
            </a:r>
            <a:r>
              <a:rPr lang="zh-CN" altLang="en-US" sz="2600" dirty="0">
                <a:solidFill>
                  <a:srgbClr val="FF00FF"/>
                </a:solidFill>
              </a:rPr>
              <a:t>若破坏必要条件，则两图不同构。</a:t>
            </a:r>
            <a:endParaRPr lang="zh-CN" altLang="en-US" sz="2600" dirty="0">
              <a:solidFill>
                <a:srgbClr val="FF00FF"/>
              </a:solidFill>
            </a:endParaRPr>
          </a:p>
          <a:p>
            <a:pPr algn="just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600" dirty="0"/>
              <a:t>至今没有找到判断两个图同构的多项式时间算法。</a:t>
            </a:r>
            <a:endParaRPr lang="zh-CN" altLang="en-US" sz="2600" dirty="0">
              <a:sym typeface="Symbol" panose="05050102010706020507" pitchFamily="18" charset="2"/>
            </a:endParaRPr>
          </a:p>
        </p:txBody>
      </p:sp>
      <p:sp>
        <p:nvSpPr>
          <p:cNvPr id="2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完全图</a:t>
            </a:r>
            <a:r>
              <a:rPr lang="en-US" altLang="zh-CN" sz="4000" dirty="0"/>
              <a:t> </a:t>
            </a:r>
            <a:r>
              <a:rPr lang="zh-CN" altLang="en-US" sz="4000" dirty="0"/>
              <a:t>正则图</a:t>
            </a:r>
            <a:endParaRPr lang="zh-CN" altLang="en-US" sz="40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688705" cy="4719320"/>
          </a:xfrm>
        </p:spPr>
        <p:txBody>
          <a:bodyPr/>
          <a:lstStyle/>
          <a:p>
            <a:pPr algn="l" eaLnBrk="1" hangingPunct="1">
              <a:lnSpc>
                <a:spcPct val="120000"/>
              </a:lnSpc>
            </a:pPr>
            <a:r>
              <a:rPr lang="zh-CN" altLang="en-US" i="1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阶完全图：G是</a:t>
            </a:r>
            <a:r>
              <a:rPr lang="zh-CN" altLang="en-US" i="1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阶简单图，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若</a:t>
            </a:r>
            <a:r>
              <a:rPr lang="en-US" altLang="zh-CN" dirty="0"/>
              <a:t>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FF"/>
                </a:solidFill>
              </a:rPr>
              <a:t>无向图</a:t>
            </a:r>
            <a:r>
              <a:rPr lang="zh-CN" altLang="en-US" dirty="0">
                <a:solidFill>
                  <a:srgbClr val="000000"/>
                </a:solidFill>
              </a:rPr>
              <a:t>且</a:t>
            </a:r>
            <a:r>
              <a:rPr lang="en-US" altLang="zh-CN" dirty="0"/>
              <a:t>∀</a:t>
            </a:r>
            <a:r>
              <a:rPr lang="en-US" altLang="zh-CN" i="1" dirty="0"/>
              <a:t>v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FF"/>
                </a:solidFill>
              </a:rPr>
              <a:t>d(</a:t>
            </a:r>
            <a:r>
              <a:rPr lang="en-US" altLang="zh-CN" i="1" dirty="0">
                <a:solidFill>
                  <a:srgbClr val="FF00FF"/>
                </a:solidFill>
              </a:rPr>
              <a:t>v</a:t>
            </a:r>
            <a:r>
              <a:rPr lang="en-US" altLang="zh-CN" dirty="0">
                <a:solidFill>
                  <a:srgbClr val="FF00FF"/>
                </a:solidFill>
              </a:rPr>
              <a:t>)≡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en-US" altLang="zh-CN" dirty="0">
                <a:solidFill>
                  <a:srgbClr val="FF00FF"/>
                </a:solidFill>
              </a:rPr>
              <a:t>-1,</a:t>
            </a:r>
            <a:r>
              <a:rPr lang="zh-CN" altLang="en-US" dirty="0">
                <a:solidFill>
                  <a:srgbClr val="000000"/>
                </a:solidFill>
              </a:rPr>
              <a:t>称</a:t>
            </a:r>
            <a:r>
              <a:rPr lang="en-US" altLang="zh-CN" dirty="0">
                <a:solidFill>
                  <a:srgbClr val="000000"/>
                </a:solidFill>
              </a:rPr>
              <a:t>G</a:t>
            </a:r>
            <a:r>
              <a:rPr lang="zh-CN" altLang="en-US" dirty="0">
                <a:solidFill>
                  <a:srgbClr val="000000"/>
                </a:solidFill>
              </a:rPr>
              <a:t>是无向完全图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    </a:t>
            </a:r>
            <a:r>
              <a:rPr lang="zh-CN" altLang="en-US" dirty="0"/>
              <a:t>若</a:t>
            </a:r>
            <a:r>
              <a:rPr lang="en-US" altLang="zh-CN" dirty="0"/>
              <a:t>G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FF00FF"/>
                </a:solidFill>
              </a:rPr>
              <a:t>有向图</a:t>
            </a:r>
            <a:r>
              <a:rPr lang="zh-CN" altLang="en-US" dirty="0">
                <a:solidFill>
                  <a:srgbClr val="000000"/>
                </a:solidFill>
              </a:rPr>
              <a:t>且</a:t>
            </a:r>
            <a:r>
              <a:rPr lang="en-US" altLang="zh-CN" dirty="0"/>
              <a:t>∀</a:t>
            </a:r>
            <a:r>
              <a:rPr lang="en-US" altLang="zh-CN" i="1" dirty="0" err="1">
                <a:solidFill>
                  <a:srgbClr val="FF00FF"/>
                </a:solidFill>
              </a:rPr>
              <a:t>v</a:t>
            </a:r>
            <a:r>
              <a:rPr lang="en-US" altLang="zh-CN" dirty="0" err="1">
                <a:solidFill>
                  <a:srgbClr val="FF00FF"/>
                </a:solidFill>
              </a:rPr>
              <a:t>,d</a:t>
            </a:r>
            <a:r>
              <a:rPr lang="en-US" altLang="zh-CN" dirty="0">
                <a:solidFill>
                  <a:srgbClr val="FF00FF"/>
                </a:solidFill>
              </a:rPr>
              <a:t>(</a:t>
            </a:r>
            <a:r>
              <a:rPr lang="en-US" altLang="zh-CN" i="1" dirty="0">
                <a:solidFill>
                  <a:srgbClr val="FF00FF"/>
                </a:solidFill>
              </a:rPr>
              <a:t>v</a:t>
            </a:r>
            <a:r>
              <a:rPr lang="en-US" altLang="zh-CN" dirty="0">
                <a:solidFill>
                  <a:srgbClr val="FF00FF"/>
                </a:solidFill>
              </a:rPr>
              <a:t>)≡2(</a:t>
            </a:r>
            <a:r>
              <a:rPr lang="en-US" altLang="zh-CN" i="1" dirty="0">
                <a:solidFill>
                  <a:srgbClr val="FF00FF"/>
                </a:solidFill>
              </a:rPr>
              <a:t>n</a:t>
            </a:r>
            <a:r>
              <a:rPr lang="en-US" altLang="zh-CN" dirty="0">
                <a:solidFill>
                  <a:srgbClr val="FF00FF"/>
                </a:solidFill>
              </a:rPr>
              <a:t>-1) ,</a:t>
            </a:r>
            <a:r>
              <a:rPr lang="zh-CN" altLang="en-US" dirty="0">
                <a:solidFill>
                  <a:srgbClr val="000000"/>
                </a:solidFill>
              </a:rPr>
              <a:t>称</a:t>
            </a:r>
            <a:r>
              <a:rPr lang="en-US" altLang="zh-CN" dirty="0">
                <a:solidFill>
                  <a:srgbClr val="000000"/>
                </a:solidFill>
              </a:rPr>
              <a:t>G</a:t>
            </a:r>
            <a:r>
              <a:rPr lang="zh-CN" altLang="en-US" dirty="0">
                <a:solidFill>
                  <a:srgbClr val="000000"/>
                </a:solidFill>
              </a:rPr>
              <a:t>是有向完全图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无向完全图</a:t>
            </a:r>
            <a:r>
              <a:rPr lang="en-US" altLang="zh-CN" i="1" dirty="0" err="1"/>
              <a:t>K</a:t>
            </a:r>
            <a:r>
              <a:rPr lang="en-US" altLang="zh-CN" i="1" baseline="-25000" dirty="0" err="1"/>
              <a:t>n</a:t>
            </a:r>
            <a:r>
              <a:rPr lang="zh-CN" altLang="en-US" dirty="0"/>
              <a:t>的边数为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-1)/2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/>
              <a:t>n</a:t>
            </a:r>
            <a:r>
              <a:rPr lang="zh-CN" altLang="en-US" dirty="0"/>
              <a:t>阶有向完全图的边数是</a:t>
            </a:r>
            <a:r>
              <a:rPr lang="en-US" altLang="zh-CN" i="1" dirty="0"/>
              <a:t>n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-1)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FF0000"/>
                </a:solidFill>
              </a:rPr>
              <a:t>竞赛图：</a:t>
            </a:r>
            <a:r>
              <a:rPr lang="en-US" altLang="zh-CN" dirty="0"/>
              <a:t>G</a:t>
            </a:r>
            <a:r>
              <a:rPr lang="zh-CN" altLang="en-US" dirty="0"/>
              <a:t>是有向图且其基图是无向完全图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i="1" dirty="0">
                <a:solidFill>
                  <a:srgbClr val="FF0000"/>
                </a:solidFill>
                <a:sym typeface="+mn-ea"/>
              </a:rPr>
              <a:t>n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阶</a:t>
            </a:r>
            <a:r>
              <a:rPr lang="en-US" altLang="zh-CN" i="1" dirty="0">
                <a:solidFill>
                  <a:schemeClr val="hlink"/>
                </a:solidFill>
                <a:sym typeface="+mn-ea"/>
              </a:rPr>
              <a:t>k</a:t>
            </a:r>
            <a:r>
              <a:rPr lang="en-US" altLang="zh-CN" dirty="0">
                <a:solidFill>
                  <a:schemeClr val="hlink"/>
                </a:solidFill>
                <a:sym typeface="+mn-ea"/>
              </a:rPr>
              <a:t>-</a:t>
            </a:r>
            <a:r>
              <a:rPr lang="zh-CN" altLang="en-US" dirty="0">
                <a:solidFill>
                  <a:schemeClr val="hlink"/>
                </a:solidFill>
                <a:sym typeface="+mn-ea"/>
              </a:rPr>
              <a:t>正则图</a:t>
            </a:r>
            <a:r>
              <a:rPr lang="en-US" altLang="zh-CN" dirty="0">
                <a:sym typeface="+mn-ea"/>
              </a:rPr>
              <a:t>(regular graph)</a:t>
            </a:r>
            <a:r>
              <a:rPr lang="zh-CN" altLang="en-US" dirty="0">
                <a:sym typeface="+mn-ea"/>
              </a:rPr>
              <a:t>：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G是</a:t>
            </a:r>
            <a:r>
              <a:rPr lang="zh-CN" altLang="en-US" i="1" dirty="0">
                <a:solidFill>
                  <a:srgbClr val="FF0000"/>
                </a:solidFill>
                <a:sym typeface="+mn-ea"/>
              </a:rPr>
              <a:t>n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阶无向简单图，</a:t>
            </a:r>
            <a:r>
              <a:rPr lang="en-US" altLang="zh-CN" dirty="0">
                <a:sym typeface="+mn-ea"/>
              </a:rPr>
              <a:t>|V|=</a:t>
            </a:r>
            <a:r>
              <a:rPr lang="en-US" altLang="zh-CN" i="1" dirty="0">
                <a:sym typeface="+mn-ea"/>
              </a:rPr>
              <a:t>n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sz="2800" dirty="0">
                <a:sym typeface="+mn-ea"/>
              </a:rPr>
              <a:t>∀</a:t>
            </a:r>
            <a:r>
              <a:rPr lang="en-US" altLang="zh-CN" sz="2800" i="1" dirty="0">
                <a:sym typeface="+mn-ea"/>
              </a:rPr>
              <a:t>v</a:t>
            </a:r>
            <a:r>
              <a:rPr lang="zh-CN" altLang="en-US" sz="2800" dirty="0">
                <a:sym typeface="+mn-ea"/>
              </a:rPr>
              <a:t>，</a:t>
            </a:r>
            <a:r>
              <a:rPr lang="en-US" altLang="zh-CN" sz="2800" dirty="0">
                <a:sym typeface="+mn-ea"/>
              </a:rPr>
              <a:t>d(</a:t>
            </a:r>
            <a:r>
              <a:rPr lang="en-US" altLang="zh-CN" sz="2800" i="1" dirty="0">
                <a:sym typeface="+mn-ea"/>
              </a:rPr>
              <a:t>v</a:t>
            </a:r>
            <a:r>
              <a:rPr lang="en-US" altLang="zh-CN" sz="2800" dirty="0">
                <a:sym typeface="+mn-ea"/>
              </a:rPr>
              <a:t>)≡</a:t>
            </a:r>
            <a:r>
              <a:rPr lang="en-US" altLang="zh-CN" sz="2800" i="1" dirty="0">
                <a:sym typeface="+mn-ea"/>
              </a:rPr>
              <a:t>k</a:t>
            </a:r>
            <a:r>
              <a:rPr lang="zh-CN" altLang="en-US" sz="2800" dirty="0">
                <a:sym typeface="+mn-ea"/>
              </a:rPr>
              <a:t>，</a:t>
            </a:r>
            <a:r>
              <a:rPr lang="en-US" altLang="zh-CN" sz="2800" i="1" dirty="0">
                <a:sym typeface="+mn-ea"/>
              </a:rPr>
              <a:t>k</a:t>
            </a:r>
            <a:r>
              <a:rPr lang="en-US" altLang="zh-CN" sz="2800" dirty="0">
                <a:sym typeface="+mn-ea"/>
              </a:rPr>
              <a:t>&lt;</a:t>
            </a:r>
            <a:r>
              <a:rPr lang="en-US" altLang="zh-CN" sz="2800" i="1" dirty="0">
                <a:sym typeface="+mn-ea"/>
              </a:rPr>
              <a:t>n</a:t>
            </a:r>
            <a:r>
              <a:rPr lang="zh-CN" altLang="en-US" sz="2800" dirty="0">
                <a:sym typeface="+mn-ea"/>
              </a:rPr>
              <a:t>，称</a:t>
            </a:r>
            <a:r>
              <a:rPr lang="en-US" altLang="zh-CN" sz="2800" dirty="0">
                <a:sym typeface="+mn-ea"/>
              </a:rPr>
              <a:t>G</a:t>
            </a:r>
            <a:r>
              <a:rPr lang="zh-CN" altLang="en-US" sz="2800" dirty="0">
                <a:sym typeface="+mn-ea"/>
              </a:rPr>
              <a:t>是</a:t>
            </a:r>
            <a:r>
              <a:rPr lang="en-US" altLang="zh-CN" sz="2800" i="1" dirty="0">
                <a:sym typeface="+mn-ea"/>
              </a:rPr>
              <a:t>k</a:t>
            </a:r>
            <a:r>
              <a:rPr lang="en-US" altLang="zh-CN" sz="2800" dirty="0">
                <a:sym typeface="+mn-ea"/>
              </a:rPr>
              <a:t>-</a:t>
            </a:r>
            <a:r>
              <a:rPr lang="zh-CN" altLang="en-US" sz="2800" dirty="0">
                <a:sym typeface="+mn-ea"/>
              </a:rPr>
              <a:t>正则图</a:t>
            </a:r>
            <a:endParaRPr lang="en-US" altLang="zh-CN" sz="2800" dirty="0"/>
          </a:p>
          <a:p>
            <a:pPr lvl="1" eaLnBrk="1" hangingPunct="1">
              <a:lnSpc>
                <a:spcPct val="120000"/>
              </a:lnSpc>
              <a:spcBef>
                <a:spcPct val="0"/>
              </a:spcBef>
            </a:pPr>
            <a:r>
              <a:rPr lang="en-US" altLang="zh-CN" sz="2800" i="1" dirty="0">
                <a:sym typeface="+mn-ea"/>
              </a:rPr>
              <a:t>n</a:t>
            </a:r>
            <a:r>
              <a:rPr lang="zh-CN" altLang="en-US" sz="2800" dirty="0">
                <a:sym typeface="+mn-ea"/>
              </a:rPr>
              <a:t>阶</a:t>
            </a:r>
            <a:r>
              <a:rPr lang="en-US" altLang="zh-CN" sz="2800" i="1" dirty="0">
                <a:sym typeface="+mn-ea"/>
              </a:rPr>
              <a:t>k-</a:t>
            </a:r>
            <a:r>
              <a:rPr lang="zh-CN" altLang="en-US" sz="2800" dirty="0">
                <a:sym typeface="+mn-ea"/>
              </a:rPr>
              <a:t>正则图的边数</a:t>
            </a:r>
            <a:r>
              <a:rPr lang="en-US" altLang="zh-CN" sz="2800" i="1" dirty="0">
                <a:sym typeface="+mn-ea"/>
              </a:rPr>
              <a:t>m</a:t>
            </a:r>
            <a:r>
              <a:rPr lang="en-US" altLang="zh-CN" sz="2800" dirty="0">
                <a:sym typeface="+mn-ea"/>
              </a:rPr>
              <a:t>=</a:t>
            </a:r>
            <a:r>
              <a:rPr lang="en-US" altLang="zh-CN" sz="2800" i="1" dirty="0" err="1">
                <a:sym typeface="+mn-ea"/>
              </a:rPr>
              <a:t>nk</a:t>
            </a:r>
            <a:r>
              <a:rPr lang="en-US" altLang="zh-CN" sz="2800" dirty="0">
                <a:sym typeface="+mn-ea"/>
              </a:rPr>
              <a:t>/2</a:t>
            </a:r>
            <a:r>
              <a:rPr lang="zh-CN" sz="2800" dirty="0">
                <a:sym typeface="+mn-ea"/>
              </a:rPr>
              <a:t>，</a:t>
            </a:r>
            <a:r>
              <a:rPr lang="zh-CN" altLang="en-US" sz="2800" dirty="0">
                <a:sym typeface="Symbol" panose="05050102010706020507" pitchFamily="18" charset="2"/>
              </a:rPr>
              <a:t></a:t>
            </a:r>
            <a:r>
              <a:rPr lang="en-US" altLang="zh-CN" sz="2800" dirty="0">
                <a:sym typeface="+mn-ea"/>
              </a:rPr>
              <a:t>=</a:t>
            </a:r>
            <a:r>
              <a:rPr lang="en-US" altLang="zh-CN" sz="2800" dirty="0">
                <a:sym typeface="Symbol" panose="05050102010706020507" pitchFamily="18" charset="2"/>
              </a:rPr>
              <a:t></a:t>
            </a:r>
            <a:r>
              <a:rPr lang="en-US" altLang="zh-CN" sz="2800" dirty="0">
                <a:sym typeface="+mn-ea"/>
              </a:rPr>
              <a:t>=</a:t>
            </a:r>
            <a:r>
              <a:rPr lang="en-US" altLang="zh-CN" sz="2800" i="1" dirty="0">
                <a:sym typeface="+mn-ea"/>
              </a:rPr>
              <a:t>k</a:t>
            </a:r>
            <a:endParaRPr lang="en-US" altLang="zh-CN" dirty="0"/>
          </a:p>
        </p:txBody>
      </p:sp>
      <p:sp>
        <p:nvSpPr>
          <p:cNvPr id="1536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103326">
    <p:wipe dir="r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完全图、正则图</a:t>
            </a:r>
            <a:endParaRPr lang="zh-CN" altLang="en-US" sz="4000" dirty="0"/>
          </a:p>
        </p:txBody>
      </p:sp>
      <p:pic>
        <p:nvPicPr>
          <p:cNvPr id="28679" name="Picture 7" descr="18-8"/>
          <p:cNvPicPr>
            <a:picLocks noChangeAspect="1" noChangeArrowheads="1"/>
          </p:cNvPicPr>
          <p:nvPr/>
        </p:nvPicPr>
        <p:blipFill>
          <a:blip r:embed="rId1"/>
          <a:srcRect l="61092"/>
          <a:stretch>
            <a:fillRect/>
          </a:stretch>
        </p:blipFill>
        <p:spPr bwMode="auto">
          <a:xfrm>
            <a:off x="5436096" y="1556792"/>
            <a:ext cx="1924624" cy="176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Group 10"/>
          <p:cNvGrpSpPr/>
          <p:nvPr/>
        </p:nvGrpSpPr>
        <p:grpSpPr>
          <a:xfrm>
            <a:off x="1259761" y="1701314"/>
            <a:ext cx="2301359" cy="2033518"/>
            <a:chOff x="755576" y="4940324"/>
            <a:chExt cx="2301359" cy="2033518"/>
          </a:xfrm>
        </p:grpSpPr>
        <p:grpSp>
          <p:nvGrpSpPr>
            <p:cNvPr id="12" name="Group 36"/>
            <p:cNvGrpSpPr/>
            <p:nvPr/>
          </p:nvGrpSpPr>
          <p:grpSpPr bwMode="auto">
            <a:xfrm>
              <a:off x="755576" y="4940324"/>
              <a:ext cx="2130425" cy="1296988"/>
              <a:chOff x="476" y="2432"/>
              <a:chExt cx="1342" cy="817"/>
            </a:xfrm>
          </p:grpSpPr>
          <p:sp>
            <p:nvSpPr>
              <p:cNvPr id="14" name="Oval 4"/>
              <p:cNvSpPr>
                <a:spLocks noChangeArrowheads="1"/>
              </p:cNvSpPr>
              <p:nvPr/>
            </p:nvSpPr>
            <p:spPr bwMode="auto">
              <a:xfrm>
                <a:off x="476" y="2432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Oval 5"/>
              <p:cNvSpPr>
                <a:spLocks noChangeArrowheads="1"/>
              </p:cNvSpPr>
              <p:nvPr/>
            </p:nvSpPr>
            <p:spPr bwMode="auto">
              <a:xfrm>
                <a:off x="1048" y="2432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Oval 6"/>
              <p:cNvSpPr>
                <a:spLocks noChangeArrowheads="1"/>
              </p:cNvSpPr>
              <p:nvPr/>
            </p:nvSpPr>
            <p:spPr bwMode="auto">
              <a:xfrm>
                <a:off x="1673" y="2432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Oval 7"/>
              <p:cNvSpPr>
                <a:spLocks noChangeArrowheads="1"/>
              </p:cNvSpPr>
              <p:nvPr/>
            </p:nvSpPr>
            <p:spPr bwMode="auto">
              <a:xfrm>
                <a:off x="494" y="3113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Oval 8"/>
              <p:cNvSpPr>
                <a:spLocks noChangeArrowheads="1"/>
              </p:cNvSpPr>
              <p:nvPr/>
            </p:nvSpPr>
            <p:spPr bwMode="auto">
              <a:xfrm>
                <a:off x="1039" y="3104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Oval 9"/>
              <p:cNvSpPr>
                <a:spLocks noChangeArrowheads="1"/>
              </p:cNvSpPr>
              <p:nvPr/>
            </p:nvSpPr>
            <p:spPr bwMode="auto">
              <a:xfrm>
                <a:off x="1682" y="3095"/>
                <a:ext cx="136" cy="136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10"/>
              <p:cNvSpPr>
                <a:spLocks noChangeShapeType="1"/>
              </p:cNvSpPr>
              <p:nvPr/>
            </p:nvSpPr>
            <p:spPr bwMode="auto">
              <a:xfrm>
                <a:off x="567" y="2568"/>
                <a:ext cx="0" cy="59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11"/>
              <p:cNvSpPr>
                <a:spLocks noChangeShapeType="1"/>
              </p:cNvSpPr>
              <p:nvPr/>
            </p:nvSpPr>
            <p:spPr bwMode="auto">
              <a:xfrm>
                <a:off x="1111" y="2568"/>
                <a:ext cx="0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12"/>
              <p:cNvSpPr>
                <a:spLocks noChangeShapeType="1"/>
              </p:cNvSpPr>
              <p:nvPr/>
            </p:nvSpPr>
            <p:spPr bwMode="auto">
              <a:xfrm>
                <a:off x="1746" y="2568"/>
                <a:ext cx="0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>
                <a:off x="567" y="2568"/>
                <a:ext cx="544" cy="59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612" y="2568"/>
                <a:ext cx="1134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V="1">
                <a:off x="567" y="2568"/>
                <a:ext cx="544" cy="590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 flipV="1">
                <a:off x="567" y="2568"/>
                <a:ext cx="1134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17"/>
              <p:cNvSpPr>
                <a:spLocks noChangeShapeType="1"/>
              </p:cNvSpPr>
              <p:nvPr/>
            </p:nvSpPr>
            <p:spPr bwMode="auto">
              <a:xfrm flipH="1">
                <a:off x="1156" y="2568"/>
                <a:ext cx="590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18"/>
              <p:cNvSpPr>
                <a:spLocks noChangeShapeType="1"/>
              </p:cNvSpPr>
              <p:nvPr/>
            </p:nvSpPr>
            <p:spPr bwMode="auto">
              <a:xfrm>
                <a:off x="1111" y="2568"/>
                <a:ext cx="635" cy="545"/>
              </a:xfrm>
              <a:prstGeom prst="line">
                <a:avLst/>
              </a:prstGeom>
              <a:noFill/>
              <a:ln w="28575" cmpd="sng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" name="Text Box 37"/>
            <p:cNvSpPr txBox="1">
              <a:spLocks noChangeArrowheads="1"/>
            </p:cNvSpPr>
            <p:nvPr/>
          </p:nvSpPr>
          <p:spPr bwMode="auto">
            <a:xfrm>
              <a:off x="970325" y="6451872"/>
              <a:ext cx="2086610" cy="5219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6阶3-正则图</a:t>
              </a:r>
              <a:endParaRPr lang="zh-CN" altLang="en-US" sz="2400" b="1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8677" name="Group 28676"/>
          <p:cNvGrpSpPr/>
          <p:nvPr/>
        </p:nvGrpSpPr>
        <p:grpSpPr>
          <a:xfrm>
            <a:off x="1115993" y="3861172"/>
            <a:ext cx="3256280" cy="2825849"/>
            <a:chOff x="542588" y="3861172"/>
            <a:chExt cx="3256280" cy="2825849"/>
          </a:xfrm>
        </p:grpSpPr>
        <p:grpSp>
          <p:nvGrpSpPr>
            <p:cNvPr id="28676" name="Group 28675"/>
            <p:cNvGrpSpPr/>
            <p:nvPr/>
          </p:nvGrpSpPr>
          <p:grpSpPr>
            <a:xfrm>
              <a:off x="683568" y="3861172"/>
              <a:ext cx="2304256" cy="2160116"/>
              <a:chOff x="827584" y="3717156"/>
              <a:chExt cx="2304256" cy="2160116"/>
            </a:xfrm>
          </p:grpSpPr>
          <p:sp>
            <p:nvSpPr>
              <p:cNvPr id="2" name="Regular Pentagon 1"/>
              <p:cNvSpPr/>
              <p:nvPr/>
            </p:nvSpPr>
            <p:spPr>
              <a:xfrm>
                <a:off x="899592" y="3789040"/>
                <a:ext cx="2160240" cy="2016224"/>
              </a:xfrm>
              <a:prstGeom prst="pentagon">
                <a:avLst/>
              </a:prstGeom>
              <a:solidFill>
                <a:srgbClr val="FFFFFF"/>
              </a:solidFill>
              <a:ln w="28575" cmpd="sng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7"/>
              <p:cNvSpPr>
                <a:spLocks noChangeArrowheads="1"/>
              </p:cNvSpPr>
              <p:nvPr/>
            </p:nvSpPr>
            <p:spPr bwMode="auto">
              <a:xfrm>
                <a:off x="1907704" y="3717156"/>
                <a:ext cx="215900" cy="21590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7"/>
              <p:cNvSpPr>
                <a:spLocks noChangeArrowheads="1"/>
              </p:cNvSpPr>
              <p:nvPr/>
            </p:nvSpPr>
            <p:spPr bwMode="auto">
              <a:xfrm>
                <a:off x="2915940" y="4437236"/>
                <a:ext cx="215900" cy="21590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Oval 7"/>
              <p:cNvSpPr>
                <a:spLocks noChangeArrowheads="1"/>
              </p:cNvSpPr>
              <p:nvPr/>
            </p:nvSpPr>
            <p:spPr bwMode="auto">
              <a:xfrm>
                <a:off x="2483892" y="5661372"/>
                <a:ext cx="215900" cy="21590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Oval 7"/>
              <p:cNvSpPr>
                <a:spLocks noChangeArrowheads="1"/>
              </p:cNvSpPr>
              <p:nvPr/>
            </p:nvSpPr>
            <p:spPr bwMode="auto">
              <a:xfrm>
                <a:off x="1259632" y="5661372"/>
                <a:ext cx="215900" cy="21590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Oval 7"/>
              <p:cNvSpPr>
                <a:spLocks noChangeArrowheads="1"/>
              </p:cNvSpPr>
              <p:nvPr/>
            </p:nvSpPr>
            <p:spPr bwMode="auto">
              <a:xfrm>
                <a:off x="827584" y="4437236"/>
                <a:ext cx="215900" cy="215900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cxnSp>
            <p:nvCxnSpPr>
              <p:cNvPr id="5" name="Straight Connector 4"/>
              <p:cNvCxnSpPr>
                <a:stCxn id="29" idx="4"/>
                <a:endCxn id="32" idx="0"/>
              </p:cNvCxnSpPr>
              <p:nvPr/>
            </p:nvCxnSpPr>
            <p:spPr>
              <a:xfrm flipH="1">
                <a:off x="1367582" y="3933056"/>
                <a:ext cx="648072" cy="17283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>
                <a:stCxn id="29" idx="4"/>
                <a:endCxn id="31" idx="0"/>
              </p:cNvCxnSpPr>
              <p:nvPr/>
            </p:nvCxnSpPr>
            <p:spPr>
              <a:xfrm>
                <a:off x="2015654" y="3933056"/>
                <a:ext cx="576188" cy="172831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>
                <a:endCxn id="30" idx="2"/>
              </p:cNvCxnSpPr>
              <p:nvPr/>
            </p:nvCxnSpPr>
            <p:spPr>
              <a:xfrm>
                <a:off x="1043608" y="4509120"/>
                <a:ext cx="1872332" cy="3606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672" name="Straight Connector 28671"/>
              <p:cNvCxnSpPr>
                <a:stCxn id="33" idx="6"/>
                <a:endCxn id="31" idx="1"/>
              </p:cNvCxnSpPr>
              <p:nvPr/>
            </p:nvCxnSpPr>
            <p:spPr>
              <a:xfrm>
                <a:off x="1043484" y="4545186"/>
                <a:ext cx="1472026" cy="11478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675" name="Straight Connector 28674"/>
              <p:cNvCxnSpPr>
                <a:stCxn id="32" idx="0"/>
                <a:endCxn id="30" idx="3"/>
              </p:cNvCxnSpPr>
              <p:nvPr/>
            </p:nvCxnSpPr>
            <p:spPr>
              <a:xfrm flipV="1">
                <a:off x="1367582" y="4621518"/>
                <a:ext cx="1579976" cy="103985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542588" y="6165051"/>
              <a:ext cx="3256280" cy="5219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2800" b="1" dirty="0">
                  <a:latin typeface="Times New Roman" panose="02020603050405020304" pitchFamily="18" charset="0"/>
                </a:rPr>
                <a:t>K5（</a:t>
              </a:r>
              <a:r>
                <a:rPr lang="en-US" altLang="zh-CN" sz="2800" b="1" dirty="0">
                  <a:latin typeface="Times New Roman" panose="02020603050405020304" pitchFamily="18" charset="0"/>
                  <a:sym typeface="+mn-ea"/>
                </a:rPr>
                <a:t>5阶4-正则图）</a:t>
              </a:r>
              <a:endParaRPr lang="zh-CN" altLang="en-US" sz="2400" b="1" baseline="-25000" dirty="0">
                <a:latin typeface="Times New Roman" panose="02020603050405020304" pitchFamily="18" charset="0"/>
                <a:sym typeface="+mn-ea"/>
              </a:endParaRPr>
            </a:p>
          </p:txBody>
        </p:sp>
      </p:grpSp>
      <p:grpSp>
        <p:nvGrpSpPr>
          <p:cNvPr id="28691" name="Group 28690"/>
          <p:cNvGrpSpPr/>
          <p:nvPr/>
        </p:nvGrpSpPr>
        <p:grpSpPr>
          <a:xfrm>
            <a:off x="5432807" y="4005188"/>
            <a:ext cx="2581136" cy="2610078"/>
            <a:chOff x="4499992" y="4005188"/>
            <a:chExt cx="2581136" cy="2610078"/>
          </a:xfrm>
        </p:grpSpPr>
        <p:sp>
          <p:nvSpPr>
            <p:cNvPr id="44" name="Oval 7"/>
            <p:cNvSpPr>
              <a:spLocks noChangeArrowheads="1"/>
            </p:cNvSpPr>
            <p:nvPr/>
          </p:nvSpPr>
          <p:spPr bwMode="auto">
            <a:xfrm>
              <a:off x="5436220" y="4005188"/>
              <a:ext cx="215900" cy="2159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Oval 7"/>
            <p:cNvSpPr>
              <a:spLocks noChangeArrowheads="1"/>
            </p:cNvSpPr>
            <p:nvPr/>
          </p:nvSpPr>
          <p:spPr bwMode="auto">
            <a:xfrm>
              <a:off x="4499992" y="5445348"/>
              <a:ext cx="215900" cy="2159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Oval 7"/>
            <p:cNvSpPr>
              <a:spLocks noChangeArrowheads="1"/>
            </p:cNvSpPr>
            <p:nvPr/>
          </p:nvSpPr>
          <p:spPr bwMode="auto">
            <a:xfrm>
              <a:off x="6516216" y="5445224"/>
              <a:ext cx="215900" cy="21590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83" name="Freeform 28682"/>
            <p:cNvSpPr/>
            <p:nvPr/>
          </p:nvSpPr>
          <p:spPr>
            <a:xfrm>
              <a:off x="4707467" y="4199467"/>
              <a:ext cx="881261" cy="1337733"/>
            </a:xfrm>
            <a:custGeom>
              <a:avLst/>
              <a:gdLst>
                <a:gd name="connsiteX0" fmla="*/ 880533 w 881261"/>
                <a:gd name="connsiteY0" fmla="*/ 0 h 1337733"/>
                <a:gd name="connsiteX1" fmla="*/ 863600 w 881261"/>
                <a:gd name="connsiteY1" fmla="*/ 287866 h 1337733"/>
                <a:gd name="connsiteX2" fmla="*/ 762000 w 881261"/>
                <a:gd name="connsiteY2" fmla="*/ 626533 h 1337733"/>
                <a:gd name="connsiteX3" fmla="*/ 508000 w 881261"/>
                <a:gd name="connsiteY3" fmla="*/ 999066 h 1337733"/>
                <a:gd name="connsiteX4" fmla="*/ 0 w 881261"/>
                <a:gd name="connsiteY4" fmla="*/ 1337733 h 1337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1261" h="1337733">
                  <a:moveTo>
                    <a:pt x="880533" y="0"/>
                  </a:moveTo>
                  <a:cubicBezTo>
                    <a:pt x="881944" y="91722"/>
                    <a:pt x="883355" y="183444"/>
                    <a:pt x="863600" y="287866"/>
                  </a:cubicBezTo>
                  <a:cubicBezTo>
                    <a:pt x="843845" y="392288"/>
                    <a:pt x="821267" y="508000"/>
                    <a:pt x="762000" y="626533"/>
                  </a:cubicBezTo>
                  <a:cubicBezTo>
                    <a:pt x="702733" y="745066"/>
                    <a:pt x="635000" y="880533"/>
                    <a:pt x="508000" y="999066"/>
                  </a:cubicBezTo>
                  <a:cubicBezTo>
                    <a:pt x="381000" y="1117599"/>
                    <a:pt x="0" y="1337733"/>
                    <a:pt x="0" y="1337733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4" name="Freeform 28683"/>
            <p:cNvSpPr/>
            <p:nvPr/>
          </p:nvSpPr>
          <p:spPr>
            <a:xfrm>
              <a:off x="4572000" y="4080933"/>
              <a:ext cx="880533" cy="1371600"/>
            </a:xfrm>
            <a:custGeom>
              <a:avLst/>
              <a:gdLst>
                <a:gd name="connsiteX0" fmla="*/ 0 w 880533"/>
                <a:gd name="connsiteY0" fmla="*/ 1371600 h 1371600"/>
                <a:gd name="connsiteX1" fmla="*/ 50800 w 880533"/>
                <a:gd name="connsiteY1" fmla="*/ 948267 h 1371600"/>
                <a:gd name="connsiteX2" fmla="*/ 270933 w 880533"/>
                <a:gd name="connsiteY2" fmla="*/ 508000 h 1371600"/>
                <a:gd name="connsiteX3" fmla="*/ 558800 w 880533"/>
                <a:gd name="connsiteY3" fmla="*/ 152400 h 1371600"/>
                <a:gd name="connsiteX4" fmla="*/ 880533 w 880533"/>
                <a:gd name="connsiteY4" fmla="*/ 0 h 137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0533" h="1371600">
                  <a:moveTo>
                    <a:pt x="0" y="1371600"/>
                  </a:moveTo>
                  <a:cubicBezTo>
                    <a:pt x="2822" y="1231900"/>
                    <a:pt x="5645" y="1092200"/>
                    <a:pt x="50800" y="948267"/>
                  </a:cubicBezTo>
                  <a:cubicBezTo>
                    <a:pt x="95955" y="804334"/>
                    <a:pt x="186266" y="640644"/>
                    <a:pt x="270933" y="508000"/>
                  </a:cubicBezTo>
                  <a:cubicBezTo>
                    <a:pt x="355600" y="375355"/>
                    <a:pt x="457200" y="237067"/>
                    <a:pt x="558800" y="152400"/>
                  </a:cubicBezTo>
                  <a:cubicBezTo>
                    <a:pt x="660400" y="67733"/>
                    <a:pt x="880533" y="0"/>
                    <a:pt x="880533" y="0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6" name="Freeform 28685"/>
            <p:cNvSpPr/>
            <p:nvPr/>
          </p:nvSpPr>
          <p:spPr>
            <a:xfrm>
              <a:off x="5638800" y="4030133"/>
              <a:ext cx="1101124" cy="1456267"/>
            </a:xfrm>
            <a:custGeom>
              <a:avLst/>
              <a:gdLst>
                <a:gd name="connsiteX0" fmla="*/ 0 w 1101124"/>
                <a:gd name="connsiteY0" fmla="*/ 0 h 1456267"/>
                <a:gd name="connsiteX1" fmla="*/ 728133 w 1101124"/>
                <a:gd name="connsiteY1" fmla="*/ 287867 h 1456267"/>
                <a:gd name="connsiteX2" fmla="*/ 1083733 w 1101124"/>
                <a:gd name="connsiteY2" fmla="*/ 711200 h 1456267"/>
                <a:gd name="connsiteX3" fmla="*/ 1049867 w 1101124"/>
                <a:gd name="connsiteY3" fmla="*/ 1456267 h 1456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1124" h="1456267">
                  <a:moveTo>
                    <a:pt x="0" y="0"/>
                  </a:moveTo>
                  <a:cubicBezTo>
                    <a:pt x="273755" y="84667"/>
                    <a:pt x="547511" y="169334"/>
                    <a:pt x="728133" y="287867"/>
                  </a:cubicBezTo>
                  <a:cubicBezTo>
                    <a:pt x="908755" y="406400"/>
                    <a:pt x="1030111" y="516467"/>
                    <a:pt x="1083733" y="711200"/>
                  </a:cubicBezTo>
                  <a:cubicBezTo>
                    <a:pt x="1137355" y="905933"/>
                    <a:pt x="1049867" y="1456267"/>
                    <a:pt x="1049867" y="1456267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8" name="Freeform 28687"/>
            <p:cNvSpPr/>
            <p:nvPr/>
          </p:nvSpPr>
          <p:spPr>
            <a:xfrm>
              <a:off x="5604933" y="4182533"/>
              <a:ext cx="931334" cy="1286934"/>
            </a:xfrm>
            <a:custGeom>
              <a:avLst/>
              <a:gdLst>
                <a:gd name="connsiteX0" fmla="*/ 931334 w 931334"/>
                <a:gd name="connsiteY0" fmla="*/ 1286934 h 1286934"/>
                <a:gd name="connsiteX1" fmla="*/ 643467 w 931334"/>
                <a:gd name="connsiteY1" fmla="*/ 897467 h 1286934"/>
                <a:gd name="connsiteX2" fmla="*/ 0 w 931334"/>
                <a:gd name="connsiteY2" fmla="*/ 0 h 1286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31334" h="1286934">
                  <a:moveTo>
                    <a:pt x="931334" y="1286934"/>
                  </a:moveTo>
                  <a:cubicBezTo>
                    <a:pt x="865011" y="1199445"/>
                    <a:pt x="798689" y="1111956"/>
                    <a:pt x="643467" y="897467"/>
                  </a:cubicBezTo>
                  <a:cubicBezTo>
                    <a:pt x="488245" y="682978"/>
                    <a:pt x="0" y="0"/>
                    <a:pt x="0" y="0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89" name="Freeform 28688"/>
            <p:cNvSpPr/>
            <p:nvPr/>
          </p:nvSpPr>
          <p:spPr>
            <a:xfrm>
              <a:off x="4724400" y="5484899"/>
              <a:ext cx="1811867" cy="69234"/>
            </a:xfrm>
            <a:custGeom>
              <a:avLst/>
              <a:gdLst>
                <a:gd name="connsiteX0" fmla="*/ 0 w 1811867"/>
                <a:gd name="connsiteY0" fmla="*/ 52301 h 69234"/>
                <a:gd name="connsiteX1" fmla="*/ 575733 w 1811867"/>
                <a:gd name="connsiteY1" fmla="*/ 1501 h 69234"/>
                <a:gd name="connsiteX2" fmla="*/ 1117600 w 1811867"/>
                <a:gd name="connsiteY2" fmla="*/ 18434 h 69234"/>
                <a:gd name="connsiteX3" fmla="*/ 1811867 w 1811867"/>
                <a:gd name="connsiteY3" fmla="*/ 69234 h 69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1867" h="69234">
                  <a:moveTo>
                    <a:pt x="0" y="52301"/>
                  </a:moveTo>
                  <a:cubicBezTo>
                    <a:pt x="194733" y="29723"/>
                    <a:pt x="389466" y="7145"/>
                    <a:pt x="575733" y="1501"/>
                  </a:cubicBezTo>
                  <a:cubicBezTo>
                    <a:pt x="762000" y="-4143"/>
                    <a:pt x="911578" y="7145"/>
                    <a:pt x="1117600" y="18434"/>
                  </a:cubicBezTo>
                  <a:cubicBezTo>
                    <a:pt x="1323622" y="29723"/>
                    <a:pt x="1811867" y="69234"/>
                    <a:pt x="1811867" y="69234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90" name="Freeform 28689"/>
            <p:cNvSpPr/>
            <p:nvPr/>
          </p:nvSpPr>
          <p:spPr>
            <a:xfrm>
              <a:off x="4656667" y="5621867"/>
              <a:ext cx="1947333" cy="339569"/>
            </a:xfrm>
            <a:custGeom>
              <a:avLst/>
              <a:gdLst>
                <a:gd name="connsiteX0" fmla="*/ 1947333 w 1947333"/>
                <a:gd name="connsiteY0" fmla="*/ 0 h 339569"/>
                <a:gd name="connsiteX1" fmla="*/ 1507066 w 1947333"/>
                <a:gd name="connsiteY1" fmla="*/ 270933 h 339569"/>
                <a:gd name="connsiteX2" fmla="*/ 694266 w 1947333"/>
                <a:gd name="connsiteY2" fmla="*/ 321733 h 339569"/>
                <a:gd name="connsiteX3" fmla="*/ 0 w 1947333"/>
                <a:gd name="connsiteY3" fmla="*/ 16933 h 33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7333" h="339569">
                  <a:moveTo>
                    <a:pt x="1947333" y="0"/>
                  </a:moveTo>
                  <a:cubicBezTo>
                    <a:pt x="1831621" y="108655"/>
                    <a:pt x="1715910" y="217311"/>
                    <a:pt x="1507066" y="270933"/>
                  </a:cubicBezTo>
                  <a:cubicBezTo>
                    <a:pt x="1298222" y="324555"/>
                    <a:pt x="945444" y="364066"/>
                    <a:pt x="694266" y="321733"/>
                  </a:cubicBezTo>
                  <a:cubicBezTo>
                    <a:pt x="443088" y="279400"/>
                    <a:pt x="0" y="16933"/>
                    <a:pt x="0" y="16933"/>
                  </a:cubicBezTo>
                </a:path>
              </a:pathLst>
            </a:custGeom>
            <a:ln w="28575" cmpd="sng">
              <a:headEnd type="none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Text Box 37"/>
            <p:cNvSpPr txBox="1">
              <a:spLocks noChangeArrowheads="1"/>
            </p:cNvSpPr>
            <p:nvPr/>
          </p:nvSpPr>
          <p:spPr bwMode="auto">
            <a:xfrm>
              <a:off x="4575418" y="6093296"/>
              <a:ext cx="2505710" cy="52197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阶有向完全图</a:t>
              </a:r>
              <a:endParaRPr lang="en-US" altLang="zh-CN" sz="2800" b="1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" name="Text Box 37"/>
          <p:cNvSpPr txBox="1">
            <a:spLocks noChangeArrowheads="1"/>
          </p:cNvSpPr>
          <p:nvPr/>
        </p:nvSpPr>
        <p:spPr bwMode="auto">
          <a:xfrm>
            <a:off x="4430380" y="3212847"/>
            <a:ext cx="466026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</a:rPr>
              <a:t>Peterson</a:t>
            </a:r>
            <a:r>
              <a:rPr lang="zh-CN" altLang="en-US" sz="2800" b="1" dirty="0">
                <a:latin typeface="Times New Roman" panose="02020603050405020304" pitchFamily="18" charset="0"/>
              </a:rPr>
              <a:t>图（</a:t>
            </a:r>
            <a:r>
              <a:rPr lang="en-US" altLang="zh-CN" sz="2800" b="1" dirty="0">
                <a:latin typeface="Times New Roman" panose="02020603050405020304" pitchFamily="18" charset="0"/>
              </a:rPr>
              <a:t>10</a:t>
            </a:r>
            <a:r>
              <a:rPr lang="zh-CN" altLang="en-US" sz="2800" b="1" dirty="0">
                <a:latin typeface="Times New Roman" panose="02020603050405020304" pitchFamily="18" charset="0"/>
              </a:rPr>
              <a:t>阶</a:t>
            </a:r>
            <a:r>
              <a:rPr lang="en-US" altLang="zh-CN" sz="2800" b="1" dirty="0">
                <a:latin typeface="Times New Roman" panose="02020603050405020304" pitchFamily="18" charset="0"/>
              </a:rPr>
              <a:t>3-</a:t>
            </a:r>
            <a:r>
              <a:rPr lang="zh-CN" altLang="en-US" sz="2800" b="1" dirty="0">
                <a:latin typeface="Times New Roman" panose="02020603050405020304" pitchFamily="18" charset="0"/>
              </a:rPr>
              <a:t>正则图</a:t>
            </a:r>
            <a:r>
              <a:rPr lang="zh-CN" altLang="en-US" sz="2800" b="1" dirty="0">
                <a:latin typeface="Times New Roman" panose="02020603050405020304" pitchFamily="18" charset="0"/>
              </a:rPr>
              <a:t>）</a:t>
            </a:r>
            <a:endParaRPr lang="en-US" altLang="zh-CN" sz="28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6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4" name="Picture 7" descr="18-8"/>
          <p:cNvPicPr>
            <a:picLocks noChangeAspect="1" noChangeArrowheads="1"/>
          </p:cNvPicPr>
          <p:nvPr/>
        </p:nvPicPr>
        <p:blipFill>
          <a:blip r:embed="rId1"/>
          <a:srcRect l="61092"/>
          <a:stretch>
            <a:fillRect/>
          </a:stretch>
        </p:blipFill>
        <p:spPr bwMode="auto">
          <a:xfrm>
            <a:off x="5436096" y="1373912"/>
            <a:ext cx="1924624" cy="176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18-8"/>
          <p:cNvPicPr>
            <a:picLocks noChangeAspect="1" noChangeArrowheads="1"/>
          </p:cNvPicPr>
          <p:nvPr/>
        </p:nvPicPr>
        <p:blipFill>
          <a:blip r:embed="rId2"/>
          <a:srcRect l="61092"/>
          <a:stretch>
            <a:fillRect/>
          </a:stretch>
        </p:blipFill>
        <p:spPr bwMode="auto">
          <a:xfrm>
            <a:off x="5436096" y="1340257"/>
            <a:ext cx="1924624" cy="176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advTm="57308">
    <p:wipe dir="r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正则图的举例</a:t>
            </a:r>
            <a:r>
              <a:rPr lang="en-US" altLang="zh-CN" dirty="0"/>
              <a:t>-Plato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6766" y="3701306"/>
            <a:ext cx="6009524" cy="29809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948" y="1434528"/>
            <a:ext cx="6085714" cy="1961905"/>
          </a:xfrm>
          <a:prstGeom prst="rect">
            <a:avLst/>
          </a:prstGeom>
        </p:spPr>
      </p:pic>
      <p:sp>
        <p:nvSpPr>
          <p:cNvPr id="3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66" y="3828306"/>
            <a:ext cx="6009524" cy="29809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948" y="1561528"/>
            <a:ext cx="6085714" cy="1961905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正则图的举例</a:t>
            </a:r>
            <a:r>
              <a:rPr lang="en-US" altLang="zh-CN" dirty="0"/>
              <a:t>-Plato</a:t>
            </a:r>
            <a:r>
              <a:rPr lang="zh-CN" altLang="en-US" dirty="0"/>
              <a:t>图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255" y="2420575"/>
            <a:ext cx="5742857" cy="3552381"/>
          </a:xfrm>
          <a:prstGeom prst="rect">
            <a:avLst/>
          </a:prstGeom>
        </p:spPr>
      </p:pic>
      <p:sp>
        <p:nvSpPr>
          <p:cNvPr id="3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030" y="1872570"/>
            <a:ext cx="5742857" cy="3552381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i="1" dirty="0">
                <a:latin typeface="+mn-lt"/>
              </a:rPr>
              <a:t>r</a:t>
            </a:r>
            <a:r>
              <a:rPr lang="zh-CN" altLang="en-US" dirty="0"/>
              <a:t>部图</a:t>
            </a:r>
            <a:r>
              <a:rPr lang="en-US" altLang="zh-CN" dirty="0"/>
              <a:t>(r-partite graphs)</a:t>
            </a:r>
            <a:endParaRPr lang="zh-CN" altLang="en-US" dirty="0"/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无向图</a:t>
            </a:r>
            <a:r>
              <a:rPr lang="en-US" altLang="zh-CN" dirty="0"/>
              <a:t>G=&lt;V,E&gt;</a:t>
            </a:r>
            <a:r>
              <a:rPr lang="zh-CN" altLang="en-US" dirty="0"/>
              <a:t>，</a:t>
            </a:r>
            <a:r>
              <a:rPr lang="en-US" altLang="zh-CN" dirty="0"/>
              <a:t>|V|=</a:t>
            </a:r>
            <a:r>
              <a:rPr lang="en-US" altLang="zh-CN" i="1" dirty="0"/>
              <a:t>n</a:t>
            </a:r>
            <a:endParaRPr lang="en-US" altLang="zh-CN" i="1" dirty="0"/>
          </a:p>
          <a:p>
            <a:pPr>
              <a:lnSpc>
                <a:spcPct val="100000"/>
              </a:lnSpc>
            </a:pP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部图</a:t>
            </a:r>
            <a:r>
              <a:rPr lang="zh-CN" altLang="en-US" dirty="0"/>
              <a:t>：</a:t>
            </a:r>
            <a:r>
              <a:rPr lang="en-US" altLang="zh-CN" i="1" dirty="0"/>
              <a:t>V</a:t>
            </a:r>
            <a:r>
              <a:rPr lang="en-US" altLang="zh-CN" dirty="0"/>
              <a:t>=V</a:t>
            </a:r>
            <a:r>
              <a:rPr lang="en-US" altLang="zh-CN" baseline="-25000" dirty="0"/>
              <a:t>1</a:t>
            </a:r>
            <a:r>
              <a:rPr lang="en-US" altLang="zh-CN" dirty="0"/>
              <a:t>∪V</a:t>
            </a:r>
            <a:r>
              <a:rPr lang="en-US" altLang="zh-CN" baseline="-25000" dirty="0"/>
              <a:t>2 </a:t>
            </a:r>
            <a:r>
              <a:rPr lang="en-US" altLang="zh-CN" dirty="0"/>
              <a:t>∪… ∪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r</a:t>
            </a:r>
            <a:r>
              <a:rPr lang="zh-CN" altLang="en-US" dirty="0"/>
              <a:t>，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en-US" altLang="zh-CN" i="1" dirty="0"/>
              <a:t>∩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(</a:t>
            </a:r>
            <a:r>
              <a:rPr lang="en-US" altLang="zh-CN" i="1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≠</a:t>
            </a:r>
            <a:r>
              <a:rPr lang="en-US" altLang="zh-CN" i="1" dirty="0">
                <a:sym typeface="Symbol" panose="05050102010706020507" pitchFamily="18" charset="2"/>
              </a:rPr>
              <a:t>j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      E∪</a:t>
            </a:r>
            <a:r>
              <a:rPr lang="en-US" altLang="zh-CN" i="1" baseline="-25000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 ≠</a:t>
            </a:r>
            <a:r>
              <a:rPr lang="en-US" altLang="zh-CN" i="1" baseline="-25000" dirty="0">
                <a:sym typeface="Symbol" panose="05050102010706020507" pitchFamily="18" charset="2"/>
              </a:rPr>
              <a:t>j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/>
              <a:t>V</a:t>
            </a:r>
            <a:r>
              <a:rPr lang="en-US" altLang="zh-CN" i="1" baseline="-25000" dirty="0"/>
              <a:t>i </a:t>
            </a:r>
            <a:r>
              <a:rPr lang="en-US" altLang="zh-CN" i="1" dirty="0"/>
              <a:t>&amp;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记作</a:t>
            </a:r>
            <a:r>
              <a:rPr lang="en-US" altLang="zh-CN" dirty="0"/>
              <a:t>G=&lt;V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2</a:t>
            </a:r>
            <a:r>
              <a:rPr lang="en-US" altLang="zh-CN" dirty="0"/>
              <a:t>,… , </a:t>
            </a:r>
            <a:r>
              <a:rPr lang="en-US" altLang="zh-CN" i="1" dirty="0" err="1"/>
              <a:t>V</a:t>
            </a:r>
            <a:r>
              <a:rPr lang="en-US" altLang="zh-CN" i="1" baseline="-25000" dirty="0" err="1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二部图</a:t>
            </a:r>
            <a:r>
              <a:rPr lang="en-US" altLang="zh-CN" dirty="0"/>
              <a:t>(</a:t>
            </a:r>
            <a:r>
              <a:rPr lang="zh-CN" altLang="en-US" dirty="0"/>
              <a:t>偶图</a:t>
            </a:r>
            <a:r>
              <a:rPr lang="en-US" altLang="zh-CN" dirty="0"/>
              <a:t>)(bipartite graphs)</a:t>
            </a:r>
            <a:r>
              <a:rPr lang="zh-CN" altLang="en-US" dirty="0"/>
              <a:t>：</a:t>
            </a:r>
            <a:r>
              <a:rPr lang="en-US" altLang="zh-CN" dirty="0"/>
              <a:t>G=&lt;V</a:t>
            </a:r>
            <a:r>
              <a:rPr lang="en-US" altLang="zh-CN" baseline="-25000" dirty="0"/>
              <a:t>1</a:t>
            </a:r>
            <a:r>
              <a:rPr lang="en-US" altLang="zh-CN" dirty="0"/>
              <a:t>,V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完全</a:t>
            </a:r>
            <a:r>
              <a:rPr lang="en-US" altLang="zh-CN" i="1" dirty="0">
                <a:solidFill>
                  <a:srgbClr val="FF0000"/>
                </a:solidFill>
              </a:rPr>
              <a:t>r</a:t>
            </a:r>
            <a:r>
              <a:rPr lang="zh-CN" altLang="en-US" dirty="0">
                <a:solidFill>
                  <a:srgbClr val="FF0000"/>
                </a:solidFill>
              </a:rPr>
              <a:t>部图</a:t>
            </a:r>
            <a:r>
              <a:rPr lang="zh-CN" altLang="en-US" dirty="0"/>
              <a:t>：</a:t>
            </a:r>
            <a:r>
              <a:rPr lang="en-US" altLang="zh-CN" dirty="0"/>
              <a:t>G</a:t>
            </a:r>
            <a:r>
              <a:rPr lang="zh-CN" altLang="en-US" dirty="0"/>
              <a:t>是简单图</a:t>
            </a:r>
            <a:r>
              <a:rPr lang="en-US" altLang="zh-CN" i="1" dirty="0"/>
              <a:t>r</a:t>
            </a:r>
            <a:r>
              <a:rPr lang="zh-CN" altLang="en-US" dirty="0"/>
              <a:t>部图</a:t>
            </a:r>
            <a:r>
              <a:rPr lang="en-US" altLang="zh-CN" dirty="0"/>
              <a:t>,V</a:t>
            </a:r>
            <a:r>
              <a:rPr lang="en-US" altLang="zh-CN" i="1" baseline="-25000" dirty="0"/>
              <a:t>i</a:t>
            </a:r>
            <a:r>
              <a:rPr lang="zh-CN" altLang="en-US" dirty="0"/>
              <a:t>中的任意顶点与</a:t>
            </a:r>
            <a:r>
              <a:rPr lang="en-US" altLang="zh-CN" dirty="0"/>
              <a:t>V-V</a:t>
            </a:r>
            <a:r>
              <a:rPr lang="en-US" altLang="zh-CN" i="1" baseline="-25000" dirty="0"/>
              <a:t>i</a:t>
            </a:r>
            <a:r>
              <a:rPr lang="zh-CN" altLang="en-US" dirty="0"/>
              <a:t>中所有顶点相邻</a:t>
            </a:r>
            <a:r>
              <a:rPr lang="en-US" altLang="zh-CN" dirty="0"/>
              <a:t>,</a:t>
            </a:r>
            <a:r>
              <a:rPr lang="zh-CN" altLang="en-US" dirty="0"/>
              <a:t>记为</a:t>
            </a:r>
            <a:r>
              <a:rPr lang="en-US" altLang="zh-CN" i="1" dirty="0"/>
              <a:t>K</a:t>
            </a:r>
            <a:r>
              <a:rPr lang="en-US" altLang="zh-CN" i="1" baseline="-25000" dirty="0"/>
              <a:t>n</a:t>
            </a:r>
            <a:r>
              <a:rPr lang="en-US" altLang="zh-CN" i="1" baseline="-40000" dirty="0"/>
              <a:t>1</a:t>
            </a:r>
            <a:r>
              <a:rPr lang="en-US" altLang="zh-CN" baseline="-25000" dirty="0"/>
              <a:t>,</a:t>
            </a:r>
            <a:r>
              <a:rPr lang="en-US" altLang="zh-CN" i="1" baseline="-25000" dirty="0"/>
              <a:t> n</a:t>
            </a:r>
            <a:r>
              <a:rPr lang="en-US" altLang="zh-CN" baseline="-40000" dirty="0"/>
              <a:t>2</a:t>
            </a:r>
            <a:r>
              <a:rPr lang="en-US" altLang="zh-CN" baseline="-25000" dirty="0"/>
              <a:t>,</a:t>
            </a:r>
            <a:r>
              <a:rPr lang="en-US" altLang="zh-CN" baseline="-25000" dirty="0"/>
              <a:t>…</a:t>
            </a:r>
            <a:r>
              <a:rPr lang="en-US" altLang="zh-CN" baseline="-25000" dirty="0"/>
              <a:t>,</a:t>
            </a:r>
            <a:r>
              <a:rPr lang="en-US" altLang="zh-CN" i="1" baseline="-25000" dirty="0"/>
              <a:t> n</a:t>
            </a:r>
            <a:r>
              <a:rPr lang="en-US" altLang="zh-CN" i="1" baseline="-40000" dirty="0"/>
              <a:t>r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zh-CN" altLang="en-US" dirty="0"/>
              <a:t>完全二部图</a:t>
            </a:r>
            <a:r>
              <a:rPr lang="en-US" altLang="zh-CN" i="1" dirty="0"/>
              <a:t>K</a:t>
            </a:r>
            <a:r>
              <a:rPr lang="en-US" altLang="zh-CN" i="1" baseline="-10000" dirty="0"/>
              <a:t>n</a:t>
            </a:r>
            <a:r>
              <a:rPr lang="en-US" altLang="zh-CN" baseline="-40000" dirty="0"/>
              <a:t>1</a:t>
            </a:r>
            <a:r>
              <a:rPr lang="en-US" altLang="zh-CN" baseline="-25000" dirty="0"/>
              <a:t>,</a:t>
            </a:r>
            <a:r>
              <a:rPr lang="en-US" altLang="zh-CN" i="1" baseline="-25000" dirty="0"/>
              <a:t> </a:t>
            </a:r>
            <a:r>
              <a:rPr lang="en-US" altLang="zh-CN" i="1" baseline="-12000" dirty="0"/>
              <a:t>n</a:t>
            </a:r>
            <a:r>
              <a:rPr lang="en-US" altLang="zh-CN" baseline="-40000" dirty="0"/>
              <a:t>2</a:t>
            </a:r>
            <a:r>
              <a:rPr lang="zh-CN" altLang="en-US" dirty="0"/>
              <a:t>的</a:t>
            </a:r>
            <a:r>
              <a:rPr lang="en-US" altLang="zh-CN" dirty="0" err="1"/>
              <a:t>Δ</a:t>
            </a:r>
            <a:r>
              <a:rPr lang="en-US" altLang="zh-CN" dirty="0"/>
              <a:t>, </a:t>
            </a:r>
            <a:r>
              <a:rPr lang="en-US" altLang="zh-CN" dirty="0" err="1"/>
              <a:t>δ</a:t>
            </a:r>
            <a:r>
              <a:rPr lang="zh-CN" altLang="en-US" dirty="0"/>
              <a:t>及边数</a:t>
            </a:r>
            <a:r>
              <a:rPr lang="en-US" altLang="zh-CN" dirty="0"/>
              <a:t>m</a:t>
            </a:r>
            <a:endParaRPr lang="zh-CN" altLang="en-US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6" name="文本框 5"/>
          <p:cNvSpPr txBox="1"/>
          <p:nvPr/>
        </p:nvSpPr>
        <p:spPr>
          <a:xfrm>
            <a:off x="5580380" y="4437380"/>
            <a:ext cx="20193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课堂测试一：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zh-CN" altLang="en-US" dirty="0"/>
              <a:t>部图举例</a:t>
            </a:r>
            <a:endParaRPr lang="en-US" dirty="0"/>
          </a:p>
        </p:txBody>
      </p:sp>
      <p:grpSp>
        <p:nvGrpSpPr>
          <p:cNvPr id="29" name="Group 28"/>
          <p:cNvGrpSpPr/>
          <p:nvPr/>
        </p:nvGrpSpPr>
        <p:grpSpPr>
          <a:xfrm>
            <a:off x="1794988" y="1462909"/>
            <a:ext cx="1872208" cy="2692623"/>
            <a:chOff x="251520" y="1844824"/>
            <a:chExt cx="1872208" cy="2692623"/>
          </a:xfrm>
        </p:grpSpPr>
        <p:sp>
          <p:nvSpPr>
            <p:cNvPr id="4" name="Oval 3"/>
            <p:cNvSpPr/>
            <p:nvPr/>
          </p:nvSpPr>
          <p:spPr>
            <a:xfrm>
              <a:off x="683568" y="1844824"/>
              <a:ext cx="216024" cy="216024"/>
            </a:xfrm>
            <a:prstGeom prst="ellipse">
              <a:avLst/>
            </a:prstGeom>
            <a:solidFill>
              <a:srgbClr val="FF66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1331640" y="1844824"/>
              <a:ext cx="216024" cy="216024"/>
            </a:xfrm>
            <a:prstGeom prst="ellipse">
              <a:avLst/>
            </a:prstGeom>
            <a:solidFill>
              <a:srgbClr val="FF66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51520" y="2492896"/>
              <a:ext cx="216024" cy="2160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51520" y="2996952"/>
              <a:ext cx="216024" cy="21602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1907704" y="2492896"/>
              <a:ext cx="216024" cy="216024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907704" y="2996952"/>
              <a:ext cx="216024" cy="216024"/>
            </a:xfrm>
            <a:prstGeom prst="ellipse">
              <a:avLst/>
            </a:prstGeom>
            <a:solidFill>
              <a:srgbClr val="0000FF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83568" y="3645024"/>
              <a:ext cx="216024" cy="21602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331640" y="3645024"/>
              <a:ext cx="216024" cy="21602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3" name="Straight Connector 12"/>
            <p:cNvCxnSpPr>
              <a:stCxn id="4" idx="4"/>
              <a:endCxn id="6" idx="7"/>
            </p:cNvCxnSpPr>
            <p:nvPr/>
          </p:nvCxnSpPr>
          <p:spPr>
            <a:xfrm flipH="1">
              <a:off x="435908" y="2060848"/>
              <a:ext cx="355672" cy="4636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5" idx="5"/>
              <a:endCxn id="8" idx="1"/>
            </p:cNvCxnSpPr>
            <p:nvPr/>
          </p:nvCxnSpPr>
          <p:spPr>
            <a:xfrm>
              <a:off x="1516028" y="2029212"/>
              <a:ext cx="423312" cy="4953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6" idx="6"/>
              <a:endCxn id="8" idx="2"/>
            </p:cNvCxnSpPr>
            <p:nvPr/>
          </p:nvCxnSpPr>
          <p:spPr>
            <a:xfrm>
              <a:off x="467544" y="2600908"/>
              <a:ext cx="144016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7" idx="6"/>
              <a:endCxn id="9" idx="2"/>
            </p:cNvCxnSpPr>
            <p:nvPr/>
          </p:nvCxnSpPr>
          <p:spPr>
            <a:xfrm>
              <a:off x="467544" y="3104964"/>
              <a:ext cx="144016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7" idx="4"/>
              <a:endCxn id="10" idx="1"/>
            </p:cNvCxnSpPr>
            <p:nvPr/>
          </p:nvCxnSpPr>
          <p:spPr>
            <a:xfrm>
              <a:off x="359532" y="3212976"/>
              <a:ext cx="355672" cy="4636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1" idx="7"/>
              <a:endCxn id="9" idx="3"/>
            </p:cNvCxnSpPr>
            <p:nvPr/>
          </p:nvCxnSpPr>
          <p:spPr>
            <a:xfrm flipV="1">
              <a:off x="1516028" y="3181340"/>
              <a:ext cx="423312" cy="4953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4" idx="4"/>
              <a:endCxn id="10" idx="0"/>
            </p:cNvCxnSpPr>
            <p:nvPr/>
          </p:nvCxnSpPr>
          <p:spPr>
            <a:xfrm>
              <a:off x="791580" y="2060848"/>
              <a:ext cx="0" cy="158417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" idx="4"/>
              <a:endCxn id="11" idx="0"/>
            </p:cNvCxnSpPr>
            <p:nvPr/>
          </p:nvCxnSpPr>
          <p:spPr>
            <a:xfrm>
              <a:off x="1439652" y="2060848"/>
              <a:ext cx="0" cy="158417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683568" y="4077072"/>
              <a:ext cx="110109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n-lt"/>
                </a:rPr>
                <a:t>四部图</a:t>
              </a:r>
              <a:endParaRPr lang="en-US" altLang="zh-CN" sz="2400" b="1" dirty="0">
                <a:latin typeface="+mn-lt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788173" y="1462669"/>
            <a:ext cx="1872208" cy="2693913"/>
            <a:chOff x="2843808" y="1844824"/>
            <a:chExt cx="1872208" cy="2693913"/>
          </a:xfrm>
        </p:grpSpPr>
        <p:sp>
          <p:nvSpPr>
            <p:cNvPr id="30" name="Oval 29"/>
            <p:cNvSpPr/>
            <p:nvPr/>
          </p:nvSpPr>
          <p:spPr>
            <a:xfrm>
              <a:off x="3275856" y="1844824"/>
              <a:ext cx="216024" cy="21602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923928" y="184482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2843808" y="2492896"/>
              <a:ext cx="216024" cy="216024"/>
            </a:xfrm>
            <a:prstGeom prst="ellipse">
              <a:avLst/>
            </a:prstGeom>
            <a:solidFill>
              <a:srgbClr val="20AC6F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2843808" y="2996952"/>
              <a:ext cx="216024" cy="21602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4499992" y="2492896"/>
              <a:ext cx="216024" cy="21602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4499992" y="2996952"/>
              <a:ext cx="216024" cy="216024"/>
            </a:xfrm>
            <a:prstGeom prst="ellipse">
              <a:avLst/>
            </a:prstGeom>
            <a:solidFill>
              <a:srgbClr val="20AC6F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3275856" y="3645024"/>
              <a:ext cx="216024" cy="21602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3923928" y="3645024"/>
              <a:ext cx="216024" cy="216024"/>
            </a:xfrm>
            <a:prstGeom prst="ellipse">
              <a:avLst/>
            </a:prstGeom>
            <a:solidFill>
              <a:srgbClr val="FFFF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38" name="Straight Connector 37"/>
            <p:cNvCxnSpPr>
              <a:stCxn id="30" idx="4"/>
              <a:endCxn id="32" idx="7"/>
            </p:cNvCxnSpPr>
            <p:nvPr/>
          </p:nvCxnSpPr>
          <p:spPr>
            <a:xfrm flipH="1">
              <a:off x="3028196" y="2060848"/>
              <a:ext cx="355672" cy="4636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1" idx="5"/>
              <a:endCxn id="34" idx="1"/>
            </p:cNvCxnSpPr>
            <p:nvPr/>
          </p:nvCxnSpPr>
          <p:spPr>
            <a:xfrm>
              <a:off x="4108316" y="2029212"/>
              <a:ext cx="423312" cy="4953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2" idx="6"/>
              <a:endCxn id="34" idx="2"/>
            </p:cNvCxnSpPr>
            <p:nvPr/>
          </p:nvCxnSpPr>
          <p:spPr>
            <a:xfrm>
              <a:off x="3059832" y="2600908"/>
              <a:ext cx="144016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33" idx="6"/>
              <a:endCxn id="35" idx="2"/>
            </p:cNvCxnSpPr>
            <p:nvPr/>
          </p:nvCxnSpPr>
          <p:spPr>
            <a:xfrm>
              <a:off x="3059832" y="3104964"/>
              <a:ext cx="1440160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3" idx="4"/>
              <a:endCxn id="36" idx="1"/>
            </p:cNvCxnSpPr>
            <p:nvPr/>
          </p:nvCxnSpPr>
          <p:spPr>
            <a:xfrm>
              <a:off x="2951820" y="3212976"/>
              <a:ext cx="355672" cy="4636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7" idx="7"/>
              <a:endCxn id="35" idx="3"/>
            </p:cNvCxnSpPr>
            <p:nvPr/>
          </p:nvCxnSpPr>
          <p:spPr>
            <a:xfrm flipV="1">
              <a:off x="4108316" y="3181340"/>
              <a:ext cx="423312" cy="4953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0" idx="4"/>
              <a:endCxn id="36" idx="0"/>
            </p:cNvCxnSpPr>
            <p:nvPr/>
          </p:nvCxnSpPr>
          <p:spPr>
            <a:xfrm>
              <a:off x="3383868" y="2060848"/>
              <a:ext cx="0" cy="158417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>
              <a:stCxn id="31" idx="4"/>
              <a:endCxn id="37" idx="0"/>
            </p:cNvCxnSpPr>
            <p:nvPr/>
          </p:nvCxnSpPr>
          <p:spPr>
            <a:xfrm>
              <a:off x="4031940" y="2060848"/>
              <a:ext cx="0" cy="158417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3275856" y="4077072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n-lt"/>
                </a:rPr>
                <a:t>二部图</a:t>
              </a:r>
              <a:endParaRPr lang="en-US" altLang="zh-CN" sz="2400" b="1" dirty="0">
                <a:latin typeface="+mn-lt"/>
              </a:endParaRP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2806353" y="4509373"/>
            <a:ext cx="3312368" cy="2189217"/>
            <a:chOff x="5076056" y="1628800"/>
            <a:chExt cx="3312368" cy="2189217"/>
          </a:xfrm>
        </p:grpSpPr>
        <p:sp>
          <p:nvSpPr>
            <p:cNvPr id="48" name="Oval 47"/>
            <p:cNvSpPr/>
            <p:nvPr/>
          </p:nvSpPr>
          <p:spPr>
            <a:xfrm>
              <a:off x="5508104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5940152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6372200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6804248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7236296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7668344" y="1628800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5508104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5940152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6372200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8" name="Oval 57"/>
            <p:cNvSpPr/>
            <p:nvPr/>
          </p:nvSpPr>
          <p:spPr>
            <a:xfrm>
              <a:off x="6804248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59" name="Oval 58"/>
            <p:cNvSpPr/>
            <p:nvPr/>
          </p:nvSpPr>
          <p:spPr>
            <a:xfrm>
              <a:off x="7236296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0" name="Oval 59"/>
            <p:cNvSpPr/>
            <p:nvPr/>
          </p:nvSpPr>
          <p:spPr>
            <a:xfrm>
              <a:off x="7668344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8172400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5076056" y="2924944"/>
              <a:ext cx="216024" cy="216024"/>
            </a:xfrm>
            <a:prstGeom prst="ellipse">
              <a:avLst/>
            </a:prstGeom>
            <a:solidFill>
              <a:schemeClr val="tx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65" name="Straight Connector 64"/>
            <p:cNvCxnSpPr>
              <a:stCxn id="48" idx="4"/>
              <a:endCxn id="55" idx="0"/>
            </p:cNvCxnSpPr>
            <p:nvPr/>
          </p:nvCxnSpPr>
          <p:spPr>
            <a:xfrm>
              <a:off x="5616116" y="1844824"/>
              <a:ext cx="0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48" idx="4"/>
              <a:endCxn id="56" idx="1"/>
            </p:cNvCxnSpPr>
            <p:nvPr/>
          </p:nvCxnSpPr>
          <p:spPr>
            <a:xfrm>
              <a:off x="5616116" y="1844824"/>
              <a:ext cx="355672" cy="11117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49" idx="4"/>
              <a:endCxn id="57" idx="0"/>
            </p:cNvCxnSpPr>
            <p:nvPr/>
          </p:nvCxnSpPr>
          <p:spPr>
            <a:xfrm>
              <a:off x="6048164" y="1844824"/>
              <a:ext cx="432048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49" idx="5"/>
              <a:endCxn id="59" idx="0"/>
            </p:cNvCxnSpPr>
            <p:nvPr/>
          </p:nvCxnSpPr>
          <p:spPr>
            <a:xfrm>
              <a:off x="6124540" y="1813188"/>
              <a:ext cx="1219768" cy="11117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51" idx="3"/>
              <a:endCxn id="62" idx="7"/>
            </p:cNvCxnSpPr>
            <p:nvPr/>
          </p:nvCxnSpPr>
          <p:spPr>
            <a:xfrm flipH="1">
              <a:off x="5260444" y="1813188"/>
              <a:ext cx="1143392" cy="114339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51" idx="5"/>
              <a:endCxn id="60" idx="0"/>
            </p:cNvCxnSpPr>
            <p:nvPr/>
          </p:nvCxnSpPr>
          <p:spPr>
            <a:xfrm>
              <a:off x="6556588" y="1813188"/>
              <a:ext cx="1219768" cy="11117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52" idx="4"/>
              <a:endCxn id="57" idx="7"/>
            </p:cNvCxnSpPr>
            <p:nvPr/>
          </p:nvCxnSpPr>
          <p:spPr>
            <a:xfrm flipH="1">
              <a:off x="6556588" y="1844824"/>
              <a:ext cx="355672" cy="11117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52" idx="4"/>
              <a:endCxn id="58" idx="0"/>
            </p:cNvCxnSpPr>
            <p:nvPr/>
          </p:nvCxnSpPr>
          <p:spPr>
            <a:xfrm>
              <a:off x="6912260" y="1844824"/>
              <a:ext cx="0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53" idx="4"/>
              <a:endCxn id="56" idx="7"/>
            </p:cNvCxnSpPr>
            <p:nvPr/>
          </p:nvCxnSpPr>
          <p:spPr>
            <a:xfrm flipH="1">
              <a:off x="6124540" y="1844824"/>
              <a:ext cx="1219768" cy="11117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53" idx="4"/>
              <a:endCxn id="61" idx="0"/>
            </p:cNvCxnSpPr>
            <p:nvPr/>
          </p:nvCxnSpPr>
          <p:spPr>
            <a:xfrm>
              <a:off x="7344308" y="1844824"/>
              <a:ext cx="936104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54" idx="4"/>
              <a:endCxn id="59" idx="0"/>
            </p:cNvCxnSpPr>
            <p:nvPr/>
          </p:nvCxnSpPr>
          <p:spPr>
            <a:xfrm flipH="1">
              <a:off x="7344308" y="1844824"/>
              <a:ext cx="432048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TextBox 88"/>
            <p:cNvSpPr txBox="1"/>
            <p:nvPr/>
          </p:nvSpPr>
          <p:spPr>
            <a:xfrm>
              <a:off x="6134075" y="3356352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b="1" dirty="0">
                  <a:latin typeface="+mn-lt"/>
                </a:rPr>
                <a:t>二部图</a:t>
              </a:r>
              <a:endParaRPr lang="en-US" altLang="zh-CN" sz="2400" b="1" dirty="0">
                <a:latin typeface="+mn-lt"/>
              </a:endParaRPr>
            </a:p>
          </p:txBody>
        </p:sp>
      </p:grpSp>
      <p:sp>
        <p:nvSpPr>
          <p:cNvPr id="3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109339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完全</a:t>
            </a:r>
            <a:r>
              <a:rPr lang="en-US" altLang="zh-CN" dirty="0"/>
              <a:t>r</a:t>
            </a:r>
            <a:r>
              <a:rPr lang="zh-CN" altLang="en-US" dirty="0"/>
              <a:t>部图</a:t>
            </a:r>
            <a:r>
              <a:rPr lang="en-US" altLang="zh-CN" dirty="0"/>
              <a:t>(</a:t>
            </a:r>
            <a:r>
              <a:rPr lang="en-US" altLang="zh-CN" sz="2800" dirty="0"/>
              <a:t>complete r-partite graphs</a:t>
            </a:r>
            <a:r>
              <a:rPr lang="en-US" altLang="zh-CN" dirty="0"/>
              <a:t>)</a:t>
            </a:r>
            <a:endParaRPr lang="en-US" dirty="0"/>
          </a:p>
        </p:txBody>
      </p:sp>
      <p:grpSp>
        <p:nvGrpSpPr>
          <p:cNvPr id="44" name="Group 43"/>
          <p:cNvGrpSpPr/>
          <p:nvPr/>
        </p:nvGrpSpPr>
        <p:grpSpPr>
          <a:xfrm>
            <a:off x="831726" y="1911122"/>
            <a:ext cx="1584176" cy="1613793"/>
            <a:chOff x="251520" y="1556792"/>
            <a:chExt cx="1584176" cy="1613793"/>
          </a:xfrm>
        </p:grpSpPr>
        <p:grpSp>
          <p:nvGrpSpPr>
            <p:cNvPr id="4" name="Group 3"/>
            <p:cNvGrpSpPr/>
            <p:nvPr/>
          </p:nvGrpSpPr>
          <p:grpSpPr>
            <a:xfrm>
              <a:off x="251520" y="1556792"/>
              <a:ext cx="1584176" cy="1613793"/>
              <a:chOff x="5076056" y="1628800"/>
              <a:chExt cx="1584176" cy="1613793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5364088" y="1628800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6" name="Oval 5"/>
              <p:cNvSpPr/>
              <p:nvPr/>
            </p:nvSpPr>
            <p:spPr>
              <a:xfrm>
                <a:off x="6012160" y="1628800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724128" y="2492896"/>
                <a:ext cx="216024" cy="21602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6444208" y="2492896"/>
                <a:ext cx="216024" cy="21602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5076056" y="2492896"/>
                <a:ext cx="216024" cy="21602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9" name="Straight Connector 18"/>
              <p:cNvCxnSpPr>
                <a:stCxn id="5" idx="4"/>
                <a:endCxn id="11" idx="0"/>
              </p:cNvCxnSpPr>
              <p:nvPr/>
            </p:nvCxnSpPr>
            <p:spPr>
              <a:xfrm>
                <a:off x="5472100" y="1844824"/>
                <a:ext cx="360040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>
                <a:stCxn id="5" idx="4"/>
                <a:endCxn id="12" idx="1"/>
              </p:cNvCxnSpPr>
              <p:nvPr/>
            </p:nvCxnSpPr>
            <p:spPr>
              <a:xfrm>
                <a:off x="5472100" y="1844824"/>
                <a:ext cx="1003744" cy="6797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>
              <a:xfrm>
                <a:off x="5619647" y="2780928"/>
                <a:ext cx="6805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latin typeface="+mn-lt"/>
                  </a:rPr>
                  <a:t>K</a:t>
                </a:r>
                <a:r>
                  <a:rPr lang="en-US" altLang="zh-CN" sz="2400" b="1" baseline="-25000" dirty="0">
                    <a:latin typeface="+mn-lt"/>
                  </a:rPr>
                  <a:t>2,3</a:t>
                </a:r>
                <a:endParaRPr lang="en-US" altLang="zh-CN" sz="2400" b="1" baseline="-25000" dirty="0">
                  <a:latin typeface="+mn-lt"/>
                </a:endParaRPr>
              </a:p>
            </p:txBody>
          </p:sp>
        </p:grpSp>
        <p:cxnSp>
          <p:nvCxnSpPr>
            <p:cNvPr id="31" name="Straight Connector 30"/>
            <p:cNvCxnSpPr>
              <a:stCxn id="18" idx="0"/>
              <a:endCxn id="5" idx="4"/>
            </p:cNvCxnSpPr>
            <p:nvPr/>
          </p:nvCxnSpPr>
          <p:spPr>
            <a:xfrm flipV="1">
              <a:off x="359532" y="1772816"/>
              <a:ext cx="288032" cy="64807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6" idx="4"/>
              <a:endCxn id="18" idx="6"/>
            </p:cNvCxnSpPr>
            <p:nvPr/>
          </p:nvCxnSpPr>
          <p:spPr>
            <a:xfrm flipH="1">
              <a:off x="467544" y="1772816"/>
              <a:ext cx="828092" cy="7560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6" idx="4"/>
              <a:endCxn id="11" idx="0"/>
            </p:cNvCxnSpPr>
            <p:nvPr/>
          </p:nvCxnSpPr>
          <p:spPr>
            <a:xfrm flipH="1">
              <a:off x="1007604" y="1772816"/>
              <a:ext cx="288032" cy="64807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6" idx="5"/>
              <a:endCxn id="12" idx="0"/>
            </p:cNvCxnSpPr>
            <p:nvPr/>
          </p:nvCxnSpPr>
          <p:spPr>
            <a:xfrm>
              <a:off x="1372012" y="1741180"/>
              <a:ext cx="355672" cy="67970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0" name="Group 69"/>
          <p:cNvGrpSpPr/>
          <p:nvPr/>
        </p:nvGrpSpPr>
        <p:grpSpPr>
          <a:xfrm>
            <a:off x="3027908" y="1926744"/>
            <a:ext cx="1584176" cy="1613793"/>
            <a:chOff x="2339752" y="1484784"/>
            <a:chExt cx="1584176" cy="1613793"/>
          </a:xfrm>
        </p:grpSpPr>
        <p:grpSp>
          <p:nvGrpSpPr>
            <p:cNvPr id="45" name="Group 44"/>
            <p:cNvGrpSpPr/>
            <p:nvPr/>
          </p:nvGrpSpPr>
          <p:grpSpPr>
            <a:xfrm>
              <a:off x="2339752" y="1484784"/>
              <a:ext cx="1584176" cy="1613793"/>
              <a:chOff x="251520" y="1556792"/>
              <a:chExt cx="1584176" cy="1613793"/>
            </a:xfrm>
          </p:grpSpPr>
          <p:grpSp>
            <p:nvGrpSpPr>
              <p:cNvPr id="46" name="Group 45"/>
              <p:cNvGrpSpPr/>
              <p:nvPr/>
            </p:nvGrpSpPr>
            <p:grpSpPr>
              <a:xfrm>
                <a:off x="251520" y="1556792"/>
                <a:ext cx="1584176" cy="1613793"/>
                <a:chOff x="5076056" y="1628800"/>
                <a:chExt cx="1584176" cy="1613793"/>
              </a:xfrm>
            </p:grpSpPr>
            <p:sp>
              <p:nvSpPr>
                <p:cNvPr id="51" name="Oval 50"/>
                <p:cNvSpPr/>
                <p:nvPr/>
              </p:nvSpPr>
              <p:spPr>
                <a:xfrm>
                  <a:off x="5076056" y="1628800"/>
                  <a:ext cx="216024" cy="216024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5724128" y="1628800"/>
                  <a:ext cx="216024" cy="216024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5724128" y="2492896"/>
                  <a:ext cx="216024" cy="216024"/>
                </a:xfrm>
                <a:prstGeom prst="ellipse">
                  <a:avLst/>
                </a:prstGeom>
                <a:solidFill>
                  <a:srgbClr val="FEDF59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4" name="Oval 53"/>
                <p:cNvSpPr/>
                <p:nvPr/>
              </p:nvSpPr>
              <p:spPr>
                <a:xfrm>
                  <a:off x="6444208" y="2492896"/>
                  <a:ext cx="216024" cy="216024"/>
                </a:xfrm>
                <a:prstGeom prst="ellipse">
                  <a:avLst/>
                </a:prstGeom>
                <a:solidFill>
                  <a:srgbClr val="FEDF59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55" name="Oval 54"/>
                <p:cNvSpPr/>
                <p:nvPr/>
              </p:nvSpPr>
              <p:spPr>
                <a:xfrm>
                  <a:off x="5076056" y="2492896"/>
                  <a:ext cx="216024" cy="216024"/>
                </a:xfrm>
                <a:prstGeom prst="ellipse">
                  <a:avLst/>
                </a:prstGeom>
                <a:solidFill>
                  <a:srgbClr val="FEDF59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cxnSp>
              <p:nvCxnSpPr>
                <p:cNvPr id="56" name="Straight Connector 55"/>
                <p:cNvCxnSpPr>
                  <a:stCxn id="51" idx="4"/>
                  <a:endCxn id="53" idx="0"/>
                </p:cNvCxnSpPr>
                <p:nvPr/>
              </p:nvCxnSpPr>
              <p:spPr>
                <a:xfrm>
                  <a:off x="5184068" y="1844824"/>
                  <a:ext cx="648072" cy="64807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>
                  <a:stCxn id="51" idx="4"/>
                  <a:endCxn id="54" idx="1"/>
                </p:cNvCxnSpPr>
                <p:nvPr/>
              </p:nvCxnSpPr>
              <p:spPr>
                <a:xfrm>
                  <a:off x="5184068" y="1844824"/>
                  <a:ext cx="1291776" cy="679708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8" name="TextBox 57"/>
                <p:cNvSpPr txBox="1"/>
                <p:nvPr/>
              </p:nvSpPr>
              <p:spPr>
                <a:xfrm>
                  <a:off x="5619647" y="2780928"/>
                  <a:ext cx="6805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atin typeface="+mn-lt"/>
                    </a:rPr>
                    <a:t>K</a:t>
                  </a:r>
                  <a:r>
                    <a:rPr lang="en-US" altLang="zh-CN" sz="2400" b="1" baseline="-25000" dirty="0">
                      <a:latin typeface="+mn-lt"/>
                    </a:rPr>
                    <a:t>3,3</a:t>
                  </a:r>
                  <a:endParaRPr lang="en-US" altLang="zh-CN" sz="2400" b="1" baseline="-25000" dirty="0">
                    <a:latin typeface="+mn-lt"/>
                  </a:endParaRPr>
                </a:p>
              </p:txBody>
            </p:sp>
          </p:grpSp>
          <p:cxnSp>
            <p:nvCxnSpPr>
              <p:cNvPr id="47" name="Straight Connector 46"/>
              <p:cNvCxnSpPr>
                <a:stCxn id="55" idx="0"/>
                <a:endCxn id="51" idx="4"/>
              </p:cNvCxnSpPr>
              <p:nvPr/>
            </p:nvCxnSpPr>
            <p:spPr>
              <a:xfrm flipV="1">
                <a:off x="359532" y="1772816"/>
                <a:ext cx="0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>
                <a:stCxn id="52" idx="4"/>
                <a:endCxn id="55" idx="7"/>
              </p:cNvCxnSpPr>
              <p:nvPr/>
            </p:nvCxnSpPr>
            <p:spPr>
              <a:xfrm flipH="1">
                <a:off x="435908" y="1772816"/>
                <a:ext cx="571696" cy="6797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2" idx="4"/>
                <a:endCxn id="53" idx="0"/>
              </p:cNvCxnSpPr>
              <p:nvPr/>
            </p:nvCxnSpPr>
            <p:spPr>
              <a:xfrm>
                <a:off x="1007604" y="1772816"/>
                <a:ext cx="0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>
                <a:stCxn id="52" idx="5"/>
                <a:endCxn id="54" idx="0"/>
              </p:cNvCxnSpPr>
              <p:nvPr/>
            </p:nvCxnSpPr>
            <p:spPr>
              <a:xfrm>
                <a:off x="1083980" y="1741180"/>
                <a:ext cx="643704" cy="6797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59" name="Oval 58"/>
            <p:cNvSpPr/>
            <p:nvPr/>
          </p:nvSpPr>
          <p:spPr>
            <a:xfrm>
              <a:off x="3635896" y="148478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60" name="Straight Connector 59"/>
            <p:cNvCxnSpPr>
              <a:stCxn id="59" idx="4"/>
              <a:endCxn id="54" idx="0"/>
            </p:cNvCxnSpPr>
            <p:nvPr/>
          </p:nvCxnSpPr>
          <p:spPr>
            <a:xfrm>
              <a:off x="3743908" y="1700808"/>
              <a:ext cx="72008" cy="64807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59" idx="4"/>
              <a:endCxn id="53" idx="7"/>
            </p:cNvCxnSpPr>
            <p:nvPr/>
          </p:nvCxnSpPr>
          <p:spPr>
            <a:xfrm flipH="1">
              <a:off x="3172212" y="1700808"/>
              <a:ext cx="571696" cy="67970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>
              <a:stCxn id="59" idx="4"/>
              <a:endCxn id="55" idx="6"/>
            </p:cNvCxnSpPr>
            <p:nvPr/>
          </p:nvCxnSpPr>
          <p:spPr>
            <a:xfrm flipH="1">
              <a:off x="2555776" y="1700808"/>
              <a:ext cx="1188132" cy="75608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7" name="Group 96"/>
          <p:cNvGrpSpPr/>
          <p:nvPr/>
        </p:nvGrpSpPr>
        <p:grpSpPr>
          <a:xfrm>
            <a:off x="5260156" y="1772950"/>
            <a:ext cx="3089662" cy="1767587"/>
            <a:chOff x="4572000" y="1330990"/>
            <a:chExt cx="3089662" cy="1767587"/>
          </a:xfrm>
        </p:grpSpPr>
        <p:grpSp>
          <p:nvGrpSpPr>
            <p:cNvPr id="71" name="Group 70"/>
            <p:cNvGrpSpPr/>
            <p:nvPr/>
          </p:nvGrpSpPr>
          <p:grpSpPr>
            <a:xfrm>
              <a:off x="4572000" y="1484784"/>
              <a:ext cx="2232248" cy="1613793"/>
              <a:chOff x="2339752" y="1484784"/>
              <a:chExt cx="2232248" cy="1613793"/>
            </a:xfrm>
          </p:grpSpPr>
          <p:grpSp>
            <p:nvGrpSpPr>
              <p:cNvPr id="72" name="Group 71"/>
              <p:cNvGrpSpPr/>
              <p:nvPr/>
            </p:nvGrpSpPr>
            <p:grpSpPr>
              <a:xfrm>
                <a:off x="2339752" y="1484784"/>
                <a:ext cx="2232248" cy="1613793"/>
                <a:chOff x="251520" y="1556792"/>
                <a:chExt cx="2232248" cy="1613793"/>
              </a:xfrm>
            </p:grpSpPr>
            <p:grpSp>
              <p:nvGrpSpPr>
                <p:cNvPr id="77" name="Group 76"/>
                <p:cNvGrpSpPr/>
                <p:nvPr/>
              </p:nvGrpSpPr>
              <p:grpSpPr>
                <a:xfrm>
                  <a:off x="251520" y="1556792"/>
                  <a:ext cx="2232248" cy="1613793"/>
                  <a:chOff x="5076056" y="1628800"/>
                  <a:chExt cx="2232248" cy="1613793"/>
                </a:xfrm>
              </p:grpSpPr>
              <p:sp>
                <p:nvSpPr>
                  <p:cNvPr id="82" name="Oval 81"/>
                  <p:cNvSpPr/>
                  <p:nvPr/>
                </p:nvSpPr>
                <p:spPr>
                  <a:xfrm>
                    <a:off x="5076056" y="1628800"/>
                    <a:ext cx="216024" cy="216024"/>
                  </a:xfrm>
                  <a:prstGeom prst="ellipse">
                    <a:avLst/>
                  </a:prstGeom>
                  <a:solidFill>
                    <a:srgbClr val="008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83" name="Oval 82"/>
                  <p:cNvSpPr/>
                  <p:nvPr/>
                </p:nvSpPr>
                <p:spPr>
                  <a:xfrm>
                    <a:off x="5724128" y="1628800"/>
                    <a:ext cx="216024" cy="216024"/>
                  </a:xfrm>
                  <a:prstGeom prst="ellipse">
                    <a:avLst/>
                  </a:prstGeom>
                  <a:solidFill>
                    <a:srgbClr val="008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84" name="Oval 83"/>
                  <p:cNvSpPr/>
                  <p:nvPr/>
                </p:nvSpPr>
                <p:spPr>
                  <a:xfrm>
                    <a:off x="5724128" y="2492896"/>
                    <a:ext cx="216024" cy="216024"/>
                  </a:xfrm>
                  <a:prstGeom prst="ellipse">
                    <a:avLst/>
                  </a:prstGeom>
                  <a:solidFill>
                    <a:srgbClr val="FEDF59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85" name="Oval 84"/>
                  <p:cNvSpPr/>
                  <p:nvPr/>
                </p:nvSpPr>
                <p:spPr>
                  <a:xfrm>
                    <a:off x="7092280" y="2492896"/>
                    <a:ext cx="216024" cy="216024"/>
                  </a:xfrm>
                  <a:prstGeom prst="ellipse">
                    <a:avLst/>
                  </a:prstGeom>
                  <a:solidFill>
                    <a:srgbClr val="FEDF59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86" name="Oval 85"/>
                  <p:cNvSpPr/>
                  <p:nvPr/>
                </p:nvSpPr>
                <p:spPr>
                  <a:xfrm>
                    <a:off x="5076056" y="2492896"/>
                    <a:ext cx="216024" cy="216024"/>
                  </a:xfrm>
                  <a:prstGeom prst="ellipse">
                    <a:avLst/>
                  </a:prstGeom>
                  <a:solidFill>
                    <a:srgbClr val="FEDF59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cxnSp>
                <p:nvCxnSpPr>
                  <p:cNvPr id="87" name="Straight Connector 86"/>
                  <p:cNvCxnSpPr>
                    <a:stCxn id="82" idx="4"/>
                    <a:endCxn id="84" idx="0"/>
                  </p:cNvCxnSpPr>
                  <p:nvPr/>
                </p:nvCxnSpPr>
                <p:spPr>
                  <a:xfrm>
                    <a:off x="5184068" y="1844824"/>
                    <a:ext cx="648072" cy="648072"/>
                  </a:xfrm>
                  <a:prstGeom prst="line">
                    <a:avLst/>
                  </a:prstGeom>
                  <a:ln w="28575" cmpd="sng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/>
                  <p:cNvCxnSpPr>
                    <a:stCxn id="82" idx="4"/>
                    <a:endCxn id="85" idx="1"/>
                  </p:cNvCxnSpPr>
                  <p:nvPr/>
                </p:nvCxnSpPr>
                <p:spPr>
                  <a:xfrm>
                    <a:off x="5184068" y="1844824"/>
                    <a:ext cx="1939848" cy="679708"/>
                  </a:xfrm>
                  <a:prstGeom prst="line">
                    <a:avLst/>
                  </a:prstGeom>
                  <a:ln w="28575" cmpd="sng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5938036" y="2780928"/>
                    <a:ext cx="650188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2400" b="1" dirty="0" err="1">
                        <a:latin typeface="+mn-lt"/>
                      </a:rPr>
                      <a:t>K</a:t>
                    </a:r>
                    <a:r>
                      <a:rPr lang="en-US" altLang="zh-CN" sz="2400" b="1" baseline="-25000" dirty="0" err="1">
                        <a:latin typeface="+mn-lt"/>
                      </a:rPr>
                      <a:t>r,s</a:t>
                    </a:r>
                    <a:endParaRPr lang="en-US" altLang="zh-CN" sz="2400" b="1" baseline="-25000" dirty="0">
                      <a:latin typeface="+mn-lt"/>
                    </a:endParaRPr>
                  </a:p>
                </p:txBody>
              </p:sp>
            </p:grpSp>
            <p:cxnSp>
              <p:nvCxnSpPr>
                <p:cNvPr id="78" name="Straight Connector 77"/>
                <p:cNvCxnSpPr>
                  <a:stCxn id="86" idx="0"/>
                  <a:endCxn id="82" idx="4"/>
                </p:cNvCxnSpPr>
                <p:nvPr/>
              </p:nvCxnSpPr>
              <p:spPr>
                <a:xfrm flipV="1">
                  <a:off x="359532" y="1772816"/>
                  <a:ext cx="0" cy="64807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>
                  <a:stCxn id="83" idx="4"/>
                  <a:endCxn id="86" idx="7"/>
                </p:cNvCxnSpPr>
                <p:nvPr/>
              </p:nvCxnSpPr>
              <p:spPr>
                <a:xfrm flipH="1">
                  <a:off x="435908" y="1772816"/>
                  <a:ext cx="571696" cy="679708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>
                  <a:stCxn id="83" idx="4"/>
                  <a:endCxn id="84" idx="0"/>
                </p:cNvCxnSpPr>
                <p:nvPr/>
              </p:nvCxnSpPr>
              <p:spPr>
                <a:xfrm>
                  <a:off x="1007604" y="1772816"/>
                  <a:ext cx="0" cy="64807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/>
                <p:cNvCxnSpPr>
                  <a:stCxn id="83" idx="5"/>
                  <a:endCxn id="85" idx="0"/>
                </p:cNvCxnSpPr>
                <p:nvPr/>
              </p:nvCxnSpPr>
              <p:spPr>
                <a:xfrm>
                  <a:off x="1083980" y="1741180"/>
                  <a:ext cx="1291776" cy="679708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3" name="Oval 72"/>
              <p:cNvSpPr/>
              <p:nvPr/>
            </p:nvSpPr>
            <p:spPr>
              <a:xfrm>
                <a:off x="4355976" y="1484784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74" name="Straight Connector 73"/>
              <p:cNvCxnSpPr>
                <a:stCxn id="73" idx="4"/>
                <a:endCxn id="85" idx="0"/>
              </p:cNvCxnSpPr>
              <p:nvPr/>
            </p:nvCxnSpPr>
            <p:spPr>
              <a:xfrm>
                <a:off x="4463988" y="1700808"/>
                <a:ext cx="0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>
                <a:stCxn id="73" idx="4"/>
                <a:endCxn id="84" idx="7"/>
              </p:cNvCxnSpPr>
              <p:nvPr/>
            </p:nvCxnSpPr>
            <p:spPr>
              <a:xfrm flipH="1">
                <a:off x="3172212" y="1700808"/>
                <a:ext cx="1291776" cy="6797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>
                <a:stCxn id="73" idx="4"/>
                <a:endCxn id="86" idx="6"/>
              </p:cNvCxnSpPr>
              <p:nvPr/>
            </p:nvCxnSpPr>
            <p:spPr>
              <a:xfrm flipH="1">
                <a:off x="2555776" y="1700808"/>
                <a:ext cx="1908212" cy="75608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3" name="Straight Connector 92"/>
            <p:cNvCxnSpPr/>
            <p:nvPr/>
          </p:nvCxnSpPr>
          <p:spPr>
            <a:xfrm>
              <a:off x="5580112" y="2492896"/>
              <a:ext cx="792088" cy="0"/>
            </a:xfrm>
            <a:prstGeom prst="line">
              <a:avLst/>
            </a:prstGeom>
            <a:ln w="28575" cmpd="sng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/>
            <p:cNvCxnSpPr/>
            <p:nvPr/>
          </p:nvCxnSpPr>
          <p:spPr>
            <a:xfrm>
              <a:off x="5580112" y="1628800"/>
              <a:ext cx="792088" cy="0"/>
            </a:xfrm>
            <a:prstGeom prst="line">
              <a:avLst/>
            </a:prstGeom>
            <a:ln w="28575" cmpd="sng"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5" name="TextBox 94"/>
            <p:cNvSpPr txBox="1"/>
            <p:nvPr/>
          </p:nvSpPr>
          <p:spPr>
            <a:xfrm>
              <a:off x="6948264" y="1330990"/>
              <a:ext cx="7133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>
                  <a:solidFill>
                    <a:srgbClr val="008000"/>
                  </a:solidFill>
                  <a:latin typeface="+mn-lt"/>
                </a:rPr>
                <a:t>r</a:t>
              </a:r>
              <a:r>
                <a:rPr lang="zh-CN" altLang="en-US" sz="2800" b="1" dirty="0">
                  <a:solidFill>
                    <a:srgbClr val="008000"/>
                  </a:solidFill>
                  <a:latin typeface="+mn-lt"/>
                </a:rPr>
                <a:t>个</a:t>
              </a:r>
              <a:endParaRPr lang="en-US" altLang="zh-CN" sz="2800" b="1" baseline="-25000" dirty="0">
                <a:solidFill>
                  <a:srgbClr val="008000"/>
                </a:solidFill>
                <a:latin typeface="+mn-lt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6948264" y="2204611"/>
              <a:ext cx="71339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i="1" dirty="0">
                  <a:latin typeface="+mn-lt"/>
                </a:rPr>
                <a:t>s</a:t>
              </a:r>
              <a:r>
                <a:rPr lang="zh-CN" altLang="en-US" sz="2800" b="1" dirty="0">
                  <a:latin typeface="+mn-lt"/>
                </a:rPr>
                <a:t>个</a:t>
              </a:r>
              <a:endParaRPr lang="en-US" altLang="zh-CN" sz="2800" b="1" baseline="-25000" dirty="0">
                <a:latin typeface="+mn-lt"/>
              </a:endParaRP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869628" y="4062978"/>
            <a:ext cx="1296144" cy="1613793"/>
            <a:chOff x="35496" y="1556792"/>
            <a:chExt cx="1296144" cy="1613793"/>
          </a:xfrm>
        </p:grpSpPr>
        <p:grpSp>
          <p:nvGrpSpPr>
            <p:cNvPr id="99" name="Group 98"/>
            <p:cNvGrpSpPr/>
            <p:nvPr/>
          </p:nvGrpSpPr>
          <p:grpSpPr>
            <a:xfrm>
              <a:off x="35496" y="1556792"/>
              <a:ext cx="1296144" cy="1613793"/>
              <a:chOff x="4860032" y="1628800"/>
              <a:chExt cx="1296144" cy="1613793"/>
            </a:xfrm>
          </p:grpSpPr>
          <p:sp>
            <p:nvSpPr>
              <p:cNvPr id="104" name="Oval 103"/>
              <p:cNvSpPr/>
              <p:nvPr/>
            </p:nvSpPr>
            <p:spPr>
              <a:xfrm>
                <a:off x="5364088" y="1628800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5940152" y="2492896"/>
                <a:ext cx="216024" cy="216024"/>
              </a:xfrm>
              <a:prstGeom prst="ellipse">
                <a:avLst/>
              </a:prstGeom>
              <a:solidFill>
                <a:srgbClr val="FF66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4860032" y="2492896"/>
                <a:ext cx="216024" cy="21602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09" name="Straight Connector 108"/>
              <p:cNvCxnSpPr>
                <a:stCxn id="104" idx="4"/>
                <a:endCxn id="106" idx="0"/>
              </p:cNvCxnSpPr>
              <p:nvPr/>
            </p:nvCxnSpPr>
            <p:spPr>
              <a:xfrm>
                <a:off x="5472100" y="1844824"/>
                <a:ext cx="576064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08" idx="6"/>
                <a:endCxn id="106" idx="2"/>
              </p:cNvCxnSpPr>
              <p:nvPr/>
            </p:nvCxnSpPr>
            <p:spPr>
              <a:xfrm>
                <a:off x="5076056" y="2600908"/>
                <a:ext cx="864096" cy="0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TextBox 110"/>
              <p:cNvSpPr txBox="1"/>
              <p:nvPr/>
            </p:nvSpPr>
            <p:spPr>
              <a:xfrm>
                <a:off x="5076056" y="2780928"/>
                <a:ext cx="8344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>
                    <a:latin typeface="+mn-lt"/>
                  </a:rPr>
                  <a:t>K</a:t>
                </a:r>
                <a:r>
                  <a:rPr lang="en-US" altLang="zh-CN" sz="2400" b="1" baseline="-25000" dirty="0">
                    <a:latin typeface="+mn-lt"/>
                  </a:rPr>
                  <a:t>1,1,1</a:t>
                </a:r>
                <a:endParaRPr lang="en-US" altLang="zh-CN" sz="2400" b="1" baseline="-25000" dirty="0">
                  <a:latin typeface="+mn-lt"/>
                </a:endParaRPr>
              </a:p>
            </p:txBody>
          </p:sp>
        </p:grpSp>
        <p:cxnSp>
          <p:nvCxnSpPr>
            <p:cNvPr id="100" name="Straight Connector 99"/>
            <p:cNvCxnSpPr>
              <a:stCxn id="108" idx="0"/>
              <a:endCxn id="104" idx="4"/>
            </p:cNvCxnSpPr>
            <p:nvPr/>
          </p:nvCxnSpPr>
          <p:spPr>
            <a:xfrm flipV="1">
              <a:off x="143508" y="1772816"/>
              <a:ext cx="504056" cy="64807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2737391" y="4144258"/>
            <a:ext cx="1584176" cy="1613793"/>
            <a:chOff x="2195736" y="3861048"/>
            <a:chExt cx="1584176" cy="1613793"/>
          </a:xfrm>
        </p:grpSpPr>
        <p:grpSp>
          <p:nvGrpSpPr>
            <p:cNvPr id="115" name="Group 114"/>
            <p:cNvGrpSpPr/>
            <p:nvPr/>
          </p:nvGrpSpPr>
          <p:grpSpPr>
            <a:xfrm>
              <a:off x="2195736" y="3861048"/>
              <a:ext cx="1296144" cy="1613793"/>
              <a:chOff x="35496" y="1556792"/>
              <a:chExt cx="1296144" cy="1613793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35496" y="1556792"/>
                <a:ext cx="1296144" cy="1613793"/>
                <a:chOff x="4860032" y="1628800"/>
                <a:chExt cx="1296144" cy="1613793"/>
              </a:xfrm>
            </p:grpSpPr>
            <p:sp>
              <p:nvSpPr>
                <p:cNvPr id="118" name="Oval 117"/>
                <p:cNvSpPr/>
                <p:nvPr/>
              </p:nvSpPr>
              <p:spPr>
                <a:xfrm>
                  <a:off x="5364088" y="1628800"/>
                  <a:ext cx="216024" cy="216024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19" name="Oval 118"/>
                <p:cNvSpPr/>
                <p:nvPr/>
              </p:nvSpPr>
              <p:spPr>
                <a:xfrm>
                  <a:off x="5940152" y="2492896"/>
                  <a:ext cx="216024" cy="216024"/>
                </a:xfrm>
                <a:prstGeom prst="ellipse">
                  <a:avLst/>
                </a:prstGeom>
                <a:solidFill>
                  <a:srgbClr val="FF66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4860032" y="2492896"/>
                  <a:ext cx="216024" cy="216024"/>
                </a:xfrm>
                <a:prstGeom prst="ellipse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cxnSp>
              <p:nvCxnSpPr>
                <p:cNvPr id="121" name="Straight Connector 120"/>
                <p:cNvCxnSpPr>
                  <a:stCxn id="118" idx="4"/>
                  <a:endCxn id="119" idx="0"/>
                </p:cNvCxnSpPr>
                <p:nvPr/>
              </p:nvCxnSpPr>
              <p:spPr>
                <a:xfrm>
                  <a:off x="5472100" y="1844824"/>
                  <a:ext cx="576064" cy="64807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>
                  <a:stCxn id="120" idx="6"/>
                  <a:endCxn id="119" idx="2"/>
                </p:cNvCxnSpPr>
                <p:nvPr/>
              </p:nvCxnSpPr>
              <p:spPr>
                <a:xfrm>
                  <a:off x="5076056" y="2600908"/>
                  <a:ext cx="864096" cy="0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23" name="TextBox 122"/>
                <p:cNvSpPr txBox="1"/>
                <p:nvPr/>
              </p:nvSpPr>
              <p:spPr>
                <a:xfrm>
                  <a:off x="5321743" y="2780928"/>
                  <a:ext cx="8344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atin typeface="+mn-lt"/>
                    </a:rPr>
                    <a:t>K</a:t>
                  </a:r>
                  <a:r>
                    <a:rPr lang="en-US" altLang="zh-CN" sz="2400" b="1" baseline="-25000" dirty="0">
                      <a:latin typeface="+mn-lt"/>
                    </a:rPr>
                    <a:t>1,1,2</a:t>
                  </a:r>
                  <a:endParaRPr lang="en-US" altLang="zh-CN" sz="2400" b="1" baseline="-25000" dirty="0">
                    <a:latin typeface="+mn-lt"/>
                  </a:endParaRPr>
                </a:p>
              </p:txBody>
            </p:sp>
          </p:grpSp>
          <p:cxnSp>
            <p:nvCxnSpPr>
              <p:cNvPr id="117" name="Straight Connector 116"/>
              <p:cNvCxnSpPr>
                <a:stCxn id="120" idx="0"/>
                <a:endCxn id="118" idx="4"/>
              </p:cNvCxnSpPr>
              <p:nvPr/>
            </p:nvCxnSpPr>
            <p:spPr>
              <a:xfrm flipV="1">
                <a:off x="143508" y="1772816"/>
                <a:ext cx="504056" cy="648072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4" name="Oval 123"/>
            <p:cNvSpPr/>
            <p:nvPr/>
          </p:nvSpPr>
          <p:spPr>
            <a:xfrm>
              <a:off x="3563888" y="4221088"/>
              <a:ext cx="216024" cy="216024"/>
            </a:xfrm>
            <a:prstGeom prst="ellipse">
              <a:avLst/>
            </a:prstGeom>
            <a:solidFill>
              <a:srgbClr val="FF66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25" name="Straight Connector 124"/>
            <p:cNvCxnSpPr>
              <a:stCxn id="118" idx="5"/>
              <a:endCxn id="124" idx="2"/>
            </p:cNvCxnSpPr>
            <p:nvPr/>
          </p:nvCxnSpPr>
          <p:spPr>
            <a:xfrm>
              <a:off x="2884180" y="4045436"/>
              <a:ext cx="679708" cy="28366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120" idx="7"/>
              <a:endCxn id="124" idx="3"/>
            </p:cNvCxnSpPr>
            <p:nvPr/>
          </p:nvCxnSpPr>
          <p:spPr>
            <a:xfrm flipV="1">
              <a:off x="2380124" y="4405476"/>
              <a:ext cx="1215400" cy="3513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8" name="Group 157"/>
          <p:cNvGrpSpPr/>
          <p:nvPr/>
        </p:nvGrpSpPr>
        <p:grpSpPr>
          <a:xfrm>
            <a:off x="4794379" y="4149338"/>
            <a:ext cx="1872208" cy="1080120"/>
            <a:chOff x="4427984" y="3861048"/>
            <a:chExt cx="1872208" cy="1080120"/>
          </a:xfrm>
        </p:grpSpPr>
        <p:grpSp>
          <p:nvGrpSpPr>
            <p:cNvPr id="133" name="Group 132"/>
            <p:cNvGrpSpPr/>
            <p:nvPr/>
          </p:nvGrpSpPr>
          <p:grpSpPr>
            <a:xfrm>
              <a:off x="4716016" y="3861048"/>
              <a:ext cx="1584176" cy="1080120"/>
              <a:chOff x="2195736" y="3861048"/>
              <a:chExt cx="1584176" cy="1080120"/>
            </a:xfrm>
          </p:grpSpPr>
          <p:grpSp>
            <p:nvGrpSpPr>
              <p:cNvPr id="134" name="Group 133"/>
              <p:cNvGrpSpPr/>
              <p:nvPr/>
            </p:nvGrpSpPr>
            <p:grpSpPr>
              <a:xfrm>
                <a:off x="2195736" y="3861048"/>
                <a:ext cx="1296144" cy="1080120"/>
                <a:chOff x="35496" y="1556792"/>
                <a:chExt cx="1296144" cy="1080120"/>
              </a:xfrm>
            </p:grpSpPr>
            <p:grpSp>
              <p:nvGrpSpPr>
                <p:cNvPr id="138" name="Group 137"/>
                <p:cNvGrpSpPr/>
                <p:nvPr/>
              </p:nvGrpSpPr>
              <p:grpSpPr>
                <a:xfrm>
                  <a:off x="35496" y="1556792"/>
                  <a:ext cx="1296144" cy="1080120"/>
                  <a:chOff x="4860032" y="1628800"/>
                  <a:chExt cx="1296144" cy="1080120"/>
                </a:xfrm>
              </p:grpSpPr>
              <p:sp>
                <p:nvSpPr>
                  <p:cNvPr id="140" name="Oval 139"/>
                  <p:cNvSpPr/>
                  <p:nvPr/>
                </p:nvSpPr>
                <p:spPr>
                  <a:xfrm>
                    <a:off x="5364088" y="1628800"/>
                    <a:ext cx="216024" cy="216024"/>
                  </a:xfrm>
                  <a:prstGeom prst="ellipse">
                    <a:avLst/>
                  </a:prstGeom>
                  <a:solidFill>
                    <a:srgbClr val="008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141" name="Oval 140"/>
                  <p:cNvSpPr/>
                  <p:nvPr/>
                </p:nvSpPr>
                <p:spPr>
                  <a:xfrm>
                    <a:off x="5940152" y="2492896"/>
                    <a:ext cx="216024" cy="216024"/>
                  </a:xfrm>
                  <a:prstGeom prst="ellipse">
                    <a:avLst/>
                  </a:prstGeom>
                  <a:solidFill>
                    <a:srgbClr val="FF66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sp>
                <p:nvSpPr>
                  <p:cNvPr id="142" name="Oval 141"/>
                  <p:cNvSpPr/>
                  <p:nvPr/>
                </p:nvSpPr>
                <p:spPr>
                  <a:xfrm>
                    <a:off x="4860032" y="2492896"/>
                    <a:ext cx="216024" cy="216024"/>
                  </a:xfrm>
                  <a:prstGeom prst="ellipse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n w="18415" cmpd="sng">
                        <a:solidFill>
                          <a:srgbClr val="FFFFFF"/>
                        </a:solidFill>
                        <a:prstDash val="solid"/>
                      </a:ln>
                      <a:solidFill>
                        <a:srgbClr val="FFFFFF"/>
                      </a:solidFill>
                      <a:effectLst>
                        <a:outerShdw blurRad="63500" dir="3600000" algn="tl" rotWithShape="0">
                          <a:srgbClr val="000000">
                            <a:alpha val="70000"/>
                          </a:srgbClr>
                        </a:outerShdw>
                      </a:effectLst>
                    </a:endParaRPr>
                  </a:p>
                </p:txBody>
              </p:sp>
              <p:cxnSp>
                <p:nvCxnSpPr>
                  <p:cNvPr id="143" name="Straight Connector 142"/>
                  <p:cNvCxnSpPr>
                    <a:stCxn id="140" idx="4"/>
                    <a:endCxn id="141" idx="0"/>
                  </p:cNvCxnSpPr>
                  <p:nvPr/>
                </p:nvCxnSpPr>
                <p:spPr>
                  <a:xfrm>
                    <a:off x="5472100" y="1844824"/>
                    <a:ext cx="576064" cy="648072"/>
                  </a:xfrm>
                  <a:prstGeom prst="line">
                    <a:avLst/>
                  </a:prstGeom>
                  <a:ln w="28575" cmpd="sng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/>
                  <p:cNvCxnSpPr>
                    <a:stCxn id="142" idx="6"/>
                    <a:endCxn id="141" idx="2"/>
                  </p:cNvCxnSpPr>
                  <p:nvPr/>
                </p:nvCxnSpPr>
                <p:spPr>
                  <a:xfrm>
                    <a:off x="5076056" y="2600908"/>
                    <a:ext cx="864096" cy="0"/>
                  </a:xfrm>
                  <a:prstGeom prst="line">
                    <a:avLst/>
                  </a:prstGeom>
                  <a:ln w="28575" cmpd="sng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39" name="Straight Connector 138"/>
                <p:cNvCxnSpPr>
                  <a:stCxn id="142" idx="0"/>
                  <a:endCxn id="140" idx="4"/>
                </p:cNvCxnSpPr>
                <p:nvPr/>
              </p:nvCxnSpPr>
              <p:spPr>
                <a:xfrm flipV="1">
                  <a:off x="143508" y="1772816"/>
                  <a:ext cx="504056" cy="64807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5" name="Oval 134"/>
              <p:cNvSpPr/>
              <p:nvPr/>
            </p:nvSpPr>
            <p:spPr>
              <a:xfrm>
                <a:off x="3563888" y="4221088"/>
                <a:ext cx="216024" cy="216024"/>
              </a:xfrm>
              <a:prstGeom prst="ellipse">
                <a:avLst/>
              </a:prstGeom>
              <a:solidFill>
                <a:srgbClr val="FF66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36" name="Straight Connector 135"/>
              <p:cNvCxnSpPr>
                <a:stCxn id="140" idx="5"/>
                <a:endCxn id="135" idx="2"/>
              </p:cNvCxnSpPr>
              <p:nvPr/>
            </p:nvCxnSpPr>
            <p:spPr>
              <a:xfrm>
                <a:off x="2884180" y="4045436"/>
                <a:ext cx="679708" cy="28366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>
                <a:stCxn id="142" idx="7"/>
                <a:endCxn id="135" idx="3"/>
              </p:cNvCxnSpPr>
              <p:nvPr/>
            </p:nvCxnSpPr>
            <p:spPr>
              <a:xfrm flipV="1">
                <a:off x="2380124" y="4405476"/>
                <a:ext cx="1215400" cy="351304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6" name="Oval 145"/>
            <p:cNvSpPr/>
            <p:nvPr/>
          </p:nvSpPr>
          <p:spPr>
            <a:xfrm>
              <a:off x="4427984" y="4293096"/>
              <a:ext cx="216024" cy="216024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48" name="Straight Connector 147"/>
            <p:cNvCxnSpPr>
              <a:stCxn id="146" idx="6"/>
              <a:endCxn id="135" idx="2"/>
            </p:cNvCxnSpPr>
            <p:nvPr/>
          </p:nvCxnSpPr>
          <p:spPr>
            <a:xfrm flipV="1">
              <a:off x="4644008" y="4329100"/>
              <a:ext cx="1440160" cy="7200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146" idx="5"/>
              <a:endCxn id="141" idx="1"/>
            </p:cNvCxnSpPr>
            <p:nvPr/>
          </p:nvCxnSpPr>
          <p:spPr>
            <a:xfrm>
              <a:off x="4612372" y="4477484"/>
              <a:ext cx="1215400" cy="27929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>
              <a:stCxn id="146" idx="7"/>
              <a:endCxn id="140" idx="3"/>
            </p:cNvCxnSpPr>
            <p:nvPr/>
          </p:nvCxnSpPr>
          <p:spPr>
            <a:xfrm flipV="1">
              <a:off x="4612372" y="4045436"/>
              <a:ext cx="639336" cy="27929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8" name="Group 187"/>
          <p:cNvGrpSpPr/>
          <p:nvPr/>
        </p:nvGrpSpPr>
        <p:grpSpPr>
          <a:xfrm>
            <a:off x="6915626" y="3919344"/>
            <a:ext cx="1872208" cy="1512168"/>
            <a:chOff x="6876256" y="3861048"/>
            <a:chExt cx="1872208" cy="1512168"/>
          </a:xfrm>
        </p:grpSpPr>
        <p:grpSp>
          <p:nvGrpSpPr>
            <p:cNvPr id="159" name="Group 158"/>
            <p:cNvGrpSpPr/>
            <p:nvPr/>
          </p:nvGrpSpPr>
          <p:grpSpPr>
            <a:xfrm>
              <a:off x="6876256" y="3861048"/>
              <a:ext cx="1872208" cy="1152128"/>
              <a:chOff x="4427984" y="3861048"/>
              <a:chExt cx="1872208" cy="1152128"/>
            </a:xfrm>
          </p:grpSpPr>
          <p:grpSp>
            <p:nvGrpSpPr>
              <p:cNvPr id="160" name="Group 159"/>
              <p:cNvGrpSpPr/>
              <p:nvPr/>
            </p:nvGrpSpPr>
            <p:grpSpPr>
              <a:xfrm>
                <a:off x="4572000" y="3861048"/>
                <a:ext cx="1728192" cy="1152128"/>
                <a:chOff x="2051720" y="3861048"/>
                <a:chExt cx="1728192" cy="1152128"/>
              </a:xfrm>
            </p:grpSpPr>
            <p:grpSp>
              <p:nvGrpSpPr>
                <p:cNvPr id="165" name="Group 164"/>
                <p:cNvGrpSpPr/>
                <p:nvPr/>
              </p:nvGrpSpPr>
              <p:grpSpPr>
                <a:xfrm>
                  <a:off x="2051720" y="3861048"/>
                  <a:ext cx="1440160" cy="1152128"/>
                  <a:chOff x="-108520" y="1556792"/>
                  <a:chExt cx="1440160" cy="1152128"/>
                </a:xfrm>
              </p:grpSpPr>
              <p:grpSp>
                <p:nvGrpSpPr>
                  <p:cNvPr id="169" name="Group 168"/>
                  <p:cNvGrpSpPr/>
                  <p:nvPr/>
                </p:nvGrpSpPr>
                <p:grpSpPr>
                  <a:xfrm>
                    <a:off x="-108520" y="1556792"/>
                    <a:ext cx="1440160" cy="1152128"/>
                    <a:chOff x="4716016" y="1628800"/>
                    <a:chExt cx="1440160" cy="1152128"/>
                  </a:xfrm>
                </p:grpSpPr>
                <p:sp>
                  <p:nvSpPr>
                    <p:cNvPr id="171" name="Oval 170"/>
                    <p:cNvSpPr/>
                    <p:nvPr/>
                  </p:nvSpPr>
                  <p:spPr>
                    <a:xfrm>
                      <a:off x="5364088" y="1628800"/>
                      <a:ext cx="216024" cy="216024"/>
                    </a:xfrm>
                    <a:prstGeom prst="ellipse">
                      <a:avLst/>
                    </a:prstGeom>
                    <a:solidFill>
                      <a:srgbClr val="008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172" name="Oval 171"/>
                    <p:cNvSpPr/>
                    <p:nvPr/>
                  </p:nvSpPr>
                  <p:spPr>
                    <a:xfrm>
                      <a:off x="5940152" y="2492896"/>
                      <a:ext cx="216024" cy="216024"/>
                    </a:xfrm>
                    <a:prstGeom prst="ellipse">
                      <a:avLst/>
                    </a:prstGeom>
                    <a:solidFill>
                      <a:srgbClr val="FF66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endParaRPr>
                    </a:p>
                  </p:txBody>
                </p:sp>
                <p:sp>
                  <p:nvSpPr>
                    <p:cNvPr id="173" name="Oval 172"/>
                    <p:cNvSpPr/>
                    <p:nvPr/>
                  </p:nvSpPr>
                  <p:spPr>
                    <a:xfrm>
                      <a:off x="4716016" y="2564904"/>
                      <a:ext cx="216024" cy="216024"/>
                    </a:xfrm>
                    <a:prstGeom prst="ellipse">
                      <a:avLst/>
                    </a:prstGeom>
                    <a:solidFill>
                      <a:schemeClr val="accent6">
                        <a:lumMod val="60000"/>
                        <a:lumOff val="40000"/>
                      </a:schemeClr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3"/>
                    </a:lnRef>
                    <a:fillRef idx="1">
                      <a:schemeClr val="lt1"/>
                    </a:fillRef>
                    <a:effectRef idx="0">
                      <a:schemeClr val="accent3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n w="18415" cmpd="sng">
                          <a:solidFill>
                            <a:srgbClr val="FFFFFF"/>
                          </a:solidFill>
                          <a:prstDash val="solid"/>
                        </a:ln>
                        <a:solidFill>
                          <a:srgbClr val="FFFFFF"/>
                        </a:solidFill>
                        <a:effectLst>
                          <a:outerShdw blurRad="63500" dir="3600000" algn="tl" rotWithShape="0">
                            <a:srgbClr val="000000">
                              <a:alpha val="70000"/>
                            </a:srgbClr>
                          </a:outerShdw>
                        </a:effectLst>
                      </a:endParaRPr>
                    </a:p>
                  </p:txBody>
                </p:sp>
                <p:cxnSp>
                  <p:nvCxnSpPr>
                    <p:cNvPr id="174" name="Straight Connector 173"/>
                    <p:cNvCxnSpPr>
                      <a:stCxn id="171" idx="4"/>
                      <a:endCxn id="172" idx="0"/>
                    </p:cNvCxnSpPr>
                    <p:nvPr/>
                  </p:nvCxnSpPr>
                  <p:spPr>
                    <a:xfrm>
                      <a:off x="5472100" y="1844824"/>
                      <a:ext cx="576064" cy="648072"/>
                    </a:xfrm>
                    <a:prstGeom prst="line">
                      <a:avLst/>
                    </a:prstGeom>
                    <a:ln w="28575" cmpd="sng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Straight Connector 174"/>
                    <p:cNvCxnSpPr>
                      <a:stCxn id="173" idx="6"/>
                      <a:endCxn id="172" idx="2"/>
                    </p:cNvCxnSpPr>
                    <p:nvPr/>
                  </p:nvCxnSpPr>
                  <p:spPr>
                    <a:xfrm flipV="1">
                      <a:off x="4932040" y="2600908"/>
                      <a:ext cx="1008112" cy="72008"/>
                    </a:xfrm>
                    <a:prstGeom prst="line">
                      <a:avLst/>
                    </a:prstGeom>
                    <a:ln w="28575" cmpd="sng"/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0" name="Straight Connector 169"/>
                  <p:cNvCxnSpPr>
                    <a:stCxn id="173" idx="0"/>
                    <a:endCxn id="171" idx="4"/>
                  </p:cNvCxnSpPr>
                  <p:nvPr/>
                </p:nvCxnSpPr>
                <p:spPr>
                  <a:xfrm flipV="1">
                    <a:off x="-508" y="1772816"/>
                    <a:ext cx="648072" cy="720080"/>
                  </a:xfrm>
                  <a:prstGeom prst="line">
                    <a:avLst/>
                  </a:prstGeom>
                  <a:ln w="28575" cmpd="sng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66" name="Oval 165"/>
                <p:cNvSpPr/>
                <p:nvPr/>
              </p:nvSpPr>
              <p:spPr>
                <a:xfrm>
                  <a:off x="3563888" y="4221088"/>
                  <a:ext cx="216024" cy="216024"/>
                </a:xfrm>
                <a:prstGeom prst="ellipse">
                  <a:avLst/>
                </a:prstGeom>
                <a:solidFill>
                  <a:srgbClr val="FF66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n w="18415" cmpd="sng">
                      <a:solidFill>
                        <a:srgbClr val="FFFFFF"/>
                      </a:solidFill>
                      <a:prstDash val="solid"/>
                    </a:ln>
                    <a:solidFill>
                      <a:srgbClr val="FFFFFF"/>
                    </a:solidFill>
                    <a:effectLst>
                      <a:outerShdw blurRad="63500" dir="3600000" algn="tl" rotWithShape="0">
                        <a:srgbClr val="000000">
                          <a:alpha val="70000"/>
                        </a:srgbClr>
                      </a:outerShdw>
                    </a:effectLst>
                  </a:endParaRPr>
                </a:p>
              </p:txBody>
            </p:sp>
            <p:cxnSp>
              <p:nvCxnSpPr>
                <p:cNvPr id="167" name="Straight Connector 166"/>
                <p:cNvCxnSpPr>
                  <a:stCxn id="171" idx="5"/>
                  <a:endCxn id="166" idx="2"/>
                </p:cNvCxnSpPr>
                <p:nvPr/>
              </p:nvCxnSpPr>
              <p:spPr>
                <a:xfrm>
                  <a:off x="2884180" y="4045436"/>
                  <a:ext cx="679708" cy="283664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>
                  <a:stCxn id="173" idx="7"/>
                  <a:endCxn id="166" idx="3"/>
                </p:cNvCxnSpPr>
                <p:nvPr/>
              </p:nvCxnSpPr>
              <p:spPr>
                <a:xfrm flipV="1">
                  <a:off x="2236108" y="4405476"/>
                  <a:ext cx="1359416" cy="423312"/>
                </a:xfrm>
                <a:prstGeom prst="line">
                  <a:avLst/>
                </a:prstGeom>
                <a:ln w="28575" cmpd="sng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1" name="Oval 160"/>
              <p:cNvSpPr/>
              <p:nvPr/>
            </p:nvSpPr>
            <p:spPr>
              <a:xfrm>
                <a:off x="4427984" y="4293096"/>
                <a:ext cx="216024" cy="216024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162" name="Straight Connector 161"/>
              <p:cNvCxnSpPr>
                <a:stCxn id="161" idx="6"/>
                <a:endCxn id="166" idx="2"/>
              </p:cNvCxnSpPr>
              <p:nvPr/>
            </p:nvCxnSpPr>
            <p:spPr>
              <a:xfrm flipV="1">
                <a:off x="4644008" y="4329100"/>
                <a:ext cx="1440160" cy="72008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>
                <a:stCxn id="161" idx="5"/>
                <a:endCxn id="172" idx="1"/>
              </p:cNvCxnSpPr>
              <p:nvPr/>
            </p:nvCxnSpPr>
            <p:spPr>
              <a:xfrm>
                <a:off x="4612372" y="4477484"/>
                <a:ext cx="1215400" cy="27929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>
                <a:stCxn id="161" idx="7"/>
                <a:endCxn id="171" idx="3"/>
              </p:cNvCxnSpPr>
              <p:nvPr/>
            </p:nvCxnSpPr>
            <p:spPr>
              <a:xfrm flipV="1">
                <a:off x="4612372" y="4045436"/>
                <a:ext cx="639336" cy="279296"/>
              </a:xfrm>
              <a:prstGeom prst="line">
                <a:avLst/>
              </a:prstGeom>
              <a:ln w="28575" cmpd="sng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77" name="Oval 176"/>
            <p:cNvSpPr/>
            <p:nvPr/>
          </p:nvSpPr>
          <p:spPr>
            <a:xfrm>
              <a:off x="7884368" y="5157192"/>
              <a:ext cx="216024" cy="216024"/>
            </a:xfrm>
            <a:prstGeom prst="ellipse">
              <a:avLst/>
            </a:prstGeom>
            <a:solidFill>
              <a:srgbClr val="FF66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78" name="Straight Connector 177"/>
            <p:cNvCxnSpPr>
              <a:stCxn id="173" idx="5"/>
              <a:endCxn id="177" idx="2"/>
            </p:cNvCxnSpPr>
            <p:nvPr/>
          </p:nvCxnSpPr>
          <p:spPr>
            <a:xfrm>
              <a:off x="7204660" y="4981540"/>
              <a:ext cx="679708" cy="28366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>
              <a:stCxn id="161" idx="5"/>
              <a:endCxn id="177" idx="1"/>
            </p:cNvCxnSpPr>
            <p:nvPr/>
          </p:nvCxnSpPr>
          <p:spPr>
            <a:xfrm>
              <a:off x="7060644" y="4477484"/>
              <a:ext cx="855360" cy="71134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>
              <a:stCxn id="171" idx="4"/>
              <a:endCxn id="177" idx="0"/>
            </p:cNvCxnSpPr>
            <p:nvPr/>
          </p:nvCxnSpPr>
          <p:spPr>
            <a:xfrm>
              <a:off x="7776356" y="4077072"/>
              <a:ext cx="216024" cy="108012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二部图举例</a:t>
            </a:r>
            <a:endParaRPr lang="en-US" dirty="0"/>
          </a:p>
        </p:txBody>
      </p:sp>
      <p:grpSp>
        <p:nvGrpSpPr>
          <p:cNvPr id="28" name="Group 27"/>
          <p:cNvGrpSpPr/>
          <p:nvPr/>
        </p:nvGrpSpPr>
        <p:grpSpPr>
          <a:xfrm>
            <a:off x="899726" y="1628676"/>
            <a:ext cx="2952328" cy="2088232"/>
            <a:chOff x="395536" y="1700808"/>
            <a:chExt cx="2952328" cy="2088232"/>
          </a:xfrm>
        </p:grpSpPr>
        <p:sp>
          <p:nvSpPr>
            <p:cNvPr id="4" name="Oval 3"/>
            <p:cNvSpPr/>
            <p:nvPr/>
          </p:nvSpPr>
          <p:spPr>
            <a:xfrm>
              <a:off x="1410330" y="1700808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2123728" y="2060848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619672" y="263691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/>
            <p:cNvCxnSpPr/>
            <p:nvPr/>
          </p:nvCxnSpPr>
          <p:spPr>
            <a:xfrm flipH="1">
              <a:off x="539376" y="1899899"/>
              <a:ext cx="902414" cy="89573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971600" y="2154065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95536" y="263691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691680" y="3573016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131840" y="184482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/>
            <p:cNvCxnSpPr>
              <a:stCxn id="4" idx="6"/>
              <a:endCxn id="6" idx="1"/>
            </p:cNvCxnSpPr>
            <p:nvPr/>
          </p:nvCxnSpPr>
          <p:spPr>
            <a:xfrm>
              <a:off x="1626354" y="1808820"/>
              <a:ext cx="529010" cy="283664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5" idx="5"/>
              <a:endCxn id="7" idx="1"/>
            </p:cNvCxnSpPr>
            <p:nvPr/>
          </p:nvCxnSpPr>
          <p:spPr>
            <a:xfrm>
              <a:off x="1155988" y="2338453"/>
              <a:ext cx="495320" cy="330095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7" idx="7"/>
              <a:endCxn id="6" idx="3"/>
            </p:cNvCxnSpPr>
            <p:nvPr/>
          </p:nvCxnSpPr>
          <p:spPr>
            <a:xfrm flipV="1">
              <a:off x="1804060" y="2245236"/>
              <a:ext cx="351304" cy="42331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0" idx="5"/>
              <a:endCxn id="11" idx="1"/>
            </p:cNvCxnSpPr>
            <p:nvPr/>
          </p:nvCxnSpPr>
          <p:spPr>
            <a:xfrm>
              <a:off x="579924" y="2821300"/>
              <a:ext cx="1143392" cy="78335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7" idx="4"/>
              <a:endCxn id="11" idx="0"/>
            </p:cNvCxnSpPr>
            <p:nvPr/>
          </p:nvCxnSpPr>
          <p:spPr>
            <a:xfrm>
              <a:off x="1727684" y="2852936"/>
              <a:ext cx="72008" cy="72008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1" idx="0"/>
              <a:endCxn id="12" idx="3"/>
            </p:cNvCxnSpPr>
            <p:nvPr/>
          </p:nvCxnSpPr>
          <p:spPr>
            <a:xfrm flipV="1">
              <a:off x="1799692" y="2029212"/>
              <a:ext cx="1363784" cy="1543804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6" idx="7"/>
              <a:endCxn id="12" idx="2"/>
            </p:cNvCxnSpPr>
            <p:nvPr/>
          </p:nvCxnSpPr>
          <p:spPr>
            <a:xfrm flipV="1">
              <a:off x="2308116" y="1952836"/>
              <a:ext cx="823724" cy="13964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/>
          <p:cNvGrpSpPr/>
          <p:nvPr/>
        </p:nvGrpSpPr>
        <p:grpSpPr>
          <a:xfrm>
            <a:off x="5040186" y="1772692"/>
            <a:ext cx="2988332" cy="1584176"/>
            <a:chOff x="4535996" y="1700808"/>
            <a:chExt cx="2988332" cy="1584176"/>
          </a:xfrm>
        </p:grpSpPr>
        <p:sp>
          <p:nvSpPr>
            <p:cNvPr id="29" name="Oval 28"/>
            <p:cNvSpPr/>
            <p:nvPr/>
          </p:nvSpPr>
          <p:spPr>
            <a:xfrm>
              <a:off x="5400092" y="303732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6876256" y="1700808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6300192" y="3068960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32" name="Straight Connector 31"/>
            <p:cNvCxnSpPr>
              <a:stCxn id="33" idx="4"/>
              <a:endCxn id="34" idx="0"/>
            </p:cNvCxnSpPr>
            <p:nvPr/>
          </p:nvCxnSpPr>
          <p:spPr>
            <a:xfrm flipH="1">
              <a:off x="4644008" y="1916832"/>
              <a:ext cx="576064" cy="108012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5112060" y="1700808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4535996" y="299695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940152" y="1700808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7308304" y="303732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37" name="Straight Connector 36"/>
            <p:cNvCxnSpPr>
              <a:stCxn id="29" idx="6"/>
              <a:endCxn id="30" idx="3"/>
            </p:cNvCxnSpPr>
            <p:nvPr/>
          </p:nvCxnSpPr>
          <p:spPr>
            <a:xfrm flipV="1">
              <a:off x="5616116" y="1885196"/>
              <a:ext cx="1291776" cy="126014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33" idx="5"/>
              <a:endCxn id="31" idx="1"/>
            </p:cNvCxnSpPr>
            <p:nvPr/>
          </p:nvCxnSpPr>
          <p:spPr>
            <a:xfrm>
              <a:off x="5296448" y="1885196"/>
              <a:ext cx="1035380" cy="121540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31" idx="7"/>
              <a:endCxn id="30" idx="3"/>
            </p:cNvCxnSpPr>
            <p:nvPr/>
          </p:nvCxnSpPr>
          <p:spPr>
            <a:xfrm flipV="1">
              <a:off x="6484580" y="1885196"/>
              <a:ext cx="423312" cy="121540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4" idx="7"/>
              <a:endCxn id="35" idx="3"/>
            </p:cNvCxnSpPr>
            <p:nvPr/>
          </p:nvCxnSpPr>
          <p:spPr>
            <a:xfrm flipV="1">
              <a:off x="4720384" y="1885196"/>
              <a:ext cx="1251404" cy="114339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>
              <a:stCxn id="29" idx="7"/>
              <a:endCxn id="35" idx="4"/>
            </p:cNvCxnSpPr>
            <p:nvPr/>
          </p:nvCxnSpPr>
          <p:spPr>
            <a:xfrm flipV="1">
              <a:off x="5584480" y="1916832"/>
              <a:ext cx="463684" cy="115212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29" idx="0"/>
              <a:endCxn id="33" idx="4"/>
            </p:cNvCxnSpPr>
            <p:nvPr/>
          </p:nvCxnSpPr>
          <p:spPr>
            <a:xfrm flipH="1" flipV="1">
              <a:off x="5220072" y="1916832"/>
              <a:ext cx="288032" cy="112049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0" idx="4"/>
              <a:endCxn id="36" idx="0"/>
            </p:cNvCxnSpPr>
            <p:nvPr/>
          </p:nvCxnSpPr>
          <p:spPr>
            <a:xfrm>
              <a:off x="6984268" y="1916832"/>
              <a:ext cx="432048" cy="112049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35" idx="4"/>
              <a:endCxn id="36" idx="1"/>
            </p:cNvCxnSpPr>
            <p:nvPr/>
          </p:nvCxnSpPr>
          <p:spPr>
            <a:xfrm>
              <a:off x="6048164" y="1916832"/>
              <a:ext cx="1291776" cy="115212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Left-Right Arrow 58"/>
          <p:cNvSpPr/>
          <p:nvPr/>
        </p:nvSpPr>
        <p:spPr>
          <a:xfrm>
            <a:off x="3788030" y="2204740"/>
            <a:ext cx="1216152" cy="484632"/>
          </a:xfrm>
          <a:prstGeom prst="left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59"/>
          <p:cNvGrpSpPr/>
          <p:nvPr/>
        </p:nvGrpSpPr>
        <p:grpSpPr>
          <a:xfrm>
            <a:off x="971734" y="3932932"/>
            <a:ext cx="2088232" cy="2088232"/>
            <a:chOff x="611560" y="1700808"/>
            <a:chExt cx="2088232" cy="2088232"/>
          </a:xfrm>
        </p:grpSpPr>
        <p:sp>
          <p:nvSpPr>
            <p:cNvPr id="61" name="Oval 60"/>
            <p:cNvSpPr/>
            <p:nvPr/>
          </p:nvSpPr>
          <p:spPr>
            <a:xfrm>
              <a:off x="1410330" y="1700808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2483768" y="256490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1619672" y="263691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64" name="Straight Connector 63"/>
            <p:cNvCxnSpPr>
              <a:endCxn id="66" idx="7"/>
            </p:cNvCxnSpPr>
            <p:nvPr/>
          </p:nvCxnSpPr>
          <p:spPr>
            <a:xfrm flipH="1">
              <a:off x="795948" y="1899899"/>
              <a:ext cx="645842" cy="840657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/>
            <p:cNvSpPr/>
            <p:nvPr/>
          </p:nvSpPr>
          <p:spPr>
            <a:xfrm>
              <a:off x="611560" y="2708920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1547664" y="3573016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69" name="Straight Connector 68"/>
            <p:cNvCxnSpPr>
              <a:stCxn id="61" idx="6"/>
              <a:endCxn id="62" idx="1"/>
            </p:cNvCxnSpPr>
            <p:nvPr/>
          </p:nvCxnSpPr>
          <p:spPr>
            <a:xfrm>
              <a:off x="1626354" y="1808820"/>
              <a:ext cx="889050" cy="78772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>
              <a:stCxn id="61" idx="4"/>
              <a:endCxn id="63" idx="1"/>
            </p:cNvCxnSpPr>
            <p:nvPr/>
          </p:nvCxnSpPr>
          <p:spPr>
            <a:xfrm>
              <a:off x="1518342" y="1916832"/>
              <a:ext cx="132966" cy="751716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>
              <a:stCxn id="67" idx="7"/>
              <a:endCxn id="62" idx="3"/>
            </p:cNvCxnSpPr>
            <p:nvPr/>
          </p:nvCxnSpPr>
          <p:spPr>
            <a:xfrm flipV="1">
              <a:off x="1732052" y="2749292"/>
              <a:ext cx="783352" cy="85536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66" idx="5"/>
              <a:endCxn id="67" idx="1"/>
            </p:cNvCxnSpPr>
            <p:nvPr/>
          </p:nvCxnSpPr>
          <p:spPr>
            <a:xfrm>
              <a:off x="795948" y="2893308"/>
              <a:ext cx="783352" cy="711344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63" idx="4"/>
              <a:endCxn id="67" idx="0"/>
            </p:cNvCxnSpPr>
            <p:nvPr/>
          </p:nvCxnSpPr>
          <p:spPr>
            <a:xfrm flipH="1">
              <a:off x="1655676" y="2852936"/>
              <a:ext cx="72008" cy="72008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/>
          <p:cNvGrpSpPr/>
          <p:nvPr/>
        </p:nvGrpSpPr>
        <p:grpSpPr>
          <a:xfrm>
            <a:off x="5611743" y="4185151"/>
            <a:ext cx="2304256" cy="1584176"/>
            <a:chOff x="4535996" y="1700808"/>
            <a:chExt cx="2304256" cy="1584176"/>
          </a:xfrm>
        </p:grpSpPr>
        <p:sp>
          <p:nvSpPr>
            <p:cNvPr id="80" name="Oval 79"/>
            <p:cNvSpPr/>
            <p:nvPr/>
          </p:nvSpPr>
          <p:spPr>
            <a:xfrm>
              <a:off x="5472100" y="3037324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2" name="Oval 81"/>
            <p:cNvSpPr/>
            <p:nvPr/>
          </p:nvSpPr>
          <p:spPr>
            <a:xfrm>
              <a:off x="6624228" y="3068960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83" name="Straight Connector 82"/>
            <p:cNvCxnSpPr>
              <a:stCxn id="84" idx="4"/>
              <a:endCxn id="85" idx="0"/>
            </p:cNvCxnSpPr>
            <p:nvPr/>
          </p:nvCxnSpPr>
          <p:spPr>
            <a:xfrm flipH="1">
              <a:off x="4644008" y="1916832"/>
              <a:ext cx="576064" cy="108012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Oval 83"/>
            <p:cNvSpPr/>
            <p:nvPr/>
          </p:nvSpPr>
          <p:spPr>
            <a:xfrm>
              <a:off x="5112060" y="1700808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5" name="Oval 84"/>
            <p:cNvSpPr/>
            <p:nvPr/>
          </p:nvSpPr>
          <p:spPr>
            <a:xfrm>
              <a:off x="4535996" y="299695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6" name="Oval 85"/>
            <p:cNvSpPr/>
            <p:nvPr/>
          </p:nvSpPr>
          <p:spPr>
            <a:xfrm>
              <a:off x="5940152" y="1700808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89" name="Straight Connector 88"/>
            <p:cNvCxnSpPr>
              <a:stCxn id="84" idx="5"/>
              <a:endCxn id="82" idx="1"/>
            </p:cNvCxnSpPr>
            <p:nvPr/>
          </p:nvCxnSpPr>
          <p:spPr>
            <a:xfrm>
              <a:off x="5296448" y="1885196"/>
              <a:ext cx="1359416" cy="121540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/>
            <p:cNvCxnSpPr>
              <a:stCxn id="85" idx="7"/>
              <a:endCxn id="86" idx="3"/>
            </p:cNvCxnSpPr>
            <p:nvPr/>
          </p:nvCxnSpPr>
          <p:spPr>
            <a:xfrm flipV="1">
              <a:off x="4720384" y="1885196"/>
              <a:ext cx="1251404" cy="114339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/>
            <p:cNvCxnSpPr>
              <a:stCxn id="80" idx="7"/>
              <a:endCxn id="86" idx="4"/>
            </p:cNvCxnSpPr>
            <p:nvPr/>
          </p:nvCxnSpPr>
          <p:spPr>
            <a:xfrm flipV="1">
              <a:off x="5656488" y="1916832"/>
              <a:ext cx="391676" cy="115212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80" idx="0"/>
              <a:endCxn id="84" idx="4"/>
            </p:cNvCxnSpPr>
            <p:nvPr/>
          </p:nvCxnSpPr>
          <p:spPr>
            <a:xfrm flipH="1" flipV="1">
              <a:off x="5220072" y="1916832"/>
              <a:ext cx="360040" cy="1120492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>
              <a:stCxn id="86" idx="4"/>
              <a:endCxn id="82" idx="0"/>
            </p:cNvCxnSpPr>
            <p:nvPr/>
          </p:nvCxnSpPr>
          <p:spPr>
            <a:xfrm>
              <a:off x="6048164" y="1916832"/>
              <a:ext cx="684076" cy="115212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Left-Right Arrow 96"/>
          <p:cNvSpPr/>
          <p:nvPr/>
        </p:nvSpPr>
        <p:spPr>
          <a:xfrm>
            <a:off x="3779904" y="4683239"/>
            <a:ext cx="1216152" cy="484632"/>
          </a:xfrm>
          <a:prstGeom prst="left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4546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ldLvl="0" animBg="1"/>
      <p:bldP spid="97" grpId="0" bldLvl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二部图举例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939096" y="1844824"/>
            <a:ext cx="2448272" cy="1728192"/>
            <a:chOff x="2843808" y="1556792"/>
            <a:chExt cx="2448272" cy="1728192"/>
          </a:xfrm>
        </p:grpSpPr>
        <p:sp>
          <p:nvSpPr>
            <p:cNvPr id="8" name="Oval 7"/>
            <p:cNvSpPr/>
            <p:nvPr/>
          </p:nvSpPr>
          <p:spPr>
            <a:xfrm>
              <a:off x="3347864" y="155679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499992" y="1556792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347864" y="3068960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4499992" y="3068960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2843808" y="2312876"/>
              <a:ext cx="216024" cy="21602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076056" y="2276872"/>
              <a:ext cx="216024" cy="216024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14" name="Straight Connector 13"/>
            <p:cNvCxnSpPr>
              <a:stCxn id="12" idx="7"/>
              <a:endCxn id="8" idx="3"/>
            </p:cNvCxnSpPr>
            <p:nvPr/>
          </p:nvCxnSpPr>
          <p:spPr>
            <a:xfrm flipV="1">
              <a:off x="3028196" y="1741180"/>
              <a:ext cx="351304" cy="60333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2" idx="6"/>
              <a:endCxn id="13" idx="2"/>
            </p:cNvCxnSpPr>
            <p:nvPr/>
          </p:nvCxnSpPr>
          <p:spPr>
            <a:xfrm flipV="1">
              <a:off x="3059832" y="2384884"/>
              <a:ext cx="2016224" cy="360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endCxn id="9" idx="2"/>
            </p:cNvCxnSpPr>
            <p:nvPr/>
          </p:nvCxnSpPr>
          <p:spPr>
            <a:xfrm>
              <a:off x="3563888" y="1651700"/>
              <a:ext cx="936104" cy="13104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13" idx="1"/>
              <a:endCxn id="9" idx="5"/>
            </p:cNvCxnSpPr>
            <p:nvPr/>
          </p:nvCxnSpPr>
          <p:spPr>
            <a:xfrm flipH="1" flipV="1">
              <a:off x="4684380" y="1741180"/>
              <a:ext cx="423312" cy="567328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2" idx="5"/>
              <a:endCxn id="10" idx="1"/>
            </p:cNvCxnSpPr>
            <p:nvPr/>
          </p:nvCxnSpPr>
          <p:spPr>
            <a:xfrm>
              <a:off x="3028196" y="2497264"/>
              <a:ext cx="351304" cy="603332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1" idx="7"/>
              <a:endCxn id="13" idx="3"/>
            </p:cNvCxnSpPr>
            <p:nvPr/>
          </p:nvCxnSpPr>
          <p:spPr>
            <a:xfrm flipV="1">
              <a:off x="4684380" y="2461260"/>
              <a:ext cx="423312" cy="63933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10" idx="6"/>
              <a:endCxn id="11" idx="2"/>
            </p:cNvCxnSpPr>
            <p:nvPr/>
          </p:nvCxnSpPr>
          <p:spPr>
            <a:xfrm>
              <a:off x="3563888" y="3176972"/>
              <a:ext cx="936104" cy="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1" idx="2"/>
              <a:endCxn id="8" idx="4"/>
            </p:cNvCxnSpPr>
            <p:nvPr/>
          </p:nvCxnSpPr>
          <p:spPr>
            <a:xfrm flipH="1" flipV="1">
              <a:off x="3455876" y="1772816"/>
              <a:ext cx="1044116" cy="1404156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10" idx="7"/>
              <a:endCxn id="9" idx="4"/>
            </p:cNvCxnSpPr>
            <p:nvPr/>
          </p:nvCxnSpPr>
          <p:spPr>
            <a:xfrm flipV="1">
              <a:off x="3532252" y="1772816"/>
              <a:ext cx="1075752" cy="1327780"/>
            </a:xfrm>
            <a:prstGeom prst="line">
              <a:avLst/>
            </a:prstGeom>
            <a:ln w="28575" cmpd="sng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5403592" y="1916832"/>
            <a:ext cx="1944216" cy="1584176"/>
            <a:chOff x="4860032" y="1916832"/>
            <a:chExt cx="1944216" cy="1584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60032" y="1916832"/>
              <a:ext cx="1944216" cy="1584176"/>
              <a:chOff x="5112060" y="1700808"/>
              <a:chExt cx="1944216" cy="1584176"/>
            </a:xfrm>
          </p:grpSpPr>
          <p:sp>
            <p:nvSpPr>
              <p:cNvPr id="28" name="Oval 27"/>
              <p:cNvSpPr/>
              <p:nvPr/>
            </p:nvSpPr>
            <p:spPr>
              <a:xfrm>
                <a:off x="5976156" y="3037324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6840252" y="3068960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30" name="Straight Connector 29"/>
              <p:cNvCxnSpPr>
                <a:stCxn id="31" idx="4"/>
                <a:endCxn id="32" idx="0"/>
              </p:cNvCxnSpPr>
              <p:nvPr/>
            </p:nvCxnSpPr>
            <p:spPr>
              <a:xfrm>
                <a:off x="5220072" y="1916832"/>
                <a:ext cx="0" cy="1152128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/>
              <p:cNvSpPr/>
              <p:nvPr/>
            </p:nvSpPr>
            <p:spPr>
              <a:xfrm>
                <a:off x="5112060" y="1700808"/>
                <a:ext cx="216024" cy="216024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5112060" y="3068960"/>
                <a:ext cx="216024" cy="216024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5940152" y="1700808"/>
                <a:ext cx="216024" cy="216024"/>
              </a:xfrm>
              <a:prstGeom prst="ellipse">
                <a:avLst/>
              </a:prstGeom>
              <a:solidFill>
                <a:srgbClr val="FFCF01"/>
              </a:solidFill>
              <a:ln>
                <a:solidFill>
                  <a:srgbClr val="000000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18415" cmpd="sng">
                    <a:solidFill>
                      <a:srgbClr val="FFFFFF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63500" dir="3600000" algn="tl" rotWithShape="0">
                      <a:srgbClr val="000000">
                        <a:alpha val="70000"/>
                      </a:srgbClr>
                    </a:outerShdw>
                  </a:effectLst>
                </a:endParaRPr>
              </a:p>
            </p:txBody>
          </p:sp>
          <p:cxnSp>
            <p:nvCxnSpPr>
              <p:cNvPr id="34" name="Straight Connector 33"/>
              <p:cNvCxnSpPr>
                <a:stCxn id="31" idx="5"/>
                <a:endCxn id="29" idx="1"/>
              </p:cNvCxnSpPr>
              <p:nvPr/>
            </p:nvCxnSpPr>
            <p:spPr>
              <a:xfrm>
                <a:off x="5296448" y="1885196"/>
                <a:ext cx="1575440" cy="1215400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32" idx="7"/>
                <a:endCxn id="33" idx="3"/>
              </p:cNvCxnSpPr>
              <p:nvPr/>
            </p:nvCxnSpPr>
            <p:spPr>
              <a:xfrm flipV="1">
                <a:off x="5296448" y="1885196"/>
                <a:ext cx="675340" cy="1215400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>
                <a:stCxn id="28" idx="7"/>
                <a:endCxn id="33" idx="4"/>
              </p:cNvCxnSpPr>
              <p:nvPr/>
            </p:nvCxnSpPr>
            <p:spPr>
              <a:xfrm flipH="1" flipV="1">
                <a:off x="6048164" y="1916832"/>
                <a:ext cx="112380" cy="1152128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28" idx="0"/>
                <a:endCxn id="31" idx="4"/>
              </p:cNvCxnSpPr>
              <p:nvPr/>
            </p:nvCxnSpPr>
            <p:spPr>
              <a:xfrm flipH="1" flipV="1">
                <a:off x="5220072" y="1916832"/>
                <a:ext cx="864096" cy="1120492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>
                <a:stCxn id="33" idx="4"/>
                <a:endCxn id="29" idx="0"/>
              </p:cNvCxnSpPr>
              <p:nvPr/>
            </p:nvCxnSpPr>
            <p:spPr>
              <a:xfrm>
                <a:off x="6048164" y="1916832"/>
                <a:ext cx="900100" cy="1152128"/>
              </a:xfrm>
              <a:prstGeom prst="line">
                <a:avLst/>
              </a:prstGeom>
              <a:ln w="28575" cmpd="sng">
                <a:solidFill>
                  <a:srgbClr val="00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Oval 38"/>
            <p:cNvSpPr/>
            <p:nvPr/>
          </p:nvSpPr>
          <p:spPr>
            <a:xfrm>
              <a:off x="6588224" y="1916832"/>
              <a:ext cx="216024" cy="216024"/>
            </a:xfrm>
            <a:prstGeom prst="ellipse">
              <a:avLst/>
            </a:prstGeom>
            <a:solidFill>
              <a:srgbClr val="FFCF01"/>
            </a:solidFill>
            <a:ln>
              <a:solidFill>
                <a:srgbClr val="000000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cxnSp>
          <p:nvCxnSpPr>
            <p:cNvPr id="40" name="Straight Connector 39"/>
            <p:cNvCxnSpPr>
              <a:stCxn id="39" idx="4"/>
              <a:endCxn id="29" idx="0"/>
            </p:cNvCxnSpPr>
            <p:nvPr/>
          </p:nvCxnSpPr>
          <p:spPr>
            <a:xfrm>
              <a:off x="6696236" y="2132856"/>
              <a:ext cx="0" cy="1152128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39" idx="3"/>
              <a:endCxn id="28" idx="7"/>
            </p:cNvCxnSpPr>
            <p:nvPr/>
          </p:nvCxnSpPr>
          <p:spPr>
            <a:xfrm flipH="1">
              <a:off x="5908516" y="2101220"/>
              <a:ext cx="711344" cy="1183764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39" idx="3"/>
              <a:endCxn id="32" idx="7"/>
            </p:cNvCxnSpPr>
            <p:nvPr/>
          </p:nvCxnSpPr>
          <p:spPr>
            <a:xfrm flipH="1">
              <a:off x="5044420" y="2101220"/>
              <a:ext cx="1575440" cy="1215400"/>
            </a:xfrm>
            <a:prstGeom prst="line">
              <a:avLst/>
            </a:prstGeom>
            <a:ln w="28575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Left-Right Arrow 50"/>
          <p:cNvSpPr/>
          <p:nvPr/>
        </p:nvSpPr>
        <p:spPr>
          <a:xfrm>
            <a:off x="3963432" y="2420888"/>
            <a:ext cx="1216152" cy="484632"/>
          </a:xfrm>
          <a:prstGeom prst="leftRightArrow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323850" y="4149080"/>
            <a:ext cx="8496300" cy="1008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完全</a:t>
            </a:r>
            <a:r>
              <a:rPr lang="en-US" altLang="zh-CN" i="1" dirty="0"/>
              <a:t>r</a:t>
            </a:r>
            <a:r>
              <a:rPr lang="zh-CN" altLang="en-US" dirty="0"/>
              <a:t>部图</a:t>
            </a:r>
            <a:r>
              <a:rPr lang="en-US" altLang="zh-CN" dirty="0"/>
              <a:t>K</a:t>
            </a:r>
            <a:r>
              <a:rPr lang="en-US" altLang="zh-CN" i="1" baseline="-25000" dirty="0"/>
              <a:t>n</a:t>
            </a:r>
            <a:r>
              <a:rPr lang="en-US" altLang="zh-CN" baseline="-40000" dirty="0"/>
              <a:t>1</a:t>
            </a:r>
            <a:r>
              <a:rPr lang="en-US" altLang="zh-CN" baseline="-25000" dirty="0"/>
              <a:t>,</a:t>
            </a:r>
            <a:r>
              <a:rPr lang="en-US" altLang="zh-CN" i="1" baseline="-25000" dirty="0"/>
              <a:t> n</a:t>
            </a:r>
            <a:r>
              <a:rPr lang="en-US" altLang="zh-CN" baseline="-40000" dirty="0"/>
              <a:t>2</a:t>
            </a:r>
            <a:r>
              <a:rPr lang="en-US" altLang="zh-CN" baseline="-25000" dirty="0"/>
              <a:t>,…,</a:t>
            </a:r>
            <a:r>
              <a:rPr lang="en-US" altLang="zh-CN" i="1" baseline="-25000" dirty="0"/>
              <a:t> n</a:t>
            </a:r>
            <a:r>
              <a:rPr lang="en-US" altLang="zh-CN" i="1" baseline="-40000" dirty="0"/>
              <a:t>r</a:t>
            </a:r>
            <a:r>
              <a:rPr lang="zh-CN" altLang="en-US" dirty="0">
                <a:sym typeface="+mn-ea"/>
              </a:rPr>
              <a:t>，</a:t>
            </a:r>
            <a:endParaRPr lang="zh-CN" altLang="en-US" dirty="0">
              <a:sym typeface="+mn-ea"/>
            </a:endParaRPr>
          </a:p>
        </p:txBody>
      </p:sp>
      <p:pic>
        <p:nvPicPr>
          <p:cNvPr id="53" name="Picture 52" descr="屏幕快照 2018-03-07 下午6.54.38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723" y="4831251"/>
            <a:ext cx="2562285" cy="504056"/>
          </a:xfrm>
          <a:prstGeom prst="rect">
            <a:avLst/>
          </a:prstGeom>
        </p:spPr>
      </p:pic>
      <p:pic>
        <p:nvPicPr>
          <p:cNvPr id="55" name="Picture 54" descr="屏幕快照 2018-03-07 下午7.03.00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1716" y="5407315"/>
            <a:ext cx="2025225" cy="648072"/>
          </a:xfrm>
          <a:prstGeom prst="rect">
            <a:avLst/>
          </a:prstGeom>
        </p:spPr>
      </p:pic>
      <p:sp>
        <p:nvSpPr>
          <p:cNvPr id="2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5" name="Picture 54" descr="屏幕快照 2018-03-07 下午7.03.00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8716" y="5534315"/>
            <a:ext cx="2025225" cy="648072"/>
          </a:xfrm>
          <a:prstGeom prst="rect">
            <a:avLst/>
          </a:prstGeom>
        </p:spPr>
      </p:pic>
      <p:pic>
        <p:nvPicPr>
          <p:cNvPr id="6" name="Picture 52" descr="屏幕快照 2018-03-07 下午6.54.38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723" y="4958251"/>
            <a:ext cx="2562285" cy="504056"/>
          </a:xfrm>
          <a:prstGeom prst="rect">
            <a:avLst/>
          </a:prstGeom>
        </p:spPr>
      </p:pic>
      <p:pic>
        <p:nvPicPr>
          <p:cNvPr id="3" name="Picture 54" descr="屏幕快照 2018-03-07 下午7.03.0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56" y="5661315"/>
            <a:ext cx="2025225" cy="648072"/>
          </a:xfrm>
          <a:prstGeom prst="rect">
            <a:avLst/>
          </a:prstGeom>
        </p:spPr>
      </p:pic>
      <p:pic>
        <p:nvPicPr>
          <p:cNvPr id="23" name="Picture 52" descr="屏幕快照 2018-03-07 下午6.54.38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723" y="5085251"/>
            <a:ext cx="2562285" cy="50405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advTm="19177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当</a:t>
            </a:r>
            <a:r>
              <a:rPr lang="en-US" altLang="zh-CN" dirty="0"/>
              <a:t>n</a:t>
            </a:r>
            <a:r>
              <a:rPr lang="en-US" altLang="zh-CN" baseline="-25000" dirty="0"/>
              <a:t>1</a:t>
            </a:r>
            <a:r>
              <a:rPr lang="en-US" altLang="zh-CN" dirty="0"/>
              <a:t>,n</a:t>
            </a:r>
            <a:r>
              <a:rPr lang="en-US" altLang="zh-CN" baseline="-25000" dirty="0"/>
              <a:t>2</a:t>
            </a:r>
            <a:r>
              <a:rPr lang="en-US" altLang="zh-CN" dirty="0"/>
              <a:t>,…,n</a:t>
            </a:r>
            <a:r>
              <a:rPr lang="en-US" altLang="zh-CN" i="1" baseline="-25000" dirty="0"/>
              <a:t>r</a:t>
            </a:r>
            <a:r>
              <a:rPr lang="zh-CN" altLang="en-US" dirty="0"/>
              <a:t>满足什么条件时，</a:t>
            </a:r>
            <a:r>
              <a:rPr lang="en-US" altLang="zh-CN" dirty="0"/>
              <a:t>n</a:t>
            </a:r>
            <a:r>
              <a:rPr lang="zh-CN" altLang="en-US" dirty="0"/>
              <a:t>阶完全</a:t>
            </a:r>
            <a:r>
              <a:rPr lang="en-US" altLang="zh-CN" dirty="0"/>
              <a:t>r</a:t>
            </a:r>
            <a:r>
              <a:rPr lang="zh-CN" altLang="en-US" dirty="0"/>
              <a:t>部图的边数</a:t>
            </a:r>
            <a:r>
              <a:rPr lang="en-US" altLang="zh-CN" dirty="0"/>
              <a:t>m</a:t>
            </a:r>
            <a:r>
              <a:rPr lang="zh-CN" altLang="en-US" dirty="0"/>
              <a:t>达到最大？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解：</a:t>
            </a:r>
            <a:r>
              <a:rPr lang="en-US" altLang="zh-CN" dirty="0"/>
              <a:t>P115</a:t>
            </a:r>
            <a:endParaRPr lang="en-US" altLang="zh-CN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5317">
    <p:wipe dir="r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子图</a:t>
            </a:r>
            <a:endParaRPr lang="zh-CN" altLang="en-US" sz="400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1288"/>
            <a:ext cx="8458200" cy="5113337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dirty="0"/>
              <a:t>设图</a:t>
            </a:r>
            <a:r>
              <a:rPr lang="en-US" altLang="zh-CN" i="1" dirty="0"/>
              <a:t>G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&gt;, </a:t>
            </a:r>
            <a:r>
              <a:rPr lang="zh-CN" altLang="en-US" dirty="0"/>
              <a:t>图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=&lt;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(1)</a:t>
            </a:r>
            <a:r>
              <a:rPr lang="zh-CN" altLang="en-US" dirty="0">
                <a:solidFill>
                  <a:srgbClr val="FF0000"/>
                </a:solidFill>
              </a:rPr>
              <a:t>子图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>
                <a:sym typeface="Symbol" panose="05050102010706020507" pitchFamily="18" charset="2"/>
              </a:rPr>
              <a:t>E,</a:t>
            </a:r>
            <a:r>
              <a:rPr lang="en-US" altLang="zh-CN" dirty="0"/>
              <a:t>  </a:t>
            </a:r>
            <a:r>
              <a:rPr lang="en-US" altLang="zh-CN" i="1" dirty="0"/>
              <a:t>G</a:t>
            </a:r>
            <a:r>
              <a:rPr lang="zh-CN" altLang="en-US" dirty="0"/>
              <a:t>为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母图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子图</a:t>
            </a:r>
            <a:r>
              <a:rPr lang="en-US" altLang="zh-CN" dirty="0">
                <a:solidFill>
                  <a:srgbClr val="FF0000"/>
                </a:solidFill>
              </a:rPr>
              <a:t>,</a:t>
            </a:r>
            <a:r>
              <a:rPr lang="zh-CN" altLang="en-US" dirty="0"/>
              <a:t>记作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</a:t>
            </a:r>
            <a:r>
              <a:rPr lang="zh-CN" altLang="en-US" i="1" dirty="0"/>
              <a:t>。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(2)</a:t>
            </a:r>
            <a:r>
              <a:rPr lang="en-US" altLang="zh-CN" i="1" dirty="0"/>
              <a:t> 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真子图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V 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V </a:t>
            </a:r>
            <a:r>
              <a:rPr lang="zh-CN" altLang="en-US" dirty="0"/>
              <a:t>或</a:t>
            </a:r>
            <a:r>
              <a:rPr lang="en-US" altLang="zh-CN" i="1" dirty="0"/>
              <a:t>E </a:t>
            </a:r>
            <a:r>
              <a:rPr lang="en-US" altLang="zh-CN" dirty="0">
                <a:sym typeface="Symbol" panose="05050102010706020507" pitchFamily="18" charset="2"/>
              </a:rPr>
              <a:t></a:t>
            </a:r>
            <a:r>
              <a:rPr lang="en-US" altLang="zh-CN" i="1" dirty="0"/>
              <a:t>E</a:t>
            </a:r>
            <a:r>
              <a:rPr lang="zh-CN" altLang="en-US" dirty="0"/>
              <a:t>。</a:t>
            </a:r>
            <a:endParaRPr lang="zh-CN" altLang="en-US" dirty="0"/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(3) 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为</a:t>
            </a:r>
            <a:r>
              <a:rPr lang="en-US" altLang="zh-CN" i="1" dirty="0"/>
              <a:t>G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生成子图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若</a:t>
            </a:r>
            <a:r>
              <a:rPr lang="en-US" altLang="zh-CN" i="1" dirty="0"/>
              <a:t>G 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G </a:t>
            </a:r>
            <a:r>
              <a:rPr lang="zh-CN" altLang="en-US" dirty="0"/>
              <a:t>且</a:t>
            </a:r>
            <a:r>
              <a:rPr lang="en-US" altLang="zh-CN" i="1" dirty="0">
                <a:solidFill>
                  <a:srgbClr val="FF0000"/>
                </a:solidFill>
              </a:rPr>
              <a:t>V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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(4) G</a:t>
            </a:r>
            <a:r>
              <a:rPr lang="zh-CN" altLang="en-US" dirty="0"/>
              <a:t>的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导出子图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]: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dirty="0">
                <a:sym typeface="Symbol" panose="05050102010706020507"/>
              </a:rPr>
              <a:t></a:t>
            </a:r>
            <a:r>
              <a:rPr lang="en-US" altLang="zh-CN" i="1" dirty="0"/>
              <a:t>V</a:t>
            </a:r>
            <a:r>
              <a:rPr lang="zh-CN" altLang="en-US" dirty="0"/>
              <a:t>且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,</a:t>
            </a:r>
            <a:r>
              <a:rPr lang="en-US" altLang="zh-CN" dirty="0"/>
              <a:t> </a:t>
            </a:r>
            <a:r>
              <a:rPr lang="zh-CN" altLang="en-US" dirty="0"/>
              <a:t>以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为顶点集</a:t>
            </a:r>
            <a:r>
              <a:rPr lang="en-US" altLang="zh-CN" dirty="0"/>
              <a:t>, </a:t>
            </a:r>
            <a:r>
              <a:rPr lang="zh-CN" altLang="en-US" dirty="0"/>
              <a:t>以两端点都在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zh-CN" altLang="en-US" dirty="0"/>
              <a:t>中的边组成边集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zh-CN" altLang="en-US" dirty="0"/>
              <a:t>的图。</a:t>
            </a:r>
            <a:endParaRPr lang="en-US" altLang="zh-CN" dirty="0"/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dirty="0"/>
              <a:t>(5) G</a:t>
            </a:r>
            <a:r>
              <a:rPr lang="zh-CN" altLang="en-US" dirty="0"/>
              <a:t>的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导出子图</a:t>
            </a:r>
            <a:r>
              <a:rPr lang="en-US" altLang="zh-CN" i="1" dirty="0">
                <a:solidFill>
                  <a:srgbClr val="FF0000"/>
                </a:solidFill>
              </a:rPr>
              <a:t>G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i="1" dirty="0">
                <a:solidFill>
                  <a:srgbClr val="FF0000"/>
                </a:solidFill>
              </a:rPr>
              <a:t>E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] : 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dirty="0">
                <a:sym typeface="Symbol" panose="05050102010706020507"/>
              </a:rPr>
              <a:t></a:t>
            </a:r>
            <a:r>
              <a:rPr lang="en-US" altLang="zh-CN" i="1" dirty="0"/>
              <a:t>E</a:t>
            </a:r>
            <a:r>
              <a:rPr lang="zh-CN" altLang="en-US" dirty="0"/>
              <a:t>且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,</a:t>
            </a:r>
            <a:r>
              <a:rPr lang="en-US" altLang="zh-CN" dirty="0"/>
              <a:t> </a:t>
            </a:r>
            <a:r>
              <a:rPr lang="zh-CN" altLang="en-US" dirty="0"/>
              <a:t>以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zh-CN" altLang="en-US" dirty="0"/>
              <a:t>中的边关联的顶点为顶点集的图。</a:t>
            </a:r>
            <a:endParaRPr lang="zh-CN" altLang="en-US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9374">
    <p:wipe dir="r"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子图的实例</a:t>
            </a:r>
            <a:endParaRPr lang="zh-CN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7195" y="4364990"/>
            <a:ext cx="8526780" cy="227711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folHlink"/>
                </a:solidFill>
              </a:rPr>
              <a:t>1. (</a:t>
            </a:r>
            <a:r>
              <a:rPr lang="en-US" altLang="zh-CN" i="1" dirty="0">
                <a:solidFill>
                  <a:schemeClr val="folHlink"/>
                </a:solidFill>
              </a:rPr>
              <a:t>b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>
                <a:solidFill>
                  <a:schemeClr val="folHlink"/>
                </a:solidFill>
              </a:rPr>
              <a:t>c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都是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的真子图</a:t>
            </a:r>
            <a:r>
              <a:rPr lang="en-US" altLang="zh-CN" dirty="0">
                <a:solidFill>
                  <a:schemeClr val="folHlink"/>
                </a:solidFill>
              </a:rPr>
              <a:t>,</a:t>
            </a:r>
            <a:r>
              <a:rPr lang="zh-CN" altLang="en-US" dirty="0">
                <a:solidFill>
                  <a:schemeClr val="folHlink"/>
                </a:solidFill>
              </a:rPr>
              <a:t>都不是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的生成子图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folHlink"/>
                </a:solidFill>
              </a:rPr>
              <a:t>2. (</a:t>
            </a:r>
            <a:r>
              <a:rPr lang="en-US" altLang="zh-CN" i="1" dirty="0">
                <a:solidFill>
                  <a:schemeClr val="folHlink"/>
                </a:solidFill>
              </a:rPr>
              <a:t>c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是</a:t>
            </a:r>
            <a:r>
              <a:rPr lang="en-US" altLang="zh-CN" dirty="0">
                <a:solidFill>
                  <a:schemeClr val="folHlink"/>
                </a:solidFill>
              </a:rPr>
              <a:t>E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={(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b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 err="1">
                <a:solidFill>
                  <a:schemeClr val="folHlink"/>
                </a:solidFill>
              </a:rPr>
              <a:t>b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c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 err="1">
                <a:solidFill>
                  <a:schemeClr val="folHlink"/>
                </a:solidFill>
              </a:rPr>
              <a:t>c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d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 err="1">
                <a:solidFill>
                  <a:schemeClr val="folHlink"/>
                </a:solidFill>
              </a:rPr>
              <a:t>a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f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 err="1">
                <a:solidFill>
                  <a:schemeClr val="folHlink"/>
                </a:solidFill>
              </a:rPr>
              <a:t>g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h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 err="1">
                <a:solidFill>
                  <a:schemeClr val="folHlink"/>
                </a:solidFill>
              </a:rPr>
              <a:t>c</a:t>
            </a:r>
            <a:r>
              <a:rPr lang="en-US" altLang="zh-CN" dirty="0" err="1">
                <a:solidFill>
                  <a:schemeClr val="folHlink"/>
                </a:solidFill>
              </a:rPr>
              <a:t>,</a:t>
            </a:r>
            <a:r>
              <a:rPr lang="en-US" altLang="zh-CN" i="1" dirty="0" err="1">
                <a:solidFill>
                  <a:schemeClr val="folHlink"/>
                </a:solidFill>
              </a:rPr>
              <a:t>g</a:t>
            </a:r>
            <a:r>
              <a:rPr lang="en-US" altLang="zh-CN" dirty="0">
                <a:solidFill>
                  <a:schemeClr val="folHlink"/>
                </a:solidFill>
              </a:rPr>
              <a:t>)}</a:t>
            </a:r>
            <a:r>
              <a:rPr lang="zh-CN" altLang="en-US" dirty="0">
                <a:solidFill>
                  <a:schemeClr val="folHlink"/>
                </a:solidFill>
              </a:rPr>
              <a:t>导出子</a:t>
            </a:r>
            <a:r>
              <a:rPr lang="en-US" altLang="zh-CN" dirty="0">
                <a:solidFill>
                  <a:schemeClr val="folHlink"/>
                </a:solidFill>
              </a:rPr>
              <a:t>G[E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]</a:t>
            </a:r>
            <a:endParaRPr lang="en-US" altLang="zh-CN" dirty="0">
              <a:solidFill>
                <a:schemeClr val="folHlink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chemeClr val="folHlink"/>
                </a:solidFill>
              </a:rPr>
              <a:t>3. </a:t>
            </a:r>
            <a:r>
              <a:rPr lang="zh-CN" altLang="en-US" dirty="0">
                <a:solidFill>
                  <a:schemeClr val="folHlink"/>
                </a:solidFill>
              </a:rPr>
              <a:t>画出</a:t>
            </a:r>
            <a:r>
              <a:rPr lang="en-US" altLang="zh-CN" dirty="0">
                <a:solidFill>
                  <a:schemeClr val="folHlink"/>
                </a:solidFill>
              </a:rPr>
              <a:t>G[V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], V</a:t>
            </a:r>
            <a:r>
              <a:rPr lang="en-US" altLang="zh-CN" baseline="-25000" dirty="0">
                <a:solidFill>
                  <a:schemeClr val="folHlink"/>
                </a:solidFill>
              </a:rPr>
              <a:t>1</a:t>
            </a:r>
            <a:r>
              <a:rPr lang="en-US" altLang="zh-CN" dirty="0">
                <a:solidFill>
                  <a:schemeClr val="folHlink"/>
                </a:solidFill>
              </a:rPr>
              <a:t>={</a:t>
            </a:r>
            <a:r>
              <a:rPr lang="en-US" altLang="zh-CN" dirty="0" err="1">
                <a:solidFill>
                  <a:schemeClr val="folHlink"/>
                </a:solidFill>
              </a:rPr>
              <a:t>b,c,d,g</a:t>
            </a:r>
            <a:r>
              <a:rPr lang="en-US" altLang="zh-CN" dirty="0">
                <a:solidFill>
                  <a:schemeClr val="folHlink"/>
                </a:solidFill>
              </a:rPr>
              <a:t>}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pic>
        <p:nvPicPr>
          <p:cNvPr id="52230" name="Picture 4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8536" y="1484784"/>
            <a:ext cx="7215832" cy="290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pic>
        <p:nvPicPr>
          <p:cNvPr id="2" name="Picture 4" descr="图7-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35236" y="1413029"/>
            <a:ext cx="7215832" cy="2901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custDataLst>
      <p:tags r:id="rId3"/>
    </p:custDataLst>
  </p:cSld>
  <p:clrMapOvr>
    <a:masterClrMapping/>
  </p:clrMapOvr>
  <p:transition advTm="357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生成子图实例</a:t>
            </a:r>
            <a:endParaRPr lang="zh-CN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4077970"/>
            <a:ext cx="7161530" cy="7207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b</a:t>
            </a:r>
            <a:r>
              <a:rPr lang="en-US" altLang="zh-CN" dirty="0">
                <a:solidFill>
                  <a:schemeClr val="folHlink"/>
                </a:solidFill>
              </a:rPr>
              <a:t>),(</a:t>
            </a:r>
            <a:r>
              <a:rPr lang="en-US" altLang="zh-CN" i="1" dirty="0">
                <a:solidFill>
                  <a:schemeClr val="folHlink"/>
                </a:solidFill>
              </a:rPr>
              <a:t>c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都是</a:t>
            </a:r>
            <a:r>
              <a:rPr lang="en-US" altLang="zh-CN" dirty="0">
                <a:solidFill>
                  <a:schemeClr val="folHlink"/>
                </a:solidFill>
              </a:rPr>
              <a:t>(</a:t>
            </a:r>
            <a:r>
              <a:rPr lang="en-US" altLang="zh-CN" i="1" dirty="0">
                <a:solidFill>
                  <a:schemeClr val="folHlink"/>
                </a:solidFill>
              </a:rPr>
              <a:t>a</a:t>
            </a:r>
            <a:r>
              <a:rPr lang="en-US" altLang="zh-CN" dirty="0">
                <a:solidFill>
                  <a:schemeClr val="folHlink"/>
                </a:solidFill>
              </a:rPr>
              <a:t>)</a:t>
            </a:r>
            <a:r>
              <a:rPr lang="zh-CN" altLang="en-US" dirty="0">
                <a:solidFill>
                  <a:schemeClr val="folHlink"/>
                </a:solidFill>
              </a:rPr>
              <a:t>的生成子图</a:t>
            </a:r>
            <a:endParaRPr lang="zh-CN" altLang="en-US" dirty="0">
              <a:solidFill>
                <a:schemeClr val="folHlink"/>
              </a:solidFill>
            </a:endParaRPr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grpSp>
        <p:nvGrpSpPr>
          <p:cNvPr id="9" name="Group 2"/>
          <p:cNvGrpSpPr/>
          <p:nvPr/>
        </p:nvGrpSpPr>
        <p:grpSpPr>
          <a:xfrm>
            <a:off x="1043360" y="1859558"/>
            <a:ext cx="6482318" cy="2152969"/>
            <a:chOff x="876081" y="2487172"/>
            <a:chExt cx="6482318" cy="2152969"/>
          </a:xfrm>
        </p:grpSpPr>
        <p:pic>
          <p:nvPicPr>
            <p:cNvPr id="10" name="Picture 4" descr="图7-1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876081" y="2487172"/>
              <a:ext cx="6482318" cy="1412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>
              <a:off x="1222166" y="4054750"/>
              <a:ext cx="600382" cy="5190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804259" y="4053242"/>
              <a:ext cx="598877" cy="5190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b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6261460" y="4121135"/>
              <a:ext cx="579316" cy="5190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p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2800" b="1"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2800" b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advTm="18981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补图</a:t>
            </a:r>
            <a:endParaRPr lang="zh-CN" altLang="en-US" sz="4000"/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23850" y="1412875"/>
            <a:ext cx="7731125" cy="143986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</a:rPr>
              <a:t>补图     </a:t>
            </a:r>
            <a:r>
              <a:rPr lang="zh-CN" dirty="0">
                <a:solidFill>
                  <a:schemeClr val="tx1"/>
                </a:solidFill>
              </a:rPr>
              <a:t>：</a:t>
            </a:r>
            <a:r>
              <a:rPr lang="zh-CN" altLang="en-US" dirty="0"/>
              <a:t>给定一个图</a:t>
            </a:r>
            <a:r>
              <a:rPr lang="en-US" altLang="zh-CN" dirty="0"/>
              <a:t>G=&lt;</a:t>
            </a:r>
            <a:r>
              <a:rPr lang="en-US" altLang="zh-CN" i="1" dirty="0"/>
              <a:t>V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dirty="0"/>
              <a:t>&gt;</a:t>
            </a:r>
            <a:r>
              <a:rPr lang="zh-CN" altLang="en-US" dirty="0"/>
              <a:t>，</a:t>
            </a:r>
            <a:endParaRPr lang="en-US" altLang="zh-CN" dirty="0"/>
          </a:p>
        </p:txBody>
      </p:sp>
      <p:grpSp>
        <p:nvGrpSpPr>
          <p:cNvPr id="2" name="组合 1"/>
          <p:cNvGrpSpPr/>
          <p:nvPr/>
        </p:nvGrpSpPr>
        <p:grpSpPr>
          <a:xfrm>
            <a:off x="1331595" y="3644900"/>
            <a:ext cx="2362200" cy="1905000"/>
            <a:chOff x="1320" y="5627"/>
            <a:chExt cx="3720" cy="3000"/>
          </a:xfrm>
        </p:grpSpPr>
        <p:pic>
          <p:nvPicPr>
            <p:cNvPr id="618503" name="Picture 7" descr="图7-1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r="48866" b="-3093"/>
            <a:stretch>
              <a:fillRect/>
            </a:stretch>
          </p:blipFill>
          <p:spPr bwMode="auto">
            <a:xfrm>
              <a:off x="1320" y="5627"/>
              <a:ext cx="3720" cy="3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18504" name="Line 8"/>
            <p:cNvSpPr>
              <a:spLocks noChangeShapeType="1"/>
            </p:cNvSpPr>
            <p:nvPr/>
          </p:nvSpPr>
          <p:spPr bwMode="auto">
            <a:xfrm>
              <a:off x="3000" y="5835"/>
              <a:ext cx="960" cy="72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05" name="Line 9"/>
            <p:cNvSpPr>
              <a:spLocks noChangeShapeType="1"/>
            </p:cNvSpPr>
            <p:nvPr/>
          </p:nvSpPr>
          <p:spPr bwMode="auto">
            <a:xfrm>
              <a:off x="2880" y="5835"/>
              <a:ext cx="1080" cy="204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06" name="Line 10"/>
            <p:cNvSpPr>
              <a:spLocks noChangeShapeType="1"/>
            </p:cNvSpPr>
            <p:nvPr/>
          </p:nvSpPr>
          <p:spPr bwMode="auto">
            <a:xfrm flipH="1">
              <a:off x="2640" y="5835"/>
              <a:ext cx="240" cy="2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507" name="Line 11"/>
            <p:cNvSpPr>
              <a:spLocks noChangeShapeType="1"/>
            </p:cNvSpPr>
            <p:nvPr/>
          </p:nvSpPr>
          <p:spPr bwMode="auto">
            <a:xfrm>
              <a:off x="1493" y="7342"/>
              <a:ext cx="1147" cy="89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618508" name="Picture 12" descr="图7-1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6082" t="-4124"/>
          <a:stretch>
            <a:fillRect/>
          </a:stretch>
        </p:blipFill>
        <p:spPr bwMode="auto">
          <a:xfrm>
            <a:off x="4284345" y="3500596"/>
            <a:ext cx="2028825" cy="192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4098" name="Object 11"/>
          <p:cNvGraphicFramePr>
            <a:graphicFrameLocks noChangeAspect="1"/>
          </p:cNvGraphicFramePr>
          <p:nvPr/>
        </p:nvGraphicFramePr>
        <p:xfrm>
          <a:off x="1116013" y="1412776"/>
          <a:ext cx="431651" cy="5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2" name="公式" r:id="rId2" imgW="177800" imgH="203200" progId="Equation.3">
                  <p:embed/>
                </p:oleObj>
              </mc:Choice>
              <mc:Fallback>
                <p:oleObj name="公式" r:id="rId2" imgW="177800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12776"/>
                        <a:ext cx="431651" cy="528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3"/>
          <p:cNvGraphicFramePr>
            <a:graphicFrameLocks noChangeAspect="1"/>
          </p:cNvGraphicFramePr>
          <p:nvPr/>
        </p:nvGraphicFramePr>
        <p:xfrm>
          <a:off x="1547813" y="1989138"/>
          <a:ext cx="4895850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3" name="公式" r:id="rId4" imgW="2196465" imgH="241300" progId="Equation.3">
                  <p:embed/>
                </p:oleObj>
              </mc:Choice>
              <mc:Fallback>
                <p:oleObj name="公式" r:id="rId4" imgW="2196465" imgH="2413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4895850" cy="538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4"/>
          <p:cNvGraphicFramePr>
            <a:graphicFrameLocks noChangeAspect="1"/>
          </p:cNvGraphicFramePr>
          <p:nvPr/>
        </p:nvGraphicFramePr>
        <p:xfrm>
          <a:off x="5566692" y="1459915"/>
          <a:ext cx="1734800" cy="52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44" name="公式" r:id="rId6" imgW="749300" imgH="228600" progId="Equation.3">
                  <p:embed/>
                </p:oleObj>
              </mc:Choice>
              <mc:Fallback>
                <p:oleObj name="公式" r:id="rId6" imgW="749300" imgH="228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6692" y="1459915"/>
                        <a:ext cx="1734800" cy="52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9" name="矩形 15"/>
          <p:cNvSpPr>
            <a:spLocks noChangeArrowheads="1"/>
          </p:cNvSpPr>
          <p:nvPr/>
        </p:nvSpPr>
        <p:spPr bwMode="auto">
          <a:xfrm>
            <a:off x="323850" y="2780928"/>
            <a:ext cx="3400425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chemeClr val="folHlink"/>
                </a:solidFill>
                <a:latin typeface="黑体" panose="02010609060101010101" pitchFamily="2" charset="-122"/>
              </a:rPr>
              <a:t>例：求下图的补图。</a:t>
            </a:r>
            <a:endParaRPr lang="zh-CN" altLang="en-US" sz="2800" b="1" dirty="0">
              <a:solidFill>
                <a:schemeClr val="folHlink"/>
              </a:solidFill>
              <a:latin typeface="黑体" panose="02010609060101010101" pitchFamily="2" charset="-122"/>
            </a:endParaRPr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8"/>
    </p:custDataLst>
  </p:cSld>
  <p:clrMapOvr>
    <a:masterClrMapping/>
  </p:clrMapOvr>
  <p:transition advTm="1996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18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18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 bldLvl="2" build="p"/>
      <p:bldP spid="410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/>
              <a:t>相对补图</a:t>
            </a:r>
            <a:endParaRPr lang="zh-CN" altLang="en-US" sz="400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7" y="1341438"/>
            <a:ext cx="8820149" cy="1655762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buNone/>
            </a:pPr>
            <a:r>
              <a:rPr lang="zh-CN" altLang="en-US" dirty="0"/>
              <a:t>设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baseline="-25000" dirty="0"/>
              <a:t>1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&gt;</a:t>
            </a:r>
            <a:r>
              <a:rPr lang="zh-CN" altLang="en-US" dirty="0"/>
              <a:t>是图</a:t>
            </a:r>
            <a:r>
              <a:rPr lang="en-US" altLang="zh-CN" dirty="0"/>
              <a:t>G=&lt;</a:t>
            </a:r>
            <a:r>
              <a:rPr lang="en-US" altLang="zh-CN" i="1" dirty="0"/>
              <a:t>V,E&gt;</a:t>
            </a:r>
            <a:r>
              <a:rPr lang="zh-CN" altLang="en-US" dirty="0"/>
              <a:t>的子图</a:t>
            </a:r>
            <a:r>
              <a:rPr lang="en-US" altLang="zh-CN" dirty="0"/>
              <a:t>,</a:t>
            </a:r>
            <a:r>
              <a:rPr lang="en-US" altLang="zh-CN" i="1" dirty="0"/>
              <a:t> </a:t>
            </a:r>
            <a:r>
              <a:rPr lang="zh-CN" altLang="en-US" dirty="0"/>
              <a:t>令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>
                <a:sym typeface="Symbol" panose="05050102010706020507" pitchFamily="18" charset="2"/>
              </a:rPr>
              <a:t>=E- </a:t>
            </a:r>
            <a:r>
              <a:rPr lang="en-US" altLang="zh-CN" i="1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  <a:r>
              <a:rPr lang="zh-CN" altLang="en-US" dirty="0"/>
              <a:t>图</a:t>
            </a:r>
            <a:endParaRPr lang="en-US" altLang="zh-CN" dirty="0"/>
          </a:p>
          <a:p>
            <a:pPr eaLnBrk="1" hangingPunct="1">
              <a:spcBef>
                <a:spcPct val="20000"/>
              </a:spcBef>
              <a:buNone/>
            </a:pP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en-US" altLang="zh-CN" dirty="0"/>
              <a:t>=&lt;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en-US" altLang="zh-CN" dirty="0"/>
              <a:t>,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en-US" altLang="zh-CN" dirty="0"/>
              <a:t>&gt;=G[E</a:t>
            </a:r>
            <a:r>
              <a:rPr lang="en-US" altLang="zh-CN" baseline="-25000" dirty="0"/>
              <a:t>2</a:t>
            </a:r>
            <a:r>
              <a:rPr lang="en-US" altLang="zh-CN" dirty="0"/>
              <a:t>],</a:t>
            </a:r>
            <a:r>
              <a:rPr lang="zh-CN" altLang="en-US" dirty="0"/>
              <a:t>即</a:t>
            </a:r>
            <a:r>
              <a:rPr lang="en-US" altLang="zh-CN" i="1" dirty="0"/>
              <a:t>V</a:t>
            </a:r>
            <a:r>
              <a:rPr lang="en-US" altLang="zh-CN" baseline="-25000" dirty="0"/>
              <a:t>2</a:t>
            </a:r>
            <a:r>
              <a:rPr lang="zh-CN" altLang="en-US" dirty="0">
                <a:sym typeface="Symbol" panose="05050102010706020507" pitchFamily="18" charset="2"/>
              </a:rPr>
              <a:t>中仅包含</a:t>
            </a:r>
            <a:r>
              <a:rPr lang="en-US" altLang="zh-CN" i="1" dirty="0"/>
              <a:t>E</a:t>
            </a:r>
            <a:r>
              <a:rPr lang="en-US" altLang="zh-CN" baseline="-25000" dirty="0"/>
              <a:t>2</a:t>
            </a:r>
            <a:r>
              <a:rPr lang="zh-CN" altLang="en-US" dirty="0">
                <a:sym typeface="Symbol" panose="05050102010706020507" pitchFamily="18" charset="2"/>
              </a:rPr>
              <a:t>的边所关联的结点。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则称</a:t>
            </a:r>
            <a:r>
              <a:rPr lang="en-US" altLang="zh-CN" i="1" dirty="0"/>
              <a:t>G</a:t>
            </a:r>
            <a:r>
              <a:rPr lang="en-US" altLang="zh-CN" baseline="-25000" dirty="0"/>
              <a:t>2</a:t>
            </a:r>
            <a:r>
              <a:rPr lang="zh-CN" altLang="en-US" dirty="0">
                <a:sym typeface="Symbol" panose="05050102010706020507" pitchFamily="18" charset="2"/>
              </a:rPr>
              <a:t>是子图</a:t>
            </a:r>
            <a:r>
              <a:rPr lang="en-US" altLang="zh-CN" i="1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>
                <a:sym typeface="Symbol" panose="05050102010706020507" pitchFamily="18" charset="2"/>
              </a:rPr>
              <a:t>的相对于图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的补图。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622597" name="Text Box 5"/>
          <p:cNvSpPr txBox="1">
            <a:spLocks noChangeArrowheads="1"/>
          </p:cNvSpPr>
          <p:nvPr/>
        </p:nvSpPr>
        <p:spPr bwMode="auto">
          <a:xfrm>
            <a:off x="360362" y="5805488"/>
            <a:ext cx="8820150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)=(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)-(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 ，但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不是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相对于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的补图（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为什么</a:t>
            </a:r>
            <a:r>
              <a:rPr lang="zh-CN" altLang="en-US" sz="2800" b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）。</a:t>
            </a:r>
            <a:endParaRPr lang="zh-CN" altLang="en-US" sz="2800" b="1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611818" y="3068960"/>
            <a:ext cx="7488832" cy="2592288"/>
            <a:chOff x="323528" y="2996952"/>
            <a:chExt cx="7848872" cy="2864484"/>
          </a:xfrm>
        </p:grpSpPr>
        <p:pic>
          <p:nvPicPr>
            <p:cNvPr id="54281" name="Picture 8" descr="图7-1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323528" y="2996952"/>
              <a:ext cx="7848872" cy="28644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" name="Rectangle 2"/>
            <p:cNvSpPr/>
            <p:nvPr/>
          </p:nvSpPr>
          <p:spPr>
            <a:xfrm>
              <a:off x="6732240" y="4182946"/>
              <a:ext cx="792088" cy="576064"/>
            </a:xfrm>
            <a:prstGeom prst="rect">
              <a:avLst/>
            </a:prstGeom>
            <a:ln>
              <a:solidFill>
                <a:srgbClr val="FFFFFF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2"/>
    </p:custDataLst>
  </p:cSld>
  <p:clrMapOvr>
    <a:masterClrMapping/>
  </p:clrMapOvr>
  <p:transition advTm="34334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59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自补图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rgbClr val="FF0000"/>
                </a:solidFill>
              </a:rPr>
              <a:t>自补图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/>
              <a:t>其补图与自身同构</a:t>
            </a:r>
            <a:endParaRPr lang="zh-CN" altLang="en-US" dirty="0"/>
          </a:p>
          <a:p>
            <a:pPr eaLnBrk="1" hangingPunct="1">
              <a:spcBef>
                <a:spcPct val="10000"/>
              </a:spcBef>
            </a:pPr>
            <a:r>
              <a:rPr lang="zh-CN" altLang="en-US" dirty="0">
                <a:solidFill>
                  <a:schemeClr val="hlink"/>
                </a:solidFill>
              </a:rPr>
              <a:t>思考：</a:t>
            </a:r>
            <a:r>
              <a:rPr lang="zh-CN" altLang="en-US" dirty="0"/>
              <a:t>若</a:t>
            </a:r>
            <a:r>
              <a:rPr lang="en-US" altLang="zh-CN" dirty="0"/>
              <a:t>G</a:t>
            </a:r>
            <a:r>
              <a:rPr lang="zh-CN" altLang="en-US" dirty="0"/>
              <a:t>为自补图</a:t>
            </a:r>
            <a:r>
              <a:rPr lang="en-US" altLang="zh-CN" dirty="0"/>
              <a:t>,</a:t>
            </a:r>
            <a:r>
              <a:rPr lang="zh-CN" altLang="en-US" dirty="0"/>
              <a:t>则</a:t>
            </a:r>
            <a:r>
              <a:rPr lang="en-US" altLang="zh-CN" i="1" dirty="0"/>
              <a:t>n</a:t>
            </a:r>
            <a:r>
              <a:rPr lang="zh-CN" altLang="en-US" dirty="0"/>
              <a:t>应满足什么条件？（课后习题</a:t>
            </a:r>
            <a:r>
              <a:rPr lang="en-US" altLang="zh-CN" dirty="0"/>
              <a:t>7-11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grpSp>
        <p:nvGrpSpPr>
          <p:cNvPr id="31" name="Group 30"/>
          <p:cNvGrpSpPr/>
          <p:nvPr/>
        </p:nvGrpSpPr>
        <p:grpSpPr>
          <a:xfrm>
            <a:off x="594691" y="2780432"/>
            <a:ext cx="2705101" cy="2755468"/>
            <a:chOff x="20651" y="3068960"/>
            <a:chExt cx="2705101" cy="2755468"/>
          </a:xfrm>
        </p:grpSpPr>
        <p:grpSp>
          <p:nvGrpSpPr>
            <p:cNvPr id="4" name="Group 22"/>
            <p:cNvGrpSpPr/>
            <p:nvPr/>
          </p:nvGrpSpPr>
          <p:grpSpPr bwMode="auto">
            <a:xfrm>
              <a:off x="20651" y="3068960"/>
              <a:ext cx="2705101" cy="2290763"/>
              <a:chOff x="288" y="1310"/>
              <a:chExt cx="1704" cy="1443"/>
            </a:xfrm>
          </p:grpSpPr>
          <p:pic>
            <p:nvPicPr>
              <p:cNvPr id="5" name="Picture 5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7188" t="33333" r="64063" b="47917"/>
              <a:stretch>
                <a:fillRect/>
              </a:stretch>
            </p:blipFill>
            <p:spPr bwMode="auto">
              <a:xfrm>
                <a:off x="288" y="1466"/>
                <a:ext cx="1680" cy="1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6" name="Group 7"/>
              <p:cNvGrpSpPr/>
              <p:nvPr/>
            </p:nvGrpSpPr>
            <p:grpSpPr bwMode="auto">
              <a:xfrm>
                <a:off x="359" y="1310"/>
                <a:ext cx="1633" cy="1443"/>
                <a:chOff x="359" y="1152"/>
                <a:chExt cx="1633" cy="1443"/>
              </a:xfrm>
            </p:grpSpPr>
            <p:sp>
              <p:nvSpPr>
                <p:cNvPr id="7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839" y="1152"/>
                  <a:ext cx="31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59" y="1728"/>
                  <a:ext cx="31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80" y="2304"/>
                  <a:ext cx="31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392" y="2304"/>
                  <a:ext cx="31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680" y="1728"/>
                  <a:ext cx="312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8" name="TextBox 27"/>
            <p:cNvSpPr txBox="1"/>
            <p:nvPr/>
          </p:nvSpPr>
          <p:spPr>
            <a:xfrm>
              <a:off x="944314" y="5301208"/>
              <a:ext cx="6033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(</a:t>
              </a:r>
              <a:r>
                <a:rPr lang="en-US" sz="2800" i="1" dirty="0">
                  <a:latin typeface="+mn-lt"/>
                </a:rPr>
                <a:t>a</a:t>
              </a:r>
              <a:r>
                <a:rPr lang="en-US" sz="2800" dirty="0">
                  <a:latin typeface="+mn-lt"/>
                </a:rPr>
                <a:t>)</a:t>
              </a:r>
              <a:endParaRPr lang="en-US" sz="2800" dirty="0">
                <a:latin typeface="+mn-lt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500426" y="2853065"/>
            <a:ext cx="3124200" cy="2683460"/>
            <a:chOff x="2928926" y="3140968"/>
            <a:chExt cx="3124200" cy="2683460"/>
          </a:xfrm>
        </p:grpSpPr>
        <p:grpSp>
          <p:nvGrpSpPr>
            <p:cNvPr id="12" name="Group 21"/>
            <p:cNvGrpSpPr/>
            <p:nvPr/>
          </p:nvGrpSpPr>
          <p:grpSpPr bwMode="auto">
            <a:xfrm>
              <a:off x="2928926" y="3140968"/>
              <a:ext cx="3124200" cy="2454275"/>
              <a:chOff x="2976" y="1249"/>
              <a:chExt cx="1968" cy="1546"/>
            </a:xfrm>
          </p:grpSpPr>
          <p:pic>
            <p:nvPicPr>
              <p:cNvPr id="13" name="Picture 6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48438" t="32292" r="29688" b="44791"/>
              <a:stretch>
                <a:fillRect/>
              </a:stretch>
            </p:blipFill>
            <p:spPr bwMode="auto">
              <a:xfrm>
                <a:off x="2976" y="1249"/>
                <a:ext cx="1968" cy="15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14" name="Group 13"/>
              <p:cNvGrpSpPr/>
              <p:nvPr/>
            </p:nvGrpSpPr>
            <p:grpSpPr bwMode="auto">
              <a:xfrm>
                <a:off x="3070" y="1249"/>
                <a:ext cx="1608" cy="1440"/>
                <a:chOff x="359" y="1152"/>
                <a:chExt cx="1608" cy="1440"/>
              </a:xfrm>
            </p:grpSpPr>
            <p:sp>
              <p:nvSpPr>
                <p:cNvPr id="15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839" y="1152"/>
                  <a:ext cx="28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359" y="1728"/>
                  <a:ext cx="28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7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480" y="2304"/>
                  <a:ext cx="28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8" name="Text Box 17"/>
                <p:cNvSpPr txBox="1">
                  <a:spLocks noChangeArrowheads="1"/>
                </p:cNvSpPr>
                <p:nvPr/>
              </p:nvSpPr>
              <p:spPr bwMode="auto">
                <a:xfrm>
                  <a:off x="1392" y="2304"/>
                  <a:ext cx="28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9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1680" y="1728"/>
                  <a:ext cx="287" cy="2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b="1" baseline="-250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9" name="TextBox 28"/>
            <p:cNvSpPr txBox="1"/>
            <p:nvPr/>
          </p:nvSpPr>
          <p:spPr>
            <a:xfrm>
              <a:off x="3752626" y="5301208"/>
              <a:ext cx="6033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(</a:t>
              </a:r>
              <a:r>
                <a:rPr lang="en-US" sz="2800" i="1" dirty="0">
                  <a:latin typeface="+mn-lt"/>
                </a:rPr>
                <a:t>b</a:t>
              </a:r>
              <a:r>
                <a:rPr lang="en-US" sz="2800" dirty="0">
                  <a:latin typeface="+mn-lt"/>
                </a:rPr>
                <a:t>)</a:t>
              </a:r>
              <a:endParaRPr lang="en-US" sz="2800" dirty="0">
                <a:latin typeface="+mn-lt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6276987" y="2749307"/>
            <a:ext cx="2668588" cy="2741975"/>
            <a:chOff x="6286512" y="3082453"/>
            <a:chExt cx="2668588" cy="2741975"/>
          </a:xfrm>
        </p:grpSpPr>
        <p:grpSp>
          <p:nvGrpSpPr>
            <p:cNvPr id="20" name="Group 22"/>
            <p:cNvGrpSpPr/>
            <p:nvPr/>
          </p:nvGrpSpPr>
          <p:grpSpPr bwMode="auto">
            <a:xfrm>
              <a:off x="6286512" y="3082453"/>
              <a:ext cx="2668588" cy="2290763"/>
              <a:chOff x="288" y="1310"/>
              <a:chExt cx="1681" cy="1443"/>
            </a:xfrm>
          </p:grpSpPr>
          <p:pic>
            <p:nvPicPr>
              <p:cNvPr id="21" name="Picture 5"/>
              <p:cNvPicPr>
                <a:picLocks noChangeAspect="1" noChangeArrowheads="1"/>
              </p:cNvPicPr>
              <p:nvPr/>
            </p:nvPicPr>
            <p:blipFill>
              <a:blip r:embed="rId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7188" t="33333" r="64063" b="47917"/>
              <a:stretch>
                <a:fillRect/>
              </a:stretch>
            </p:blipFill>
            <p:spPr bwMode="auto">
              <a:xfrm>
                <a:off x="288" y="1466"/>
                <a:ext cx="1680" cy="12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2" name="Group 7"/>
              <p:cNvGrpSpPr/>
              <p:nvPr/>
            </p:nvGrpSpPr>
            <p:grpSpPr bwMode="auto">
              <a:xfrm>
                <a:off x="359" y="1310"/>
                <a:ext cx="1610" cy="1443"/>
                <a:chOff x="359" y="1152"/>
                <a:chExt cx="1610" cy="1443"/>
              </a:xfrm>
            </p:grpSpPr>
            <p:sp>
              <p:nvSpPr>
                <p:cNvPr id="23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839" y="1152"/>
                  <a:ext cx="28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359" y="1728"/>
                  <a:ext cx="28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3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5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480" y="2304"/>
                  <a:ext cx="28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5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1392" y="2304"/>
                  <a:ext cx="28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2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7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1680" y="1728"/>
                  <a:ext cx="289" cy="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 wrap="none">
                  <a:spAutoFit/>
                </a:bodyPr>
                <a:lstStyle/>
                <a:p>
                  <a:r>
                    <a:rPr lang="en-US" altLang="zh-CN" sz="2400" b="1" i="1" dirty="0">
                      <a:latin typeface="Times New Roman" panose="02020603050405020304" pitchFamily="18" charset="0"/>
                    </a:rPr>
                    <a:t>u</a:t>
                  </a:r>
                  <a:r>
                    <a:rPr lang="en-US" altLang="zh-CN" sz="2400" b="1" baseline="-25000" dirty="0">
                      <a:latin typeface="Times New Roman" panose="02020603050405020304" pitchFamily="18" charset="0"/>
                    </a:rPr>
                    <a:t>4</a:t>
                  </a:r>
                  <a:endParaRPr lang="en-US" altLang="zh-CN" sz="2400" b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0" name="TextBox 29"/>
            <p:cNvSpPr txBox="1"/>
            <p:nvPr/>
          </p:nvSpPr>
          <p:spPr>
            <a:xfrm>
              <a:off x="7281018" y="5301208"/>
              <a:ext cx="6033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+mn-lt"/>
                </a:rPr>
                <a:t>(</a:t>
              </a:r>
              <a:r>
                <a:rPr lang="en-US" sz="2800" i="1" dirty="0">
                  <a:latin typeface="+mn-lt"/>
                </a:rPr>
                <a:t>c</a:t>
              </a:r>
              <a:r>
                <a:rPr lang="en-US" sz="2800" dirty="0">
                  <a:latin typeface="+mn-lt"/>
                </a:rPr>
                <a:t>)</a:t>
              </a:r>
              <a:endParaRPr lang="en-US" sz="2800" dirty="0">
                <a:latin typeface="+mn-lt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07504" y="5589240"/>
            <a:ext cx="89027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+mn-lt"/>
              </a:rPr>
              <a:t>显然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b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是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a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的补图</a:t>
            </a:r>
            <a:r>
              <a:rPr lang="en-US" altLang="zh-CN" sz="2800" b="1" dirty="0">
                <a:latin typeface="+mn-lt"/>
              </a:rPr>
              <a:t>,</a:t>
            </a:r>
            <a:r>
              <a:rPr lang="zh-CN" altLang="en-US" sz="2800" b="1" dirty="0">
                <a:latin typeface="+mn-lt"/>
              </a:rPr>
              <a:t>而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a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与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b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、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c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同构</a:t>
            </a:r>
            <a:r>
              <a:rPr lang="en-US" altLang="zh-CN" sz="2800" b="1" dirty="0">
                <a:latin typeface="+mn-lt"/>
              </a:rPr>
              <a:t>,</a:t>
            </a:r>
            <a:r>
              <a:rPr lang="zh-CN" altLang="en-US" sz="2800" b="1" dirty="0">
                <a:latin typeface="+mn-lt"/>
              </a:rPr>
              <a:t>所以</a:t>
            </a:r>
            <a:r>
              <a:rPr lang="en-US" altLang="zh-CN" sz="2800" b="1" dirty="0">
                <a:latin typeface="+mn-lt"/>
              </a:rPr>
              <a:t>(</a:t>
            </a:r>
            <a:r>
              <a:rPr lang="en-US" altLang="zh-CN" sz="2800" b="1" i="1" dirty="0">
                <a:latin typeface="+mn-lt"/>
              </a:rPr>
              <a:t>a</a:t>
            </a:r>
            <a:r>
              <a:rPr lang="en-US" altLang="zh-CN" sz="2800" b="1" dirty="0">
                <a:latin typeface="+mn-lt"/>
              </a:rPr>
              <a:t>)</a:t>
            </a:r>
            <a:r>
              <a:rPr lang="zh-CN" altLang="en-US" sz="2800" b="1" dirty="0">
                <a:latin typeface="+mn-lt"/>
              </a:rPr>
              <a:t>是自补图</a:t>
            </a:r>
            <a:endParaRPr lang="en-US" sz="2800" b="1" dirty="0">
              <a:latin typeface="+mn-lt"/>
            </a:endParaRPr>
          </a:p>
        </p:txBody>
      </p:sp>
      <p:sp>
        <p:nvSpPr>
          <p:cNvPr id="36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2"/>
    </p:custDataLst>
  </p:cSld>
  <p:clrMapOvr>
    <a:masterClrMapping/>
  </p:clrMapOvr>
  <p:transition advTm="452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图运算</a:t>
            </a:r>
            <a:r>
              <a:rPr lang="en-US" altLang="zh-CN" dirty="0"/>
              <a:t>I</a:t>
            </a:r>
            <a:endParaRPr lang="zh-CN" alt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322388"/>
            <a:ext cx="9144000" cy="53467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hlink"/>
                </a:solidFill>
              </a:rPr>
              <a:t>定义</a:t>
            </a:r>
            <a:r>
              <a:rPr lang="zh-CN" altLang="en-US" sz="2400" dirty="0">
                <a:solidFill>
                  <a:schemeClr val="tx1"/>
                </a:solidFill>
              </a:rPr>
              <a:t>：</a:t>
            </a:r>
            <a:r>
              <a:rPr lang="zh-CN" altLang="en-US" sz="2400" dirty="0"/>
              <a:t>设</a:t>
            </a:r>
            <a:r>
              <a:rPr lang="en-US" altLang="zh-CN" sz="2400" i="1" dirty="0"/>
              <a:t>G</a:t>
            </a:r>
            <a:r>
              <a:rPr lang="zh-CN" altLang="en-US" sz="2400" dirty="0"/>
              <a:t>＝</a:t>
            </a:r>
            <a:r>
              <a:rPr lang="en-US" altLang="zh-CN" sz="2400" dirty="0"/>
              <a:t>&lt;</a:t>
            </a:r>
            <a:r>
              <a:rPr lang="en-US" altLang="zh-CN" sz="2400" i="1" dirty="0"/>
              <a:t>V</a:t>
            </a:r>
            <a:r>
              <a:rPr lang="en-US" altLang="zh-CN" sz="2400" dirty="0"/>
              <a:t>,</a:t>
            </a:r>
            <a:r>
              <a:rPr lang="en-US" altLang="zh-CN" sz="2400" i="1" dirty="0"/>
              <a:t>E</a:t>
            </a:r>
            <a:r>
              <a:rPr lang="en-US" altLang="zh-CN" sz="2400" dirty="0"/>
              <a:t>&gt;</a:t>
            </a:r>
            <a:r>
              <a:rPr lang="zh-CN" altLang="en-US" sz="2400" dirty="0"/>
              <a:t>为无向图。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(1)</a:t>
            </a:r>
            <a:r>
              <a:rPr lang="zh-CN" altLang="en-US" sz="2400" dirty="0"/>
              <a:t>设</a:t>
            </a:r>
            <a:r>
              <a:rPr lang="en-US" altLang="zh-CN" sz="2400" i="1" dirty="0" err="1"/>
              <a:t>e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E</a:t>
            </a:r>
            <a:r>
              <a:rPr lang="zh-CN" altLang="en-US" sz="2400" dirty="0"/>
              <a:t>，用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-</a:t>
            </a:r>
            <a:r>
              <a:rPr lang="en-US" altLang="zh-CN" sz="2400" i="1" dirty="0">
                <a:solidFill>
                  <a:schemeClr val="hlink"/>
                </a:solidFill>
              </a:rPr>
              <a:t>e</a:t>
            </a:r>
            <a:r>
              <a:rPr lang="zh-CN" altLang="en-US" sz="2400" dirty="0"/>
              <a:t>表示从</a:t>
            </a:r>
            <a:r>
              <a:rPr lang="en-US" altLang="zh-CN" sz="2400" dirty="0"/>
              <a:t>G</a:t>
            </a:r>
            <a:r>
              <a:rPr lang="zh-CN" altLang="en-US" sz="2400" dirty="0"/>
              <a:t>中去掉边</a:t>
            </a:r>
            <a:r>
              <a:rPr lang="en-US" altLang="zh-CN" sz="2400" i="1" dirty="0"/>
              <a:t>e</a:t>
            </a:r>
            <a:r>
              <a:rPr lang="zh-CN" altLang="en-US" sz="2400" dirty="0"/>
              <a:t>，称为</a:t>
            </a:r>
            <a:r>
              <a:rPr lang="zh-CN" altLang="en-US" sz="2400" dirty="0">
                <a:solidFill>
                  <a:schemeClr val="hlink"/>
                </a:solidFill>
              </a:rPr>
              <a:t>删除</a:t>
            </a:r>
            <a:r>
              <a:rPr lang="en-US" altLang="zh-CN" sz="2400" i="1" dirty="0">
                <a:solidFill>
                  <a:schemeClr val="hlink"/>
                </a:solidFill>
              </a:rPr>
              <a:t>e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	设</a:t>
            </a:r>
            <a:r>
              <a:rPr lang="en-US" altLang="zh-CN" sz="2400" i="1" dirty="0"/>
              <a:t>E </a:t>
            </a:r>
            <a:r>
              <a:rPr lang="en-US" altLang="zh-CN" sz="2400" dirty="0">
                <a:sym typeface="Symbol" panose="05050102010706020507" pitchFamily="18" charset="2"/>
              </a:rPr>
              <a:t></a:t>
            </a:r>
            <a:r>
              <a:rPr lang="en-US" altLang="zh-CN" sz="2400" i="1" dirty="0"/>
              <a:t>E</a:t>
            </a:r>
            <a:r>
              <a:rPr lang="zh-CN" altLang="en-US" sz="2400" dirty="0"/>
              <a:t>，用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-</a:t>
            </a:r>
            <a:r>
              <a:rPr lang="en-US" altLang="zh-CN" sz="2400" i="1" dirty="0">
                <a:solidFill>
                  <a:schemeClr val="hlink"/>
                </a:solidFill>
              </a:rPr>
              <a:t>E </a:t>
            </a:r>
            <a:r>
              <a:rPr lang="en-US" altLang="zh-CN" sz="2400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表示从</a:t>
            </a:r>
            <a:r>
              <a:rPr lang="en-US" altLang="zh-CN" sz="2400" i="1" dirty="0"/>
              <a:t>G</a:t>
            </a:r>
            <a:r>
              <a:rPr lang="zh-CN" altLang="en-US" sz="2400" dirty="0"/>
              <a:t>中删除</a:t>
            </a:r>
            <a:r>
              <a:rPr lang="en-US" altLang="zh-CN" sz="2400" i="1" dirty="0"/>
              <a:t>E 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中所有的边，称为</a:t>
            </a:r>
            <a:r>
              <a:rPr lang="zh-CN" altLang="en-US" sz="2400" dirty="0">
                <a:solidFill>
                  <a:schemeClr val="hlink"/>
                </a:solidFill>
              </a:rPr>
              <a:t>删除</a:t>
            </a:r>
            <a:r>
              <a:rPr lang="en-US" altLang="zh-CN" sz="2400" i="1" dirty="0">
                <a:solidFill>
                  <a:schemeClr val="hlink"/>
                </a:solidFill>
              </a:rPr>
              <a:t>E </a:t>
            </a:r>
            <a:r>
              <a:rPr lang="en-US" altLang="zh-CN" sz="2400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(2)</a:t>
            </a:r>
            <a:r>
              <a:rPr lang="zh-CN" altLang="en-US" sz="2400" dirty="0"/>
              <a:t>设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V</a:t>
            </a:r>
            <a:r>
              <a:rPr lang="zh-CN" altLang="en-US" sz="2400" dirty="0"/>
              <a:t>，用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-</a:t>
            </a:r>
            <a:r>
              <a:rPr lang="en-US" altLang="zh-CN" sz="2400" i="1" dirty="0">
                <a:solidFill>
                  <a:schemeClr val="hlink"/>
                </a:solidFill>
              </a:rPr>
              <a:t>v</a:t>
            </a:r>
            <a:r>
              <a:rPr lang="zh-CN" altLang="en-US" sz="2400" dirty="0"/>
              <a:t>表示从</a:t>
            </a:r>
            <a:r>
              <a:rPr lang="en-US" altLang="zh-CN" sz="2400" i="1" dirty="0"/>
              <a:t>G</a:t>
            </a:r>
            <a:r>
              <a:rPr lang="zh-CN" altLang="en-US" sz="2400" dirty="0"/>
              <a:t>中去掉</a:t>
            </a:r>
            <a:r>
              <a:rPr lang="en-US" altLang="zh-CN" sz="2400" i="1" dirty="0"/>
              <a:t>v</a:t>
            </a:r>
            <a:r>
              <a:rPr lang="zh-CN" altLang="en-US" sz="2400" dirty="0"/>
              <a:t>及所关联的一切边，称为</a:t>
            </a:r>
            <a:r>
              <a:rPr lang="zh-CN" altLang="en-US" sz="2400" dirty="0">
                <a:solidFill>
                  <a:schemeClr val="hlink"/>
                </a:solidFill>
              </a:rPr>
              <a:t>删除顶点</a:t>
            </a:r>
            <a:r>
              <a:rPr lang="en-US" altLang="zh-CN" sz="2400" i="1" dirty="0">
                <a:solidFill>
                  <a:schemeClr val="hlink"/>
                </a:solidFill>
              </a:rPr>
              <a:t>v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/>
              <a:t>	设</a:t>
            </a:r>
            <a:r>
              <a:rPr lang="en-US" altLang="zh-CN" sz="2400" i="1" dirty="0"/>
              <a:t>V </a:t>
            </a:r>
            <a:r>
              <a:rPr lang="en-US" altLang="zh-CN" sz="2400" dirty="0">
                <a:sym typeface="Symbol" panose="05050102010706020507" pitchFamily="18" charset="2"/>
              </a:rPr>
              <a:t></a:t>
            </a:r>
            <a:r>
              <a:rPr lang="en-US" altLang="zh-CN" sz="2400" i="1" dirty="0"/>
              <a:t>V</a:t>
            </a:r>
            <a:r>
              <a:rPr lang="zh-CN" altLang="en-US" sz="2400" dirty="0"/>
              <a:t>，用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-</a:t>
            </a:r>
            <a:r>
              <a:rPr lang="en-US" altLang="zh-CN" sz="2400" i="1" dirty="0">
                <a:solidFill>
                  <a:schemeClr val="hlink"/>
                </a:solidFill>
              </a:rPr>
              <a:t>V </a:t>
            </a:r>
            <a:r>
              <a:rPr lang="en-US" altLang="zh-CN" sz="2400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表示从</a:t>
            </a:r>
            <a:r>
              <a:rPr lang="en-US" altLang="zh-CN" sz="2400" i="1" dirty="0"/>
              <a:t>G</a:t>
            </a:r>
            <a:r>
              <a:rPr lang="zh-CN" altLang="en-US" sz="2400" dirty="0"/>
              <a:t>中删除</a:t>
            </a:r>
            <a:r>
              <a:rPr lang="en-US" altLang="zh-CN" sz="2400" i="1" dirty="0"/>
              <a:t>V </a:t>
            </a:r>
            <a:r>
              <a:rPr lang="en-US" altLang="zh-CN" sz="2400" dirty="0"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中所有顶点，称为</a:t>
            </a:r>
            <a:r>
              <a:rPr lang="zh-CN" altLang="en-US" sz="2400" dirty="0">
                <a:solidFill>
                  <a:schemeClr val="hlink"/>
                </a:solidFill>
              </a:rPr>
              <a:t>删除</a:t>
            </a:r>
            <a:r>
              <a:rPr lang="en-US" altLang="zh-CN" sz="2400" i="1" dirty="0">
                <a:solidFill>
                  <a:schemeClr val="hlink"/>
                </a:solidFill>
              </a:rPr>
              <a:t>V </a:t>
            </a:r>
            <a:r>
              <a:rPr lang="en-US" altLang="zh-CN" sz="2400" dirty="0">
                <a:solidFill>
                  <a:schemeClr val="hlink"/>
                </a:solidFill>
                <a:sym typeface="Symbol" panose="05050102010706020507" pitchFamily="18" charset="2"/>
              </a:rPr>
              <a:t>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设边</a:t>
            </a:r>
            <a:r>
              <a:rPr lang="en-US" altLang="zh-CN" sz="2400" i="1" dirty="0"/>
              <a:t>e</a:t>
            </a:r>
            <a:r>
              <a:rPr lang="zh-CN" altLang="en-US" sz="2400" dirty="0"/>
              <a:t>＝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en-US" altLang="zh-CN" sz="2400" dirty="0"/>
              <a:t>)∈</a:t>
            </a:r>
            <a:r>
              <a:rPr lang="en-US" altLang="zh-CN" sz="2400" i="1" dirty="0"/>
              <a:t>E</a:t>
            </a:r>
            <a:r>
              <a:rPr lang="en-US" altLang="zh-CN" sz="2400" dirty="0"/>
              <a:t>, </a:t>
            </a:r>
            <a:r>
              <a:rPr lang="zh-CN" altLang="en-US" sz="2400" dirty="0"/>
              <a:t>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\</a:t>
            </a:r>
            <a:r>
              <a:rPr lang="en-US" altLang="zh-CN" sz="2400" i="1" dirty="0">
                <a:solidFill>
                  <a:schemeClr val="hlink"/>
                </a:solidFill>
              </a:rPr>
              <a:t>e</a:t>
            </a:r>
            <a:r>
              <a:rPr lang="zh-CN" altLang="en-US" sz="2400" dirty="0"/>
              <a:t>表示从</a:t>
            </a:r>
            <a:r>
              <a:rPr lang="en-US" altLang="zh-CN" sz="2400" i="1" dirty="0"/>
              <a:t>G</a:t>
            </a:r>
            <a:r>
              <a:rPr lang="zh-CN" altLang="en-US" sz="2400" dirty="0"/>
              <a:t>中删除</a:t>
            </a:r>
            <a:r>
              <a:rPr lang="en-US" altLang="zh-CN" sz="2400" i="1" dirty="0"/>
              <a:t>e</a:t>
            </a:r>
            <a:r>
              <a:rPr lang="zh-CN" altLang="en-US" sz="2400" dirty="0"/>
              <a:t>后</a:t>
            </a:r>
            <a:r>
              <a:rPr lang="en-US" altLang="zh-CN" sz="2400" dirty="0"/>
              <a:t>, </a:t>
            </a:r>
            <a:r>
              <a:rPr lang="zh-CN" altLang="en-US" sz="2400" dirty="0"/>
              <a:t>将</a:t>
            </a:r>
            <a:r>
              <a:rPr lang="en-US" altLang="zh-CN" sz="2400" i="1" dirty="0"/>
              <a:t>e</a:t>
            </a:r>
            <a:r>
              <a:rPr lang="zh-CN" altLang="en-US" sz="2400" dirty="0"/>
              <a:t>的两个端点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zh-CN" altLang="en-US" sz="2400" dirty="0"/>
              <a:t>用一个新的顶点</a:t>
            </a:r>
            <a:r>
              <a:rPr lang="en-US" altLang="zh-CN" sz="2400" i="1" dirty="0"/>
              <a:t>w</a:t>
            </a:r>
            <a:r>
              <a:rPr lang="en-US" altLang="zh-CN" sz="2400" dirty="0"/>
              <a:t>(</a:t>
            </a:r>
            <a:r>
              <a:rPr lang="zh-CN" altLang="en-US" sz="2400" dirty="0"/>
              <a:t>或用</a:t>
            </a:r>
            <a:r>
              <a:rPr lang="en-US" altLang="zh-CN" sz="2400" i="1" dirty="0"/>
              <a:t>u</a:t>
            </a:r>
            <a:r>
              <a:rPr lang="zh-CN" altLang="en-US" sz="2400" dirty="0"/>
              <a:t>或</a:t>
            </a:r>
            <a:r>
              <a:rPr lang="en-US" altLang="zh-CN" sz="2400" i="1" dirty="0"/>
              <a:t>v</a:t>
            </a:r>
            <a:r>
              <a:rPr lang="zh-CN" altLang="en-US" sz="2400" dirty="0"/>
              <a:t>充当</a:t>
            </a:r>
            <a:r>
              <a:rPr lang="en-US" altLang="zh-CN" sz="2400" i="1" dirty="0"/>
              <a:t>w</a:t>
            </a:r>
            <a:r>
              <a:rPr lang="en-US" altLang="zh-CN" sz="2400" dirty="0"/>
              <a:t>)</a:t>
            </a:r>
            <a:r>
              <a:rPr lang="zh-CN" altLang="en-US" sz="2400" dirty="0"/>
              <a:t>代替</a:t>
            </a:r>
            <a:r>
              <a:rPr lang="en-US" altLang="zh-CN" sz="2400" dirty="0"/>
              <a:t>, </a:t>
            </a:r>
            <a:r>
              <a:rPr lang="zh-CN" altLang="en-US" sz="2400" dirty="0"/>
              <a:t>使</a:t>
            </a:r>
            <a:r>
              <a:rPr lang="en-US" altLang="zh-CN" sz="2400" i="1" dirty="0"/>
              <a:t>w</a:t>
            </a:r>
            <a:r>
              <a:rPr lang="zh-CN" altLang="en-US" sz="2400" dirty="0"/>
              <a:t>关联除</a:t>
            </a:r>
            <a:r>
              <a:rPr lang="en-US" altLang="zh-CN" sz="2400" i="1" dirty="0"/>
              <a:t>e</a:t>
            </a:r>
            <a:r>
              <a:rPr lang="zh-CN" altLang="en-US" sz="2400" dirty="0"/>
              <a:t>外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zh-CN" altLang="en-US" sz="2400" dirty="0"/>
              <a:t>关联的所有边</a:t>
            </a:r>
            <a:r>
              <a:rPr lang="en-US" altLang="zh-CN" sz="2400" dirty="0"/>
              <a:t>, </a:t>
            </a:r>
            <a:r>
              <a:rPr lang="zh-CN" altLang="en-US" sz="2400" dirty="0"/>
              <a:t>称为</a:t>
            </a:r>
            <a:r>
              <a:rPr lang="zh-CN" altLang="en-US" sz="2400" dirty="0">
                <a:solidFill>
                  <a:schemeClr val="hlink"/>
                </a:solidFill>
              </a:rPr>
              <a:t>边</a:t>
            </a:r>
            <a:r>
              <a:rPr lang="en-US" altLang="zh-CN" sz="2400" i="1" dirty="0">
                <a:solidFill>
                  <a:schemeClr val="hlink"/>
                </a:solidFill>
              </a:rPr>
              <a:t>e</a:t>
            </a:r>
            <a:r>
              <a:rPr lang="zh-CN" altLang="en-US" sz="2400" dirty="0">
                <a:solidFill>
                  <a:schemeClr val="hlink"/>
                </a:solidFill>
              </a:rPr>
              <a:t>的收缩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/>
              <a:t>(4)</a:t>
            </a:r>
            <a:r>
              <a:rPr lang="zh-CN" altLang="en-US" sz="2400" dirty="0"/>
              <a:t>设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en-US" altLang="zh-CN" sz="2400" dirty="0" err="1"/>
              <a:t>∈</a:t>
            </a:r>
            <a:r>
              <a:rPr lang="en-US" altLang="zh-CN" sz="2400" i="1" dirty="0" err="1"/>
              <a:t>V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zh-CN" altLang="en-US" sz="2400" dirty="0"/>
              <a:t>可能相邻</a:t>
            </a:r>
            <a:r>
              <a:rPr lang="en-US" altLang="zh-CN" sz="2400" dirty="0"/>
              <a:t>, </a:t>
            </a:r>
            <a:r>
              <a:rPr lang="zh-CN" altLang="en-US" sz="2400" dirty="0"/>
              <a:t>也可能不相邻</a:t>
            </a:r>
            <a:r>
              <a:rPr lang="en-US" altLang="zh-CN" sz="2400" dirty="0"/>
              <a:t>), </a:t>
            </a:r>
            <a:r>
              <a:rPr lang="zh-CN" altLang="en-US" sz="2400" dirty="0"/>
              <a:t>用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∪(</a:t>
            </a:r>
            <a:r>
              <a:rPr lang="en-US" altLang="zh-CN" sz="2400" i="1" dirty="0" err="1">
                <a:solidFill>
                  <a:schemeClr val="hlink"/>
                </a:solidFill>
              </a:rPr>
              <a:t>u</a:t>
            </a:r>
            <a:r>
              <a:rPr lang="en-US" altLang="zh-CN" sz="2400" dirty="0" err="1">
                <a:solidFill>
                  <a:schemeClr val="hlink"/>
                </a:solidFill>
              </a:rPr>
              <a:t>,</a:t>
            </a:r>
            <a:r>
              <a:rPr lang="en-US" altLang="zh-CN" sz="2400" i="1" dirty="0" err="1">
                <a:solidFill>
                  <a:schemeClr val="hlink"/>
                </a:solidFill>
              </a:rPr>
              <a:t>v</a:t>
            </a:r>
            <a:r>
              <a:rPr lang="en-US" altLang="zh-CN" sz="2400" dirty="0">
                <a:solidFill>
                  <a:schemeClr val="hlink"/>
                </a:solidFill>
              </a:rPr>
              <a:t>)(</a:t>
            </a:r>
            <a:r>
              <a:rPr lang="zh-CN" altLang="en-US" sz="2400" dirty="0"/>
              <a:t>或</a:t>
            </a:r>
            <a:r>
              <a:rPr lang="en-US" altLang="zh-CN" sz="2400" i="1" dirty="0">
                <a:solidFill>
                  <a:schemeClr val="hlink"/>
                </a:solidFill>
              </a:rPr>
              <a:t>G</a:t>
            </a:r>
            <a:r>
              <a:rPr lang="en-US" altLang="zh-CN" sz="2400" dirty="0">
                <a:solidFill>
                  <a:schemeClr val="hlink"/>
                </a:solidFill>
              </a:rPr>
              <a:t>+(</a:t>
            </a:r>
            <a:r>
              <a:rPr lang="en-US" altLang="zh-CN" sz="2400" i="1" dirty="0" err="1">
                <a:solidFill>
                  <a:schemeClr val="hlink"/>
                </a:solidFill>
              </a:rPr>
              <a:t>u</a:t>
            </a:r>
            <a:r>
              <a:rPr lang="en-US" altLang="zh-CN" sz="2400" dirty="0" err="1">
                <a:solidFill>
                  <a:schemeClr val="hlink"/>
                </a:solidFill>
              </a:rPr>
              <a:t>,</a:t>
            </a:r>
            <a:r>
              <a:rPr lang="en-US" altLang="zh-CN" sz="2400" i="1" dirty="0" err="1">
                <a:solidFill>
                  <a:schemeClr val="hlink"/>
                </a:solidFill>
              </a:rPr>
              <a:t>v</a:t>
            </a:r>
            <a:r>
              <a:rPr lang="en-US" altLang="zh-CN" sz="2400" dirty="0">
                <a:solidFill>
                  <a:schemeClr val="hlink"/>
                </a:solidFill>
              </a:rPr>
              <a:t>)</a:t>
            </a:r>
            <a:r>
              <a:rPr lang="en-US" altLang="zh-CN" sz="2400" dirty="0"/>
              <a:t>)</a:t>
            </a:r>
            <a:r>
              <a:rPr lang="zh-CN" altLang="en-US" sz="2400" dirty="0"/>
              <a:t>表示在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zh-CN" altLang="en-US" sz="2400" dirty="0"/>
              <a:t>之间加一条边</a:t>
            </a:r>
            <a:r>
              <a:rPr lang="en-US" altLang="zh-CN" sz="2400" dirty="0"/>
              <a:t>(</a:t>
            </a:r>
            <a:r>
              <a:rPr lang="en-US" altLang="zh-CN" sz="2400" i="1" dirty="0" err="1"/>
              <a:t>u</a:t>
            </a:r>
            <a:r>
              <a:rPr lang="en-US" altLang="zh-CN" sz="2400" dirty="0" err="1"/>
              <a:t>,</a:t>
            </a:r>
            <a:r>
              <a:rPr lang="en-US" altLang="zh-CN" sz="2400" i="1" dirty="0" err="1"/>
              <a:t>v</a:t>
            </a:r>
            <a:r>
              <a:rPr lang="en-US" altLang="zh-CN" sz="2400" dirty="0"/>
              <a:t>), </a:t>
            </a:r>
            <a:r>
              <a:rPr lang="zh-CN" altLang="en-US" sz="2400" dirty="0"/>
              <a:t>称为</a:t>
            </a:r>
            <a:r>
              <a:rPr lang="zh-CN" altLang="en-US" sz="2400" dirty="0">
                <a:solidFill>
                  <a:schemeClr val="hlink"/>
                </a:solidFill>
              </a:rPr>
              <a:t>加新边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hlink"/>
                </a:solidFill>
              </a:rPr>
              <a:t>说明</a:t>
            </a:r>
            <a:r>
              <a:rPr lang="zh-CN" altLang="en-US" sz="2400" dirty="0"/>
              <a:t>：</a:t>
            </a:r>
            <a:r>
              <a:rPr lang="zh-CN" altLang="en-US" sz="2400" dirty="0"/>
              <a:t>在收缩边和加新边过程中可能产生环和平行边。</a:t>
            </a:r>
            <a:endParaRPr lang="zh-CN" altLang="en-US" sz="2400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1"/>
    </p:custDataLst>
  </p:cSld>
  <p:clrMapOvr>
    <a:masterClrMapping/>
  </p:clrMapOvr>
  <p:transition advTm="61978">
    <p:wipe dir="r"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7" name="Rectangle 7"/>
          <p:cNvSpPr>
            <a:spLocks noGrp="1" noChangeArrowheads="1"/>
          </p:cNvSpPr>
          <p:nvPr>
            <p:ph type="title"/>
          </p:nvPr>
        </p:nvSpPr>
        <p:spPr>
          <a:xfrm>
            <a:off x="1150938" y="70073"/>
            <a:ext cx="7793037" cy="982663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dirty="0"/>
              <a:t>图运算举例</a:t>
            </a:r>
            <a:endParaRPr lang="zh-CN" altLang="en-US" sz="4000" dirty="0"/>
          </a:p>
        </p:txBody>
      </p:sp>
      <p:grpSp>
        <p:nvGrpSpPr>
          <p:cNvPr id="2" name="Group 1"/>
          <p:cNvGrpSpPr/>
          <p:nvPr/>
        </p:nvGrpSpPr>
        <p:grpSpPr>
          <a:xfrm>
            <a:off x="271145" y="1278821"/>
            <a:ext cx="2808288" cy="2808287"/>
            <a:chOff x="250825" y="1052761"/>
            <a:chExt cx="2808288" cy="2808287"/>
          </a:xfrm>
        </p:grpSpPr>
        <p:pic>
          <p:nvPicPr>
            <p:cNvPr id="640008" name="Picture 8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24000" contrast="-6000"/>
            </a:blip>
            <a:srcRect r="66667" b="50000"/>
            <a:stretch>
              <a:fillRect/>
            </a:stretch>
          </p:blipFill>
          <p:spPr bwMode="auto">
            <a:xfrm>
              <a:off x="250825" y="1052761"/>
              <a:ext cx="2808288" cy="2808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09" name="Text Box 9"/>
            <p:cNvSpPr txBox="1">
              <a:spLocks noChangeArrowheads="1"/>
            </p:cNvSpPr>
            <p:nvPr/>
          </p:nvSpPr>
          <p:spPr bwMode="auto">
            <a:xfrm>
              <a:off x="582960" y="3259832"/>
              <a:ext cx="1828800" cy="45720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endParaRPr kumimoji="1" lang="en-US" altLang="zh-CN" sz="2400" b="1" baseline="-25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004503" y="1082040"/>
            <a:ext cx="3108325" cy="2962275"/>
            <a:chOff x="3119438" y="898525"/>
            <a:chExt cx="3108325" cy="2962275"/>
          </a:xfrm>
        </p:grpSpPr>
        <p:pic>
          <p:nvPicPr>
            <p:cNvPr id="640006" name="Picture 6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36000"/>
            </a:blip>
            <a:srcRect l="33333" r="31667" b="50000"/>
            <a:stretch>
              <a:fillRect/>
            </a:stretch>
          </p:blipFill>
          <p:spPr bwMode="auto">
            <a:xfrm>
              <a:off x="3119438" y="898525"/>
              <a:ext cx="3108325" cy="2962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10" name="Text Box 10"/>
            <p:cNvSpPr txBox="1">
              <a:spLocks noChangeArrowheads="1"/>
            </p:cNvSpPr>
            <p:nvPr/>
          </p:nvSpPr>
          <p:spPr bwMode="auto">
            <a:xfrm>
              <a:off x="3563888" y="3259832"/>
              <a:ext cx="2133600" cy="45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e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endParaRPr kumimoji="1" lang="en-US" altLang="zh-CN" sz="2400" b="1" baseline="-25000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5895975" y="1082040"/>
            <a:ext cx="3048000" cy="3048000"/>
            <a:chOff x="6096000" y="908050"/>
            <a:chExt cx="3048000" cy="3048000"/>
          </a:xfrm>
        </p:grpSpPr>
        <p:pic>
          <p:nvPicPr>
            <p:cNvPr id="640005" name="Picture 5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30000"/>
            </a:blip>
            <a:srcRect l="66666" b="50000"/>
            <a:stretch>
              <a:fillRect/>
            </a:stretch>
          </p:blipFill>
          <p:spPr bwMode="auto">
            <a:xfrm>
              <a:off x="6096000" y="908050"/>
              <a:ext cx="3048000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11" name="Text Box 11"/>
            <p:cNvSpPr txBox="1">
              <a:spLocks noChangeArrowheads="1"/>
            </p:cNvSpPr>
            <p:nvPr/>
          </p:nvSpPr>
          <p:spPr bwMode="auto">
            <a:xfrm>
              <a:off x="6934200" y="3276600"/>
              <a:ext cx="1905000" cy="45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r>
                <a:rPr kumimoji="1" lang="zh-CN" altLang="en-US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kumimoji="1" lang="en-US" altLang="zh-CN" sz="2400" b="1">
                  <a:latin typeface="黑体" panose="02010609060101010101" pitchFamily="2" charset="-122"/>
                  <a:ea typeface="黑体" panose="02010609060101010101" pitchFamily="2" charset="-122"/>
                </a:rPr>
                <a:t>{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e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r>
                <a:rPr kumimoji="1" lang="en-US" altLang="zh-CN" sz="2400" b="1"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en-US" altLang="zh-CN" sz="2400" b="1" i="1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e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kumimoji="1" lang="en-US" altLang="zh-CN" sz="2400" b="1">
                  <a:latin typeface="黑体" panose="02010609060101010101" pitchFamily="2" charset="-122"/>
                  <a:ea typeface="黑体" panose="02010609060101010101" pitchFamily="2" charset="-122"/>
                </a:rPr>
                <a:t>}</a:t>
              </a:r>
              <a:endParaRPr kumimoji="1" lang="en-US" altLang="zh-CN" sz="2400" b="1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152400" y="3716973"/>
            <a:ext cx="3352800" cy="3048000"/>
            <a:chOff x="0" y="3716338"/>
            <a:chExt cx="3352800" cy="3048000"/>
          </a:xfrm>
        </p:grpSpPr>
        <p:pic>
          <p:nvPicPr>
            <p:cNvPr id="640003" name="Picture 3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36000"/>
            </a:blip>
            <a:srcRect t="50000" r="63333"/>
            <a:stretch>
              <a:fillRect/>
            </a:stretch>
          </p:blipFill>
          <p:spPr bwMode="auto">
            <a:xfrm>
              <a:off x="0" y="3716338"/>
              <a:ext cx="3352800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12" name="Text Box 12"/>
            <p:cNvSpPr txBox="1">
              <a:spLocks noChangeArrowheads="1"/>
            </p:cNvSpPr>
            <p:nvPr/>
          </p:nvSpPr>
          <p:spPr bwMode="auto">
            <a:xfrm>
              <a:off x="609600" y="6237288"/>
              <a:ext cx="1828800" cy="45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r>
                <a:rPr kumimoji="1" lang="zh-CN" altLang="en-US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endParaRPr kumimoji="1"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3347720" y="3652838"/>
            <a:ext cx="2895600" cy="3048000"/>
            <a:chOff x="3352800" y="3789363"/>
            <a:chExt cx="2895600" cy="3048000"/>
          </a:xfrm>
        </p:grpSpPr>
        <p:pic>
          <p:nvPicPr>
            <p:cNvPr id="640002" name="Picture 2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42000"/>
            </a:blip>
            <a:srcRect l="37500" t="50000" r="30833"/>
            <a:stretch>
              <a:fillRect/>
            </a:stretch>
          </p:blipFill>
          <p:spPr bwMode="auto">
            <a:xfrm>
              <a:off x="3352800" y="3789363"/>
              <a:ext cx="2895600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13" name="Text Box 13"/>
            <p:cNvSpPr txBox="1">
              <a:spLocks noChangeArrowheads="1"/>
            </p:cNvSpPr>
            <p:nvPr/>
          </p:nvSpPr>
          <p:spPr bwMode="auto">
            <a:xfrm>
              <a:off x="3733800" y="6324600"/>
              <a:ext cx="2133600" cy="45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r>
                <a:rPr kumimoji="1" lang="zh-CN" altLang="en-US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kumimoji="1" lang="en-US" altLang="zh-CN" sz="24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{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kumimoji="1" lang="en-US" altLang="zh-CN" sz="24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,</a:t>
              </a:r>
              <a:r>
                <a:rPr kumimoji="1" lang="en-US" altLang="zh-CN" sz="2400" b="1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v</a:t>
              </a:r>
              <a:r>
                <a:rPr kumimoji="1" lang="en-US" altLang="zh-CN" sz="2400" b="1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r>
                <a:rPr kumimoji="1" lang="en-US" altLang="zh-CN" sz="2400" b="1" dirty="0">
                  <a:latin typeface="黑体" panose="02010609060101010101" pitchFamily="2" charset="-122"/>
                  <a:ea typeface="黑体" panose="02010609060101010101" pitchFamily="2" charset="-122"/>
                </a:rPr>
                <a:t>}</a:t>
              </a:r>
              <a:endParaRPr kumimoji="1" lang="en-US" altLang="zh-CN" sz="2400" b="1" dirty="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940425" y="3644900"/>
            <a:ext cx="3048000" cy="3048000"/>
            <a:chOff x="6096000" y="3810000"/>
            <a:chExt cx="3048000" cy="3048000"/>
          </a:xfrm>
        </p:grpSpPr>
        <p:pic>
          <p:nvPicPr>
            <p:cNvPr id="640004" name="Picture 4"/>
            <p:cNvPicPr>
              <a:picLocks noChangeAspect="1" noChangeArrowheads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42000"/>
            </a:blip>
            <a:srcRect l="66666" t="50000"/>
            <a:stretch>
              <a:fillRect/>
            </a:stretch>
          </p:blipFill>
          <p:spPr bwMode="auto">
            <a:xfrm>
              <a:off x="6096000" y="3810000"/>
              <a:ext cx="3048000" cy="3048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0014" name="Text Box 14"/>
            <p:cNvSpPr txBox="1">
              <a:spLocks noChangeArrowheads="1"/>
            </p:cNvSpPr>
            <p:nvPr/>
          </p:nvSpPr>
          <p:spPr bwMode="auto">
            <a:xfrm>
              <a:off x="6705600" y="6324600"/>
              <a:ext cx="1905000" cy="4572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buClr>
                  <a:srgbClr val="99CCCC"/>
                </a:buClr>
              </a:pP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G</a:t>
              </a:r>
              <a:r>
                <a:rPr kumimoji="1" lang="en-US" altLang="zh-CN" sz="2400" b="1">
                  <a:latin typeface="黑体" panose="02010609060101010101" pitchFamily="2" charset="-122"/>
                  <a:ea typeface="黑体" panose="02010609060101010101" pitchFamily="2" charset="-122"/>
                </a:rPr>
                <a:t>\</a:t>
              </a:r>
              <a:r>
                <a:rPr kumimoji="1"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e</a:t>
              </a:r>
              <a:r>
                <a:rPr kumimoji="1" lang="en-US" altLang="zh-CN" sz="2400" b="1" baseline="-25000">
                  <a:latin typeface="Times New Roman" panose="02020603050405020304" pitchFamily="18" charset="0"/>
                  <a:ea typeface="黑体" panose="02010609060101010101" pitchFamily="2" charset="-122"/>
                </a:rPr>
                <a:t>5</a:t>
              </a:r>
              <a:endParaRPr kumimoji="1" lang="en-US" altLang="zh-CN" sz="2400" b="1" baseline="-25000">
                <a:latin typeface="黑体" panose="02010609060101010101" pitchFamily="2" charset="-122"/>
                <a:ea typeface="黑体" panose="02010609060101010101" pitchFamily="2" charset="-122"/>
              </a:endParaRPr>
            </a:p>
          </p:txBody>
        </p:sp>
      </p:grpSp>
      <p:sp>
        <p:nvSpPr>
          <p:cNvPr id="9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  <p:custDataLst>
      <p:tags r:id="rId2"/>
    </p:custDataLst>
  </p:cSld>
  <p:clrMapOvr>
    <a:masterClrMapping/>
  </p:clrMapOvr>
  <p:transition advTm="83513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图运算</a:t>
            </a:r>
            <a:r>
              <a:rPr lang="en-US" altLang="zh-CN" dirty="0"/>
              <a:t>II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en-US" altLang="zh-CN" dirty="0"/>
              <a:t>=&lt;V</a:t>
            </a:r>
            <a:r>
              <a:rPr lang="en-US" altLang="zh-CN" baseline="-25000" dirty="0"/>
              <a:t>1</a:t>
            </a:r>
            <a:r>
              <a:rPr lang="en-US" altLang="zh-CN" dirty="0"/>
              <a:t>,E</a:t>
            </a:r>
            <a:r>
              <a:rPr lang="en-US" altLang="zh-CN" baseline="-25000" dirty="0"/>
              <a:t>1</a:t>
            </a:r>
            <a:r>
              <a:rPr lang="en-US" altLang="zh-CN" dirty="0"/>
              <a:t>&gt;, G</a:t>
            </a:r>
            <a:r>
              <a:rPr lang="en-US" altLang="zh-CN" baseline="-25000" dirty="0"/>
              <a:t>2</a:t>
            </a:r>
            <a:r>
              <a:rPr lang="en-US" altLang="zh-CN" dirty="0"/>
              <a:t>=&lt;V</a:t>
            </a:r>
            <a:r>
              <a:rPr lang="en-US" altLang="zh-CN" baseline="-25000" dirty="0"/>
              <a:t>2</a:t>
            </a:r>
            <a:r>
              <a:rPr lang="en-US" altLang="zh-CN" dirty="0"/>
              <a:t>,E</a:t>
            </a:r>
            <a:r>
              <a:rPr lang="en-US" altLang="zh-CN" baseline="-25000" dirty="0"/>
              <a:t>2</a:t>
            </a:r>
            <a:r>
              <a:rPr lang="en-US" altLang="zh-CN" dirty="0"/>
              <a:t>&gt;</a:t>
            </a:r>
            <a:r>
              <a:rPr lang="zh-CN" altLang="en-US" dirty="0"/>
              <a:t>均为无孤立结点的图，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并图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∪G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∪E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∪E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中边关联的顶点组成的集合为顶点集的图。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交图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∩G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∩E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∩E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差图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</a:rPr>
              <a:t>-G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-E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/>
              <a:t>-E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中边关联的顶点组成的集合为顶点集。</a:t>
            </a:r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环和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/>
              </a:rPr>
              <a:t></a:t>
            </a:r>
            <a:r>
              <a:rPr lang="en-US" altLang="zh-CN" dirty="0">
                <a:solidFill>
                  <a:srgbClr val="FF0000"/>
                </a:solidFill>
              </a:rPr>
              <a:t>G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/>
              </a:rPr>
              <a:t></a:t>
            </a:r>
            <a:r>
              <a:rPr lang="en-US" altLang="zh-CN" dirty="0"/>
              <a:t>E</a:t>
            </a:r>
            <a:r>
              <a:rPr lang="en-US" altLang="zh-CN" baseline="-25000" dirty="0"/>
              <a:t>2</a:t>
            </a:r>
            <a:r>
              <a:rPr lang="zh-CN" altLang="en-US" dirty="0"/>
              <a:t>为边集</a:t>
            </a:r>
            <a:r>
              <a:rPr lang="en-US" altLang="zh-CN" dirty="0"/>
              <a:t>, </a:t>
            </a:r>
            <a:r>
              <a:rPr lang="zh-CN" altLang="en-US" dirty="0"/>
              <a:t>以</a:t>
            </a:r>
            <a:r>
              <a:rPr lang="en-US" altLang="zh-CN" dirty="0"/>
              <a:t>E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/>
              </a:rPr>
              <a:t></a:t>
            </a:r>
            <a:r>
              <a:rPr lang="en-US" altLang="zh-CN" dirty="0"/>
              <a:t>E</a:t>
            </a:r>
            <a:r>
              <a:rPr lang="en-US" altLang="zh-CN" baseline="-25000" dirty="0"/>
              <a:t>2</a:t>
            </a:r>
            <a:r>
              <a:rPr lang="zh-CN" altLang="en-US" dirty="0"/>
              <a:t>中边关联的顶点组成的集合为顶点集。</a:t>
            </a:r>
            <a:endParaRPr lang="zh-CN" altLang="en-US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图族</a:t>
            </a:r>
            <a:r>
              <a:rPr lang="en-US" altLang="zh-CN" dirty="0"/>
              <a:t>(graph class)</a:t>
            </a:r>
            <a:endParaRPr lang="zh-CN" altLang="en-US" dirty="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花束、</a:t>
            </a:r>
            <a:r>
              <a:rPr lang="zh-CN" altLang="en-US" dirty="0"/>
              <a:t>两极</a:t>
            </a:r>
            <a:endParaRPr lang="zh-CN" altLang="en-US" dirty="0"/>
          </a:p>
          <a:p>
            <a:r>
              <a:rPr lang="zh-CN" altLang="en-US" dirty="0"/>
              <a:t>完全图、有向完全图、</a:t>
            </a:r>
            <a:r>
              <a:rPr lang="zh-CN" altLang="en-US" dirty="0"/>
              <a:t>竞赛图</a:t>
            </a:r>
            <a:endParaRPr lang="zh-CN" altLang="en-US" dirty="0"/>
          </a:p>
          <a:p>
            <a:r>
              <a:rPr lang="zh-CN" altLang="en-US" dirty="0"/>
              <a:t>正则图、柏拉图图、彼德森图、</a:t>
            </a:r>
            <a:r>
              <a:rPr lang="zh-CN" altLang="en-US" dirty="0"/>
              <a:t>库拉图斯基图</a:t>
            </a:r>
            <a:endParaRPr lang="zh-CN" altLang="en-US" dirty="0"/>
          </a:p>
          <a:p>
            <a:r>
              <a:rPr lang="en-US" altLang="zh-CN" i="1" dirty="0"/>
              <a:t>r</a:t>
            </a:r>
            <a:r>
              <a:rPr lang="zh-CN" altLang="en-US" dirty="0"/>
              <a:t>部图、二部图</a:t>
            </a:r>
            <a:r>
              <a:rPr lang="en-US" altLang="zh-CN" dirty="0"/>
              <a:t>(</a:t>
            </a:r>
            <a:r>
              <a:rPr lang="zh-CN" altLang="en-US" dirty="0"/>
              <a:t>偶图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zh-CN" altLang="en-US" dirty="0"/>
              <a:t>完全</a:t>
            </a:r>
            <a:r>
              <a:rPr lang="en-US" altLang="zh-CN" i="1" dirty="0"/>
              <a:t>r</a:t>
            </a:r>
            <a:r>
              <a:rPr lang="zh-CN" altLang="en-US" dirty="0"/>
              <a:t>部图</a:t>
            </a:r>
            <a:endParaRPr lang="zh-CN" altLang="en-US" dirty="0"/>
          </a:p>
          <a:p>
            <a:r>
              <a:rPr lang="zh-CN" altLang="en-US" dirty="0"/>
              <a:t>路径、圈、轮、</a:t>
            </a:r>
            <a:r>
              <a:rPr lang="zh-CN" altLang="en-US" dirty="0"/>
              <a:t>超立方体</a:t>
            </a:r>
            <a:endParaRPr lang="zh-CN" altLang="en-US" dirty="0"/>
          </a:p>
          <a:p>
            <a:r>
              <a:rPr lang="zh-CN" altLang="en-US" dirty="0"/>
              <a:t>树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花束</a:t>
            </a:r>
            <a:r>
              <a:rPr lang="en-US" altLang="zh-CN" dirty="0"/>
              <a:t>(bouquets)</a:t>
            </a:r>
            <a:endParaRPr lang="zh-CN" altLang="en-US" dirty="0"/>
          </a:p>
        </p:txBody>
      </p:sp>
      <p:graphicFrame>
        <p:nvGraphicFramePr>
          <p:cNvPr id="5122" name="内容占位符 4"/>
          <p:cNvGraphicFramePr>
            <a:graphicFrameLocks noGrp="1"/>
          </p:cNvGraphicFramePr>
          <p:nvPr>
            <p:ph idx="1"/>
          </p:nvPr>
        </p:nvGraphicFramePr>
        <p:xfrm>
          <a:off x="1524000" y="2008188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93" name="Acrobat Document" r:id="rId1" imgW="0" imgH="0" progId="Acrobat.Document.DC">
                  <p:embed/>
                </p:oleObj>
              </mc:Choice>
              <mc:Fallback>
                <p:oleObj name="Acrobat Document" r:id="rId1" imgW="0" imgH="0" progId="Acrobat.Document.DC">
                  <p:embed/>
                  <p:pic>
                    <p:nvPicPr>
                      <p:cNvPr id="0" name="内容占位符 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008188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 l="24727" t="36047" r="22118" b="20641"/>
          <a:stretch>
            <a:fillRect/>
          </a:stretch>
        </p:blipFill>
        <p:spPr bwMode="auto">
          <a:xfrm>
            <a:off x="395288" y="1484784"/>
            <a:ext cx="8208962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19311">
    <p:wipe dir="r"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两极</a:t>
            </a:r>
            <a:r>
              <a:rPr lang="en-US" altLang="zh-CN" dirty="0"/>
              <a:t>(dipoles)</a:t>
            </a:r>
            <a:endParaRPr lang="zh-CN" altLang="en-US" dirty="0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7588" name="Picture 2"/>
          <p:cNvPicPr>
            <a:picLocks noChangeAspect="1" noChangeArrowheads="1"/>
          </p:cNvPicPr>
          <p:nvPr/>
        </p:nvPicPr>
        <p:blipFill>
          <a:blip r:embed="rId1"/>
          <a:srcRect l="25465" t="33093" r="22929" b="26547"/>
          <a:stretch>
            <a:fillRect/>
          </a:stretch>
        </p:blipFill>
        <p:spPr bwMode="auto">
          <a:xfrm>
            <a:off x="323850" y="1484313"/>
            <a:ext cx="8348663" cy="4897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6977">
    <p:wipe dir="r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完全图</a:t>
            </a:r>
            <a:r>
              <a:rPr lang="en-US" altLang="zh-CN" dirty="0"/>
              <a:t>(complete graphs)</a:t>
            </a:r>
            <a:endParaRPr lang="zh-CN" altLang="en-US" dirty="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8612" name="Picture 2"/>
          <p:cNvPicPr>
            <a:picLocks noChangeAspect="1" noChangeArrowheads="1"/>
          </p:cNvPicPr>
          <p:nvPr/>
        </p:nvPicPr>
        <p:blipFill>
          <a:blip r:embed="rId1"/>
          <a:srcRect l="21774" t="35063" r="21979" b="19656"/>
          <a:stretch>
            <a:fillRect/>
          </a:stretch>
        </p:blipFill>
        <p:spPr bwMode="auto">
          <a:xfrm>
            <a:off x="352425" y="1471613"/>
            <a:ext cx="8251825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4705">
    <p:wipe dir="r"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有向完全图</a:t>
            </a:r>
            <a:endParaRPr lang="zh-CN" altLang="en-US" dirty="0"/>
          </a:p>
        </p:txBody>
      </p:sp>
      <p:sp>
        <p:nvSpPr>
          <p:cNvPr id="696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9636" name="Picture 2"/>
          <p:cNvPicPr>
            <a:picLocks noChangeAspect="1" noChangeArrowheads="1"/>
          </p:cNvPicPr>
          <p:nvPr/>
        </p:nvPicPr>
        <p:blipFill>
          <a:blip r:embed="rId1"/>
          <a:srcRect l="21774" t="35063" r="17688" b="14735"/>
          <a:stretch>
            <a:fillRect/>
          </a:stretch>
        </p:blipFill>
        <p:spPr bwMode="auto">
          <a:xfrm>
            <a:off x="323850" y="1412875"/>
            <a:ext cx="8424863" cy="5240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竞赛图</a:t>
            </a:r>
            <a:r>
              <a:rPr lang="en-US" altLang="zh-CN" dirty="0"/>
              <a:t>(tournament)</a:t>
            </a:r>
            <a:endParaRPr lang="zh-CN" altLang="en-US" dirty="0"/>
          </a:p>
        </p:txBody>
      </p:sp>
      <p:sp>
        <p:nvSpPr>
          <p:cNvPr id="7065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0660" name="Picture 2"/>
          <p:cNvPicPr>
            <a:picLocks noChangeAspect="1" noChangeArrowheads="1"/>
          </p:cNvPicPr>
          <p:nvPr/>
        </p:nvPicPr>
        <p:blipFill>
          <a:blip r:embed="rId1"/>
          <a:srcRect l="21774" t="35063" r="20982" b="20641"/>
          <a:stretch>
            <a:fillRect/>
          </a:stretch>
        </p:blipFill>
        <p:spPr bwMode="auto">
          <a:xfrm>
            <a:off x="323850" y="1412875"/>
            <a:ext cx="8561388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柏拉图图</a:t>
            </a:r>
            <a:r>
              <a:rPr lang="en-US" altLang="zh-CN" dirty="0"/>
              <a:t>(Platonic graphs)</a:t>
            </a:r>
            <a:endParaRPr lang="zh-CN" altLang="en-US" dirty="0"/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2708" name="Picture 2"/>
          <p:cNvPicPr>
            <a:picLocks noChangeAspect="1" noChangeArrowheads="1"/>
          </p:cNvPicPr>
          <p:nvPr/>
        </p:nvPicPr>
        <p:blipFill>
          <a:blip r:embed="rId1"/>
          <a:srcRect l="23250" t="33469" r="15472" b="16360"/>
          <a:stretch>
            <a:fillRect/>
          </a:stretch>
        </p:blipFill>
        <p:spPr bwMode="auto">
          <a:xfrm>
            <a:off x="323850" y="1412875"/>
            <a:ext cx="8496300" cy="5218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47700" y="1484630"/>
            <a:ext cx="7849235" cy="5113020"/>
          </a:xfrm>
          <a:prstGeom prst="rect">
            <a:avLst/>
          </a:prstGeom>
          <a:solidFill>
            <a:srgbClr val="3E439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彼得森图</a:t>
            </a:r>
            <a:r>
              <a:rPr lang="en-US" altLang="zh-CN" dirty="0"/>
              <a:t>(</a:t>
            </a:r>
            <a:r>
              <a:rPr lang="en-US" altLang="zh-CN" dirty="0" err="1"/>
              <a:t>Pertersen</a:t>
            </a:r>
            <a:r>
              <a:rPr lang="en-US" altLang="zh-CN" dirty="0"/>
              <a:t> graph)</a:t>
            </a:r>
            <a:endParaRPr lang="zh-CN" altLang="en-US" dirty="0"/>
          </a:p>
        </p:txBody>
      </p:sp>
      <p:pic>
        <p:nvPicPr>
          <p:cNvPr id="73732" name="Picture 7" descr="18-8"/>
          <p:cNvPicPr>
            <a:picLocks noChangeAspect="1" noChangeArrowheads="1"/>
          </p:cNvPicPr>
          <p:nvPr/>
        </p:nvPicPr>
        <p:blipFill>
          <a:blip r:embed="rId1"/>
          <a:srcRect l="61092"/>
          <a:stretch>
            <a:fillRect/>
          </a:stretch>
        </p:blipFill>
        <p:spPr bwMode="auto">
          <a:xfrm>
            <a:off x="2987358" y="2493010"/>
            <a:ext cx="27432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z="3600" dirty="0"/>
              <a:t>库拉图斯基图</a:t>
            </a:r>
            <a:r>
              <a:rPr lang="en-US" altLang="zh-CN" sz="3600" dirty="0"/>
              <a:t>(</a:t>
            </a:r>
            <a:r>
              <a:rPr lang="en-US" altLang="zh-CN" sz="3600" dirty="0" err="1"/>
              <a:t>Kuratowski</a:t>
            </a:r>
            <a:r>
              <a:rPr lang="en-US" altLang="zh-CN" sz="3600" dirty="0"/>
              <a:t> graph)</a:t>
            </a:r>
            <a:endParaRPr lang="zh-CN" altLang="en-US" sz="3600" dirty="0"/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4756" name="Picture 2"/>
          <p:cNvPicPr>
            <a:picLocks noChangeAspect="1" noChangeArrowheads="1"/>
          </p:cNvPicPr>
          <p:nvPr/>
        </p:nvPicPr>
        <p:blipFill>
          <a:blip r:embed="rId1"/>
          <a:srcRect l="22887" t="37405" r="20929" b="18298"/>
          <a:stretch>
            <a:fillRect/>
          </a:stretch>
        </p:blipFill>
        <p:spPr bwMode="auto">
          <a:xfrm>
            <a:off x="323850" y="1412875"/>
            <a:ext cx="8524875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35471">
    <p:wipe dir="r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路径</a:t>
            </a:r>
            <a:r>
              <a:rPr lang="en-US" altLang="zh-CN" dirty="0"/>
              <a:t>(paths)</a:t>
            </a:r>
            <a:endParaRPr lang="zh-CN" altLang="en-US" dirty="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1"/>
          <a:srcRect l="22511" t="35437" r="15472" b="15344"/>
          <a:stretch>
            <a:fillRect/>
          </a:stretch>
        </p:blipFill>
        <p:spPr bwMode="auto">
          <a:xfrm>
            <a:off x="323850" y="1412875"/>
            <a:ext cx="8424863" cy="501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圈</a:t>
            </a:r>
            <a:r>
              <a:rPr lang="en-US" altLang="zh-CN" dirty="0"/>
              <a:t>(cycles)</a:t>
            </a:r>
            <a:endParaRPr lang="zh-CN" altLang="en-US" dirty="0"/>
          </a:p>
        </p:txBody>
      </p:sp>
      <p:sp>
        <p:nvSpPr>
          <p:cNvPr id="788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8852" name="Picture 2"/>
          <p:cNvPicPr>
            <a:picLocks noChangeAspect="1" noChangeArrowheads="1"/>
          </p:cNvPicPr>
          <p:nvPr/>
        </p:nvPicPr>
        <p:blipFill>
          <a:blip r:embed="rId1"/>
          <a:srcRect l="22148" t="37405" r="15099" b="15344"/>
          <a:stretch>
            <a:fillRect/>
          </a:stretch>
        </p:blipFill>
        <p:spPr bwMode="auto">
          <a:xfrm>
            <a:off x="323850" y="1412875"/>
            <a:ext cx="8415338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轮</a:t>
            </a:r>
            <a:r>
              <a:rPr lang="en-US" altLang="zh-CN" dirty="0"/>
              <a:t>(wheels)</a:t>
            </a:r>
            <a:endParaRPr lang="zh-CN" altLang="en-US" dirty="0"/>
          </a:p>
        </p:txBody>
      </p:sp>
      <p:sp>
        <p:nvSpPr>
          <p:cNvPr id="7987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9876" name="Picture 2"/>
          <p:cNvPicPr>
            <a:picLocks noChangeAspect="1" noChangeArrowheads="1"/>
          </p:cNvPicPr>
          <p:nvPr/>
        </p:nvPicPr>
        <p:blipFill>
          <a:blip r:embed="rId1"/>
          <a:srcRect l="23250" t="36421" r="15472" b="17314"/>
          <a:stretch>
            <a:fillRect/>
          </a:stretch>
        </p:blipFill>
        <p:spPr bwMode="auto">
          <a:xfrm>
            <a:off x="323850" y="1412875"/>
            <a:ext cx="8520113" cy="482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 advTm="34986">
    <p:wipe dir="r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超立方体</a:t>
            </a:r>
            <a:r>
              <a:rPr lang="en-US" altLang="zh-CN" dirty="0"/>
              <a:t>(</a:t>
            </a:r>
            <a:r>
              <a:rPr lang="en-US" altLang="zh-CN" dirty="0" err="1"/>
              <a:t>hypercubes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8089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0900" name="Picture 2"/>
          <p:cNvPicPr>
            <a:picLocks noChangeAspect="1" noChangeArrowheads="1"/>
          </p:cNvPicPr>
          <p:nvPr/>
        </p:nvPicPr>
        <p:blipFill>
          <a:blip r:embed="rId1"/>
          <a:srcRect l="22856" t="34453" r="15868" b="15344"/>
          <a:stretch>
            <a:fillRect/>
          </a:stretch>
        </p:blipFill>
        <p:spPr bwMode="auto">
          <a:xfrm>
            <a:off x="323850" y="1412875"/>
            <a:ext cx="8351838" cy="513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树</a:t>
            </a:r>
            <a:r>
              <a:rPr lang="en-US" altLang="zh-CN" dirty="0"/>
              <a:t>(trees)</a:t>
            </a:r>
            <a:endParaRPr lang="zh-CN" altLang="en-US" dirty="0"/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连通无回路图</a:t>
            </a:r>
            <a:endParaRPr lang="zh-CN" altLang="en-US"/>
          </a:p>
        </p:txBody>
      </p:sp>
      <p:pic>
        <p:nvPicPr>
          <p:cNvPr id="81924" name="Picture 2"/>
          <p:cNvPicPr>
            <a:picLocks noChangeAspect="1" noChangeArrowheads="1"/>
          </p:cNvPicPr>
          <p:nvPr/>
        </p:nvPicPr>
        <p:blipFill>
          <a:blip r:embed="rId1"/>
          <a:srcRect l="22856" t="42328" r="16606" b="16328"/>
          <a:stretch>
            <a:fillRect/>
          </a:stretch>
        </p:blipFill>
        <p:spPr bwMode="auto">
          <a:xfrm>
            <a:off x="539750" y="1989138"/>
            <a:ext cx="8153400" cy="41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学习要点与基本要求</a:t>
            </a:r>
            <a:endParaRPr lang="zh-CN" altLang="en-US"/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412875"/>
            <a:ext cx="8496300" cy="4824413"/>
          </a:xfrm>
        </p:spPr>
        <p:txBody>
          <a:bodyPr/>
          <a:lstStyle/>
          <a:p>
            <a:pPr marL="533400" indent="-533400" eaLnBrk="1" hangingPunct="1">
              <a:lnSpc>
                <a:spcPct val="120000"/>
              </a:lnSpc>
            </a:pPr>
            <a:r>
              <a:rPr lang="zh-CN" altLang="en-US" dirty="0"/>
              <a:t>掌握与图的定义有关的诸多概念，以及它们之间的相互关系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</a:pPr>
            <a:r>
              <a:rPr lang="zh-CN" altLang="en-US" dirty="0"/>
              <a:t>深刻理解握手定理及其推论，并能够熟练地应用它们解决实际问题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</a:pPr>
            <a:r>
              <a:rPr lang="zh-CN" altLang="en-US" dirty="0"/>
              <a:t>掌握可</a:t>
            </a:r>
            <a:r>
              <a:rPr lang="en-US" altLang="zh-CN" dirty="0"/>
              <a:t>(</a:t>
            </a:r>
            <a:r>
              <a:rPr lang="zh-CN" altLang="en-US" dirty="0"/>
              <a:t>简单</a:t>
            </a:r>
            <a:r>
              <a:rPr lang="en-US" altLang="zh-CN" dirty="0"/>
              <a:t>)</a:t>
            </a:r>
            <a:r>
              <a:rPr lang="zh-CN" altLang="en-US" dirty="0"/>
              <a:t>图化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</a:pPr>
            <a:r>
              <a:rPr lang="zh-CN" altLang="en-US" dirty="0"/>
              <a:t>深刻理解图同构</a:t>
            </a:r>
            <a:endParaRPr lang="en-US" altLang="zh-CN" dirty="0"/>
          </a:p>
          <a:p>
            <a:pPr marL="533400" indent="-533400" eaLnBrk="1" hangingPunct="1">
              <a:lnSpc>
                <a:spcPct val="120000"/>
              </a:lnSpc>
            </a:pPr>
            <a:r>
              <a:rPr lang="zh-CN" altLang="en-US" dirty="0"/>
              <a:t>了解图族</a:t>
            </a:r>
            <a:endParaRPr lang="zh-CN" altLang="en-US" dirty="0"/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en-US" altLang="zh-CN" sz="4000"/>
              <a:t>Ramsey </a:t>
            </a:r>
            <a:r>
              <a:rPr kumimoji="1" lang="zh-CN" altLang="en-US" sz="4000"/>
              <a:t>问题（拉姆齐问题）</a:t>
            </a:r>
            <a:endParaRPr kumimoji="1" lang="zh-CN" altLang="en-US" sz="400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89050"/>
            <a:ext cx="8458200" cy="4876800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en-US" altLang="zh-CN" sz="2600" dirty="0">
                <a:solidFill>
                  <a:schemeClr val="hlink"/>
                </a:solidFill>
              </a:rPr>
              <a:t>7-12  Ramsey </a:t>
            </a:r>
            <a:r>
              <a:rPr kumimoji="1" lang="zh-CN" altLang="en-US" sz="2600" dirty="0">
                <a:solidFill>
                  <a:schemeClr val="hlink"/>
                </a:solidFill>
              </a:rPr>
              <a:t>问题（拉姆齐问题）：</a:t>
            </a:r>
            <a:endParaRPr kumimoji="1" lang="zh-CN" altLang="en-US" sz="2600" dirty="0">
              <a:solidFill>
                <a:schemeClr val="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/>
              <a:t>任意</a:t>
            </a:r>
            <a:r>
              <a:rPr kumimoji="1" lang="en-US" altLang="zh-CN" sz="2600" dirty="0"/>
              <a:t>6</a:t>
            </a:r>
            <a:r>
              <a:rPr kumimoji="1" lang="zh-CN" altLang="en-US" sz="2600" dirty="0"/>
              <a:t>个人在一起</a:t>
            </a:r>
            <a:r>
              <a:rPr kumimoji="1" lang="en-US" altLang="zh-CN" sz="2600" dirty="0"/>
              <a:t>, 6</a:t>
            </a:r>
            <a:r>
              <a:rPr kumimoji="1" lang="zh-CN" altLang="en-US" sz="2600" dirty="0"/>
              <a:t>人中要么有</a:t>
            </a:r>
            <a:r>
              <a:rPr kumimoji="1" lang="en-US" altLang="zh-CN" sz="2600" dirty="0"/>
              <a:t>3</a:t>
            </a:r>
            <a:r>
              <a:rPr kumimoji="1" lang="zh-CN" altLang="en-US" sz="2600" dirty="0"/>
              <a:t>个人彼此互相认识</a:t>
            </a:r>
            <a:r>
              <a:rPr kumimoji="1" lang="en-US" altLang="zh-CN" sz="2600" dirty="0"/>
              <a:t>,</a:t>
            </a:r>
            <a:r>
              <a:rPr kumimoji="1" lang="zh-CN" altLang="en-US" sz="2600" dirty="0"/>
              <a:t>要么</a:t>
            </a:r>
            <a:endParaRPr kumimoji="1" lang="en-US" altLang="zh-CN" sz="2600" dirty="0"/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/>
              <a:t>有</a:t>
            </a:r>
            <a:r>
              <a:rPr kumimoji="1" lang="en-US" altLang="zh-CN" sz="2600" dirty="0"/>
              <a:t>3</a:t>
            </a:r>
            <a:r>
              <a:rPr kumimoji="1" lang="zh-CN" altLang="en-US" sz="2600" dirty="0"/>
              <a:t>个人互相不认识。</a:t>
            </a:r>
            <a:endParaRPr kumimoji="1" lang="zh-CN" altLang="en-US" sz="2600" dirty="0"/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chemeClr val="hlink"/>
                </a:solidFill>
              </a:rPr>
              <a:t>证明：</a:t>
            </a:r>
            <a:r>
              <a:rPr kumimoji="1" lang="zh-CN" altLang="en-US" sz="2600" dirty="0">
                <a:solidFill>
                  <a:schemeClr val="folHlink"/>
                </a:solidFill>
              </a:rPr>
              <a:t>设</a:t>
            </a:r>
            <a:r>
              <a:rPr kumimoji="1" lang="en-US" altLang="zh-CN" sz="2600" dirty="0">
                <a:solidFill>
                  <a:schemeClr val="folHlink"/>
                </a:solidFill>
              </a:rPr>
              <a:t>6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个人分别用</a:t>
            </a:r>
            <a:r>
              <a:rPr kumimoji="1" lang="en-US" altLang="zh-CN" sz="2600" i="1" dirty="0">
                <a:solidFill>
                  <a:schemeClr val="folHlink"/>
                </a:solidFill>
              </a:rPr>
              <a:t>v</a:t>
            </a:r>
            <a:r>
              <a:rPr kumimoji="1" lang="en-US" altLang="zh-CN" sz="2600" baseline="-25000" dirty="0">
                <a:solidFill>
                  <a:schemeClr val="folHlink"/>
                </a:solidFill>
              </a:rPr>
              <a:t>1</a:t>
            </a:r>
            <a:r>
              <a:rPr kumimoji="1" lang="en-US" altLang="zh-CN" sz="2600" dirty="0">
                <a:solidFill>
                  <a:schemeClr val="folHlink"/>
                </a:solidFill>
              </a:rPr>
              <a:t>,…,</a:t>
            </a:r>
            <a:r>
              <a:rPr kumimoji="1" lang="en-US" altLang="zh-CN" sz="2600" i="1" dirty="0">
                <a:solidFill>
                  <a:schemeClr val="folHlink"/>
                </a:solidFill>
              </a:rPr>
              <a:t>v</a:t>
            </a:r>
            <a:r>
              <a:rPr kumimoji="1" lang="en-US" altLang="zh-CN" sz="2600" baseline="-25000" dirty="0">
                <a:solidFill>
                  <a:schemeClr val="folHlink"/>
                </a:solidFill>
              </a:rPr>
              <a:t>6</a:t>
            </a:r>
            <a:r>
              <a:rPr kumimoji="1" lang="en-US" altLang="zh-CN" sz="2600" dirty="0">
                <a:solidFill>
                  <a:schemeClr val="folHlink"/>
                </a:solidFill>
              </a:rPr>
              <a:t>6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个结点表示</a:t>
            </a:r>
            <a:r>
              <a:rPr kumimoji="1" lang="en-US" altLang="zh-CN" sz="2600" dirty="0">
                <a:solidFill>
                  <a:schemeClr val="folHlink"/>
                </a:solidFill>
              </a:rPr>
              <a:t>. 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互相认识的两</a:t>
            </a:r>
            <a:endParaRPr kumimoji="1" lang="en-US" altLang="zh-CN" sz="26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chemeClr val="folHlink"/>
                </a:solidFill>
              </a:rPr>
              <a:t>个人对应的顶点用边相连</a:t>
            </a:r>
            <a:r>
              <a:rPr kumimoji="1" lang="en-US" altLang="zh-CN" sz="2600" dirty="0">
                <a:solidFill>
                  <a:schemeClr val="folHlink"/>
                </a:solidFill>
              </a:rPr>
              <a:t>, </a:t>
            </a:r>
            <a:r>
              <a:rPr kumimoji="1" lang="zh-CN" altLang="en-US" sz="2600" dirty="0">
                <a:solidFill>
                  <a:schemeClr val="folHlink"/>
                </a:solidFill>
              </a:rPr>
              <a:t>构成一个</a:t>
            </a:r>
            <a:r>
              <a:rPr kumimoji="1" lang="en-US" altLang="zh-CN" sz="2600" dirty="0">
                <a:solidFill>
                  <a:schemeClr val="folHlink"/>
                </a:solidFill>
              </a:rPr>
              <a:t>6</a:t>
            </a:r>
            <a:r>
              <a:rPr kumimoji="1" lang="zh-CN" altLang="en-US" sz="2600" dirty="0">
                <a:solidFill>
                  <a:schemeClr val="folHlink"/>
                </a:solidFill>
              </a:rPr>
              <a:t>阶简单图</a:t>
            </a:r>
            <a:r>
              <a:rPr kumimoji="1" lang="en-US" altLang="zh-CN" sz="2600" i="1" dirty="0">
                <a:solidFill>
                  <a:schemeClr val="folHlink"/>
                </a:solidFill>
              </a:rPr>
              <a:t>G</a:t>
            </a:r>
            <a:r>
              <a:rPr kumimoji="1" lang="zh-CN" altLang="en-US" sz="2600" dirty="0">
                <a:solidFill>
                  <a:schemeClr val="folHlink"/>
                </a:solidFill>
              </a:rPr>
              <a:t>。</a:t>
            </a:r>
            <a:r>
              <a:rPr kumimoji="1" lang="en-US" altLang="zh-CN" sz="2600" dirty="0">
                <a:solidFill>
                  <a:schemeClr val="folHlink"/>
                </a:solidFill>
              </a:rPr>
              <a:t> </a:t>
            </a:r>
            <a:endParaRPr kumimoji="1" lang="en-US" altLang="zh-CN" sz="26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chemeClr val="folHlink"/>
                </a:solidFill>
              </a:rPr>
              <a:t>两个人要么认识要么不认识</a:t>
            </a:r>
            <a:r>
              <a:rPr kumimoji="1" lang="en-US" altLang="zh-CN" sz="2600" dirty="0">
                <a:solidFill>
                  <a:schemeClr val="folHlink"/>
                </a:solidFill>
              </a:rPr>
              <a:t>, 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两者必居其一</a:t>
            </a:r>
            <a:r>
              <a:rPr kumimoji="1" lang="en-US" altLang="zh-CN" sz="2600" dirty="0">
                <a:solidFill>
                  <a:schemeClr val="folHlink"/>
                </a:solidFill>
              </a:rPr>
              <a:t>. </a:t>
            </a:r>
            <a:r>
              <a:rPr kumimoji="1" lang="zh-CN" altLang="en-US" sz="2600" dirty="0">
                <a:solidFill>
                  <a:schemeClr val="folHlink"/>
                </a:solidFill>
              </a:rPr>
              <a:t>所以对于</a:t>
            </a:r>
            <a:r>
              <a:rPr kumimoji="1" lang="en-US" altLang="zh-CN" sz="2600" i="1" dirty="0">
                <a:solidFill>
                  <a:schemeClr val="folHlink"/>
                </a:solidFill>
              </a:rPr>
              <a:t>G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中</a:t>
            </a:r>
            <a:endParaRPr kumimoji="1" lang="en-US" altLang="zh-CN" sz="26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chemeClr val="folHlink"/>
                </a:solidFill>
              </a:rPr>
              <a:t>任意顶点</a:t>
            </a:r>
            <a:r>
              <a:rPr kumimoji="1" lang="en-US" altLang="zh-CN" sz="2600" i="1" dirty="0">
                <a:solidFill>
                  <a:schemeClr val="folHlink"/>
                </a:solidFill>
              </a:rPr>
              <a:t>a</a:t>
            </a:r>
            <a:r>
              <a:rPr kumimoji="1" lang="en-US" altLang="zh-CN" sz="2600" dirty="0">
                <a:solidFill>
                  <a:schemeClr val="folHlink"/>
                </a:solidFill>
              </a:rPr>
              <a:t>, </a:t>
            </a:r>
            <a:r>
              <a:rPr kumimoji="1" lang="zh-CN" altLang="en-US" sz="2600" dirty="0">
                <a:solidFill>
                  <a:schemeClr val="folHlink"/>
                </a:solidFill>
              </a:rPr>
              <a:t>其余</a:t>
            </a:r>
            <a:r>
              <a:rPr kumimoji="1" lang="en-US" altLang="zh-CN" sz="2600" dirty="0">
                <a:solidFill>
                  <a:schemeClr val="folHlink"/>
                </a:solidFill>
              </a:rPr>
              <a:t>5</a:t>
            </a:r>
            <a:r>
              <a:rPr kumimoji="1" lang="zh-CN" altLang="en-US" sz="2600" dirty="0">
                <a:solidFill>
                  <a:schemeClr val="folHlink"/>
                </a:solidFill>
              </a:rPr>
              <a:t>个顶点中的任一个顶点</a:t>
            </a:r>
            <a:r>
              <a:rPr kumimoji="1" lang="zh-CN" altLang="en-US" sz="2600" dirty="0">
                <a:solidFill>
                  <a:srgbClr val="FF00FF"/>
                </a:solidFill>
              </a:rPr>
              <a:t>要么在</a:t>
            </a:r>
            <a:r>
              <a:rPr kumimoji="1" lang="en-US" altLang="zh-CN" sz="2600" i="1" dirty="0">
                <a:solidFill>
                  <a:srgbClr val="FF00FF"/>
                </a:solidFill>
              </a:rPr>
              <a:t>G</a:t>
            </a:r>
            <a:r>
              <a:rPr kumimoji="1" lang="zh-CN" altLang="en-US" sz="2600" dirty="0">
                <a:solidFill>
                  <a:srgbClr val="FF00FF"/>
                </a:solidFill>
              </a:rPr>
              <a:t>中与</a:t>
            </a:r>
            <a:r>
              <a:rPr kumimoji="1" lang="en-US" altLang="zh-CN" sz="2600" i="1" dirty="0">
                <a:solidFill>
                  <a:srgbClr val="FF00FF"/>
                </a:solidFill>
              </a:rPr>
              <a:t>a</a:t>
            </a:r>
            <a:r>
              <a:rPr kumimoji="1" lang="zh-CN" altLang="en-US" sz="2600" dirty="0">
                <a:solidFill>
                  <a:srgbClr val="FF00FF"/>
                </a:solidFill>
              </a:rPr>
              <a:t>相</a:t>
            </a:r>
            <a:endParaRPr kumimoji="1" lang="en-US" altLang="zh-CN" sz="2600" dirty="0">
              <a:solidFill>
                <a:srgbClr val="FF00FF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600" dirty="0">
                <a:solidFill>
                  <a:srgbClr val="FF00FF"/>
                </a:solidFill>
              </a:rPr>
              <a:t>邻</a:t>
            </a:r>
            <a:r>
              <a:rPr kumimoji="1" lang="en-US" altLang="zh-CN" sz="2600" dirty="0">
                <a:solidFill>
                  <a:srgbClr val="FF00FF"/>
                </a:solidFill>
              </a:rPr>
              <a:t>, </a:t>
            </a:r>
            <a:r>
              <a:rPr kumimoji="1" lang="zh-CN" altLang="en-US" sz="2600" dirty="0">
                <a:solidFill>
                  <a:srgbClr val="FF00FF"/>
                </a:solidFill>
              </a:rPr>
              <a:t>要么在</a:t>
            </a:r>
            <a:r>
              <a:rPr kumimoji="1" lang="en-US" altLang="zh-CN" sz="2600" i="1" dirty="0">
                <a:solidFill>
                  <a:srgbClr val="FF00FF"/>
                </a:solidFill>
              </a:rPr>
              <a:t>G</a:t>
            </a:r>
            <a:r>
              <a:rPr kumimoji="1" lang="zh-CN" altLang="en-US" sz="2600" dirty="0">
                <a:solidFill>
                  <a:srgbClr val="FF00FF"/>
                </a:solidFill>
              </a:rPr>
              <a:t>的补图中与</a:t>
            </a:r>
            <a:r>
              <a:rPr kumimoji="1" lang="en-US" altLang="zh-CN" sz="2600" i="1" dirty="0">
                <a:solidFill>
                  <a:srgbClr val="FF00FF"/>
                </a:solidFill>
              </a:rPr>
              <a:t>a</a:t>
            </a:r>
            <a:r>
              <a:rPr kumimoji="1" lang="zh-CN" altLang="en-US" sz="2600" dirty="0">
                <a:solidFill>
                  <a:srgbClr val="FF00FF"/>
                </a:solidFill>
              </a:rPr>
              <a:t>相邻。</a:t>
            </a:r>
            <a:endParaRPr kumimoji="1" lang="zh-CN" altLang="en-US" sz="2600" i="1" dirty="0">
              <a:solidFill>
                <a:srgbClr val="FF00FF"/>
              </a:solidFill>
            </a:endParaRPr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/>
              <a:t>拉姆齐问题</a:t>
            </a:r>
            <a:endParaRPr kumimoji="1" lang="zh-CN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341438"/>
            <a:ext cx="8458200" cy="2016125"/>
          </a:xfrm>
        </p:spPr>
        <p:txBody>
          <a:bodyPr/>
          <a:lstStyle/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folHlink"/>
                </a:solidFill>
              </a:rPr>
              <a:t>把</a:t>
            </a:r>
            <a:r>
              <a:rPr kumimoji="1" lang="en-US" altLang="zh-CN" sz="2400" dirty="0">
                <a:solidFill>
                  <a:schemeClr val="folHlink"/>
                </a:solidFill>
              </a:rPr>
              <a:t>5</a:t>
            </a:r>
            <a:r>
              <a:rPr kumimoji="1" lang="zh-CN" altLang="en-US" sz="2400" dirty="0">
                <a:solidFill>
                  <a:schemeClr val="folHlink"/>
                </a:solidFill>
              </a:rPr>
              <a:t>个顶点分成两类</a:t>
            </a:r>
            <a:r>
              <a:rPr kumimoji="1" lang="en-US" altLang="zh-CN" sz="2400" dirty="0">
                <a:solidFill>
                  <a:schemeClr val="folHlink"/>
                </a:solidFill>
              </a:rPr>
              <a:t>, </a:t>
            </a:r>
            <a:r>
              <a:rPr kumimoji="1" lang="zh-CN" altLang="en-US" sz="2400" dirty="0">
                <a:solidFill>
                  <a:srgbClr val="FF00FF"/>
                </a:solidFill>
              </a:rPr>
              <a:t>一类是与</a:t>
            </a:r>
            <a:r>
              <a:rPr kumimoji="1" lang="en-US" altLang="zh-CN" sz="2400" i="1" dirty="0">
                <a:solidFill>
                  <a:srgbClr val="FF00FF"/>
                </a:solidFill>
              </a:rPr>
              <a:t>a</a:t>
            </a:r>
            <a:r>
              <a:rPr kumimoji="1" lang="zh-CN" altLang="en-US" sz="2400" dirty="0">
                <a:solidFill>
                  <a:srgbClr val="FF00FF"/>
                </a:solidFill>
              </a:rPr>
              <a:t>在</a:t>
            </a:r>
            <a:r>
              <a:rPr kumimoji="1" lang="en-US" altLang="zh-CN" sz="2400" dirty="0">
                <a:solidFill>
                  <a:srgbClr val="FF00FF"/>
                </a:solidFill>
              </a:rPr>
              <a:t>G</a:t>
            </a:r>
            <a:r>
              <a:rPr kumimoji="1" lang="zh-CN" altLang="en-US" sz="2400" dirty="0">
                <a:solidFill>
                  <a:srgbClr val="FF00FF"/>
                </a:solidFill>
              </a:rPr>
              <a:t>中相邻的结点</a:t>
            </a:r>
            <a:r>
              <a:rPr kumimoji="1" lang="en-US" altLang="zh-CN" sz="2400" dirty="0">
                <a:solidFill>
                  <a:srgbClr val="FF00FF"/>
                </a:solidFill>
              </a:rPr>
              <a:t>, </a:t>
            </a:r>
            <a:r>
              <a:rPr kumimoji="1" lang="zh-CN" altLang="en-US" sz="2400" dirty="0">
                <a:solidFill>
                  <a:srgbClr val="FF00FF"/>
                </a:solidFill>
              </a:rPr>
              <a:t>另一</a:t>
            </a:r>
            <a:endParaRPr kumimoji="1" lang="zh-CN" altLang="en-US" sz="2400" dirty="0">
              <a:solidFill>
                <a:srgbClr val="FF00FF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rgbClr val="FF00FF"/>
                </a:solidFill>
              </a:rPr>
              <a:t>类是在</a:t>
            </a:r>
            <a:r>
              <a:rPr kumimoji="1" lang="en-US" altLang="zh-CN" sz="2400" i="1" dirty="0">
                <a:solidFill>
                  <a:srgbClr val="FF00FF"/>
                </a:solidFill>
              </a:rPr>
              <a:t>G</a:t>
            </a:r>
            <a:r>
              <a:rPr kumimoji="1" lang="zh-CN" altLang="en-US" sz="2400" dirty="0">
                <a:solidFill>
                  <a:srgbClr val="FF00FF"/>
                </a:solidFill>
              </a:rPr>
              <a:t>的补图中与</a:t>
            </a:r>
            <a:r>
              <a:rPr kumimoji="1" lang="en-US" altLang="zh-CN" sz="2400" i="1" dirty="0">
                <a:solidFill>
                  <a:srgbClr val="FF00FF"/>
                </a:solidFill>
              </a:rPr>
              <a:t>a</a:t>
            </a:r>
            <a:r>
              <a:rPr kumimoji="1" lang="zh-CN" altLang="en-US" sz="2400" dirty="0">
                <a:solidFill>
                  <a:srgbClr val="FF00FF"/>
                </a:solidFill>
              </a:rPr>
              <a:t>相邻的结点。</a:t>
            </a:r>
            <a:endParaRPr kumimoji="1" lang="zh-CN" altLang="en-US" sz="2400" dirty="0">
              <a:solidFill>
                <a:srgbClr val="FF00FF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kumimoji="1" lang="zh-CN" altLang="en-US" sz="2400" dirty="0">
                <a:solidFill>
                  <a:schemeClr val="folHlink"/>
                </a:solidFill>
              </a:rPr>
              <a:t>根据鸽巢定理</a:t>
            </a:r>
            <a:r>
              <a:rPr kumimoji="1" lang="en-US" altLang="zh-CN" sz="2400" dirty="0">
                <a:solidFill>
                  <a:schemeClr val="folHlink"/>
                </a:solidFill>
              </a:rPr>
              <a:t>, </a:t>
            </a:r>
            <a:r>
              <a:rPr kumimoji="1" lang="zh-CN" altLang="en-US" sz="2400" dirty="0">
                <a:solidFill>
                  <a:schemeClr val="folHlink"/>
                </a:solidFill>
              </a:rPr>
              <a:t>必有一类至少含有</a:t>
            </a:r>
            <a:r>
              <a:rPr kumimoji="1" lang="en-US" altLang="zh-CN" sz="2400" dirty="0">
                <a:solidFill>
                  <a:schemeClr val="folHlink"/>
                </a:solidFill>
              </a:rPr>
              <a:t>3</a:t>
            </a:r>
            <a:r>
              <a:rPr kumimoji="1" lang="zh-CN" altLang="en-US" sz="2400" dirty="0">
                <a:solidFill>
                  <a:schemeClr val="folHlink"/>
                </a:solidFill>
              </a:rPr>
              <a:t>个结点</a:t>
            </a:r>
            <a:r>
              <a:rPr kumimoji="1" lang="en-US" altLang="zh-CN" sz="2400" dirty="0">
                <a:solidFill>
                  <a:schemeClr val="folHlink"/>
                </a:solidFill>
              </a:rPr>
              <a:t>.</a:t>
            </a:r>
            <a:endParaRPr lang="zh-CN" altLang="en-US" sz="2400" dirty="0">
              <a:solidFill>
                <a:schemeClr val="folHlink"/>
              </a:solidFill>
            </a:endParaRPr>
          </a:p>
          <a:p>
            <a:pPr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folHlink"/>
                </a:solidFill>
              </a:rPr>
              <a:t>不妨设其中的</a:t>
            </a:r>
            <a:r>
              <a:rPr lang="en-US" altLang="zh-CN" sz="2400" dirty="0">
                <a:solidFill>
                  <a:schemeClr val="folHlink"/>
                </a:solidFill>
              </a:rPr>
              <a:t>3</a:t>
            </a:r>
            <a:r>
              <a:rPr lang="zh-CN" altLang="en-US" sz="2400" dirty="0">
                <a:solidFill>
                  <a:schemeClr val="folHlink"/>
                </a:solidFill>
              </a:rPr>
              <a:t>个结点为</a:t>
            </a:r>
            <a:r>
              <a:rPr lang="en-US" altLang="zh-CN" sz="2400" i="1" dirty="0" err="1">
                <a:solidFill>
                  <a:schemeClr val="folHlink"/>
                </a:solidFill>
              </a:rPr>
              <a:t>b</a:t>
            </a:r>
            <a:r>
              <a:rPr lang="en-US" altLang="zh-CN" sz="2400" dirty="0" err="1">
                <a:solidFill>
                  <a:schemeClr val="folHlink"/>
                </a:solidFill>
              </a:rPr>
              <a:t>,</a:t>
            </a:r>
            <a:r>
              <a:rPr lang="en-US" altLang="zh-CN" sz="2400" i="1" dirty="0" err="1">
                <a:solidFill>
                  <a:schemeClr val="folHlink"/>
                </a:solidFill>
              </a:rPr>
              <a:t>c</a:t>
            </a:r>
            <a:r>
              <a:rPr lang="en-US" altLang="zh-CN" sz="2400" dirty="0" err="1">
                <a:solidFill>
                  <a:schemeClr val="folHlink"/>
                </a:solidFill>
              </a:rPr>
              <a:t>,</a:t>
            </a:r>
            <a:r>
              <a:rPr lang="en-US" altLang="zh-CN" sz="2400" i="1" dirty="0" err="1">
                <a:solidFill>
                  <a:schemeClr val="folHlink"/>
                </a:solidFill>
              </a:rPr>
              <a:t>d</a:t>
            </a:r>
            <a:r>
              <a:rPr lang="en-US" altLang="zh-CN" sz="2400" dirty="0">
                <a:solidFill>
                  <a:schemeClr val="folHlink"/>
                </a:solidFill>
              </a:rPr>
              <a:t>, </a:t>
            </a:r>
            <a:r>
              <a:rPr lang="zh-CN" altLang="en-US" sz="2400" dirty="0">
                <a:solidFill>
                  <a:schemeClr val="folHlink"/>
                </a:solidFill>
              </a:rPr>
              <a:t>得到如下的图</a:t>
            </a:r>
            <a:r>
              <a:rPr lang="en-US" altLang="zh-CN" sz="2400" i="1" dirty="0">
                <a:solidFill>
                  <a:schemeClr val="folHlink"/>
                </a:solidFill>
              </a:rPr>
              <a:t>H</a:t>
            </a:r>
            <a:r>
              <a:rPr lang="en-US" altLang="zh-CN" sz="2400" dirty="0">
                <a:solidFill>
                  <a:schemeClr val="folHlink"/>
                </a:solidFill>
              </a:rPr>
              <a:t>.</a:t>
            </a:r>
            <a:endParaRPr lang="zh-CN" altLang="en-US" sz="2400" dirty="0">
              <a:solidFill>
                <a:schemeClr val="folHlink"/>
              </a:solidFill>
            </a:endParaRPr>
          </a:p>
        </p:txBody>
      </p:sp>
      <p:grpSp>
        <p:nvGrpSpPr>
          <p:cNvPr id="2" name="Group 15"/>
          <p:cNvGrpSpPr/>
          <p:nvPr/>
        </p:nvGrpSpPr>
        <p:grpSpPr bwMode="auto">
          <a:xfrm>
            <a:off x="6627813" y="1641475"/>
            <a:ext cx="2176462" cy="1892300"/>
            <a:chOff x="4175" y="1034"/>
            <a:chExt cx="1371" cy="1192"/>
          </a:xfrm>
        </p:grpSpPr>
        <p:sp>
          <p:nvSpPr>
            <p:cNvPr id="88070" name="Oval 4"/>
            <p:cNvSpPr>
              <a:spLocks noChangeArrowheads="1"/>
            </p:cNvSpPr>
            <p:nvPr/>
          </p:nvSpPr>
          <p:spPr bwMode="auto">
            <a:xfrm>
              <a:off x="4703" y="1296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1" name="Oval 5"/>
            <p:cNvSpPr>
              <a:spLocks noChangeArrowheads="1"/>
            </p:cNvSpPr>
            <p:nvPr/>
          </p:nvSpPr>
          <p:spPr bwMode="auto">
            <a:xfrm>
              <a:off x="4319" y="1872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2" name="Oval 6"/>
            <p:cNvSpPr>
              <a:spLocks noChangeArrowheads="1"/>
            </p:cNvSpPr>
            <p:nvPr/>
          </p:nvSpPr>
          <p:spPr bwMode="auto">
            <a:xfrm>
              <a:off x="4703" y="1872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3" name="Oval 7"/>
            <p:cNvSpPr>
              <a:spLocks noChangeArrowheads="1"/>
            </p:cNvSpPr>
            <p:nvPr/>
          </p:nvSpPr>
          <p:spPr bwMode="auto">
            <a:xfrm>
              <a:off x="5279" y="1872"/>
              <a:ext cx="96" cy="9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Line 8"/>
            <p:cNvSpPr>
              <a:spLocks noChangeShapeType="1"/>
            </p:cNvSpPr>
            <p:nvPr/>
          </p:nvSpPr>
          <p:spPr bwMode="auto">
            <a:xfrm>
              <a:off x="4751" y="1392"/>
              <a:ext cx="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5" name="Line 9"/>
            <p:cNvSpPr>
              <a:spLocks noChangeShapeType="1"/>
            </p:cNvSpPr>
            <p:nvPr/>
          </p:nvSpPr>
          <p:spPr bwMode="auto">
            <a:xfrm flipH="1">
              <a:off x="4367" y="1392"/>
              <a:ext cx="336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6" name="Line 10"/>
            <p:cNvSpPr>
              <a:spLocks noChangeShapeType="1"/>
            </p:cNvSpPr>
            <p:nvPr/>
          </p:nvSpPr>
          <p:spPr bwMode="auto">
            <a:xfrm>
              <a:off x="4799" y="1392"/>
              <a:ext cx="528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077" name="Text Box 11"/>
            <p:cNvSpPr txBox="1">
              <a:spLocks noChangeArrowheads="1"/>
            </p:cNvSpPr>
            <p:nvPr/>
          </p:nvSpPr>
          <p:spPr bwMode="auto">
            <a:xfrm>
              <a:off x="4597" y="1034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a</a:t>
              </a:r>
              <a:endPara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8078" name="Text Box 12"/>
            <p:cNvSpPr txBox="1">
              <a:spLocks noChangeArrowheads="1"/>
            </p:cNvSpPr>
            <p:nvPr/>
          </p:nvSpPr>
          <p:spPr bwMode="auto">
            <a:xfrm>
              <a:off x="4175" y="1925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b</a:t>
              </a:r>
              <a:endPara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8079" name="Text Box 13"/>
            <p:cNvSpPr txBox="1">
              <a:spLocks noChangeArrowheads="1"/>
            </p:cNvSpPr>
            <p:nvPr/>
          </p:nvSpPr>
          <p:spPr bwMode="auto">
            <a:xfrm>
              <a:off x="4655" y="1925"/>
              <a:ext cx="20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88080" name="Text Box 14"/>
            <p:cNvSpPr txBox="1">
              <a:spLocks noChangeArrowheads="1"/>
            </p:cNvSpPr>
            <p:nvPr/>
          </p:nvSpPr>
          <p:spPr bwMode="auto">
            <a:xfrm>
              <a:off x="5334" y="1938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CN" sz="2400" b="1" i="1">
                  <a:latin typeface="Times New Roman" panose="02020603050405020304" pitchFamily="18" charset="0"/>
                  <a:ea typeface="黑体" panose="02010609060101010101" pitchFamily="2" charset="-122"/>
                </a:rPr>
                <a:t>d</a:t>
              </a:r>
              <a:endParaRPr lang="en-US" altLang="zh-CN" sz="2400" b="1" i="1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635920" name="Rectangle 16"/>
          <p:cNvSpPr>
            <a:spLocks noChangeArrowheads="1"/>
          </p:cNvSpPr>
          <p:nvPr/>
        </p:nvSpPr>
        <p:spPr bwMode="auto">
          <a:xfrm>
            <a:off x="179388" y="3286125"/>
            <a:ext cx="8458200" cy="34559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H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要么是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的子图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要么是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的补图的子图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(1)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设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H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是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的子图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若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4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),(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4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),(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4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中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有一条边在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中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则这条边所关联的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个顶点与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形成三角形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endParaRPr lang="en-US" altLang="zh-CN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即有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个人互相认识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.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若这三条边都不在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中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则必都在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的补图中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故顶点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b</a:t>
            </a:r>
            <a:r>
              <a:rPr lang="en-US" altLang="zh-CN" sz="24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2400" b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en-US" altLang="zh-CN" sz="2400" b="1" i="1" dirty="0" err="1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d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形成三角形</a:t>
            </a: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即有三人相互不认识。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(2) 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设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H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是</a:t>
            </a:r>
            <a:r>
              <a:rPr lang="en-US" altLang="zh-CN" sz="2400" b="1" i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G</a:t>
            </a:r>
            <a:r>
              <a:rPr lang="zh-CN" altLang="en-US" sz="24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的补图的子图，同理可得到相同结论。</a:t>
            </a:r>
            <a:endParaRPr lang="zh-CN" altLang="en-US" sz="24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4" name="幻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 anchor="b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35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359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359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359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359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359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20" grpId="0" build="p"/>
    </p:bldLst>
  </p:timing>
</p:sld>
</file>

<file path=ppt/tags/tag1.xml><?xml version="1.0" encoding="utf-8"?>
<p:tagLst xmlns:p="http://schemas.openxmlformats.org/presentationml/2006/main">
  <p:tag name="TIMING" val="|2.3|0.4|0.3|0.3|2.3|2.2|0.4|0.6"/>
</p:tagLst>
</file>

<file path=ppt/tags/tag2.xml><?xml version="1.0" encoding="utf-8"?>
<p:tagLst xmlns:p="http://schemas.openxmlformats.org/presentationml/2006/main">
  <p:tag name="TIMING" val="|1.3|0.4|0.2|0.5|0.3|0.4|0.4|0.4"/>
</p:tagLst>
</file>

<file path=ppt/tags/tag3.xml><?xml version="1.0" encoding="utf-8"?>
<p:tagLst xmlns:p="http://schemas.openxmlformats.org/presentationml/2006/main">
  <p:tag name="TIMING" val="|0.4|0.3|0.2|0.5|0.3|1.3|0.5"/>
</p:tagLst>
</file>

<file path=ppt/tags/tag4.xml><?xml version="1.0" encoding="utf-8"?>
<p:tagLst xmlns:p="http://schemas.openxmlformats.org/presentationml/2006/main">
  <p:tag name="TIMING" val="|0.1|0.2|0.2|0.4|0.2|0.6|9.7|0.4|0.7"/>
</p:tagLst>
</file>

<file path=ppt/tags/tag5.xml><?xml version="1.0" encoding="utf-8"?>
<p:tagLst xmlns:p="http://schemas.openxmlformats.org/presentationml/2006/main">
  <p:tag name="TIMING" val="|1.9|1|0.6|1|0.9"/>
</p:tagLst>
</file>

<file path=ppt/tags/tag6.xml><?xml version="1.0" encoding="utf-8"?>
<p:tagLst xmlns:p="http://schemas.openxmlformats.org/presentationml/2006/main">
  <p:tag name="TIMING" val="|3"/>
</p:tagLst>
</file>

<file path=ppt/tags/tag7.xml><?xml version="1.0" encoding="utf-8"?>
<p:tagLst xmlns:p="http://schemas.openxmlformats.org/presentationml/2006/main">
  <p:tag name="TIMING" val="|0.6|0.6|0.8|1.1|0.4|0.4|4"/>
</p:tagLst>
</file>

<file path=ppt/tags/tag8.xml><?xml version="1.0" encoding="utf-8"?>
<p:tagLst xmlns:p="http://schemas.openxmlformats.org/presentationml/2006/main">
  <p:tag name="TIMING" val="|2.3|0.4|3.2|76.8|10.3|1.3|13.4"/>
</p:tagLst>
</file>

<file path=ppt/tags/tag9.xml><?xml version="1.0" encoding="utf-8"?>
<p:tagLst xmlns:p="http://schemas.openxmlformats.org/presentationml/2006/main">
  <p:tag name="TIMING" val="|0.2|0.1|0.2|0.2|0.1|0.6"/>
</p:tagLst>
</file>

<file path=ppt/tags/tag10.xml><?xml version="1.0" encoding="utf-8"?>
<p:tagLst xmlns:p="http://schemas.openxmlformats.org/presentationml/2006/main">
  <p:tag name="TIMING" val="|0.5|0.6|1.1"/>
</p:tagLst>
</file>

<file path=ppt/tags/tag11.xml><?xml version="1.0" encoding="utf-8"?>
<p:tagLst xmlns:p="http://schemas.openxmlformats.org/presentationml/2006/main">
  <p:tag name="TIMING" val="|0.4|1.3|3.7|0.8|1.1|4|1.6"/>
</p:tagLst>
</file>

<file path=ppt/tags/tag12.xml><?xml version="1.0" encoding="utf-8"?>
<p:tagLst xmlns:p="http://schemas.openxmlformats.org/presentationml/2006/main">
  <p:tag name="TIMING" val="|0.5|0.5|0.1|55.2|0.3|1.1|1.2"/>
</p:tagLst>
</file>

<file path=ppt/tags/tag13.xml><?xml version="1.0" encoding="utf-8"?>
<p:tagLst xmlns:p="http://schemas.openxmlformats.org/presentationml/2006/main">
  <p:tag name="TIMING" val="|1.4"/>
</p:tagLst>
</file>

<file path=ppt/tags/tag14.xml><?xml version="1.0" encoding="utf-8"?>
<p:tagLst xmlns:p="http://schemas.openxmlformats.org/presentationml/2006/main">
  <p:tag name="TIMING" val="|2.3|0.4|0.2|61.7|1.1|0.4|0.2|0.2|0.7"/>
</p:tagLst>
</file>

<file path=ppt/tags/tag15.xml><?xml version="1.0" encoding="utf-8"?>
<p:tagLst xmlns:p="http://schemas.openxmlformats.org/presentationml/2006/main">
  <p:tag name="TIMING" val="|0.4|0.4|0.2"/>
</p:tagLst>
</file>

<file path=ppt/tags/tag16.xml><?xml version="1.0" encoding="utf-8"?>
<p:tagLst xmlns:p="http://schemas.openxmlformats.org/presentationml/2006/main">
  <p:tag name="TIMING" val="|0.1|0.2|9.1|12.9|2.5|51.7|1|0.8"/>
</p:tagLst>
</file>

<file path=ppt/tags/tag17.xml><?xml version="1.0" encoding="utf-8"?>
<p:tagLst xmlns:p="http://schemas.openxmlformats.org/presentationml/2006/main">
  <p:tag name="KSO_WM_UNIT_PLACING_PICTURE_USER_VIEWPORT" val="{&quot;height&quot;:4694.4125984251968,&quot;width&quot;:9463.8173228346459}"/>
</p:tagLst>
</file>

<file path=ppt/tags/tag18.xml><?xml version="1.0" encoding="utf-8"?>
<p:tagLst xmlns:p="http://schemas.openxmlformats.org/presentationml/2006/main">
  <p:tag name="REFSHAPE" val="568890580"/>
  <p:tag name="KSO_WM_UNIT_PLACING_PICTURE_USER_VIEWPORT" val="{&quot;height&quot;:3089.6141732283463,&quot;width&quot;:9583.8015748031503}"/>
</p:tagLst>
</file>

<file path=ppt/tags/tag19.xml><?xml version="1.0" encoding="utf-8"?>
<p:tagLst xmlns:p="http://schemas.openxmlformats.org/presentationml/2006/main">
  <p:tag name="KSO_WM_UNIT_PLACING_PICTURE_USER_VIEWPORT" val="{&quot;height&quot;:4694.4125984251968,&quot;width&quot;:9463.8173228346459}"/>
</p:tagLst>
</file>

<file path=ppt/tags/tag20.xml><?xml version="1.0" encoding="utf-8"?>
<p:tagLst xmlns:p="http://schemas.openxmlformats.org/presentationml/2006/main">
  <p:tag name="REFSHAPE" val="568890580"/>
  <p:tag name="KSO_WM_UNIT_PLACING_PICTURE_USER_VIEWPORT" val="{&quot;height&quot;:3089.6141732283463,&quot;width&quot;:9583.8015748031503}"/>
</p:tagLst>
</file>

<file path=ppt/tags/tag21.xml><?xml version="1.0" encoding="utf-8"?>
<p:tagLst xmlns:p="http://schemas.openxmlformats.org/presentationml/2006/main">
  <p:tag name="TIMING" val="|0.9|0.3|0.2|0.4|12.6|0.6|0.4"/>
</p:tagLst>
</file>

<file path=ppt/tags/tag22.xml><?xml version="1.0" encoding="utf-8"?>
<p:tagLst xmlns:p="http://schemas.openxmlformats.org/presentationml/2006/main">
  <p:tag name="TIMING" val="|0.3|40.4|12.8"/>
</p:tagLst>
</file>

<file path=ppt/tags/tag23.xml><?xml version="1.0" encoding="utf-8"?>
<p:tagLst xmlns:p="http://schemas.openxmlformats.org/presentationml/2006/main">
  <p:tag name="TIMING" val="|1.4|16.7|0.6|0.7"/>
</p:tagLst>
</file>

<file path=ppt/tags/tag24.xml><?xml version="1.0" encoding="utf-8"?>
<p:tagLst xmlns:p="http://schemas.openxmlformats.org/presentationml/2006/main">
  <p:tag name="TIMING" val="|2.4|0.5|0.8|13.5"/>
</p:tagLst>
</file>

<file path=ppt/tags/tag25.xml><?xml version="1.0" encoding="utf-8"?>
<p:tagLst xmlns:p="http://schemas.openxmlformats.org/presentationml/2006/main">
  <p:tag name="TIMING" val="|3.9"/>
</p:tagLst>
</file>

<file path=ppt/tags/tag26.xml><?xml version="1.0" encoding="utf-8"?>
<p:tagLst xmlns:p="http://schemas.openxmlformats.org/presentationml/2006/main">
  <p:tag name="TIMING" val="|0.3|0.7|1.8|0.3|4.6|0.6"/>
</p:tagLst>
</file>

<file path=ppt/tags/tag27.xml><?xml version="1.0" encoding="utf-8"?>
<p:tagLst xmlns:p="http://schemas.openxmlformats.org/presentationml/2006/main">
  <p:tag name="TIMING" val="|0.3|0.8|0.4|0.2|0.5|0.4"/>
</p:tagLst>
</file>

<file path=ppt/tags/tag28.xml><?xml version="1.0" encoding="utf-8"?>
<p:tagLst xmlns:p="http://schemas.openxmlformats.org/presentationml/2006/main">
  <p:tag name="TIMING" val="|18.2|0.5"/>
</p:tagLst>
</file>

<file path=ppt/tags/tag29.xml><?xml version="1.0" encoding="utf-8"?>
<p:tagLst xmlns:p="http://schemas.openxmlformats.org/presentationml/2006/main">
  <p:tag name="TIMING" val="|0.2|0.7|0.3|0.3|0.2|0.2|0.2|2.5|0.5|12.6|0.6"/>
</p:tagLst>
</file>

<file path=ppt/tags/tag30.xml><?xml version="1.0" encoding="utf-8"?>
<p:tagLst xmlns:p="http://schemas.openxmlformats.org/presentationml/2006/main">
  <p:tag name="TIMING" val="|0.3|0.5|0.8|0.3|0.3"/>
</p:tagLst>
</file>

<file path=ppt/tags/tag31.xml><?xml version="1.0" encoding="utf-8"?>
<p:tagLst xmlns:p="http://schemas.openxmlformats.org/presentationml/2006/main">
  <p:tag name="TIMING" val="|0.9|0.3|0.2"/>
</p:tagLst>
</file>

<file path=ppt/tags/tag32.xml><?xml version="1.0" encoding="utf-8"?>
<p:tagLst xmlns:p="http://schemas.openxmlformats.org/presentationml/2006/main">
  <p:tag name="TIMING" val="|1|0.7|0.8|1.3|0.7|1.2|53.1|1.3"/>
</p:tagLst>
</file>

<file path=ppt/tags/tag33.xml><?xml version="1.0" encoding="utf-8"?>
<p:tagLst xmlns:p="http://schemas.openxmlformats.org/presentationml/2006/main">
  <p:tag name="TIMING" val="|0.6|0.8|0.7|0.9|1|6.5"/>
</p:tagLst>
</file>

<file path=ppt/tags/tag34.xml><?xml version="1.0" encoding="utf-8"?>
<p:tagLst xmlns:p="http://schemas.openxmlformats.org/presentationml/2006/main">
  <p:tag name="COMMONDATA" val="eyJoZGlkIjoiY2JiMjJjNjEwZGVmNWM5ZTE4YjkzYzY1NDY4YzMyMmM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黑体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0</TotalTime>
  <Words>10680</Words>
  <Application>WPS 演示</Application>
  <PresentationFormat>全屏显示(4:3)</PresentationFormat>
  <Paragraphs>1268</Paragraphs>
  <Slides>94</Slides>
  <Notes>46</Notes>
  <HiddenSlides>0</HiddenSlides>
  <MMClips>37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25</vt:i4>
      </vt:variant>
      <vt:variant>
        <vt:lpstr>幻灯片标题</vt:lpstr>
      </vt:variant>
      <vt:variant>
        <vt:i4>94</vt:i4>
      </vt:variant>
    </vt:vector>
  </HeadingPairs>
  <TitlesOfParts>
    <vt:vector size="132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Symbol</vt:lpstr>
      <vt:lpstr>华文仿宋</vt:lpstr>
      <vt:lpstr>Symbol</vt:lpstr>
      <vt:lpstr>Heiti SC Light</vt:lpstr>
      <vt:lpstr>Blends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Acrobat.Document.DC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引言</vt:lpstr>
      <vt:lpstr>离散数学是什么？</vt:lpstr>
      <vt:lpstr>为什么要学习离散数学？</vt:lpstr>
      <vt:lpstr>图  论  部  分</vt:lpstr>
      <vt:lpstr>课程主要内容</vt:lpstr>
      <vt:lpstr>7.1 图的基本概念</vt:lpstr>
      <vt:lpstr>什么是图</vt:lpstr>
      <vt:lpstr>什么是图</vt:lpstr>
      <vt:lpstr>什么是图</vt:lpstr>
      <vt:lpstr>为什么研究图</vt:lpstr>
      <vt:lpstr>图论在不同领域的应用</vt:lpstr>
      <vt:lpstr>有序对与无序对</vt:lpstr>
      <vt:lpstr>图的定义</vt:lpstr>
      <vt:lpstr>图的定义举例</vt:lpstr>
      <vt:lpstr>用图对社交网络建模</vt:lpstr>
      <vt:lpstr>关于图的几点说明</vt:lpstr>
      <vt:lpstr>无向图(undirected graph)</vt:lpstr>
      <vt:lpstr>有向图(directed graph)</vt:lpstr>
      <vt:lpstr>关键术语的符号表示</vt:lpstr>
      <vt:lpstr>n阶图 零图 平凡图 空图</vt:lpstr>
      <vt:lpstr>标定图 非标定图 基图</vt:lpstr>
      <vt:lpstr>相邻(adjacent) 关联(incident)</vt:lpstr>
      <vt:lpstr>邻接(adjacent) 关联(incident)</vt:lpstr>
      <vt:lpstr>相邻(adjacent) 关联(incident)</vt:lpstr>
      <vt:lpstr>邻域(neighborhood)</vt:lpstr>
      <vt:lpstr>课堂测试一：</vt:lpstr>
      <vt:lpstr>图术语</vt:lpstr>
      <vt:lpstr>顶点的度(degree/valence)</vt:lpstr>
      <vt:lpstr>最大(出/入)度,最小(出/入)度</vt:lpstr>
      <vt:lpstr>度的举例</vt:lpstr>
      <vt:lpstr>课后作业一:</vt:lpstr>
      <vt:lpstr>PowerPoint 演示文稿</vt:lpstr>
      <vt:lpstr>握手定理(图论基本定理) </vt:lpstr>
      <vt:lpstr>握手定理推论的证明</vt:lpstr>
      <vt:lpstr>握手定理的应用举例(1)</vt:lpstr>
      <vt:lpstr>课后作业三：</vt:lpstr>
      <vt:lpstr>课后作业四：</vt:lpstr>
      <vt:lpstr>度数列</vt:lpstr>
      <vt:lpstr>可图化、可简单图化</vt:lpstr>
      <vt:lpstr>定理3(可图化充要条件)</vt:lpstr>
      <vt:lpstr>Havel定理(可简单图化充要条件)</vt:lpstr>
      <vt:lpstr>Havel定理(证明示意)P112</vt:lpstr>
      <vt:lpstr>可简单图化举例</vt:lpstr>
      <vt:lpstr>例7.4  Havel定理(举例)</vt:lpstr>
      <vt:lpstr>例7.3 定理7.5(举例)</vt:lpstr>
      <vt:lpstr>课后习题六：</vt:lpstr>
      <vt:lpstr>定理4 (可简单图化充要条件)</vt:lpstr>
      <vt:lpstr>定理4’(等价形式)</vt:lpstr>
      <vt:lpstr>图的同构</vt:lpstr>
      <vt:lpstr>图的同构举例</vt:lpstr>
      <vt:lpstr>同构的实例</vt:lpstr>
      <vt:lpstr>同构的实例</vt:lpstr>
      <vt:lpstr>课后作业七：</vt:lpstr>
      <vt:lpstr>图同构（举例）</vt:lpstr>
      <vt:lpstr>图同构（举例）</vt:lpstr>
      <vt:lpstr>彼得森图</vt:lpstr>
      <vt:lpstr>关于同构的说明</vt:lpstr>
      <vt:lpstr>完全图 正则图</vt:lpstr>
      <vt:lpstr>完全图、正则图</vt:lpstr>
      <vt:lpstr>正则图的举例-Plato图</vt:lpstr>
      <vt:lpstr>正则图的举例-Plato图</vt:lpstr>
      <vt:lpstr>r部图(r-partite graphs)</vt:lpstr>
      <vt:lpstr>r部图举例</vt:lpstr>
      <vt:lpstr>完全r部图(complete r-partite graphs)</vt:lpstr>
      <vt:lpstr>二部图举例</vt:lpstr>
      <vt:lpstr>二部图举例</vt:lpstr>
      <vt:lpstr>思考</vt:lpstr>
      <vt:lpstr>子图</vt:lpstr>
      <vt:lpstr>子图的实例</vt:lpstr>
      <vt:lpstr>生成子图实例</vt:lpstr>
      <vt:lpstr>补图</vt:lpstr>
      <vt:lpstr>相对补图</vt:lpstr>
      <vt:lpstr>自补图</vt:lpstr>
      <vt:lpstr>图运算I</vt:lpstr>
      <vt:lpstr>图运算举例</vt:lpstr>
      <vt:lpstr>图运算II</vt:lpstr>
      <vt:lpstr>图族(graph class)</vt:lpstr>
      <vt:lpstr>花束(bouquets)</vt:lpstr>
      <vt:lpstr>两极(dipoles)</vt:lpstr>
      <vt:lpstr>完全图(complete graphs)</vt:lpstr>
      <vt:lpstr>有向完全图</vt:lpstr>
      <vt:lpstr>竞赛图(tournament)</vt:lpstr>
      <vt:lpstr>柏拉图图(Platonic graphs)</vt:lpstr>
      <vt:lpstr>彼得森图(Pertersen graph)</vt:lpstr>
      <vt:lpstr>库拉图斯基图(Kuratowski graph)</vt:lpstr>
      <vt:lpstr>路径(paths)</vt:lpstr>
      <vt:lpstr>圈(cycles)</vt:lpstr>
      <vt:lpstr>轮(wheels)</vt:lpstr>
      <vt:lpstr>超立方体(hypercubes)</vt:lpstr>
      <vt:lpstr>树(trees)</vt:lpstr>
      <vt:lpstr>学习要点与基本要求</vt:lpstr>
      <vt:lpstr>Ramsey 问题（拉姆齐问题）</vt:lpstr>
      <vt:lpstr>拉姆齐问题</vt:lpstr>
    </vt:vector>
  </TitlesOfParts>
  <Company>ouc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sheng</dc:creator>
  <cp:lastModifiedBy>小天鹅</cp:lastModifiedBy>
  <cp:revision>1244</cp:revision>
  <dcterms:created xsi:type="dcterms:W3CDTF">2008-01-04T07:39:00Z</dcterms:created>
  <dcterms:modified xsi:type="dcterms:W3CDTF">2023-09-20T22:39:20Z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2052-12.1.0.15673</vt:lpwstr>
  </property>
  <property fmtid="{D5CDD505-2E9C-101B-9397-08002B2CF9AE}" pid="3" name="ICV">
    <vt:lpwstr>A8414AD8CBFB475A97A7A079B7F94023</vt:lpwstr>
  </property>
</Properties>
</file>