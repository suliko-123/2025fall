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0"/>
  </p:handoutMasterIdLst>
  <p:sldIdLst>
    <p:sldId id="397" r:id="rId3"/>
    <p:sldId id="275" r:id="rId4"/>
    <p:sldId id="277" r:id="rId6"/>
    <p:sldId id="278" r:id="rId7"/>
    <p:sldId id="279" r:id="rId8"/>
    <p:sldId id="488" r:id="rId9"/>
    <p:sldId id="489" r:id="rId10"/>
    <p:sldId id="490" r:id="rId11"/>
    <p:sldId id="282" r:id="rId12"/>
    <p:sldId id="283" r:id="rId13"/>
    <p:sldId id="284" r:id="rId14"/>
    <p:sldId id="285" r:id="rId15"/>
    <p:sldId id="288" r:id="rId16"/>
    <p:sldId id="289" r:id="rId17"/>
    <p:sldId id="290" r:id="rId18"/>
    <p:sldId id="462" r:id="rId19"/>
    <p:sldId id="487" r:id="rId20"/>
    <p:sldId id="286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808080"/>
    <a:srgbClr val="996633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0"/>
    <p:restoredTop sz="88321"/>
  </p:normalViewPr>
  <p:slideViewPr>
    <p:cSldViewPr showGuides="1">
      <p:cViewPr>
        <p:scale>
          <a:sx n="80" d="100"/>
          <a:sy n="80" d="100"/>
        </p:scale>
        <p:origin x="2312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4" Type="http://schemas.openxmlformats.org/officeDocument/2006/relationships/tags" Target="tags/tag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BA5A08-449A-4F4D-8C07-C1B02EBD9998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A5A2CA-84D3-F348-9A07-9EC96FFD922C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48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AE3554-FFC8-2B45-8FAE-5A627DE2EF0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4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举例，提问</a:t>
            </a:r>
            <a:endParaRPr lang="en-US" altLang="zh-CN"/>
          </a:p>
        </p:txBody>
      </p:sp>
      <p:sp>
        <p:nvSpPr>
          <p:cNvPr id="49155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与非饱和点关联的边一定不在</a:t>
            </a:r>
            <a:r>
              <a:rPr lang="en-US" altLang="zh-CN"/>
              <a:t>M</a:t>
            </a:r>
            <a:r>
              <a:rPr lang="zh-CN" altLang="en-US"/>
              <a:t>中，与饱和点关联的边不一定在</a:t>
            </a:r>
            <a:r>
              <a:rPr lang="en-US" altLang="zh-CN"/>
              <a:t>M</a:t>
            </a:r>
            <a:r>
              <a:rPr lang="zh-CN" altLang="en-US"/>
              <a:t>中</a:t>
            </a:r>
            <a:endParaRPr lang="en-US" altLang="zh-CN"/>
          </a:p>
        </p:txBody>
      </p:sp>
      <p:sp>
        <p:nvSpPr>
          <p:cNvPr id="6041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以本例，讲述交错圈、交错路径、增广路径，如何用增广路径得到更大的匹配</a:t>
            </a:r>
            <a:endParaRPr lang="zh-CN" altLang="en-US"/>
          </a:p>
        </p:txBody>
      </p:sp>
      <p:sp>
        <p:nvSpPr>
          <p:cNvPr id="624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）自行证明</a:t>
            </a:r>
            <a:endParaRPr lang="en-US" altLang="zh-CN"/>
          </a:p>
        </p:txBody>
      </p:sp>
      <p:sp>
        <p:nvSpPr>
          <p:cNvPr id="5632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/>
              <a:t>K3</a:t>
            </a:r>
            <a:r>
              <a:rPr lang="zh-CN" altLang="en-US"/>
              <a:t>好像不符合这个结论</a:t>
            </a:r>
            <a:endParaRPr lang="en-US" altLang="zh-CN"/>
          </a:p>
        </p:txBody>
      </p:sp>
      <p:sp>
        <p:nvSpPr>
          <p:cNvPr id="5837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任取</a:t>
            </a:r>
            <a:r>
              <a:rPr lang="en-US" altLang="zh-CN"/>
              <a:t>e1,e2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∈M’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）当</a:t>
            </a:r>
            <a:r>
              <a:rPr lang="en-US" altLang="zh-CN"/>
              <a:t>e1,e2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∈M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，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e1,e2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一定不相邻；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）</a:t>
            </a:r>
            <a:r>
              <a:rPr lang="zh-CN" altLang="en-US"/>
              <a:t>当</a:t>
            </a:r>
            <a:r>
              <a:rPr lang="en-US" altLang="zh-CN"/>
              <a:t>e1,e2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∈E(Γ),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根据增广路径的定义，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e1,e2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一定不相邻；所以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 M’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是匹配</a:t>
            </a:r>
            <a:endParaRPr lang="en-US" altLang="zh-CN"/>
          </a:p>
        </p:txBody>
      </p:sp>
      <p:sp>
        <p:nvSpPr>
          <p:cNvPr id="6656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6861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/>
              <a:t>在交错圈上</a:t>
            </a:r>
            <a:r>
              <a:rPr lang="en-US" altLang="zh-CN"/>
              <a:t>,M</a:t>
            </a:r>
            <a:r>
              <a:rPr lang="zh-CN" altLang="en-US"/>
              <a:t>与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中的边相等</a:t>
            </a:r>
            <a:r>
              <a:rPr lang="en-US" altLang="zh-CN"/>
              <a:t>.</a:t>
            </a:r>
            <a:endParaRPr lang="en-US" altLang="zh-CN"/>
          </a:p>
          <a:p>
            <a:pPr lvl="0" eaLnBrk="1" hangingPunct="1"/>
            <a:r>
              <a:rPr lang="zh-CN" altLang="en-US"/>
              <a:t>由必要性，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无可增广路径，因此</a:t>
            </a:r>
            <a:r>
              <a:rPr lang="en-US" altLang="zh-CN"/>
              <a:t>M</a:t>
            </a:r>
            <a:r>
              <a:rPr lang="zh-CN" altLang="en-US"/>
              <a:t>和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都无可增广路径</a:t>
            </a:r>
            <a:r>
              <a:rPr lang="en-US" altLang="zh-CN"/>
              <a:t>,</a:t>
            </a:r>
            <a:r>
              <a:rPr lang="zh-CN" altLang="en-US"/>
              <a:t>假设在某个交错路径上</a:t>
            </a:r>
            <a:r>
              <a:rPr lang="en-US" altLang="zh-CN"/>
              <a:t>,M</a:t>
            </a:r>
            <a:r>
              <a:rPr lang="zh-CN" altLang="en-US"/>
              <a:t>中的边比</a:t>
            </a:r>
            <a:r>
              <a:rPr lang="en-US" altLang="zh-CN"/>
              <a:t>M1</a:t>
            </a:r>
            <a:r>
              <a:rPr lang="zh-CN" altLang="en-US"/>
              <a:t>中的边多</a:t>
            </a:r>
            <a:r>
              <a:rPr lang="en-US" altLang="zh-CN"/>
              <a:t>1,</a:t>
            </a:r>
            <a:r>
              <a:rPr lang="zh-CN" altLang="en-US"/>
              <a:t>那么该交错路径是</a:t>
            </a:r>
            <a:r>
              <a:rPr lang="en-US" altLang="zh-CN"/>
              <a:t>M1</a:t>
            </a:r>
            <a:r>
              <a:rPr lang="zh-CN" altLang="en-US"/>
              <a:t>的可增广路径</a:t>
            </a:r>
            <a:r>
              <a:rPr lang="en-US" altLang="zh-CN"/>
              <a:t>.</a:t>
            </a:r>
            <a:endParaRPr lang="en-US" altLang="zh-CN"/>
          </a:p>
          <a:p>
            <a:pPr lvl="0" eaLnBrk="1" hangingPunct="1"/>
            <a:r>
              <a:rPr lang="zh-CN" altLang="en-US"/>
              <a:t>故在交错路径上</a:t>
            </a:r>
            <a:r>
              <a:rPr lang="en-US" altLang="zh-CN"/>
              <a:t>M</a:t>
            </a:r>
            <a:r>
              <a:rPr lang="zh-CN" altLang="en-US"/>
              <a:t>与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中的边相等。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/>
              <a:t>n</a:t>
            </a:r>
            <a:r>
              <a:rPr lang="zh-CN" altLang="en-US"/>
              <a:t>阶简单图</a:t>
            </a:r>
            <a:r>
              <a:rPr lang="en-US" altLang="zh-CN"/>
              <a:t>G</a:t>
            </a:r>
            <a:r>
              <a:rPr lang="zh-CN" altLang="en-US"/>
              <a:t>存在完美匹配，那么</a:t>
            </a:r>
            <a:r>
              <a:rPr lang="en-US" altLang="zh-CN"/>
              <a:t>n</a:t>
            </a:r>
            <a:r>
              <a:rPr lang="zh-CN" altLang="en-US"/>
              <a:t>一定是偶数。</a:t>
            </a:r>
            <a:endParaRPr lang="en-US" altLang="zh-CN"/>
          </a:p>
        </p:txBody>
      </p:sp>
      <p:sp>
        <p:nvSpPr>
          <p:cNvPr id="7168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07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78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F9DB1A-2EFB-A84E-8B0D-D43047F4BA9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>
          <a:xfrm>
            <a:off x="674688" y="2640013"/>
            <a:ext cx="7793037" cy="982662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p>
            <a:pPr algn="ctr" eaLnBrk="1" hangingPunct="1">
              <a:buClrTx/>
              <a:buSzTx/>
              <a:buFontTx/>
            </a:pPr>
            <a:r>
              <a:rPr lang="en-US" altLang="zh-CN" sz="4000" b="0">
                <a:solidFill>
                  <a:schemeClr val="tx1"/>
                </a:solidFill>
              </a:rPr>
              <a:t>13.2 </a:t>
            </a:r>
            <a:r>
              <a:rPr lang="zh-CN" altLang="en-US" sz="4000" b="0">
                <a:solidFill>
                  <a:schemeClr val="tx1"/>
                </a:solidFill>
              </a:rPr>
              <a:t>边覆盖集与匹配</a:t>
            </a:r>
            <a:endParaRPr lang="zh-CN" altLang="en-US" sz="40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边覆盖</a:t>
            </a:r>
            <a:r>
              <a:rPr lang="en-US" altLang="zh-CN" b="0"/>
              <a:t>(edge cover)</a:t>
            </a:r>
            <a:endParaRPr lang="en-US" altLang="zh-CN" b="0"/>
          </a:p>
        </p:txBody>
      </p:sp>
      <p:sp>
        <p:nvSpPr>
          <p:cNvPr id="481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无向图</a:t>
            </a:r>
            <a:r>
              <a:rPr lang="en-US" altLang="zh-CN"/>
              <a:t>G=&lt;V,E&gt;, E*⊆E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边覆盖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∀</a:t>
            </a:r>
            <a:r>
              <a:rPr lang="en-US" altLang="zh-CN" i="1"/>
              <a:t>v</a:t>
            </a:r>
            <a:r>
              <a:rPr lang="en-US" altLang="zh-CN"/>
              <a:t>∈V, ∃</a:t>
            </a:r>
            <a:r>
              <a:rPr lang="en-US" altLang="zh-CN" i="1"/>
              <a:t>e</a:t>
            </a:r>
            <a:r>
              <a:rPr lang="en-US" altLang="zh-CN"/>
              <a:t>∈E*, </a:t>
            </a:r>
            <a:r>
              <a:rPr lang="en-US" altLang="zh-CN" i="1"/>
              <a:t>e</a:t>
            </a:r>
            <a:r>
              <a:rPr lang="zh-CN" altLang="en-US"/>
              <a:t>关联</a:t>
            </a:r>
            <a:r>
              <a:rPr lang="en-US" altLang="zh-CN" i="1"/>
              <a:t>v</a:t>
            </a:r>
            <a:endParaRPr lang="en-US" altLang="zh-CN" i="1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极小边覆盖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E*</a:t>
            </a:r>
            <a:r>
              <a:rPr lang="zh-CN" altLang="en-US"/>
              <a:t>是边覆盖</a:t>
            </a:r>
            <a:r>
              <a:rPr lang="en-US" altLang="zh-CN"/>
              <a:t>, </a:t>
            </a:r>
            <a:r>
              <a:rPr lang="zh-CN" altLang="en-US"/>
              <a:t>其真子集都不是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最小边覆盖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|E*|</a:t>
            </a:r>
            <a:r>
              <a:rPr lang="zh-CN" altLang="en-US"/>
              <a:t>最小的边覆盖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边覆盖数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1</a:t>
            </a:r>
            <a:r>
              <a:rPr lang="en-US" altLang="zh-CN"/>
              <a:t>(G)=|E*|, E*</a:t>
            </a:r>
            <a:r>
              <a:rPr lang="zh-CN" altLang="en-US"/>
              <a:t>是最小边覆盖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边覆盖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86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/>
              <a:t>{</a:t>
            </a:r>
            <a:r>
              <a:rPr lang="en-US" altLang="zh-CN" i="1"/>
              <a:t>e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3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6</a:t>
            </a:r>
            <a:r>
              <a:rPr lang="en-US" altLang="zh-CN"/>
              <a:t>}, {</a:t>
            </a:r>
            <a:r>
              <a:rPr lang="en-US" altLang="zh-CN" i="1"/>
              <a:t>e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3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7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1</a:t>
            </a:r>
            <a:r>
              <a:rPr lang="en-US" altLang="zh-CN"/>
              <a:t>=3</a:t>
            </a:r>
            <a:endParaRPr lang="en-US" altLang="zh-CN"/>
          </a:p>
        </p:txBody>
      </p:sp>
      <p:grpSp>
        <p:nvGrpSpPr>
          <p:cNvPr id="50179" name="Group 24"/>
          <p:cNvGrpSpPr/>
          <p:nvPr/>
        </p:nvGrpSpPr>
        <p:grpSpPr>
          <a:xfrm>
            <a:off x="395288" y="2636838"/>
            <a:ext cx="2303462" cy="2089150"/>
            <a:chOff x="204" y="1570"/>
            <a:chExt cx="1451" cy="1316"/>
          </a:xfrm>
        </p:grpSpPr>
        <p:sp>
          <p:nvSpPr>
            <p:cNvPr id="50180" name="Oval 4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181" name="Oval 5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182" name="Oval 7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183" name="Oval 8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184" name="Oval 9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185" name="Line 10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6" name="Line 11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7" name="Line 12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8" name="Line 13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9" name="Line 14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90" name="Line 15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91" name="Line 16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92" name="Text Box 17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3" name="Text Box 18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4" name="Text Box 19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5" name="Text Box 20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6" name="Text Box 21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7" name="Text Box 22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8" name="Text Box 23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0199" name="Group 25"/>
          <p:cNvGrpSpPr/>
          <p:nvPr/>
        </p:nvGrpSpPr>
        <p:grpSpPr>
          <a:xfrm>
            <a:off x="3276600" y="2708275"/>
            <a:ext cx="2303463" cy="2089150"/>
            <a:chOff x="204" y="1570"/>
            <a:chExt cx="1451" cy="1316"/>
          </a:xfrm>
        </p:grpSpPr>
        <p:sp>
          <p:nvSpPr>
            <p:cNvPr id="50200" name="Oval 26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01" name="Oval 27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02" name="Oval 28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03" name="Oval 29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04" name="Oval 30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05" name="Line 31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6" name="Line 32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7" name="Line 33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8" name="Line 34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9" name="Line 35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10" name="Line 36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11" name="Line 37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12" name="Text Box 38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3" name="Text Box 39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4" name="Text Box 40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5" name="Text Box 41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6" name="Text Box 42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7" name="Text Box 43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8" name="Text Box 44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0219" name="Group 45"/>
          <p:cNvGrpSpPr/>
          <p:nvPr/>
        </p:nvGrpSpPr>
        <p:grpSpPr>
          <a:xfrm>
            <a:off x="6300788" y="2708275"/>
            <a:ext cx="2303462" cy="2089150"/>
            <a:chOff x="204" y="1570"/>
            <a:chExt cx="1451" cy="1316"/>
          </a:xfrm>
        </p:grpSpPr>
        <p:sp>
          <p:nvSpPr>
            <p:cNvPr id="50220" name="Oval 46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21" name="Oval 47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22" name="Oval 48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23" name="Oval 49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24" name="Oval 50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0225" name="Line 51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26" name="Line 52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27" name="Line 53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28" name="Line 54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29" name="Line 55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30" name="Line 56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31" name="Line 57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32" name="Text Box 58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3" name="Text Box 59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4" name="Text Box 60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5" name="Text Box 61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6" name="Text Box 62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7" name="Text Box 63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8" name="Text Box 64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匹配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(matching)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无向图</a:t>
            </a:r>
            <a:r>
              <a:rPr lang="en-US" altLang="zh-CN"/>
              <a:t>G=&lt;V,E&gt;, </a:t>
            </a:r>
            <a:r>
              <a:rPr lang="en-US" altLang="zh-CN">
                <a:solidFill>
                  <a:schemeClr val="hlink"/>
                </a:solidFill>
              </a:rPr>
              <a:t>E*</a:t>
            </a:r>
            <a:r>
              <a:rPr lang="en-US" altLang="zh-CN"/>
              <a:t>⊆E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匹配</a:t>
            </a:r>
            <a:r>
              <a:rPr lang="en-US" altLang="zh-CN"/>
              <a:t>(</a:t>
            </a:r>
            <a:r>
              <a:rPr lang="zh-CN" altLang="en-US">
                <a:solidFill>
                  <a:srgbClr val="FF00FF"/>
                </a:solidFill>
              </a:rPr>
              <a:t>边独立集</a:t>
            </a:r>
            <a:r>
              <a:rPr lang="en-US" altLang="zh-CN"/>
              <a:t>): ∀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zh-CN" altLang="en-US"/>
              <a:t> </a:t>
            </a:r>
            <a:r>
              <a:rPr lang="en-US" altLang="zh-CN" i="1"/>
              <a:t>f</a:t>
            </a:r>
            <a:r>
              <a:rPr lang="en-US" altLang="zh-CN"/>
              <a:t>∈E*, 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f</a:t>
            </a:r>
            <a:r>
              <a:rPr lang="zh-CN" altLang="en-US" i="1"/>
              <a:t> </a:t>
            </a:r>
            <a:r>
              <a:rPr lang="zh-CN" altLang="en-US"/>
              <a:t>不相邻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极大匹配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E*</a:t>
            </a:r>
            <a:r>
              <a:rPr lang="zh-CN" altLang="en-US"/>
              <a:t>是匹配</a:t>
            </a:r>
            <a:r>
              <a:rPr lang="en-US" altLang="zh-CN"/>
              <a:t>, </a:t>
            </a:r>
            <a:r>
              <a:rPr lang="zh-CN" altLang="en-US"/>
              <a:t>其真母集都不是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最大匹配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|E*|</a:t>
            </a:r>
            <a:r>
              <a:rPr lang="zh-CN" altLang="en-US"/>
              <a:t>最大的匹配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匹配数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hlink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chemeClr val="hlink"/>
                </a:solidFill>
              </a:rPr>
              <a:t>1</a:t>
            </a:r>
            <a:r>
              <a:rPr lang="en-US" altLang="zh-CN"/>
              <a:t>(G)=|E*|, E*</a:t>
            </a:r>
            <a:r>
              <a:rPr lang="zh-CN" altLang="en-US"/>
              <a:t>是最大匹配</a:t>
            </a:r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charRg st="8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匹配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7207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0"/>
              <a:t>{</a:t>
            </a:r>
            <a:r>
              <a:rPr lang="en-US" altLang="zh-CN" i="1"/>
              <a:t>e</a:t>
            </a:r>
            <a:r>
              <a:rPr lang="en-US" altLang="zh-CN" baseline="-25000"/>
              <a:t>1</a:t>
            </a:r>
            <a:r>
              <a:rPr lang="en-US" altLang="zh-CN" b="0"/>
              <a:t>, </a:t>
            </a:r>
            <a:r>
              <a:rPr lang="en-US" altLang="zh-CN" i="1"/>
              <a:t>e</a:t>
            </a:r>
            <a:r>
              <a:rPr lang="en-US" altLang="zh-CN" baseline="-25000"/>
              <a:t>7</a:t>
            </a:r>
            <a:r>
              <a:rPr lang="en-US" altLang="zh-CN" b="0"/>
              <a:t>}, {</a:t>
            </a:r>
            <a:r>
              <a:rPr lang="en-US" altLang="zh-CN" i="1"/>
              <a:t>e</a:t>
            </a:r>
            <a:r>
              <a:rPr lang="en-US" altLang="zh-CN" baseline="-25000"/>
              <a:t>1</a:t>
            </a:r>
            <a:r>
              <a:rPr lang="en-US" altLang="zh-CN" b="0"/>
              <a:t>, </a:t>
            </a:r>
            <a:r>
              <a:rPr lang="en-US" altLang="zh-CN" i="1"/>
              <a:t>e</a:t>
            </a:r>
            <a:r>
              <a:rPr lang="en-US" altLang="zh-CN" baseline="-25000"/>
              <a:t>4</a:t>
            </a:r>
            <a:r>
              <a:rPr lang="en-US" altLang="zh-CN" b="0"/>
              <a:t>}, {</a:t>
            </a:r>
            <a:r>
              <a:rPr lang="en-US" altLang="zh-CN" i="1"/>
              <a:t>e</a:t>
            </a:r>
            <a:r>
              <a:rPr lang="en-US" altLang="zh-CN" baseline="-25000"/>
              <a:t>5</a:t>
            </a:r>
            <a:r>
              <a:rPr lang="en-US" altLang="zh-CN" b="0"/>
              <a:t>},</a:t>
            </a:r>
            <a:r>
              <a:rPr lang="en-US" altLang="zh-CN" b="0">
                <a:sym typeface="Symbol" panose="05050102010706020507" charset="2"/>
              </a:rPr>
              <a:t></a:t>
            </a:r>
            <a:r>
              <a:rPr lang="en-US" altLang="zh-CN" b="0" baseline="-25000"/>
              <a:t>1</a:t>
            </a:r>
            <a:r>
              <a:rPr lang="en-US" altLang="zh-CN" b="0"/>
              <a:t>=2</a:t>
            </a:r>
            <a:endParaRPr lang="en-US" altLang="zh-CN" b="0"/>
          </a:p>
        </p:txBody>
      </p:sp>
      <p:grpSp>
        <p:nvGrpSpPr>
          <p:cNvPr id="52227" name="Group 4"/>
          <p:cNvGrpSpPr/>
          <p:nvPr/>
        </p:nvGrpSpPr>
        <p:grpSpPr>
          <a:xfrm>
            <a:off x="395288" y="2133600"/>
            <a:ext cx="2303462" cy="2089150"/>
            <a:chOff x="204" y="1570"/>
            <a:chExt cx="1451" cy="1316"/>
          </a:xfrm>
        </p:grpSpPr>
        <p:sp>
          <p:nvSpPr>
            <p:cNvPr id="52228" name="Oval 5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29" name="Oval 6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30" name="Oval 7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31" name="Oval 8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32" name="Oval 9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33" name="Line 10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4" name="Line 11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5" name="Line 12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6" name="Line 13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7" name="Line 14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8" name="Line 15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9" name="Line 16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40" name="Text Box 17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1" name="Text Box 18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2" name="Text Box 19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3" name="Text Box 20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4" name="Text Box 21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5" name="Text Box 22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6" name="Text Box 23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2247" name="Group 24"/>
          <p:cNvGrpSpPr/>
          <p:nvPr/>
        </p:nvGrpSpPr>
        <p:grpSpPr>
          <a:xfrm>
            <a:off x="3059113" y="2206625"/>
            <a:ext cx="2303462" cy="2089150"/>
            <a:chOff x="204" y="1570"/>
            <a:chExt cx="1451" cy="1316"/>
          </a:xfrm>
        </p:grpSpPr>
        <p:sp>
          <p:nvSpPr>
            <p:cNvPr id="52248" name="Oval 25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49" name="Oval 26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50" name="Oval 27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51" name="Oval 28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52" name="Oval 29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53" name="Line 30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4" name="Line 31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5" name="Line 32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6" name="Line 33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7" name="Line 34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8" name="Line 35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9" name="Line 36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0" name="Text Box 37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61" name="Text Box 38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62" name="Text Box 39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63" name="Text Box 40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64" name="Text Box 41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65" name="Text Box 42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66" name="Text Box 43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2267" name="Group 44"/>
          <p:cNvGrpSpPr/>
          <p:nvPr/>
        </p:nvGrpSpPr>
        <p:grpSpPr>
          <a:xfrm>
            <a:off x="6084888" y="2060575"/>
            <a:ext cx="2303462" cy="2089150"/>
            <a:chOff x="204" y="1570"/>
            <a:chExt cx="1451" cy="1316"/>
          </a:xfrm>
        </p:grpSpPr>
        <p:sp>
          <p:nvSpPr>
            <p:cNvPr id="52268" name="Oval 45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69" name="Oval 46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70" name="Oval 47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71" name="Oval 48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72" name="Oval 49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73" name="Line 50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4" name="Line 51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5" name="Line 52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6" name="Line 53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7" name="Line 54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8" name="Line 55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9" name="Line 56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80" name="Text Box 57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81" name="Text Box 58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82" name="Text Box 59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83" name="Text Box 60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84" name="Text Box 61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85" name="Text Box 62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86" name="Text Box 63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2287" name="Group 64"/>
          <p:cNvGrpSpPr/>
          <p:nvPr/>
        </p:nvGrpSpPr>
        <p:grpSpPr>
          <a:xfrm>
            <a:off x="1619250" y="4365625"/>
            <a:ext cx="2303463" cy="2089150"/>
            <a:chOff x="204" y="1570"/>
            <a:chExt cx="1451" cy="1316"/>
          </a:xfrm>
        </p:grpSpPr>
        <p:sp>
          <p:nvSpPr>
            <p:cNvPr id="52288" name="Oval 65"/>
            <p:cNvSpPr/>
            <p:nvPr/>
          </p:nvSpPr>
          <p:spPr>
            <a:xfrm>
              <a:off x="839" y="157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89" name="Oval 66"/>
            <p:cNvSpPr/>
            <p:nvPr/>
          </p:nvSpPr>
          <p:spPr>
            <a:xfrm>
              <a:off x="839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90" name="Oval 67"/>
            <p:cNvSpPr/>
            <p:nvPr/>
          </p:nvSpPr>
          <p:spPr>
            <a:xfrm>
              <a:off x="204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91" name="Oval 68"/>
            <p:cNvSpPr/>
            <p:nvPr/>
          </p:nvSpPr>
          <p:spPr>
            <a:xfrm>
              <a:off x="1519" y="23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92" name="Oval 69"/>
            <p:cNvSpPr/>
            <p:nvPr/>
          </p:nvSpPr>
          <p:spPr>
            <a:xfrm>
              <a:off x="839" y="2750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2293" name="Line 70"/>
            <p:cNvSpPr/>
            <p:nvPr/>
          </p:nvSpPr>
          <p:spPr>
            <a:xfrm flipV="1">
              <a:off x="295" y="1661"/>
              <a:ext cx="589" cy="6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94" name="Line 71"/>
            <p:cNvSpPr/>
            <p:nvPr/>
          </p:nvSpPr>
          <p:spPr>
            <a:xfrm>
              <a:off x="975" y="1661"/>
              <a:ext cx="590" cy="7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95" name="Line 72"/>
            <p:cNvSpPr/>
            <p:nvPr/>
          </p:nvSpPr>
          <p:spPr>
            <a:xfrm flipV="1">
              <a:off x="295" y="2115"/>
              <a:ext cx="544" cy="2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96" name="Line 73"/>
            <p:cNvSpPr/>
            <p:nvPr/>
          </p:nvSpPr>
          <p:spPr>
            <a:xfrm>
              <a:off x="930" y="2115"/>
              <a:ext cx="635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97" name="Line 74"/>
            <p:cNvSpPr/>
            <p:nvPr/>
          </p:nvSpPr>
          <p:spPr>
            <a:xfrm>
              <a:off x="295" y="2387"/>
              <a:ext cx="1270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98" name="Line 75"/>
            <p:cNvSpPr/>
            <p:nvPr/>
          </p:nvSpPr>
          <p:spPr>
            <a:xfrm>
              <a:off x="295" y="2387"/>
              <a:ext cx="544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99" name="Line 76"/>
            <p:cNvSpPr/>
            <p:nvPr/>
          </p:nvSpPr>
          <p:spPr>
            <a:xfrm flipV="1">
              <a:off x="975" y="2432"/>
              <a:ext cx="59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300" name="Text Box 77"/>
            <p:cNvSpPr txBox="1"/>
            <p:nvPr/>
          </p:nvSpPr>
          <p:spPr>
            <a:xfrm>
              <a:off x="3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01" name="Text Box 78"/>
            <p:cNvSpPr txBox="1"/>
            <p:nvPr/>
          </p:nvSpPr>
          <p:spPr>
            <a:xfrm>
              <a:off x="1247" y="175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02" name="Text Box 79"/>
            <p:cNvSpPr txBox="1"/>
            <p:nvPr/>
          </p:nvSpPr>
          <p:spPr>
            <a:xfrm>
              <a:off x="521" y="18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03" name="Text Box 80"/>
            <p:cNvSpPr txBox="1"/>
            <p:nvPr/>
          </p:nvSpPr>
          <p:spPr>
            <a:xfrm>
              <a:off x="1066" y="19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04" name="Text Box 81"/>
            <p:cNvSpPr txBox="1"/>
            <p:nvPr/>
          </p:nvSpPr>
          <p:spPr>
            <a:xfrm>
              <a:off x="793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05" name="Text Box 82"/>
            <p:cNvSpPr txBox="1"/>
            <p:nvPr/>
          </p:nvSpPr>
          <p:spPr>
            <a:xfrm>
              <a:off x="431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06" name="Text Box 83"/>
            <p:cNvSpPr txBox="1"/>
            <p:nvPr/>
          </p:nvSpPr>
          <p:spPr>
            <a:xfrm>
              <a:off x="1202" y="25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饱和点</a:t>
            </a:r>
            <a:r>
              <a:rPr lang="en-US" altLang="zh-CN" b="0"/>
              <a:t>,</a:t>
            </a:r>
            <a:r>
              <a:rPr lang="zh-CN" altLang="en-US" b="0"/>
              <a:t>交错路径</a:t>
            </a:r>
            <a:r>
              <a:rPr lang="en-US" altLang="zh-CN" b="0"/>
              <a:t>,</a:t>
            </a:r>
            <a:r>
              <a:rPr lang="zh-CN" altLang="en-US" b="0"/>
              <a:t>增广路径</a:t>
            </a:r>
            <a:endParaRPr lang="zh-CN" altLang="en-US" b="0"/>
          </a:p>
        </p:txBody>
      </p:sp>
      <p:sp>
        <p:nvSpPr>
          <p:cNvPr id="593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中匹配</a:t>
            </a:r>
            <a:endParaRPr lang="zh-CN" altLang="en-US"/>
          </a:p>
          <a:p>
            <a:pPr marL="0" indent="0" eaLnBrk="1" hangingPunct="1"/>
            <a:r>
              <a:rPr lang="zh-CN" altLang="en-US">
                <a:solidFill>
                  <a:schemeClr val="hlink"/>
                </a:solidFill>
              </a:rPr>
              <a:t>饱和点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v</a:t>
            </a:r>
            <a:r>
              <a:rPr lang="zh-CN" altLang="en-US"/>
              <a:t>与</a:t>
            </a:r>
            <a:r>
              <a:rPr lang="en-US" altLang="zh-CN"/>
              <a:t>M</a:t>
            </a:r>
            <a:r>
              <a:rPr lang="zh-CN" altLang="en-US"/>
              <a:t>中边关联</a:t>
            </a:r>
            <a:endParaRPr lang="zh-CN" altLang="en-US"/>
          </a:p>
          <a:p>
            <a:pPr marL="0" indent="0" eaLnBrk="1" hangingPunct="1"/>
            <a:r>
              <a:rPr lang="zh-CN" altLang="en-US">
                <a:solidFill>
                  <a:schemeClr val="hlink"/>
                </a:solidFill>
              </a:rPr>
              <a:t>非饱和点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v</a:t>
            </a:r>
            <a:r>
              <a:rPr lang="zh-CN" altLang="en-US"/>
              <a:t>不与</a:t>
            </a:r>
            <a:r>
              <a:rPr lang="en-US" altLang="zh-CN"/>
              <a:t>M</a:t>
            </a:r>
            <a:r>
              <a:rPr lang="zh-CN" altLang="en-US"/>
              <a:t>中边关联</a:t>
            </a:r>
            <a:endParaRPr lang="zh-CN" altLang="en-US"/>
          </a:p>
          <a:p>
            <a:pPr marL="0" indent="0" eaLnBrk="1" hangingPunct="1"/>
            <a:r>
              <a:rPr lang="zh-CN" altLang="en-US">
                <a:solidFill>
                  <a:schemeClr val="hlink"/>
                </a:solidFill>
              </a:rPr>
              <a:t>交错路径</a:t>
            </a:r>
            <a:r>
              <a:rPr lang="en-US" altLang="zh-CN">
                <a:solidFill>
                  <a:schemeClr val="hlink"/>
                </a:solidFill>
              </a:rPr>
              <a:t>(</a:t>
            </a:r>
            <a:r>
              <a:rPr lang="zh-CN" altLang="en-US">
                <a:solidFill>
                  <a:schemeClr val="hlink"/>
                </a:solidFill>
              </a:rPr>
              <a:t>圈</a:t>
            </a:r>
            <a:r>
              <a:rPr lang="en-US" altLang="zh-CN">
                <a:solidFill>
                  <a:schemeClr val="hlink"/>
                </a:solidFill>
              </a:rPr>
              <a:t>):</a:t>
            </a:r>
            <a:r>
              <a:rPr lang="en-US" altLang="zh-CN"/>
              <a:t> </a:t>
            </a:r>
            <a:r>
              <a:rPr lang="zh-CN" altLang="en-US"/>
              <a:t>在</a:t>
            </a:r>
            <a:r>
              <a:rPr lang="en-US" altLang="zh-CN"/>
              <a:t>M</a:t>
            </a:r>
            <a:r>
              <a:rPr lang="zh-CN" altLang="en-US"/>
              <a:t>和</a:t>
            </a:r>
            <a:r>
              <a:rPr lang="en-US" altLang="zh-CN"/>
              <a:t>E-M</a:t>
            </a:r>
            <a:r>
              <a:rPr lang="zh-CN" altLang="en-US"/>
              <a:t>中交替取边的路径</a:t>
            </a:r>
            <a:r>
              <a:rPr lang="en-US" altLang="zh-CN"/>
              <a:t>(</a:t>
            </a:r>
            <a:r>
              <a:rPr lang="zh-CN" altLang="en-US"/>
              <a:t>圈</a:t>
            </a:r>
            <a:r>
              <a:rPr lang="en-US" altLang="zh-CN"/>
              <a:t>)</a:t>
            </a:r>
            <a:endParaRPr lang="zh-CN" altLang="en-US"/>
          </a:p>
          <a:p>
            <a:pPr marL="0" indent="0" eaLnBrk="1" hangingPunct="1"/>
            <a:r>
              <a:rPr lang="zh-CN" altLang="en-US">
                <a:solidFill>
                  <a:schemeClr val="hlink"/>
                </a:solidFill>
              </a:rPr>
              <a:t>可增广交错路径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两端都是</a:t>
            </a:r>
            <a:r>
              <a:rPr lang="zh-CN" altLang="en-US">
                <a:solidFill>
                  <a:srgbClr val="FF0000"/>
                </a:solidFill>
              </a:rPr>
              <a:t>非</a:t>
            </a:r>
            <a:r>
              <a:rPr lang="zh-CN" altLang="en-US"/>
              <a:t>饱和点的交错路径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/>
              <a:t>举例</a:t>
            </a:r>
            <a:r>
              <a:rPr lang="en-US" altLang="zh-CN"/>
              <a:t>-</a:t>
            </a:r>
            <a:r>
              <a:rPr lang="zh-CN" altLang="en-US"/>
              <a:t>交错路径</a:t>
            </a:r>
            <a:endParaRPr lang="zh-CN" altLang="en-US"/>
          </a:p>
        </p:txBody>
      </p:sp>
      <p:grpSp>
        <p:nvGrpSpPr>
          <p:cNvPr id="61442" name="Group 28"/>
          <p:cNvGrpSpPr/>
          <p:nvPr/>
        </p:nvGrpSpPr>
        <p:grpSpPr>
          <a:xfrm>
            <a:off x="617538" y="1768475"/>
            <a:ext cx="2303462" cy="2879725"/>
            <a:chOff x="249" y="1344"/>
            <a:chExt cx="1451" cy="1814"/>
          </a:xfrm>
        </p:grpSpPr>
        <p:sp>
          <p:nvSpPr>
            <p:cNvPr id="61443" name="Line 29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44" name="Group 30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1445" name="Oval 31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46" name="Oval 32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47" name="Oval 33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48" name="Oval 34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49" name="Oval 35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50" name="Line 36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1" name="Line 37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2" name="Line 38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3" name="Line 39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4" name="Line 40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5" name="Line 41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6" name="Line 42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7" name="Text Box 43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58" name="Text Box 44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59" name="Text Box 45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60" name="Text Box 46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61" name="Text Box 47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62" name="Text Box 48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63" name="Text Box 49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464" name="Oval 50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sz="18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1465" name="Rectangle 51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466" name="Group 76"/>
          <p:cNvGrpSpPr/>
          <p:nvPr/>
        </p:nvGrpSpPr>
        <p:grpSpPr>
          <a:xfrm>
            <a:off x="3482975" y="1857375"/>
            <a:ext cx="2303463" cy="2879725"/>
            <a:chOff x="249" y="1344"/>
            <a:chExt cx="1451" cy="1814"/>
          </a:xfrm>
        </p:grpSpPr>
        <p:sp>
          <p:nvSpPr>
            <p:cNvPr id="61467" name="Line 77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68" name="Group 78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1469" name="Oval 79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70" name="Oval 80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71" name="Oval 81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72" name="Oval 82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73" name="Oval 83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74" name="Line 84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75" name="Line 85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76" name="Line 86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77" name="Line 87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78" name="Line 88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79" name="Line 89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80" name="Line 90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81" name="Text Box 91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2" name="Text Box 92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3" name="Text Box 93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4" name="Text Box 94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5" name="Text Box 95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6" name="Text Box 96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7" name="Text Box 97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488" name="Oval 98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sz="18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1489" name="Rectangle 99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490" name="Text Box 100"/>
          <p:cNvSpPr txBox="1"/>
          <p:nvPr/>
        </p:nvSpPr>
        <p:spPr>
          <a:xfrm>
            <a:off x="395288" y="5253038"/>
            <a:ext cx="305752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latin typeface="Tahoma" panose="020B0604030504040204" charset="0"/>
                <a:ea typeface="宋体" panose="02010600030101010101" pitchFamily="2" charset="-122"/>
              </a:rPr>
              <a:t>饱和点与非饱和点</a:t>
            </a:r>
            <a:endParaRPr lang="zh-CN" altLang="en-US" sz="28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1491" name="Text Box 102"/>
          <p:cNvSpPr txBox="1"/>
          <p:nvPr/>
        </p:nvSpPr>
        <p:spPr>
          <a:xfrm>
            <a:off x="4125913" y="5286375"/>
            <a:ext cx="1620837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latin typeface="Tahoma" panose="020B0604030504040204" charset="0"/>
                <a:ea typeface="宋体" panose="02010600030101010101" pitchFamily="2" charset="-122"/>
              </a:rPr>
              <a:t>交错路径</a:t>
            </a:r>
            <a:endParaRPr lang="zh-CN" altLang="en-US" sz="280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61492" name="Group 76"/>
          <p:cNvGrpSpPr/>
          <p:nvPr/>
        </p:nvGrpSpPr>
        <p:grpSpPr>
          <a:xfrm>
            <a:off x="6286500" y="1714500"/>
            <a:ext cx="2303463" cy="2879725"/>
            <a:chOff x="249" y="1344"/>
            <a:chExt cx="1451" cy="1814"/>
          </a:xfrm>
        </p:grpSpPr>
        <p:sp>
          <p:nvSpPr>
            <p:cNvPr id="61493" name="Line 77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94" name="Group 78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1495" name="Oval 79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96" name="Oval 80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97" name="Oval 81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98" name="Oval 82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99" name="Oval 83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00" name="Line 84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1" name="Line 85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2" name="Line 86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3" name="Line 87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4" name="Line 88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5" name="Line 89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6" name="Line 90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07" name="Text Box 91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08" name="Text Box 92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09" name="Text Box 93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0" name="Text Box 94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1" name="Text Box 95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2" name="Text Box 96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3" name="Text Box 97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514" name="Oval 98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sz="18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1515" name="Rectangle 99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516" name="Text Box 102"/>
          <p:cNvSpPr txBox="1"/>
          <p:nvPr/>
        </p:nvSpPr>
        <p:spPr>
          <a:xfrm>
            <a:off x="6715125" y="5214938"/>
            <a:ext cx="126206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latin typeface="Tahoma" panose="020B0604030504040204" charset="0"/>
                <a:ea typeface="宋体" panose="02010600030101010101" pitchFamily="2" charset="-122"/>
              </a:rPr>
              <a:t>交错圈</a:t>
            </a:r>
            <a:endParaRPr lang="zh-CN" altLang="en-US" sz="24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1517" name="文本框 1"/>
          <p:cNvSpPr txBox="1"/>
          <p:nvPr/>
        </p:nvSpPr>
        <p:spPr>
          <a:xfrm>
            <a:off x="1136650" y="4887913"/>
            <a:ext cx="2425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800">
                <a:latin typeface="Tahoma" panose="020B0604030504040204" charset="0"/>
                <a:ea typeface="宋体" panose="02010600030101010101" pitchFamily="2" charset="-122"/>
              </a:rPr>
              <a:t>M={e5,e8}</a:t>
            </a:r>
            <a:endParaRPr lang="en-US" altLang="zh-CN" sz="18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1518" name="文本框 2"/>
          <p:cNvSpPr txBox="1"/>
          <p:nvPr/>
        </p:nvSpPr>
        <p:spPr>
          <a:xfrm>
            <a:off x="3724275" y="4887913"/>
            <a:ext cx="2425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800">
                <a:latin typeface="Tahoma" panose="020B0604030504040204" charset="0"/>
                <a:ea typeface="宋体" panose="02010600030101010101" pitchFamily="2" charset="-122"/>
              </a:rPr>
              <a:t>M={e5,e8}</a:t>
            </a:r>
            <a:endParaRPr lang="en-US" altLang="zh-CN" sz="18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1519" name="文本框 3"/>
          <p:cNvSpPr txBox="1"/>
          <p:nvPr/>
        </p:nvSpPr>
        <p:spPr>
          <a:xfrm>
            <a:off x="6651625" y="4887913"/>
            <a:ext cx="242728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800">
                <a:latin typeface="Tahoma" panose="020B0604030504040204" charset="0"/>
                <a:ea typeface="宋体" panose="02010600030101010101" pitchFamily="2" charset="-122"/>
              </a:rPr>
              <a:t>M={e4,e6}</a:t>
            </a:r>
            <a:endParaRPr lang="en-US" altLang="zh-CN" sz="180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r>
              <a:rPr lang="en-US" altLang="zh-CN"/>
              <a:t>-</a:t>
            </a:r>
            <a:r>
              <a:rPr lang="zh-CN" altLang="en-US"/>
              <a:t>可增广交错路径</a:t>
            </a:r>
            <a:endParaRPr lang="zh-CN" altLang="en-US"/>
          </a:p>
        </p:txBody>
      </p:sp>
      <p:grpSp>
        <p:nvGrpSpPr>
          <p:cNvPr id="63490" name="Group 52"/>
          <p:cNvGrpSpPr/>
          <p:nvPr/>
        </p:nvGrpSpPr>
        <p:grpSpPr>
          <a:xfrm>
            <a:off x="2995613" y="1871663"/>
            <a:ext cx="2303462" cy="2879725"/>
            <a:chOff x="249" y="1344"/>
            <a:chExt cx="1451" cy="1814"/>
          </a:xfrm>
        </p:grpSpPr>
        <p:sp>
          <p:nvSpPr>
            <p:cNvPr id="63491" name="Line 53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3492" name="Group 54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3493" name="Oval 55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4" name="Oval 56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5" name="Oval 57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6" name="Oval 58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7" name="Oval 59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 sz="180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8" name="Line 60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499" name="Line 61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00" name="Line 62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01" name="Line 63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5715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02" name="Line 64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03" name="Line 65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04" name="Line 66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05" name="Text Box 67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6" name="Text Box 68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7" name="Text Box 69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8" name="Text Box 70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9" name="Text Box 71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10" name="Text Box 72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11" name="Text Box 73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3512" name="Oval 74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sz="18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3513" name="Rectangle 75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514" name="Text Box 101"/>
          <p:cNvSpPr txBox="1"/>
          <p:nvPr/>
        </p:nvSpPr>
        <p:spPr>
          <a:xfrm>
            <a:off x="2914650" y="5372100"/>
            <a:ext cx="26987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latin typeface="Tahoma" panose="020B0604030504040204" charset="0"/>
                <a:ea typeface="宋体" panose="02010600030101010101" pitchFamily="2" charset="-122"/>
              </a:rPr>
              <a:t>可增广交错路径</a:t>
            </a:r>
            <a:endParaRPr lang="zh-CN" altLang="en-US" sz="28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515" name="文本框 1"/>
          <p:cNvSpPr txBox="1"/>
          <p:nvPr/>
        </p:nvSpPr>
        <p:spPr>
          <a:xfrm>
            <a:off x="3360738" y="4879975"/>
            <a:ext cx="24272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800">
                <a:latin typeface="Tahoma" panose="020B0604030504040204" charset="0"/>
                <a:ea typeface="宋体" panose="02010600030101010101" pitchFamily="2" charset="-122"/>
              </a:rPr>
              <a:t>M={e4,e8}</a:t>
            </a:r>
            <a:endParaRPr lang="en-US" altLang="zh-CN" sz="180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13.5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13.5: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</a:t>
            </a:r>
            <a:r>
              <a:rPr lang="zh-CN" altLang="en-US">
                <a:solidFill>
                  <a:srgbClr val="FF00FF"/>
                </a:solidFill>
              </a:rPr>
              <a:t>连通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endParaRPr lang="en-US" altLang="zh-CN">
              <a:solidFill>
                <a:srgbClr val="FF00FF"/>
              </a:solidFill>
            </a:endParaRPr>
          </a:p>
          <a:p>
            <a:pPr eaLnBrk="1" hangingPunct="1">
              <a:buNone/>
            </a:pPr>
            <a:r>
              <a:rPr lang="en-US" altLang="zh-CN"/>
              <a:t>    (1) </a:t>
            </a:r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zh-CN" altLang="en-US"/>
              <a:t>是最大匹配</a:t>
            </a:r>
            <a:r>
              <a:rPr lang="en-US" altLang="zh-CN"/>
              <a:t>, ∀</a:t>
            </a:r>
            <a:r>
              <a:rPr lang="zh-CN" altLang="en-US"/>
              <a:t>非饱和点</a:t>
            </a:r>
            <a:r>
              <a:rPr lang="en-US" altLang="zh-CN" i="1"/>
              <a:t>v</a:t>
            </a:r>
            <a:r>
              <a:rPr lang="en-US" altLang="zh-CN"/>
              <a:t>, </a:t>
            </a:r>
            <a:r>
              <a:rPr lang="zh-CN" altLang="en-US"/>
              <a:t>取与</a:t>
            </a:r>
            <a:r>
              <a:rPr lang="en-US" altLang="zh-CN" i="1"/>
              <a:t>v</a:t>
            </a:r>
            <a:r>
              <a:rPr lang="zh-CN" altLang="en-US"/>
              <a:t>关联的任一边</a:t>
            </a:r>
            <a:r>
              <a:rPr lang="en-US" altLang="zh-CN"/>
              <a:t>, </a:t>
            </a:r>
            <a:r>
              <a:rPr lang="zh-CN" altLang="en-US"/>
              <a:t>组成边集</a:t>
            </a:r>
            <a:r>
              <a:rPr lang="en-US" altLang="zh-CN"/>
              <a:t>N, </a:t>
            </a:r>
            <a:r>
              <a:rPr lang="zh-CN" altLang="en-US"/>
              <a:t>则</a:t>
            </a:r>
            <a:r>
              <a:rPr lang="en-US" altLang="zh-CN"/>
              <a:t>W=M∪N</a:t>
            </a:r>
            <a:r>
              <a:rPr lang="zh-CN" altLang="en-US"/>
              <a:t>是最小边覆盖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(2) </a:t>
            </a:r>
            <a:r>
              <a:rPr lang="zh-CN" altLang="en-US"/>
              <a:t>设</a:t>
            </a:r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zh-CN" altLang="en-US"/>
              <a:t>是最小边覆盖</a:t>
            </a:r>
            <a:r>
              <a:rPr lang="en-US" altLang="zh-CN"/>
              <a:t>, </a:t>
            </a:r>
            <a:r>
              <a:rPr lang="zh-CN" altLang="en-US"/>
              <a:t>若</a:t>
            </a:r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zh-CN" altLang="en-US"/>
              <a:t>中有相邻边</a:t>
            </a:r>
            <a:r>
              <a:rPr lang="en-US" altLang="zh-CN"/>
              <a:t>,</a:t>
            </a:r>
            <a:r>
              <a:rPr lang="zh-CN" altLang="en-US"/>
              <a:t>就删除其中一边</a:t>
            </a:r>
            <a:r>
              <a:rPr lang="en-US" altLang="zh-CN"/>
              <a:t>, </a:t>
            </a:r>
            <a:r>
              <a:rPr lang="zh-CN" altLang="en-US"/>
              <a:t>直到无相邻边为止</a:t>
            </a:r>
            <a:r>
              <a:rPr lang="en-US" altLang="zh-CN"/>
              <a:t>,</a:t>
            </a:r>
            <a:r>
              <a:rPr lang="zh-CN" altLang="en-US"/>
              <a:t>设删除的边组成边集</a:t>
            </a:r>
            <a:r>
              <a:rPr lang="en-US" altLang="zh-CN"/>
              <a:t>N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en-US" altLang="zh-CN"/>
              <a:t>=W</a:t>
            </a:r>
            <a:r>
              <a:rPr lang="en-US" altLang="zh-CN" baseline="-25000"/>
              <a:t>1</a:t>
            </a:r>
            <a:r>
              <a:rPr lang="en-US" altLang="zh-CN"/>
              <a:t>-N</a:t>
            </a:r>
            <a:r>
              <a:rPr lang="en-US" altLang="zh-CN" baseline="-25000"/>
              <a:t>1</a:t>
            </a:r>
            <a:r>
              <a:rPr lang="zh-CN" altLang="en-US"/>
              <a:t>是最大匹配</a:t>
            </a:r>
            <a:endParaRPr lang="zh-CN" altLang="en-US"/>
          </a:p>
          <a:p>
            <a:pPr eaLnBrk="1" hangingPunct="1">
              <a:buNone/>
            </a:pPr>
            <a:r>
              <a:rPr lang="zh-CN" altLang="en-US"/>
              <a:t> </a:t>
            </a:r>
            <a:r>
              <a:rPr lang="en-US" altLang="zh-CN"/>
              <a:t>    (3) </a:t>
            </a:r>
            <a:r>
              <a:rPr lang="en-US" altLang="zh-CN">
                <a:solidFill>
                  <a:srgbClr val="000000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+</a:t>
            </a:r>
            <a:r>
              <a:rPr lang="en-US" altLang="zh-CN">
                <a:solidFill>
                  <a:srgbClr val="000000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endParaRPr lang="en-US" altLang="zh-CN" i="1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i="1"/>
              <a:t>v</a:t>
            </a:r>
            <a:r>
              <a:rPr lang="zh-CN" altLang="en-US"/>
              <a:t>是</a:t>
            </a:r>
            <a:r>
              <a:rPr lang="en-US" altLang="zh-CN"/>
              <a:t>M</a:t>
            </a:r>
            <a:r>
              <a:rPr lang="zh-CN" altLang="en-US"/>
              <a:t>的饱和点当且仅当</a:t>
            </a:r>
            <a:r>
              <a:rPr lang="en-US" altLang="zh-CN"/>
              <a:t>∃</a:t>
            </a: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e</a:t>
            </a:r>
            <a:r>
              <a:rPr lang="en-US" altLang="zh-CN"/>
              <a:t>∈M</a:t>
            </a:r>
            <a:r>
              <a:rPr lang="en-US" altLang="zh-CN">
                <a:sym typeface="Symbol" panose="05050102010706020507" charset="2"/>
              </a:rPr>
              <a:t></a:t>
            </a:r>
            <a:r>
              <a:rPr lang="en-US" altLang="zh-CN" i="1"/>
              <a:t>e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r>
              <a:rPr lang="zh-CN" altLang="en-US"/>
              <a:t>关联</a:t>
            </a:r>
            <a:r>
              <a:rPr lang="en-US" altLang="zh-CN"/>
              <a:t>)</a:t>
            </a:r>
            <a:r>
              <a:rPr lang="zh-CN" altLang="en-US"/>
              <a:t>，否则，称为非饱和点。</a:t>
            </a:r>
            <a:endParaRPr lang="en-US" altLang="zh-CN"/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定理</a:t>
            </a:r>
            <a:r>
              <a:rPr lang="en-US" altLang="zh-CN" b="0"/>
              <a:t>13.5(</a:t>
            </a:r>
            <a:r>
              <a:rPr lang="zh-CN" altLang="en-US" b="0"/>
              <a:t>证明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542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M</a:t>
            </a:r>
            <a:r>
              <a:rPr lang="zh-CN" altLang="en-US"/>
              <a:t>是最大匹配</a:t>
            </a:r>
            <a:r>
              <a:rPr lang="en-US" altLang="zh-CN"/>
              <a:t>, |M|=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, |N|=</a:t>
            </a:r>
            <a:r>
              <a:rPr lang="en-US" altLang="zh-CN" i="1"/>
              <a:t>n</a:t>
            </a:r>
            <a:r>
              <a:rPr lang="en-US" altLang="zh-CN"/>
              <a:t>-2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,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ym typeface="Symbol" panose="05050102010706020507" charset="2"/>
              </a:rPr>
              <a:t>                 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≤|W|=|M|+|N|=</a:t>
            </a:r>
            <a:r>
              <a:rPr lang="en-US" altLang="zh-CN" i="1">
                <a:solidFill>
                  <a:srgbClr val="FF00FF"/>
                </a:solidFill>
              </a:rPr>
              <a:t>n</a:t>
            </a:r>
            <a:r>
              <a:rPr lang="en-US" altLang="zh-CN">
                <a:solidFill>
                  <a:srgbClr val="FF00FF"/>
                </a:solidFill>
              </a:rPr>
              <a:t>-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.</a:t>
            </a:r>
            <a:r>
              <a:rPr lang="zh-CN" altLang="en-US"/>
              <a:t> </a:t>
            </a:r>
            <a:r>
              <a:rPr lang="en-US" altLang="zh-CN"/>
              <a:t>(1) 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令</a:t>
            </a:r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zh-CN" altLang="en-US"/>
              <a:t>是最小边覆盖</a:t>
            </a:r>
            <a:r>
              <a:rPr lang="en-US" altLang="zh-CN"/>
              <a:t>, |W</a:t>
            </a:r>
            <a:r>
              <a:rPr lang="en-US" altLang="zh-CN" baseline="-25000"/>
              <a:t>1</a:t>
            </a:r>
            <a:r>
              <a:rPr lang="en-US" altLang="zh-CN"/>
              <a:t>|=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, </a:t>
            </a:r>
            <a:r>
              <a:rPr lang="zh-CN" altLang="en-US"/>
              <a:t>在</a:t>
            </a:r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zh-CN" altLang="en-US"/>
              <a:t>中每删除</a:t>
            </a:r>
            <a:r>
              <a:rPr lang="en-US" altLang="zh-CN"/>
              <a:t>1</a:t>
            </a:r>
            <a:r>
              <a:rPr lang="zh-CN" altLang="en-US"/>
              <a:t>边恰产生</a:t>
            </a:r>
            <a:r>
              <a:rPr lang="en-US" altLang="zh-CN"/>
              <a:t>1</a:t>
            </a:r>
            <a:r>
              <a:rPr lang="zh-CN" altLang="en-US"/>
              <a:t>个非饱和点</a:t>
            </a:r>
            <a:r>
              <a:rPr lang="en-US" altLang="zh-CN"/>
              <a:t>,</a:t>
            </a:r>
            <a:r>
              <a:rPr lang="zh-CN" altLang="en-US"/>
              <a:t>因此由</a:t>
            </a:r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zh-CN" altLang="en-US"/>
              <a:t>构造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时有</a:t>
            </a:r>
            <a:r>
              <a:rPr lang="en-US" altLang="zh-CN"/>
              <a:t>,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|N</a:t>
            </a:r>
            <a:r>
              <a:rPr lang="en-US" altLang="zh-CN" baseline="-25000"/>
              <a:t>1</a:t>
            </a:r>
            <a:r>
              <a:rPr lang="en-US" altLang="zh-CN"/>
              <a:t>|=|W</a:t>
            </a:r>
            <a:r>
              <a:rPr lang="en-US" altLang="zh-CN" baseline="-25000"/>
              <a:t>1</a:t>
            </a:r>
            <a:r>
              <a:rPr lang="en-US" altLang="zh-CN"/>
              <a:t>|-|M</a:t>
            </a:r>
            <a:r>
              <a:rPr lang="en-US" altLang="zh-CN" baseline="-25000"/>
              <a:t>1</a:t>
            </a:r>
            <a:r>
              <a:rPr lang="en-US" altLang="zh-CN"/>
              <a:t>|=“</a:t>
            </a:r>
            <a:r>
              <a:rPr lang="zh-CN" altLang="en-US"/>
              <a:t>删除边数”</a:t>
            </a:r>
            <a:r>
              <a:rPr lang="en-US" altLang="zh-CN"/>
              <a:t>=“M</a:t>
            </a:r>
            <a:r>
              <a:rPr lang="en-US" altLang="zh-CN" baseline="-25000"/>
              <a:t>1</a:t>
            </a:r>
            <a:r>
              <a:rPr lang="zh-CN" altLang="en-US"/>
              <a:t>的非饱和点数”</a:t>
            </a:r>
            <a:endParaRPr lang="zh-CN" altLang="en-US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      </a:t>
            </a:r>
            <a:r>
              <a:rPr lang="en-US" altLang="zh-CN"/>
              <a:t>=</a:t>
            </a:r>
            <a:r>
              <a:rPr lang="en-US" altLang="zh-CN" i="1"/>
              <a:t>n</a:t>
            </a:r>
            <a:r>
              <a:rPr lang="en-US" altLang="zh-CN"/>
              <a:t>-2|M</a:t>
            </a:r>
            <a:r>
              <a:rPr lang="en-US" altLang="zh-CN" baseline="-25000"/>
              <a:t>1</a:t>
            </a:r>
            <a:r>
              <a:rPr lang="en-US" altLang="zh-CN"/>
              <a:t>|, 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=|W</a:t>
            </a:r>
            <a:r>
              <a:rPr lang="en-US" altLang="zh-CN" baseline="-25000"/>
              <a:t>1</a:t>
            </a:r>
            <a:r>
              <a:rPr lang="en-US" altLang="zh-CN"/>
              <a:t>|=</a:t>
            </a:r>
            <a:r>
              <a:rPr lang="en-US" altLang="zh-CN" i="1"/>
              <a:t>n</a:t>
            </a:r>
            <a:r>
              <a:rPr lang="en-US" altLang="zh-CN"/>
              <a:t>-|M</a:t>
            </a:r>
            <a:r>
              <a:rPr lang="en-US" altLang="zh-CN" baseline="-25000"/>
              <a:t>1</a:t>
            </a:r>
            <a:r>
              <a:rPr lang="en-US" altLang="zh-CN"/>
              <a:t>|≥</a:t>
            </a:r>
            <a:r>
              <a:rPr lang="en-US" altLang="zh-CN" i="1">
                <a:solidFill>
                  <a:srgbClr val="FF00FF"/>
                </a:solidFill>
              </a:rPr>
              <a:t>n</a:t>
            </a:r>
            <a:r>
              <a:rPr lang="en-US" altLang="zh-CN">
                <a:solidFill>
                  <a:srgbClr val="FF00FF"/>
                </a:solidFill>
              </a:rPr>
              <a:t>-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.(2)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由</a:t>
            </a:r>
            <a:r>
              <a:rPr lang="en-US" altLang="zh-CN"/>
              <a:t>(1)(2), </a:t>
            </a:r>
            <a:r>
              <a:rPr lang="en-US" altLang="zh-CN" i="1">
                <a:solidFill>
                  <a:srgbClr val="FF00FF"/>
                </a:solidFill>
              </a:rPr>
              <a:t>n</a:t>
            </a:r>
            <a:r>
              <a:rPr lang="en-US" altLang="zh-CN">
                <a:solidFill>
                  <a:srgbClr val="FF00FF"/>
                </a:solidFill>
              </a:rPr>
              <a:t>≤</a:t>
            </a:r>
            <a:r>
              <a:rPr lang="en-US" altLang="zh-CN"/>
              <a:t>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+</a:t>
            </a:r>
            <a:r>
              <a:rPr lang="en-US" altLang="zh-CN"/>
              <a:t>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≤</a:t>
            </a:r>
            <a:r>
              <a:rPr lang="en-US" altLang="zh-CN" i="1">
                <a:solidFill>
                  <a:srgbClr val="FF00FF"/>
                </a:solidFill>
              </a:rPr>
              <a:t>n</a:t>
            </a:r>
            <a:r>
              <a:rPr lang="en-US" altLang="zh-CN"/>
              <a:t>, </a:t>
            </a:r>
            <a:r>
              <a:rPr lang="zh-CN" altLang="en-US"/>
              <a:t>所以</a:t>
            </a:r>
            <a:r>
              <a:rPr lang="zh-CN" altLang="en-US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+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 =</a:t>
            </a:r>
            <a:r>
              <a:rPr lang="en-US" altLang="zh-CN" i="1">
                <a:solidFill>
                  <a:srgbClr val="FF00FF"/>
                </a:solidFill>
              </a:rPr>
              <a:t>n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由</a:t>
            </a:r>
            <a:r>
              <a:rPr lang="en-US" altLang="zh-CN"/>
              <a:t>(1), |W|=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, W</a:t>
            </a:r>
            <a:r>
              <a:rPr lang="zh-CN" altLang="en-US"/>
              <a:t>是最小边覆盖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由</a:t>
            </a:r>
            <a:r>
              <a:rPr lang="en-US" altLang="zh-CN"/>
              <a:t>(2), |M</a:t>
            </a:r>
            <a:r>
              <a:rPr lang="en-US" altLang="zh-CN" baseline="-25000"/>
              <a:t>1</a:t>
            </a:r>
            <a:r>
              <a:rPr lang="en-US" altLang="zh-CN"/>
              <a:t>|=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/>
              <a:t>, M</a:t>
            </a:r>
            <a:r>
              <a:rPr lang="en-US" altLang="zh-CN" baseline="-25000"/>
              <a:t>1</a:t>
            </a:r>
            <a:r>
              <a:rPr lang="zh-CN" altLang="en-US"/>
              <a:t>是最大匹配</a:t>
            </a:r>
            <a:r>
              <a:rPr lang="en-US" altLang="zh-CN"/>
              <a:t>. </a:t>
            </a:r>
            <a:endParaRPr lang="en-US" altLang="zh-CN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13.6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13.6: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</a:t>
            </a:r>
            <a:r>
              <a:rPr lang="zh-CN" altLang="en-US">
                <a:solidFill>
                  <a:srgbClr val="FF00FF"/>
                </a:solidFill>
              </a:rPr>
              <a:t>无孤立点</a:t>
            </a:r>
            <a:r>
              <a:rPr lang="en-US" altLang="zh-CN"/>
              <a:t>, M</a:t>
            </a:r>
            <a:r>
              <a:rPr lang="zh-CN" altLang="en-US"/>
              <a:t>是匹配</a:t>
            </a:r>
            <a:r>
              <a:rPr lang="en-US" altLang="zh-CN"/>
              <a:t>,N</a:t>
            </a:r>
            <a:r>
              <a:rPr lang="zh-CN" altLang="en-US"/>
              <a:t>是点覆盖</a:t>
            </a:r>
            <a:r>
              <a:rPr lang="en-US" altLang="zh-CN"/>
              <a:t>, Y</a:t>
            </a:r>
            <a:r>
              <a:rPr lang="zh-CN" altLang="en-US"/>
              <a:t>是独立集</a:t>
            </a:r>
            <a:r>
              <a:rPr lang="en-US" altLang="zh-CN"/>
              <a:t>, W</a:t>
            </a:r>
            <a:r>
              <a:rPr lang="zh-CN" altLang="en-US"/>
              <a:t>是边覆盖</a:t>
            </a:r>
            <a:r>
              <a:rPr lang="en-US" altLang="zh-CN"/>
              <a:t>, </a:t>
            </a:r>
            <a:r>
              <a:rPr lang="zh-CN" altLang="en-US"/>
              <a:t>则</a:t>
            </a:r>
            <a:endParaRPr lang="zh-CN" altLang="en-US"/>
          </a:p>
          <a:p>
            <a:pPr eaLnBrk="1" hangingPunct="1">
              <a:buNone/>
            </a:pPr>
            <a:r>
              <a:rPr lang="zh-CN" altLang="en-US"/>
              <a:t>   </a:t>
            </a:r>
            <a:r>
              <a:rPr lang="en-US" altLang="zh-CN"/>
              <a:t>(1) |M|≤|N|, (2) |Y|≤|W|, 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(3) </a:t>
            </a:r>
            <a:r>
              <a:rPr lang="zh-CN" altLang="en-US"/>
              <a:t>等号成立时</a:t>
            </a:r>
            <a:r>
              <a:rPr lang="en-US" altLang="zh-CN"/>
              <a:t>, M</a:t>
            </a:r>
            <a:r>
              <a:rPr lang="zh-CN" altLang="en-US"/>
              <a:t>是最大匹配</a:t>
            </a:r>
            <a:r>
              <a:rPr lang="en-US" altLang="zh-CN"/>
              <a:t>, N</a:t>
            </a:r>
            <a:r>
              <a:rPr lang="zh-CN" altLang="en-US"/>
              <a:t>是最小点覆盖</a:t>
            </a:r>
            <a:r>
              <a:rPr lang="en-US" altLang="zh-CN"/>
              <a:t>, Y</a:t>
            </a:r>
            <a:r>
              <a:rPr lang="zh-CN" altLang="en-US"/>
              <a:t>是最大独立集</a:t>
            </a:r>
            <a:r>
              <a:rPr lang="en-US" altLang="zh-CN"/>
              <a:t>, W</a:t>
            </a:r>
            <a:r>
              <a:rPr lang="zh-CN" altLang="en-US"/>
              <a:t>是最小边覆盖</a:t>
            </a:r>
            <a:r>
              <a:rPr lang="en-US" altLang="zh-CN"/>
              <a:t>.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tx2"/>
                </a:solidFill>
              </a:rPr>
              <a:t>(1) M</a:t>
            </a:r>
            <a:r>
              <a:rPr lang="zh-CN" altLang="en-US">
                <a:solidFill>
                  <a:schemeClr val="tx2"/>
                </a:solidFill>
              </a:rPr>
              <a:t>中边不相邻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至少需要</a:t>
            </a:r>
            <a:r>
              <a:rPr lang="en-US" altLang="zh-CN">
                <a:solidFill>
                  <a:schemeClr val="tx2"/>
                </a:solidFill>
              </a:rPr>
              <a:t>|M|</a:t>
            </a:r>
            <a:r>
              <a:rPr lang="zh-CN" altLang="en-US">
                <a:solidFill>
                  <a:schemeClr val="tx2"/>
                </a:solidFill>
              </a:rPr>
              <a:t>个点才能覆盖</a:t>
            </a:r>
            <a:r>
              <a:rPr lang="en-US" altLang="zh-CN">
                <a:solidFill>
                  <a:schemeClr val="tx2"/>
                </a:solidFill>
              </a:rPr>
              <a:t>M. (2) Y</a:t>
            </a:r>
            <a:r>
              <a:rPr lang="zh-CN" altLang="en-US">
                <a:solidFill>
                  <a:schemeClr val="tx2"/>
                </a:solidFill>
              </a:rPr>
              <a:t>中顶点不相邻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至少需要</a:t>
            </a:r>
            <a:r>
              <a:rPr lang="en-US" altLang="zh-CN">
                <a:solidFill>
                  <a:schemeClr val="tx2"/>
                </a:solidFill>
              </a:rPr>
              <a:t>|Y|</a:t>
            </a:r>
            <a:r>
              <a:rPr lang="zh-CN" altLang="en-US">
                <a:solidFill>
                  <a:schemeClr val="tx2"/>
                </a:solidFill>
              </a:rPr>
              <a:t>条边才能覆盖</a:t>
            </a:r>
            <a:r>
              <a:rPr lang="en-US" altLang="zh-CN">
                <a:solidFill>
                  <a:schemeClr val="tx2"/>
                </a:solidFill>
              </a:rPr>
              <a:t>Y. (3) |M|=|N|</a:t>
            </a:r>
            <a:r>
              <a:rPr lang="zh-CN" altLang="en-US">
                <a:solidFill>
                  <a:schemeClr val="tx2"/>
                </a:solidFill>
              </a:rPr>
              <a:t>说明</a:t>
            </a:r>
            <a:r>
              <a:rPr lang="en-US" altLang="zh-CN">
                <a:solidFill>
                  <a:schemeClr val="tx2"/>
                </a:solidFill>
              </a:rPr>
              <a:t>|M|</a:t>
            </a:r>
            <a:r>
              <a:rPr lang="zh-CN" altLang="en-US">
                <a:solidFill>
                  <a:schemeClr val="tx2"/>
                </a:solidFill>
              </a:rPr>
              <a:t>达到最大值</a:t>
            </a:r>
            <a:r>
              <a:rPr lang="en-US" altLang="zh-CN">
                <a:solidFill>
                  <a:schemeClr val="tx2"/>
                </a:solidFill>
              </a:rPr>
              <a:t>, |N|</a:t>
            </a:r>
            <a:r>
              <a:rPr lang="zh-CN" altLang="en-US">
                <a:solidFill>
                  <a:schemeClr val="tx2"/>
                </a:solidFill>
              </a:rPr>
              <a:t>达到最小值</a:t>
            </a:r>
            <a:r>
              <a:rPr lang="en-US" altLang="zh-CN">
                <a:solidFill>
                  <a:schemeClr val="tx2"/>
                </a:solidFill>
              </a:rPr>
              <a:t>. |Y|=|W|</a:t>
            </a:r>
            <a:r>
              <a:rPr lang="zh-CN" altLang="en-US">
                <a:solidFill>
                  <a:schemeClr val="tx2"/>
                </a:solidFill>
              </a:rPr>
              <a:t>类似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r>
              <a:rPr lang="en-US" altLang="zh-CN"/>
              <a:t> </a:t>
            </a:r>
            <a:endParaRPr lang="en-US" altLang="zh-CN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charRg st="125" end="2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推论</a:t>
            </a:r>
            <a:endParaRPr lang="zh-CN" altLang="en-US" b="0"/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</a:t>
            </a:r>
            <a:r>
              <a:rPr lang="zh-CN" altLang="en-US">
                <a:solidFill>
                  <a:srgbClr val="FF00FF"/>
                </a:solidFill>
              </a:rPr>
              <a:t>无孤立点</a:t>
            </a:r>
            <a:r>
              <a:rPr lang="en-US" altLang="zh-CN"/>
              <a:t>, </a:t>
            </a:r>
            <a:r>
              <a:rPr lang="zh-CN" altLang="en-US"/>
              <a:t>则</a:t>
            </a:r>
            <a:endParaRPr lang="zh-CN" altLang="en-US"/>
          </a:p>
          <a:p>
            <a:pPr eaLnBrk="1" hangingPunct="1">
              <a:buNone/>
            </a:pPr>
            <a:r>
              <a:rPr lang="zh-CN" altLang="en-US">
                <a:sym typeface="Symbol" panose="05050102010706020507" charset="2"/>
              </a:rPr>
              <a:t>                  </a:t>
            </a:r>
            <a:r>
              <a:rPr lang="en-US" altLang="zh-CN" baseline="-25000"/>
              <a:t>1</a:t>
            </a:r>
            <a:r>
              <a:rPr lang="en-US" altLang="zh-CN"/>
              <a:t>≤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0</a:t>
            </a:r>
            <a:r>
              <a:rPr lang="en-US" altLang="zh-CN"/>
              <a:t>, 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/>
              <a:t>≤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1</a:t>
            </a:r>
            <a:r>
              <a:rPr lang="en-US" altLang="zh-CN"/>
              <a:t>. </a:t>
            </a:r>
            <a:endParaRPr lang="en-US" altLang="zh-CN"/>
          </a:p>
          <a:p>
            <a:pPr eaLnBrk="1" hangingPunct="1"/>
            <a:r>
              <a:rPr lang="en-US" altLang="zh-CN"/>
              <a:t>K</a:t>
            </a:r>
            <a:r>
              <a:rPr lang="en-US" altLang="zh-CN" i="1" baseline="-25000"/>
              <a:t>r,s</a:t>
            </a:r>
            <a:r>
              <a:rPr lang="en-US" altLang="zh-CN"/>
              <a:t>: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1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0</a:t>
            </a:r>
            <a:r>
              <a:rPr lang="en-US" altLang="zh-CN"/>
              <a:t>=min{</a:t>
            </a:r>
            <a:r>
              <a:rPr lang="en-US" altLang="zh-CN" i="1"/>
              <a:t>r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/>
              <a:t> =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1</a:t>
            </a:r>
            <a:r>
              <a:rPr lang="en-US" altLang="zh-CN"/>
              <a:t>=max{</a:t>
            </a:r>
            <a:r>
              <a:rPr lang="en-US" altLang="zh-CN" i="1"/>
              <a:t>r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},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总结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</a:t>
            </a:r>
            <a:r>
              <a:rPr lang="zh-CN" altLang="en-US">
                <a:solidFill>
                  <a:srgbClr val="FF00FF"/>
                </a:solidFill>
              </a:rPr>
              <a:t>无孤立点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en-US" altLang="zh-CN"/>
              <a:t> </a:t>
            </a:r>
            <a:r>
              <a:rPr lang="zh-CN" altLang="en-US"/>
              <a:t>则</a:t>
            </a:r>
            <a:endParaRPr lang="zh-CN" altLang="en-US"/>
          </a:p>
          <a:p>
            <a:pPr eaLnBrk="1" hangingPunct="1">
              <a:buNone/>
            </a:pPr>
            <a:r>
              <a:rPr lang="zh-CN" altLang="en-US">
                <a:sym typeface="Symbol" panose="05050102010706020507" charset="2"/>
              </a:rPr>
              <a:t>             </a:t>
            </a:r>
            <a:r>
              <a:rPr lang="en-US" altLang="zh-CN" baseline="-25000"/>
              <a:t>1</a:t>
            </a:r>
            <a:r>
              <a:rPr lang="en-US" altLang="zh-CN"/>
              <a:t>≤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0</a:t>
            </a:r>
            <a:r>
              <a:rPr lang="en-US" altLang="zh-CN">
                <a:solidFill>
                  <a:schemeClr val="tx1"/>
                </a:solidFill>
              </a:rPr>
              <a:t>,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≤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1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>
                <a:sym typeface="Symbol" panose="05050102010706020507" charset="2"/>
              </a:rPr>
              <a:t>             </a:t>
            </a:r>
            <a:r>
              <a:rPr lang="en-US" altLang="zh-CN" baseline="-25000"/>
              <a:t>0</a:t>
            </a:r>
            <a:r>
              <a:rPr lang="en-US" altLang="zh-CN"/>
              <a:t>+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/>
              <a:t> =</a:t>
            </a:r>
            <a:r>
              <a:rPr lang="en-US" altLang="zh-CN" i="1"/>
              <a:t>n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1</a:t>
            </a:r>
            <a:r>
              <a:rPr lang="en-US" altLang="zh-CN"/>
              <a:t>+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1</a:t>
            </a:r>
            <a:r>
              <a:rPr lang="en-US" altLang="zh-CN"/>
              <a:t> =</a:t>
            </a:r>
            <a:r>
              <a:rPr lang="en-US" altLang="zh-CN" i="1"/>
              <a:t>n.</a:t>
            </a:r>
            <a:endParaRPr lang="en-US" altLang="zh-CN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最大匹配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3845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13.7: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en-US" altLang="zh-CN"/>
              <a:t>,M</a:t>
            </a:r>
            <a:r>
              <a:rPr lang="en-US" altLang="zh-CN" baseline="-25000"/>
              <a:t>2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</a:t>
            </a:r>
            <a:r>
              <a:rPr lang="en-US" altLang="zh-CN"/>
              <a:t>2</a:t>
            </a:r>
            <a:r>
              <a:rPr lang="zh-CN" altLang="en-US"/>
              <a:t>个不同匹配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G[M</a:t>
            </a:r>
            <a:r>
              <a:rPr lang="en-US" altLang="zh-CN" baseline="-25000"/>
              <a:t>1</a:t>
            </a:r>
            <a:r>
              <a:rPr lang="en-US" altLang="zh-CN"/>
              <a:t>⊕M</a:t>
            </a:r>
            <a:r>
              <a:rPr lang="en-US" altLang="zh-CN" baseline="-25000"/>
              <a:t>2</a:t>
            </a:r>
            <a:r>
              <a:rPr lang="en-US" altLang="zh-CN"/>
              <a:t>]</a:t>
            </a:r>
            <a:r>
              <a:rPr lang="zh-CN" altLang="en-US"/>
              <a:t>的每个连通分支是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en-US" altLang="zh-CN"/>
              <a:t>,M</a:t>
            </a:r>
            <a:r>
              <a:rPr lang="en-US" altLang="zh-CN" baseline="-25000"/>
              <a:t>2</a:t>
            </a:r>
            <a:r>
              <a:rPr lang="zh-CN" altLang="en-US"/>
              <a:t>中的边组成的</a:t>
            </a:r>
            <a:r>
              <a:rPr lang="zh-CN" altLang="en-US">
                <a:solidFill>
                  <a:srgbClr val="FF00FF"/>
                </a:solidFill>
              </a:rPr>
              <a:t>交错圈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FF"/>
                </a:solidFill>
              </a:rPr>
              <a:t>交错路径</a:t>
            </a:r>
            <a:endParaRPr lang="zh-CN" altLang="en-US">
              <a:solidFill>
                <a:srgbClr val="FF00FF"/>
              </a:solidFill>
            </a:endParaRP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是</a:t>
            </a:r>
            <a:r>
              <a:rPr lang="en-US" altLang="zh-CN"/>
              <a:t>G[M</a:t>
            </a:r>
            <a:r>
              <a:rPr lang="en-US" altLang="zh-CN" baseline="-25000"/>
              <a:t>1</a:t>
            </a:r>
            <a:r>
              <a:rPr lang="en-US" altLang="zh-CN"/>
              <a:t>⊕M</a:t>
            </a:r>
            <a:r>
              <a:rPr lang="en-US" altLang="zh-CN" baseline="-25000"/>
              <a:t>2</a:t>
            </a:r>
            <a:r>
              <a:rPr lang="en-US" altLang="zh-CN"/>
              <a:t>]</a:t>
            </a:r>
            <a:r>
              <a:rPr lang="zh-CN" altLang="en-US"/>
              <a:t>的</a:t>
            </a:r>
            <a:r>
              <a:rPr lang="en-US" altLang="zh-CN"/>
              <a:t>1</a:t>
            </a:r>
            <a:r>
              <a:rPr lang="zh-CN" altLang="en-US"/>
              <a:t>个连通分支</a:t>
            </a:r>
            <a:r>
              <a:rPr lang="en-US" altLang="zh-CN"/>
              <a:t>,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   ∀</a:t>
            </a:r>
            <a:r>
              <a:rPr lang="en-US" altLang="zh-CN" i="1"/>
              <a:t>v</a:t>
            </a:r>
            <a:r>
              <a:rPr lang="en-US" altLang="zh-CN"/>
              <a:t>∈V(G</a:t>
            </a:r>
            <a:r>
              <a:rPr lang="en-US" altLang="zh-CN" baseline="-25000"/>
              <a:t>1</a:t>
            </a:r>
            <a:r>
              <a:rPr lang="en-US" altLang="zh-CN"/>
              <a:t>), 1 ≤ d</a:t>
            </a:r>
            <a:r>
              <a:rPr lang="en-US" altLang="zh-CN" baseline="-25000"/>
              <a:t>G</a:t>
            </a:r>
            <a:r>
              <a:rPr lang="en-US" altLang="zh-CN" baseline="-50000"/>
              <a:t>1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)=d</a:t>
            </a:r>
            <a:r>
              <a:rPr lang="en-US" altLang="zh-CN" baseline="-25000"/>
              <a:t>G[M</a:t>
            </a:r>
            <a:r>
              <a:rPr lang="en-US" altLang="zh-CN" baseline="-50000"/>
              <a:t>1</a:t>
            </a:r>
            <a:r>
              <a:rPr lang="en-US" altLang="zh-CN" baseline="-25000"/>
              <a:t>⊕M</a:t>
            </a:r>
            <a:r>
              <a:rPr lang="en-US" altLang="zh-CN" baseline="-50000"/>
              <a:t>2</a:t>
            </a:r>
            <a:r>
              <a:rPr lang="en-US" altLang="zh-CN" baseline="-25000"/>
              <a:t>]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)≤2, 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</a:t>
            </a:r>
            <a:r>
              <a:rPr lang="zh-CN" altLang="en-US"/>
              <a:t>即</a:t>
            </a:r>
            <a:r>
              <a:rPr lang="en-US" altLang="zh-CN"/>
              <a:t>d</a:t>
            </a:r>
            <a:r>
              <a:rPr lang="en-US" altLang="zh-CN" baseline="-25000"/>
              <a:t>G</a:t>
            </a:r>
            <a:r>
              <a:rPr lang="en-US" altLang="zh-CN" baseline="-50000"/>
              <a:t>1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)=1</a:t>
            </a:r>
            <a:r>
              <a:rPr lang="zh-CN" altLang="en-US"/>
              <a:t>或</a:t>
            </a:r>
            <a:r>
              <a:rPr lang="en-US" altLang="zh-CN"/>
              <a:t>2. </a:t>
            </a:r>
            <a:r>
              <a:rPr lang="zh-CN" altLang="en-US"/>
              <a:t>所以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是交错圈或交错路径</a:t>
            </a:r>
            <a:r>
              <a:rPr lang="en-US" altLang="zh-CN"/>
              <a:t>. </a:t>
            </a:r>
            <a:endParaRPr lang="en-US" altLang="zh-CN">
              <a:solidFill>
                <a:schemeClr val="hlink"/>
              </a:solidFill>
            </a:endParaRPr>
          </a:p>
        </p:txBody>
      </p:sp>
      <p:grpSp>
        <p:nvGrpSpPr>
          <p:cNvPr id="64515" name="Group 12"/>
          <p:cNvGrpSpPr/>
          <p:nvPr/>
        </p:nvGrpSpPr>
        <p:grpSpPr>
          <a:xfrm>
            <a:off x="323850" y="5300663"/>
            <a:ext cx="935038" cy="865187"/>
            <a:chOff x="476" y="3339"/>
            <a:chExt cx="771" cy="545"/>
          </a:xfrm>
        </p:grpSpPr>
        <p:sp>
          <p:nvSpPr>
            <p:cNvPr id="64516" name="Line 4"/>
            <p:cNvSpPr/>
            <p:nvPr/>
          </p:nvSpPr>
          <p:spPr>
            <a:xfrm>
              <a:off x="476" y="3339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17" name="Line 5"/>
            <p:cNvSpPr/>
            <p:nvPr/>
          </p:nvSpPr>
          <p:spPr>
            <a:xfrm>
              <a:off x="476" y="3521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18" name="Line 6"/>
            <p:cNvSpPr/>
            <p:nvPr/>
          </p:nvSpPr>
          <p:spPr>
            <a:xfrm>
              <a:off x="476" y="3702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19" name="Line 7"/>
            <p:cNvSpPr/>
            <p:nvPr/>
          </p:nvSpPr>
          <p:spPr>
            <a:xfrm>
              <a:off x="476" y="3884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4520" name="Group 27"/>
          <p:cNvGrpSpPr/>
          <p:nvPr/>
        </p:nvGrpSpPr>
        <p:grpSpPr>
          <a:xfrm>
            <a:off x="1547813" y="5300663"/>
            <a:ext cx="1008062" cy="865187"/>
            <a:chOff x="1429" y="3339"/>
            <a:chExt cx="771" cy="545"/>
          </a:xfrm>
        </p:grpSpPr>
        <p:sp>
          <p:nvSpPr>
            <p:cNvPr id="64521" name="Line 8"/>
            <p:cNvSpPr/>
            <p:nvPr/>
          </p:nvSpPr>
          <p:spPr>
            <a:xfrm>
              <a:off x="1429" y="3339"/>
              <a:ext cx="771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22" name="Line 9"/>
            <p:cNvSpPr/>
            <p:nvPr/>
          </p:nvSpPr>
          <p:spPr>
            <a:xfrm>
              <a:off x="1429" y="3521"/>
              <a:ext cx="72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23" name="Line 10"/>
            <p:cNvSpPr/>
            <p:nvPr/>
          </p:nvSpPr>
          <p:spPr>
            <a:xfrm>
              <a:off x="1429" y="3703"/>
              <a:ext cx="72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24" name="Line 11"/>
            <p:cNvSpPr/>
            <p:nvPr/>
          </p:nvSpPr>
          <p:spPr>
            <a:xfrm flipV="1">
              <a:off x="1474" y="3521"/>
              <a:ext cx="680" cy="363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4525" name="Group 21"/>
          <p:cNvGrpSpPr/>
          <p:nvPr/>
        </p:nvGrpSpPr>
        <p:grpSpPr>
          <a:xfrm>
            <a:off x="2771775" y="5589588"/>
            <a:ext cx="1008063" cy="576262"/>
            <a:chOff x="2517" y="3521"/>
            <a:chExt cx="771" cy="363"/>
          </a:xfrm>
        </p:grpSpPr>
        <p:sp>
          <p:nvSpPr>
            <p:cNvPr id="64526" name="Line 15"/>
            <p:cNvSpPr/>
            <p:nvPr/>
          </p:nvSpPr>
          <p:spPr>
            <a:xfrm>
              <a:off x="2517" y="3521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27" name="Line 16"/>
            <p:cNvSpPr/>
            <p:nvPr/>
          </p:nvSpPr>
          <p:spPr>
            <a:xfrm>
              <a:off x="2517" y="3702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28" name="Line 17"/>
            <p:cNvSpPr/>
            <p:nvPr/>
          </p:nvSpPr>
          <p:spPr>
            <a:xfrm>
              <a:off x="2517" y="3884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29" name="Line 18"/>
            <p:cNvSpPr/>
            <p:nvPr/>
          </p:nvSpPr>
          <p:spPr>
            <a:xfrm>
              <a:off x="2518" y="3521"/>
              <a:ext cx="770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30" name="Line 19"/>
            <p:cNvSpPr/>
            <p:nvPr/>
          </p:nvSpPr>
          <p:spPr>
            <a:xfrm>
              <a:off x="2517" y="3702"/>
              <a:ext cx="771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31" name="Line 20"/>
            <p:cNvSpPr/>
            <p:nvPr/>
          </p:nvSpPr>
          <p:spPr>
            <a:xfrm flipV="1">
              <a:off x="2517" y="3521"/>
              <a:ext cx="771" cy="363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4532" name="Group 34"/>
          <p:cNvGrpSpPr/>
          <p:nvPr/>
        </p:nvGrpSpPr>
        <p:grpSpPr>
          <a:xfrm>
            <a:off x="5002213" y="5300663"/>
            <a:ext cx="1008062" cy="576262"/>
            <a:chOff x="3606" y="3339"/>
            <a:chExt cx="771" cy="363"/>
          </a:xfrm>
        </p:grpSpPr>
        <p:sp>
          <p:nvSpPr>
            <p:cNvPr id="64533" name="Line 23"/>
            <p:cNvSpPr/>
            <p:nvPr/>
          </p:nvSpPr>
          <p:spPr>
            <a:xfrm>
              <a:off x="3606" y="3339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34" name="Line 24"/>
            <p:cNvSpPr/>
            <p:nvPr/>
          </p:nvSpPr>
          <p:spPr>
            <a:xfrm>
              <a:off x="3606" y="3521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35" name="Line 25"/>
            <p:cNvSpPr/>
            <p:nvPr/>
          </p:nvSpPr>
          <p:spPr>
            <a:xfrm>
              <a:off x="3606" y="3702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4536" name="Group 35"/>
          <p:cNvGrpSpPr/>
          <p:nvPr/>
        </p:nvGrpSpPr>
        <p:grpSpPr>
          <a:xfrm>
            <a:off x="6370638" y="5300663"/>
            <a:ext cx="1081087" cy="865187"/>
            <a:chOff x="3741" y="3339"/>
            <a:chExt cx="681" cy="545"/>
          </a:xfrm>
        </p:grpSpPr>
        <p:sp>
          <p:nvSpPr>
            <p:cNvPr id="64537" name="Line 29"/>
            <p:cNvSpPr/>
            <p:nvPr/>
          </p:nvSpPr>
          <p:spPr>
            <a:xfrm>
              <a:off x="3741" y="3339"/>
              <a:ext cx="681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38" name="Line 30"/>
            <p:cNvSpPr/>
            <p:nvPr/>
          </p:nvSpPr>
          <p:spPr>
            <a:xfrm>
              <a:off x="3741" y="3521"/>
              <a:ext cx="63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39" name="Line 31"/>
            <p:cNvSpPr/>
            <p:nvPr/>
          </p:nvSpPr>
          <p:spPr>
            <a:xfrm>
              <a:off x="3787" y="3702"/>
              <a:ext cx="589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4540" name="Group 44"/>
          <p:cNvGrpSpPr/>
          <p:nvPr/>
        </p:nvGrpSpPr>
        <p:grpSpPr>
          <a:xfrm>
            <a:off x="7810500" y="5589588"/>
            <a:ext cx="1009650" cy="576262"/>
            <a:chOff x="4784" y="3521"/>
            <a:chExt cx="636" cy="363"/>
          </a:xfrm>
        </p:grpSpPr>
        <p:sp>
          <p:nvSpPr>
            <p:cNvPr id="64541" name="Line 38"/>
            <p:cNvSpPr/>
            <p:nvPr/>
          </p:nvSpPr>
          <p:spPr>
            <a:xfrm>
              <a:off x="4785" y="3521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42" name="Line 39"/>
            <p:cNvSpPr/>
            <p:nvPr/>
          </p:nvSpPr>
          <p:spPr>
            <a:xfrm>
              <a:off x="4785" y="3702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43" name="Line 42"/>
            <p:cNvSpPr/>
            <p:nvPr/>
          </p:nvSpPr>
          <p:spPr>
            <a:xfrm>
              <a:off x="4784" y="3521"/>
              <a:ext cx="63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44" name="Line 43"/>
            <p:cNvSpPr/>
            <p:nvPr/>
          </p:nvSpPr>
          <p:spPr>
            <a:xfrm>
              <a:off x="4830" y="3702"/>
              <a:ext cx="589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最大匹配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8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24479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13.8: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中匹配</a:t>
            </a:r>
            <a:r>
              <a:rPr lang="en-US" altLang="zh-CN"/>
              <a:t>, Γ</a:t>
            </a:r>
            <a:r>
              <a:rPr lang="zh-CN" altLang="en-US"/>
              <a:t>是</a:t>
            </a:r>
            <a:r>
              <a:rPr lang="en-US" altLang="zh-CN"/>
              <a:t>M</a:t>
            </a:r>
            <a:r>
              <a:rPr lang="zh-CN" altLang="en-US"/>
              <a:t>的可增广交错路径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/>
              <a:t>M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=M⊕E(Γ)</a:t>
            </a:r>
            <a:r>
              <a:rPr lang="zh-CN" altLang="en-US"/>
              <a:t>也是</a:t>
            </a:r>
            <a:r>
              <a:rPr lang="en-US" altLang="zh-CN"/>
              <a:t>G</a:t>
            </a:r>
            <a:r>
              <a:rPr lang="zh-CN" altLang="en-US"/>
              <a:t>中匹配</a:t>
            </a:r>
            <a:r>
              <a:rPr lang="en-US" altLang="zh-CN"/>
              <a:t>, </a:t>
            </a:r>
            <a:r>
              <a:rPr lang="zh-CN" altLang="en-US"/>
              <a:t>且</a:t>
            </a:r>
            <a:r>
              <a:rPr lang="en-US" altLang="zh-CN"/>
              <a:t>|M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|=|M|+1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显然</a:t>
            </a:r>
            <a:r>
              <a:rPr lang="en-US" altLang="zh-CN"/>
              <a:t>M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zh-CN" altLang="en-US"/>
              <a:t>是匹配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|M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|=|M⊕E(Γ)|=|M-E(Γ)|+|E(Γ)-M|=|M|+1.</a:t>
            </a:r>
            <a:endParaRPr lang="en-US" altLang="zh-CN">
              <a:solidFill>
                <a:schemeClr val="hlink"/>
              </a:solidFill>
            </a:endParaRPr>
          </a:p>
        </p:txBody>
      </p:sp>
      <p:grpSp>
        <p:nvGrpSpPr>
          <p:cNvPr id="65539" name="Group 21"/>
          <p:cNvGrpSpPr/>
          <p:nvPr/>
        </p:nvGrpSpPr>
        <p:grpSpPr>
          <a:xfrm>
            <a:off x="900113" y="4292600"/>
            <a:ext cx="1081087" cy="865188"/>
            <a:chOff x="567" y="2704"/>
            <a:chExt cx="681" cy="545"/>
          </a:xfrm>
        </p:grpSpPr>
        <p:sp>
          <p:nvSpPr>
            <p:cNvPr id="65540" name="Line 11"/>
            <p:cNvSpPr/>
            <p:nvPr/>
          </p:nvSpPr>
          <p:spPr>
            <a:xfrm>
              <a:off x="567" y="2886"/>
              <a:ext cx="6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1" name="Line 12"/>
            <p:cNvSpPr/>
            <p:nvPr/>
          </p:nvSpPr>
          <p:spPr>
            <a:xfrm>
              <a:off x="567" y="3067"/>
              <a:ext cx="6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2" name="Line 13"/>
            <p:cNvSpPr/>
            <p:nvPr/>
          </p:nvSpPr>
          <p:spPr>
            <a:xfrm flipV="1">
              <a:off x="567" y="2704"/>
              <a:ext cx="681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5543" name="Group 22"/>
          <p:cNvGrpSpPr/>
          <p:nvPr/>
        </p:nvGrpSpPr>
        <p:grpSpPr>
          <a:xfrm>
            <a:off x="900113" y="4292600"/>
            <a:ext cx="1079500" cy="865188"/>
            <a:chOff x="567" y="2704"/>
            <a:chExt cx="680" cy="545"/>
          </a:xfrm>
        </p:grpSpPr>
        <p:sp>
          <p:nvSpPr>
            <p:cNvPr id="65544" name="Line 16"/>
            <p:cNvSpPr/>
            <p:nvPr/>
          </p:nvSpPr>
          <p:spPr>
            <a:xfrm>
              <a:off x="567" y="2704"/>
              <a:ext cx="680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5" name="Line 18"/>
            <p:cNvSpPr/>
            <p:nvPr/>
          </p:nvSpPr>
          <p:spPr>
            <a:xfrm>
              <a:off x="567" y="2885"/>
              <a:ext cx="680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6" name="Line 19"/>
            <p:cNvSpPr/>
            <p:nvPr/>
          </p:nvSpPr>
          <p:spPr>
            <a:xfrm>
              <a:off x="567" y="3067"/>
              <a:ext cx="680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5547" name="Group 27"/>
          <p:cNvGrpSpPr/>
          <p:nvPr/>
        </p:nvGrpSpPr>
        <p:grpSpPr>
          <a:xfrm>
            <a:off x="2843213" y="4292600"/>
            <a:ext cx="1081087" cy="865188"/>
            <a:chOff x="567" y="2704"/>
            <a:chExt cx="681" cy="545"/>
          </a:xfrm>
        </p:grpSpPr>
        <p:sp>
          <p:nvSpPr>
            <p:cNvPr id="65548" name="Line 28"/>
            <p:cNvSpPr/>
            <p:nvPr/>
          </p:nvSpPr>
          <p:spPr>
            <a:xfrm>
              <a:off x="567" y="2886"/>
              <a:ext cx="6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9" name="Line 29"/>
            <p:cNvSpPr/>
            <p:nvPr/>
          </p:nvSpPr>
          <p:spPr>
            <a:xfrm>
              <a:off x="567" y="3067"/>
              <a:ext cx="6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50" name="Line 30"/>
            <p:cNvSpPr/>
            <p:nvPr/>
          </p:nvSpPr>
          <p:spPr>
            <a:xfrm flipV="1">
              <a:off x="567" y="2704"/>
              <a:ext cx="681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5551" name="Group 39"/>
          <p:cNvGrpSpPr/>
          <p:nvPr/>
        </p:nvGrpSpPr>
        <p:grpSpPr>
          <a:xfrm>
            <a:off x="5867400" y="4292600"/>
            <a:ext cx="1081088" cy="865188"/>
            <a:chOff x="2879" y="2704"/>
            <a:chExt cx="681" cy="545"/>
          </a:xfrm>
        </p:grpSpPr>
        <p:grpSp>
          <p:nvGrpSpPr>
            <p:cNvPr id="65552" name="Group 31"/>
            <p:cNvGrpSpPr/>
            <p:nvPr/>
          </p:nvGrpSpPr>
          <p:grpSpPr>
            <a:xfrm>
              <a:off x="2880" y="2704"/>
              <a:ext cx="680" cy="545"/>
              <a:chOff x="567" y="2704"/>
              <a:chExt cx="680" cy="545"/>
            </a:xfrm>
          </p:grpSpPr>
          <p:sp>
            <p:nvSpPr>
              <p:cNvPr id="65553" name="Line 32"/>
              <p:cNvSpPr/>
              <p:nvPr/>
            </p:nvSpPr>
            <p:spPr>
              <a:xfrm>
                <a:off x="567" y="2704"/>
                <a:ext cx="680" cy="182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554" name="Line 33"/>
              <p:cNvSpPr/>
              <p:nvPr/>
            </p:nvSpPr>
            <p:spPr>
              <a:xfrm>
                <a:off x="567" y="2885"/>
                <a:ext cx="680" cy="182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555" name="Line 34"/>
              <p:cNvSpPr/>
              <p:nvPr/>
            </p:nvSpPr>
            <p:spPr>
              <a:xfrm>
                <a:off x="567" y="3067"/>
                <a:ext cx="680" cy="182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5556" name="Line 36"/>
            <p:cNvSpPr/>
            <p:nvPr/>
          </p:nvSpPr>
          <p:spPr>
            <a:xfrm>
              <a:off x="2879" y="2886"/>
              <a:ext cx="6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57" name="Line 37"/>
            <p:cNvSpPr/>
            <p:nvPr/>
          </p:nvSpPr>
          <p:spPr>
            <a:xfrm>
              <a:off x="2879" y="3067"/>
              <a:ext cx="6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5558" name="Group 48"/>
          <p:cNvGrpSpPr/>
          <p:nvPr/>
        </p:nvGrpSpPr>
        <p:grpSpPr>
          <a:xfrm>
            <a:off x="4427538" y="5589588"/>
            <a:ext cx="1081087" cy="865187"/>
            <a:chOff x="2789" y="3521"/>
            <a:chExt cx="681" cy="545"/>
          </a:xfrm>
        </p:grpSpPr>
        <p:grpSp>
          <p:nvGrpSpPr>
            <p:cNvPr id="65559" name="Group 40"/>
            <p:cNvGrpSpPr/>
            <p:nvPr/>
          </p:nvGrpSpPr>
          <p:grpSpPr>
            <a:xfrm>
              <a:off x="2790" y="3521"/>
              <a:ext cx="680" cy="545"/>
              <a:chOff x="567" y="2704"/>
              <a:chExt cx="680" cy="545"/>
            </a:xfrm>
          </p:grpSpPr>
          <p:sp>
            <p:nvSpPr>
              <p:cNvPr id="65560" name="Line 41"/>
              <p:cNvSpPr/>
              <p:nvPr/>
            </p:nvSpPr>
            <p:spPr>
              <a:xfrm>
                <a:off x="567" y="2704"/>
                <a:ext cx="680" cy="182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561" name="Line 42"/>
              <p:cNvSpPr/>
              <p:nvPr/>
            </p:nvSpPr>
            <p:spPr>
              <a:xfrm>
                <a:off x="567" y="2885"/>
                <a:ext cx="680" cy="182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562" name="Line 43"/>
              <p:cNvSpPr/>
              <p:nvPr/>
            </p:nvSpPr>
            <p:spPr>
              <a:xfrm>
                <a:off x="567" y="3067"/>
                <a:ext cx="680" cy="182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5563" name="Line 47"/>
            <p:cNvSpPr/>
            <p:nvPr/>
          </p:nvSpPr>
          <p:spPr>
            <a:xfrm flipV="1">
              <a:off x="2789" y="3521"/>
              <a:ext cx="681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564" name="Line 49"/>
          <p:cNvSpPr/>
          <p:nvPr/>
        </p:nvSpPr>
        <p:spPr>
          <a:xfrm>
            <a:off x="4067175" y="4941888"/>
            <a:ext cx="720725" cy="574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5565" name="Line 50"/>
          <p:cNvSpPr/>
          <p:nvPr/>
        </p:nvSpPr>
        <p:spPr>
          <a:xfrm flipH="1">
            <a:off x="5003800" y="5013325"/>
            <a:ext cx="1081088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最大匹配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13.9(Berge,1957):</a:t>
            </a:r>
            <a:endParaRPr lang="en-US" altLang="zh-CN">
              <a:solidFill>
                <a:schemeClr val="hlink"/>
              </a:solidFill>
            </a:endParaRPr>
          </a:p>
          <a:p>
            <a:pPr eaLnBrk="1" hangingPunct="1">
              <a:buNone/>
            </a:pPr>
            <a:r>
              <a:rPr lang="en-US" altLang="zh-CN"/>
              <a:t>    M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中最大匹配⇔</a:t>
            </a:r>
            <a:r>
              <a:rPr lang="en-US" altLang="zh-CN"/>
              <a:t>G</a:t>
            </a:r>
            <a:r>
              <a:rPr lang="zh-CN" altLang="en-US"/>
              <a:t>中无</a:t>
            </a:r>
            <a:r>
              <a:rPr lang="en-US" altLang="zh-CN"/>
              <a:t>M</a:t>
            </a:r>
            <a:r>
              <a:rPr lang="zh-CN" altLang="en-US"/>
              <a:t>可增广路径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(</a:t>
            </a:r>
            <a:r>
              <a:rPr lang="en-US" altLang="zh-CN">
                <a:solidFill>
                  <a:srgbClr val="FF00FF"/>
                </a:solidFill>
              </a:rPr>
              <a:t>⇒</a:t>
            </a:r>
            <a:r>
              <a:rPr lang="en-US" altLang="zh-CN"/>
              <a:t>)(</a:t>
            </a:r>
            <a:r>
              <a:rPr lang="zh-CN" altLang="en-US">
                <a:solidFill>
                  <a:srgbClr val="FF00FF"/>
                </a:solidFill>
              </a:rPr>
              <a:t>反证</a:t>
            </a:r>
            <a:r>
              <a:rPr lang="en-US" altLang="zh-CN"/>
              <a:t>)</a:t>
            </a:r>
            <a:r>
              <a:rPr lang="zh-CN" altLang="en-US"/>
              <a:t>定理</a:t>
            </a:r>
            <a:r>
              <a:rPr lang="en-US" altLang="zh-CN"/>
              <a:t>13.8.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(</a:t>
            </a:r>
            <a:r>
              <a:rPr lang="en-US" altLang="zh-CN">
                <a:solidFill>
                  <a:srgbClr val="FF00FF"/>
                </a:solidFill>
              </a:rPr>
              <a:t>⇐</a:t>
            </a:r>
            <a:r>
              <a:rPr lang="en-US" altLang="zh-CN"/>
              <a:t>)</a:t>
            </a:r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的最大匹配</a:t>
            </a:r>
            <a:r>
              <a:rPr lang="en-US" altLang="zh-CN"/>
              <a:t>, H=G[M</a:t>
            </a:r>
            <a:r>
              <a:rPr lang="en-US" altLang="zh-CN" baseline="-25000"/>
              <a:t>1</a:t>
            </a:r>
            <a:r>
              <a:rPr lang="en-US" altLang="zh-CN"/>
              <a:t>⊕M].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</a:t>
            </a:r>
            <a:r>
              <a:rPr lang="zh-CN" altLang="en-US"/>
              <a:t>若</a:t>
            </a:r>
            <a:r>
              <a:rPr lang="en-US" altLang="zh-CN"/>
              <a:t>H≠</a:t>
            </a:r>
            <a:r>
              <a:rPr lang="en-US" altLang="zh-CN">
                <a:sym typeface="Symbol" panose="05050102010706020507" charset="2"/>
              </a:rPr>
              <a:t></a:t>
            </a:r>
            <a:r>
              <a:rPr lang="en-US" altLang="zh-CN"/>
              <a:t>, H</a:t>
            </a:r>
            <a:r>
              <a:rPr lang="zh-CN" altLang="en-US"/>
              <a:t>的连通分支是交错圈或交错路径</a:t>
            </a:r>
            <a:r>
              <a:rPr lang="en-US" altLang="zh-CN"/>
              <a:t>. 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M</a:t>
            </a:r>
            <a:r>
              <a:rPr lang="zh-CN" altLang="en-US"/>
              <a:t>和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zh-CN" altLang="en-US"/>
              <a:t>都无可增广路径</a:t>
            </a:r>
            <a:r>
              <a:rPr lang="en-US" altLang="zh-CN"/>
              <a:t>, </a:t>
            </a:r>
            <a:r>
              <a:rPr lang="zh-CN" altLang="en-US"/>
              <a:t>所以</a:t>
            </a:r>
            <a:r>
              <a:rPr lang="en-US" altLang="zh-CN"/>
              <a:t>|M|=|M</a:t>
            </a:r>
            <a:r>
              <a:rPr lang="en-US" altLang="zh-CN" baseline="-25000"/>
              <a:t>1</a:t>
            </a:r>
            <a:r>
              <a:rPr lang="en-US" altLang="zh-CN"/>
              <a:t>|.</a:t>
            </a:r>
            <a:endParaRPr lang="en-US" altLang="zh-CN">
              <a:solidFill>
                <a:schemeClr val="hlink"/>
              </a:solidFill>
            </a:endParaRPr>
          </a:p>
        </p:txBody>
      </p:sp>
      <p:grpSp>
        <p:nvGrpSpPr>
          <p:cNvPr id="67587" name="Group 4"/>
          <p:cNvGrpSpPr/>
          <p:nvPr/>
        </p:nvGrpSpPr>
        <p:grpSpPr>
          <a:xfrm>
            <a:off x="323850" y="5300663"/>
            <a:ext cx="935038" cy="865187"/>
            <a:chOff x="476" y="3339"/>
            <a:chExt cx="771" cy="545"/>
          </a:xfrm>
        </p:grpSpPr>
        <p:sp>
          <p:nvSpPr>
            <p:cNvPr id="67588" name="Line 5"/>
            <p:cNvSpPr/>
            <p:nvPr/>
          </p:nvSpPr>
          <p:spPr>
            <a:xfrm>
              <a:off x="476" y="3339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89" name="Line 6"/>
            <p:cNvSpPr/>
            <p:nvPr/>
          </p:nvSpPr>
          <p:spPr>
            <a:xfrm>
              <a:off x="476" y="3521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0" name="Line 7"/>
            <p:cNvSpPr/>
            <p:nvPr/>
          </p:nvSpPr>
          <p:spPr>
            <a:xfrm>
              <a:off x="476" y="3702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1" name="Line 8"/>
            <p:cNvSpPr/>
            <p:nvPr/>
          </p:nvSpPr>
          <p:spPr>
            <a:xfrm>
              <a:off x="476" y="3884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7592" name="Group 9"/>
          <p:cNvGrpSpPr/>
          <p:nvPr/>
        </p:nvGrpSpPr>
        <p:grpSpPr>
          <a:xfrm>
            <a:off x="1547813" y="5300663"/>
            <a:ext cx="1008062" cy="865187"/>
            <a:chOff x="1429" y="3339"/>
            <a:chExt cx="771" cy="545"/>
          </a:xfrm>
        </p:grpSpPr>
        <p:sp>
          <p:nvSpPr>
            <p:cNvPr id="67593" name="Line 10"/>
            <p:cNvSpPr/>
            <p:nvPr/>
          </p:nvSpPr>
          <p:spPr>
            <a:xfrm>
              <a:off x="1429" y="3339"/>
              <a:ext cx="771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4" name="Line 11"/>
            <p:cNvSpPr/>
            <p:nvPr/>
          </p:nvSpPr>
          <p:spPr>
            <a:xfrm>
              <a:off x="1429" y="3521"/>
              <a:ext cx="72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5" name="Line 12"/>
            <p:cNvSpPr/>
            <p:nvPr/>
          </p:nvSpPr>
          <p:spPr>
            <a:xfrm>
              <a:off x="1429" y="3703"/>
              <a:ext cx="72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6" name="Line 13"/>
            <p:cNvSpPr/>
            <p:nvPr/>
          </p:nvSpPr>
          <p:spPr>
            <a:xfrm flipV="1">
              <a:off x="1474" y="3521"/>
              <a:ext cx="680" cy="363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7597" name="Group 14"/>
          <p:cNvGrpSpPr/>
          <p:nvPr/>
        </p:nvGrpSpPr>
        <p:grpSpPr>
          <a:xfrm>
            <a:off x="2771775" y="5589588"/>
            <a:ext cx="1008063" cy="576262"/>
            <a:chOff x="2517" y="3521"/>
            <a:chExt cx="771" cy="363"/>
          </a:xfrm>
        </p:grpSpPr>
        <p:sp>
          <p:nvSpPr>
            <p:cNvPr id="67598" name="Line 15"/>
            <p:cNvSpPr/>
            <p:nvPr/>
          </p:nvSpPr>
          <p:spPr>
            <a:xfrm>
              <a:off x="2517" y="3521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9" name="Line 16"/>
            <p:cNvSpPr/>
            <p:nvPr/>
          </p:nvSpPr>
          <p:spPr>
            <a:xfrm>
              <a:off x="2517" y="3702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00" name="Line 17"/>
            <p:cNvSpPr/>
            <p:nvPr/>
          </p:nvSpPr>
          <p:spPr>
            <a:xfrm>
              <a:off x="2517" y="3884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01" name="Line 18"/>
            <p:cNvSpPr/>
            <p:nvPr/>
          </p:nvSpPr>
          <p:spPr>
            <a:xfrm>
              <a:off x="2518" y="3521"/>
              <a:ext cx="770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02" name="Line 19"/>
            <p:cNvSpPr/>
            <p:nvPr/>
          </p:nvSpPr>
          <p:spPr>
            <a:xfrm>
              <a:off x="2517" y="3702"/>
              <a:ext cx="771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03" name="Line 20"/>
            <p:cNvSpPr/>
            <p:nvPr/>
          </p:nvSpPr>
          <p:spPr>
            <a:xfrm flipV="1">
              <a:off x="2517" y="3521"/>
              <a:ext cx="771" cy="363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7604" name="Group 21"/>
          <p:cNvGrpSpPr/>
          <p:nvPr/>
        </p:nvGrpSpPr>
        <p:grpSpPr>
          <a:xfrm>
            <a:off x="5002213" y="5589588"/>
            <a:ext cx="1008062" cy="287337"/>
            <a:chOff x="3606" y="3521"/>
            <a:chExt cx="771" cy="181"/>
          </a:xfrm>
        </p:grpSpPr>
        <p:sp>
          <p:nvSpPr>
            <p:cNvPr id="67606" name="Line 23"/>
            <p:cNvSpPr/>
            <p:nvPr/>
          </p:nvSpPr>
          <p:spPr>
            <a:xfrm>
              <a:off x="3606" y="3521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07" name="Line 24"/>
            <p:cNvSpPr/>
            <p:nvPr/>
          </p:nvSpPr>
          <p:spPr>
            <a:xfrm>
              <a:off x="3606" y="3702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7608" name="Group 25"/>
          <p:cNvGrpSpPr/>
          <p:nvPr/>
        </p:nvGrpSpPr>
        <p:grpSpPr>
          <a:xfrm>
            <a:off x="6370638" y="5300663"/>
            <a:ext cx="1008062" cy="865187"/>
            <a:chOff x="3741" y="3339"/>
            <a:chExt cx="635" cy="545"/>
          </a:xfrm>
        </p:grpSpPr>
        <p:sp>
          <p:nvSpPr>
            <p:cNvPr id="67609" name="Line 26"/>
            <p:cNvSpPr/>
            <p:nvPr/>
          </p:nvSpPr>
          <p:spPr>
            <a:xfrm>
              <a:off x="3741" y="3339"/>
              <a:ext cx="635" cy="182"/>
            </a:xfrm>
            <a:prstGeom prst="line">
              <a:avLst/>
            </a:prstGeom>
            <a:ln w="952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10" name="Line 27"/>
            <p:cNvSpPr/>
            <p:nvPr/>
          </p:nvSpPr>
          <p:spPr>
            <a:xfrm>
              <a:off x="3741" y="3521"/>
              <a:ext cx="63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11" name="Line 28"/>
            <p:cNvSpPr/>
            <p:nvPr/>
          </p:nvSpPr>
          <p:spPr>
            <a:xfrm>
              <a:off x="3787" y="3702"/>
              <a:ext cx="589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7612" name="Group 29"/>
          <p:cNvGrpSpPr/>
          <p:nvPr/>
        </p:nvGrpSpPr>
        <p:grpSpPr>
          <a:xfrm>
            <a:off x="7810500" y="5589588"/>
            <a:ext cx="1009650" cy="576262"/>
            <a:chOff x="4784" y="3521"/>
            <a:chExt cx="636" cy="363"/>
          </a:xfrm>
        </p:grpSpPr>
        <p:sp>
          <p:nvSpPr>
            <p:cNvPr id="67613" name="Line 30"/>
            <p:cNvSpPr/>
            <p:nvPr/>
          </p:nvSpPr>
          <p:spPr>
            <a:xfrm>
              <a:off x="4785" y="3521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14" name="Line 31"/>
            <p:cNvSpPr/>
            <p:nvPr/>
          </p:nvSpPr>
          <p:spPr>
            <a:xfrm>
              <a:off x="4785" y="3702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15" name="Line 32"/>
            <p:cNvSpPr/>
            <p:nvPr/>
          </p:nvSpPr>
          <p:spPr>
            <a:xfrm>
              <a:off x="4784" y="3521"/>
              <a:ext cx="635" cy="18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16" name="Line 33"/>
            <p:cNvSpPr/>
            <p:nvPr/>
          </p:nvSpPr>
          <p:spPr>
            <a:xfrm>
              <a:off x="4830" y="3702"/>
              <a:ext cx="589" cy="18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Line 23"/>
          <p:cNvSpPr/>
          <p:nvPr>
            <p:custDataLst>
              <p:tags r:id="rId1"/>
            </p:custDataLst>
          </p:nvPr>
        </p:nvSpPr>
        <p:spPr>
          <a:xfrm>
            <a:off x="4985703" y="5070793"/>
            <a:ext cx="10080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Line 23"/>
          <p:cNvSpPr/>
          <p:nvPr>
            <p:custDataLst>
              <p:tags r:id="rId2"/>
            </p:custDataLst>
          </p:nvPr>
        </p:nvSpPr>
        <p:spPr>
          <a:xfrm>
            <a:off x="6370638" y="5070793"/>
            <a:ext cx="1008062" cy="0"/>
          </a:xfrm>
          <a:prstGeom prst="line">
            <a:avLst/>
          </a:prstGeom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4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62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9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11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最大匹配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69634" name="Rectangle 3"/>
          <p:cNvSpPr>
            <a:spLocks noGrp="1"/>
          </p:cNvSpPr>
          <p:nvPr>
            <p:ph idx="1"/>
          </p:nvPr>
        </p:nvSpPr>
        <p:spPr>
          <a:xfrm>
            <a:off x="323850" y="4868863"/>
            <a:ext cx="8496300" cy="122396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/>
              <a:t>在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zh-CN" altLang="en-US"/>
              <a:t>中</a:t>
            </a:r>
            <a:r>
              <a:rPr lang="en-US" altLang="zh-CN"/>
              <a:t>M={</a:t>
            </a:r>
            <a:r>
              <a:rPr lang="en-US" altLang="zh-CN" i="1"/>
              <a:t>e</a:t>
            </a:r>
            <a:r>
              <a:rPr lang="en-US" altLang="zh-CN" baseline="-25000"/>
              <a:t>5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8</a:t>
            </a:r>
            <a:r>
              <a:rPr lang="en-US" altLang="zh-CN"/>
              <a:t>},</a:t>
            </a:r>
            <a:r>
              <a:rPr lang="zh-CN" altLang="en-US"/>
              <a:t>存在路径</a:t>
            </a:r>
            <a:r>
              <a:rPr lang="en-US" altLang="zh-CN" i="1"/>
              <a:t>e</a:t>
            </a:r>
            <a:r>
              <a:rPr lang="en-US" altLang="zh-CN" baseline="-25000"/>
              <a:t>3</a:t>
            </a:r>
            <a:r>
              <a:rPr lang="en-US" altLang="zh-CN" i="1"/>
              <a:t>e</a:t>
            </a:r>
            <a:r>
              <a:rPr lang="en-US" altLang="zh-CN" baseline="-25000"/>
              <a:t>5</a:t>
            </a:r>
            <a:r>
              <a:rPr lang="en-US" altLang="zh-CN" i="1"/>
              <a:t>e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M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=M-{</a:t>
            </a:r>
            <a:r>
              <a:rPr lang="en-US" altLang="zh-CN" i="1"/>
              <a:t>e</a:t>
            </a:r>
            <a:r>
              <a:rPr lang="en-US" altLang="zh-CN" baseline="-25000"/>
              <a:t>5</a:t>
            </a:r>
            <a:r>
              <a:rPr lang="en-US" altLang="zh-CN"/>
              <a:t>}∪{</a:t>
            </a:r>
            <a:r>
              <a:rPr lang="en-US" altLang="zh-CN" i="1"/>
              <a:t>e</a:t>
            </a:r>
            <a:r>
              <a:rPr lang="en-US" altLang="zh-CN" baseline="-25000"/>
              <a:t>3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2</a:t>
            </a:r>
            <a:r>
              <a:rPr lang="en-US" altLang="zh-CN"/>
              <a:t>}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的更大匹配</a:t>
            </a:r>
            <a:r>
              <a:rPr lang="en-US" altLang="zh-CN"/>
              <a:t>,</a:t>
            </a:r>
            <a:r>
              <a:rPr lang="zh-CN" altLang="en-US"/>
              <a:t>如图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/>
              <a:t>)</a:t>
            </a:r>
            <a:r>
              <a:rPr lang="zh-CN" altLang="en-US"/>
              <a:t>所示。</a:t>
            </a:r>
            <a:endParaRPr lang="en-US" altLang="zh-CN" baseline="-25000"/>
          </a:p>
        </p:txBody>
      </p:sp>
      <p:grpSp>
        <p:nvGrpSpPr>
          <p:cNvPr id="69635" name="Group 4"/>
          <p:cNvGrpSpPr/>
          <p:nvPr/>
        </p:nvGrpSpPr>
        <p:grpSpPr>
          <a:xfrm>
            <a:off x="395288" y="1412875"/>
            <a:ext cx="2303462" cy="2879725"/>
            <a:chOff x="249" y="1344"/>
            <a:chExt cx="1451" cy="1814"/>
          </a:xfrm>
        </p:grpSpPr>
        <p:sp>
          <p:nvSpPr>
            <p:cNvPr id="69636" name="Line 5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9637" name="Group 6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9638" name="Oval 7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39" name="Oval 8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40" name="Oval 9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41" name="Oval 10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42" name="Oval 11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43" name="Line 12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44" name="Line 13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45" name="Line 14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46" name="Line 15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47" name="Line 16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48" name="Line 17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49" name="Line 18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50" name="Text Box 19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51" name="Text Box 20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52" name="Text Box 21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53" name="Text Box 22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54" name="Text Box 23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55" name="Text Box 24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56" name="Text Box 25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657" name="Oval 26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58" name="Rectangle 27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9659" name="Group 28"/>
          <p:cNvGrpSpPr/>
          <p:nvPr/>
        </p:nvGrpSpPr>
        <p:grpSpPr>
          <a:xfrm>
            <a:off x="2987675" y="1341438"/>
            <a:ext cx="2303463" cy="2879725"/>
            <a:chOff x="249" y="1344"/>
            <a:chExt cx="1451" cy="1814"/>
          </a:xfrm>
        </p:grpSpPr>
        <p:sp>
          <p:nvSpPr>
            <p:cNvPr id="69660" name="Line 29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9661" name="Group 30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9662" name="Oval 31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3" name="Oval 32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4" name="Oval 33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5" name="Oval 34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6" name="Oval 35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7" name="Line 36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8" name="Line 37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69" name="Line 38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70" name="Line 39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71" name="Line 40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72" name="Line 41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73" name="Line 42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74" name="Text Box 43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5" name="Text Box 44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6" name="Text Box 45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7" name="Text Box 46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8" name="Text Box 47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79" name="Text Box 48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80" name="Text Box 49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681" name="Oval 50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82" name="Rectangle 51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9683" name="Group 76"/>
          <p:cNvGrpSpPr/>
          <p:nvPr/>
        </p:nvGrpSpPr>
        <p:grpSpPr>
          <a:xfrm>
            <a:off x="6227763" y="1412875"/>
            <a:ext cx="2303462" cy="2879725"/>
            <a:chOff x="249" y="1344"/>
            <a:chExt cx="1451" cy="1814"/>
          </a:xfrm>
        </p:grpSpPr>
        <p:sp>
          <p:nvSpPr>
            <p:cNvPr id="69684" name="Line 77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9685" name="Group 78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69686" name="Oval 79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87" name="Oval 80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88" name="Oval 81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89" name="Oval 82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90" name="Oval 83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91" name="Line 84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2" name="Line 85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3" name="Line 86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4" name="Line 87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5" name="Line 88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6" name="Line 89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7" name="Line 90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698" name="Text Box 91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99" name="Text Box 92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0" name="Text Box 93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1" name="Text Box 94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2" name="Text Box 95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3" name="Text Box 96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4" name="Text Box 97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705" name="Oval 98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706" name="Rectangle 99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707" name="TextBox 1"/>
          <p:cNvSpPr txBox="1"/>
          <p:nvPr/>
        </p:nvSpPr>
        <p:spPr>
          <a:xfrm>
            <a:off x="3924300" y="4365625"/>
            <a:ext cx="62388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(b)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9708" name="TextBox 76"/>
          <p:cNvSpPr txBox="1"/>
          <p:nvPr/>
        </p:nvSpPr>
        <p:spPr>
          <a:xfrm>
            <a:off x="1187450" y="4292600"/>
            <a:ext cx="62388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(a)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9709" name="TextBox 77"/>
          <p:cNvSpPr txBox="1"/>
          <p:nvPr/>
        </p:nvSpPr>
        <p:spPr>
          <a:xfrm>
            <a:off x="7164388" y="4365625"/>
            <a:ext cx="582612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(c)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标题 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>
                <a:solidFill>
                  <a:srgbClr val="FF0000"/>
                </a:solidFill>
              </a:rPr>
              <a:t>课后作业一：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0898" name="内容占位符 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>
                <a:solidFill>
                  <a:srgbClr val="FF0000"/>
                </a:solidFill>
              </a:rPr>
              <a:t>习题十三 </a:t>
            </a:r>
            <a:r>
              <a:rPr lang="en-US" altLang="zh-CN">
                <a:solidFill>
                  <a:srgbClr val="FF0000"/>
                </a:solidFill>
              </a:rPr>
              <a:t>P199-P200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</a:rPr>
              <a:t>1,3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完美匹配</a:t>
            </a:r>
            <a:endParaRPr lang="zh-CN" altLang="en-US" b="0"/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完美匹配</a:t>
            </a:r>
            <a:r>
              <a:rPr lang="en-US" altLang="zh-CN">
                <a:solidFill>
                  <a:schemeClr val="hlink"/>
                </a:solidFill>
              </a:rPr>
              <a:t>(perfect matching):</a:t>
            </a:r>
            <a:r>
              <a:rPr lang="en-US" altLang="zh-CN"/>
              <a:t> </a:t>
            </a:r>
            <a:r>
              <a:rPr lang="zh-CN" altLang="en-US"/>
              <a:t>没有非饱和点的匹配</a:t>
            </a:r>
            <a:endParaRPr lang="en-US" altLang="zh-CN"/>
          </a:p>
          <a:p>
            <a:pPr eaLnBrk="1" hangingPunct="1">
              <a:buNone/>
            </a:pPr>
            <a:r>
              <a:rPr lang="zh-CN" altLang="en-US"/>
              <a:t>求最小边覆盖</a:t>
            </a:r>
            <a:r>
              <a:rPr lang="en-US" altLang="zh-CN"/>
              <a:t>, </a:t>
            </a:r>
            <a:r>
              <a:rPr lang="zh-CN" altLang="en-US"/>
              <a:t>最大匹配</a:t>
            </a:r>
            <a:r>
              <a:rPr lang="en-US" altLang="zh-CN"/>
              <a:t>, </a:t>
            </a:r>
            <a:r>
              <a:rPr lang="zh-CN" altLang="en-US"/>
              <a:t>完美匹配</a:t>
            </a:r>
            <a:r>
              <a:rPr lang="en-US" altLang="zh-CN"/>
              <a:t>, </a:t>
            </a:r>
            <a:r>
              <a:rPr lang="zh-CN" altLang="en-US"/>
              <a:t>都是</a:t>
            </a:r>
            <a:r>
              <a:rPr lang="zh-CN" altLang="en-US">
                <a:solidFill>
                  <a:srgbClr val="FF00FF"/>
                </a:solidFill>
              </a:rPr>
              <a:t>易解的</a:t>
            </a:r>
            <a:r>
              <a:rPr lang="en-US" altLang="zh-CN"/>
              <a:t>(</a:t>
            </a:r>
            <a:r>
              <a:rPr lang="zh-CN" altLang="en-US"/>
              <a:t>有多项式时间算法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</a:t>
            </a:r>
            <a:endParaRPr lang="en-US" altLang="zh-CN"/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完美匹配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2706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6477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完美匹配</a:t>
            </a:r>
            <a:r>
              <a:rPr lang="en-US" altLang="zh-CN"/>
              <a:t>: </a:t>
            </a:r>
            <a:r>
              <a:rPr lang="zh-CN" altLang="en-US"/>
              <a:t>没有非饱和点的匹配</a:t>
            </a:r>
            <a:endParaRPr lang="zh-CN" altLang="en-US"/>
          </a:p>
        </p:txBody>
      </p:sp>
      <p:grpSp>
        <p:nvGrpSpPr>
          <p:cNvPr id="72707" name="Group 52"/>
          <p:cNvGrpSpPr/>
          <p:nvPr/>
        </p:nvGrpSpPr>
        <p:grpSpPr>
          <a:xfrm>
            <a:off x="3348038" y="2349500"/>
            <a:ext cx="2303462" cy="2879725"/>
            <a:chOff x="249" y="1344"/>
            <a:chExt cx="1451" cy="1814"/>
          </a:xfrm>
        </p:grpSpPr>
        <p:sp>
          <p:nvSpPr>
            <p:cNvPr id="72708" name="Line 53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2709" name="Group 54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72710" name="Oval 55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1" name="Oval 56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2" name="Oval 57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3" name="Oval 58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4" name="Oval 59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5" name="Line 60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16" name="Line 61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17" name="Line 62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18" name="Line 63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19" name="Line 64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0" name="Line 65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1" name="Line 66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2" name="Text Box 67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3" name="Text Box 68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4" name="Text Box 69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5" name="Text Box 70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6" name="Text Box 71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7" name="Text Box 72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8" name="Text Box 73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729" name="Oval 74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2730" name="Rectangle 75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731" name="Group 76"/>
          <p:cNvGrpSpPr/>
          <p:nvPr/>
        </p:nvGrpSpPr>
        <p:grpSpPr>
          <a:xfrm>
            <a:off x="395288" y="2349500"/>
            <a:ext cx="2303462" cy="2879725"/>
            <a:chOff x="249" y="1344"/>
            <a:chExt cx="1451" cy="1814"/>
          </a:xfrm>
        </p:grpSpPr>
        <p:sp>
          <p:nvSpPr>
            <p:cNvPr id="72732" name="Line 77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2733" name="Group 78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72734" name="Oval 79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5" name="Oval 80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6" name="Oval 81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7" name="Oval 82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8" name="Oval 83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9" name="Line 84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0" name="Line 85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1" name="Line 86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2" name="Line 87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3" name="Line 88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4" name="Line 89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5" name="Line 90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6" name="Text Box 91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47" name="Text Box 92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48" name="Text Box 93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49" name="Text Box 94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50" name="Text Box 95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51" name="Text Box 96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52" name="Text Box 97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753" name="Oval 98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2754" name="Rectangle 99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755" name="Group 100"/>
          <p:cNvGrpSpPr/>
          <p:nvPr/>
        </p:nvGrpSpPr>
        <p:grpSpPr>
          <a:xfrm>
            <a:off x="6372225" y="2420938"/>
            <a:ext cx="2303463" cy="2879725"/>
            <a:chOff x="249" y="1344"/>
            <a:chExt cx="1451" cy="1814"/>
          </a:xfrm>
        </p:grpSpPr>
        <p:sp>
          <p:nvSpPr>
            <p:cNvPr id="72756" name="Line 101"/>
            <p:cNvSpPr/>
            <p:nvPr/>
          </p:nvSpPr>
          <p:spPr>
            <a:xfrm>
              <a:off x="948" y="2659"/>
              <a:ext cx="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2757" name="Group 102"/>
            <p:cNvGrpSpPr/>
            <p:nvPr/>
          </p:nvGrpSpPr>
          <p:grpSpPr>
            <a:xfrm>
              <a:off x="249" y="1344"/>
              <a:ext cx="1451" cy="1316"/>
              <a:chOff x="204" y="1570"/>
              <a:chExt cx="1451" cy="1316"/>
            </a:xfrm>
          </p:grpSpPr>
          <p:sp>
            <p:nvSpPr>
              <p:cNvPr id="72758" name="Oval 103"/>
              <p:cNvSpPr/>
              <p:nvPr/>
            </p:nvSpPr>
            <p:spPr>
              <a:xfrm>
                <a:off x="839" y="157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59" name="Oval 104"/>
              <p:cNvSpPr/>
              <p:nvPr/>
            </p:nvSpPr>
            <p:spPr>
              <a:xfrm>
                <a:off x="839" y="20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60" name="Oval 105"/>
              <p:cNvSpPr/>
              <p:nvPr/>
            </p:nvSpPr>
            <p:spPr>
              <a:xfrm>
                <a:off x="204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61" name="Oval 106"/>
              <p:cNvSpPr/>
              <p:nvPr/>
            </p:nvSpPr>
            <p:spPr>
              <a:xfrm>
                <a:off x="1519" y="234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62" name="Oval 107"/>
              <p:cNvSpPr/>
              <p:nvPr/>
            </p:nvSpPr>
            <p:spPr>
              <a:xfrm>
                <a:off x="839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63" name="Line 108"/>
              <p:cNvSpPr/>
              <p:nvPr/>
            </p:nvSpPr>
            <p:spPr>
              <a:xfrm flipV="1">
                <a:off x="295" y="1661"/>
                <a:ext cx="589" cy="63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64" name="Line 109"/>
              <p:cNvSpPr/>
              <p:nvPr/>
            </p:nvSpPr>
            <p:spPr>
              <a:xfrm>
                <a:off x="975" y="1661"/>
                <a:ext cx="590" cy="726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65" name="Line 110"/>
              <p:cNvSpPr/>
              <p:nvPr/>
            </p:nvSpPr>
            <p:spPr>
              <a:xfrm flipV="1">
                <a:off x="295" y="2115"/>
                <a:ext cx="544" cy="226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66" name="Line 111"/>
              <p:cNvSpPr/>
              <p:nvPr/>
            </p:nvSpPr>
            <p:spPr>
              <a:xfrm>
                <a:off x="930" y="2115"/>
                <a:ext cx="635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67" name="Line 112"/>
              <p:cNvSpPr/>
              <p:nvPr/>
            </p:nvSpPr>
            <p:spPr>
              <a:xfrm>
                <a:off x="295" y="2387"/>
                <a:ext cx="12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68" name="Line 113"/>
              <p:cNvSpPr/>
              <p:nvPr/>
            </p:nvSpPr>
            <p:spPr>
              <a:xfrm>
                <a:off x="295" y="2387"/>
                <a:ext cx="544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69" name="Line 114"/>
              <p:cNvSpPr/>
              <p:nvPr/>
            </p:nvSpPr>
            <p:spPr>
              <a:xfrm flipV="1">
                <a:off x="975" y="2432"/>
                <a:ext cx="590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70" name="Text Box 115"/>
              <p:cNvSpPr txBox="1"/>
              <p:nvPr/>
            </p:nvSpPr>
            <p:spPr>
              <a:xfrm>
                <a:off x="3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71" name="Text Box 116"/>
              <p:cNvSpPr txBox="1"/>
              <p:nvPr/>
            </p:nvSpPr>
            <p:spPr>
              <a:xfrm>
                <a:off x="1247" y="1752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72" name="Text Box 117"/>
              <p:cNvSpPr txBox="1"/>
              <p:nvPr/>
            </p:nvSpPr>
            <p:spPr>
              <a:xfrm>
                <a:off x="521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73" name="Text Box 118"/>
              <p:cNvSpPr txBox="1"/>
              <p:nvPr/>
            </p:nvSpPr>
            <p:spPr>
              <a:xfrm>
                <a:off x="1066" y="197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74" name="Text Box 119"/>
              <p:cNvSpPr txBox="1"/>
              <p:nvPr/>
            </p:nvSpPr>
            <p:spPr>
              <a:xfrm>
                <a:off x="793" y="2296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75" name="Text Box 120"/>
              <p:cNvSpPr txBox="1"/>
              <p:nvPr/>
            </p:nvSpPr>
            <p:spPr>
              <a:xfrm>
                <a:off x="431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76" name="Text Box 121"/>
              <p:cNvSpPr txBox="1"/>
              <p:nvPr/>
            </p:nvSpPr>
            <p:spPr>
              <a:xfrm>
                <a:off x="1202" y="2523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777" name="Oval 122"/>
            <p:cNvSpPr/>
            <p:nvPr/>
          </p:nvSpPr>
          <p:spPr>
            <a:xfrm>
              <a:off x="884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2778" name="Rectangle 123"/>
            <p:cNvSpPr/>
            <p:nvPr/>
          </p:nvSpPr>
          <p:spPr>
            <a:xfrm>
              <a:off x="975" y="27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完美匹配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7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13.10(Tutte,1947):</a:t>
            </a:r>
            <a:r>
              <a:rPr lang="en-US" altLang="zh-CN"/>
              <a:t> G</a:t>
            </a:r>
            <a:r>
              <a:rPr lang="zh-CN" altLang="en-US"/>
              <a:t>有完美匹配</a:t>
            </a:r>
            <a:endParaRPr lang="zh-CN" altLang="en-US"/>
          </a:p>
          <a:p>
            <a:pPr eaLnBrk="1" hangingPunct="1">
              <a:buNone/>
            </a:pPr>
            <a:r>
              <a:rPr lang="zh-CN" altLang="en-US"/>
              <a:t>             ⇔ ∀</a:t>
            </a:r>
            <a:r>
              <a:rPr lang="en-US" altLang="zh-CN"/>
              <a:t>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⊂V(G), p</a:t>
            </a:r>
            <a:r>
              <a:rPr lang="zh-CN" altLang="en-US" baseline="-25000"/>
              <a:t>奇</a:t>
            </a:r>
            <a:r>
              <a:rPr lang="en-US" altLang="zh-CN"/>
              <a:t>(G-V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)≤|V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|.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说明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p</a:t>
            </a:r>
            <a:r>
              <a:rPr lang="zh-CN" altLang="en-US" baseline="-25000"/>
              <a:t>奇</a:t>
            </a:r>
            <a:r>
              <a:rPr lang="zh-CN" altLang="en-US"/>
              <a:t>是奇数阶连通分支数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(⇒)</a:t>
            </a:r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的完美匹配</a:t>
            </a:r>
            <a:r>
              <a:rPr lang="en-US" altLang="zh-CN"/>
              <a:t>, G</a:t>
            </a:r>
            <a:r>
              <a:rPr lang="en-US" altLang="zh-CN" baseline="-25000"/>
              <a:t>1</a:t>
            </a:r>
            <a:r>
              <a:rPr lang="zh-CN" altLang="en-US"/>
              <a:t>是</a:t>
            </a:r>
            <a:r>
              <a:rPr lang="en-US" altLang="zh-CN"/>
              <a:t>G-V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zh-CN" altLang="en-US"/>
              <a:t>的奇阶连通分支</a:t>
            </a:r>
            <a:r>
              <a:rPr lang="en-US" altLang="zh-CN"/>
              <a:t>, </a:t>
            </a:r>
            <a:r>
              <a:rPr lang="zh-CN" altLang="en-US"/>
              <a:t>则∃</a:t>
            </a:r>
            <a:r>
              <a:rPr lang="en-US" altLang="zh-CN" i="1"/>
              <a:t>u</a:t>
            </a:r>
            <a:r>
              <a:rPr lang="en-US" altLang="zh-CN" baseline="-25000"/>
              <a:t>1</a:t>
            </a:r>
            <a:r>
              <a:rPr lang="en-US" altLang="zh-CN"/>
              <a:t>∈V(G</a:t>
            </a:r>
            <a:r>
              <a:rPr lang="en-US" altLang="zh-CN" baseline="-25000"/>
              <a:t>1</a:t>
            </a:r>
            <a:r>
              <a:rPr lang="en-US" altLang="zh-CN"/>
              <a:t>), ∃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∈V</a:t>
            </a:r>
            <a:r>
              <a:rPr lang="en-US" altLang="zh-CN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/>
              <a:t>,(</a:t>
            </a:r>
            <a:r>
              <a:rPr lang="en-US" altLang="zh-CN" i="1"/>
              <a:t>u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)∈M, 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</a:t>
            </a:r>
            <a:r>
              <a:rPr lang="zh-CN" altLang="en-US"/>
              <a:t>所以</a:t>
            </a:r>
            <a:r>
              <a:rPr lang="en-US" altLang="zh-CN"/>
              <a:t>p</a:t>
            </a:r>
            <a:r>
              <a:rPr lang="zh-CN" altLang="en-US" baseline="-25000"/>
              <a:t>奇</a:t>
            </a:r>
            <a:r>
              <a:rPr lang="en-US" altLang="zh-CN"/>
              <a:t>(G-V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)≤|V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|.</a:t>
            </a:r>
            <a:endParaRPr lang="en-US" altLang="zh-CN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完美匹配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47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(</a:t>
            </a:r>
            <a:r>
              <a:rPr lang="en-US" altLang="zh-CN">
                <a:solidFill>
                  <a:srgbClr val="FF0000"/>
                </a:solidFill>
                <a:sym typeface="Symbol" panose="05050102010706020507" charset="2"/>
              </a:rPr>
              <a:t></a:t>
            </a:r>
            <a:r>
              <a:rPr lang="en-US" altLang="zh-CN"/>
              <a:t>) (</a:t>
            </a:r>
            <a:r>
              <a:rPr lang="zh-CN" altLang="en-US"/>
              <a:t>对</a:t>
            </a:r>
            <a:r>
              <a:rPr lang="en-US" altLang="zh-CN"/>
              <a:t>G</a:t>
            </a:r>
            <a:r>
              <a:rPr lang="zh-CN" altLang="en-US"/>
              <a:t>阶数归纳</a:t>
            </a:r>
            <a:r>
              <a:rPr lang="en-US" altLang="zh-CN"/>
              <a:t>) </a:t>
            </a:r>
            <a:r>
              <a:rPr lang="zh-CN" altLang="en-US"/>
              <a:t>取</a:t>
            </a:r>
            <a:r>
              <a:rPr lang="en-US" altLang="zh-CN"/>
              <a:t>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charset="2"/>
              </a:rPr>
              <a:t></a:t>
            </a:r>
            <a:r>
              <a:rPr lang="en-US" altLang="zh-CN"/>
              <a:t>,</a:t>
            </a:r>
            <a:r>
              <a:rPr lang="zh-CN" altLang="en-US"/>
              <a:t>得</a:t>
            </a:r>
            <a:r>
              <a:rPr lang="en-US" altLang="zh-CN"/>
              <a:t>G</a:t>
            </a:r>
            <a:r>
              <a:rPr lang="zh-CN" altLang="en-US"/>
              <a:t>是偶阶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</a:t>
            </a:r>
            <a:r>
              <a:rPr lang="zh-CN" altLang="en-US"/>
              <a:t>取</a:t>
            </a:r>
            <a:r>
              <a:rPr lang="en-US" altLang="zh-CN"/>
              <a:t>V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={</a:t>
            </a:r>
            <a:r>
              <a:rPr lang="en-US" altLang="zh-CN" i="1"/>
              <a:t>u</a:t>
            </a:r>
            <a:r>
              <a:rPr lang="en-US" altLang="zh-CN"/>
              <a:t>},</a:t>
            </a:r>
            <a:r>
              <a:rPr lang="zh-CN" altLang="en-US"/>
              <a:t>得</a:t>
            </a:r>
            <a:r>
              <a:rPr lang="en-US" altLang="zh-CN"/>
              <a:t>G-{</a:t>
            </a:r>
            <a:r>
              <a:rPr lang="en-US" altLang="zh-CN" i="1"/>
              <a:t>u</a:t>
            </a:r>
            <a:r>
              <a:rPr lang="en-US" altLang="zh-CN"/>
              <a:t>}</a:t>
            </a:r>
            <a:r>
              <a:rPr lang="zh-CN" altLang="en-US"/>
              <a:t>恰有</a:t>
            </a:r>
            <a:r>
              <a:rPr lang="en-US" altLang="zh-CN"/>
              <a:t>1</a:t>
            </a:r>
            <a:r>
              <a:rPr lang="zh-CN" altLang="en-US"/>
              <a:t>个奇阶连通分支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</a:t>
            </a:r>
            <a:r>
              <a:rPr lang="zh-CN" altLang="en-US"/>
              <a:t>设</a:t>
            </a:r>
            <a:r>
              <a:rPr lang="en-US" altLang="zh-CN"/>
              <a:t>S</a:t>
            </a:r>
            <a:r>
              <a:rPr lang="en-US" altLang="zh-CN" baseline="-25000"/>
              <a:t>0</a:t>
            </a:r>
            <a:r>
              <a:rPr lang="en-US" altLang="zh-CN"/>
              <a:t>⊂V</a:t>
            </a:r>
            <a:r>
              <a:rPr lang="zh-CN" altLang="en-US"/>
              <a:t>是使得</a:t>
            </a:r>
            <a:r>
              <a:rPr lang="en-US" altLang="zh-CN"/>
              <a:t>p</a:t>
            </a:r>
            <a:r>
              <a:rPr lang="zh-CN" altLang="en-US" baseline="-25000"/>
              <a:t>奇</a:t>
            </a:r>
            <a:r>
              <a:rPr lang="en-US" altLang="zh-CN"/>
              <a:t>(G-S</a:t>
            </a:r>
            <a:r>
              <a:rPr lang="en-US" altLang="zh-CN" baseline="-25000"/>
              <a:t>0</a:t>
            </a:r>
            <a:r>
              <a:rPr lang="en-US" altLang="zh-CN"/>
              <a:t>)=|S</a:t>
            </a:r>
            <a:r>
              <a:rPr lang="en-US" altLang="zh-CN" baseline="-25000"/>
              <a:t>0</a:t>
            </a:r>
            <a:r>
              <a:rPr lang="en-US" altLang="zh-CN"/>
              <a:t>|=s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最大</a:t>
            </a:r>
            <a:r>
              <a:rPr lang="zh-CN" altLang="en-US"/>
              <a:t>集合</a:t>
            </a:r>
            <a:r>
              <a:rPr lang="en-US" altLang="zh-CN"/>
              <a:t>,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C</a:t>
            </a:r>
            <a:r>
              <a:rPr lang="en-US" altLang="zh-CN" baseline="-25000"/>
              <a:t>1</a:t>
            </a:r>
            <a:r>
              <a:rPr lang="en-US" altLang="zh-CN"/>
              <a:t>,C</a:t>
            </a:r>
            <a:r>
              <a:rPr lang="en-US" altLang="zh-CN" baseline="-25000"/>
              <a:t>2</a:t>
            </a:r>
            <a:r>
              <a:rPr lang="en-US" altLang="zh-CN"/>
              <a:t>,…, C</a:t>
            </a:r>
            <a:r>
              <a:rPr lang="en-US" altLang="zh-CN" baseline="-25000"/>
              <a:t>s</a:t>
            </a:r>
            <a:r>
              <a:rPr lang="zh-CN" altLang="en-US"/>
              <a:t>是</a:t>
            </a:r>
            <a:r>
              <a:rPr lang="en-US" altLang="zh-CN"/>
              <a:t>G-S</a:t>
            </a:r>
            <a:r>
              <a:rPr lang="en-US" altLang="zh-CN" baseline="-25000"/>
              <a:t>0</a:t>
            </a:r>
            <a:r>
              <a:rPr lang="zh-CN" altLang="en-US"/>
              <a:t>所有奇阶连通分支</a:t>
            </a:r>
            <a:r>
              <a:rPr lang="en-US" altLang="zh-CN"/>
              <a:t>,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D</a:t>
            </a:r>
            <a:r>
              <a:rPr lang="en-US" altLang="zh-CN" baseline="-25000"/>
              <a:t>1</a:t>
            </a:r>
            <a:r>
              <a:rPr lang="en-US" altLang="zh-CN"/>
              <a:t>,D</a:t>
            </a:r>
            <a:r>
              <a:rPr lang="en-US" altLang="zh-CN" baseline="-25000"/>
              <a:t>2</a:t>
            </a:r>
            <a:r>
              <a:rPr lang="en-US" altLang="zh-CN"/>
              <a:t>,…, D</a:t>
            </a:r>
            <a:r>
              <a:rPr lang="en-US" altLang="zh-CN" baseline="-25000"/>
              <a:t>t</a:t>
            </a:r>
            <a:r>
              <a:rPr lang="zh-CN" altLang="en-US"/>
              <a:t>是</a:t>
            </a:r>
            <a:r>
              <a:rPr lang="en-US" altLang="zh-CN"/>
              <a:t>G-S</a:t>
            </a:r>
            <a:r>
              <a:rPr lang="en-US" altLang="zh-CN" baseline="-25000"/>
              <a:t>0</a:t>
            </a:r>
            <a:r>
              <a:rPr lang="zh-CN" altLang="en-US"/>
              <a:t>所有偶阶连通分支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74755" name="Group 53"/>
          <p:cNvGrpSpPr/>
          <p:nvPr/>
        </p:nvGrpSpPr>
        <p:grpSpPr>
          <a:xfrm>
            <a:off x="395288" y="4581525"/>
            <a:ext cx="8353425" cy="1943100"/>
            <a:chOff x="249" y="2886"/>
            <a:chExt cx="5262" cy="1224"/>
          </a:xfrm>
        </p:grpSpPr>
        <p:grpSp>
          <p:nvGrpSpPr>
            <p:cNvPr id="74756" name="Group 8"/>
            <p:cNvGrpSpPr/>
            <p:nvPr/>
          </p:nvGrpSpPr>
          <p:grpSpPr>
            <a:xfrm>
              <a:off x="249" y="2931"/>
              <a:ext cx="635" cy="336"/>
              <a:chOff x="567" y="3113"/>
              <a:chExt cx="771" cy="408"/>
            </a:xfrm>
          </p:grpSpPr>
          <p:sp>
            <p:nvSpPr>
              <p:cNvPr id="74757" name="Oval 4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58" name="Line 5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59" name="Line 6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0" name="Line 7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4761" name="Group 9"/>
            <p:cNvGrpSpPr/>
            <p:nvPr/>
          </p:nvGrpSpPr>
          <p:grpSpPr>
            <a:xfrm>
              <a:off x="1111" y="2931"/>
              <a:ext cx="635" cy="336"/>
              <a:chOff x="567" y="3113"/>
              <a:chExt cx="771" cy="408"/>
            </a:xfrm>
          </p:grpSpPr>
          <p:sp>
            <p:nvSpPr>
              <p:cNvPr id="74762" name="Oval 10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63" name="Line 11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4" name="Line 12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5" name="Line 13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4766" name="Group 14"/>
            <p:cNvGrpSpPr/>
            <p:nvPr/>
          </p:nvGrpSpPr>
          <p:grpSpPr>
            <a:xfrm>
              <a:off x="2381" y="2886"/>
              <a:ext cx="635" cy="370"/>
              <a:chOff x="567" y="3113"/>
              <a:chExt cx="771" cy="408"/>
            </a:xfrm>
          </p:grpSpPr>
          <p:sp>
            <p:nvSpPr>
              <p:cNvPr id="74767" name="Oval 15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68" name="Line 16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9" name="Line 17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70" name="Line 18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4771" name="Text Box 19"/>
            <p:cNvSpPr txBox="1"/>
            <p:nvPr/>
          </p:nvSpPr>
          <p:spPr>
            <a:xfrm>
              <a:off x="1882" y="294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endParaRPr lang="en-US" altLang="zh-CN" sz="24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4772" name="Oval 20"/>
            <p:cNvSpPr/>
            <p:nvPr/>
          </p:nvSpPr>
          <p:spPr>
            <a:xfrm>
              <a:off x="521" y="3612"/>
              <a:ext cx="2268" cy="49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4773" name="Line 21"/>
            <p:cNvSpPr/>
            <p:nvPr/>
          </p:nvSpPr>
          <p:spPr>
            <a:xfrm>
              <a:off x="748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74" name="Line 22"/>
            <p:cNvSpPr/>
            <p:nvPr/>
          </p:nvSpPr>
          <p:spPr>
            <a:xfrm>
              <a:off x="748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75" name="Line 23"/>
            <p:cNvSpPr/>
            <p:nvPr/>
          </p:nvSpPr>
          <p:spPr>
            <a:xfrm>
              <a:off x="1247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76" name="Line 24"/>
            <p:cNvSpPr/>
            <p:nvPr/>
          </p:nvSpPr>
          <p:spPr>
            <a:xfrm>
              <a:off x="1247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77" name="Line 25"/>
            <p:cNvSpPr/>
            <p:nvPr/>
          </p:nvSpPr>
          <p:spPr>
            <a:xfrm>
              <a:off x="1247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78" name="Line 26"/>
            <p:cNvSpPr/>
            <p:nvPr/>
          </p:nvSpPr>
          <p:spPr>
            <a:xfrm>
              <a:off x="1791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79" name="Line 27"/>
            <p:cNvSpPr/>
            <p:nvPr/>
          </p:nvSpPr>
          <p:spPr>
            <a:xfrm>
              <a:off x="1791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80" name="Line 28"/>
            <p:cNvSpPr/>
            <p:nvPr/>
          </p:nvSpPr>
          <p:spPr>
            <a:xfrm>
              <a:off x="1791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81" name="Line 29"/>
            <p:cNvSpPr/>
            <p:nvPr/>
          </p:nvSpPr>
          <p:spPr>
            <a:xfrm>
              <a:off x="567" y="3203"/>
              <a:ext cx="317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82" name="Line 30"/>
            <p:cNvSpPr/>
            <p:nvPr/>
          </p:nvSpPr>
          <p:spPr>
            <a:xfrm flipH="1">
              <a:off x="1338" y="3203"/>
              <a:ext cx="0" cy="499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83" name="Line 31"/>
            <p:cNvSpPr/>
            <p:nvPr/>
          </p:nvSpPr>
          <p:spPr>
            <a:xfrm flipH="1">
              <a:off x="142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84" name="Line 32"/>
            <p:cNvSpPr/>
            <p:nvPr/>
          </p:nvSpPr>
          <p:spPr>
            <a:xfrm flipH="1">
              <a:off x="151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85" name="Line 33"/>
            <p:cNvSpPr/>
            <p:nvPr/>
          </p:nvSpPr>
          <p:spPr>
            <a:xfrm flipH="1">
              <a:off x="2290" y="3203"/>
              <a:ext cx="454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4786" name="Group 40"/>
            <p:cNvGrpSpPr/>
            <p:nvPr/>
          </p:nvGrpSpPr>
          <p:grpSpPr>
            <a:xfrm>
              <a:off x="3379" y="2886"/>
              <a:ext cx="635" cy="336"/>
              <a:chOff x="3379" y="2886"/>
              <a:chExt cx="635" cy="336"/>
            </a:xfrm>
          </p:grpSpPr>
          <p:sp>
            <p:nvSpPr>
              <p:cNvPr id="74787" name="Oval 35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88" name="Line 36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89" name="Line 37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0" name="Line 38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1" name="Line 39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4792" name="Group 41"/>
            <p:cNvGrpSpPr/>
            <p:nvPr/>
          </p:nvGrpSpPr>
          <p:grpSpPr>
            <a:xfrm>
              <a:off x="4150" y="2886"/>
              <a:ext cx="635" cy="336"/>
              <a:chOff x="3379" y="2886"/>
              <a:chExt cx="635" cy="336"/>
            </a:xfrm>
          </p:grpSpPr>
          <p:sp>
            <p:nvSpPr>
              <p:cNvPr id="74793" name="Oval 42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94" name="Line 43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5" name="Line 44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6" name="Line 45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7" name="Line 46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4798" name="Group 47"/>
            <p:cNvGrpSpPr/>
            <p:nvPr/>
          </p:nvGrpSpPr>
          <p:grpSpPr>
            <a:xfrm>
              <a:off x="4876" y="2886"/>
              <a:ext cx="635" cy="336"/>
              <a:chOff x="3379" y="2886"/>
              <a:chExt cx="635" cy="336"/>
            </a:xfrm>
          </p:grpSpPr>
          <p:sp>
            <p:nvSpPr>
              <p:cNvPr id="74799" name="Oval 48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800" name="Line 49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801" name="Line 50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802" name="Line 51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803" name="Line 52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完美匹配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7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/>
              <a:t> (1) </a:t>
            </a:r>
            <a:r>
              <a:rPr lang="zh-CN" altLang="en-US"/>
              <a:t>每个</a:t>
            </a:r>
            <a:r>
              <a:rPr lang="en-US" altLang="zh-CN" i="1"/>
              <a:t>D</a:t>
            </a:r>
            <a:r>
              <a:rPr lang="en-US" altLang="zh-CN" i="1" baseline="-25000"/>
              <a:t>i</a:t>
            </a:r>
            <a:r>
              <a:rPr lang="zh-CN" altLang="en-US"/>
              <a:t>内部有完美匹配</a:t>
            </a:r>
            <a:r>
              <a:rPr lang="en-US" altLang="zh-CN"/>
              <a:t>.</a:t>
            </a:r>
            <a:endParaRPr lang="en-US" altLang="zh-CN"/>
          </a:p>
          <a:p>
            <a:pPr marL="0" indent="0" eaLnBrk="1" hangingPunct="1">
              <a:buNone/>
            </a:pPr>
            <a:r>
              <a:rPr lang="en-US" altLang="zh-CN"/>
              <a:t>    ∀S⊆V(</a:t>
            </a:r>
            <a:r>
              <a:rPr lang="en-US" altLang="zh-CN" i="1"/>
              <a:t>D</a:t>
            </a:r>
            <a:r>
              <a:rPr lang="en-US" altLang="zh-CN" i="1" baseline="-25000"/>
              <a:t>i</a:t>
            </a:r>
            <a:r>
              <a:rPr lang="en-US" altLang="zh-CN"/>
              <a:t>), </a:t>
            </a:r>
            <a:endParaRPr lang="en-US" altLang="zh-CN"/>
          </a:p>
          <a:p>
            <a:pPr marL="0" indent="0" eaLnBrk="1" hangingPunct="1">
              <a:buNone/>
            </a:pPr>
            <a:r>
              <a:rPr lang="en-US" altLang="zh-CN">
                <a:solidFill>
                  <a:srgbClr val="FF00FF"/>
                </a:solidFill>
              </a:rPr>
              <a:t> p</a:t>
            </a:r>
            <a:r>
              <a:rPr lang="zh-CN" altLang="en-US" baseline="-25000">
                <a:solidFill>
                  <a:srgbClr val="FF00FF"/>
                </a:solidFill>
              </a:rPr>
              <a:t>奇</a:t>
            </a:r>
            <a:r>
              <a:rPr lang="en-US" altLang="zh-CN">
                <a:solidFill>
                  <a:srgbClr val="FF00FF"/>
                </a:solidFill>
              </a:rPr>
              <a:t>(G-S</a:t>
            </a:r>
            <a:r>
              <a:rPr lang="en-US" altLang="zh-CN" baseline="-25000">
                <a:solidFill>
                  <a:srgbClr val="FF00FF"/>
                </a:solidFill>
              </a:rPr>
              <a:t>0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en-US" altLang="zh-CN"/>
              <a:t>+p</a:t>
            </a:r>
            <a:r>
              <a:rPr lang="zh-CN" altLang="en-US" baseline="-25000"/>
              <a:t>奇</a:t>
            </a:r>
            <a:r>
              <a:rPr lang="en-US" altLang="zh-CN"/>
              <a:t>(</a:t>
            </a:r>
            <a:r>
              <a:rPr lang="en-US" altLang="zh-CN" i="1"/>
              <a:t>D</a:t>
            </a:r>
            <a:r>
              <a:rPr lang="en-US" altLang="zh-CN" i="1" baseline="-25000"/>
              <a:t>i</a:t>
            </a:r>
            <a:r>
              <a:rPr lang="en-US" altLang="zh-CN"/>
              <a:t>-S) =p</a:t>
            </a:r>
            <a:r>
              <a:rPr lang="zh-CN" altLang="en-US" baseline="-25000"/>
              <a:t>奇</a:t>
            </a:r>
            <a:r>
              <a:rPr lang="en-US" altLang="zh-CN"/>
              <a:t>(G-(S</a:t>
            </a:r>
            <a:r>
              <a:rPr lang="en-US" altLang="zh-CN" baseline="-25000"/>
              <a:t>0</a:t>
            </a:r>
            <a:r>
              <a:rPr lang="en-US" altLang="zh-CN"/>
              <a:t>∪S))≤|S</a:t>
            </a:r>
            <a:r>
              <a:rPr lang="en-US" altLang="zh-CN" baseline="-25000"/>
              <a:t>0</a:t>
            </a:r>
            <a:r>
              <a:rPr lang="en-US" altLang="zh-CN"/>
              <a:t>∪S|=|S</a:t>
            </a:r>
            <a:r>
              <a:rPr lang="en-US" altLang="zh-CN" baseline="-25000"/>
              <a:t>0</a:t>
            </a:r>
            <a:r>
              <a:rPr lang="en-US" altLang="zh-CN"/>
              <a:t>|+|S| </a:t>
            </a:r>
            <a:endParaRPr lang="en-US" altLang="zh-CN"/>
          </a:p>
          <a:p>
            <a:pPr marL="0" indent="0" eaLnBrk="1" hangingPunct="1">
              <a:buNone/>
            </a:pPr>
            <a:r>
              <a:rPr lang="zh-CN" altLang="en-US"/>
              <a:t>所以</a:t>
            </a:r>
            <a:r>
              <a:rPr lang="en-US" altLang="zh-CN"/>
              <a:t>p</a:t>
            </a:r>
            <a:r>
              <a:rPr lang="zh-CN" altLang="en-US" baseline="-25000"/>
              <a:t>奇</a:t>
            </a:r>
            <a:r>
              <a:rPr lang="en-US" altLang="zh-CN"/>
              <a:t>(</a:t>
            </a:r>
            <a:r>
              <a:rPr lang="en-US" altLang="zh-CN" i="1"/>
              <a:t>D</a:t>
            </a:r>
            <a:r>
              <a:rPr lang="en-US" altLang="zh-CN" i="1" baseline="-25000"/>
              <a:t>i</a:t>
            </a:r>
            <a:r>
              <a:rPr lang="en-US" altLang="zh-CN"/>
              <a:t>-S)≤|S|, </a:t>
            </a:r>
            <a:r>
              <a:rPr lang="zh-CN" altLang="en-US"/>
              <a:t>由归纳假设</a:t>
            </a:r>
            <a:r>
              <a:rPr lang="en-US" altLang="zh-CN"/>
              <a:t>, </a:t>
            </a:r>
            <a:r>
              <a:rPr lang="en-US" altLang="zh-CN" i="1"/>
              <a:t>D</a:t>
            </a:r>
            <a:r>
              <a:rPr lang="en-US" altLang="zh-CN" i="1" baseline="-25000"/>
              <a:t>i</a:t>
            </a:r>
            <a:r>
              <a:rPr lang="zh-CN" altLang="en-US"/>
              <a:t>内部有完美匹配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75779" name="Group 4"/>
          <p:cNvGrpSpPr/>
          <p:nvPr/>
        </p:nvGrpSpPr>
        <p:grpSpPr>
          <a:xfrm>
            <a:off x="395288" y="4581525"/>
            <a:ext cx="8353425" cy="1943100"/>
            <a:chOff x="249" y="2886"/>
            <a:chExt cx="5262" cy="1224"/>
          </a:xfrm>
        </p:grpSpPr>
        <p:grpSp>
          <p:nvGrpSpPr>
            <p:cNvPr id="75780" name="Group 5"/>
            <p:cNvGrpSpPr/>
            <p:nvPr/>
          </p:nvGrpSpPr>
          <p:grpSpPr>
            <a:xfrm>
              <a:off x="249" y="2931"/>
              <a:ext cx="635" cy="336"/>
              <a:chOff x="567" y="3113"/>
              <a:chExt cx="771" cy="408"/>
            </a:xfrm>
          </p:grpSpPr>
          <p:sp>
            <p:nvSpPr>
              <p:cNvPr id="75781" name="Oval 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782" name="Line 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83" name="Line 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84" name="Line 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5785" name="Group 10"/>
            <p:cNvGrpSpPr/>
            <p:nvPr/>
          </p:nvGrpSpPr>
          <p:grpSpPr>
            <a:xfrm>
              <a:off x="1111" y="2931"/>
              <a:ext cx="635" cy="336"/>
              <a:chOff x="567" y="3113"/>
              <a:chExt cx="771" cy="408"/>
            </a:xfrm>
          </p:grpSpPr>
          <p:sp>
            <p:nvSpPr>
              <p:cNvPr id="75786" name="Oval 11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787" name="Line 12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88" name="Line 13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89" name="Line 14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5790" name="Group 15"/>
            <p:cNvGrpSpPr/>
            <p:nvPr/>
          </p:nvGrpSpPr>
          <p:grpSpPr>
            <a:xfrm>
              <a:off x="2381" y="2886"/>
              <a:ext cx="635" cy="370"/>
              <a:chOff x="567" y="3113"/>
              <a:chExt cx="771" cy="408"/>
            </a:xfrm>
          </p:grpSpPr>
          <p:sp>
            <p:nvSpPr>
              <p:cNvPr id="75791" name="Oval 1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792" name="Line 1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93" name="Line 1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794" name="Line 1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5795" name="Text Box 20"/>
            <p:cNvSpPr txBox="1"/>
            <p:nvPr/>
          </p:nvSpPr>
          <p:spPr>
            <a:xfrm>
              <a:off x="1882" y="294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endParaRPr lang="en-US" altLang="zh-CN" sz="24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5796" name="Oval 21"/>
            <p:cNvSpPr/>
            <p:nvPr/>
          </p:nvSpPr>
          <p:spPr>
            <a:xfrm>
              <a:off x="521" y="3612"/>
              <a:ext cx="2268" cy="49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5797" name="Line 22"/>
            <p:cNvSpPr/>
            <p:nvPr/>
          </p:nvSpPr>
          <p:spPr>
            <a:xfrm>
              <a:off x="748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798" name="Line 23"/>
            <p:cNvSpPr/>
            <p:nvPr/>
          </p:nvSpPr>
          <p:spPr>
            <a:xfrm>
              <a:off x="748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799" name="Line 24"/>
            <p:cNvSpPr/>
            <p:nvPr/>
          </p:nvSpPr>
          <p:spPr>
            <a:xfrm>
              <a:off x="1247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0" name="Line 25"/>
            <p:cNvSpPr/>
            <p:nvPr/>
          </p:nvSpPr>
          <p:spPr>
            <a:xfrm>
              <a:off x="1247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1" name="Line 26"/>
            <p:cNvSpPr/>
            <p:nvPr/>
          </p:nvSpPr>
          <p:spPr>
            <a:xfrm>
              <a:off x="1247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2" name="Line 27"/>
            <p:cNvSpPr/>
            <p:nvPr/>
          </p:nvSpPr>
          <p:spPr>
            <a:xfrm>
              <a:off x="1791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3" name="Line 28"/>
            <p:cNvSpPr/>
            <p:nvPr/>
          </p:nvSpPr>
          <p:spPr>
            <a:xfrm>
              <a:off x="1791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4" name="Line 29"/>
            <p:cNvSpPr/>
            <p:nvPr/>
          </p:nvSpPr>
          <p:spPr>
            <a:xfrm>
              <a:off x="1791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5" name="Line 30"/>
            <p:cNvSpPr/>
            <p:nvPr/>
          </p:nvSpPr>
          <p:spPr>
            <a:xfrm>
              <a:off x="567" y="3203"/>
              <a:ext cx="317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6" name="Line 31"/>
            <p:cNvSpPr/>
            <p:nvPr/>
          </p:nvSpPr>
          <p:spPr>
            <a:xfrm flipH="1">
              <a:off x="1338" y="3203"/>
              <a:ext cx="0" cy="499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7" name="Line 32"/>
            <p:cNvSpPr/>
            <p:nvPr/>
          </p:nvSpPr>
          <p:spPr>
            <a:xfrm flipH="1">
              <a:off x="142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8" name="Line 33"/>
            <p:cNvSpPr/>
            <p:nvPr/>
          </p:nvSpPr>
          <p:spPr>
            <a:xfrm flipH="1">
              <a:off x="151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9" name="Line 34"/>
            <p:cNvSpPr/>
            <p:nvPr/>
          </p:nvSpPr>
          <p:spPr>
            <a:xfrm flipH="1">
              <a:off x="2290" y="3203"/>
              <a:ext cx="454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5810" name="Group 35"/>
            <p:cNvGrpSpPr/>
            <p:nvPr/>
          </p:nvGrpSpPr>
          <p:grpSpPr>
            <a:xfrm>
              <a:off x="3379" y="2886"/>
              <a:ext cx="635" cy="336"/>
              <a:chOff x="3379" y="2886"/>
              <a:chExt cx="635" cy="336"/>
            </a:xfrm>
          </p:grpSpPr>
          <p:sp>
            <p:nvSpPr>
              <p:cNvPr id="75811" name="Oval 36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12" name="Line 37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3" name="Line 38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4" name="Line 39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5" name="Line 40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5816" name="Group 41"/>
            <p:cNvGrpSpPr/>
            <p:nvPr/>
          </p:nvGrpSpPr>
          <p:grpSpPr>
            <a:xfrm>
              <a:off x="4150" y="2886"/>
              <a:ext cx="635" cy="336"/>
              <a:chOff x="3379" y="2886"/>
              <a:chExt cx="635" cy="336"/>
            </a:xfrm>
          </p:grpSpPr>
          <p:sp>
            <p:nvSpPr>
              <p:cNvPr id="75817" name="Oval 42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18" name="Line 43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9" name="Line 44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0" name="Line 45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1" name="Line 46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5822" name="Group 47"/>
            <p:cNvGrpSpPr/>
            <p:nvPr/>
          </p:nvGrpSpPr>
          <p:grpSpPr>
            <a:xfrm>
              <a:off x="4876" y="2886"/>
              <a:ext cx="635" cy="336"/>
              <a:chOff x="3379" y="2886"/>
              <a:chExt cx="635" cy="336"/>
            </a:xfrm>
          </p:grpSpPr>
          <p:sp>
            <p:nvSpPr>
              <p:cNvPr id="75823" name="Oval 48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24" name="Line 49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5" name="Line 50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6" name="Line 51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27" name="Line 52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完美匹配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/>
              <a:t> (2) </a:t>
            </a:r>
            <a:r>
              <a:rPr lang="zh-CN" altLang="en-US" sz="2400"/>
              <a:t>每个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/>
              <a:t>-{</a:t>
            </a:r>
            <a:r>
              <a:rPr lang="en-US" altLang="zh-CN" sz="2400" i="1"/>
              <a:t>c</a:t>
            </a:r>
            <a:r>
              <a:rPr lang="en-US" altLang="zh-CN" sz="2400"/>
              <a:t>}</a:t>
            </a:r>
            <a:r>
              <a:rPr lang="zh-CN" altLang="en-US" sz="2400"/>
              <a:t>内部有完美匹配</a:t>
            </a:r>
            <a:r>
              <a:rPr lang="en-US" altLang="zh-CN" sz="2400"/>
              <a:t>, </a:t>
            </a:r>
            <a:r>
              <a:rPr lang="zh-CN" altLang="en-US" sz="2400"/>
              <a:t>其中</a:t>
            </a:r>
            <a:r>
              <a:rPr lang="en-US" altLang="zh-CN" sz="2400"/>
              <a:t>c∈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/>
              <a:t>. </a:t>
            </a:r>
            <a:endParaRPr lang="en-US" altLang="zh-CN" sz="240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/>
              <a:t>(</a:t>
            </a:r>
            <a:r>
              <a:rPr lang="zh-CN" altLang="en-US" sz="2400">
                <a:solidFill>
                  <a:srgbClr val="FF00FF"/>
                </a:solidFill>
              </a:rPr>
              <a:t>反证</a:t>
            </a:r>
            <a:r>
              <a:rPr lang="en-US" altLang="zh-CN" sz="2400"/>
              <a:t>) </a:t>
            </a:r>
            <a:r>
              <a:rPr lang="zh-CN" altLang="en-US" sz="2400"/>
              <a:t>假设∃</a:t>
            </a:r>
            <a:r>
              <a:rPr lang="en-US" altLang="zh-CN" sz="2400"/>
              <a:t>S⊆V(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/>
              <a:t>-{c}), p</a:t>
            </a:r>
            <a:r>
              <a:rPr lang="zh-CN" altLang="en-US" sz="2400" baseline="-25000"/>
              <a:t>奇</a:t>
            </a:r>
            <a:r>
              <a:rPr lang="en-US" altLang="zh-CN" sz="2400"/>
              <a:t>(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/>
              <a:t>-{c}-S))&gt;|S|, </a:t>
            </a:r>
            <a:endParaRPr lang="en-US" altLang="zh-CN" sz="240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/>
              <a:t>因两端同奇偶</a:t>
            </a:r>
            <a:r>
              <a:rPr lang="en-US" altLang="zh-CN" sz="2400"/>
              <a:t>, </a:t>
            </a:r>
            <a:r>
              <a:rPr lang="zh-CN" altLang="en-US" sz="2400"/>
              <a:t>故</a:t>
            </a:r>
            <a:r>
              <a:rPr lang="en-US" altLang="zh-CN" sz="2400"/>
              <a:t>p</a:t>
            </a:r>
            <a:r>
              <a:rPr lang="zh-CN" altLang="en-US" sz="2400" baseline="-25000"/>
              <a:t>奇</a:t>
            </a:r>
            <a:r>
              <a:rPr lang="en-US" altLang="zh-CN" sz="2400"/>
              <a:t>(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/>
              <a:t>-{c}-S))≥|S|+2.</a:t>
            </a:r>
            <a:endParaRPr lang="en-US" altLang="zh-CN" sz="240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/>
              <a:t>|S</a:t>
            </a:r>
            <a:r>
              <a:rPr lang="en-US" altLang="zh-CN" sz="2400" baseline="-25000"/>
              <a:t>0</a:t>
            </a:r>
            <a:r>
              <a:rPr lang="en-US" altLang="zh-CN" sz="2400"/>
              <a:t>∪{c}∪S|=|S</a:t>
            </a:r>
            <a:r>
              <a:rPr lang="en-US" altLang="zh-CN" sz="2400" baseline="-25000"/>
              <a:t>0</a:t>
            </a:r>
            <a:r>
              <a:rPr lang="en-US" altLang="zh-CN" sz="2400"/>
              <a:t>|+1+|S|≥p</a:t>
            </a:r>
            <a:r>
              <a:rPr lang="zh-CN" altLang="en-US" sz="2400" baseline="-25000"/>
              <a:t>奇</a:t>
            </a:r>
            <a:r>
              <a:rPr lang="en-US" altLang="zh-CN" sz="2400"/>
              <a:t>(G-(S</a:t>
            </a:r>
            <a:r>
              <a:rPr lang="en-US" altLang="zh-CN" sz="2400" baseline="-25000"/>
              <a:t>0</a:t>
            </a:r>
            <a:r>
              <a:rPr lang="en-US" altLang="zh-CN" sz="2400"/>
              <a:t>∪{c}∪S))</a:t>
            </a:r>
            <a:endParaRPr lang="en-US" altLang="zh-CN" sz="240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/>
              <a:t>=p</a:t>
            </a:r>
            <a:r>
              <a:rPr lang="zh-CN" altLang="en-US" sz="2400" baseline="-25000"/>
              <a:t>奇</a:t>
            </a:r>
            <a:r>
              <a:rPr lang="en-US" altLang="zh-CN" sz="2400"/>
              <a:t>(G-S</a:t>
            </a:r>
            <a:r>
              <a:rPr lang="en-US" altLang="zh-CN" sz="2400" baseline="-25000"/>
              <a:t>0</a:t>
            </a:r>
            <a:r>
              <a:rPr lang="en-US" altLang="zh-CN" sz="2400"/>
              <a:t>)-1+p</a:t>
            </a:r>
            <a:r>
              <a:rPr lang="zh-CN" altLang="en-US" sz="2400" baseline="-25000"/>
              <a:t>奇</a:t>
            </a:r>
            <a:r>
              <a:rPr lang="en-US" altLang="zh-CN" sz="2400"/>
              <a:t>(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/>
              <a:t>-{c}-S))≥|S</a:t>
            </a:r>
            <a:r>
              <a:rPr lang="en-US" altLang="zh-CN" sz="2400" baseline="-25000"/>
              <a:t>0</a:t>
            </a:r>
            <a:r>
              <a:rPr lang="en-US" altLang="zh-CN" sz="2400"/>
              <a:t>|+|S|+1,</a:t>
            </a:r>
            <a:r>
              <a:rPr lang="zh-CN" altLang="en-US" sz="2400"/>
              <a:t>即</a:t>
            </a:r>
            <a:endParaRPr lang="en-US" altLang="zh-CN" sz="240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/>
              <a:t>p</a:t>
            </a:r>
            <a:r>
              <a:rPr lang="zh-CN" altLang="en-US" sz="2400" baseline="-25000"/>
              <a:t>奇</a:t>
            </a:r>
            <a:r>
              <a:rPr lang="en-US" altLang="zh-CN" sz="2400"/>
              <a:t>(G-(S</a:t>
            </a:r>
            <a:r>
              <a:rPr lang="en-US" altLang="zh-CN" sz="2400" baseline="-25000"/>
              <a:t>0</a:t>
            </a:r>
            <a:r>
              <a:rPr lang="en-US" altLang="zh-CN" sz="2400"/>
              <a:t>∪{c}∪S))=|S</a:t>
            </a:r>
            <a:r>
              <a:rPr lang="en-US" altLang="zh-CN" sz="2400" baseline="-25000"/>
              <a:t>0</a:t>
            </a:r>
            <a:r>
              <a:rPr lang="en-US" altLang="zh-CN" sz="2400"/>
              <a:t>∪{c}∪S|=|S</a:t>
            </a:r>
            <a:r>
              <a:rPr lang="en-US" altLang="zh-CN" sz="2400" baseline="-25000"/>
              <a:t>0</a:t>
            </a:r>
            <a:r>
              <a:rPr lang="en-US" altLang="zh-CN" sz="2400"/>
              <a:t>|+|S|+1</a:t>
            </a:r>
            <a:r>
              <a:rPr lang="zh-CN" altLang="en-US" sz="2400"/>
              <a:t>，与</a:t>
            </a:r>
            <a:r>
              <a:rPr lang="en-US" altLang="zh-CN" sz="2400"/>
              <a:t>S</a:t>
            </a:r>
            <a:r>
              <a:rPr lang="en-US" altLang="zh-CN" sz="2400" baseline="-25000"/>
              <a:t>0</a:t>
            </a:r>
            <a:r>
              <a:rPr lang="zh-CN" altLang="en-US" sz="2400"/>
              <a:t>的</a:t>
            </a:r>
            <a:endParaRPr lang="en-US" altLang="zh-CN" sz="240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/>
              <a:t>最大性矛盾</a:t>
            </a:r>
            <a:r>
              <a:rPr lang="en-US" altLang="zh-CN" sz="2400"/>
              <a:t>.</a:t>
            </a:r>
            <a:endParaRPr lang="en-US" altLang="zh-CN" sz="2400"/>
          </a:p>
        </p:txBody>
      </p:sp>
      <p:grpSp>
        <p:nvGrpSpPr>
          <p:cNvPr id="76803" name="Group 4"/>
          <p:cNvGrpSpPr/>
          <p:nvPr/>
        </p:nvGrpSpPr>
        <p:grpSpPr>
          <a:xfrm>
            <a:off x="395288" y="4581525"/>
            <a:ext cx="8353425" cy="1943100"/>
            <a:chOff x="249" y="2886"/>
            <a:chExt cx="5262" cy="1224"/>
          </a:xfrm>
        </p:grpSpPr>
        <p:grpSp>
          <p:nvGrpSpPr>
            <p:cNvPr id="76804" name="Group 5"/>
            <p:cNvGrpSpPr/>
            <p:nvPr/>
          </p:nvGrpSpPr>
          <p:grpSpPr>
            <a:xfrm>
              <a:off x="249" y="2931"/>
              <a:ext cx="635" cy="336"/>
              <a:chOff x="567" y="3113"/>
              <a:chExt cx="771" cy="408"/>
            </a:xfrm>
          </p:grpSpPr>
          <p:sp>
            <p:nvSpPr>
              <p:cNvPr id="76805" name="Oval 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06" name="Line 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07" name="Line 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08" name="Line 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6809" name="Group 10"/>
            <p:cNvGrpSpPr/>
            <p:nvPr/>
          </p:nvGrpSpPr>
          <p:grpSpPr>
            <a:xfrm>
              <a:off x="1111" y="2931"/>
              <a:ext cx="635" cy="336"/>
              <a:chOff x="567" y="3113"/>
              <a:chExt cx="771" cy="408"/>
            </a:xfrm>
          </p:grpSpPr>
          <p:sp>
            <p:nvSpPr>
              <p:cNvPr id="76810" name="Oval 11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11" name="Line 12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12" name="Line 13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13" name="Line 14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6814" name="Group 15"/>
            <p:cNvGrpSpPr/>
            <p:nvPr/>
          </p:nvGrpSpPr>
          <p:grpSpPr>
            <a:xfrm>
              <a:off x="2381" y="2886"/>
              <a:ext cx="635" cy="370"/>
              <a:chOff x="567" y="3113"/>
              <a:chExt cx="771" cy="408"/>
            </a:xfrm>
          </p:grpSpPr>
          <p:sp>
            <p:nvSpPr>
              <p:cNvPr id="76815" name="Oval 1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16" name="Line 1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17" name="Line 1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18" name="Line 1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6819" name="Text Box 20"/>
            <p:cNvSpPr txBox="1"/>
            <p:nvPr/>
          </p:nvSpPr>
          <p:spPr>
            <a:xfrm>
              <a:off x="1882" y="294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endParaRPr lang="en-US" altLang="zh-CN" sz="24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6820" name="Oval 21"/>
            <p:cNvSpPr/>
            <p:nvPr/>
          </p:nvSpPr>
          <p:spPr>
            <a:xfrm>
              <a:off x="521" y="3612"/>
              <a:ext cx="2268" cy="49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6821" name="Line 22"/>
            <p:cNvSpPr/>
            <p:nvPr/>
          </p:nvSpPr>
          <p:spPr>
            <a:xfrm>
              <a:off x="748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2" name="Line 23"/>
            <p:cNvSpPr/>
            <p:nvPr/>
          </p:nvSpPr>
          <p:spPr>
            <a:xfrm>
              <a:off x="748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3" name="Line 24"/>
            <p:cNvSpPr/>
            <p:nvPr/>
          </p:nvSpPr>
          <p:spPr>
            <a:xfrm>
              <a:off x="1247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4" name="Line 25"/>
            <p:cNvSpPr/>
            <p:nvPr/>
          </p:nvSpPr>
          <p:spPr>
            <a:xfrm>
              <a:off x="1247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5" name="Line 26"/>
            <p:cNvSpPr/>
            <p:nvPr/>
          </p:nvSpPr>
          <p:spPr>
            <a:xfrm>
              <a:off x="1247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6" name="Line 27"/>
            <p:cNvSpPr/>
            <p:nvPr/>
          </p:nvSpPr>
          <p:spPr>
            <a:xfrm>
              <a:off x="1791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7" name="Line 28"/>
            <p:cNvSpPr/>
            <p:nvPr/>
          </p:nvSpPr>
          <p:spPr>
            <a:xfrm>
              <a:off x="1791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8" name="Line 29"/>
            <p:cNvSpPr/>
            <p:nvPr/>
          </p:nvSpPr>
          <p:spPr>
            <a:xfrm>
              <a:off x="1791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9" name="Line 30"/>
            <p:cNvSpPr/>
            <p:nvPr/>
          </p:nvSpPr>
          <p:spPr>
            <a:xfrm>
              <a:off x="567" y="3203"/>
              <a:ext cx="317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0" name="Line 31"/>
            <p:cNvSpPr/>
            <p:nvPr/>
          </p:nvSpPr>
          <p:spPr>
            <a:xfrm flipH="1">
              <a:off x="1338" y="3203"/>
              <a:ext cx="0" cy="499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1" name="Line 32"/>
            <p:cNvSpPr/>
            <p:nvPr/>
          </p:nvSpPr>
          <p:spPr>
            <a:xfrm flipH="1">
              <a:off x="142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2" name="Line 33"/>
            <p:cNvSpPr/>
            <p:nvPr/>
          </p:nvSpPr>
          <p:spPr>
            <a:xfrm flipH="1">
              <a:off x="151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3" name="Line 34"/>
            <p:cNvSpPr/>
            <p:nvPr/>
          </p:nvSpPr>
          <p:spPr>
            <a:xfrm flipH="1">
              <a:off x="2290" y="3203"/>
              <a:ext cx="454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6834" name="Group 35"/>
            <p:cNvGrpSpPr/>
            <p:nvPr/>
          </p:nvGrpSpPr>
          <p:grpSpPr>
            <a:xfrm>
              <a:off x="3379" y="2886"/>
              <a:ext cx="635" cy="336"/>
              <a:chOff x="3379" y="2886"/>
              <a:chExt cx="635" cy="336"/>
            </a:xfrm>
          </p:grpSpPr>
          <p:sp>
            <p:nvSpPr>
              <p:cNvPr id="76835" name="Oval 36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36" name="Line 37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37" name="Line 38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38" name="Line 39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39" name="Line 40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6840" name="Group 41"/>
            <p:cNvGrpSpPr/>
            <p:nvPr/>
          </p:nvGrpSpPr>
          <p:grpSpPr>
            <a:xfrm>
              <a:off x="4150" y="2886"/>
              <a:ext cx="635" cy="336"/>
              <a:chOff x="3379" y="2886"/>
              <a:chExt cx="635" cy="336"/>
            </a:xfrm>
          </p:grpSpPr>
          <p:sp>
            <p:nvSpPr>
              <p:cNvPr id="76841" name="Oval 42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42" name="Line 43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43" name="Line 44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44" name="Line 45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45" name="Line 46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6846" name="Group 47"/>
            <p:cNvGrpSpPr/>
            <p:nvPr/>
          </p:nvGrpSpPr>
          <p:grpSpPr>
            <a:xfrm>
              <a:off x="4876" y="2886"/>
              <a:ext cx="635" cy="336"/>
              <a:chOff x="3379" y="2886"/>
              <a:chExt cx="635" cy="336"/>
            </a:xfrm>
          </p:grpSpPr>
          <p:sp>
            <p:nvSpPr>
              <p:cNvPr id="76847" name="Oval 48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48" name="Line 49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49" name="Line 50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50" name="Line 51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851" name="Line 52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完美匹配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8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/>
              <a:t>(3) H=G[{C</a:t>
            </a:r>
            <a:r>
              <a:rPr lang="en-US" altLang="zh-CN" baseline="-25000"/>
              <a:t>1</a:t>
            </a:r>
            <a:r>
              <a:rPr lang="en-US" altLang="zh-CN"/>
              <a:t>, C</a:t>
            </a:r>
            <a:r>
              <a:rPr lang="en-US" altLang="zh-CN" baseline="-25000"/>
              <a:t>2</a:t>
            </a:r>
            <a:r>
              <a:rPr lang="en-US" altLang="zh-CN"/>
              <a:t>,…, </a:t>
            </a:r>
            <a:r>
              <a:rPr lang="en-US" altLang="zh-CN" i="1"/>
              <a:t>C</a:t>
            </a:r>
            <a:r>
              <a:rPr lang="en-US" altLang="zh-CN" i="1" baseline="-25000"/>
              <a:t>s</a:t>
            </a:r>
            <a:r>
              <a:rPr lang="en-US" altLang="zh-CN"/>
              <a:t>},S</a:t>
            </a:r>
            <a:r>
              <a:rPr lang="en-US" altLang="zh-CN" baseline="-25000"/>
              <a:t>0</a:t>
            </a:r>
            <a:r>
              <a:rPr lang="en-US" altLang="zh-CN"/>
              <a:t>] </a:t>
            </a:r>
            <a:r>
              <a:rPr lang="zh-CN" altLang="en-US"/>
              <a:t>有完美匹配</a:t>
            </a:r>
            <a:r>
              <a:rPr lang="en-US" altLang="zh-CN"/>
              <a:t>. ∀A⊆{C</a:t>
            </a:r>
            <a:r>
              <a:rPr lang="en-US" altLang="zh-CN" baseline="-25000"/>
              <a:t>1</a:t>
            </a:r>
            <a:r>
              <a:rPr lang="en-US" altLang="zh-CN"/>
              <a:t>, C</a:t>
            </a:r>
            <a:r>
              <a:rPr lang="en-US" altLang="zh-CN" baseline="-25000"/>
              <a:t>2</a:t>
            </a:r>
            <a:r>
              <a:rPr lang="en-US" altLang="zh-CN"/>
              <a:t>,…, </a:t>
            </a:r>
            <a:r>
              <a:rPr lang="en-US" altLang="zh-CN" i="1"/>
              <a:t>C</a:t>
            </a:r>
            <a:r>
              <a:rPr lang="en-US" altLang="zh-CN" i="1" baseline="-25000"/>
              <a:t>s</a:t>
            </a:r>
            <a:r>
              <a:rPr lang="en-US" altLang="zh-CN"/>
              <a:t>},</a:t>
            </a:r>
            <a:r>
              <a:rPr lang="zh-CN" altLang="en-US"/>
              <a:t>令</a:t>
            </a:r>
            <a:r>
              <a:rPr lang="en-US" altLang="zh-CN"/>
              <a:t>B=Γ</a:t>
            </a:r>
            <a:r>
              <a:rPr lang="en-US" altLang="zh-CN" baseline="-25000"/>
              <a:t>H</a:t>
            </a:r>
            <a:r>
              <a:rPr lang="en-US" altLang="zh-CN"/>
              <a:t>(A),</a:t>
            </a:r>
            <a:r>
              <a:rPr lang="zh-CN" altLang="en-US"/>
              <a:t>则</a:t>
            </a:r>
            <a:r>
              <a:rPr lang="en-US" altLang="zh-CN"/>
              <a:t>|A|≤p</a:t>
            </a:r>
            <a:r>
              <a:rPr lang="zh-CN" altLang="en-US" baseline="-25000"/>
              <a:t>奇</a:t>
            </a:r>
            <a:r>
              <a:rPr lang="en-US" altLang="zh-CN"/>
              <a:t>(G-B)≤|B|, </a:t>
            </a:r>
            <a:r>
              <a:rPr lang="zh-CN" altLang="en-US"/>
              <a:t>即满足</a:t>
            </a:r>
            <a:r>
              <a:rPr lang="en-US" altLang="zh-CN"/>
              <a:t>Hall</a:t>
            </a:r>
            <a:r>
              <a:rPr lang="zh-CN" altLang="en-US"/>
              <a:t>条件</a:t>
            </a:r>
            <a:r>
              <a:rPr lang="en-US" altLang="zh-CN"/>
              <a:t>, </a:t>
            </a:r>
            <a:r>
              <a:rPr lang="zh-CN" altLang="en-US"/>
              <a:t>所以</a:t>
            </a:r>
            <a:r>
              <a:rPr lang="en-US" altLang="zh-CN"/>
              <a:t>H</a:t>
            </a:r>
            <a:r>
              <a:rPr lang="zh-CN" altLang="en-US"/>
              <a:t>有完美匹配</a:t>
            </a:r>
            <a:r>
              <a:rPr lang="en-US" altLang="zh-CN"/>
              <a:t>.</a:t>
            </a:r>
            <a:r>
              <a:rPr lang="zh-CN" altLang="en-US"/>
              <a:t>于是</a:t>
            </a:r>
            <a:r>
              <a:rPr lang="en-US" altLang="zh-CN"/>
              <a:t>G</a:t>
            </a:r>
            <a:r>
              <a:rPr lang="zh-CN" altLang="en-US"/>
              <a:t>的完美匹配由</a:t>
            </a:r>
            <a:r>
              <a:rPr lang="en-US" altLang="zh-CN"/>
              <a:t>(3)(2)(1)</a:t>
            </a:r>
            <a:r>
              <a:rPr lang="zh-CN" altLang="en-US"/>
              <a:t>三部分构成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77827" name="Group 4"/>
          <p:cNvGrpSpPr/>
          <p:nvPr/>
        </p:nvGrpSpPr>
        <p:grpSpPr>
          <a:xfrm>
            <a:off x="395288" y="4581525"/>
            <a:ext cx="8353425" cy="1943100"/>
            <a:chOff x="249" y="2886"/>
            <a:chExt cx="5262" cy="1224"/>
          </a:xfrm>
        </p:grpSpPr>
        <p:grpSp>
          <p:nvGrpSpPr>
            <p:cNvPr id="77828" name="Group 5"/>
            <p:cNvGrpSpPr/>
            <p:nvPr/>
          </p:nvGrpSpPr>
          <p:grpSpPr>
            <a:xfrm>
              <a:off x="249" y="2931"/>
              <a:ext cx="635" cy="336"/>
              <a:chOff x="567" y="3113"/>
              <a:chExt cx="771" cy="408"/>
            </a:xfrm>
          </p:grpSpPr>
          <p:sp>
            <p:nvSpPr>
              <p:cNvPr id="77829" name="Oval 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30" name="Line 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31" name="Line 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32" name="Line 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7833" name="Group 10"/>
            <p:cNvGrpSpPr/>
            <p:nvPr/>
          </p:nvGrpSpPr>
          <p:grpSpPr>
            <a:xfrm>
              <a:off x="1111" y="2931"/>
              <a:ext cx="635" cy="336"/>
              <a:chOff x="567" y="3113"/>
              <a:chExt cx="771" cy="408"/>
            </a:xfrm>
          </p:grpSpPr>
          <p:sp>
            <p:nvSpPr>
              <p:cNvPr id="77834" name="Oval 11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35" name="Line 12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36" name="Line 13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37" name="Line 14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7838" name="Group 15"/>
            <p:cNvGrpSpPr/>
            <p:nvPr/>
          </p:nvGrpSpPr>
          <p:grpSpPr>
            <a:xfrm>
              <a:off x="2381" y="2886"/>
              <a:ext cx="635" cy="370"/>
              <a:chOff x="567" y="3113"/>
              <a:chExt cx="771" cy="408"/>
            </a:xfrm>
          </p:grpSpPr>
          <p:sp>
            <p:nvSpPr>
              <p:cNvPr id="77839" name="Oval 1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40" name="Line 1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41" name="Line 1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42" name="Line 1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7843" name="Text Box 20"/>
            <p:cNvSpPr txBox="1"/>
            <p:nvPr/>
          </p:nvSpPr>
          <p:spPr>
            <a:xfrm>
              <a:off x="1882" y="294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endParaRPr lang="en-US" altLang="zh-CN" sz="24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7844" name="Oval 21"/>
            <p:cNvSpPr/>
            <p:nvPr/>
          </p:nvSpPr>
          <p:spPr>
            <a:xfrm>
              <a:off x="521" y="3612"/>
              <a:ext cx="2268" cy="49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7845" name="Line 22"/>
            <p:cNvSpPr/>
            <p:nvPr/>
          </p:nvSpPr>
          <p:spPr>
            <a:xfrm>
              <a:off x="748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46" name="Line 23"/>
            <p:cNvSpPr/>
            <p:nvPr/>
          </p:nvSpPr>
          <p:spPr>
            <a:xfrm>
              <a:off x="748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47" name="Line 24"/>
            <p:cNvSpPr/>
            <p:nvPr/>
          </p:nvSpPr>
          <p:spPr>
            <a:xfrm>
              <a:off x="1247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48" name="Line 25"/>
            <p:cNvSpPr/>
            <p:nvPr/>
          </p:nvSpPr>
          <p:spPr>
            <a:xfrm>
              <a:off x="1247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49" name="Line 26"/>
            <p:cNvSpPr/>
            <p:nvPr/>
          </p:nvSpPr>
          <p:spPr>
            <a:xfrm>
              <a:off x="1247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0" name="Line 27"/>
            <p:cNvSpPr/>
            <p:nvPr/>
          </p:nvSpPr>
          <p:spPr>
            <a:xfrm>
              <a:off x="1791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1" name="Line 28"/>
            <p:cNvSpPr/>
            <p:nvPr/>
          </p:nvSpPr>
          <p:spPr>
            <a:xfrm>
              <a:off x="1791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2" name="Line 29"/>
            <p:cNvSpPr/>
            <p:nvPr/>
          </p:nvSpPr>
          <p:spPr>
            <a:xfrm>
              <a:off x="1791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3" name="Line 30"/>
            <p:cNvSpPr/>
            <p:nvPr/>
          </p:nvSpPr>
          <p:spPr>
            <a:xfrm>
              <a:off x="567" y="3203"/>
              <a:ext cx="317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4" name="Line 31"/>
            <p:cNvSpPr/>
            <p:nvPr/>
          </p:nvSpPr>
          <p:spPr>
            <a:xfrm flipH="1">
              <a:off x="1338" y="3203"/>
              <a:ext cx="0" cy="499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5" name="Line 32"/>
            <p:cNvSpPr/>
            <p:nvPr/>
          </p:nvSpPr>
          <p:spPr>
            <a:xfrm flipH="1">
              <a:off x="142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6" name="Line 33"/>
            <p:cNvSpPr/>
            <p:nvPr/>
          </p:nvSpPr>
          <p:spPr>
            <a:xfrm flipH="1">
              <a:off x="151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57" name="Line 34"/>
            <p:cNvSpPr/>
            <p:nvPr/>
          </p:nvSpPr>
          <p:spPr>
            <a:xfrm flipH="1">
              <a:off x="2290" y="3203"/>
              <a:ext cx="454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7858" name="Group 35"/>
            <p:cNvGrpSpPr/>
            <p:nvPr/>
          </p:nvGrpSpPr>
          <p:grpSpPr>
            <a:xfrm>
              <a:off x="3379" y="2886"/>
              <a:ext cx="635" cy="336"/>
              <a:chOff x="3379" y="2886"/>
              <a:chExt cx="635" cy="336"/>
            </a:xfrm>
          </p:grpSpPr>
          <p:sp>
            <p:nvSpPr>
              <p:cNvPr id="77859" name="Oval 36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60" name="Line 37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61" name="Line 38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62" name="Line 39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63" name="Line 40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7864" name="Group 41"/>
            <p:cNvGrpSpPr/>
            <p:nvPr/>
          </p:nvGrpSpPr>
          <p:grpSpPr>
            <a:xfrm>
              <a:off x="4150" y="2886"/>
              <a:ext cx="635" cy="336"/>
              <a:chOff x="3379" y="2886"/>
              <a:chExt cx="635" cy="336"/>
            </a:xfrm>
          </p:grpSpPr>
          <p:sp>
            <p:nvSpPr>
              <p:cNvPr id="77865" name="Oval 42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66" name="Line 43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67" name="Line 44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68" name="Line 45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69" name="Line 46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7870" name="Group 47"/>
            <p:cNvGrpSpPr/>
            <p:nvPr/>
          </p:nvGrpSpPr>
          <p:grpSpPr>
            <a:xfrm>
              <a:off x="4876" y="2886"/>
              <a:ext cx="635" cy="336"/>
              <a:chOff x="3379" y="2886"/>
              <a:chExt cx="635" cy="336"/>
            </a:xfrm>
          </p:grpSpPr>
          <p:sp>
            <p:nvSpPr>
              <p:cNvPr id="77871" name="Oval 48"/>
              <p:cNvSpPr/>
              <p:nvPr/>
            </p:nvSpPr>
            <p:spPr>
              <a:xfrm>
                <a:off x="3379" y="2886"/>
                <a:ext cx="635" cy="33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72" name="Line 49"/>
              <p:cNvSpPr/>
              <p:nvPr/>
            </p:nvSpPr>
            <p:spPr>
              <a:xfrm>
                <a:off x="3565" y="2960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73" name="Line 50"/>
              <p:cNvSpPr/>
              <p:nvPr/>
            </p:nvSpPr>
            <p:spPr>
              <a:xfrm>
                <a:off x="3565" y="3034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74" name="Line 51"/>
              <p:cNvSpPr/>
              <p:nvPr/>
            </p:nvSpPr>
            <p:spPr>
              <a:xfrm>
                <a:off x="3565" y="3091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875" name="Line 52"/>
              <p:cNvSpPr/>
              <p:nvPr/>
            </p:nvSpPr>
            <p:spPr>
              <a:xfrm>
                <a:off x="3560" y="3158"/>
                <a:ext cx="2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推论</a:t>
            </a:r>
            <a:endParaRPr lang="zh-CN" altLang="en-US" b="0"/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无桥</a:t>
            </a:r>
            <a:r>
              <a:rPr lang="en-US" altLang="zh-CN"/>
              <a:t>3</a:t>
            </a:r>
            <a:r>
              <a:rPr lang="zh-CN" altLang="en-US"/>
              <a:t>正则图有完美匹配</a:t>
            </a:r>
            <a:endParaRPr lang="zh-CN" altLang="en-US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G-V</a:t>
            </a:r>
            <a:r>
              <a:rPr lang="en-US" altLang="zh-CN" baseline="-25000"/>
              <a:t>1</a:t>
            </a:r>
            <a:r>
              <a:rPr lang="zh-CN" altLang="en-US"/>
              <a:t>的奇阶连通分支是</a:t>
            </a:r>
            <a:r>
              <a:rPr lang="en-US" altLang="zh-CN" i="1"/>
              <a:t>G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i</a:t>
            </a:r>
            <a:r>
              <a:rPr lang="en-US" altLang="zh-CN"/>
              <a:t>=1,2,…,</a:t>
            </a:r>
            <a:r>
              <a:rPr lang="en-US" altLang="zh-CN" i="1"/>
              <a:t>r</a:t>
            </a:r>
            <a:r>
              <a:rPr lang="en-US" altLang="zh-CN"/>
              <a:t>, |V(</a:t>
            </a:r>
            <a:r>
              <a:rPr lang="en-US" altLang="zh-CN" i="1"/>
              <a:t>G</a:t>
            </a:r>
            <a:r>
              <a:rPr lang="en-US" altLang="zh-CN" i="1" baseline="-25000"/>
              <a:t>i</a:t>
            </a:r>
            <a:r>
              <a:rPr lang="en-US" altLang="zh-CN"/>
              <a:t>)|=</a:t>
            </a:r>
            <a:r>
              <a:rPr lang="en-US" altLang="zh-CN" i="1"/>
              <a:t>n</a:t>
            </a:r>
            <a:r>
              <a:rPr lang="en-US" altLang="zh-CN" i="1" baseline="-25000"/>
              <a:t>i</a:t>
            </a:r>
            <a:r>
              <a:rPr lang="en-US" altLang="zh-CN"/>
              <a:t>, |[V(</a:t>
            </a:r>
            <a:r>
              <a:rPr lang="en-US" altLang="zh-CN" i="1"/>
              <a:t>G</a:t>
            </a:r>
            <a:r>
              <a:rPr lang="en-US" altLang="zh-CN" i="1" baseline="-25000"/>
              <a:t>i</a:t>
            </a:r>
            <a:r>
              <a:rPr lang="en-US" altLang="zh-CN"/>
              <a:t>),V</a:t>
            </a:r>
            <a:r>
              <a:rPr lang="en-US" altLang="zh-CN" baseline="-25000"/>
              <a:t>1</a:t>
            </a:r>
            <a:r>
              <a:rPr lang="en-US" altLang="zh-CN"/>
              <a:t>]|=</a:t>
            </a:r>
            <a:r>
              <a:rPr lang="en-US" altLang="zh-CN" i="1"/>
              <a:t>m</a:t>
            </a:r>
            <a:r>
              <a:rPr lang="en-US" altLang="zh-CN" i="1" baseline="-25000"/>
              <a:t>i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Σ</a:t>
            </a:r>
            <a:r>
              <a:rPr lang="en-US" altLang="zh-CN" i="1" baseline="-25000"/>
              <a:t>v</a:t>
            </a:r>
            <a:r>
              <a:rPr lang="en-US" altLang="zh-CN" baseline="-25000"/>
              <a:t>∈V(</a:t>
            </a:r>
            <a:r>
              <a:rPr lang="en-US" altLang="zh-CN" i="1" baseline="-25000"/>
              <a:t>G</a:t>
            </a:r>
            <a:r>
              <a:rPr lang="en-US" altLang="zh-CN" i="1" baseline="-50000"/>
              <a:t>i</a:t>
            </a:r>
            <a:r>
              <a:rPr lang="en-US" altLang="zh-CN" baseline="-25000"/>
              <a:t>)</a:t>
            </a:r>
            <a:r>
              <a:rPr lang="en-US" altLang="zh-CN"/>
              <a:t>d</a:t>
            </a:r>
            <a:r>
              <a:rPr lang="en-US" altLang="zh-CN" baseline="-25000"/>
              <a:t>G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 i="1" baseline="-25000"/>
              <a:t>i</a:t>
            </a:r>
            <a:r>
              <a:rPr lang="en-US" altLang="zh-CN"/>
              <a:t>=2|E(</a:t>
            </a:r>
            <a:r>
              <a:rPr lang="en-US" altLang="zh-CN" i="1"/>
              <a:t>G</a:t>
            </a:r>
            <a:r>
              <a:rPr lang="en-US" altLang="zh-CN" i="1" baseline="-25000"/>
              <a:t>i</a:t>
            </a:r>
            <a:r>
              <a:rPr lang="en-US" altLang="zh-CN"/>
              <a:t>)|+ </a:t>
            </a:r>
            <a:r>
              <a:rPr lang="en-US" altLang="zh-CN" i="1"/>
              <a:t>m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zh-CN" altLang="en-US"/>
              <a:t>所以</a:t>
            </a:r>
            <a:r>
              <a:rPr lang="en-US" altLang="zh-CN"/>
              <a:t> </a:t>
            </a:r>
            <a:r>
              <a:rPr lang="en-US" altLang="zh-CN" i="1"/>
              <a:t>m</a:t>
            </a:r>
            <a:r>
              <a:rPr lang="en-US" altLang="zh-CN" i="1" baseline="-25000"/>
              <a:t>i</a:t>
            </a:r>
            <a:r>
              <a:rPr lang="zh-CN" altLang="en-US"/>
              <a:t>是奇数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</a:t>
            </a:r>
            <a:r>
              <a:rPr lang="zh-CN" altLang="en-US"/>
              <a:t>无桥</a:t>
            </a:r>
            <a:r>
              <a:rPr lang="en-US" altLang="zh-CN"/>
              <a:t>, </a:t>
            </a:r>
            <a:r>
              <a:rPr lang="en-US" altLang="zh-CN" i="1"/>
              <a:t>m</a:t>
            </a:r>
            <a:r>
              <a:rPr lang="en-US" altLang="zh-CN" i="1" baseline="-25000"/>
              <a:t>i</a:t>
            </a:r>
            <a:r>
              <a:rPr lang="en-US" altLang="zh-CN"/>
              <a:t>≥3. p</a:t>
            </a:r>
            <a:r>
              <a:rPr lang="zh-CN" altLang="en-US" baseline="-25000"/>
              <a:t>奇</a:t>
            </a:r>
            <a:r>
              <a:rPr lang="en-US" altLang="zh-CN"/>
              <a:t>(G-V</a:t>
            </a:r>
            <a:r>
              <a:rPr lang="en-US" altLang="zh-CN" baseline="-25000"/>
              <a:t>1</a:t>
            </a:r>
            <a:r>
              <a:rPr lang="en-US" altLang="zh-CN"/>
              <a:t>)=</a:t>
            </a:r>
            <a:r>
              <a:rPr lang="en-US" altLang="zh-CN" i="1"/>
              <a:t>r</a:t>
            </a:r>
            <a:r>
              <a:rPr lang="en-US" altLang="zh-CN"/>
              <a:t>≤(Σ</a:t>
            </a:r>
            <a:r>
              <a:rPr lang="en-US" altLang="zh-CN" i="1" baseline="30000"/>
              <a:t>r</a:t>
            </a:r>
            <a:r>
              <a:rPr lang="en-US" altLang="zh-CN" i="1" baseline="-25000"/>
              <a:t>i</a:t>
            </a:r>
            <a:r>
              <a:rPr lang="en-US" altLang="zh-CN" baseline="-25000"/>
              <a:t>=1 </a:t>
            </a:r>
            <a:r>
              <a:rPr lang="en-US" altLang="zh-CN" i="1"/>
              <a:t>m</a:t>
            </a:r>
            <a:r>
              <a:rPr lang="en-US" altLang="zh-CN" i="1" baseline="-25000"/>
              <a:t>i</a:t>
            </a:r>
            <a:r>
              <a:rPr lang="en-US" altLang="zh-CN"/>
              <a:t>)/3</a:t>
            </a:r>
            <a:endParaRPr lang="en-US" altLang="zh-CN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≤(Σ</a:t>
            </a:r>
            <a:r>
              <a:rPr lang="en-US" altLang="zh-CN" i="1" baseline="-25000"/>
              <a:t>v</a:t>
            </a:r>
            <a:r>
              <a:rPr lang="en-US" altLang="zh-CN" baseline="-25000"/>
              <a:t>∈V</a:t>
            </a:r>
            <a:r>
              <a:rPr lang="en-US" altLang="zh-CN" baseline="-50000"/>
              <a:t>1</a:t>
            </a:r>
            <a:r>
              <a:rPr lang="en-US" altLang="zh-CN"/>
              <a:t>d</a:t>
            </a:r>
            <a:r>
              <a:rPr lang="en-US" altLang="zh-CN" baseline="-25000"/>
              <a:t>G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))/3=|V</a:t>
            </a:r>
            <a:r>
              <a:rPr lang="en-US" altLang="zh-CN" baseline="-25000"/>
              <a:t>1</a:t>
            </a:r>
            <a:r>
              <a:rPr lang="en-US" altLang="zh-CN"/>
              <a:t>|, </a:t>
            </a:r>
            <a:r>
              <a:rPr lang="zh-CN" altLang="en-US"/>
              <a:t>再用定理</a:t>
            </a:r>
            <a:r>
              <a:rPr lang="en-US" altLang="zh-CN"/>
              <a:t>13.10. </a:t>
            </a:r>
            <a:endParaRPr lang="en-US" altLang="zh-CN"/>
          </a:p>
        </p:txBody>
      </p:sp>
      <p:grpSp>
        <p:nvGrpSpPr>
          <p:cNvPr id="78851" name="Group 53"/>
          <p:cNvGrpSpPr/>
          <p:nvPr/>
        </p:nvGrpSpPr>
        <p:grpSpPr>
          <a:xfrm>
            <a:off x="395288" y="4581525"/>
            <a:ext cx="4392612" cy="1943100"/>
            <a:chOff x="249" y="2886"/>
            <a:chExt cx="2767" cy="1224"/>
          </a:xfrm>
        </p:grpSpPr>
        <p:grpSp>
          <p:nvGrpSpPr>
            <p:cNvPr id="78852" name="Group 5"/>
            <p:cNvGrpSpPr/>
            <p:nvPr/>
          </p:nvGrpSpPr>
          <p:grpSpPr>
            <a:xfrm>
              <a:off x="249" y="2931"/>
              <a:ext cx="635" cy="336"/>
              <a:chOff x="567" y="3113"/>
              <a:chExt cx="771" cy="408"/>
            </a:xfrm>
          </p:grpSpPr>
          <p:sp>
            <p:nvSpPr>
              <p:cNvPr id="78853" name="Oval 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54" name="Line 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55" name="Line 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56" name="Line 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8857" name="Group 10"/>
            <p:cNvGrpSpPr/>
            <p:nvPr/>
          </p:nvGrpSpPr>
          <p:grpSpPr>
            <a:xfrm>
              <a:off x="1111" y="2931"/>
              <a:ext cx="635" cy="336"/>
              <a:chOff x="567" y="3113"/>
              <a:chExt cx="771" cy="408"/>
            </a:xfrm>
          </p:grpSpPr>
          <p:sp>
            <p:nvSpPr>
              <p:cNvPr id="78858" name="Oval 11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59" name="Line 12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60" name="Line 13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61" name="Line 14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8862" name="Group 15"/>
            <p:cNvGrpSpPr/>
            <p:nvPr/>
          </p:nvGrpSpPr>
          <p:grpSpPr>
            <a:xfrm>
              <a:off x="2381" y="2886"/>
              <a:ext cx="635" cy="370"/>
              <a:chOff x="567" y="3113"/>
              <a:chExt cx="771" cy="408"/>
            </a:xfrm>
          </p:grpSpPr>
          <p:sp>
            <p:nvSpPr>
              <p:cNvPr id="78863" name="Oval 16"/>
              <p:cNvSpPr/>
              <p:nvPr/>
            </p:nvSpPr>
            <p:spPr>
              <a:xfrm>
                <a:off x="567" y="3113"/>
                <a:ext cx="771" cy="4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64" name="Line 17"/>
              <p:cNvSpPr/>
              <p:nvPr/>
            </p:nvSpPr>
            <p:spPr>
              <a:xfrm>
                <a:off x="793" y="320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65" name="Line 18"/>
              <p:cNvSpPr/>
              <p:nvPr/>
            </p:nvSpPr>
            <p:spPr>
              <a:xfrm>
                <a:off x="793" y="329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66" name="Line 19"/>
              <p:cNvSpPr/>
              <p:nvPr/>
            </p:nvSpPr>
            <p:spPr>
              <a:xfrm>
                <a:off x="793" y="3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8867" name="Text Box 20"/>
            <p:cNvSpPr txBox="1"/>
            <p:nvPr/>
          </p:nvSpPr>
          <p:spPr>
            <a:xfrm>
              <a:off x="1882" y="294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endParaRPr lang="en-US" altLang="zh-CN" sz="240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8868" name="Oval 21"/>
            <p:cNvSpPr/>
            <p:nvPr/>
          </p:nvSpPr>
          <p:spPr>
            <a:xfrm>
              <a:off x="521" y="3612"/>
              <a:ext cx="2268" cy="49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8869" name="Line 22"/>
            <p:cNvSpPr/>
            <p:nvPr/>
          </p:nvSpPr>
          <p:spPr>
            <a:xfrm>
              <a:off x="748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0" name="Line 23"/>
            <p:cNvSpPr/>
            <p:nvPr/>
          </p:nvSpPr>
          <p:spPr>
            <a:xfrm>
              <a:off x="748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1" name="Line 24"/>
            <p:cNvSpPr/>
            <p:nvPr/>
          </p:nvSpPr>
          <p:spPr>
            <a:xfrm>
              <a:off x="1247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2" name="Line 25"/>
            <p:cNvSpPr/>
            <p:nvPr/>
          </p:nvSpPr>
          <p:spPr>
            <a:xfrm>
              <a:off x="1247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3" name="Line 26"/>
            <p:cNvSpPr/>
            <p:nvPr/>
          </p:nvSpPr>
          <p:spPr>
            <a:xfrm>
              <a:off x="1247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4" name="Line 27"/>
            <p:cNvSpPr/>
            <p:nvPr/>
          </p:nvSpPr>
          <p:spPr>
            <a:xfrm>
              <a:off x="1791" y="3793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5" name="Line 28"/>
            <p:cNvSpPr/>
            <p:nvPr/>
          </p:nvSpPr>
          <p:spPr>
            <a:xfrm>
              <a:off x="1791" y="388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6" name="Line 29"/>
            <p:cNvSpPr/>
            <p:nvPr/>
          </p:nvSpPr>
          <p:spPr>
            <a:xfrm>
              <a:off x="1791" y="3974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7" name="Line 30"/>
            <p:cNvSpPr/>
            <p:nvPr/>
          </p:nvSpPr>
          <p:spPr>
            <a:xfrm>
              <a:off x="567" y="3203"/>
              <a:ext cx="317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8" name="Line 31"/>
            <p:cNvSpPr/>
            <p:nvPr/>
          </p:nvSpPr>
          <p:spPr>
            <a:xfrm flipH="1">
              <a:off x="1338" y="3203"/>
              <a:ext cx="0" cy="499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79" name="Line 32"/>
            <p:cNvSpPr/>
            <p:nvPr/>
          </p:nvSpPr>
          <p:spPr>
            <a:xfrm flipH="1">
              <a:off x="142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80" name="Line 33"/>
            <p:cNvSpPr/>
            <p:nvPr/>
          </p:nvSpPr>
          <p:spPr>
            <a:xfrm flipH="1">
              <a:off x="1519" y="3203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81" name="Line 34"/>
            <p:cNvSpPr/>
            <p:nvPr/>
          </p:nvSpPr>
          <p:spPr>
            <a:xfrm flipH="1">
              <a:off x="2290" y="3203"/>
              <a:ext cx="454" cy="5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76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1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55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/>
              <a:t>推论</a:t>
            </a:r>
            <a:r>
              <a:rPr lang="en-US" altLang="zh-CN"/>
              <a:t>(</a:t>
            </a:r>
            <a:r>
              <a:rPr lang="zh-CN" altLang="en-US"/>
              <a:t>说明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798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说明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zh-CN" altLang="en-US"/>
              <a:t>无桥条件不能去掉</a:t>
            </a:r>
            <a:r>
              <a:rPr lang="en-US" altLang="zh-CN"/>
              <a:t>.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反例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p</a:t>
            </a:r>
            <a:r>
              <a:rPr lang="zh-CN" altLang="en-US" baseline="-25000"/>
              <a:t>奇</a:t>
            </a:r>
            <a:r>
              <a:rPr lang="en-US" altLang="zh-CN"/>
              <a:t>(G-{</a:t>
            </a:r>
            <a:r>
              <a:rPr lang="en-US" altLang="zh-CN" i="1"/>
              <a:t>v</a:t>
            </a:r>
            <a:r>
              <a:rPr lang="en-US" altLang="zh-CN"/>
              <a:t>})=3&gt;|{</a:t>
            </a:r>
            <a:r>
              <a:rPr lang="en-US" altLang="zh-CN" i="1"/>
              <a:t>v</a:t>
            </a:r>
            <a:r>
              <a:rPr lang="en-US" altLang="zh-CN"/>
              <a:t>}|=1.G</a:t>
            </a:r>
            <a:r>
              <a:rPr lang="zh-CN" altLang="en-US"/>
              <a:t>无完美匹配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79875" name="Group 63"/>
          <p:cNvGrpSpPr/>
          <p:nvPr/>
        </p:nvGrpSpPr>
        <p:grpSpPr>
          <a:xfrm>
            <a:off x="1978025" y="2924175"/>
            <a:ext cx="4106863" cy="3457575"/>
            <a:chOff x="1246" y="1842"/>
            <a:chExt cx="2587" cy="2178"/>
          </a:xfrm>
        </p:grpSpPr>
        <p:grpSp>
          <p:nvGrpSpPr>
            <p:cNvPr id="79876" name="Group 30"/>
            <p:cNvGrpSpPr/>
            <p:nvPr/>
          </p:nvGrpSpPr>
          <p:grpSpPr>
            <a:xfrm>
              <a:off x="1973" y="1842"/>
              <a:ext cx="1088" cy="908"/>
              <a:chOff x="1973" y="1842"/>
              <a:chExt cx="1088" cy="908"/>
            </a:xfrm>
          </p:grpSpPr>
          <p:sp>
            <p:nvSpPr>
              <p:cNvPr id="79877" name="Oval 4"/>
              <p:cNvSpPr/>
              <p:nvPr/>
            </p:nvSpPr>
            <p:spPr>
              <a:xfrm>
                <a:off x="2200" y="18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78" name="Oval 5"/>
              <p:cNvSpPr/>
              <p:nvPr/>
            </p:nvSpPr>
            <p:spPr>
              <a:xfrm>
                <a:off x="2744" y="18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79" name="Oval 6"/>
              <p:cNvSpPr/>
              <p:nvPr/>
            </p:nvSpPr>
            <p:spPr>
              <a:xfrm>
                <a:off x="1973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80" name="Oval 7"/>
              <p:cNvSpPr/>
              <p:nvPr/>
            </p:nvSpPr>
            <p:spPr>
              <a:xfrm>
                <a:off x="2925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81" name="Oval 8"/>
              <p:cNvSpPr/>
              <p:nvPr/>
            </p:nvSpPr>
            <p:spPr>
              <a:xfrm>
                <a:off x="2472" y="261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82" name="Line 9"/>
              <p:cNvSpPr/>
              <p:nvPr/>
            </p:nvSpPr>
            <p:spPr>
              <a:xfrm>
                <a:off x="2290" y="1888"/>
                <a:ext cx="4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83" name="Line 10"/>
              <p:cNvSpPr/>
              <p:nvPr/>
            </p:nvSpPr>
            <p:spPr>
              <a:xfrm flipH="1">
                <a:off x="2064" y="1933"/>
                <a:ext cx="181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84" name="Line 11"/>
              <p:cNvSpPr/>
              <p:nvPr/>
            </p:nvSpPr>
            <p:spPr>
              <a:xfrm>
                <a:off x="2835" y="1979"/>
                <a:ext cx="181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85" name="Line 12"/>
              <p:cNvSpPr/>
              <p:nvPr/>
            </p:nvSpPr>
            <p:spPr>
              <a:xfrm>
                <a:off x="2064" y="2387"/>
                <a:ext cx="453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86" name="Line 13"/>
              <p:cNvSpPr/>
              <p:nvPr/>
            </p:nvSpPr>
            <p:spPr>
              <a:xfrm flipV="1">
                <a:off x="2608" y="2387"/>
                <a:ext cx="363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87" name="Line 14"/>
              <p:cNvSpPr/>
              <p:nvPr/>
            </p:nvSpPr>
            <p:spPr>
              <a:xfrm flipV="1">
                <a:off x="2109" y="1933"/>
                <a:ext cx="680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88" name="Line 15"/>
              <p:cNvSpPr/>
              <p:nvPr/>
            </p:nvSpPr>
            <p:spPr>
              <a:xfrm>
                <a:off x="2290" y="1933"/>
                <a:ext cx="635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9889" name="Group 31"/>
            <p:cNvGrpSpPr/>
            <p:nvPr/>
          </p:nvGrpSpPr>
          <p:grpSpPr>
            <a:xfrm rot="-6589927">
              <a:off x="1156" y="3022"/>
              <a:ext cx="1088" cy="908"/>
              <a:chOff x="1973" y="1842"/>
              <a:chExt cx="1088" cy="908"/>
            </a:xfrm>
          </p:grpSpPr>
          <p:sp>
            <p:nvSpPr>
              <p:cNvPr id="79890" name="Oval 32"/>
              <p:cNvSpPr/>
              <p:nvPr/>
            </p:nvSpPr>
            <p:spPr>
              <a:xfrm>
                <a:off x="2200" y="18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1" name="Oval 33"/>
              <p:cNvSpPr/>
              <p:nvPr/>
            </p:nvSpPr>
            <p:spPr>
              <a:xfrm>
                <a:off x="2744" y="18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2" name="Oval 34"/>
              <p:cNvSpPr/>
              <p:nvPr/>
            </p:nvSpPr>
            <p:spPr>
              <a:xfrm>
                <a:off x="1973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3" name="Oval 35"/>
              <p:cNvSpPr/>
              <p:nvPr/>
            </p:nvSpPr>
            <p:spPr>
              <a:xfrm>
                <a:off x="2925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4" name="Oval 36"/>
              <p:cNvSpPr/>
              <p:nvPr/>
            </p:nvSpPr>
            <p:spPr>
              <a:xfrm>
                <a:off x="2472" y="261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95" name="Line 37"/>
              <p:cNvSpPr/>
              <p:nvPr/>
            </p:nvSpPr>
            <p:spPr>
              <a:xfrm>
                <a:off x="2290" y="1888"/>
                <a:ext cx="4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96" name="Line 38"/>
              <p:cNvSpPr/>
              <p:nvPr/>
            </p:nvSpPr>
            <p:spPr>
              <a:xfrm flipH="1">
                <a:off x="2064" y="1933"/>
                <a:ext cx="181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97" name="Line 39"/>
              <p:cNvSpPr/>
              <p:nvPr/>
            </p:nvSpPr>
            <p:spPr>
              <a:xfrm>
                <a:off x="2835" y="1979"/>
                <a:ext cx="181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98" name="Line 40"/>
              <p:cNvSpPr/>
              <p:nvPr/>
            </p:nvSpPr>
            <p:spPr>
              <a:xfrm>
                <a:off x="2064" y="2387"/>
                <a:ext cx="453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899" name="Line 41"/>
              <p:cNvSpPr/>
              <p:nvPr/>
            </p:nvSpPr>
            <p:spPr>
              <a:xfrm flipV="1">
                <a:off x="2608" y="2387"/>
                <a:ext cx="363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00" name="Line 42"/>
              <p:cNvSpPr/>
              <p:nvPr/>
            </p:nvSpPr>
            <p:spPr>
              <a:xfrm flipV="1">
                <a:off x="2109" y="1933"/>
                <a:ext cx="680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01" name="Line 43"/>
              <p:cNvSpPr/>
              <p:nvPr/>
            </p:nvSpPr>
            <p:spPr>
              <a:xfrm>
                <a:off x="2290" y="1933"/>
                <a:ext cx="635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9902" name="Group 44"/>
            <p:cNvGrpSpPr/>
            <p:nvPr/>
          </p:nvGrpSpPr>
          <p:grpSpPr>
            <a:xfrm rot="6438981">
              <a:off x="2835" y="2886"/>
              <a:ext cx="1088" cy="908"/>
              <a:chOff x="1973" y="1842"/>
              <a:chExt cx="1088" cy="908"/>
            </a:xfrm>
          </p:grpSpPr>
          <p:sp>
            <p:nvSpPr>
              <p:cNvPr id="79903" name="Oval 45"/>
              <p:cNvSpPr/>
              <p:nvPr/>
            </p:nvSpPr>
            <p:spPr>
              <a:xfrm>
                <a:off x="2200" y="18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904" name="Oval 46"/>
              <p:cNvSpPr/>
              <p:nvPr/>
            </p:nvSpPr>
            <p:spPr>
              <a:xfrm>
                <a:off x="2744" y="18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905" name="Oval 47"/>
              <p:cNvSpPr/>
              <p:nvPr/>
            </p:nvSpPr>
            <p:spPr>
              <a:xfrm>
                <a:off x="1973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906" name="Oval 48"/>
              <p:cNvSpPr/>
              <p:nvPr/>
            </p:nvSpPr>
            <p:spPr>
              <a:xfrm>
                <a:off x="2925" y="22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907" name="Oval 49"/>
              <p:cNvSpPr/>
              <p:nvPr/>
            </p:nvSpPr>
            <p:spPr>
              <a:xfrm>
                <a:off x="2472" y="261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908" name="Line 50"/>
              <p:cNvSpPr/>
              <p:nvPr/>
            </p:nvSpPr>
            <p:spPr>
              <a:xfrm>
                <a:off x="2290" y="1888"/>
                <a:ext cx="4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09" name="Line 51"/>
              <p:cNvSpPr/>
              <p:nvPr/>
            </p:nvSpPr>
            <p:spPr>
              <a:xfrm flipH="1">
                <a:off x="2064" y="1933"/>
                <a:ext cx="181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10" name="Line 52"/>
              <p:cNvSpPr/>
              <p:nvPr/>
            </p:nvSpPr>
            <p:spPr>
              <a:xfrm>
                <a:off x="2835" y="1979"/>
                <a:ext cx="181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11" name="Line 53"/>
              <p:cNvSpPr/>
              <p:nvPr/>
            </p:nvSpPr>
            <p:spPr>
              <a:xfrm>
                <a:off x="2064" y="2387"/>
                <a:ext cx="453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12" name="Line 54"/>
              <p:cNvSpPr/>
              <p:nvPr/>
            </p:nvSpPr>
            <p:spPr>
              <a:xfrm flipV="1">
                <a:off x="2608" y="2387"/>
                <a:ext cx="363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13" name="Line 55"/>
              <p:cNvSpPr/>
              <p:nvPr/>
            </p:nvSpPr>
            <p:spPr>
              <a:xfrm flipV="1">
                <a:off x="2109" y="1933"/>
                <a:ext cx="680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914" name="Line 56"/>
              <p:cNvSpPr/>
              <p:nvPr/>
            </p:nvSpPr>
            <p:spPr>
              <a:xfrm>
                <a:off x="2290" y="1933"/>
                <a:ext cx="635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9915" name="Oval 57"/>
            <p:cNvSpPr/>
            <p:nvPr/>
          </p:nvSpPr>
          <p:spPr>
            <a:xfrm>
              <a:off x="2472" y="302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9916" name="Line 58"/>
            <p:cNvSpPr/>
            <p:nvPr/>
          </p:nvSpPr>
          <p:spPr>
            <a:xfrm>
              <a:off x="2562" y="2750"/>
              <a:ext cx="0" cy="27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7" name="Line 59"/>
            <p:cNvSpPr/>
            <p:nvPr/>
          </p:nvSpPr>
          <p:spPr>
            <a:xfrm flipV="1">
              <a:off x="2109" y="3113"/>
              <a:ext cx="363" cy="181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8" name="Line 61"/>
            <p:cNvSpPr/>
            <p:nvPr/>
          </p:nvSpPr>
          <p:spPr>
            <a:xfrm>
              <a:off x="2562" y="3113"/>
              <a:ext cx="409" cy="13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9" name="Text Box 62"/>
            <p:cNvSpPr txBox="1"/>
            <p:nvPr/>
          </p:nvSpPr>
          <p:spPr>
            <a:xfrm>
              <a:off x="2414" y="3067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80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PP_MARK_KEY" val="ab84cf15-c74d-4451-9576-fc265922d974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3283</Words>
  <Application>WPS 演示</Application>
  <PresentationFormat>全屏显示(4:3)</PresentationFormat>
  <Paragraphs>456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Tahoma</vt:lpstr>
      <vt:lpstr>黑体</vt:lpstr>
      <vt:lpstr>Symbol</vt:lpstr>
      <vt:lpstr>Times New Roman</vt:lpstr>
      <vt:lpstr>微软雅黑</vt:lpstr>
      <vt:lpstr>Arial Unicode MS</vt:lpstr>
      <vt:lpstr>Blends</vt:lpstr>
      <vt:lpstr>13.2 边覆盖集与匹配</vt:lpstr>
      <vt:lpstr>边覆盖(edge cover)</vt:lpstr>
      <vt:lpstr>边覆盖(例)</vt:lpstr>
      <vt:lpstr>匹配(matching)</vt:lpstr>
      <vt:lpstr>匹配(例)</vt:lpstr>
      <vt:lpstr>饱和点,交错路径,增广路径</vt:lpstr>
      <vt:lpstr>举例-交错路径</vt:lpstr>
      <vt:lpstr>举例-可增广交错路径</vt:lpstr>
      <vt:lpstr>定理13.5</vt:lpstr>
      <vt:lpstr>定理13.5(证明)</vt:lpstr>
      <vt:lpstr>定理13.6</vt:lpstr>
      <vt:lpstr>推论</vt:lpstr>
      <vt:lpstr>最大匹配</vt:lpstr>
      <vt:lpstr>最大匹配</vt:lpstr>
      <vt:lpstr>最大匹配</vt:lpstr>
      <vt:lpstr>最大匹配(例)</vt:lpstr>
      <vt:lpstr>课后作业一：</vt:lpstr>
      <vt:lpstr>完美匹配</vt:lpstr>
      <vt:lpstr>完美匹配</vt:lpstr>
      <vt:lpstr>完美匹配</vt:lpstr>
      <vt:lpstr>完美匹配</vt:lpstr>
      <vt:lpstr>完美匹配</vt:lpstr>
      <vt:lpstr>完美匹配</vt:lpstr>
      <vt:lpstr>完美匹配</vt:lpstr>
      <vt:lpstr>推论</vt:lpstr>
      <vt:lpstr>推论(说明)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877</cp:revision>
  <cp:lastPrinted>2018-05-31T03:34:00Z</cp:lastPrinted>
  <dcterms:created xsi:type="dcterms:W3CDTF">2008-01-04T07:39:00Z</dcterms:created>
  <dcterms:modified xsi:type="dcterms:W3CDTF">2026-01-05T23:07:52Z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A1E6876D651840C1A8948FC09273C370</vt:lpwstr>
  </property>
</Properties>
</file>