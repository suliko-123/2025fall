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10"/>
  </p:notesMasterIdLst>
  <p:sldIdLst>
    <p:sldId id="437" r:id="rId6"/>
    <p:sldId id="399" r:id="rId7"/>
    <p:sldId id="400" r:id="rId8"/>
    <p:sldId id="480" r:id="rId9"/>
    <p:sldId id="401" r:id="rId11"/>
    <p:sldId id="402" r:id="rId12"/>
    <p:sldId id="404" r:id="rId13"/>
    <p:sldId id="403" r:id="rId14"/>
    <p:sldId id="445" r:id="rId15"/>
    <p:sldId id="446" r:id="rId16"/>
    <p:sldId id="447" r:id="rId17"/>
    <p:sldId id="448" r:id="rId18"/>
    <p:sldId id="449" r:id="rId19"/>
    <p:sldId id="450" r:id="rId20"/>
    <p:sldId id="451" r:id="rId21"/>
    <p:sldId id="452" r:id="rId22"/>
    <p:sldId id="453" r:id="rId23"/>
    <p:sldId id="454" r:id="rId24"/>
    <p:sldId id="455" r:id="rId25"/>
    <p:sldId id="456" r:id="rId26"/>
    <p:sldId id="457" r:id="rId27"/>
    <p:sldId id="458" r:id="rId28"/>
    <p:sldId id="459" r:id="rId29"/>
    <p:sldId id="478" r:id="rId30"/>
  </p:sldIdLst>
  <p:sldSz cx="9144000" cy="6858000" type="screen4x3"/>
  <p:notesSz cx="6858000" cy="9144000"/>
  <p:custDataLst>
    <p:tags r:id="rId3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1" i="1" u="none" kern="1200" baseline="0">
        <a:solidFill>
          <a:schemeClr val="tx1"/>
        </a:solidFill>
        <a:latin typeface="Tahoma" panose="020B06040305040402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8011B0"/>
    <a:srgbClr val="33D4D5"/>
    <a:srgbClr val="BBF7FD"/>
    <a:srgbClr val="0066FF"/>
    <a:srgbClr val="FF00FF"/>
    <a:srgbClr val="808080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4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4" Type="http://schemas.openxmlformats.org/officeDocument/2006/relationships/tags" Target="tags/tag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fontAlgn="base" hangingPunct="1"/>
            <a:endParaRPr lang="en-US" altLang="x-none" sz="1200" b="0" i="0" strike="noStrike" noProof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dt" idx="1"/>
          </p:nvPr>
        </p:nvSpPr>
        <p:spPr>
          <a:xfrm>
            <a:off x="3883025" y="0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eaLnBrk="1" fontAlgn="base" hangingPunct="1"/>
            <a:endParaRPr lang="en-US" altLang="x-none" sz="1200" b="0" i="0" strike="noStrike" noProof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8" name="Rectangle 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9" name="Rectangle 5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0"/>
            <a:r>
              <a:rPr lang="zh-CN" altLang="en-US" dirty="0"/>
              <a:t>第二级</a:t>
            </a:r>
            <a:endParaRPr lang="zh-CN" altLang="en-US" dirty="0"/>
          </a:p>
          <a:p>
            <a:pPr lvl="2" indent="0"/>
            <a:r>
              <a:rPr lang="zh-CN" altLang="en-US" dirty="0"/>
              <a:t>第三级</a:t>
            </a:r>
            <a:endParaRPr lang="zh-CN" altLang="en-US" dirty="0"/>
          </a:p>
          <a:p>
            <a:pPr lvl="3" indent="0"/>
            <a:r>
              <a:rPr lang="zh-CN" altLang="en-US" dirty="0"/>
              <a:t>第四级</a:t>
            </a:r>
            <a:endParaRPr lang="zh-CN" altLang="en-US" dirty="0"/>
          </a:p>
          <a:p>
            <a:pPr lvl="4" indent="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078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0213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eaLnBrk="1" fontAlgn="base" hangingPunct="1"/>
            <a:endParaRPr lang="en-US" altLang="x-none" sz="1200" b="0" i="0" strike="noStrike" noProof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9" name="Rectangle 7"/>
          <p:cNvSpPr>
            <a:spLocks noGrp="1"/>
          </p:cNvSpPr>
          <p:nvPr>
            <p:ph type="sldNum" sz="quarter" idx="5"/>
          </p:nvPr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fontAlgn="base" hangingPunct="1"/>
            <a:fld id="{9A0DB2DC-4C9A-4742-B13C-FB6460FD3503}" type="slidenum">
              <a:rPr lang="en-US" altLang="zh-CN" sz="1200" b="0" i="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b="0" i="0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Notes Placeholder 2"/>
          <p:cNvSpPr>
            <a:spLocks noGrp="1"/>
          </p:cNvSpPr>
          <p:nvPr>
            <p:ph type="body"/>
          </p:nvPr>
        </p:nvSpPr>
        <p:spPr/>
        <p:txBody>
          <a:bodyPr vert="horz" wrap="square" anchor="t" anchorCtr="0"/>
          <a:p>
            <a:pPr lvl="0"/>
            <a:r>
              <a:rPr lang="zh-CN" altLang="en-US" dirty="0"/>
              <a:t>左边的图最少需要</a:t>
            </a:r>
            <a:r>
              <a:rPr lang="en-US" altLang="zh-CN" dirty="0"/>
              <a:t>4</a:t>
            </a:r>
            <a:r>
              <a:rPr lang="zh-CN" altLang="en-US" dirty="0"/>
              <a:t>种颜色，右边最少需要</a:t>
            </a:r>
            <a:r>
              <a:rPr lang="en-US" altLang="zh-CN" dirty="0"/>
              <a:t>3</a:t>
            </a:r>
            <a:r>
              <a:rPr lang="zh-CN" altLang="en-US" dirty="0"/>
              <a:t>种颜色</a:t>
            </a:r>
            <a:endParaRPr lang="en-US" altLang="zh-CN" dirty="0"/>
          </a:p>
        </p:txBody>
      </p:sp>
      <p:sp>
        <p:nvSpPr>
          <p:cNvPr id="21508" name="Slide Number Placeholder 3"/>
          <p:cNvSpPr txBox="1">
            <a:spLocks noGrp="1"/>
          </p:cNvSpPr>
          <p:nvPr/>
        </p:nvSpPr>
        <p:spPr>
          <a:xfrm>
            <a:off x="3883025" y="8685213"/>
            <a:ext cx="2973388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6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x-none"/>
          </a:p>
        </p:txBody>
      </p:sp>
      <p:sp>
        <p:nvSpPr>
          <p:cNvPr id="47107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3250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/>
              <a:t>不存在从</a:t>
            </a:r>
            <a:r>
              <a:rPr lang="en-US" altLang="zh-CN"/>
              <a:t>u</a:t>
            </a:r>
            <a:r>
              <a:rPr lang="zh-CN" altLang="en-US"/>
              <a:t>到</a:t>
            </a:r>
            <a:r>
              <a:rPr lang="en-US" altLang="zh-CN"/>
              <a:t>v </a:t>
            </a:r>
            <a:r>
              <a:rPr lang="zh-CN" altLang="en-US"/>
              <a:t>只有β和γ交替出现的路径，原因：从</a:t>
            </a:r>
            <a:r>
              <a:rPr lang="en-US" altLang="zh-CN"/>
              <a:t>v</a:t>
            </a:r>
            <a:r>
              <a:rPr lang="zh-CN" altLang="en-US"/>
              <a:t>到</a:t>
            </a:r>
            <a:r>
              <a:rPr lang="en-US" altLang="zh-CN"/>
              <a:t>u</a:t>
            </a:r>
            <a:r>
              <a:rPr lang="zh-CN" altLang="en-US"/>
              <a:t>的路径中最后一条边</a:t>
            </a:r>
            <a:r>
              <a:rPr lang="en-US" altLang="zh-CN"/>
              <a:t>(s,u)</a:t>
            </a:r>
            <a:r>
              <a:rPr lang="zh-CN" altLang="en-US"/>
              <a:t>一定是γ边，与假设矛盾</a:t>
            </a:r>
            <a:endParaRPr lang="en-US" altLang="zh-CN"/>
          </a:p>
          <a:p>
            <a:pPr lvl="0"/>
            <a:r>
              <a:rPr lang="zh-CN" altLang="en-US"/>
              <a:t>从</a:t>
            </a:r>
            <a:r>
              <a:rPr lang="en-US" altLang="zh-CN"/>
              <a:t>u</a:t>
            </a:r>
            <a:r>
              <a:rPr lang="zh-CN" altLang="en-US"/>
              <a:t>到</a:t>
            </a:r>
            <a:r>
              <a:rPr lang="en-US" altLang="zh-CN"/>
              <a:t>v</a:t>
            </a:r>
            <a:r>
              <a:rPr lang="zh-CN" altLang="en-US"/>
              <a:t>的路径中最后的一条边</a:t>
            </a:r>
            <a:r>
              <a:rPr lang="en-US" altLang="zh-CN"/>
              <a:t>(t,v)</a:t>
            </a:r>
            <a:r>
              <a:rPr lang="zh-CN" altLang="en-US"/>
              <a:t>一定是β边，与假设矛盾，所以不存在。</a:t>
            </a:r>
            <a:endParaRPr lang="en-US" altLang="zh-CN"/>
          </a:p>
        </p:txBody>
      </p:sp>
      <p:sp>
        <p:nvSpPr>
          <p:cNvPr id="53251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0" hangingPunct="0"/>
            <a:fld id="{9A0DB2DC-4C9A-4742-B13C-FB6460FD3503}" type="slidenum">
              <a:rPr lang="en-US" altLang="zh-CN" sz="1200" b="0" i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 i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5298" name="Notes Placeholder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en-US" altLang="x-none"/>
          </a:p>
        </p:txBody>
      </p:sp>
      <p:sp>
        <p:nvSpPr>
          <p:cNvPr id="55299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0" hangingPunct="0"/>
            <a:fld id="{9A0DB2DC-4C9A-4742-B13C-FB6460FD3503}" type="slidenum">
              <a:rPr lang="en-US" altLang="zh-CN" sz="1200" b="0" i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 i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63187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6963" y="1412875"/>
            <a:ext cx="4163187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944" y="69850"/>
            <a:ext cx="2155031" cy="65992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40164" cy="65992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63187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6963" y="1412875"/>
            <a:ext cx="4163187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944" y="69850"/>
            <a:ext cx="2155031" cy="65992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40164" cy="65992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63187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6963" y="1412875"/>
            <a:ext cx="4163187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944" y="69850"/>
            <a:ext cx="2155031" cy="65992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40164" cy="65992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63187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6963" y="1412875"/>
            <a:ext cx="4163187" cy="525621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944" y="69850"/>
            <a:ext cx="2155031" cy="65992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40164" cy="65992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/>
          <p:nvPr/>
        </p:nvSpPr>
        <p:spPr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27" name="Rectangle 3"/>
          <p:cNvSpPr/>
          <p:nvPr/>
        </p:nvSpPr>
        <p:spPr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28" name="Rectangle 4"/>
          <p:cNvSpPr/>
          <p:nvPr/>
        </p:nvSpPr>
        <p:spPr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29" name="Rectangle 5"/>
          <p:cNvSpPr/>
          <p:nvPr/>
        </p:nvSpPr>
        <p:spPr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/>
          <p:nvPr/>
        </p:nvSpPr>
        <p:spPr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31" name="Rectangle 7"/>
          <p:cNvSpPr/>
          <p:nvPr/>
        </p:nvSpPr>
        <p:spPr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32" name="Rectangle 8"/>
          <p:cNvSpPr/>
          <p:nvPr/>
        </p:nvSpPr>
        <p:spPr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anchor="b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35" name="Rectangle 11"/>
          <p:cNvSpPr>
            <a:spLocks noGrp="1"/>
          </p:cNvSpPr>
          <p:nvPr>
            <p:ph type="dt" sz="half" idx="2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b="0" i="0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1036" name="Rectangle 12"/>
          <p:cNvSpPr>
            <a:spLocks noGrp="1"/>
          </p:cNvSpPr>
          <p:nvPr>
            <p:ph type="ftr" sz="quarter" idx="3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b="0" i="0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37" name="Rectangle 13"/>
          <p:cNvSpPr>
            <a:spLocks noGrp="1"/>
          </p:cNvSpPr>
          <p:nvPr>
            <p:ph type="sldNum" sz="quarter" idx="4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b="0" i="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074" name="Group 2"/>
          <p:cNvGrpSpPr/>
          <p:nvPr/>
        </p:nvGrpSpPr>
        <p:grpSpPr>
          <a:xfrm>
            <a:off x="0" y="2438400"/>
            <a:ext cx="9009063" cy="1052513"/>
            <a:chOff x="0" y="0"/>
            <a:chExt cx="5675" cy="663"/>
          </a:xfrm>
        </p:grpSpPr>
        <p:grpSp>
          <p:nvGrpSpPr>
            <p:cNvPr id="3075" name="Group 3"/>
            <p:cNvGrpSpPr/>
            <p:nvPr/>
          </p:nvGrpSpPr>
          <p:grpSpPr>
            <a:xfrm>
              <a:off x="185" y="68"/>
              <a:ext cx="449" cy="299"/>
              <a:chOff x="0" y="0"/>
              <a:chExt cx="624" cy="432"/>
            </a:xfrm>
          </p:grpSpPr>
          <p:sp>
            <p:nvSpPr>
              <p:cNvPr id="3076" name="Rectangle 4"/>
              <p:cNvSpPr/>
              <p:nvPr/>
            </p:nvSpPr>
            <p:spPr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 anchorCtr="0"/>
              <a:p>
                <a:pPr lvl="0"/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7" name="Rectangle 5"/>
              <p:cNvSpPr/>
              <p:nvPr/>
            </p:nvSpPr>
            <p:spPr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lvl="0"/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078" name="Group 6"/>
            <p:cNvGrpSpPr/>
            <p:nvPr/>
          </p:nvGrpSpPr>
          <p:grpSpPr>
            <a:xfrm>
              <a:off x="263" y="334"/>
              <a:ext cx="466" cy="299"/>
              <a:chOff x="0" y="0"/>
              <a:chExt cx="672" cy="432"/>
            </a:xfrm>
          </p:grpSpPr>
          <p:sp>
            <p:nvSpPr>
              <p:cNvPr id="3079" name="Rectangle 7"/>
              <p:cNvSpPr/>
              <p:nvPr/>
            </p:nvSpPr>
            <p:spPr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pPr lvl="0"/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80" name="Rectangle 8"/>
              <p:cNvSpPr/>
              <p:nvPr/>
            </p:nvSpPr>
            <p:spPr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lvl="0"/>
                <a:endParaRPr lang="zh-CN" altLang="en-US" i="0" dirty="0">
                  <a:latin typeface="Tahoma" panose="020B06040305040402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081" name="Rectangle 9"/>
            <p:cNvSpPr/>
            <p:nvPr/>
          </p:nvSpPr>
          <p:spPr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i="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082" name="Rectangle 10"/>
            <p:cNvSpPr/>
            <p:nvPr/>
          </p:nvSpPr>
          <p:spPr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i="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3083" name="Rectangle 11"/>
            <p:cNvSpPr/>
            <p:nvPr/>
          </p:nvSpPr>
          <p:spPr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i="0" dirty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84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anchor="b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85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62" name="Rectangle 14"/>
          <p:cNvSpPr>
            <a:spLocks noGrp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b="0" i="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2063" name="Rectangle 15"/>
          <p:cNvSpPr>
            <a:spLocks noGrp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b="0" i="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solidFill>
                <a:schemeClr val="bg2"/>
              </a:solidFill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2064" name="Rectangle 16"/>
          <p:cNvSpPr>
            <a:spLocks noGrp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b="0" i="0">
                <a:solidFill>
                  <a:schemeClr val="bg2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sldNum="0" hdr="0" ftr="0" dt="0"/>
  <p:txStyles>
    <p:title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/>
          <p:nvPr/>
        </p:nvSpPr>
        <p:spPr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099" name="Rectangle 3"/>
          <p:cNvSpPr/>
          <p:nvPr/>
        </p:nvSpPr>
        <p:spPr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100" name="Rectangle 4"/>
          <p:cNvSpPr/>
          <p:nvPr/>
        </p:nvSpPr>
        <p:spPr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101" name="Rectangle 5"/>
          <p:cNvSpPr/>
          <p:nvPr/>
        </p:nvSpPr>
        <p:spPr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102" name="Rectangle 6"/>
          <p:cNvSpPr/>
          <p:nvPr/>
        </p:nvSpPr>
        <p:spPr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103" name="Rectangle 7"/>
          <p:cNvSpPr/>
          <p:nvPr/>
        </p:nvSpPr>
        <p:spPr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104" name="Rectangle 8"/>
          <p:cNvSpPr/>
          <p:nvPr/>
        </p:nvSpPr>
        <p:spPr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4105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anchor="b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106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35" name="Rectangle 11"/>
          <p:cNvSpPr>
            <a:spLocks noGrp="1"/>
          </p:cNvSpPr>
          <p:nvPr>
            <p:ph type="dt" sz="half" idx="2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b="0" i="0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1036" name="Rectangle 12"/>
          <p:cNvSpPr>
            <a:spLocks noGrp="1"/>
          </p:cNvSpPr>
          <p:nvPr>
            <p:ph type="ftr" sz="quarter" idx="3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b="0" i="0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37" name="Rectangle 13"/>
          <p:cNvSpPr>
            <a:spLocks noGrp="1"/>
          </p:cNvSpPr>
          <p:nvPr>
            <p:ph type="sldNum" sz="quarter" idx="4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b="0" i="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wipe dir="r"/>
  </p:transition>
  <p:hf sldNum="0" hdr="0" ftr="0" dt="0"/>
  <p:txStyles>
    <p:title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/>
          <p:nvPr/>
        </p:nvSpPr>
        <p:spPr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123" name="Rectangle 3"/>
          <p:cNvSpPr/>
          <p:nvPr/>
        </p:nvSpPr>
        <p:spPr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124" name="Rectangle 4"/>
          <p:cNvSpPr/>
          <p:nvPr/>
        </p:nvSpPr>
        <p:spPr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125" name="Rectangle 5"/>
          <p:cNvSpPr/>
          <p:nvPr/>
        </p:nvSpPr>
        <p:spPr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126" name="Rectangle 6"/>
          <p:cNvSpPr/>
          <p:nvPr/>
        </p:nvSpPr>
        <p:spPr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127" name="Rectangle 7"/>
          <p:cNvSpPr/>
          <p:nvPr/>
        </p:nvSpPr>
        <p:spPr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128" name="Rectangle 8"/>
          <p:cNvSpPr/>
          <p:nvPr/>
        </p:nvSpPr>
        <p:spPr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algn="ctr"/>
            <a:endParaRPr lang="en-US" altLang="x-none" sz="2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5129" name="Rectangle 9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anchor="b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130" name="Rectangle 10"/>
          <p:cNvSpPr>
            <a:spLocks noGrp="1"/>
          </p:cNvSpPr>
          <p:nvPr>
            <p:ph type="body"/>
          </p:nvPr>
        </p:nvSpPr>
        <p:spPr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35" name="Rectangle 11"/>
          <p:cNvSpPr>
            <a:spLocks noGrp="1"/>
          </p:cNvSpPr>
          <p:nvPr>
            <p:ph type="dt" sz="half" idx="2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b="0" i="0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endParaRPr lang="en-US" altLang="x-none" strike="noStrike" noProof="1" dirty="0">
              <a:latin typeface="Tahoma" panose="020B0604030504040204" charset="0"/>
            </a:endParaRPr>
          </a:p>
        </p:txBody>
      </p:sp>
      <p:sp>
        <p:nvSpPr>
          <p:cNvPr id="1036" name="Rectangle 12"/>
          <p:cNvSpPr>
            <a:spLocks noGrp="1"/>
          </p:cNvSpPr>
          <p:nvPr>
            <p:ph type="ftr" sz="quarter" idx="3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b="0" i="0">
                <a:ea typeface="宋体" panose="02010600030101010101" pitchFamily="2" charset="-122"/>
              </a:defRPr>
            </a:lvl1pPr>
          </a:lstStyle>
          <a:p>
            <a:pPr lvl="0" eaLnBrk="1" fontAlgn="base" hangingPunct="1"/>
            <a:r>
              <a:rPr lang="zh-CN" altLang="en-US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  <a:t>图论之平面图</a:t>
            </a:r>
            <a:endParaRPr lang="en-US" altLang="zh-CN" sz="1400" b="0" i="0" strike="noStrike" noProof="1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1037" name="Rectangle 13"/>
          <p:cNvSpPr>
            <a:spLocks noGrp="1"/>
          </p:cNvSpPr>
          <p:nvPr>
            <p:ph type="sldNum" sz="quarter" idx="4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b="0" i="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ahoma" panose="020B060403050404020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>
    <p:wipe dir="r"/>
  </p:transition>
  <p:hf sldNum="0" hdr="0" ftr="0" dt="0"/>
  <p:txStyles>
    <p:title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None/>
        <a:defRPr sz="44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1" i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2pPr>
      <a:lvl3pPr marL="914400" lvl="2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3pPr>
      <a:lvl4pPr marL="1371600" lvl="3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4pPr>
      <a:lvl5pPr marL="1828800" lvl="4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5pPr>
      <a:lvl6pPr marL="2286000" lvl="5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6pPr>
      <a:lvl7pPr marL="2743200" lvl="6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7pPr>
      <a:lvl8pPr marL="3200400" lvl="7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8pPr>
      <a:lvl9pPr marL="3657600" lvl="8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1" i="1" u="none" kern="1200" baseline="0">
          <a:solidFill>
            <a:schemeClr val="tx1"/>
          </a:solidFill>
          <a:latin typeface="Tahoma" panose="020B060403050404020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2"/>
          <p:cNvSpPr>
            <a:spLocks noGrp="1"/>
          </p:cNvSpPr>
          <p:nvPr>
            <p:ph type="ctrTitle" idx="4294967295"/>
          </p:nvPr>
        </p:nvSpPr>
        <p:spPr>
          <a:xfrm>
            <a:off x="739775" y="1797050"/>
            <a:ext cx="8267700" cy="1463675"/>
          </a:xfrm>
          <a:effectLst>
            <a:outerShdw dist="17961" dir="2699999" algn="ctr" rotWithShape="0">
              <a:schemeClr val="bg2"/>
            </a:outerShdw>
          </a:effectLst>
        </p:spPr>
        <p:txBody>
          <a:bodyPr vert="horz" wrap="square"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 eaLnBrk="1" hangingPunct="1">
              <a:buClrTx/>
              <a:buSzTx/>
              <a:buFontTx/>
            </a:pPr>
            <a:r>
              <a:rPr lang="en-US" altLang="zh-CN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12.3 </a:t>
            </a:r>
            <a:r>
              <a:rPr lang="zh-CN" altLang="en-US" sz="40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地图的着色与平面图的点着色</a:t>
            </a:r>
            <a:endParaRPr lang="zh-CN" altLang="en-US" sz="40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地图</a:t>
            </a:r>
            <a:endParaRPr lang="zh-CN" altLang="en-US"/>
          </a:p>
        </p:txBody>
      </p:sp>
      <p:sp>
        <p:nvSpPr>
          <p:cNvPr id="38914" name="内容占位符 2"/>
          <p:cNvSpPr>
            <a:spLocks noGrp="1"/>
          </p:cNvSpPr>
          <p:nvPr>
            <p:ph idx="1"/>
          </p:nvPr>
        </p:nvSpPr>
        <p:spPr>
          <a:xfrm>
            <a:off x="323850" y="1412875"/>
            <a:ext cx="8756650" cy="5256213"/>
          </a:xfrm>
        </p:spPr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地图</a:t>
            </a:r>
            <a:r>
              <a:rPr lang="en-US" altLang="zh-CN"/>
              <a:t>: </a:t>
            </a:r>
            <a:r>
              <a:rPr lang="zh-CN" altLang="en-US">
                <a:solidFill>
                  <a:srgbClr val="FF0000"/>
                </a:solidFill>
              </a:rPr>
              <a:t>连通无桥</a:t>
            </a:r>
            <a:r>
              <a:rPr lang="zh-CN" altLang="en-US"/>
              <a:t>平面图的</a:t>
            </a:r>
            <a:r>
              <a:rPr lang="zh-CN" altLang="en-US">
                <a:solidFill>
                  <a:srgbClr val="FF0000"/>
                </a:solidFill>
              </a:rPr>
              <a:t>平面嵌入</a:t>
            </a:r>
            <a:r>
              <a:rPr lang="zh-CN" altLang="en-US"/>
              <a:t>及其所有的面称为</a:t>
            </a:r>
            <a:r>
              <a:rPr lang="en-US" altLang="zh-CN"/>
              <a:t>(</a:t>
            </a:r>
            <a:r>
              <a:rPr lang="zh-CN" altLang="en-US"/>
              <a:t>平面</a:t>
            </a:r>
            <a:r>
              <a:rPr lang="en-US" altLang="zh-CN"/>
              <a:t>)</a:t>
            </a:r>
            <a:r>
              <a:rPr lang="zh-CN" altLang="en-US"/>
              <a:t>地图</a:t>
            </a:r>
            <a:endParaRPr lang="zh-CN" altLang="en-US"/>
          </a:p>
          <a:p>
            <a:r>
              <a:rPr lang="zh-CN" altLang="en-US">
                <a:solidFill>
                  <a:schemeClr val="hlink"/>
                </a:solidFill>
              </a:rPr>
              <a:t>国家</a:t>
            </a:r>
            <a:r>
              <a:rPr lang="en-US" altLang="zh-CN"/>
              <a:t>: </a:t>
            </a:r>
            <a:r>
              <a:rPr lang="zh-CN" altLang="en-US"/>
              <a:t>平面地图的面</a:t>
            </a:r>
            <a:endParaRPr lang="zh-CN" altLang="en-US"/>
          </a:p>
          <a:p>
            <a:r>
              <a:rPr lang="zh-CN" altLang="en-US">
                <a:solidFill>
                  <a:schemeClr val="hlink"/>
                </a:solidFill>
              </a:rPr>
              <a:t>相邻</a:t>
            </a:r>
            <a:r>
              <a:rPr lang="en-US" altLang="zh-CN"/>
              <a:t>: </a:t>
            </a:r>
            <a:r>
              <a:rPr lang="zh-CN" altLang="en-US"/>
              <a:t>两个国家的公共边界至少有一条公共边</a:t>
            </a:r>
            <a:endParaRPr lang="zh-CN" altLang="en-US"/>
          </a:p>
          <a:p>
            <a:r>
              <a:rPr lang="en-US" altLang="zh-CN" i="1">
                <a:solidFill>
                  <a:schemeClr val="hlink"/>
                </a:solidFill>
              </a:rPr>
              <a:t>k</a:t>
            </a:r>
            <a:r>
              <a:rPr lang="en-US" altLang="zh-CN">
                <a:solidFill>
                  <a:schemeClr val="hlink"/>
                </a:solidFill>
              </a:rPr>
              <a:t>-</a:t>
            </a:r>
            <a:r>
              <a:rPr lang="zh-CN" altLang="en-US">
                <a:solidFill>
                  <a:schemeClr val="hlink"/>
                </a:solidFill>
              </a:rPr>
              <a:t>面可着色</a:t>
            </a:r>
            <a:r>
              <a:rPr lang="en-US" altLang="zh-CN"/>
              <a:t>:</a:t>
            </a:r>
            <a:r>
              <a:rPr lang="zh-CN" altLang="en-US"/>
              <a:t>可用</a:t>
            </a:r>
            <a:r>
              <a:rPr lang="en-US" altLang="zh-CN" i="1"/>
              <a:t>k</a:t>
            </a:r>
            <a:r>
              <a:rPr lang="zh-CN" altLang="en-US"/>
              <a:t>种颜色对平面地图着色</a:t>
            </a:r>
            <a:endParaRPr lang="en-US" altLang="zh-CN"/>
          </a:p>
          <a:p>
            <a:r>
              <a:rPr lang="en-US" altLang="zh-CN" i="1">
                <a:solidFill>
                  <a:schemeClr val="hlink"/>
                </a:solidFill>
              </a:rPr>
              <a:t>k</a:t>
            </a:r>
            <a:r>
              <a:rPr lang="en-US" altLang="zh-CN">
                <a:solidFill>
                  <a:schemeClr val="hlink"/>
                </a:solidFill>
              </a:rPr>
              <a:t>-</a:t>
            </a:r>
            <a:r>
              <a:rPr lang="zh-CN" altLang="en-US">
                <a:solidFill>
                  <a:schemeClr val="hlink"/>
                </a:solidFill>
              </a:rPr>
              <a:t>色地图</a:t>
            </a:r>
            <a:r>
              <a:rPr lang="zh-CN" altLang="en-US"/>
              <a:t>：是</a:t>
            </a:r>
            <a:r>
              <a:rPr lang="en-US" altLang="zh-CN" i="1"/>
              <a:t>k</a:t>
            </a:r>
            <a:r>
              <a:rPr lang="en-US" altLang="zh-CN"/>
              <a:t>-</a:t>
            </a:r>
            <a:r>
              <a:rPr lang="zh-CN" altLang="en-US"/>
              <a:t>面可着色的</a:t>
            </a:r>
            <a:r>
              <a:rPr lang="en-US" altLang="zh-CN"/>
              <a:t>,</a:t>
            </a:r>
            <a:r>
              <a:rPr lang="zh-CN" altLang="en-US"/>
              <a:t>但不是</a:t>
            </a:r>
            <a:r>
              <a:rPr lang="en-US" altLang="zh-CN"/>
              <a:t>(</a:t>
            </a:r>
            <a:r>
              <a:rPr lang="en-US" altLang="zh-CN" i="1"/>
              <a:t>k</a:t>
            </a:r>
            <a:r>
              <a:rPr lang="en-US" altLang="zh-CN"/>
              <a:t>-1)-</a:t>
            </a:r>
            <a:r>
              <a:rPr lang="zh-CN" altLang="en-US"/>
              <a:t>面可着色的</a:t>
            </a:r>
            <a:endParaRPr lang="en-US" altLang="zh-CN"/>
          </a:p>
          <a:p>
            <a:r>
              <a:rPr lang="en-US" altLang="zh-CN"/>
              <a:t> </a:t>
            </a:r>
            <a:r>
              <a:rPr lang="zh-CN" altLang="en-US">
                <a:solidFill>
                  <a:schemeClr val="hlink"/>
                </a:solidFill>
              </a:rPr>
              <a:t>面色数</a:t>
            </a:r>
            <a:r>
              <a:rPr lang="zh-CN" altLang="en-US"/>
              <a:t>：</a:t>
            </a:r>
            <a:r>
              <a:rPr lang="en-US" altLang="zh-CN"/>
              <a:t>χ</a:t>
            </a:r>
            <a:r>
              <a:rPr lang="zh-CN" altLang="en-US"/>
              <a:t>*</a:t>
            </a:r>
            <a:r>
              <a:rPr lang="en-US" altLang="zh-CN"/>
              <a:t>(G)</a:t>
            </a:r>
            <a:endParaRPr lang="zh-CN" altLang="en-US"/>
          </a:p>
        </p:txBody>
      </p:sp>
      <p:sp>
        <p:nvSpPr>
          <p:cNvPr id="4096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/>
            </a:fld>
            <a:endParaRPr lang="en-US" altLang="zh-CN" sz="1400" b="0" i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31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42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64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85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115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面着色与对偶图点着色</a:t>
            </a:r>
            <a:endParaRPr lang="zh-CN" altLang="en-US"/>
          </a:p>
        </p:txBody>
      </p:sp>
      <p:sp>
        <p:nvSpPr>
          <p:cNvPr id="39938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12.13:</a:t>
            </a:r>
            <a:r>
              <a:rPr lang="en-US" altLang="zh-CN"/>
              <a:t> </a:t>
            </a:r>
            <a:r>
              <a:rPr lang="zh-CN" altLang="en-US"/>
              <a:t>地图</a:t>
            </a: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en-US" altLang="zh-CN" i="1"/>
              <a:t>k</a:t>
            </a:r>
            <a:r>
              <a:rPr lang="en-US" altLang="zh-CN"/>
              <a:t>-</a:t>
            </a:r>
            <a:r>
              <a:rPr lang="zh-CN" altLang="en-US"/>
              <a:t>面可着色的⇔ 它的对偶图</a:t>
            </a:r>
            <a:r>
              <a:rPr lang="en-US" altLang="zh-CN"/>
              <a:t>G*</a:t>
            </a:r>
            <a:r>
              <a:rPr lang="zh-CN" altLang="en-US"/>
              <a:t>是</a:t>
            </a:r>
            <a:r>
              <a:rPr lang="en-US" altLang="zh-CN" i="1"/>
              <a:t>k</a:t>
            </a:r>
            <a:r>
              <a:rPr lang="en-US" altLang="zh-CN"/>
              <a:t>-</a:t>
            </a:r>
            <a:r>
              <a:rPr lang="zh-CN" altLang="en-US"/>
              <a:t>可着色的</a:t>
            </a:r>
            <a:r>
              <a:rPr lang="en-US" altLang="zh-CN"/>
              <a:t>. </a:t>
            </a:r>
            <a:endParaRPr lang="en-US" altLang="zh-CN"/>
          </a:p>
          <a:p>
            <a:pPr>
              <a:buNone/>
            </a:pPr>
            <a:r>
              <a:rPr lang="zh-CN" altLang="en-US" sz="2400">
                <a:solidFill>
                  <a:schemeClr val="hlink"/>
                </a:solidFill>
              </a:rPr>
              <a:t>证</a:t>
            </a:r>
            <a:r>
              <a:rPr lang="zh-CN" altLang="en-US" sz="2400"/>
              <a:t>  </a:t>
            </a:r>
            <a:r>
              <a:rPr lang="zh-CN" altLang="en-US" sz="2400">
                <a:solidFill>
                  <a:schemeClr val="tx2"/>
                </a:solidFill>
              </a:rPr>
              <a:t>必要性</a:t>
            </a:r>
            <a:r>
              <a:rPr lang="en-US" altLang="zh-CN" sz="2400">
                <a:solidFill>
                  <a:schemeClr val="tx2"/>
                </a:solidFill>
              </a:rPr>
              <a:t>.</a:t>
            </a:r>
            <a:r>
              <a:rPr lang="zh-CN" altLang="en-US" sz="2400">
                <a:solidFill>
                  <a:schemeClr val="tx2"/>
                </a:solidFill>
              </a:rPr>
              <a:t>给</a:t>
            </a:r>
            <a:r>
              <a:rPr lang="en-US" altLang="zh-CN" sz="2400">
                <a:solidFill>
                  <a:schemeClr val="tx2"/>
                </a:solidFill>
              </a:rPr>
              <a:t>G</a:t>
            </a:r>
            <a:r>
              <a:rPr lang="zh-CN" altLang="en-US" sz="2400">
                <a:solidFill>
                  <a:schemeClr val="tx2"/>
                </a:solidFill>
              </a:rPr>
              <a:t>的一种</a:t>
            </a:r>
            <a:r>
              <a:rPr lang="en-US" altLang="zh-CN" sz="2400" i="1">
                <a:solidFill>
                  <a:schemeClr val="tx2"/>
                </a:solidFill>
              </a:rPr>
              <a:t>k</a:t>
            </a:r>
            <a:r>
              <a:rPr lang="zh-CN" altLang="en-US" sz="2400">
                <a:solidFill>
                  <a:schemeClr val="tx2"/>
                </a:solidFill>
              </a:rPr>
              <a:t>面着色</a:t>
            </a:r>
            <a:r>
              <a:rPr lang="en-US" altLang="zh-CN" sz="2400">
                <a:solidFill>
                  <a:schemeClr val="tx2"/>
                </a:solidFill>
              </a:rPr>
              <a:t>,</a:t>
            </a:r>
            <a:r>
              <a:rPr lang="en-US" altLang="zh-CN" sz="2400" i="1">
                <a:solidFill>
                  <a:schemeClr val="tx2"/>
                </a:solidFill>
              </a:rPr>
              <a:t>n</a:t>
            </a:r>
            <a:r>
              <a:rPr lang="en-US" altLang="zh-CN" sz="2400">
                <a:solidFill>
                  <a:schemeClr val="tx2"/>
                </a:solidFill>
              </a:rPr>
              <a:t>*=</a:t>
            </a:r>
            <a:r>
              <a:rPr lang="en-US" altLang="zh-CN" sz="2400" i="1">
                <a:solidFill>
                  <a:schemeClr val="tx2"/>
                </a:solidFill>
              </a:rPr>
              <a:t>r</a:t>
            </a:r>
            <a:r>
              <a:rPr lang="en-US" altLang="zh-CN" sz="2400">
                <a:solidFill>
                  <a:schemeClr val="tx2"/>
                </a:solidFill>
              </a:rPr>
              <a:t>,</a:t>
            </a:r>
            <a:r>
              <a:rPr lang="zh-CN" altLang="en-US" sz="2400">
                <a:solidFill>
                  <a:schemeClr val="tx2"/>
                </a:solidFill>
              </a:rPr>
              <a:t>即</a:t>
            </a:r>
            <a:r>
              <a:rPr lang="en-US" altLang="zh-CN" sz="2400">
                <a:solidFill>
                  <a:schemeClr val="tx2"/>
                </a:solidFill>
              </a:rPr>
              <a:t>G</a:t>
            </a:r>
            <a:r>
              <a:rPr lang="zh-CN" altLang="en-US" sz="2400">
                <a:solidFill>
                  <a:schemeClr val="tx2"/>
                </a:solidFill>
              </a:rPr>
              <a:t>的每个面中含且只含</a:t>
            </a:r>
            <a:r>
              <a:rPr lang="en-US" altLang="zh-CN" sz="2400">
                <a:solidFill>
                  <a:schemeClr val="tx2"/>
                </a:solidFill>
              </a:rPr>
              <a:t>G*</a:t>
            </a:r>
            <a:r>
              <a:rPr lang="zh-CN" altLang="en-US" sz="2400">
                <a:solidFill>
                  <a:schemeClr val="tx2"/>
                </a:solidFill>
              </a:rPr>
              <a:t>的一个顶点</a:t>
            </a:r>
            <a:r>
              <a:rPr lang="en-US" altLang="zh-CN" sz="2400">
                <a:solidFill>
                  <a:schemeClr val="tx2"/>
                </a:solidFill>
              </a:rPr>
              <a:t>.</a:t>
            </a:r>
            <a:r>
              <a:rPr lang="zh-CN" altLang="en-US" sz="2400">
                <a:solidFill>
                  <a:schemeClr val="tx2"/>
                </a:solidFill>
              </a:rPr>
              <a:t>设</a:t>
            </a:r>
            <a:r>
              <a:rPr lang="en-US" altLang="zh-CN" sz="2400" i="1">
                <a:solidFill>
                  <a:schemeClr val="tx2"/>
                </a:solidFill>
              </a:rPr>
              <a:t>v</a:t>
            </a:r>
            <a:r>
              <a:rPr lang="en-US" altLang="zh-CN" sz="2400" i="1" baseline="-25000">
                <a:solidFill>
                  <a:schemeClr val="tx2"/>
                </a:solidFill>
              </a:rPr>
              <a:t>i</a:t>
            </a:r>
            <a:r>
              <a:rPr lang="en-US" altLang="zh-CN" sz="2400">
                <a:solidFill>
                  <a:schemeClr val="tx2"/>
                </a:solidFill>
              </a:rPr>
              <a:t>*</a:t>
            </a:r>
            <a:r>
              <a:rPr lang="zh-CN" altLang="en-US" sz="2400">
                <a:solidFill>
                  <a:schemeClr val="tx2"/>
                </a:solidFill>
              </a:rPr>
              <a:t>位于</a:t>
            </a:r>
            <a:r>
              <a:rPr lang="en-US" altLang="zh-CN" sz="2400">
                <a:solidFill>
                  <a:schemeClr val="tx2"/>
                </a:solidFill>
              </a:rPr>
              <a:t>G</a:t>
            </a:r>
            <a:r>
              <a:rPr lang="zh-CN" altLang="en-US" sz="2400">
                <a:solidFill>
                  <a:schemeClr val="tx2"/>
                </a:solidFill>
              </a:rPr>
              <a:t>的面</a:t>
            </a:r>
            <a:r>
              <a:rPr lang="en-US" altLang="zh-CN" sz="2400" i="1">
                <a:solidFill>
                  <a:schemeClr val="tx2"/>
                </a:solidFill>
              </a:rPr>
              <a:t>R</a:t>
            </a:r>
            <a:r>
              <a:rPr lang="en-US" altLang="zh-CN" sz="2400" i="1" baseline="-25000">
                <a:solidFill>
                  <a:schemeClr val="tx2"/>
                </a:solidFill>
              </a:rPr>
              <a:t>i</a:t>
            </a:r>
            <a:r>
              <a:rPr lang="zh-CN" altLang="en-US" sz="2400">
                <a:solidFill>
                  <a:schemeClr val="tx2"/>
                </a:solidFill>
              </a:rPr>
              <a:t>内</a:t>
            </a:r>
            <a:r>
              <a:rPr lang="en-US" altLang="zh-CN" sz="2400">
                <a:solidFill>
                  <a:schemeClr val="tx2"/>
                </a:solidFill>
              </a:rPr>
              <a:t>,</a:t>
            </a:r>
            <a:r>
              <a:rPr lang="zh-CN" altLang="en-US" sz="2400">
                <a:solidFill>
                  <a:schemeClr val="tx2"/>
                </a:solidFill>
              </a:rPr>
              <a:t>将</a:t>
            </a:r>
            <a:r>
              <a:rPr lang="en-US" altLang="zh-CN" sz="2400" i="1">
                <a:solidFill>
                  <a:schemeClr val="tx2"/>
                </a:solidFill>
              </a:rPr>
              <a:t>v</a:t>
            </a:r>
            <a:r>
              <a:rPr lang="en-US" altLang="zh-CN" sz="2400" i="1" baseline="-25000">
                <a:solidFill>
                  <a:schemeClr val="tx2"/>
                </a:solidFill>
              </a:rPr>
              <a:t>i</a:t>
            </a:r>
            <a:r>
              <a:rPr lang="en-US" altLang="zh-CN" sz="2400">
                <a:solidFill>
                  <a:schemeClr val="tx2"/>
                </a:solidFill>
              </a:rPr>
              <a:t>*</a:t>
            </a:r>
            <a:r>
              <a:rPr lang="zh-CN" altLang="en-US" sz="2400">
                <a:solidFill>
                  <a:schemeClr val="tx2"/>
                </a:solidFill>
              </a:rPr>
              <a:t>涂</a:t>
            </a:r>
            <a:r>
              <a:rPr lang="en-US" altLang="zh-CN" sz="2400" i="1">
                <a:solidFill>
                  <a:schemeClr val="tx2"/>
                </a:solidFill>
              </a:rPr>
              <a:t>R</a:t>
            </a:r>
            <a:r>
              <a:rPr lang="en-US" altLang="zh-CN" sz="2400" i="1" baseline="-25000">
                <a:solidFill>
                  <a:schemeClr val="tx2"/>
                </a:solidFill>
              </a:rPr>
              <a:t>i</a:t>
            </a:r>
            <a:r>
              <a:rPr lang="zh-CN" altLang="en-US" sz="2400">
                <a:solidFill>
                  <a:schemeClr val="tx2"/>
                </a:solidFill>
              </a:rPr>
              <a:t>的颜色</a:t>
            </a:r>
            <a:r>
              <a:rPr lang="en-US" altLang="zh-CN" sz="2400">
                <a:solidFill>
                  <a:schemeClr val="tx2"/>
                </a:solidFill>
              </a:rPr>
              <a:t>.</a:t>
            </a:r>
            <a:r>
              <a:rPr lang="zh-CN" altLang="en-US" sz="2400">
                <a:solidFill>
                  <a:schemeClr val="tx2"/>
                </a:solidFill>
              </a:rPr>
              <a:t>故而</a:t>
            </a:r>
            <a:r>
              <a:rPr lang="en-US" altLang="zh-CN" sz="2400">
                <a:solidFill>
                  <a:schemeClr val="tx2"/>
                </a:solidFill>
              </a:rPr>
              <a:t>,</a:t>
            </a:r>
            <a:r>
              <a:rPr lang="zh-CN" altLang="en-US" sz="2400">
                <a:solidFill>
                  <a:schemeClr val="tx2"/>
                </a:solidFill>
              </a:rPr>
              <a:t>若</a:t>
            </a:r>
            <a:r>
              <a:rPr lang="en-US" altLang="zh-CN" sz="2400" i="1">
                <a:solidFill>
                  <a:schemeClr val="tx2"/>
                </a:solidFill>
              </a:rPr>
              <a:t>v</a:t>
            </a:r>
            <a:r>
              <a:rPr lang="en-US" altLang="zh-CN" sz="2400" i="1" baseline="-25000">
                <a:solidFill>
                  <a:schemeClr val="tx2"/>
                </a:solidFill>
              </a:rPr>
              <a:t>i</a:t>
            </a:r>
            <a:r>
              <a:rPr lang="en-US" altLang="zh-CN" sz="2400">
                <a:solidFill>
                  <a:schemeClr val="tx2"/>
                </a:solidFill>
              </a:rPr>
              <a:t>*</a:t>
            </a:r>
            <a:r>
              <a:rPr lang="zh-CN" altLang="en-US" sz="2400">
                <a:solidFill>
                  <a:schemeClr val="tx2"/>
                </a:solidFill>
              </a:rPr>
              <a:t>与</a:t>
            </a:r>
            <a:r>
              <a:rPr lang="en-US" altLang="zh-CN" sz="2400" i="1">
                <a:solidFill>
                  <a:schemeClr val="tx2"/>
                </a:solidFill>
              </a:rPr>
              <a:t>v</a:t>
            </a:r>
            <a:r>
              <a:rPr lang="en-US" altLang="zh-CN" sz="2400" i="1" baseline="-25000">
                <a:solidFill>
                  <a:schemeClr val="tx2"/>
                </a:solidFill>
              </a:rPr>
              <a:t>j</a:t>
            </a:r>
            <a:r>
              <a:rPr lang="en-US" altLang="zh-CN" sz="2400">
                <a:solidFill>
                  <a:schemeClr val="tx2"/>
                </a:solidFill>
              </a:rPr>
              <a:t>*</a:t>
            </a:r>
            <a:r>
              <a:rPr lang="zh-CN" altLang="en-US" sz="2400">
                <a:solidFill>
                  <a:schemeClr val="tx2"/>
                </a:solidFill>
              </a:rPr>
              <a:t>相邻</a:t>
            </a:r>
            <a:r>
              <a:rPr lang="en-US" altLang="zh-CN" sz="2400">
                <a:solidFill>
                  <a:schemeClr val="tx2"/>
                </a:solidFill>
              </a:rPr>
              <a:t>,</a:t>
            </a:r>
            <a:r>
              <a:rPr lang="zh-CN" altLang="en-US" sz="2400">
                <a:solidFill>
                  <a:schemeClr val="tx2"/>
                </a:solidFill>
              </a:rPr>
              <a:t>则</a:t>
            </a:r>
            <a:r>
              <a:rPr lang="en-US" altLang="zh-CN" sz="2400" i="1">
                <a:solidFill>
                  <a:schemeClr val="tx2"/>
                </a:solidFill>
              </a:rPr>
              <a:t>R</a:t>
            </a:r>
            <a:r>
              <a:rPr lang="en-US" altLang="zh-CN" sz="2400" i="1" baseline="-25000">
                <a:solidFill>
                  <a:schemeClr val="tx2"/>
                </a:solidFill>
              </a:rPr>
              <a:t>i</a:t>
            </a:r>
            <a:r>
              <a:rPr lang="zh-CN" altLang="en-US" sz="2400">
                <a:solidFill>
                  <a:schemeClr val="tx2"/>
                </a:solidFill>
              </a:rPr>
              <a:t>与</a:t>
            </a:r>
            <a:r>
              <a:rPr lang="en-US" altLang="zh-CN" sz="2400" i="1">
                <a:solidFill>
                  <a:schemeClr val="tx2"/>
                </a:solidFill>
              </a:rPr>
              <a:t>R</a:t>
            </a:r>
            <a:r>
              <a:rPr lang="en-US" altLang="zh-CN" sz="2400" i="1" baseline="-25000">
                <a:solidFill>
                  <a:schemeClr val="tx2"/>
                </a:solidFill>
              </a:rPr>
              <a:t>j</a:t>
            </a:r>
            <a:r>
              <a:rPr lang="zh-CN" altLang="en-US" sz="2400">
                <a:solidFill>
                  <a:schemeClr val="tx2"/>
                </a:solidFill>
              </a:rPr>
              <a:t>相邻</a:t>
            </a:r>
            <a:r>
              <a:rPr lang="en-US" altLang="zh-CN" sz="2400">
                <a:solidFill>
                  <a:schemeClr val="tx2"/>
                </a:solidFill>
              </a:rPr>
              <a:t>,</a:t>
            </a:r>
            <a:r>
              <a:rPr lang="zh-CN" altLang="en-US" sz="2400">
                <a:solidFill>
                  <a:schemeClr val="tx2"/>
                </a:solidFill>
              </a:rPr>
              <a:t>即</a:t>
            </a:r>
            <a:r>
              <a:rPr lang="en-US" altLang="zh-CN" sz="2400" i="1">
                <a:solidFill>
                  <a:schemeClr val="tx2"/>
                </a:solidFill>
              </a:rPr>
              <a:t>R</a:t>
            </a:r>
            <a:r>
              <a:rPr lang="en-US" altLang="zh-CN" sz="2400" i="1" baseline="-25000">
                <a:solidFill>
                  <a:schemeClr val="tx2"/>
                </a:solidFill>
              </a:rPr>
              <a:t>i</a:t>
            </a:r>
            <a:r>
              <a:rPr lang="zh-CN" altLang="en-US" sz="2400">
                <a:solidFill>
                  <a:schemeClr val="tx2"/>
                </a:solidFill>
              </a:rPr>
              <a:t>与</a:t>
            </a:r>
            <a:r>
              <a:rPr lang="en-US" altLang="zh-CN" sz="2400" i="1">
                <a:solidFill>
                  <a:schemeClr val="tx2"/>
                </a:solidFill>
              </a:rPr>
              <a:t>R</a:t>
            </a:r>
            <a:r>
              <a:rPr lang="en-US" altLang="zh-CN" sz="2400" i="1" baseline="-25000">
                <a:solidFill>
                  <a:schemeClr val="tx2"/>
                </a:solidFill>
              </a:rPr>
              <a:t>j</a:t>
            </a:r>
            <a:r>
              <a:rPr lang="zh-CN" altLang="en-US" sz="2400">
                <a:solidFill>
                  <a:schemeClr val="tx2"/>
                </a:solidFill>
              </a:rPr>
              <a:t>的颜色不同</a:t>
            </a:r>
            <a:r>
              <a:rPr lang="en-US" altLang="zh-CN" sz="2400">
                <a:solidFill>
                  <a:schemeClr val="tx2"/>
                </a:solidFill>
              </a:rPr>
              <a:t>,</a:t>
            </a:r>
            <a:r>
              <a:rPr lang="zh-CN" altLang="en-US" sz="2400">
                <a:solidFill>
                  <a:schemeClr val="tx2"/>
                </a:solidFill>
              </a:rPr>
              <a:t>所以</a:t>
            </a:r>
            <a:r>
              <a:rPr lang="en-US" altLang="zh-CN" sz="2400" i="1">
                <a:solidFill>
                  <a:schemeClr val="tx2"/>
                </a:solidFill>
              </a:rPr>
              <a:t>v</a:t>
            </a:r>
            <a:r>
              <a:rPr lang="en-US" altLang="zh-CN" sz="2400" i="1" baseline="-25000">
                <a:solidFill>
                  <a:schemeClr val="tx2"/>
                </a:solidFill>
              </a:rPr>
              <a:t>i</a:t>
            </a:r>
            <a:r>
              <a:rPr lang="en-US" altLang="zh-CN" sz="2400">
                <a:solidFill>
                  <a:schemeClr val="tx2"/>
                </a:solidFill>
              </a:rPr>
              <a:t>*</a:t>
            </a:r>
            <a:r>
              <a:rPr lang="zh-CN" altLang="en-US" sz="2400">
                <a:solidFill>
                  <a:schemeClr val="tx2"/>
                </a:solidFill>
              </a:rPr>
              <a:t>与</a:t>
            </a:r>
            <a:r>
              <a:rPr lang="en-US" altLang="zh-CN" sz="2400" i="1">
                <a:solidFill>
                  <a:schemeClr val="tx2"/>
                </a:solidFill>
              </a:rPr>
              <a:t>v</a:t>
            </a:r>
            <a:r>
              <a:rPr lang="en-US" altLang="zh-CN" sz="2400" i="1" baseline="-25000">
                <a:solidFill>
                  <a:schemeClr val="tx2"/>
                </a:solidFill>
              </a:rPr>
              <a:t>j</a:t>
            </a:r>
            <a:r>
              <a:rPr lang="en-US" altLang="zh-CN" sz="2400">
                <a:solidFill>
                  <a:schemeClr val="tx2"/>
                </a:solidFill>
              </a:rPr>
              <a:t>*</a:t>
            </a:r>
            <a:r>
              <a:rPr lang="zh-CN" altLang="en-US" sz="2400">
                <a:solidFill>
                  <a:schemeClr val="tx2"/>
                </a:solidFill>
              </a:rPr>
              <a:t>颜色不同</a:t>
            </a:r>
            <a:r>
              <a:rPr lang="en-US" altLang="zh-CN" sz="2400">
                <a:solidFill>
                  <a:schemeClr val="tx2"/>
                </a:solidFill>
              </a:rPr>
              <a:t>,</a:t>
            </a:r>
            <a:r>
              <a:rPr lang="zh-CN" altLang="en-US" sz="2400">
                <a:solidFill>
                  <a:schemeClr val="tx2"/>
                </a:solidFill>
              </a:rPr>
              <a:t>即</a:t>
            </a:r>
            <a:r>
              <a:rPr lang="en-US" altLang="zh-CN" sz="2400">
                <a:solidFill>
                  <a:schemeClr val="tx2"/>
                </a:solidFill>
              </a:rPr>
              <a:t>G*</a:t>
            </a:r>
            <a:r>
              <a:rPr lang="zh-CN" altLang="en-US" sz="2400">
                <a:solidFill>
                  <a:schemeClr val="tx2"/>
                </a:solidFill>
              </a:rPr>
              <a:t>是</a:t>
            </a:r>
            <a:r>
              <a:rPr lang="en-US" altLang="zh-CN" sz="2400" i="1">
                <a:solidFill>
                  <a:schemeClr val="tx2"/>
                </a:solidFill>
              </a:rPr>
              <a:t>k</a:t>
            </a:r>
            <a:r>
              <a:rPr lang="en-US" altLang="zh-CN" sz="2400">
                <a:solidFill>
                  <a:schemeClr val="tx2"/>
                </a:solidFill>
              </a:rPr>
              <a:t>-</a:t>
            </a:r>
            <a:r>
              <a:rPr lang="zh-CN" altLang="en-US" sz="2400">
                <a:solidFill>
                  <a:schemeClr val="tx2"/>
                </a:solidFill>
              </a:rPr>
              <a:t>可着色</a:t>
            </a:r>
            <a:r>
              <a:rPr lang="en-US" altLang="zh-CN" sz="2400">
                <a:solidFill>
                  <a:schemeClr val="tx2"/>
                </a:solidFill>
              </a:rPr>
              <a:t>.</a:t>
            </a:r>
            <a:endParaRPr lang="en-US" altLang="zh-CN" sz="240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 sz="2400">
                <a:solidFill>
                  <a:schemeClr val="tx2"/>
                </a:solidFill>
              </a:rPr>
              <a:t>     </a:t>
            </a:r>
            <a:r>
              <a:rPr lang="zh-CN" altLang="en-US" sz="2400">
                <a:solidFill>
                  <a:schemeClr val="tx2"/>
                </a:solidFill>
              </a:rPr>
              <a:t>同理可证充分性</a:t>
            </a:r>
            <a:r>
              <a:rPr lang="en-US" altLang="zh-CN" sz="2400">
                <a:solidFill>
                  <a:schemeClr val="tx2"/>
                </a:solidFill>
              </a:rPr>
              <a:t>.</a:t>
            </a:r>
            <a:endParaRPr lang="en-US" altLang="zh-CN" sz="2400">
              <a:solidFill>
                <a:schemeClr val="tx2"/>
              </a:solidFill>
            </a:endParaRPr>
          </a:p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12.14:</a:t>
            </a:r>
            <a:r>
              <a:rPr lang="en-US" altLang="zh-CN"/>
              <a:t> </a:t>
            </a:r>
            <a:r>
              <a:rPr lang="zh-CN" altLang="en-US"/>
              <a:t>连通无环平面图</a:t>
            </a:r>
            <a:r>
              <a:rPr lang="en-US" altLang="zh-CN"/>
              <a:t>G</a:t>
            </a:r>
            <a:r>
              <a:rPr lang="zh-CN" altLang="en-US"/>
              <a:t>，</a:t>
            </a: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en-US" altLang="zh-CN" i="1"/>
              <a:t>k</a:t>
            </a:r>
            <a:r>
              <a:rPr lang="en-US" altLang="zh-CN"/>
              <a:t>-</a:t>
            </a:r>
            <a:r>
              <a:rPr lang="zh-CN" altLang="en-US"/>
              <a:t>可着色的⇔ 对偶图</a:t>
            </a:r>
            <a:r>
              <a:rPr lang="en-US" altLang="zh-CN"/>
              <a:t>G*</a:t>
            </a:r>
            <a:r>
              <a:rPr lang="zh-CN" altLang="en-US"/>
              <a:t>是</a:t>
            </a:r>
            <a:r>
              <a:rPr lang="en-US" altLang="zh-CN" i="1"/>
              <a:t>k</a:t>
            </a:r>
            <a:r>
              <a:rPr lang="en-US" altLang="zh-CN"/>
              <a:t>-</a:t>
            </a:r>
            <a:r>
              <a:rPr lang="zh-CN" altLang="en-US"/>
              <a:t>面可着色的</a:t>
            </a:r>
            <a:r>
              <a:rPr lang="en-US" altLang="zh-CN"/>
              <a:t>. </a:t>
            </a:r>
            <a:endParaRPr lang="en-US" altLang="zh-CN"/>
          </a:p>
          <a:p>
            <a:r>
              <a:rPr lang="zh-CN" altLang="en-US"/>
              <a:t>研究平面图面着色⇔研究平面图点着色</a:t>
            </a:r>
            <a:endParaRPr lang="zh-CN" altLang="en-US"/>
          </a:p>
        </p:txBody>
      </p:sp>
      <p:sp>
        <p:nvSpPr>
          <p:cNvPr id="4198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/>
            </a:fld>
            <a:endParaRPr lang="en-US" altLang="zh-CN" sz="1400" b="0" i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charRg st="37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charRg st="162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charRg st="176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charRg st="220" end="2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482" name="内容占位符 23"/>
          <p:cNvPicPr>
            <a:picLocks noGrp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3699828" y="2283143"/>
            <a:ext cx="5307012" cy="2654300"/>
          </a:xfrm>
        </p:spPr>
      </p:pic>
      <p:sp>
        <p:nvSpPr>
          <p:cNvPr id="20483" name="Slide Number Placeholder 4"/>
          <p:cNvSpPr txBox="1">
            <a:spLocks noGrp="1"/>
          </p:cNvSpPr>
          <p:nvPr/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r">
              <a:buSzTx/>
            </a:pPr>
            <a:fld id="{9A0DB2DC-4C9A-4742-B13C-FB6460FD3503}" type="slidenum">
              <a:rPr lang="en-US" altLang="zh-CN" sz="1400" b="0" i="0" dirty="0">
                <a:latin typeface="Tahoma" panose="020B0604030504040204" charset="0"/>
                <a:ea typeface="宋体" panose="02010600030101010101" pitchFamily="2" charset="-122"/>
              </a:rPr>
            </a:fld>
            <a:endParaRPr lang="en-US" altLang="zh-CN" sz="1400" b="0" i="0" dirty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grpSp>
        <p:nvGrpSpPr>
          <p:cNvPr id="20508" name="组 37"/>
          <p:cNvGrpSpPr/>
          <p:nvPr/>
        </p:nvGrpSpPr>
        <p:grpSpPr>
          <a:xfrm>
            <a:off x="4428490" y="2633980"/>
            <a:ext cx="3960813" cy="2016125"/>
            <a:chOff x="0" y="0"/>
            <a:chExt cx="3960440" cy="2016224"/>
          </a:xfrm>
        </p:grpSpPr>
        <p:sp>
          <p:nvSpPr>
            <p:cNvPr id="20509" name="椭圆 24"/>
            <p:cNvSpPr/>
            <p:nvPr/>
          </p:nvSpPr>
          <p:spPr>
            <a:xfrm>
              <a:off x="0" y="936104"/>
              <a:ext cx="216024" cy="216024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510" name="椭圆 44"/>
            <p:cNvSpPr/>
            <p:nvPr/>
          </p:nvSpPr>
          <p:spPr>
            <a:xfrm>
              <a:off x="864096" y="0"/>
              <a:ext cx="216024" cy="21602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511" name="椭圆 46"/>
            <p:cNvSpPr/>
            <p:nvPr/>
          </p:nvSpPr>
          <p:spPr>
            <a:xfrm>
              <a:off x="936104" y="504056"/>
              <a:ext cx="216024" cy="216024"/>
            </a:xfrm>
            <a:prstGeom prst="ellipse">
              <a:avLst/>
            </a:prstGeom>
            <a:solidFill>
              <a:srgbClr val="0070C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513" name="椭圆 49"/>
            <p:cNvSpPr/>
            <p:nvPr/>
          </p:nvSpPr>
          <p:spPr>
            <a:xfrm>
              <a:off x="3744416" y="936104"/>
              <a:ext cx="216024" cy="216024"/>
            </a:xfrm>
            <a:prstGeom prst="ellipse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514" name="椭圆 50"/>
            <p:cNvSpPr/>
            <p:nvPr/>
          </p:nvSpPr>
          <p:spPr>
            <a:xfrm>
              <a:off x="1872208" y="936104"/>
              <a:ext cx="216024" cy="216024"/>
            </a:xfrm>
            <a:prstGeom prst="ellipse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515" name="椭圆 51"/>
            <p:cNvSpPr/>
            <p:nvPr/>
          </p:nvSpPr>
          <p:spPr>
            <a:xfrm>
              <a:off x="2808312" y="1296144"/>
              <a:ext cx="216024" cy="216024"/>
            </a:xfrm>
            <a:prstGeom prst="ellipse">
              <a:avLst/>
            </a:prstGeom>
            <a:solidFill>
              <a:srgbClr val="0070C0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0512" name="椭圆 48"/>
            <p:cNvSpPr/>
            <p:nvPr/>
          </p:nvSpPr>
          <p:spPr>
            <a:xfrm>
              <a:off x="2736304" y="1800200"/>
              <a:ext cx="216024" cy="216024"/>
            </a:xfrm>
            <a:prstGeom prst="ellipse">
              <a:avLst/>
            </a:prstGeom>
            <a:solidFill>
              <a:srgbClr val="00E4A8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zh-CN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516" name="文本框 38"/>
          <p:cNvSpPr txBox="1"/>
          <p:nvPr/>
        </p:nvSpPr>
        <p:spPr>
          <a:xfrm>
            <a:off x="1475740" y="5157470"/>
            <a:ext cx="1255713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zh-CN" altLang="en-US" sz="2800" i="0">
                <a:latin typeface="Tahoma" panose="020B0604030504040204" charset="0"/>
                <a:ea typeface="宋体" panose="02010600030101010101" pitchFamily="2" charset="-122"/>
              </a:rPr>
              <a:t>面着色</a:t>
            </a:r>
            <a:endParaRPr lang="zh-CN" altLang="en-US" sz="2800" i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20517" name="文本框 55"/>
          <p:cNvSpPr txBox="1"/>
          <p:nvPr/>
        </p:nvSpPr>
        <p:spPr>
          <a:xfrm>
            <a:off x="6227763" y="5229225"/>
            <a:ext cx="1255712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zh-CN" altLang="en-US" sz="2800" i="0">
                <a:latin typeface="Tahoma" panose="020B0604030504040204" charset="0"/>
                <a:ea typeface="宋体" panose="02010600030101010101" pitchFamily="2" charset="-122"/>
              </a:rPr>
              <a:t>点着色</a:t>
            </a:r>
            <a:endParaRPr lang="zh-CN" altLang="en-US" sz="2800" i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cxnSp>
        <p:nvCxnSpPr>
          <p:cNvPr id="3" name="曲线连接符 2"/>
          <p:cNvCxnSpPr>
            <a:stCxn id="2" idx="7"/>
            <a:endCxn id="20509" idx="1"/>
          </p:cNvCxnSpPr>
          <p:nvPr/>
        </p:nvCxnSpPr>
        <p:spPr>
          <a:xfrm rot="16200000" flipH="1" flipV="1">
            <a:off x="5184775" y="1437005"/>
            <a:ext cx="1439545" cy="2889250"/>
          </a:xfrm>
          <a:prstGeom prst="curvedConnector3">
            <a:avLst>
              <a:gd name="adj1" fmla="val -18769"/>
            </a:avLst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曲线连接符 3"/>
          <p:cNvCxnSpPr>
            <a:stCxn id="2" idx="5"/>
            <a:endCxn id="20513" idx="0"/>
          </p:cNvCxnSpPr>
          <p:nvPr/>
        </p:nvCxnSpPr>
        <p:spPr>
          <a:xfrm rot="5400000" flipV="1">
            <a:off x="7187565" y="2475865"/>
            <a:ext cx="1255395" cy="931545"/>
          </a:xfrm>
          <a:prstGeom prst="curvedConnector3">
            <a:avLst>
              <a:gd name="adj1" fmla="val 6879"/>
            </a:avLst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stCxn id="2" idx="4"/>
            <a:endCxn id="20514" idx="7"/>
          </p:cNvCxnSpPr>
          <p:nvPr/>
        </p:nvCxnSpPr>
        <p:spPr>
          <a:xfrm flipH="1">
            <a:off x="6485255" y="2346325"/>
            <a:ext cx="788035" cy="12553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曲线连接符 7"/>
          <p:cNvCxnSpPr/>
          <p:nvPr/>
        </p:nvCxnSpPr>
        <p:spPr>
          <a:xfrm rot="5400000" flipV="1">
            <a:off x="6070600" y="3406140"/>
            <a:ext cx="2411730" cy="3175"/>
          </a:xfrm>
          <a:prstGeom prst="curvedConnector4">
            <a:avLst>
              <a:gd name="adj1" fmla="val 5568"/>
              <a:gd name="adj2" fmla="val 5359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49"/>
          <p:cNvSpPr/>
          <p:nvPr/>
        </p:nvSpPr>
        <p:spPr>
          <a:xfrm>
            <a:off x="7165514" y="2130493"/>
            <a:ext cx="216044" cy="216013"/>
          </a:xfrm>
          <a:prstGeom prst="ellipse">
            <a:avLst/>
          </a:prstGeom>
          <a:solidFill>
            <a:srgbClr val="0070C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>
              <a:buSzTx/>
            </a:pPr>
            <a:endParaRPr lang="zh-CN" altLang="zh-CN" i="0">
              <a:latin typeface="Tahoma" panose="020B0604030504040204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7315" y="1842770"/>
            <a:ext cx="4176395" cy="3168015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0484" name="组 35"/>
          <p:cNvGrpSpPr/>
          <p:nvPr/>
        </p:nvGrpSpPr>
        <p:grpSpPr>
          <a:xfrm>
            <a:off x="468313" y="2274570"/>
            <a:ext cx="3311525" cy="2520950"/>
            <a:chOff x="0" y="0"/>
            <a:chExt cx="3312218" cy="2521478"/>
          </a:xfrm>
        </p:grpSpPr>
        <p:grpSp>
          <p:nvGrpSpPr>
            <p:cNvPr id="20485" name="Group 7"/>
            <p:cNvGrpSpPr/>
            <p:nvPr/>
          </p:nvGrpSpPr>
          <p:grpSpPr>
            <a:xfrm>
              <a:off x="0" y="0"/>
              <a:ext cx="3312218" cy="2521478"/>
              <a:chOff x="0" y="0"/>
              <a:chExt cx="2245360" cy="1562735"/>
            </a:xfrm>
          </p:grpSpPr>
          <p:grpSp>
            <p:nvGrpSpPr>
              <p:cNvPr id="20486" name="Group 8"/>
              <p:cNvGrpSpPr/>
              <p:nvPr/>
            </p:nvGrpSpPr>
            <p:grpSpPr>
              <a:xfrm>
                <a:off x="0" y="0"/>
                <a:ext cx="2245360" cy="1562735"/>
                <a:chOff x="0" y="0"/>
                <a:chExt cx="2245462" cy="1563352"/>
              </a:xfrm>
            </p:grpSpPr>
            <p:sp>
              <p:nvSpPr>
                <p:cNvPr id="20487" name="Freeform 16"/>
                <p:cNvSpPr/>
                <p:nvPr/>
              </p:nvSpPr>
              <p:spPr>
                <a:xfrm>
                  <a:off x="0" y="0"/>
                  <a:ext cx="2245462" cy="1563352"/>
                </a:xfrm>
                <a:custGeom>
                  <a:avLst/>
                  <a:gdLst/>
                  <a:ahLst/>
                  <a:cxnLst>
                    <a:cxn ang="0">
                      <a:pos x="0" y="889564"/>
                    </a:cxn>
                    <a:cxn ang="0">
                      <a:pos x="71120" y="686364"/>
                    </a:cxn>
                    <a:cxn ang="0">
                      <a:pos x="71120" y="686364"/>
                    </a:cxn>
                    <a:cxn ang="0">
                      <a:pos x="203200" y="361244"/>
                    </a:cxn>
                    <a:cxn ang="0">
                      <a:pos x="497840" y="168204"/>
                    </a:cxn>
                    <a:cxn ang="0">
                      <a:pos x="497840" y="168204"/>
                    </a:cxn>
                    <a:cxn ang="0">
                      <a:pos x="1148080" y="5644"/>
                    </a:cxn>
                    <a:cxn ang="0">
                      <a:pos x="1879600" y="401884"/>
                    </a:cxn>
                    <a:cxn ang="0">
                      <a:pos x="1879600" y="401884"/>
                    </a:cxn>
                    <a:cxn ang="0">
                      <a:pos x="2245360" y="696524"/>
                    </a:cxn>
                    <a:cxn ang="0">
                      <a:pos x="1920240" y="1245164"/>
                    </a:cxn>
                    <a:cxn ang="0">
                      <a:pos x="1920240" y="1245164"/>
                    </a:cxn>
                    <a:cxn ang="0">
                      <a:pos x="1605280" y="1539804"/>
                    </a:cxn>
                    <a:cxn ang="0">
                      <a:pos x="843280" y="1509324"/>
                    </a:cxn>
                    <a:cxn ang="0">
                      <a:pos x="325120" y="1224844"/>
                    </a:cxn>
                    <a:cxn ang="0">
                      <a:pos x="0" y="889564"/>
                    </a:cxn>
                  </a:cxnLst>
                  <a:pathLst>
                    <a:path w="2245462" h="1563352">
                      <a:moveTo>
                        <a:pt x="0" y="889564"/>
                      </a:moveTo>
                      <a:lnTo>
                        <a:pt x="71120" y="686364"/>
                      </a:lnTo>
                      <a:cubicBezTo>
                        <a:pt x="93133" y="632177"/>
                        <a:pt x="132080" y="447604"/>
                        <a:pt x="203200" y="361244"/>
                      </a:cubicBezTo>
                      <a:cubicBezTo>
                        <a:pt x="274320" y="274884"/>
                        <a:pt x="497840" y="168204"/>
                        <a:pt x="497840" y="168204"/>
                      </a:cubicBezTo>
                      <a:cubicBezTo>
                        <a:pt x="606213" y="141111"/>
                        <a:pt x="917787" y="-33303"/>
                        <a:pt x="1148080" y="5644"/>
                      </a:cubicBezTo>
                      <a:cubicBezTo>
                        <a:pt x="1378373" y="44591"/>
                        <a:pt x="1879600" y="401884"/>
                        <a:pt x="1879600" y="401884"/>
                      </a:cubicBezTo>
                      <a:cubicBezTo>
                        <a:pt x="1940560" y="450991"/>
                        <a:pt x="2238587" y="555977"/>
                        <a:pt x="2245360" y="696524"/>
                      </a:cubicBezTo>
                      <a:cubicBezTo>
                        <a:pt x="2252133" y="837071"/>
                        <a:pt x="1920240" y="1245164"/>
                        <a:pt x="1920240" y="1245164"/>
                      </a:cubicBezTo>
                      <a:cubicBezTo>
                        <a:pt x="1867747" y="1294271"/>
                        <a:pt x="1784773" y="1495777"/>
                        <a:pt x="1605280" y="1539804"/>
                      </a:cubicBezTo>
                      <a:cubicBezTo>
                        <a:pt x="1425787" y="1583831"/>
                        <a:pt x="1056640" y="1561817"/>
                        <a:pt x="843280" y="1509324"/>
                      </a:cubicBezTo>
                      <a:cubicBezTo>
                        <a:pt x="629920" y="1456831"/>
                        <a:pt x="463973" y="1331524"/>
                        <a:pt x="325120" y="1224844"/>
                      </a:cubicBezTo>
                      <a:cubicBezTo>
                        <a:pt x="186267" y="1118164"/>
                        <a:pt x="98213" y="993704"/>
                        <a:pt x="0" y="889564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23000" dir="5400000" algn="ctr" rotWithShape="0">
                    <a:srgbClr val="000000">
                      <a:alpha val="32999"/>
                    </a:srgbClr>
                  </a:outerShdw>
                </a:effectLst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488" name="Freeform 17"/>
                <p:cNvSpPr/>
                <p:nvPr/>
              </p:nvSpPr>
              <p:spPr>
                <a:xfrm>
                  <a:off x="132402" y="25596"/>
                  <a:ext cx="1076444" cy="519805"/>
                </a:xfrm>
                <a:custGeom>
                  <a:avLst/>
                  <a:gdLst/>
                  <a:ahLst/>
                  <a:cxnLst>
                    <a:cxn ang="0">
                      <a:pos x="0" y="489540"/>
                    </a:cxn>
                    <a:cxn ang="0">
                      <a:pos x="385525" y="509937"/>
                    </a:cxn>
                    <a:cxn ang="0">
                      <a:pos x="750760" y="336559"/>
                    </a:cxn>
                    <a:cxn ang="0">
                      <a:pos x="1075412" y="0"/>
                    </a:cxn>
                    <a:cxn ang="0">
                      <a:pos x="1075412" y="0"/>
                    </a:cxn>
                  </a:cxnLst>
                  <a:pathLst>
                    <a:path w="1076960" h="519146">
                      <a:moveTo>
                        <a:pt x="0" y="487680"/>
                      </a:moveTo>
                      <a:cubicBezTo>
                        <a:pt x="130386" y="510540"/>
                        <a:pt x="260773" y="533400"/>
                        <a:pt x="386080" y="508000"/>
                      </a:cubicBezTo>
                      <a:cubicBezTo>
                        <a:pt x="511387" y="482600"/>
                        <a:pt x="636693" y="419947"/>
                        <a:pt x="751840" y="335280"/>
                      </a:cubicBezTo>
                      <a:cubicBezTo>
                        <a:pt x="866987" y="250613"/>
                        <a:pt x="1076960" y="0"/>
                        <a:pt x="1076960" y="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20000" dir="5400000" algn="ctr" rotWithShape="0">
                    <a:srgbClr val="000000">
                      <a:alpha val="35999"/>
                    </a:srgbClr>
                  </a:outerShdw>
                </a:effectLst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489" name="Freeform 18"/>
                <p:cNvSpPr/>
                <p:nvPr/>
              </p:nvSpPr>
              <p:spPr>
                <a:xfrm>
                  <a:off x="375679" y="523743"/>
                  <a:ext cx="244353" cy="747220"/>
                </a:xfrm>
                <a:custGeom>
                  <a:avLst/>
                  <a:gdLst/>
                  <a:ahLst/>
                  <a:cxnLst>
                    <a:cxn ang="0">
                      <a:pos x="245382" y="0"/>
                    </a:cxn>
                    <a:cxn ang="0">
                      <a:pos x="112467" y="671800"/>
                    </a:cxn>
                    <a:cxn ang="0">
                      <a:pos x="0" y="732873"/>
                    </a:cxn>
                  </a:cxnLst>
                  <a:pathLst>
                    <a:path w="243840" h="746760">
                      <a:moveTo>
                        <a:pt x="243840" y="0"/>
                      </a:moveTo>
                      <a:cubicBezTo>
                        <a:pt x="198120" y="274320"/>
                        <a:pt x="152400" y="548640"/>
                        <a:pt x="111760" y="670560"/>
                      </a:cubicBezTo>
                      <a:cubicBezTo>
                        <a:pt x="71120" y="792480"/>
                        <a:pt x="0" y="731520"/>
                        <a:pt x="0" y="73152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20000" dir="5400000" algn="ctr" rotWithShape="0">
                    <a:srgbClr val="000000">
                      <a:alpha val="35999"/>
                    </a:srgbClr>
                  </a:outerShdw>
                </a:effectLst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490" name="Freeform 19"/>
                <p:cNvSpPr/>
                <p:nvPr/>
              </p:nvSpPr>
              <p:spPr>
                <a:xfrm>
                  <a:off x="538222" y="300266"/>
                  <a:ext cx="453183" cy="681259"/>
                </a:xfrm>
                <a:custGeom>
                  <a:avLst/>
                  <a:gdLst/>
                  <a:ahLst/>
                  <a:cxnLst>
                    <a:cxn ang="0">
                      <a:pos x="427863" y="0"/>
                    </a:cxn>
                    <a:cxn ang="0">
                      <a:pos x="407489" y="386998"/>
                    </a:cxn>
                    <a:cxn ang="0">
                      <a:pos x="0" y="682338"/>
                    </a:cxn>
                    <a:cxn ang="0">
                      <a:pos x="0" y="682338"/>
                    </a:cxn>
                    <a:cxn ang="0">
                      <a:pos x="0" y="682338"/>
                    </a:cxn>
                  </a:cxnLst>
                  <a:pathLst>
                    <a:path w="452779" h="680720">
                      <a:moveTo>
                        <a:pt x="426720" y="0"/>
                      </a:moveTo>
                      <a:cubicBezTo>
                        <a:pt x="452120" y="136313"/>
                        <a:pt x="477520" y="272627"/>
                        <a:pt x="406400" y="386080"/>
                      </a:cubicBezTo>
                      <a:cubicBezTo>
                        <a:pt x="335280" y="499533"/>
                        <a:pt x="0" y="680720"/>
                        <a:pt x="0" y="68072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20000" dir="5400000" algn="ctr" rotWithShape="0">
                    <a:srgbClr val="000000">
                      <a:alpha val="35999"/>
                    </a:srgbClr>
                  </a:outerShdw>
                </a:effectLst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491" name="Freeform 20"/>
                <p:cNvSpPr/>
                <p:nvPr/>
              </p:nvSpPr>
              <p:spPr>
                <a:xfrm>
                  <a:off x="517769" y="310111"/>
                  <a:ext cx="1240063" cy="853543"/>
                </a:xfrm>
                <a:custGeom>
                  <a:avLst/>
                  <a:gdLst/>
                  <a:ahLst/>
                  <a:cxnLst>
                    <a:cxn ang="0">
                      <a:pos x="1241149" y="0"/>
                    </a:cxn>
                    <a:cxn ang="0">
                      <a:pos x="834215" y="477694"/>
                    </a:cxn>
                    <a:cxn ang="0">
                      <a:pos x="284855" y="741950"/>
                    </a:cxn>
                    <a:cxn ang="0">
                      <a:pos x="0" y="853749"/>
                    </a:cxn>
                    <a:cxn ang="0">
                      <a:pos x="0" y="853749"/>
                    </a:cxn>
                  </a:cxnLst>
                  <a:pathLst>
                    <a:path w="1239520" h="853440">
                      <a:moveTo>
                        <a:pt x="1239520" y="0"/>
                      </a:moveTo>
                      <a:cubicBezTo>
                        <a:pt x="1115906" y="176953"/>
                        <a:pt x="992293" y="353907"/>
                        <a:pt x="833120" y="477520"/>
                      </a:cubicBezTo>
                      <a:cubicBezTo>
                        <a:pt x="673947" y="601133"/>
                        <a:pt x="423333" y="679027"/>
                        <a:pt x="284480" y="741680"/>
                      </a:cubicBezTo>
                      <a:cubicBezTo>
                        <a:pt x="145627" y="804333"/>
                        <a:pt x="0" y="853440"/>
                        <a:pt x="0" y="85344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20000" dir="5400000" algn="ctr" rotWithShape="0">
                    <a:srgbClr val="000000">
                      <a:alpha val="35999"/>
                    </a:srgbClr>
                  </a:outerShdw>
                </a:effectLst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492" name="Freeform 21"/>
                <p:cNvSpPr/>
                <p:nvPr/>
              </p:nvSpPr>
              <p:spPr>
                <a:xfrm>
                  <a:off x="1005399" y="615299"/>
                  <a:ext cx="593120" cy="429233"/>
                </a:xfrm>
                <a:custGeom>
                  <a:avLst/>
                  <a:gdLst/>
                  <a:ahLst/>
                  <a:cxnLst>
                    <a:cxn ang="0">
                      <a:pos x="549960" y="0"/>
                    </a:cxn>
                    <a:cxn ang="0">
                      <a:pos x="580514" y="273930"/>
                    </a:cxn>
                    <a:cxn ang="0">
                      <a:pos x="356455" y="426111"/>
                    </a:cxn>
                    <a:cxn ang="0">
                      <a:pos x="0" y="375385"/>
                    </a:cxn>
                  </a:cxnLst>
                  <a:pathLst>
                    <a:path w="592645" h="429437">
                      <a:moveTo>
                        <a:pt x="548640" y="0"/>
                      </a:moveTo>
                      <a:cubicBezTo>
                        <a:pt x="579966" y="101600"/>
                        <a:pt x="611293" y="203200"/>
                        <a:pt x="579120" y="274320"/>
                      </a:cubicBezTo>
                      <a:cubicBezTo>
                        <a:pt x="546947" y="345440"/>
                        <a:pt x="452120" y="409787"/>
                        <a:pt x="355600" y="426720"/>
                      </a:cubicBezTo>
                      <a:cubicBezTo>
                        <a:pt x="259080" y="443653"/>
                        <a:pt x="0" y="375920"/>
                        <a:pt x="0" y="37592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20000" dir="5400000" algn="ctr" rotWithShape="0">
                    <a:srgbClr val="000000">
                      <a:alpha val="35999"/>
                    </a:srgbClr>
                  </a:outerShdw>
                </a:effectLst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0493" name="Freeform 22"/>
                <p:cNvSpPr/>
                <p:nvPr/>
              </p:nvSpPr>
              <p:spPr>
                <a:xfrm>
                  <a:off x="1493027" y="991370"/>
                  <a:ext cx="437036" cy="26384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2393" y="192339"/>
                    </a:cxn>
                    <a:cxn ang="0">
                      <a:pos x="437348" y="263201"/>
                    </a:cxn>
                  </a:cxnLst>
                  <a:pathLst>
                    <a:path w="436880" h="264160">
                      <a:moveTo>
                        <a:pt x="0" y="0"/>
                      </a:moveTo>
                      <a:cubicBezTo>
                        <a:pt x="34713" y="74506"/>
                        <a:pt x="69427" y="149013"/>
                        <a:pt x="142240" y="193040"/>
                      </a:cubicBezTo>
                      <a:cubicBezTo>
                        <a:pt x="215053" y="237067"/>
                        <a:pt x="436880" y="264160"/>
                        <a:pt x="436880" y="264160"/>
                      </a:cubicBezTo>
                    </a:path>
                  </a:pathLst>
                </a:custGeom>
                <a:noFill/>
                <a:ln w="25400" cap="flat" cmpd="sng">
                  <a:solidFill>
                    <a:srgbClr val="000000"/>
                  </a:solidFill>
                  <a:prstDash val="solid"/>
                  <a:miter/>
                  <a:headEnd type="none" w="med" len="med"/>
                  <a:tailEnd type="none" w="med" len="med"/>
                </a:ln>
                <a:effectLst>
                  <a:outerShdw dist="20000" dir="5400000" algn="ctr" rotWithShape="0">
                    <a:srgbClr val="000000">
                      <a:alpha val="35999"/>
                    </a:srgbClr>
                  </a:outerShdw>
                </a:effectLst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20494" name="Text Box 11"/>
              <p:cNvSpPr txBox="1"/>
              <p:nvPr/>
            </p:nvSpPr>
            <p:spPr>
              <a:xfrm>
                <a:off x="114098" y="648516"/>
                <a:ext cx="307849" cy="3424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/>
              <a:p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A</a:t>
                </a:r>
                <a:endParaRPr lang="zh-CN" altLang="en-US" dirty="0">
                  <a:solidFill>
                    <a:srgbClr val="000000"/>
                  </a:solidFill>
                  <a:latin typeface="Times New Roman" panose="02020603050405020304" charset="0"/>
                  <a:ea typeface="ＭＳ 明朝" charset="-128"/>
                </a:endParaRPr>
              </a:p>
            </p:txBody>
          </p:sp>
          <p:sp>
            <p:nvSpPr>
              <p:cNvPr id="20495" name="Text Box 12"/>
              <p:cNvSpPr txBox="1"/>
              <p:nvPr/>
            </p:nvSpPr>
            <p:spPr>
              <a:xfrm>
                <a:off x="518822" y="178121"/>
                <a:ext cx="311078" cy="3434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/>
              <a:p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B</a:t>
                </a:r>
                <a:endParaRPr lang="zh-CN" altLang="en-US" dirty="0">
                  <a:solidFill>
                    <a:srgbClr val="000000"/>
                  </a:solidFill>
                  <a:latin typeface="Times New Roman" panose="02020603050405020304" charset="0"/>
                  <a:ea typeface="ＭＳ 明朝" charset="-128"/>
                </a:endParaRPr>
              </a:p>
            </p:txBody>
          </p:sp>
          <p:sp>
            <p:nvSpPr>
              <p:cNvPr id="20496" name="Text Box 13"/>
              <p:cNvSpPr txBox="1"/>
              <p:nvPr/>
            </p:nvSpPr>
            <p:spPr>
              <a:xfrm>
                <a:off x="594170" y="491061"/>
                <a:ext cx="320766" cy="3434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/>
              <a:p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C</a:t>
                </a:r>
                <a:endParaRPr lang="zh-CN" altLang="en-US" dirty="0">
                  <a:solidFill>
                    <a:srgbClr val="000000"/>
                  </a:solidFill>
                  <a:latin typeface="Times New Roman" panose="02020603050405020304" charset="0"/>
                  <a:ea typeface="ＭＳ 明朝" charset="-128"/>
                </a:endParaRPr>
              </a:p>
            </p:txBody>
          </p:sp>
          <p:sp>
            <p:nvSpPr>
              <p:cNvPr id="20497" name="Text Box 14"/>
              <p:cNvSpPr txBox="1"/>
              <p:nvPr/>
            </p:nvSpPr>
            <p:spPr>
              <a:xfrm>
                <a:off x="1131291" y="305068"/>
                <a:ext cx="332606" cy="3434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/>
              <a:p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D</a:t>
                </a:r>
                <a:endParaRPr lang="zh-CN" altLang="en-US" dirty="0">
                  <a:solidFill>
                    <a:srgbClr val="000000"/>
                  </a:solidFill>
                  <a:latin typeface="Times New Roman" panose="02020603050405020304" charset="0"/>
                  <a:ea typeface="ＭＳ 明朝" charset="-128"/>
                </a:endParaRPr>
              </a:p>
            </p:txBody>
          </p:sp>
          <p:sp>
            <p:nvSpPr>
              <p:cNvPr id="20498" name="Text Box 15"/>
              <p:cNvSpPr txBox="1"/>
              <p:nvPr/>
            </p:nvSpPr>
            <p:spPr>
              <a:xfrm>
                <a:off x="1279833" y="728227"/>
                <a:ext cx="307849" cy="3434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/>
              <a:p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F</a:t>
                </a:r>
                <a:endParaRPr lang="zh-CN" altLang="en-US" dirty="0">
                  <a:solidFill>
                    <a:srgbClr val="000000"/>
                  </a:solidFill>
                  <a:latin typeface="Times New Roman" panose="02020603050405020304" charset="0"/>
                  <a:ea typeface="ＭＳ 明朝" charset="-128"/>
                </a:endParaRPr>
              </a:p>
            </p:txBody>
          </p:sp>
          <p:sp>
            <p:nvSpPr>
              <p:cNvPr id="20499" name="Text Box 16"/>
              <p:cNvSpPr txBox="1"/>
              <p:nvPr/>
            </p:nvSpPr>
            <p:spPr>
              <a:xfrm>
                <a:off x="1051638" y="1105133"/>
                <a:ext cx="306773" cy="3434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/>
              <a:p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endParaRPr lang="zh-CN" altLang="en-US" dirty="0">
                  <a:solidFill>
                    <a:srgbClr val="000000"/>
                  </a:solidFill>
                  <a:latin typeface="Times New Roman" panose="02020603050405020304" charset="0"/>
                  <a:ea typeface="ＭＳ 明朝" charset="-128"/>
                </a:endParaRPr>
              </a:p>
            </p:txBody>
          </p:sp>
          <p:sp>
            <p:nvSpPr>
              <p:cNvPr id="20500" name="Text Box 17"/>
              <p:cNvSpPr txBox="1"/>
              <p:nvPr/>
            </p:nvSpPr>
            <p:spPr>
              <a:xfrm>
                <a:off x="1714697" y="534361"/>
                <a:ext cx="330454" cy="3424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/>
              <a:p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G</a:t>
                </a:r>
                <a:endParaRPr lang="zh-CN" altLang="en-US" dirty="0">
                  <a:solidFill>
                    <a:srgbClr val="000000"/>
                  </a:solidFill>
                  <a:latin typeface="Times New Roman" panose="02020603050405020304" charset="0"/>
                  <a:ea typeface="ＭＳ 明朝" charset="-128"/>
                </a:endParaRPr>
              </a:p>
            </p:txBody>
          </p:sp>
        </p:grpSp>
        <p:sp>
          <p:nvSpPr>
            <p:cNvPr id="20501" name="任意形状 1"/>
            <p:cNvSpPr/>
            <p:nvPr/>
          </p:nvSpPr>
          <p:spPr>
            <a:xfrm>
              <a:off x="188912" y="14288"/>
              <a:ext cx="1557338" cy="857250"/>
            </a:xfrm>
            <a:custGeom>
              <a:avLst/>
              <a:gdLst/>
              <a:ahLst/>
              <a:cxnLst>
                <a:cxn ang="0">
                  <a:pos x="0" y="785812"/>
                </a:cxn>
                <a:cxn ang="0">
                  <a:pos x="171450" y="514350"/>
                </a:cxn>
                <a:cxn ang="0">
                  <a:pos x="571500" y="242887"/>
                </a:cxn>
                <a:cxn ang="0">
                  <a:pos x="1128713" y="14287"/>
                </a:cxn>
                <a:cxn ang="0">
                  <a:pos x="1557338" y="0"/>
                </a:cxn>
                <a:cxn ang="0">
                  <a:pos x="1371600" y="257175"/>
                </a:cxn>
                <a:cxn ang="0">
                  <a:pos x="942975" y="671512"/>
                </a:cxn>
                <a:cxn ang="0">
                  <a:pos x="457200" y="857250"/>
                </a:cxn>
                <a:cxn ang="0">
                  <a:pos x="85725" y="814387"/>
                </a:cxn>
                <a:cxn ang="0">
                  <a:pos x="0" y="785812"/>
                </a:cxn>
              </a:cxnLst>
              <a:pathLst>
                <a:path w="1557338" h="857250">
                  <a:moveTo>
                    <a:pt x="0" y="785812"/>
                  </a:moveTo>
                  <a:lnTo>
                    <a:pt x="171450" y="514350"/>
                  </a:lnTo>
                  <a:lnTo>
                    <a:pt x="571500" y="242887"/>
                  </a:lnTo>
                  <a:lnTo>
                    <a:pt x="1128713" y="14287"/>
                  </a:lnTo>
                  <a:lnTo>
                    <a:pt x="1557338" y="0"/>
                  </a:lnTo>
                  <a:lnTo>
                    <a:pt x="1371600" y="257175"/>
                  </a:lnTo>
                  <a:lnTo>
                    <a:pt x="942975" y="671512"/>
                  </a:lnTo>
                  <a:lnTo>
                    <a:pt x="457200" y="857250"/>
                  </a:lnTo>
                  <a:lnTo>
                    <a:pt x="85725" y="814387"/>
                  </a:lnTo>
                  <a:lnTo>
                    <a:pt x="0" y="785812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2" name="任意形状 2"/>
            <p:cNvSpPr/>
            <p:nvPr/>
          </p:nvSpPr>
          <p:spPr>
            <a:xfrm>
              <a:off x="3175" y="814388"/>
              <a:ext cx="914400" cy="1214437"/>
            </a:xfrm>
            <a:custGeom>
              <a:avLst/>
              <a:gdLst/>
              <a:ahLst/>
              <a:cxnLst>
                <a:cxn ang="0">
                  <a:pos x="171450" y="0"/>
                </a:cxn>
                <a:cxn ang="0">
                  <a:pos x="0" y="614362"/>
                </a:cxn>
                <a:cxn ang="0">
                  <a:pos x="557212" y="1214437"/>
                </a:cxn>
                <a:cxn ang="0">
                  <a:pos x="685800" y="1200150"/>
                </a:cxn>
                <a:cxn ang="0">
                  <a:pos x="914400" y="0"/>
                </a:cxn>
                <a:cxn ang="0">
                  <a:pos x="485775" y="71437"/>
                </a:cxn>
                <a:cxn ang="0">
                  <a:pos x="171450" y="0"/>
                </a:cxn>
              </a:cxnLst>
              <a:pathLst>
                <a:path w="914400" h="1214437">
                  <a:moveTo>
                    <a:pt x="171450" y="0"/>
                  </a:moveTo>
                  <a:lnTo>
                    <a:pt x="0" y="614362"/>
                  </a:lnTo>
                  <a:lnTo>
                    <a:pt x="557212" y="1214437"/>
                  </a:lnTo>
                  <a:lnTo>
                    <a:pt x="685800" y="1200150"/>
                  </a:lnTo>
                  <a:lnTo>
                    <a:pt x="914400" y="0"/>
                  </a:lnTo>
                  <a:lnTo>
                    <a:pt x="485775" y="71437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3" name="任意形状 3"/>
            <p:cNvSpPr/>
            <p:nvPr/>
          </p:nvSpPr>
          <p:spPr>
            <a:xfrm>
              <a:off x="788987" y="485775"/>
              <a:ext cx="642938" cy="1071563"/>
            </a:xfrm>
            <a:custGeom>
              <a:avLst/>
              <a:gdLst/>
              <a:ahLst/>
              <a:cxnLst>
                <a:cxn ang="0">
                  <a:pos x="628650" y="0"/>
                </a:cxn>
                <a:cxn ang="0">
                  <a:pos x="642938" y="485775"/>
                </a:cxn>
                <a:cxn ang="0">
                  <a:pos x="571500" y="700088"/>
                </a:cxn>
                <a:cxn ang="0">
                  <a:pos x="328613" y="828675"/>
                </a:cxn>
                <a:cxn ang="0">
                  <a:pos x="0" y="1071563"/>
                </a:cxn>
                <a:cxn ang="0">
                  <a:pos x="142875" y="285750"/>
                </a:cxn>
                <a:cxn ang="0">
                  <a:pos x="457200" y="142875"/>
                </a:cxn>
                <a:cxn ang="0">
                  <a:pos x="628650" y="0"/>
                </a:cxn>
              </a:cxnLst>
              <a:pathLst>
                <a:path w="642938" h="1071563">
                  <a:moveTo>
                    <a:pt x="628650" y="0"/>
                  </a:moveTo>
                  <a:lnTo>
                    <a:pt x="642938" y="485775"/>
                  </a:lnTo>
                  <a:lnTo>
                    <a:pt x="571500" y="700088"/>
                  </a:lnTo>
                  <a:lnTo>
                    <a:pt x="328613" y="828675"/>
                  </a:lnTo>
                  <a:lnTo>
                    <a:pt x="0" y="1071563"/>
                  </a:lnTo>
                  <a:lnTo>
                    <a:pt x="142875" y="285750"/>
                  </a:lnTo>
                  <a:lnTo>
                    <a:pt x="457200" y="142875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0070C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4" name="任意形状 5"/>
            <p:cNvSpPr/>
            <p:nvPr/>
          </p:nvSpPr>
          <p:spPr>
            <a:xfrm>
              <a:off x="731837" y="28575"/>
              <a:ext cx="1843088" cy="1857375"/>
            </a:xfrm>
            <a:custGeom>
              <a:avLst/>
              <a:gdLst/>
              <a:ahLst/>
              <a:cxnLst>
                <a:cxn ang="0">
                  <a:pos x="671513" y="442913"/>
                </a:cxn>
                <a:cxn ang="0">
                  <a:pos x="1057275" y="0"/>
                </a:cxn>
                <a:cxn ang="0">
                  <a:pos x="1785938" y="414338"/>
                </a:cxn>
                <a:cxn ang="0">
                  <a:pos x="1843088" y="542925"/>
                </a:cxn>
                <a:cxn ang="0">
                  <a:pos x="1400175" y="1057275"/>
                </a:cxn>
                <a:cxn ang="0">
                  <a:pos x="1042988" y="1371600"/>
                </a:cxn>
                <a:cxn ang="0">
                  <a:pos x="542925" y="1600200"/>
                </a:cxn>
                <a:cxn ang="0">
                  <a:pos x="0" y="1857375"/>
                </a:cxn>
                <a:cxn ang="0">
                  <a:pos x="57150" y="1543050"/>
                </a:cxn>
                <a:cxn ang="0">
                  <a:pos x="514350" y="1214438"/>
                </a:cxn>
                <a:cxn ang="0">
                  <a:pos x="642938" y="1171575"/>
                </a:cxn>
                <a:cxn ang="0">
                  <a:pos x="728663" y="900113"/>
                </a:cxn>
                <a:cxn ang="0">
                  <a:pos x="700088" y="514350"/>
                </a:cxn>
                <a:cxn ang="0">
                  <a:pos x="671513" y="442913"/>
                </a:cxn>
              </a:cxnLst>
              <a:pathLst>
                <a:path w="1843088" h="1857375">
                  <a:moveTo>
                    <a:pt x="671513" y="442913"/>
                  </a:moveTo>
                  <a:lnTo>
                    <a:pt x="1057275" y="0"/>
                  </a:lnTo>
                  <a:lnTo>
                    <a:pt x="1785938" y="414338"/>
                  </a:lnTo>
                  <a:lnTo>
                    <a:pt x="1843088" y="542925"/>
                  </a:lnTo>
                  <a:lnTo>
                    <a:pt x="1400175" y="1057275"/>
                  </a:lnTo>
                  <a:lnTo>
                    <a:pt x="1042988" y="1371600"/>
                  </a:lnTo>
                  <a:lnTo>
                    <a:pt x="542925" y="1600200"/>
                  </a:lnTo>
                  <a:lnTo>
                    <a:pt x="0" y="1857375"/>
                  </a:lnTo>
                  <a:lnTo>
                    <a:pt x="57150" y="1543050"/>
                  </a:lnTo>
                  <a:lnTo>
                    <a:pt x="514350" y="1214438"/>
                  </a:lnTo>
                  <a:lnTo>
                    <a:pt x="642938" y="1171575"/>
                  </a:lnTo>
                  <a:lnTo>
                    <a:pt x="728663" y="900113"/>
                  </a:lnTo>
                  <a:lnTo>
                    <a:pt x="700088" y="514350"/>
                  </a:lnTo>
                  <a:lnTo>
                    <a:pt x="671513" y="442913"/>
                  </a:lnTo>
                  <a:close/>
                </a:path>
              </a:pathLst>
            </a:cu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5" name="任意形状 6"/>
            <p:cNvSpPr/>
            <p:nvPr/>
          </p:nvSpPr>
          <p:spPr>
            <a:xfrm>
              <a:off x="1460500" y="957263"/>
              <a:ext cx="900112" cy="728662"/>
            </a:xfrm>
            <a:custGeom>
              <a:avLst/>
              <a:gdLst/>
              <a:ahLst/>
              <a:cxnLst>
                <a:cxn ang="0">
                  <a:pos x="814387" y="0"/>
                </a:cxn>
                <a:cxn ang="0">
                  <a:pos x="900112" y="328612"/>
                </a:cxn>
                <a:cxn ang="0">
                  <a:pos x="842962" y="542925"/>
                </a:cxn>
                <a:cxn ang="0">
                  <a:pos x="600075" y="685800"/>
                </a:cxn>
                <a:cxn ang="0">
                  <a:pos x="400050" y="728662"/>
                </a:cxn>
                <a:cxn ang="0">
                  <a:pos x="100012" y="642937"/>
                </a:cxn>
                <a:cxn ang="0">
                  <a:pos x="0" y="614362"/>
                </a:cxn>
                <a:cxn ang="0">
                  <a:pos x="328612" y="457200"/>
                </a:cxn>
                <a:cxn ang="0">
                  <a:pos x="528637" y="300037"/>
                </a:cxn>
                <a:cxn ang="0">
                  <a:pos x="728662" y="128587"/>
                </a:cxn>
                <a:cxn ang="0">
                  <a:pos x="814387" y="0"/>
                </a:cxn>
              </a:cxnLst>
              <a:pathLst>
                <a:path w="900112" h="728662">
                  <a:moveTo>
                    <a:pt x="814387" y="0"/>
                  </a:moveTo>
                  <a:lnTo>
                    <a:pt x="900112" y="328612"/>
                  </a:lnTo>
                  <a:lnTo>
                    <a:pt x="842962" y="542925"/>
                  </a:lnTo>
                  <a:lnTo>
                    <a:pt x="600075" y="685800"/>
                  </a:lnTo>
                  <a:lnTo>
                    <a:pt x="400050" y="728662"/>
                  </a:lnTo>
                  <a:lnTo>
                    <a:pt x="100012" y="642937"/>
                  </a:lnTo>
                  <a:lnTo>
                    <a:pt x="0" y="614362"/>
                  </a:lnTo>
                  <a:lnTo>
                    <a:pt x="328612" y="457200"/>
                  </a:lnTo>
                  <a:lnTo>
                    <a:pt x="528637" y="300037"/>
                  </a:lnTo>
                  <a:lnTo>
                    <a:pt x="728662" y="128587"/>
                  </a:lnTo>
                  <a:lnTo>
                    <a:pt x="814387" y="0"/>
                  </a:lnTo>
                  <a:close/>
                </a:path>
              </a:pathLst>
            </a:custGeom>
            <a:solidFill>
              <a:srgbClr val="0070C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6" name="任意形状 7"/>
            <p:cNvSpPr/>
            <p:nvPr/>
          </p:nvSpPr>
          <p:spPr>
            <a:xfrm>
              <a:off x="2217737" y="485775"/>
              <a:ext cx="1085850" cy="1528763"/>
            </a:xfrm>
            <a:custGeom>
              <a:avLst/>
              <a:gdLst/>
              <a:ahLst/>
              <a:cxnLst>
                <a:cxn ang="0">
                  <a:pos x="371475" y="0"/>
                </a:cxn>
                <a:cxn ang="0">
                  <a:pos x="757238" y="257175"/>
                </a:cxn>
                <a:cxn ang="0">
                  <a:pos x="757238" y="257175"/>
                </a:cxn>
                <a:cxn ang="0">
                  <a:pos x="1085850" y="557213"/>
                </a:cxn>
                <a:cxn ang="0">
                  <a:pos x="1071563" y="828675"/>
                </a:cxn>
                <a:cxn ang="0">
                  <a:pos x="842963" y="1143000"/>
                </a:cxn>
                <a:cxn ang="0">
                  <a:pos x="600075" y="1528763"/>
                </a:cxn>
                <a:cxn ang="0">
                  <a:pos x="314325" y="1500188"/>
                </a:cxn>
                <a:cxn ang="0">
                  <a:pos x="100013" y="1357313"/>
                </a:cxn>
                <a:cxn ang="0">
                  <a:pos x="0" y="1143000"/>
                </a:cxn>
                <a:cxn ang="0">
                  <a:pos x="0" y="1114425"/>
                </a:cxn>
                <a:cxn ang="0">
                  <a:pos x="157163" y="885825"/>
                </a:cxn>
                <a:cxn ang="0">
                  <a:pos x="128588" y="671513"/>
                </a:cxn>
                <a:cxn ang="0">
                  <a:pos x="71438" y="514350"/>
                </a:cxn>
                <a:cxn ang="0">
                  <a:pos x="71438" y="485775"/>
                </a:cxn>
                <a:cxn ang="0">
                  <a:pos x="242888" y="242888"/>
                </a:cxn>
                <a:cxn ang="0">
                  <a:pos x="371475" y="0"/>
                </a:cxn>
              </a:cxnLst>
              <a:pathLst>
                <a:path w="1085850" h="1528763">
                  <a:moveTo>
                    <a:pt x="371475" y="0"/>
                  </a:moveTo>
                  <a:lnTo>
                    <a:pt x="757238" y="257175"/>
                  </a:lnTo>
                  <a:lnTo>
                    <a:pt x="1085850" y="557213"/>
                  </a:lnTo>
                  <a:lnTo>
                    <a:pt x="1071563" y="828675"/>
                  </a:lnTo>
                  <a:lnTo>
                    <a:pt x="842963" y="1143000"/>
                  </a:lnTo>
                  <a:lnTo>
                    <a:pt x="600075" y="1528763"/>
                  </a:lnTo>
                  <a:lnTo>
                    <a:pt x="314325" y="1500188"/>
                  </a:lnTo>
                  <a:lnTo>
                    <a:pt x="100013" y="1357313"/>
                  </a:lnTo>
                  <a:lnTo>
                    <a:pt x="0" y="1143000"/>
                  </a:lnTo>
                  <a:lnTo>
                    <a:pt x="0" y="1114425"/>
                  </a:lnTo>
                  <a:lnTo>
                    <a:pt x="157163" y="885825"/>
                  </a:lnTo>
                  <a:lnTo>
                    <a:pt x="128588" y="671513"/>
                  </a:lnTo>
                  <a:lnTo>
                    <a:pt x="71438" y="514350"/>
                  </a:lnTo>
                  <a:lnTo>
                    <a:pt x="71438" y="485775"/>
                  </a:lnTo>
                  <a:lnTo>
                    <a:pt x="242888" y="242888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07" name="任意形状 8"/>
            <p:cNvSpPr/>
            <p:nvPr/>
          </p:nvSpPr>
          <p:spPr>
            <a:xfrm>
              <a:off x="544058" y="1560739"/>
              <a:ext cx="2275115" cy="957943"/>
            </a:xfrm>
            <a:custGeom>
              <a:avLst/>
              <a:gdLst/>
              <a:ahLst/>
              <a:cxnLst>
                <a:cxn ang="0">
                  <a:pos x="1632858" y="43543"/>
                </a:cxn>
                <a:cxn ang="0">
                  <a:pos x="1393372" y="141515"/>
                </a:cxn>
                <a:cxn ang="0">
                  <a:pos x="1295400" y="130629"/>
                </a:cxn>
                <a:cxn ang="0">
                  <a:pos x="1121229" y="97972"/>
                </a:cxn>
                <a:cxn ang="0">
                  <a:pos x="925286" y="0"/>
                </a:cxn>
                <a:cxn ang="0">
                  <a:pos x="576943" y="152400"/>
                </a:cxn>
                <a:cxn ang="0">
                  <a:pos x="239486" y="326572"/>
                </a:cxn>
                <a:cxn ang="0">
                  <a:pos x="152400" y="337457"/>
                </a:cxn>
                <a:cxn ang="0">
                  <a:pos x="152400" y="468086"/>
                </a:cxn>
                <a:cxn ang="0">
                  <a:pos x="0" y="500743"/>
                </a:cxn>
                <a:cxn ang="0">
                  <a:pos x="293915" y="674915"/>
                </a:cxn>
                <a:cxn ang="0">
                  <a:pos x="566058" y="849086"/>
                </a:cxn>
                <a:cxn ang="0">
                  <a:pos x="990600" y="947057"/>
                </a:cxn>
                <a:cxn ang="0">
                  <a:pos x="1458686" y="957943"/>
                </a:cxn>
                <a:cxn ang="0">
                  <a:pos x="1828800" y="947057"/>
                </a:cxn>
                <a:cxn ang="0">
                  <a:pos x="2068286" y="751115"/>
                </a:cxn>
                <a:cxn ang="0">
                  <a:pos x="2253343" y="544286"/>
                </a:cxn>
                <a:cxn ang="0">
                  <a:pos x="2275115" y="468086"/>
                </a:cxn>
                <a:cxn ang="0">
                  <a:pos x="2002972" y="435429"/>
                </a:cxn>
                <a:cxn ang="0">
                  <a:pos x="1839686" y="337457"/>
                </a:cxn>
                <a:cxn ang="0">
                  <a:pos x="1785258" y="304800"/>
                </a:cxn>
                <a:cxn ang="0">
                  <a:pos x="1632858" y="43543"/>
                </a:cxn>
              </a:cxnLst>
              <a:pathLst>
                <a:path w="2275115" h="957943">
                  <a:moveTo>
                    <a:pt x="1632858" y="43543"/>
                  </a:moveTo>
                  <a:lnTo>
                    <a:pt x="1393372" y="141515"/>
                  </a:lnTo>
                  <a:lnTo>
                    <a:pt x="1295400" y="130629"/>
                  </a:lnTo>
                  <a:lnTo>
                    <a:pt x="1121229" y="97972"/>
                  </a:lnTo>
                  <a:lnTo>
                    <a:pt x="925286" y="0"/>
                  </a:lnTo>
                  <a:lnTo>
                    <a:pt x="576943" y="152400"/>
                  </a:lnTo>
                  <a:lnTo>
                    <a:pt x="239486" y="326572"/>
                  </a:lnTo>
                  <a:lnTo>
                    <a:pt x="152400" y="337457"/>
                  </a:lnTo>
                  <a:lnTo>
                    <a:pt x="152400" y="468086"/>
                  </a:lnTo>
                  <a:lnTo>
                    <a:pt x="0" y="500743"/>
                  </a:lnTo>
                  <a:lnTo>
                    <a:pt x="293915" y="674915"/>
                  </a:lnTo>
                  <a:lnTo>
                    <a:pt x="566058" y="849086"/>
                  </a:lnTo>
                  <a:lnTo>
                    <a:pt x="990600" y="947057"/>
                  </a:lnTo>
                  <a:lnTo>
                    <a:pt x="1458686" y="957943"/>
                  </a:lnTo>
                  <a:lnTo>
                    <a:pt x="1828800" y="947057"/>
                  </a:lnTo>
                  <a:lnTo>
                    <a:pt x="2068286" y="751115"/>
                  </a:lnTo>
                  <a:lnTo>
                    <a:pt x="2253343" y="544286"/>
                  </a:lnTo>
                  <a:lnTo>
                    <a:pt x="2275115" y="468086"/>
                  </a:lnTo>
                  <a:lnTo>
                    <a:pt x="2002972" y="435429"/>
                  </a:lnTo>
                  <a:lnTo>
                    <a:pt x="1839686" y="337457"/>
                  </a:lnTo>
                  <a:lnTo>
                    <a:pt x="1785258" y="304800"/>
                  </a:lnTo>
                  <a:lnTo>
                    <a:pt x="1632858" y="43543"/>
                  </a:lnTo>
                  <a:close/>
                </a:path>
              </a:pathLst>
            </a:custGeom>
            <a:solidFill>
              <a:srgbClr val="00E4A8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cxnSp>
        <p:nvCxnSpPr>
          <p:cNvPr id="10" name="直接连接符 9"/>
          <p:cNvCxnSpPr>
            <a:stCxn id="2" idx="2"/>
            <a:endCxn id="20510" idx="7"/>
          </p:cNvCxnSpPr>
          <p:nvPr/>
        </p:nvCxnSpPr>
        <p:spPr>
          <a:xfrm flipH="1">
            <a:off x="5476875" y="2238375"/>
            <a:ext cx="1688465" cy="4273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85" name="标题 1"/>
          <p:cNvSpPr>
            <a:spLocks noGrp="1"/>
          </p:cNvSpPr>
          <p:nvPr/>
        </p:nvSpPr>
        <p:spPr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</a:ln>
          <a:effectLst>
            <a:outerShdw dist="12700" algn="ctr" rotWithShape="0">
              <a:schemeClr val="bg2"/>
            </a:outerShdw>
          </a:effectLst>
        </p:spPr>
        <p:txBody>
          <a:bodyPr vert="horz" wrap="square" lIns="91440" tIns="45720" rIns="91440" bIns="45720" anchor="b" anchorCtr="0"/>
          <a:lstStyle>
            <a:lvl1pPr marL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面着色与对偶图点着色</a:t>
            </a:r>
            <a:endParaRPr lang="zh-CN" altLang="en-US"/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平面图的点着色</a:t>
            </a:r>
            <a:endParaRPr lang="zh-CN" altLang="en-US"/>
          </a:p>
        </p:txBody>
      </p:sp>
      <p:sp>
        <p:nvSpPr>
          <p:cNvPr id="39938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12.15</a:t>
            </a:r>
            <a:r>
              <a:rPr lang="en-US" altLang="zh-CN"/>
              <a:t>: </a:t>
            </a:r>
            <a:r>
              <a:rPr lang="zh-CN" altLang="en-US"/>
              <a:t>任何平面图都</a:t>
            </a:r>
            <a:r>
              <a:rPr lang="en-US" altLang="zh-CN"/>
              <a:t>6-</a:t>
            </a:r>
            <a:r>
              <a:rPr lang="zh-CN" altLang="en-US"/>
              <a:t>可着色</a:t>
            </a:r>
            <a:endParaRPr lang="zh-CN" altLang="en-US"/>
          </a:p>
          <a:p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(</a:t>
            </a:r>
            <a:r>
              <a:rPr lang="zh-CN" altLang="en-US"/>
              <a:t>归纳法</a:t>
            </a:r>
            <a:r>
              <a:rPr lang="en-US" altLang="zh-CN"/>
              <a:t>) (1) </a:t>
            </a:r>
            <a:r>
              <a:rPr lang="en-US" altLang="zh-CN" i="1"/>
              <a:t>n&lt;</a:t>
            </a:r>
            <a:r>
              <a:rPr lang="en-US" altLang="zh-CN"/>
              <a:t>7: </a:t>
            </a:r>
            <a:r>
              <a:rPr lang="zh-CN" altLang="en-US"/>
              <a:t>结论为真</a:t>
            </a:r>
            <a:r>
              <a:rPr lang="en-US" altLang="zh-CN"/>
              <a:t>.</a:t>
            </a:r>
            <a:endParaRPr lang="en-US" altLang="zh-CN"/>
          </a:p>
          <a:p>
            <a:pPr>
              <a:buNone/>
            </a:pPr>
            <a:r>
              <a:rPr lang="en-US" altLang="zh-CN"/>
              <a:t>(2) </a:t>
            </a:r>
            <a:r>
              <a:rPr lang="zh-CN" altLang="en-US"/>
              <a:t>设</a:t>
            </a:r>
            <a:r>
              <a:rPr lang="en-US" altLang="zh-CN" i="1"/>
              <a:t>n</a:t>
            </a:r>
            <a:r>
              <a:rPr lang="en-US" altLang="zh-CN"/>
              <a:t>=</a:t>
            </a:r>
            <a:r>
              <a:rPr lang="en-US" altLang="zh-CN" i="1"/>
              <a:t>k</a:t>
            </a:r>
            <a:r>
              <a:rPr lang="en-US" altLang="zh-CN"/>
              <a:t>(</a:t>
            </a:r>
            <a:r>
              <a:rPr lang="zh-CN" altLang="en-US"/>
              <a:t>≥</a:t>
            </a:r>
            <a:r>
              <a:rPr lang="en-US" altLang="zh-CN"/>
              <a:t>7)</a:t>
            </a:r>
            <a:r>
              <a:rPr lang="zh-CN" altLang="en-US"/>
              <a:t>时结论为真</a:t>
            </a:r>
            <a:r>
              <a:rPr lang="en-US" altLang="zh-CN"/>
              <a:t>. </a:t>
            </a:r>
            <a:r>
              <a:rPr lang="en-US" altLang="zh-CN" i="1"/>
              <a:t>n</a:t>
            </a:r>
            <a:r>
              <a:rPr lang="en-US" altLang="zh-CN"/>
              <a:t>=</a:t>
            </a:r>
            <a:r>
              <a:rPr lang="en-US" altLang="zh-CN" i="1"/>
              <a:t>k</a:t>
            </a:r>
            <a:r>
              <a:rPr lang="en-US" altLang="zh-CN"/>
              <a:t>+1</a:t>
            </a:r>
            <a:r>
              <a:rPr lang="zh-CN" altLang="en-US"/>
              <a:t>时</a:t>
            </a:r>
            <a:r>
              <a:rPr lang="en-US" altLang="zh-CN"/>
              <a:t>,</a:t>
            </a:r>
            <a:endParaRPr lang="en-US" altLang="zh-CN"/>
          </a:p>
          <a:p>
            <a:pPr>
              <a:buNone/>
            </a:pPr>
            <a:r>
              <a:rPr lang="zh-CN" altLang="en-US"/>
              <a:t>（</a:t>
            </a:r>
            <a:r>
              <a:rPr lang="zh-CN" altLang="en-US">
                <a:solidFill>
                  <a:srgbClr val="FF0000"/>
                </a:solidFill>
              </a:rPr>
              <a:t>定理</a:t>
            </a:r>
            <a:r>
              <a:rPr lang="en-US" altLang="zh-CN">
                <a:solidFill>
                  <a:srgbClr val="FF0000"/>
                </a:solidFill>
              </a:rPr>
              <a:t>11.12</a:t>
            </a:r>
            <a:r>
              <a:rPr lang="zh-CN" altLang="en-US"/>
              <a:t>）∃</a:t>
            </a:r>
            <a:r>
              <a:rPr lang="en-US" altLang="zh-CN" i="1"/>
              <a:t>v</a:t>
            </a:r>
            <a:r>
              <a:rPr lang="zh-CN" altLang="en-US"/>
              <a:t>∈</a:t>
            </a:r>
            <a:r>
              <a:rPr lang="en-US" altLang="zh-CN" i="1"/>
              <a:t>V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), </a:t>
            </a:r>
            <a:r>
              <a:rPr lang="en-US" altLang="zh-CN" i="1"/>
              <a:t>d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)</a:t>
            </a:r>
            <a:r>
              <a:rPr lang="zh-CN" altLang="en-US"/>
              <a:t>≤</a:t>
            </a:r>
            <a:r>
              <a:rPr lang="en-US" altLang="zh-CN"/>
              <a:t>5. </a:t>
            </a:r>
            <a:r>
              <a:rPr lang="zh-CN" altLang="en-US"/>
              <a:t>令</a:t>
            </a:r>
            <a:r>
              <a:rPr lang="en-US" altLang="zh-CN" i="1"/>
              <a:t>G</a:t>
            </a:r>
            <a:r>
              <a:rPr lang="en-US" altLang="zh-CN" baseline="-25000"/>
              <a:t>1</a:t>
            </a:r>
            <a:r>
              <a:rPr lang="en-US" altLang="zh-CN"/>
              <a:t>=</a:t>
            </a:r>
            <a:r>
              <a:rPr lang="en-US" altLang="zh-CN" i="1"/>
              <a:t>G</a:t>
            </a:r>
            <a:r>
              <a:rPr lang="en-US" altLang="zh-CN"/>
              <a:t>-</a:t>
            </a:r>
            <a:r>
              <a:rPr lang="en-US" altLang="zh-CN" i="1"/>
              <a:t>v</a:t>
            </a:r>
            <a:r>
              <a:rPr lang="en-US" altLang="zh-CN"/>
              <a:t>, </a:t>
            </a:r>
            <a:r>
              <a:rPr lang="zh-CN" altLang="en-US"/>
              <a:t>故</a:t>
            </a:r>
            <a:r>
              <a:rPr lang="en-US" altLang="zh-CN" i="1"/>
              <a:t>G</a:t>
            </a:r>
            <a:r>
              <a:rPr lang="en-US" altLang="zh-CN" baseline="-25000"/>
              <a:t>1</a:t>
            </a:r>
            <a:r>
              <a:rPr lang="zh-CN" altLang="en-US"/>
              <a:t>可</a:t>
            </a:r>
            <a:r>
              <a:rPr lang="en-US" altLang="zh-CN"/>
              <a:t>6-</a:t>
            </a:r>
            <a:r>
              <a:rPr lang="zh-CN" altLang="en-US"/>
              <a:t>着色</a:t>
            </a:r>
            <a:r>
              <a:rPr lang="en-US" altLang="zh-CN"/>
              <a:t>. </a:t>
            </a:r>
            <a:r>
              <a:rPr lang="zh-CN" altLang="en-US"/>
              <a:t>先对</a:t>
            </a:r>
            <a:r>
              <a:rPr lang="en-US" altLang="zh-CN" i="1"/>
              <a:t>G</a:t>
            </a:r>
            <a:r>
              <a:rPr lang="en-US" altLang="zh-CN" baseline="-25000"/>
              <a:t>1</a:t>
            </a:r>
            <a:r>
              <a:rPr lang="zh-CN" altLang="en-US"/>
              <a:t>进行</a:t>
            </a:r>
            <a:r>
              <a:rPr lang="en-US" altLang="zh-CN"/>
              <a:t>6</a:t>
            </a:r>
            <a:r>
              <a:rPr lang="zh-CN" altLang="en-US"/>
              <a:t>着色，模仿</a:t>
            </a:r>
            <a:r>
              <a:rPr lang="en-US" altLang="zh-CN" i="1"/>
              <a:t>G</a:t>
            </a:r>
            <a:r>
              <a:rPr lang="en-US" altLang="zh-CN" baseline="-25000"/>
              <a:t>1</a:t>
            </a:r>
            <a:r>
              <a:rPr lang="zh-CN" altLang="en-US"/>
              <a:t>对</a:t>
            </a:r>
            <a:r>
              <a:rPr lang="en-US" altLang="zh-CN"/>
              <a:t>G</a:t>
            </a:r>
            <a:r>
              <a:rPr lang="zh-CN" altLang="en-US"/>
              <a:t>着色。与</a:t>
            </a:r>
            <a:r>
              <a:rPr lang="en-US" altLang="zh-CN" i="1"/>
              <a:t>v</a:t>
            </a:r>
            <a:r>
              <a:rPr lang="zh-CN" altLang="en-US"/>
              <a:t>相邻的点不超过</a:t>
            </a:r>
            <a:r>
              <a:rPr lang="en-US" altLang="zh-CN"/>
              <a:t>5</a:t>
            </a:r>
            <a:r>
              <a:rPr lang="zh-CN" altLang="en-US"/>
              <a:t>个</a:t>
            </a:r>
            <a:r>
              <a:rPr lang="en-US" altLang="zh-CN"/>
              <a:t>, </a:t>
            </a:r>
            <a:r>
              <a:rPr lang="zh-CN" altLang="en-US"/>
              <a:t>至少剩</a:t>
            </a:r>
            <a:r>
              <a:rPr lang="en-US" altLang="zh-CN"/>
              <a:t>1</a:t>
            </a:r>
            <a:r>
              <a:rPr lang="zh-CN" altLang="en-US"/>
              <a:t>种颜色给</a:t>
            </a:r>
            <a:r>
              <a:rPr lang="en-US" altLang="zh-CN" i="1"/>
              <a:t>v</a:t>
            </a:r>
            <a:r>
              <a:rPr lang="zh-CN" altLang="en-US"/>
              <a:t>着色</a:t>
            </a:r>
            <a:r>
              <a:rPr lang="en-US" altLang="zh-CN"/>
              <a:t>,</a:t>
            </a:r>
            <a:r>
              <a:rPr lang="zh-CN" altLang="en-US"/>
              <a:t>所以</a:t>
            </a:r>
            <a:r>
              <a:rPr lang="en-US" altLang="zh-CN"/>
              <a:t>G</a:t>
            </a:r>
            <a:r>
              <a:rPr lang="zh-CN" altLang="en-US"/>
              <a:t>可</a:t>
            </a:r>
            <a:r>
              <a:rPr lang="en-US" altLang="zh-CN"/>
              <a:t>6-</a:t>
            </a:r>
            <a:r>
              <a:rPr lang="zh-CN" altLang="en-US"/>
              <a:t>着色</a:t>
            </a:r>
            <a:r>
              <a:rPr lang="en-US" altLang="zh-CN"/>
              <a:t>. </a:t>
            </a:r>
            <a:endParaRPr lang="zh-CN" altLang="en-US"/>
          </a:p>
        </p:txBody>
      </p:sp>
      <p:sp>
        <p:nvSpPr>
          <p:cNvPr id="4301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/>
            </a:fld>
            <a:endParaRPr lang="en-US" altLang="zh-CN" sz="1400" b="0" i="0"/>
          </a:p>
        </p:txBody>
      </p:sp>
      <p:grpSp>
        <p:nvGrpSpPr>
          <p:cNvPr id="43012" name="组合 5"/>
          <p:cNvGrpSpPr/>
          <p:nvPr/>
        </p:nvGrpSpPr>
        <p:grpSpPr>
          <a:xfrm>
            <a:off x="6372225" y="4941888"/>
            <a:ext cx="1871663" cy="1511300"/>
            <a:chOff x="6444332" y="692696"/>
            <a:chExt cx="1871960" cy="1512113"/>
          </a:xfrm>
        </p:grpSpPr>
        <p:cxnSp>
          <p:nvCxnSpPr>
            <p:cNvPr id="43013" name="直接连接符 12"/>
            <p:cNvCxnSpPr/>
            <p:nvPr/>
          </p:nvCxnSpPr>
          <p:spPr>
            <a:xfrm rot="5400000">
              <a:off x="7096559" y="1201030"/>
              <a:ext cx="679755" cy="317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" name="椭圆 6"/>
            <p:cNvSpPr/>
            <p:nvPr/>
          </p:nvSpPr>
          <p:spPr bwMode="auto">
            <a:xfrm>
              <a:off x="6444332" y="1052736"/>
              <a:ext cx="215900" cy="21596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7308304" y="1484784"/>
              <a:ext cx="215900" cy="215969"/>
            </a:xfrm>
            <a:prstGeom prst="ellipse">
              <a:avLst/>
            </a:prstGeom>
            <a:solidFill>
              <a:srgbClr val="FF00FF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6660356" y="1916887"/>
              <a:ext cx="215900" cy="215969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7323504" y="692696"/>
              <a:ext cx="215900" cy="215969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8100392" y="112474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7956376" y="1988840"/>
              <a:ext cx="215900" cy="215969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43020" name="直接连接符 13"/>
            <p:cNvCxnSpPr/>
            <p:nvPr/>
          </p:nvCxnSpPr>
          <p:spPr>
            <a:xfrm rot="-5400000" flipH="1">
              <a:off x="6790613" y="1075078"/>
              <a:ext cx="355692" cy="6796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021" name="直接连接符 14"/>
            <p:cNvCxnSpPr/>
            <p:nvPr/>
          </p:nvCxnSpPr>
          <p:spPr>
            <a:xfrm rot="5400000" flipH="1" flipV="1">
              <a:off x="6952585" y="1561178"/>
              <a:ext cx="279390" cy="4952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022" name="直接连接符 15"/>
            <p:cNvCxnSpPr/>
            <p:nvPr/>
          </p:nvCxnSpPr>
          <p:spPr>
            <a:xfrm flipV="1">
              <a:off x="7524204" y="1309085"/>
              <a:ext cx="607806" cy="2836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023" name="直接连接符 16"/>
            <p:cNvCxnSpPr/>
            <p:nvPr/>
          </p:nvCxnSpPr>
          <p:spPr>
            <a:xfrm rot="-5400000" flipH="1">
              <a:off x="7488279" y="1628728"/>
              <a:ext cx="396072" cy="54012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charRg st="21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charRg st="46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charRg st="73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五色定理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1986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12.16</a:t>
            </a:r>
            <a:r>
              <a:rPr lang="en-US" altLang="zh-CN"/>
              <a:t>(Heawood,1890): </a:t>
            </a:r>
            <a:r>
              <a:rPr lang="zh-CN" altLang="en-US"/>
              <a:t>任何平面图都</a:t>
            </a:r>
            <a:r>
              <a:rPr lang="en-US" altLang="zh-CN"/>
              <a:t>5-</a:t>
            </a:r>
            <a:r>
              <a:rPr lang="zh-CN" altLang="en-US"/>
              <a:t>可着色</a:t>
            </a:r>
            <a:r>
              <a:rPr lang="en-US" altLang="zh-CN"/>
              <a:t>.</a:t>
            </a:r>
            <a:endParaRPr lang="en-US" altLang="zh-CN"/>
          </a:p>
          <a:p>
            <a:pPr>
              <a:buNone/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:</a:t>
            </a:r>
            <a:r>
              <a:rPr lang="en-US" altLang="zh-CN"/>
              <a:t> (</a:t>
            </a:r>
            <a:r>
              <a:rPr lang="zh-CN" altLang="en-US"/>
              <a:t>归纳法</a:t>
            </a:r>
            <a:r>
              <a:rPr lang="en-US" altLang="zh-CN"/>
              <a:t>) (1) </a:t>
            </a:r>
            <a:r>
              <a:rPr lang="en-US" altLang="zh-CN" i="1"/>
              <a:t>n&lt;</a:t>
            </a:r>
            <a:r>
              <a:rPr lang="en-US" altLang="zh-CN"/>
              <a:t>6: </a:t>
            </a:r>
            <a:r>
              <a:rPr lang="zh-CN" altLang="en-US"/>
              <a:t>结论为真</a:t>
            </a:r>
            <a:r>
              <a:rPr lang="en-US" altLang="zh-CN"/>
              <a:t>.</a:t>
            </a:r>
            <a:endParaRPr lang="en-US" altLang="zh-CN"/>
          </a:p>
          <a:p>
            <a:pPr>
              <a:buNone/>
            </a:pPr>
            <a:r>
              <a:rPr lang="en-US" altLang="zh-CN"/>
              <a:t>(2) </a:t>
            </a:r>
            <a:r>
              <a:rPr lang="zh-CN" altLang="en-US"/>
              <a:t>设</a:t>
            </a:r>
            <a:r>
              <a:rPr lang="en-US" altLang="zh-CN" i="1"/>
              <a:t>n</a:t>
            </a:r>
            <a:r>
              <a:rPr lang="en-US" altLang="zh-CN"/>
              <a:t>=</a:t>
            </a:r>
            <a:r>
              <a:rPr lang="en-US" altLang="zh-CN" i="1"/>
              <a:t>k</a:t>
            </a:r>
            <a:r>
              <a:rPr lang="en-US" altLang="zh-CN"/>
              <a:t>(</a:t>
            </a:r>
            <a:r>
              <a:rPr lang="zh-CN" altLang="en-US"/>
              <a:t>≥</a:t>
            </a:r>
            <a:r>
              <a:rPr lang="en-US" altLang="zh-CN"/>
              <a:t>6)</a:t>
            </a:r>
            <a:r>
              <a:rPr lang="zh-CN" altLang="en-US"/>
              <a:t>时结论为真</a:t>
            </a:r>
            <a:r>
              <a:rPr lang="en-US" altLang="zh-CN"/>
              <a:t>. </a:t>
            </a:r>
            <a:r>
              <a:rPr lang="en-US" altLang="zh-CN" i="1"/>
              <a:t>n</a:t>
            </a:r>
            <a:r>
              <a:rPr lang="en-US" altLang="zh-CN"/>
              <a:t>=</a:t>
            </a:r>
            <a:r>
              <a:rPr lang="en-US" altLang="zh-CN" i="1"/>
              <a:t>k</a:t>
            </a:r>
            <a:r>
              <a:rPr lang="en-US" altLang="zh-CN"/>
              <a:t>+1</a:t>
            </a:r>
            <a:r>
              <a:rPr lang="zh-CN" altLang="en-US"/>
              <a:t>时</a:t>
            </a:r>
            <a:r>
              <a:rPr lang="en-US" altLang="zh-CN"/>
              <a:t>,</a:t>
            </a:r>
            <a:endParaRPr lang="en-US" altLang="zh-CN"/>
          </a:p>
          <a:p>
            <a:pPr>
              <a:buNone/>
            </a:pPr>
            <a:r>
              <a:rPr lang="zh-CN" altLang="en-US"/>
              <a:t>∃</a:t>
            </a:r>
            <a:r>
              <a:rPr lang="en-US" altLang="zh-CN" i="1"/>
              <a:t>v</a:t>
            </a:r>
            <a:r>
              <a:rPr lang="zh-CN" altLang="en-US"/>
              <a:t>∈</a:t>
            </a:r>
            <a:r>
              <a:rPr lang="en-US" altLang="zh-CN" i="1"/>
              <a:t>V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), </a:t>
            </a:r>
            <a:r>
              <a:rPr lang="en-US" altLang="zh-CN" i="1"/>
              <a:t>d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)</a:t>
            </a:r>
            <a:r>
              <a:rPr lang="zh-CN" altLang="en-US"/>
              <a:t>≤</a:t>
            </a:r>
            <a:r>
              <a:rPr lang="en-US" altLang="zh-CN"/>
              <a:t>5. </a:t>
            </a:r>
            <a:r>
              <a:rPr lang="zh-CN" altLang="en-US"/>
              <a:t>令</a:t>
            </a:r>
            <a:r>
              <a:rPr lang="en-US" altLang="zh-CN" i="1"/>
              <a:t>G</a:t>
            </a:r>
            <a:r>
              <a:rPr lang="en-US" altLang="zh-CN" baseline="-25000"/>
              <a:t>1</a:t>
            </a:r>
            <a:r>
              <a:rPr lang="en-US" altLang="zh-CN"/>
              <a:t>=</a:t>
            </a:r>
            <a:r>
              <a:rPr lang="en-US" altLang="zh-CN" i="1"/>
              <a:t>G</a:t>
            </a:r>
            <a:r>
              <a:rPr lang="en-US" altLang="zh-CN"/>
              <a:t>-</a:t>
            </a:r>
            <a:r>
              <a:rPr lang="en-US" altLang="zh-CN" i="1"/>
              <a:t>v</a:t>
            </a:r>
            <a:r>
              <a:rPr lang="en-US" altLang="zh-CN"/>
              <a:t>, </a:t>
            </a:r>
            <a:r>
              <a:rPr lang="zh-CN" altLang="en-US"/>
              <a:t>对</a:t>
            </a:r>
            <a:r>
              <a:rPr lang="en-US" altLang="zh-CN"/>
              <a:t>G</a:t>
            </a:r>
            <a:r>
              <a:rPr lang="en-US" altLang="zh-CN" baseline="-25000"/>
              <a:t>1</a:t>
            </a:r>
            <a:r>
              <a:rPr lang="zh-CN" altLang="en-US"/>
              <a:t>用归纳假设</a:t>
            </a:r>
            <a:r>
              <a:rPr lang="en-US" altLang="zh-CN"/>
              <a:t>, G</a:t>
            </a:r>
            <a:r>
              <a:rPr lang="en-US" altLang="zh-CN" baseline="-25000"/>
              <a:t>1</a:t>
            </a:r>
            <a:r>
              <a:rPr lang="zh-CN" altLang="en-US"/>
              <a:t>可</a:t>
            </a:r>
            <a:r>
              <a:rPr lang="en-US" altLang="zh-CN"/>
              <a:t>5-</a:t>
            </a:r>
            <a:r>
              <a:rPr lang="zh-CN" altLang="en-US"/>
              <a:t>着色</a:t>
            </a:r>
            <a:r>
              <a:rPr lang="en-US" altLang="zh-CN"/>
              <a:t>. </a:t>
            </a:r>
            <a:r>
              <a:rPr lang="zh-CN" altLang="en-US"/>
              <a:t>模仿</a:t>
            </a:r>
            <a:r>
              <a:rPr lang="en-US" altLang="zh-CN"/>
              <a:t>G</a:t>
            </a:r>
            <a:r>
              <a:rPr lang="en-US" altLang="zh-CN" baseline="-25000"/>
              <a:t>1</a:t>
            </a:r>
            <a:r>
              <a:rPr lang="zh-CN" altLang="en-US"/>
              <a:t>对</a:t>
            </a:r>
            <a:r>
              <a:rPr lang="en-US" altLang="zh-CN"/>
              <a:t>G</a:t>
            </a:r>
            <a:r>
              <a:rPr lang="zh-CN" altLang="en-US"/>
              <a:t>着色</a:t>
            </a:r>
            <a:r>
              <a:rPr lang="en-US" altLang="zh-CN"/>
              <a:t>, </a:t>
            </a:r>
            <a:endParaRPr lang="en-US" altLang="zh-CN"/>
          </a:p>
          <a:p>
            <a:pPr>
              <a:buNone/>
            </a:pPr>
            <a:r>
              <a:rPr lang="en-US" altLang="zh-CN"/>
              <a:t> </a:t>
            </a:r>
            <a:r>
              <a:rPr lang="en-US" altLang="zh-CN" i="1"/>
              <a:t> a</a:t>
            </a:r>
            <a:r>
              <a:rPr lang="en-US" altLang="zh-CN"/>
              <a:t>)</a:t>
            </a:r>
            <a:r>
              <a:rPr lang="zh-CN" altLang="en-US"/>
              <a:t>当</a:t>
            </a:r>
            <a:r>
              <a:rPr lang="en-US" altLang="zh-CN" i="1"/>
              <a:t>d</a:t>
            </a:r>
            <a:r>
              <a:rPr lang="en-US" altLang="zh-CN"/>
              <a:t>(</a:t>
            </a:r>
            <a:r>
              <a:rPr lang="en-US" altLang="zh-CN" i="1"/>
              <a:t>v</a:t>
            </a:r>
            <a:r>
              <a:rPr lang="en-US" altLang="zh-CN"/>
              <a:t>)</a:t>
            </a:r>
            <a:r>
              <a:rPr lang="zh-CN" altLang="en-US"/>
              <a:t>≤</a:t>
            </a:r>
            <a:r>
              <a:rPr lang="en-US" altLang="zh-CN"/>
              <a:t>5, </a:t>
            </a:r>
            <a:r>
              <a:rPr lang="zh-CN" altLang="en-US"/>
              <a:t>且与</a:t>
            </a:r>
            <a:r>
              <a:rPr lang="en-US" altLang="zh-CN" i="1"/>
              <a:t>v</a:t>
            </a:r>
            <a:r>
              <a:rPr lang="zh-CN" altLang="en-US"/>
              <a:t>相邻的点用了少于</a:t>
            </a:r>
            <a:r>
              <a:rPr lang="en-US" altLang="zh-CN"/>
              <a:t>5</a:t>
            </a:r>
            <a:r>
              <a:rPr lang="zh-CN" altLang="en-US"/>
              <a:t>种颜色时</a:t>
            </a:r>
            <a:r>
              <a:rPr lang="en-US" altLang="zh-CN"/>
              <a:t>, </a:t>
            </a:r>
            <a:r>
              <a:rPr lang="zh-CN" altLang="en-US"/>
              <a:t>至少剩</a:t>
            </a:r>
            <a:r>
              <a:rPr lang="en-US" altLang="zh-CN"/>
              <a:t>1</a:t>
            </a:r>
            <a:r>
              <a:rPr lang="zh-CN" altLang="en-US"/>
              <a:t>种颜色给</a:t>
            </a:r>
            <a:r>
              <a:rPr lang="en-US" altLang="zh-CN" i="1"/>
              <a:t>v</a:t>
            </a:r>
            <a:r>
              <a:rPr lang="zh-CN" altLang="en-US"/>
              <a:t>着色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4403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/>
            </a:fld>
            <a:endParaRPr lang="en-US" altLang="zh-CN" sz="1400" b="0" i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charRg st="36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charRg st="61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charRg st="88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charRg st="144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五色定理（续）</a:t>
            </a:r>
            <a:endParaRPr lang="zh-CN" altLang="en-US"/>
          </a:p>
        </p:txBody>
      </p:sp>
      <p:sp>
        <p:nvSpPr>
          <p:cNvPr id="45058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>
                <a:solidFill>
                  <a:schemeClr val="hlink"/>
                </a:solidFill>
              </a:rPr>
              <a:t>(</a:t>
            </a:r>
            <a:r>
              <a:rPr lang="zh-CN" altLang="en-US">
                <a:solidFill>
                  <a:schemeClr val="hlink"/>
                </a:solidFill>
              </a:rPr>
              <a:t>续</a:t>
            </a:r>
            <a:r>
              <a:rPr lang="en-US" altLang="zh-CN">
                <a:solidFill>
                  <a:schemeClr val="hlink"/>
                </a:solidFill>
              </a:rPr>
              <a:t>)</a:t>
            </a:r>
            <a:r>
              <a:rPr lang="zh-CN" altLang="en-US"/>
              <a:t>： </a:t>
            </a:r>
            <a:r>
              <a:rPr lang="en-US" altLang="zh-CN"/>
              <a:t>b)</a:t>
            </a:r>
            <a:r>
              <a:rPr lang="zh-CN" altLang="en-US"/>
              <a:t>当</a:t>
            </a:r>
            <a:r>
              <a:rPr lang="en-US" altLang="zh-CN"/>
              <a:t>d(</a:t>
            </a:r>
            <a:r>
              <a:rPr lang="en-US" altLang="zh-CN" i="1"/>
              <a:t>v</a:t>
            </a:r>
            <a:r>
              <a:rPr lang="en-US" altLang="zh-CN"/>
              <a:t>)=5</a:t>
            </a:r>
            <a:r>
              <a:rPr lang="zh-CN" altLang="en-US"/>
              <a:t>且与</a:t>
            </a:r>
            <a:r>
              <a:rPr lang="en-US" altLang="zh-CN" i="1"/>
              <a:t>v</a:t>
            </a:r>
            <a:r>
              <a:rPr lang="zh-CN" altLang="en-US"/>
              <a:t>相邻的点用了</a:t>
            </a:r>
            <a:r>
              <a:rPr lang="en-US" altLang="zh-CN"/>
              <a:t>5</a:t>
            </a:r>
            <a:r>
              <a:rPr lang="zh-CN" altLang="en-US"/>
              <a:t>种颜色时</a:t>
            </a:r>
            <a:r>
              <a:rPr lang="en-US" altLang="zh-CN"/>
              <a:t>, </a:t>
            </a:r>
            <a:r>
              <a:rPr lang="zh-CN" altLang="en-US"/>
              <a:t>设</a:t>
            </a:r>
            <a:r>
              <a:rPr lang="en-US" altLang="zh-CN" i="1"/>
              <a:t>v</a:t>
            </a:r>
            <a:r>
              <a:rPr lang="en-US" altLang="zh-CN" i="1" baseline="-25000"/>
              <a:t>i</a:t>
            </a:r>
            <a:r>
              <a:rPr lang="zh-CN" altLang="en-US"/>
              <a:t>与</a:t>
            </a:r>
            <a:r>
              <a:rPr lang="en-US" altLang="zh-CN" i="1"/>
              <a:t>v</a:t>
            </a:r>
            <a:r>
              <a:rPr lang="zh-CN" altLang="en-US"/>
              <a:t>相邻且着颜色</a:t>
            </a:r>
            <a:r>
              <a:rPr lang="en-US" altLang="zh-CN" i="1"/>
              <a:t>i</a:t>
            </a:r>
            <a:r>
              <a:rPr lang="en-US" altLang="zh-CN"/>
              <a:t>, </a:t>
            </a:r>
            <a:r>
              <a:rPr lang="en-US" altLang="zh-CN" i="1"/>
              <a:t>i</a:t>
            </a:r>
            <a:r>
              <a:rPr lang="en-US" altLang="zh-CN"/>
              <a:t>=1,2,…, 5. </a:t>
            </a:r>
            <a:r>
              <a:rPr lang="zh-CN" altLang="en-US"/>
              <a:t>根据</a:t>
            </a:r>
            <a:r>
              <a:rPr lang="en-US" altLang="zh-CN"/>
              <a:t>Jordan</a:t>
            </a:r>
            <a:r>
              <a:rPr lang="zh-CN" altLang="en-US"/>
              <a:t>定理</a:t>
            </a:r>
            <a:r>
              <a:rPr lang="en-US" altLang="zh-CN"/>
              <a:t>,</a:t>
            </a:r>
            <a:r>
              <a:rPr lang="zh-CN" altLang="en-US"/>
              <a:t>下面</a:t>
            </a:r>
            <a:r>
              <a:rPr lang="en-US" altLang="zh-CN"/>
              <a:t>2</a:t>
            </a:r>
            <a:r>
              <a:rPr lang="zh-CN" altLang="en-US"/>
              <a:t>种路径不能同时存在</a:t>
            </a:r>
            <a:r>
              <a:rPr lang="en-US" altLang="zh-CN"/>
              <a:t>: </a:t>
            </a:r>
            <a:r>
              <a:rPr lang="zh-CN" altLang="en-US"/>
              <a:t>从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zh-CN" altLang="en-US"/>
              <a:t>到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zh-CN" altLang="en-US"/>
              <a:t>只有</a:t>
            </a:r>
            <a:r>
              <a:rPr lang="en-US" altLang="zh-CN"/>
              <a:t>{1,3}</a:t>
            </a:r>
            <a:r>
              <a:rPr lang="zh-CN" altLang="en-US"/>
              <a:t>这</a:t>
            </a:r>
            <a:r>
              <a:rPr lang="en-US" altLang="zh-CN"/>
              <a:t>2</a:t>
            </a:r>
            <a:r>
              <a:rPr lang="zh-CN" altLang="en-US"/>
              <a:t>种颜色的路径</a:t>
            </a:r>
            <a:r>
              <a:rPr lang="en-US" altLang="zh-CN"/>
              <a:t>, </a:t>
            </a:r>
            <a:r>
              <a:rPr lang="zh-CN" altLang="en-US"/>
              <a:t>从</a:t>
            </a:r>
            <a:r>
              <a:rPr lang="en-US" altLang="zh-CN" i="1"/>
              <a:t>v</a:t>
            </a:r>
            <a:r>
              <a:rPr lang="en-US" altLang="zh-CN" baseline="-25000"/>
              <a:t>2</a:t>
            </a:r>
            <a:r>
              <a:rPr lang="zh-CN" altLang="en-US"/>
              <a:t>到</a:t>
            </a:r>
            <a:r>
              <a:rPr lang="en-US" altLang="zh-CN" i="1"/>
              <a:t>v</a:t>
            </a:r>
            <a:r>
              <a:rPr lang="en-US" altLang="zh-CN" baseline="-25000"/>
              <a:t>4</a:t>
            </a:r>
            <a:r>
              <a:rPr lang="zh-CN" altLang="en-US"/>
              <a:t>只有</a:t>
            </a:r>
            <a:r>
              <a:rPr lang="en-US" altLang="zh-CN"/>
              <a:t>{2,4}</a:t>
            </a:r>
            <a:r>
              <a:rPr lang="zh-CN" altLang="en-US"/>
              <a:t>这</a:t>
            </a:r>
            <a:r>
              <a:rPr lang="en-US" altLang="zh-CN"/>
              <a:t>2</a:t>
            </a:r>
            <a:r>
              <a:rPr lang="zh-CN" altLang="en-US"/>
              <a:t>种颜色的路径</a:t>
            </a:r>
            <a:r>
              <a:rPr lang="en-US" altLang="zh-CN"/>
              <a:t>. </a:t>
            </a:r>
            <a:r>
              <a:rPr lang="zh-CN" altLang="en-US"/>
              <a:t>不妨设在只有</a:t>
            </a:r>
            <a:r>
              <a:rPr lang="en-US" altLang="zh-CN"/>
              <a:t>{1,3}</a:t>
            </a:r>
            <a:r>
              <a:rPr lang="zh-CN" altLang="en-US"/>
              <a:t>这</a:t>
            </a:r>
            <a:r>
              <a:rPr lang="en-US" altLang="zh-CN"/>
              <a:t>2</a:t>
            </a:r>
            <a:r>
              <a:rPr lang="zh-CN" altLang="en-US"/>
              <a:t>种颜色的顶点的导出子图中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zh-CN" altLang="en-US"/>
              <a:t>与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zh-CN" altLang="en-US"/>
              <a:t>是在不同的连通分支中</a:t>
            </a:r>
            <a:r>
              <a:rPr lang="en-US" altLang="zh-CN"/>
              <a:t>, </a:t>
            </a:r>
            <a:r>
              <a:rPr lang="zh-CN" altLang="en-US"/>
              <a:t>于是把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zh-CN" altLang="en-US"/>
              <a:t>所在分支里</a:t>
            </a:r>
            <a:r>
              <a:rPr lang="en-US" altLang="zh-CN"/>
              <a:t>1</a:t>
            </a:r>
            <a:r>
              <a:rPr lang="zh-CN" altLang="en-US"/>
              <a:t>与</a:t>
            </a:r>
            <a:r>
              <a:rPr lang="en-US" altLang="zh-CN"/>
              <a:t>3</a:t>
            </a:r>
            <a:r>
              <a:rPr lang="zh-CN" altLang="en-US"/>
              <a:t>颜色互换</a:t>
            </a:r>
            <a:r>
              <a:rPr lang="en-US" altLang="zh-CN"/>
              <a:t>, </a:t>
            </a:r>
            <a:r>
              <a:rPr lang="zh-CN" altLang="en-US"/>
              <a:t>然后把颜色</a:t>
            </a:r>
            <a:r>
              <a:rPr lang="en-US" altLang="zh-CN"/>
              <a:t>1</a:t>
            </a:r>
            <a:r>
              <a:rPr lang="zh-CN" altLang="en-US"/>
              <a:t>给</a:t>
            </a:r>
            <a:r>
              <a:rPr lang="en-US" altLang="zh-CN" i="1"/>
              <a:t>v</a:t>
            </a:r>
            <a:r>
              <a:rPr lang="en-US" altLang="zh-CN"/>
              <a:t>. </a:t>
            </a:r>
            <a:endParaRPr lang="zh-CN" altLang="en-US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   假设存在从</a:t>
            </a:r>
            <a:r>
              <a:rPr lang="en-US" altLang="zh-CN" i="1"/>
              <a:t>v</a:t>
            </a:r>
            <a:r>
              <a:rPr lang="en-US" altLang="zh-CN" baseline="-25000"/>
              <a:t>1</a:t>
            </a:r>
            <a:r>
              <a:rPr lang="zh-CN" altLang="en-US"/>
              <a:t>到</a:t>
            </a:r>
            <a:r>
              <a:rPr lang="en-US" altLang="zh-CN" i="1"/>
              <a:t>v</a:t>
            </a:r>
            <a:r>
              <a:rPr lang="en-US" altLang="zh-CN" baseline="-25000"/>
              <a:t>3</a:t>
            </a:r>
            <a:r>
              <a:rPr lang="zh-CN" altLang="en-US"/>
              <a:t>只有</a:t>
            </a:r>
            <a:r>
              <a:rPr lang="en-US" altLang="zh-CN"/>
              <a:t>{1,3}</a:t>
            </a:r>
            <a:r>
              <a:rPr lang="zh-CN" altLang="en-US"/>
              <a:t>这</a:t>
            </a:r>
            <a:r>
              <a:rPr lang="en-US" altLang="zh-CN"/>
              <a:t>2</a:t>
            </a:r>
            <a:r>
              <a:rPr lang="zh-CN" altLang="en-US"/>
              <a:t>种颜色的路径</a:t>
            </a:r>
            <a:r>
              <a:rPr lang="en-US" altLang="zh-CN"/>
              <a:t>, </a:t>
            </a:r>
            <a:r>
              <a:rPr lang="zh-CN" altLang="en-US"/>
              <a:t>同理可把</a:t>
            </a:r>
            <a:r>
              <a:rPr lang="en-US" altLang="zh-CN"/>
              <a:t>2</a:t>
            </a:r>
            <a:r>
              <a:rPr lang="zh-CN" altLang="en-US"/>
              <a:t>颜色给</a:t>
            </a:r>
            <a:r>
              <a:rPr lang="en-US" altLang="zh-CN" i="1"/>
              <a:t>v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4505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/>
            </a:fld>
            <a:endParaRPr lang="en-US" altLang="zh-CN" sz="1400" b="0" i="0"/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五色定理（续）</a:t>
            </a:r>
            <a:endParaRPr lang="zh-CN" altLang="en-US"/>
          </a:p>
        </p:txBody>
      </p:sp>
      <p:sp>
        <p:nvSpPr>
          <p:cNvPr id="4608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/>
            </a:fld>
            <a:endParaRPr lang="en-US" altLang="zh-CN" sz="1400" b="0" i="0"/>
          </a:p>
        </p:txBody>
      </p:sp>
      <p:grpSp>
        <p:nvGrpSpPr>
          <p:cNvPr id="46083" name="组合 5"/>
          <p:cNvGrpSpPr/>
          <p:nvPr/>
        </p:nvGrpSpPr>
        <p:grpSpPr>
          <a:xfrm>
            <a:off x="323850" y="1628775"/>
            <a:ext cx="1871663" cy="1512888"/>
            <a:chOff x="6444332" y="692696"/>
            <a:chExt cx="1871960" cy="1512113"/>
          </a:xfrm>
        </p:grpSpPr>
        <p:cxnSp>
          <p:nvCxnSpPr>
            <p:cNvPr id="46084" name="直接连接符 6"/>
            <p:cNvCxnSpPr/>
            <p:nvPr/>
          </p:nvCxnSpPr>
          <p:spPr>
            <a:xfrm rot="5400000">
              <a:off x="7096559" y="1201030"/>
              <a:ext cx="679755" cy="317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椭圆 7"/>
            <p:cNvSpPr/>
            <p:nvPr/>
          </p:nvSpPr>
          <p:spPr bwMode="auto">
            <a:xfrm>
              <a:off x="6444332" y="1052736"/>
              <a:ext cx="215900" cy="21596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7308304" y="1484784"/>
              <a:ext cx="215900" cy="215969"/>
            </a:xfrm>
            <a:prstGeom prst="ellips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6660356" y="1916887"/>
              <a:ext cx="215900" cy="215969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7323504" y="692696"/>
              <a:ext cx="215900" cy="215969"/>
            </a:xfrm>
            <a:prstGeom prst="ellipse">
              <a:avLst/>
            </a:prstGeom>
            <a:solidFill>
              <a:srgbClr val="00B0F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8100392" y="1124744"/>
              <a:ext cx="215900" cy="215969"/>
            </a:xfrm>
            <a:prstGeom prst="ellipse">
              <a:avLst/>
            </a:prstGeom>
            <a:solidFill>
              <a:srgbClr val="FF00FF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椭圆 12"/>
            <p:cNvSpPr/>
            <p:nvPr/>
          </p:nvSpPr>
          <p:spPr bwMode="auto">
            <a:xfrm>
              <a:off x="7956376" y="1988840"/>
              <a:ext cx="215900" cy="215969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46091" name="直接连接符 13"/>
            <p:cNvCxnSpPr/>
            <p:nvPr/>
          </p:nvCxnSpPr>
          <p:spPr>
            <a:xfrm rot="-5400000" flipH="1">
              <a:off x="6790613" y="1075078"/>
              <a:ext cx="355692" cy="6796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092" name="直接连接符 14"/>
            <p:cNvCxnSpPr/>
            <p:nvPr/>
          </p:nvCxnSpPr>
          <p:spPr>
            <a:xfrm rot="5400000" flipH="1" flipV="1">
              <a:off x="6952585" y="1561178"/>
              <a:ext cx="279390" cy="4952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093" name="直接连接符 15"/>
            <p:cNvCxnSpPr/>
            <p:nvPr/>
          </p:nvCxnSpPr>
          <p:spPr>
            <a:xfrm flipV="1">
              <a:off x="7524204" y="1309085"/>
              <a:ext cx="607806" cy="2836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094" name="直接连接符 16"/>
            <p:cNvCxnSpPr/>
            <p:nvPr/>
          </p:nvCxnSpPr>
          <p:spPr>
            <a:xfrm rot="-5400000" flipH="1">
              <a:off x="7488279" y="1628728"/>
              <a:ext cx="396072" cy="54012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6095" name="组合 65"/>
          <p:cNvGrpSpPr/>
          <p:nvPr/>
        </p:nvGrpSpPr>
        <p:grpSpPr>
          <a:xfrm>
            <a:off x="4643438" y="981075"/>
            <a:ext cx="3168650" cy="2971800"/>
            <a:chOff x="2771800" y="1268760"/>
            <a:chExt cx="3168228" cy="2971492"/>
          </a:xfrm>
        </p:grpSpPr>
        <p:grpSp>
          <p:nvGrpSpPr>
            <p:cNvPr id="46096" name="组合 34"/>
            <p:cNvGrpSpPr/>
            <p:nvPr/>
          </p:nvGrpSpPr>
          <p:grpSpPr>
            <a:xfrm>
              <a:off x="3131840" y="1268760"/>
              <a:ext cx="2498794" cy="1973833"/>
              <a:chOff x="3131840" y="1412776"/>
              <a:chExt cx="2498794" cy="1973833"/>
            </a:xfrm>
          </p:grpSpPr>
          <p:grpSp>
            <p:nvGrpSpPr>
              <p:cNvPr id="46097" name="组合 17"/>
              <p:cNvGrpSpPr/>
              <p:nvPr/>
            </p:nvGrpSpPr>
            <p:grpSpPr>
              <a:xfrm>
                <a:off x="3419872" y="1700808"/>
                <a:ext cx="1871960" cy="1512113"/>
                <a:chOff x="6444332" y="692696"/>
                <a:chExt cx="1871960" cy="1512113"/>
              </a:xfrm>
            </p:grpSpPr>
            <p:cxnSp>
              <p:nvCxnSpPr>
                <p:cNvPr id="46098" name="直接连接符 18"/>
                <p:cNvCxnSpPr/>
                <p:nvPr/>
              </p:nvCxnSpPr>
              <p:spPr>
                <a:xfrm rot="5400000">
                  <a:off x="7096559" y="1201030"/>
                  <a:ext cx="679755" cy="3174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0" name="椭圆 19"/>
                <p:cNvSpPr/>
                <p:nvPr/>
              </p:nvSpPr>
              <p:spPr bwMode="auto">
                <a:xfrm>
                  <a:off x="6444332" y="1052736"/>
                  <a:ext cx="215900" cy="215969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21" name="椭圆 20"/>
                <p:cNvSpPr/>
                <p:nvPr/>
              </p:nvSpPr>
              <p:spPr bwMode="auto">
                <a:xfrm>
                  <a:off x="7308304" y="1484784"/>
                  <a:ext cx="215900" cy="215969"/>
                </a:xfrm>
                <a:prstGeom prst="ellipse">
                  <a:avLst/>
                </a:prstGeom>
                <a:solidFill>
                  <a:schemeClr val="accent3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22" name="椭圆 21"/>
                <p:cNvSpPr/>
                <p:nvPr/>
              </p:nvSpPr>
              <p:spPr bwMode="auto">
                <a:xfrm>
                  <a:off x="6660356" y="1916887"/>
                  <a:ext cx="215900" cy="215969"/>
                </a:xfrm>
                <a:prstGeom prst="ellipse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23" name="椭圆 22"/>
                <p:cNvSpPr/>
                <p:nvPr/>
              </p:nvSpPr>
              <p:spPr bwMode="auto">
                <a:xfrm>
                  <a:off x="7323504" y="692696"/>
                  <a:ext cx="215900" cy="215969"/>
                </a:xfrm>
                <a:prstGeom prst="ellipse">
                  <a:avLst/>
                </a:prstGeom>
                <a:solidFill>
                  <a:srgbClr val="00B0F0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24" name="椭圆 23"/>
                <p:cNvSpPr/>
                <p:nvPr/>
              </p:nvSpPr>
              <p:spPr bwMode="auto">
                <a:xfrm>
                  <a:off x="8100392" y="1124744"/>
                  <a:ext cx="215900" cy="215969"/>
                </a:xfrm>
                <a:prstGeom prst="ellipse">
                  <a:avLst/>
                </a:prstGeom>
                <a:solidFill>
                  <a:srgbClr val="FF00FF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25" name="椭圆 24"/>
                <p:cNvSpPr/>
                <p:nvPr/>
              </p:nvSpPr>
              <p:spPr bwMode="auto">
                <a:xfrm>
                  <a:off x="7956376" y="1988840"/>
                  <a:ext cx="215900" cy="215969"/>
                </a:xfrm>
                <a:prstGeom prst="ellipse">
                  <a:avLst/>
                </a:prstGeom>
                <a:solidFill>
                  <a:srgbClr val="00B050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cxnSp>
              <p:nvCxnSpPr>
                <p:cNvPr id="46105" name="直接连接符 25"/>
                <p:cNvCxnSpPr/>
                <p:nvPr/>
              </p:nvCxnSpPr>
              <p:spPr>
                <a:xfrm rot="-5400000" flipH="1">
                  <a:off x="6790613" y="1075078"/>
                  <a:ext cx="355692" cy="67969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106" name="直接连接符 26"/>
                <p:cNvCxnSpPr/>
                <p:nvPr/>
              </p:nvCxnSpPr>
              <p:spPr>
                <a:xfrm rot="5400000" flipH="1" flipV="1">
                  <a:off x="6952585" y="1561178"/>
                  <a:ext cx="279390" cy="49528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107" name="直接连接符 27"/>
                <p:cNvCxnSpPr/>
                <p:nvPr/>
              </p:nvCxnSpPr>
              <p:spPr>
                <a:xfrm flipV="1">
                  <a:off x="7524204" y="1309085"/>
                  <a:ext cx="607806" cy="28368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108" name="直接连接符 28"/>
                <p:cNvCxnSpPr/>
                <p:nvPr/>
              </p:nvCxnSpPr>
              <p:spPr>
                <a:xfrm rot="-5400000" flipH="1">
                  <a:off x="7488279" y="1628728"/>
                  <a:ext cx="396072" cy="54012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6109" name="TextBox 29"/>
              <p:cNvSpPr txBox="1"/>
              <p:nvPr/>
            </p:nvSpPr>
            <p:spPr>
              <a:xfrm>
                <a:off x="5292414" y="2060409"/>
                <a:ext cx="338092" cy="4619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zh-CN" altLang="en-US" sz="2400" i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10" name="TextBox 30"/>
              <p:cNvSpPr txBox="1"/>
              <p:nvPr/>
            </p:nvSpPr>
            <p:spPr>
              <a:xfrm>
                <a:off x="3419414" y="2923919"/>
                <a:ext cx="339680" cy="4619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zh-CN" altLang="en-US" sz="2400" i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11" name="TextBox 31"/>
              <p:cNvSpPr txBox="1"/>
              <p:nvPr/>
            </p:nvSpPr>
            <p:spPr>
              <a:xfrm>
                <a:off x="5076543" y="2852489"/>
                <a:ext cx="338092" cy="4619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zh-CN" altLang="en-US" sz="2400" i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12" name="TextBox 32"/>
              <p:cNvSpPr txBox="1"/>
              <p:nvPr/>
            </p:nvSpPr>
            <p:spPr>
              <a:xfrm>
                <a:off x="3132114" y="1773102"/>
                <a:ext cx="338093" cy="460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0"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zh-CN" altLang="en-US" sz="2400" i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13" name="TextBox 33"/>
              <p:cNvSpPr txBox="1"/>
              <p:nvPr/>
            </p:nvSpPr>
            <p:spPr>
              <a:xfrm>
                <a:off x="4500357" y="1412776"/>
                <a:ext cx="338093" cy="4619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zh-CN" altLang="en-US" sz="2400" i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6" name="椭圆 35"/>
            <p:cNvSpPr/>
            <p:nvPr/>
          </p:nvSpPr>
          <p:spPr bwMode="auto">
            <a:xfrm>
              <a:off x="5724128" y="2420888"/>
              <a:ext cx="215900" cy="215969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7" name="椭圆 36"/>
            <p:cNvSpPr/>
            <p:nvPr/>
          </p:nvSpPr>
          <p:spPr bwMode="auto">
            <a:xfrm>
              <a:off x="5724128" y="3140968"/>
              <a:ext cx="215900" cy="215969"/>
            </a:xfrm>
            <a:prstGeom prst="ellipse">
              <a:avLst/>
            </a:prstGeom>
            <a:solidFill>
              <a:srgbClr val="FF00FF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8" name="椭圆 37"/>
            <p:cNvSpPr/>
            <p:nvPr/>
          </p:nvSpPr>
          <p:spPr bwMode="auto">
            <a:xfrm>
              <a:off x="5148064" y="3573016"/>
              <a:ext cx="215900" cy="215969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9" name="椭圆 38"/>
            <p:cNvSpPr/>
            <p:nvPr/>
          </p:nvSpPr>
          <p:spPr bwMode="auto">
            <a:xfrm>
              <a:off x="4283968" y="3573016"/>
              <a:ext cx="215900" cy="215969"/>
            </a:xfrm>
            <a:prstGeom prst="ellips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6118" name="任意多边形 39"/>
            <p:cNvSpPr/>
            <p:nvPr/>
          </p:nvSpPr>
          <p:spPr>
            <a:xfrm>
              <a:off x="5268686" y="2133600"/>
              <a:ext cx="449943" cy="304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943" y="304800"/>
                </a:cxn>
                <a:cxn ang="0">
                  <a:pos x="449943" y="304800"/>
                </a:cxn>
              </a:cxnLst>
              <a:pathLst>
                <a:path w="449943" h="304800">
                  <a:moveTo>
                    <a:pt x="0" y="0"/>
                  </a:moveTo>
                  <a:lnTo>
                    <a:pt x="449943" y="304800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19" name="任意多边形 40"/>
            <p:cNvSpPr/>
            <p:nvPr/>
          </p:nvSpPr>
          <p:spPr>
            <a:xfrm>
              <a:off x="5849257" y="2627086"/>
              <a:ext cx="0" cy="5225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22514"/>
                </a:cxn>
              </a:cxnLst>
              <a:pathLst>
                <a:path w="1" h="522514">
                  <a:moveTo>
                    <a:pt x="0" y="0"/>
                  </a:moveTo>
                  <a:lnTo>
                    <a:pt x="0" y="522514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46120" name="直接连接符 42"/>
            <p:cNvCxnSpPr/>
            <p:nvPr/>
          </p:nvCxnSpPr>
          <p:spPr>
            <a:xfrm rot="-10800000" flipV="1">
              <a:off x="5364088" y="3356992"/>
              <a:ext cx="432048" cy="2880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6121" name="任意多边形 44"/>
            <p:cNvSpPr/>
            <p:nvPr/>
          </p:nvSpPr>
          <p:spPr>
            <a:xfrm>
              <a:off x="4470400" y="3657600"/>
              <a:ext cx="682171" cy="2902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82171" y="29029"/>
                </a:cxn>
              </a:cxnLst>
              <a:pathLst>
                <a:path w="682171" h="29029">
                  <a:moveTo>
                    <a:pt x="0" y="0"/>
                  </a:moveTo>
                  <a:lnTo>
                    <a:pt x="682171" y="29029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46122" name="直接连接符 46"/>
            <p:cNvCxnSpPr/>
            <p:nvPr/>
          </p:nvCxnSpPr>
          <p:spPr>
            <a:xfrm rot="-5400000" flipH="1">
              <a:off x="3748222" y="3037280"/>
              <a:ext cx="639320" cy="495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9" name="椭圆 48"/>
            <p:cNvSpPr/>
            <p:nvPr/>
          </p:nvSpPr>
          <p:spPr bwMode="auto">
            <a:xfrm>
              <a:off x="2915816" y="2420888"/>
              <a:ext cx="215900" cy="215969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0" name="椭圆 49"/>
            <p:cNvSpPr/>
            <p:nvPr/>
          </p:nvSpPr>
          <p:spPr bwMode="auto">
            <a:xfrm>
              <a:off x="2771800" y="3068960"/>
              <a:ext cx="215900" cy="21596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1" name="椭圆 50"/>
            <p:cNvSpPr/>
            <p:nvPr/>
          </p:nvSpPr>
          <p:spPr bwMode="auto">
            <a:xfrm>
              <a:off x="2987824" y="3645024"/>
              <a:ext cx="215900" cy="215969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6127" name="任意多边形 52"/>
            <p:cNvSpPr/>
            <p:nvPr/>
          </p:nvSpPr>
          <p:spPr>
            <a:xfrm>
              <a:off x="3006877" y="2090057"/>
              <a:ext cx="462037" cy="391886"/>
            </a:xfrm>
            <a:custGeom>
              <a:avLst/>
              <a:gdLst/>
              <a:ahLst/>
              <a:cxnLst>
                <a:cxn ang="0">
                  <a:pos x="462037" y="0"/>
                </a:cxn>
                <a:cxn ang="0">
                  <a:pos x="70152" y="333829"/>
                </a:cxn>
                <a:cxn ang="0">
                  <a:pos x="41123" y="348343"/>
                </a:cxn>
              </a:cxnLst>
              <a:pathLst>
                <a:path w="462037" h="391886">
                  <a:moveTo>
                    <a:pt x="462037" y="0"/>
                  </a:moveTo>
                  <a:lnTo>
                    <a:pt x="70152" y="333829"/>
                  </a:lnTo>
                  <a:cubicBezTo>
                    <a:pt x="0" y="391886"/>
                    <a:pt x="20561" y="370114"/>
                    <a:pt x="41123" y="348343"/>
                  </a:cubicBez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28" name="任意多边形 53"/>
            <p:cNvSpPr/>
            <p:nvPr/>
          </p:nvSpPr>
          <p:spPr>
            <a:xfrm>
              <a:off x="2820609" y="2612571"/>
              <a:ext cx="169334" cy="464458"/>
            </a:xfrm>
            <a:custGeom>
              <a:avLst/>
              <a:gdLst/>
              <a:ahLst/>
              <a:cxnLst>
                <a:cxn ang="0">
                  <a:pos x="169334" y="0"/>
                </a:cxn>
                <a:cxn ang="0">
                  <a:pos x="24191" y="203200"/>
                </a:cxn>
                <a:cxn ang="0">
                  <a:pos x="24191" y="464458"/>
                </a:cxn>
              </a:cxnLst>
              <a:pathLst>
                <a:path w="169334" h="464458">
                  <a:moveTo>
                    <a:pt x="169334" y="0"/>
                  </a:moveTo>
                  <a:cubicBezTo>
                    <a:pt x="108858" y="62895"/>
                    <a:pt x="48382" y="125790"/>
                    <a:pt x="24191" y="203200"/>
                  </a:cubicBezTo>
                  <a:cubicBezTo>
                    <a:pt x="0" y="280610"/>
                    <a:pt x="12095" y="372534"/>
                    <a:pt x="24191" y="464458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46129" name="直接连接符 55"/>
            <p:cNvCxnSpPr/>
            <p:nvPr/>
          </p:nvCxnSpPr>
          <p:spPr>
            <a:xfrm rot="-5400000" flipH="1">
              <a:off x="2807703" y="3356951"/>
              <a:ext cx="360095" cy="2160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6130" name="任意多边形 57"/>
            <p:cNvSpPr/>
            <p:nvPr/>
          </p:nvSpPr>
          <p:spPr>
            <a:xfrm>
              <a:off x="3203847" y="3789040"/>
              <a:ext cx="504057" cy="7200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3521" y="0"/>
                </a:cxn>
              </a:cxnLst>
              <a:pathLst>
                <a:path w="522514" h="232228">
                  <a:moveTo>
                    <a:pt x="0" y="0"/>
                  </a:moveTo>
                  <a:lnTo>
                    <a:pt x="522514" y="232228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46131" name="直接连接符 59"/>
            <p:cNvCxnSpPr/>
            <p:nvPr/>
          </p:nvCxnSpPr>
          <p:spPr>
            <a:xfrm flipV="1">
              <a:off x="3635925" y="3757079"/>
              <a:ext cx="679360" cy="10285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46132" name="直接连接符 62"/>
            <p:cNvCxnSpPr/>
            <p:nvPr/>
          </p:nvCxnSpPr>
          <p:spPr>
            <a:xfrm rot="5400000" flipH="1" flipV="1">
              <a:off x="4409845" y="3019326"/>
              <a:ext cx="535739" cy="5716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6133" name="TextBox 64"/>
            <p:cNvSpPr txBox="1"/>
            <p:nvPr/>
          </p:nvSpPr>
          <p:spPr>
            <a:xfrm>
              <a:off x="4211470" y="3716431"/>
              <a:ext cx="365076" cy="5238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800" i="0">
                  <a:latin typeface="Times New Roman" panose="02020603050405020304" charset="0"/>
                  <a:ea typeface="宋体" panose="02010600030101010101" pitchFamily="2" charset="-122"/>
                </a:rPr>
                <a:t>?</a:t>
              </a:r>
              <a:endParaRPr lang="zh-CN" altLang="en-US" sz="2800" i="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6134" name="组合 66"/>
          <p:cNvGrpSpPr/>
          <p:nvPr/>
        </p:nvGrpSpPr>
        <p:grpSpPr>
          <a:xfrm>
            <a:off x="395288" y="3141028"/>
            <a:ext cx="3168650" cy="2591883"/>
            <a:chOff x="2771800" y="1268760"/>
            <a:chExt cx="3168228" cy="2592288"/>
          </a:xfrm>
        </p:grpSpPr>
        <p:grpSp>
          <p:nvGrpSpPr>
            <p:cNvPr id="46135" name="组合 34"/>
            <p:cNvGrpSpPr/>
            <p:nvPr/>
          </p:nvGrpSpPr>
          <p:grpSpPr>
            <a:xfrm>
              <a:off x="3059832" y="1268760"/>
              <a:ext cx="2570802" cy="2117849"/>
              <a:chOff x="3059832" y="1412776"/>
              <a:chExt cx="2570802" cy="2117849"/>
            </a:xfrm>
          </p:grpSpPr>
          <p:grpSp>
            <p:nvGrpSpPr>
              <p:cNvPr id="46136" name="组合 17"/>
              <p:cNvGrpSpPr/>
              <p:nvPr/>
            </p:nvGrpSpPr>
            <p:grpSpPr>
              <a:xfrm>
                <a:off x="3419872" y="1700808"/>
                <a:ext cx="1871960" cy="1512113"/>
                <a:chOff x="6444332" y="692696"/>
                <a:chExt cx="1871960" cy="1512113"/>
              </a:xfrm>
            </p:grpSpPr>
            <p:cxnSp>
              <p:nvCxnSpPr>
                <p:cNvPr id="46137" name="直接连接符 94"/>
                <p:cNvCxnSpPr/>
                <p:nvPr/>
              </p:nvCxnSpPr>
              <p:spPr>
                <a:xfrm rot="5400000">
                  <a:off x="7096559" y="1201030"/>
                  <a:ext cx="679755" cy="3174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96" name="椭圆 95"/>
                <p:cNvSpPr/>
                <p:nvPr/>
              </p:nvSpPr>
              <p:spPr bwMode="auto">
                <a:xfrm>
                  <a:off x="6444332" y="1052736"/>
                  <a:ext cx="215900" cy="215969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97" name="椭圆 96"/>
                <p:cNvSpPr/>
                <p:nvPr/>
              </p:nvSpPr>
              <p:spPr bwMode="auto">
                <a:xfrm>
                  <a:off x="7308304" y="1484784"/>
                  <a:ext cx="215900" cy="215969"/>
                </a:xfrm>
                <a:prstGeom prst="ellipse">
                  <a:avLst/>
                </a:prstGeom>
                <a:solidFill>
                  <a:schemeClr val="accent3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98" name="椭圆 97"/>
                <p:cNvSpPr/>
                <p:nvPr/>
              </p:nvSpPr>
              <p:spPr bwMode="auto">
                <a:xfrm>
                  <a:off x="6660356" y="1916887"/>
                  <a:ext cx="215900" cy="215969"/>
                </a:xfrm>
                <a:prstGeom prst="ellipse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99" name="椭圆 98"/>
                <p:cNvSpPr/>
                <p:nvPr/>
              </p:nvSpPr>
              <p:spPr bwMode="auto">
                <a:xfrm>
                  <a:off x="7323504" y="692696"/>
                  <a:ext cx="215900" cy="215969"/>
                </a:xfrm>
                <a:prstGeom prst="ellipse">
                  <a:avLst/>
                </a:prstGeom>
                <a:solidFill>
                  <a:srgbClr val="00B0F0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100" name="椭圆 23"/>
                <p:cNvSpPr/>
                <p:nvPr/>
              </p:nvSpPr>
              <p:spPr bwMode="auto">
                <a:xfrm>
                  <a:off x="8100392" y="1124744"/>
                  <a:ext cx="215900" cy="215969"/>
                </a:xfrm>
                <a:prstGeom prst="ellipse">
                  <a:avLst/>
                </a:prstGeom>
                <a:solidFill>
                  <a:srgbClr val="FF00FF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101" name="椭圆 100"/>
                <p:cNvSpPr/>
                <p:nvPr/>
              </p:nvSpPr>
              <p:spPr bwMode="auto">
                <a:xfrm>
                  <a:off x="7956376" y="1988840"/>
                  <a:ext cx="215900" cy="215969"/>
                </a:xfrm>
                <a:prstGeom prst="ellipse">
                  <a:avLst/>
                </a:prstGeom>
                <a:solidFill>
                  <a:srgbClr val="00B050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cxnSp>
              <p:nvCxnSpPr>
                <p:cNvPr id="46144" name="直接连接符 101"/>
                <p:cNvCxnSpPr/>
                <p:nvPr/>
              </p:nvCxnSpPr>
              <p:spPr>
                <a:xfrm rot="-5400000" flipH="1">
                  <a:off x="6790613" y="1075078"/>
                  <a:ext cx="355692" cy="67969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145" name="直接连接符 102"/>
                <p:cNvCxnSpPr/>
                <p:nvPr/>
              </p:nvCxnSpPr>
              <p:spPr>
                <a:xfrm rot="5400000" flipH="1" flipV="1">
                  <a:off x="6952585" y="1561178"/>
                  <a:ext cx="279390" cy="49528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146" name="直接连接符 103"/>
                <p:cNvCxnSpPr/>
                <p:nvPr/>
              </p:nvCxnSpPr>
              <p:spPr>
                <a:xfrm flipV="1">
                  <a:off x="7524204" y="1309085"/>
                  <a:ext cx="607806" cy="28368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147" name="直接连接符 104"/>
                <p:cNvCxnSpPr/>
                <p:nvPr/>
              </p:nvCxnSpPr>
              <p:spPr>
                <a:xfrm rot="-5400000" flipH="1">
                  <a:off x="7488279" y="1628728"/>
                  <a:ext cx="396072" cy="54012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6148" name="TextBox 89"/>
              <p:cNvSpPr txBox="1"/>
              <p:nvPr/>
            </p:nvSpPr>
            <p:spPr>
              <a:xfrm>
                <a:off x="5292415" y="2060577"/>
                <a:ext cx="338092" cy="4620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zh-CN" altLang="en-US" sz="2400" i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49" name="TextBox 90"/>
              <p:cNvSpPr txBox="1"/>
              <p:nvPr/>
            </p:nvSpPr>
            <p:spPr>
              <a:xfrm>
                <a:off x="3419414" y="2924312"/>
                <a:ext cx="338092" cy="4620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zh-CN" altLang="en-US" sz="2400" i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50" name="TextBox 91"/>
              <p:cNvSpPr txBox="1"/>
              <p:nvPr/>
            </p:nvSpPr>
            <p:spPr>
              <a:xfrm>
                <a:off x="3059099" y="1844643"/>
                <a:ext cx="338093" cy="4620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0"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zh-CN" altLang="en-US" sz="2400" i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51" name="TextBox 92"/>
              <p:cNvSpPr txBox="1"/>
              <p:nvPr/>
            </p:nvSpPr>
            <p:spPr>
              <a:xfrm>
                <a:off x="5076544" y="3068797"/>
                <a:ext cx="338092" cy="4620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zh-CN" altLang="en-US" sz="2400" i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52" name="TextBox 93"/>
              <p:cNvSpPr txBox="1"/>
              <p:nvPr/>
            </p:nvSpPr>
            <p:spPr>
              <a:xfrm>
                <a:off x="4500357" y="1412776"/>
                <a:ext cx="338093" cy="46203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zh-CN" altLang="en-US" sz="2400" i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9" name="椭圆 68"/>
            <p:cNvSpPr/>
            <p:nvPr/>
          </p:nvSpPr>
          <p:spPr bwMode="auto">
            <a:xfrm>
              <a:off x="5724128" y="2420888"/>
              <a:ext cx="215900" cy="215969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0" name="椭圆 69"/>
            <p:cNvSpPr/>
            <p:nvPr/>
          </p:nvSpPr>
          <p:spPr bwMode="auto">
            <a:xfrm>
              <a:off x="5724128" y="3140968"/>
              <a:ext cx="215900" cy="215969"/>
            </a:xfrm>
            <a:prstGeom prst="ellipse">
              <a:avLst/>
            </a:prstGeom>
            <a:solidFill>
              <a:srgbClr val="FF00FF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1" name="椭圆 70"/>
            <p:cNvSpPr/>
            <p:nvPr/>
          </p:nvSpPr>
          <p:spPr bwMode="auto">
            <a:xfrm>
              <a:off x="5148064" y="3573016"/>
              <a:ext cx="215900" cy="215969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6157" name="任意多边形 72"/>
            <p:cNvSpPr/>
            <p:nvPr/>
          </p:nvSpPr>
          <p:spPr>
            <a:xfrm>
              <a:off x="5268686" y="2133600"/>
              <a:ext cx="449943" cy="304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943" y="304800"/>
                </a:cxn>
                <a:cxn ang="0">
                  <a:pos x="449943" y="304800"/>
                </a:cxn>
              </a:cxnLst>
              <a:pathLst>
                <a:path w="449943" h="304800">
                  <a:moveTo>
                    <a:pt x="0" y="0"/>
                  </a:moveTo>
                  <a:lnTo>
                    <a:pt x="449943" y="304800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58" name="任意多边形 73"/>
            <p:cNvSpPr/>
            <p:nvPr/>
          </p:nvSpPr>
          <p:spPr>
            <a:xfrm>
              <a:off x="5849257" y="2627086"/>
              <a:ext cx="0" cy="5225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22514"/>
                </a:cxn>
              </a:cxnLst>
              <a:pathLst>
                <a:path w="1" h="522514">
                  <a:moveTo>
                    <a:pt x="0" y="0"/>
                  </a:moveTo>
                  <a:lnTo>
                    <a:pt x="0" y="522514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46159" name="直接连接符 74"/>
            <p:cNvCxnSpPr/>
            <p:nvPr/>
          </p:nvCxnSpPr>
          <p:spPr>
            <a:xfrm rot="-10800000" flipV="1">
              <a:off x="5364088" y="3356992"/>
              <a:ext cx="432048" cy="2880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78" name="椭圆 77"/>
            <p:cNvSpPr/>
            <p:nvPr/>
          </p:nvSpPr>
          <p:spPr bwMode="auto">
            <a:xfrm>
              <a:off x="2915816" y="2420888"/>
              <a:ext cx="215900" cy="215969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9" name="椭圆 78"/>
            <p:cNvSpPr/>
            <p:nvPr/>
          </p:nvSpPr>
          <p:spPr bwMode="auto">
            <a:xfrm>
              <a:off x="2771800" y="3068960"/>
              <a:ext cx="215900" cy="21596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0" name="椭圆 79"/>
            <p:cNvSpPr/>
            <p:nvPr/>
          </p:nvSpPr>
          <p:spPr bwMode="auto">
            <a:xfrm>
              <a:off x="2987824" y="3645024"/>
              <a:ext cx="215900" cy="215969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6164" name="任意多边形 81"/>
            <p:cNvSpPr/>
            <p:nvPr/>
          </p:nvSpPr>
          <p:spPr>
            <a:xfrm>
              <a:off x="3006877" y="2090057"/>
              <a:ext cx="462037" cy="391886"/>
            </a:xfrm>
            <a:custGeom>
              <a:avLst/>
              <a:gdLst/>
              <a:ahLst/>
              <a:cxnLst>
                <a:cxn ang="0">
                  <a:pos x="462037" y="0"/>
                </a:cxn>
                <a:cxn ang="0">
                  <a:pos x="70152" y="333829"/>
                </a:cxn>
                <a:cxn ang="0">
                  <a:pos x="41123" y="348343"/>
                </a:cxn>
              </a:cxnLst>
              <a:pathLst>
                <a:path w="462037" h="391886">
                  <a:moveTo>
                    <a:pt x="462037" y="0"/>
                  </a:moveTo>
                  <a:lnTo>
                    <a:pt x="70152" y="333829"/>
                  </a:lnTo>
                  <a:cubicBezTo>
                    <a:pt x="0" y="391886"/>
                    <a:pt x="20561" y="370114"/>
                    <a:pt x="41123" y="348343"/>
                  </a:cubicBez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65" name="任意多边形 82"/>
            <p:cNvSpPr/>
            <p:nvPr/>
          </p:nvSpPr>
          <p:spPr>
            <a:xfrm>
              <a:off x="2820609" y="2612571"/>
              <a:ext cx="169334" cy="464458"/>
            </a:xfrm>
            <a:custGeom>
              <a:avLst/>
              <a:gdLst/>
              <a:ahLst/>
              <a:cxnLst>
                <a:cxn ang="0">
                  <a:pos x="169334" y="0"/>
                </a:cxn>
                <a:cxn ang="0">
                  <a:pos x="24191" y="203200"/>
                </a:cxn>
                <a:cxn ang="0">
                  <a:pos x="24191" y="464458"/>
                </a:cxn>
              </a:cxnLst>
              <a:pathLst>
                <a:path w="169334" h="464458">
                  <a:moveTo>
                    <a:pt x="169334" y="0"/>
                  </a:moveTo>
                  <a:cubicBezTo>
                    <a:pt x="108858" y="62895"/>
                    <a:pt x="48382" y="125790"/>
                    <a:pt x="24191" y="203200"/>
                  </a:cubicBezTo>
                  <a:cubicBezTo>
                    <a:pt x="0" y="280610"/>
                    <a:pt x="12095" y="372534"/>
                    <a:pt x="24191" y="464458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46166" name="直接连接符 83"/>
            <p:cNvCxnSpPr/>
            <p:nvPr/>
          </p:nvCxnSpPr>
          <p:spPr>
            <a:xfrm rot="-5400000" flipH="1">
              <a:off x="2807703" y="3356951"/>
              <a:ext cx="360095" cy="2160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6167" name="任意多边形 84"/>
            <p:cNvSpPr/>
            <p:nvPr/>
          </p:nvSpPr>
          <p:spPr>
            <a:xfrm>
              <a:off x="3203847" y="3789040"/>
              <a:ext cx="504057" cy="7200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3521" y="0"/>
                </a:cxn>
              </a:cxnLst>
              <a:pathLst>
                <a:path w="522514" h="232228">
                  <a:moveTo>
                    <a:pt x="0" y="0"/>
                  </a:moveTo>
                  <a:lnTo>
                    <a:pt x="522514" y="232228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46168" name="直接连接符 85"/>
            <p:cNvCxnSpPr/>
            <p:nvPr/>
          </p:nvCxnSpPr>
          <p:spPr>
            <a:xfrm flipV="1">
              <a:off x="3707982" y="3573217"/>
              <a:ext cx="719994" cy="2877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46169" name="直接连接符 86"/>
            <p:cNvCxnSpPr/>
            <p:nvPr/>
          </p:nvCxnSpPr>
          <p:spPr>
            <a:xfrm rot="5400000" flipH="1" flipV="1">
              <a:off x="4409845" y="3019326"/>
              <a:ext cx="535739" cy="5716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81" name="椭圆 80"/>
            <p:cNvSpPr/>
            <p:nvPr/>
          </p:nvSpPr>
          <p:spPr bwMode="auto">
            <a:xfrm>
              <a:off x="4212399" y="3501098"/>
              <a:ext cx="215900" cy="21596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46170" name="组合 105"/>
          <p:cNvGrpSpPr/>
          <p:nvPr/>
        </p:nvGrpSpPr>
        <p:grpSpPr>
          <a:xfrm>
            <a:off x="4932363" y="3716338"/>
            <a:ext cx="3168650" cy="2665412"/>
            <a:chOff x="2771800" y="1268760"/>
            <a:chExt cx="3168228" cy="2664241"/>
          </a:xfrm>
        </p:grpSpPr>
        <p:grpSp>
          <p:nvGrpSpPr>
            <p:cNvPr id="46171" name="组合 34"/>
            <p:cNvGrpSpPr/>
            <p:nvPr/>
          </p:nvGrpSpPr>
          <p:grpSpPr>
            <a:xfrm>
              <a:off x="3059832" y="1268760"/>
              <a:ext cx="2570802" cy="2045841"/>
              <a:chOff x="3059832" y="1412776"/>
              <a:chExt cx="2570802" cy="2045841"/>
            </a:xfrm>
          </p:grpSpPr>
          <p:grpSp>
            <p:nvGrpSpPr>
              <p:cNvPr id="46172" name="组合 17"/>
              <p:cNvGrpSpPr/>
              <p:nvPr/>
            </p:nvGrpSpPr>
            <p:grpSpPr>
              <a:xfrm>
                <a:off x="3419872" y="1700808"/>
                <a:ext cx="1871960" cy="1512113"/>
                <a:chOff x="6444332" y="692696"/>
                <a:chExt cx="1871960" cy="1512113"/>
              </a:xfrm>
            </p:grpSpPr>
            <p:cxnSp>
              <p:nvCxnSpPr>
                <p:cNvPr id="46173" name="直接连接符 130"/>
                <p:cNvCxnSpPr/>
                <p:nvPr/>
              </p:nvCxnSpPr>
              <p:spPr>
                <a:xfrm rot="5400000">
                  <a:off x="7096559" y="1201030"/>
                  <a:ext cx="679755" cy="3174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32" name="椭圆 131"/>
                <p:cNvSpPr/>
                <p:nvPr/>
              </p:nvSpPr>
              <p:spPr bwMode="auto">
                <a:xfrm>
                  <a:off x="6444332" y="1052736"/>
                  <a:ext cx="215900" cy="215969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133" name="椭圆 132"/>
                <p:cNvSpPr/>
                <p:nvPr/>
              </p:nvSpPr>
              <p:spPr bwMode="auto">
                <a:xfrm>
                  <a:off x="7308304" y="1484784"/>
                  <a:ext cx="215900" cy="215969"/>
                </a:xfrm>
                <a:prstGeom prst="ellipse">
                  <a:avLst/>
                </a:prstGeom>
                <a:solidFill>
                  <a:srgbClr val="FF00FF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134" name="椭圆 133"/>
                <p:cNvSpPr/>
                <p:nvPr/>
              </p:nvSpPr>
              <p:spPr bwMode="auto">
                <a:xfrm>
                  <a:off x="6660356" y="1916887"/>
                  <a:ext cx="215900" cy="215969"/>
                </a:xfrm>
                <a:prstGeom prst="ellipse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135" name="椭圆 134"/>
                <p:cNvSpPr/>
                <p:nvPr/>
              </p:nvSpPr>
              <p:spPr bwMode="auto">
                <a:xfrm>
                  <a:off x="7323504" y="692696"/>
                  <a:ext cx="215900" cy="215969"/>
                </a:xfrm>
                <a:prstGeom prst="ellipse">
                  <a:avLst/>
                </a:prstGeom>
                <a:solidFill>
                  <a:srgbClr val="00B0F0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136" name="椭圆 23"/>
                <p:cNvSpPr/>
                <p:nvPr/>
              </p:nvSpPr>
              <p:spPr bwMode="auto">
                <a:xfrm>
                  <a:off x="8100392" y="1124744"/>
                  <a:ext cx="215900" cy="215969"/>
                </a:xfrm>
                <a:prstGeom prst="ellipse">
                  <a:avLst/>
                </a:prstGeom>
                <a:solidFill>
                  <a:srgbClr val="FFC000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sp>
              <p:nvSpPr>
                <p:cNvPr id="137" name="椭圆 136"/>
                <p:cNvSpPr/>
                <p:nvPr/>
              </p:nvSpPr>
              <p:spPr bwMode="auto">
                <a:xfrm>
                  <a:off x="7956376" y="1988840"/>
                  <a:ext cx="215900" cy="215969"/>
                </a:xfrm>
                <a:prstGeom prst="ellipse">
                  <a:avLst/>
                </a:prstGeom>
                <a:solidFill>
                  <a:srgbClr val="00B050"/>
                </a:solidFill>
                <a:ln w="9525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scene3d>
                  <a:camera prst="orthographicFront"/>
                  <a:lightRig rig="threePt" dir="t"/>
                </a:scene3d>
                <a:sp3d>
                  <a:bevelT w="50800"/>
                  <a:bevelB w="38100"/>
                </a:sp3d>
              </p:spPr>
              <p:txBody>
                <a:bodyPr/>
                <a:lstStyle>
                  <a:lvl1pPr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1pPr>
                  <a:lvl2pPr marL="742950" indent="-28575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2pPr>
                  <a:lvl3pPr marL="11430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3pPr>
                  <a:lvl4pPr marL="16002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4pPr>
                  <a:lvl5pPr marL="2057400" indent="-228600" eaLnBrk="0" hangingPunct="0"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 i="1">
                      <a:solidFill>
                        <a:schemeClr val="tx1"/>
                      </a:solidFill>
                      <a:latin typeface="Tahoma" panose="020B0604030504040204" charset="0"/>
                      <a:ea typeface="宋体" panose="02010600030101010101" pitchFamily="2" charset="-122"/>
                      <a:cs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endParaRPr>
                </a:p>
              </p:txBody>
            </p:sp>
            <p:cxnSp>
              <p:nvCxnSpPr>
                <p:cNvPr id="46180" name="直接连接符 137"/>
                <p:cNvCxnSpPr/>
                <p:nvPr/>
              </p:nvCxnSpPr>
              <p:spPr>
                <a:xfrm rot="-5400000" flipH="1">
                  <a:off x="6790613" y="1075078"/>
                  <a:ext cx="355692" cy="67969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181" name="直接连接符 138"/>
                <p:cNvCxnSpPr/>
                <p:nvPr/>
              </p:nvCxnSpPr>
              <p:spPr>
                <a:xfrm rot="5400000" flipH="1" flipV="1">
                  <a:off x="6952585" y="1561178"/>
                  <a:ext cx="279390" cy="49528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182" name="直接连接符 139"/>
                <p:cNvCxnSpPr/>
                <p:nvPr/>
              </p:nvCxnSpPr>
              <p:spPr>
                <a:xfrm flipV="1">
                  <a:off x="7524204" y="1309085"/>
                  <a:ext cx="607806" cy="28368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183" name="直接连接符 140"/>
                <p:cNvCxnSpPr/>
                <p:nvPr/>
              </p:nvCxnSpPr>
              <p:spPr>
                <a:xfrm rot="-5400000" flipH="1">
                  <a:off x="7488279" y="1628728"/>
                  <a:ext cx="396072" cy="54012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6184" name="TextBox 125"/>
              <p:cNvSpPr txBox="1"/>
              <p:nvPr/>
            </p:nvSpPr>
            <p:spPr>
              <a:xfrm>
                <a:off x="5292415" y="2060192"/>
                <a:ext cx="338092" cy="4617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0"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zh-CN" altLang="en-US" sz="2400" i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85" name="TextBox 126"/>
              <p:cNvSpPr txBox="1"/>
              <p:nvPr/>
            </p:nvSpPr>
            <p:spPr>
              <a:xfrm>
                <a:off x="3419414" y="2924998"/>
                <a:ext cx="338092" cy="4617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0"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zh-CN" altLang="en-US" sz="2400" i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86" name="TextBox 127"/>
              <p:cNvSpPr txBox="1"/>
              <p:nvPr/>
            </p:nvSpPr>
            <p:spPr>
              <a:xfrm>
                <a:off x="5076544" y="2996405"/>
                <a:ext cx="338092" cy="4617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0"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zh-CN" altLang="en-US" sz="2400" i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87" name="TextBox 128"/>
              <p:cNvSpPr txBox="1"/>
              <p:nvPr/>
            </p:nvSpPr>
            <p:spPr>
              <a:xfrm>
                <a:off x="3059099" y="1844386"/>
                <a:ext cx="338093" cy="4617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0"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zh-CN" altLang="en-US" sz="2400" i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88" name="TextBox 129"/>
              <p:cNvSpPr txBox="1"/>
              <p:nvPr/>
            </p:nvSpPr>
            <p:spPr>
              <a:xfrm>
                <a:off x="4500357" y="1412776"/>
                <a:ext cx="338093" cy="4617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0"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zh-CN" altLang="en-US" sz="2400" i="0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8" name="椭圆 107"/>
            <p:cNvSpPr/>
            <p:nvPr/>
          </p:nvSpPr>
          <p:spPr bwMode="auto">
            <a:xfrm>
              <a:off x="5724128" y="2420888"/>
              <a:ext cx="215900" cy="215969"/>
            </a:xfrm>
            <a:prstGeom prst="ellipse">
              <a:avLst/>
            </a:prstGeom>
            <a:solidFill>
              <a:srgbClr val="FF00FF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9" name="椭圆 108"/>
            <p:cNvSpPr/>
            <p:nvPr/>
          </p:nvSpPr>
          <p:spPr bwMode="auto">
            <a:xfrm>
              <a:off x="5724128" y="3140968"/>
              <a:ext cx="215900" cy="215969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0" name="椭圆 109"/>
            <p:cNvSpPr/>
            <p:nvPr/>
          </p:nvSpPr>
          <p:spPr bwMode="auto">
            <a:xfrm>
              <a:off x="5148064" y="3573016"/>
              <a:ext cx="215900" cy="215969"/>
            </a:xfrm>
            <a:prstGeom prst="ellipse">
              <a:avLst/>
            </a:prstGeom>
            <a:solidFill>
              <a:srgbClr val="FF00FF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6193" name="任意多边形 111"/>
            <p:cNvSpPr/>
            <p:nvPr/>
          </p:nvSpPr>
          <p:spPr>
            <a:xfrm>
              <a:off x="5268686" y="2133600"/>
              <a:ext cx="449943" cy="304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943" y="304800"/>
                </a:cxn>
                <a:cxn ang="0">
                  <a:pos x="449943" y="304800"/>
                </a:cxn>
              </a:cxnLst>
              <a:pathLst>
                <a:path w="449943" h="304800">
                  <a:moveTo>
                    <a:pt x="0" y="0"/>
                  </a:moveTo>
                  <a:lnTo>
                    <a:pt x="449943" y="304800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194" name="任意多边形 112"/>
            <p:cNvSpPr/>
            <p:nvPr/>
          </p:nvSpPr>
          <p:spPr>
            <a:xfrm>
              <a:off x="5849257" y="2627086"/>
              <a:ext cx="0" cy="5225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22514"/>
                </a:cxn>
              </a:cxnLst>
              <a:pathLst>
                <a:path w="1" h="522514">
                  <a:moveTo>
                    <a:pt x="0" y="0"/>
                  </a:moveTo>
                  <a:lnTo>
                    <a:pt x="0" y="522514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46195" name="直接连接符 113"/>
            <p:cNvCxnSpPr/>
            <p:nvPr/>
          </p:nvCxnSpPr>
          <p:spPr>
            <a:xfrm rot="-10800000" flipV="1">
              <a:off x="5364088" y="3356992"/>
              <a:ext cx="432048" cy="2880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15" name="椭圆 114"/>
            <p:cNvSpPr/>
            <p:nvPr/>
          </p:nvSpPr>
          <p:spPr bwMode="auto">
            <a:xfrm>
              <a:off x="2915816" y="2420888"/>
              <a:ext cx="215900" cy="215969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6" name="椭圆 115"/>
            <p:cNvSpPr/>
            <p:nvPr/>
          </p:nvSpPr>
          <p:spPr bwMode="auto">
            <a:xfrm>
              <a:off x="2771800" y="3068960"/>
              <a:ext cx="215900" cy="21596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7" name="椭圆 116"/>
            <p:cNvSpPr/>
            <p:nvPr/>
          </p:nvSpPr>
          <p:spPr bwMode="auto">
            <a:xfrm>
              <a:off x="2987824" y="3645024"/>
              <a:ext cx="215900" cy="215969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8" name="椭圆 117"/>
            <p:cNvSpPr/>
            <p:nvPr/>
          </p:nvSpPr>
          <p:spPr bwMode="auto">
            <a:xfrm>
              <a:off x="3635896" y="3717032"/>
              <a:ext cx="215900" cy="21596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6200" name="任意多边形 118"/>
            <p:cNvSpPr/>
            <p:nvPr/>
          </p:nvSpPr>
          <p:spPr>
            <a:xfrm>
              <a:off x="3006877" y="2090057"/>
              <a:ext cx="462037" cy="391886"/>
            </a:xfrm>
            <a:custGeom>
              <a:avLst/>
              <a:gdLst/>
              <a:ahLst/>
              <a:cxnLst>
                <a:cxn ang="0">
                  <a:pos x="462037" y="0"/>
                </a:cxn>
                <a:cxn ang="0">
                  <a:pos x="70152" y="333829"/>
                </a:cxn>
                <a:cxn ang="0">
                  <a:pos x="41123" y="348343"/>
                </a:cxn>
              </a:cxnLst>
              <a:pathLst>
                <a:path w="462037" h="391886">
                  <a:moveTo>
                    <a:pt x="462037" y="0"/>
                  </a:moveTo>
                  <a:lnTo>
                    <a:pt x="70152" y="333829"/>
                  </a:lnTo>
                  <a:cubicBezTo>
                    <a:pt x="0" y="391886"/>
                    <a:pt x="20561" y="370114"/>
                    <a:pt x="41123" y="348343"/>
                  </a:cubicBez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6201" name="任意多边形 119"/>
            <p:cNvSpPr/>
            <p:nvPr/>
          </p:nvSpPr>
          <p:spPr>
            <a:xfrm>
              <a:off x="2820609" y="2612571"/>
              <a:ext cx="169334" cy="464458"/>
            </a:xfrm>
            <a:custGeom>
              <a:avLst/>
              <a:gdLst/>
              <a:ahLst/>
              <a:cxnLst>
                <a:cxn ang="0">
                  <a:pos x="169334" y="0"/>
                </a:cxn>
                <a:cxn ang="0">
                  <a:pos x="24191" y="203200"/>
                </a:cxn>
                <a:cxn ang="0">
                  <a:pos x="24191" y="464458"/>
                </a:cxn>
              </a:cxnLst>
              <a:pathLst>
                <a:path w="169334" h="464458">
                  <a:moveTo>
                    <a:pt x="169334" y="0"/>
                  </a:moveTo>
                  <a:cubicBezTo>
                    <a:pt x="108858" y="62895"/>
                    <a:pt x="48382" y="125790"/>
                    <a:pt x="24191" y="203200"/>
                  </a:cubicBezTo>
                  <a:cubicBezTo>
                    <a:pt x="0" y="280610"/>
                    <a:pt x="12095" y="372534"/>
                    <a:pt x="24191" y="464458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46202" name="直接连接符 120"/>
            <p:cNvCxnSpPr/>
            <p:nvPr/>
          </p:nvCxnSpPr>
          <p:spPr>
            <a:xfrm rot="-5400000" flipH="1">
              <a:off x="2807703" y="3356951"/>
              <a:ext cx="360095" cy="2160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6203" name="任意多边形 121"/>
            <p:cNvSpPr/>
            <p:nvPr/>
          </p:nvSpPr>
          <p:spPr>
            <a:xfrm>
              <a:off x="3203847" y="3789040"/>
              <a:ext cx="504057" cy="7200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3521" y="0"/>
                </a:cxn>
              </a:cxnLst>
              <a:pathLst>
                <a:path w="522514" h="232228">
                  <a:moveTo>
                    <a:pt x="0" y="0"/>
                  </a:moveTo>
                  <a:lnTo>
                    <a:pt x="522514" y="232228"/>
                  </a:lnTo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46204" name="直接连接符 122"/>
            <p:cNvCxnSpPr/>
            <p:nvPr/>
          </p:nvCxnSpPr>
          <p:spPr>
            <a:xfrm flipV="1">
              <a:off x="3852108" y="3572479"/>
              <a:ext cx="575233" cy="25261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46205" name="直接连接符 123"/>
            <p:cNvCxnSpPr/>
            <p:nvPr/>
          </p:nvCxnSpPr>
          <p:spPr>
            <a:xfrm rot="5400000" flipH="1" flipV="1">
              <a:off x="4409845" y="3019326"/>
              <a:ext cx="535739" cy="5716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椭圆 1"/>
          <p:cNvSpPr/>
          <p:nvPr/>
        </p:nvSpPr>
        <p:spPr bwMode="auto">
          <a:xfrm>
            <a:off x="6300339" y="5598298"/>
            <a:ext cx="215866" cy="216080"/>
          </a:xfrm>
          <a:prstGeom prst="ellipse">
            <a:avLst/>
          </a:prstGeom>
          <a:solidFill>
            <a:srgbClr val="FF00FF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50800"/>
            <a:bevelB w="38100"/>
          </a:sp3d>
        </p:spPr>
        <p:txBody>
          <a:bodyPr/>
          <a:lstStyle>
            <a:lvl1pPr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3" name="直接连接符 16"/>
          <p:cNvCxnSpPr>
            <a:stCxn id="134" idx="5"/>
          </p:cNvCxnSpPr>
          <p:nvPr/>
        </p:nvCxnSpPr>
        <p:spPr>
          <a:xfrm>
            <a:off x="5981282" y="5413569"/>
            <a:ext cx="318770" cy="292735"/>
          </a:xfrm>
          <a:prstGeom prst="line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椭圆 3"/>
          <p:cNvSpPr/>
          <p:nvPr/>
        </p:nvSpPr>
        <p:spPr bwMode="auto">
          <a:xfrm>
            <a:off x="1723259" y="5021718"/>
            <a:ext cx="215866" cy="216080"/>
          </a:xfrm>
          <a:prstGeom prst="ellipse">
            <a:avLst/>
          </a:prstGeom>
          <a:solidFill>
            <a:srgbClr val="FF00FF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50800"/>
            <a:bevelB w="38100"/>
          </a:sp3d>
        </p:spPr>
        <p:txBody>
          <a:bodyPr/>
          <a:lstStyle>
            <a:lvl1pPr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5" name="直接连接符 16"/>
          <p:cNvCxnSpPr/>
          <p:nvPr/>
        </p:nvCxnSpPr>
        <p:spPr>
          <a:xfrm>
            <a:off x="1404202" y="4836989"/>
            <a:ext cx="318770" cy="292735"/>
          </a:xfrm>
          <a:prstGeom prst="line">
            <a:avLst/>
          </a:prstGeom>
          <a:solidFill>
            <a:srgbClr val="FF00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四色定理</a:t>
            </a:r>
            <a:endParaRPr lang="zh-CN" altLang="en-US"/>
          </a:p>
        </p:txBody>
      </p:sp>
      <p:sp>
        <p:nvSpPr>
          <p:cNvPr id="44034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p>
            <a:pPr marL="342900" marR="0" indent="-3429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kumimoji="0" lang="zh-CN" sz="2800" b="1" i="0" u="none" strike="noStrike" kern="1200" cap="none" spc="0" normalizeH="0" baseline="0" noProof="1">
                <a:solidFill>
                  <a:schemeClr val="hlink"/>
                </a:solidFill>
                <a:latin typeface="+mn-lt"/>
                <a:ea typeface="+mn-ea"/>
                <a:cs typeface="+mn-cs"/>
              </a:rPr>
              <a:t>定理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hlink"/>
                </a:solidFill>
                <a:latin typeface="+mn-lt"/>
                <a:ea typeface="+mn-ea"/>
                <a:cs typeface="+mn-cs"/>
              </a:rPr>
              <a:t>12.17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</a:t>
            </a:r>
            <a:r>
              <a:rPr kumimoji="0" 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任何平面图都是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4-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可着色的。</a:t>
            </a:r>
            <a:endParaRPr kumimoji="0" lang="zh-CN" altLang="en-US" sz="28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证：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1976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年，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美国的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Appel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（阿佩尔）和</a:t>
            </a:r>
            <a:r>
              <a:rPr kumimoji="0" lang="en-US" altLang="zh-CN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Haken</a:t>
            </a:r>
            <a:r>
              <a:rPr kumimoji="0" lang="zh-CN" altLang="en-US" sz="2800" b="1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（黑肯）最终借助电子计算机完成了四色猜想的证明。</a:t>
            </a:r>
            <a:endParaRPr kumimoji="0" lang="en-US" altLang="zh-CN" sz="2800" b="1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813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charRg st="23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Rectangle 2"/>
          <p:cNvSpPr>
            <a:spLocks noGrp="1"/>
          </p:cNvSpPr>
          <p:nvPr>
            <p:ph type="ctrTitle" idx="4294967295"/>
          </p:nvPr>
        </p:nvSpPr>
        <p:spPr>
          <a:xfrm>
            <a:off x="555625" y="1938338"/>
            <a:ext cx="7772400" cy="1462087"/>
          </a:xfrm>
          <a:effectLst>
            <a:outerShdw dist="17961" dir="2699999" algn="ctr" rotWithShape="0">
              <a:schemeClr val="bg2"/>
            </a:outerShdw>
          </a:effectLst>
        </p:spPr>
        <p:txBody>
          <a:bodyPr vert="horz" wrap="square" anchor="b" anchorCtr="0"/>
          <a:lstStyle>
            <a:lvl1pPr lvl="0">
              <a:buClrTx/>
              <a:buSzTx/>
              <a:buFontTx/>
              <a:defRPr/>
            </a:lvl1pPr>
          </a:lstStyle>
          <a:p>
            <a:pPr lvl="0" algn="ctr" eaLnBrk="1" hangingPunct="1">
              <a:buClrTx/>
              <a:buSzTx/>
              <a:buFontTx/>
            </a:pPr>
            <a:r>
              <a:rPr lang="en-US" altLang="zh-CN" sz="4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12.4 </a:t>
            </a:r>
            <a:r>
              <a:rPr lang="zh-CN" altLang="en-US" sz="4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</a:t>
            </a:r>
            <a:r>
              <a:rPr lang="zh-CN" altLang="en-US" sz="48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着色</a:t>
            </a:r>
            <a:endParaRPr lang="zh-CN" altLang="en-US" sz="4800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边着色</a:t>
            </a:r>
            <a:endParaRPr lang="zh-CN" altLang="en-US"/>
          </a:p>
        </p:txBody>
      </p:sp>
      <p:sp>
        <p:nvSpPr>
          <p:cNvPr id="50178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>
                <a:solidFill>
                  <a:schemeClr val="hlink"/>
                </a:solidFill>
              </a:rPr>
              <a:t>边色数</a:t>
            </a:r>
            <a:r>
              <a:rPr lang="en-US" altLang="zh-CN"/>
              <a:t>: </a:t>
            </a:r>
            <a:r>
              <a:rPr lang="el-GR" altLang="zh-CN"/>
              <a:t>χ</a:t>
            </a:r>
            <a:r>
              <a:rPr lang="el-GR" altLang="zh-CN">
                <a:latin typeface="Tahoma" panose="020B0604030504040204" charset="0"/>
              </a:rPr>
              <a:t>’</a:t>
            </a:r>
            <a:r>
              <a:rPr lang="el-GR" altLang="zh-CN"/>
              <a:t>(</a:t>
            </a:r>
            <a:r>
              <a:rPr lang="en-US" altLang="zh-CN"/>
              <a:t>G)</a:t>
            </a:r>
            <a:endParaRPr lang="en-US" altLang="zh-CN"/>
          </a:p>
          <a:p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12.17</a:t>
            </a:r>
            <a:r>
              <a:rPr lang="en-US" altLang="zh-CN"/>
              <a:t>(Vizing,</a:t>
            </a:r>
            <a:r>
              <a:rPr lang="zh-CN" altLang="en-US"/>
              <a:t>维津</a:t>
            </a:r>
            <a:r>
              <a:rPr lang="en-US" altLang="zh-CN"/>
              <a:t>): G</a:t>
            </a:r>
            <a:r>
              <a:rPr lang="zh-CN" altLang="en-US"/>
              <a:t>是</a:t>
            </a:r>
            <a:r>
              <a:rPr lang="zh-CN" altLang="en-US">
                <a:solidFill>
                  <a:srgbClr val="FF0000"/>
                </a:solidFill>
              </a:rPr>
              <a:t>简单图</a:t>
            </a:r>
            <a:r>
              <a:rPr lang="en-US" altLang="zh-CN"/>
              <a:t>,</a:t>
            </a:r>
            <a:r>
              <a:rPr lang="zh-CN" altLang="en-US"/>
              <a:t>则</a:t>
            </a:r>
            <a:endParaRPr lang="zh-CN" altLang="en-US"/>
          </a:p>
          <a:p>
            <a:pPr>
              <a:buNone/>
            </a:pPr>
            <a:r>
              <a:rPr lang="en-US" altLang="zh-CN"/>
              <a:t>          </a:t>
            </a:r>
            <a:r>
              <a:rPr lang="el-GR" altLang="zh-CN"/>
              <a:t>Δ(</a:t>
            </a:r>
            <a:r>
              <a:rPr lang="en-US" altLang="zh-CN"/>
              <a:t>G) ≤ </a:t>
            </a:r>
            <a:r>
              <a:rPr lang="el-GR" altLang="zh-CN"/>
              <a:t>χ</a:t>
            </a:r>
            <a:r>
              <a:rPr lang="el-GR" altLang="zh-CN">
                <a:latin typeface="Tahoma" panose="020B0604030504040204" charset="0"/>
              </a:rPr>
              <a:t>’</a:t>
            </a:r>
            <a:r>
              <a:rPr lang="el-GR" altLang="zh-CN"/>
              <a:t>(</a:t>
            </a:r>
            <a:r>
              <a:rPr lang="en-US" altLang="zh-CN"/>
              <a:t>G) ≤ </a:t>
            </a:r>
            <a:r>
              <a:rPr lang="el-GR" altLang="zh-CN"/>
              <a:t>Δ(</a:t>
            </a:r>
            <a:r>
              <a:rPr lang="en-US" altLang="zh-CN"/>
              <a:t>G)+1. </a:t>
            </a:r>
            <a:endParaRPr lang="en-US" altLang="zh-CN"/>
          </a:p>
          <a:p>
            <a:r>
              <a:rPr lang="en-US" altLang="zh-CN"/>
              <a:t>G=&lt;V</a:t>
            </a:r>
            <a:r>
              <a:rPr lang="en-US" altLang="zh-CN" baseline="-25000"/>
              <a:t>1</a:t>
            </a:r>
            <a:r>
              <a:rPr lang="en-US" altLang="zh-CN"/>
              <a:t>,V</a:t>
            </a:r>
            <a:r>
              <a:rPr lang="en-US" altLang="zh-CN" baseline="-25000"/>
              <a:t>2</a:t>
            </a:r>
            <a:r>
              <a:rPr lang="en-US" altLang="zh-CN"/>
              <a:t>,E&gt;</a:t>
            </a:r>
            <a:r>
              <a:rPr lang="zh-CN" altLang="en-US"/>
              <a:t>是二部图</a:t>
            </a:r>
            <a:r>
              <a:rPr lang="en-US" altLang="zh-CN"/>
              <a:t>, </a:t>
            </a:r>
            <a:r>
              <a:rPr lang="zh-CN" altLang="en-US"/>
              <a:t>则</a:t>
            </a:r>
            <a:r>
              <a:rPr lang="el-GR" altLang="zh-CN"/>
              <a:t>χ</a:t>
            </a:r>
            <a:r>
              <a:rPr lang="el-GR" altLang="zh-CN">
                <a:latin typeface="Tahoma" panose="020B0604030504040204" charset="0"/>
              </a:rPr>
              <a:t>’</a:t>
            </a:r>
            <a:r>
              <a:rPr lang="el-GR" altLang="zh-CN"/>
              <a:t>(</a:t>
            </a:r>
            <a:r>
              <a:rPr lang="en-US" altLang="zh-CN"/>
              <a:t>G)=</a:t>
            </a:r>
            <a:r>
              <a:rPr lang="el-GR" altLang="zh-CN"/>
              <a:t>Δ(</a:t>
            </a:r>
            <a:r>
              <a:rPr lang="en-US" altLang="zh-CN"/>
              <a:t>G)</a:t>
            </a:r>
            <a:endParaRPr lang="en-US" altLang="zh-CN"/>
          </a:p>
          <a:p>
            <a:endParaRPr lang="en-US" altLang="zh-CN"/>
          </a:p>
          <a:p>
            <a:r>
              <a:rPr lang="en-US" altLang="zh-CN" i="1"/>
              <a:t>n</a:t>
            </a:r>
            <a:r>
              <a:rPr lang="en-US" altLang="zh-CN"/>
              <a:t>&gt;1</a:t>
            </a:r>
            <a:r>
              <a:rPr lang="zh-CN" altLang="en-US"/>
              <a:t>时</a:t>
            </a:r>
            <a:r>
              <a:rPr lang="en-US" altLang="zh-CN"/>
              <a:t>,</a:t>
            </a:r>
            <a:endParaRPr lang="en-US" altLang="zh-CN"/>
          </a:p>
        </p:txBody>
      </p:sp>
      <p:sp>
        <p:nvSpPr>
          <p:cNvPr id="5017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  <p:graphicFrame>
        <p:nvGraphicFramePr>
          <p:cNvPr id="50180" name="Object 2"/>
          <p:cNvGraphicFramePr>
            <a:graphicFrameLocks noChangeAspect="1"/>
          </p:cNvGraphicFramePr>
          <p:nvPr/>
        </p:nvGraphicFramePr>
        <p:xfrm>
          <a:off x="2017713" y="4152900"/>
          <a:ext cx="510857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222500" imgH="482600" progId="Equation.3">
                  <p:embed/>
                </p:oleObj>
              </mc:Choice>
              <mc:Fallback>
                <p:oleObj name="" r:id="rId1" imgW="2222500" imgH="4826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17713" y="4152900"/>
                        <a:ext cx="5108575" cy="1108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例</a:t>
            </a:r>
            <a:r>
              <a:rPr lang="en-US" altLang="zh-CN"/>
              <a:t>12.5</a:t>
            </a:r>
            <a:endParaRPr lang="zh-CN" altLang="en-US"/>
          </a:p>
        </p:txBody>
      </p:sp>
      <p:sp>
        <p:nvSpPr>
          <p:cNvPr id="51202" name="内容占位符 2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4830763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例</a:t>
            </a:r>
            <a:r>
              <a:rPr lang="en-US" altLang="zh-CN">
                <a:solidFill>
                  <a:srgbClr val="FF0000"/>
                </a:solidFill>
              </a:rPr>
              <a:t>12.5</a:t>
            </a:r>
            <a:r>
              <a:rPr lang="zh-CN" altLang="en-US">
                <a:solidFill>
                  <a:srgbClr val="FF0000"/>
                </a:solidFill>
              </a:rPr>
              <a:t> </a:t>
            </a:r>
            <a:r>
              <a:rPr lang="en-US" altLang="zh-CN">
                <a:solidFill>
                  <a:srgbClr val="FF0000"/>
                </a:solidFill>
              </a:rPr>
              <a:t>G=&lt;V</a:t>
            </a:r>
            <a:r>
              <a:rPr lang="en-US" altLang="zh-CN" baseline="-25000">
                <a:solidFill>
                  <a:srgbClr val="FF0000"/>
                </a:solidFill>
              </a:rPr>
              <a:t>1</a:t>
            </a:r>
            <a:r>
              <a:rPr lang="en-US" altLang="zh-CN">
                <a:solidFill>
                  <a:srgbClr val="FF0000"/>
                </a:solidFill>
              </a:rPr>
              <a:t>,V</a:t>
            </a:r>
            <a:r>
              <a:rPr lang="en-US" altLang="zh-CN" baseline="-25000">
                <a:solidFill>
                  <a:srgbClr val="FF0000"/>
                </a:solidFill>
              </a:rPr>
              <a:t>2</a:t>
            </a:r>
            <a:r>
              <a:rPr lang="en-US" altLang="zh-CN">
                <a:solidFill>
                  <a:srgbClr val="FF0000"/>
                </a:solidFill>
              </a:rPr>
              <a:t>,E&gt;</a:t>
            </a:r>
            <a:r>
              <a:rPr lang="zh-CN" altLang="en-US">
                <a:solidFill>
                  <a:srgbClr val="FF0000"/>
                </a:solidFill>
              </a:rPr>
              <a:t>是二部图</a:t>
            </a:r>
            <a:r>
              <a:rPr lang="en-US" altLang="zh-CN">
                <a:solidFill>
                  <a:srgbClr val="FF0000"/>
                </a:solidFill>
              </a:rPr>
              <a:t>, </a:t>
            </a:r>
            <a:r>
              <a:rPr lang="zh-CN" altLang="en-US">
                <a:solidFill>
                  <a:srgbClr val="FF0000"/>
                </a:solidFill>
              </a:rPr>
              <a:t>则</a:t>
            </a:r>
            <a:r>
              <a:rPr lang="el-GR" altLang="zh-CN">
                <a:solidFill>
                  <a:srgbClr val="FF0000"/>
                </a:solidFill>
              </a:rPr>
              <a:t>χ</a:t>
            </a:r>
            <a:r>
              <a:rPr lang="el-GR" altLang="zh-CN">
                <a:solidFill>
                  <a:srgbClr val="FF0000"/>
                </a:solidFill>
                <a:latin typeface="Tahoma" panose="020B0604030504040204" charset="0"/>
              </a:rPr>
              <a:t>’</a:t>
            </a:r>
            <a:r>
              <a:rPr lang="el-GR" altLang="zh-CN">
                <a:solidFill>
                  <a:srgbClr val="FF0000"/>
                </a:solidFill>
              </a:rPr>
              <a:t>(</a:t>
            </a:r>
            <a:r>
              <a:rPr lang="en-US" altLang="zh-CN">
                <a:solidFill>
                  <a:srgbClr val="FF0000"/>
                </a:solidFill>
              </a:rPr>
              <a:t>G)=</a:t>
            </a:r>
            <a:r>
              <a:rPr lang="el-GR" altLang="zh-CN">
                <a:solidFill>
                  <a:srgbClr val="FF0000"/>
                </a:solidFill>
              </a:rPr>
              <a:t>Δ(</a:t>
            </a:r>
            <a:r>
              <a:rPr lang="en-US" altLang="zh-CN">
                <a:solidFill>
                  <a:srgbClr val="FF0000"/>
                </a:solidFill>
              </a:rPr>
              <a:t>G)</a:t>
            </a:r>
            <a:endParaRPr lang="en-US" altLang="zh-CN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hlink"/>
                </a:solidFill>
              </a:rPr>
              <a:t>证明</a:t>
            </a:r>
            <a:r>
              <a:rPr lang="en-US" altLang="zh-CN"/>
              <a:t>: (</a:t>
            </a:r>
            <a:r>
              <a:rPr lang="zh-CN" altLang="en-US"/>
              <a:t>归纳法</a:t>
            </a:r>
            <a:r>
              <a:rPr lang="en-US" altLang="zh-CN"/>
              <a:t>) (1) </a:t>
            </a:r>
            <a:r>
              <a:rPr lang="en-US" altLang="zh-CN" i="1"/>
              <a:t>m</a:t>
            </a:r>
            <a:r>
              <a:rPr lang="en-US" altLang="zh-CN"/>
              <a:t>=0,1: </a:t>
            </a:r>
            <a:r>
              <a:rPr lang="zh-CN" altLang="en-US"/>
              <a:t>结论为真</a:t>
            </a:r>
            <a:r>
              <a:rPr lang="en-US" altLang="zh-CN"/>
              <a:t>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(2) </a:t>
            </a:r>
            <a:r>
              <a:rPr lang="zh-CN" altLang="en-US"/>
              <a:t>设</a:t>
            </a:r>
            <a:r>
              <a:rPr lang="en-US" altLang="zh-CN" i="1"/>
              <a:t>m</a:t>
            </a:r>
            <a:r>
              <a:rPr lang="en-US" altLang="zh-CN"/>
              <a:t>=</a:t>
            </a:r>
            <a:r>
              <a:rPr lang="en-US" altLang="zh-CN" i="1"/>
              <a:t>k</a:t>
            </a:r>
            <a:r>
              <a:rPr lang="en-US" altLang="zh-CN"/>
              <a:t>(</a:t>
            </a:r>
            <a:r>
              <a:rPr lang="zh-CN" altLang="en-US"/>
              <a:t>≥</a:t>
            </a:r>
            <a:r>
              <a:rPr lang="en-US" altLang="zh-CN"/>
              <a:t>1)</a:t>
            </a:r>
            <a:r>
              <a:rPr lang="zh-CN" altLang="en-US"/>
              <a:t>时结论为真</a:t>
            </a:r>
            <a:r>
              <a:rPr lang="en-US" altLang="zh-CN"/>
              <a:t>. </a:t>
            </a:r>
            <a:r>
              <a:rPr lang="en-US" altLang="zh-CN" i="1"/>
              <a:t>m</a:t>
            </a:r>
            <a:r>
              <a:rPr lang="en-US" altLang="zh-CN"/>
              <a:t>=</a:t>
            </a:r>
            <a:r>
              <a:rPr lang="en-US" altLang="zh-CN" i="1"/>
              <a:t>k</a:t>
            </a:r>
            <a:r>
              <a:rPr lang="en-US" altLang="zh-CN"/>
              <a:t>+1</a:t>
            </a:r>
            <a:r>
              <a:rPr lang="zh-CN" altLang="en-US"/>
              <a:t>时</a:t>
            </a:r>
            <a:r>
              <a:rPr lang="en-US" altLang="zh-CN"/>
              <a:t>,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∃</a:t>
            </a:r>
            <a:r>
              <a:rPr lang="en-US" altLang="zh-CN" i="1"/>
              <a:t>e</a:t>
            </a:r>
            <a:r>
              <a:rPr lang="en-US" altLang="zh-CN"/>
              <a:t>=(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)∈</a:t>
            </a:r>
            <a:r>
              <a:rPr lang="en-US" altLang="zh-CN" i="1"/>
              <a:t>E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/>
              <a:t>). </a:t>
            </a:r>
            <a:r>
              <a:rPr lang="zh-CN" altLang="en-US"/>
              <a:t>令</a:t>
            </a:r>
            <a:r>
              <a:rPr lang="en-US" altLang="zh-CN" i="1"/>
              <a:t>G</a:t>
            </a:r>
            <a:r>
              <a:rPr lang="en-US" altLang="zh-CN" baseline="-25000"/>
              <a:t>1</a:t>
            </a:r>
            <a:r>
              <a:rPr lang="en-US" altLang="zh-CN"/>
              <a:t>=</a:t>
            </a:r>
            <a:r>
              <a:rPr lang="en-US" altLang="zh-CN" i="1"/>
              <a:t>G</a:t>
            </a:r>
            <a:r>
              <a:rPr lang="en-US" altLang="zh-CN"/>
              <a:t>-</a:t>
            </a:r>
            <a:r>
              <a:rPr lang="en-US" altLang="zh-CN" i="1"/>
              <a:t>e</a:t>
            </a:r>
            <a:r>
              <a:rPr lang="en-US" altLang="zh-CN"/>
              <a:t>, </a:t>
            </a:r>
            <a:r>
              <a:rPr lang="el-GR" altLang="zh-CN"/>
              <a:t>Δ(</a:t>
            </a:r>
            <a:r>
              <a:rPr lang="en-US" altLang="zh-CN"/>
              <a:t>G</a:t>
            </a:r>
            <a:r>
              <a:rPr lang="en-US" altLang="zh-CN" baseline="-25000"/>
              <a:t>1</a:t>
            </a:r>
            <a:r>
              <a:rPr lang="en-US" altLang="zh-CN"/>
              <a:t>)≤</a:t>
            </a:r>
            <a:r>
              <a:rPr lang="el-GR" altLang="zh-CN"/>
              <a:t>Δ(</a:t>
            </a:r>
            <a:r>
              <a:rPr lang="en-US" altLang="zh-CN"/>
              <a:t>G)=Δ, </a:t>
            </a:r>
            <a:r>
              <a:rPr lang="zh-CN" altLang="en-US"/>
              <a:t>对</a:t>
            </a:r>
            <a:r>
              <a:rPr lang="en-US" altLang="zh-CN"/>
              <a:t>G</a:t>
            </a:r>
            <a:r>
              <a:rPr lang="en-US" altLang="zh-CN" baseline="-25000"/>
              <a:t>1</a:t>
            </a:r>
            <a:r>
              <a:rPr lang="zh-CN" altLang="en-US"/>
              <a:t>用归纳假设</a:t>
            </a:r>
            <a:r>
              <a:rPr lang="en-US" altLang="zh-CN"/>
              <a:t>, G</a:t>
            </a:r>
            <a:r>
              <a:rPr lang="en-US" altLang="zh-CN" baseline="-25000"/>
              <a:t>1</a:t>
            </a:r>
            <a:r>
              <a:rPr lang="zh-CN" altLang="en-US"/>
              <a:t>可</a:t>
            </a:r>
            <a:r>
              <a:rPr lang="en-US" altLang="zh-CN"/>
              <a:t>Δ-</a:t>
            </a:r>
            <a:r>
              <a:rPr lang="zh-CN" altLang="en-US"/>
              <a:t>边着色</a:t>
            </a:r>
            <a:r>
              <a:rPr lang="en-US" altLang="zh-CN"/>
              <a:t>. </a:t>
            </a:r>
            <a:r>
              <a:rPr lang="zh-CN" altLang="en-US"/>
              <a:t>模仿</a:t>
            </a:r>
            <a:r>
              <a:rPr lang="en-US" altLang="zh-CN"/>
              <a:t>G</a:t>
            </a:r>
            <a:r>
              <a:rPr lang="en-US" altLang="zh-CN" baseline="-25000"/>
              <a:t>1</a:t>
            </a:r>
            <a:r>
              <a:rPr lang="zh-CN" altLang="en-US"/>
              <a:t>对</a:t>
            </a:r>
            <a:r>
              <a:rPr lang="en-US" altLang="zh-CN"/>
              <a:t>G</a:t>
            </a:r>
            <a:r>
              <a:rPr lang="zh-CN" altLang="en-US"/>
              <a:t>边着色</a:t>
            </a:r>
            <a:r>
              <a:rPr lang="en-US" altLang="zh-CN"/>
              <a:t>, </a:t>
            </a:r>
            <a:endParaRPr lang="en-US" altLang="zh-CN"/>
          </a:p>
          <a:p>
            <a:pPr marL="0" indent="0">
              <a:buNone/>
            </a:pPr>
            <a:r>
              <a:rPr lang="en-US" altLang="zh-CN" i="1"/>
              <a:t>a</a:t>
            </a:r>
            <a:r>
              <a:rPr lang="en-US" altLang="zh-CN"/>
              <a:t>)</a:t>
            </a:r>
            <a:r>
              <a:rPr lang="zh-CN" altLang="en-US"/>
              <a:t>当存在颜色</a:t>
            </a:r>
            <a:r>
              <a:rPr lang="en-US" altLang="zh-CN"/>
              <a:t>α</a:t>
            </a:r>
            <a:r>
              <a:rPr lang="zh-CN" altLang="en-US"/>
              <a:t>既不出现在</a:t>
            </a:r>
            <a:r>
              <a:rPr lang="en-US" altLang="zh-CN" i="1"/>
              <a:t>u</a:t>
            </a:r>
            <a:r>
              <a:rPr lang="zh-CN" altLang="en-US"/>
              <a:t>也不出现在</a:t>
            </a:r>
            <a:r>
              <a:rPr lang="en-US" altLang="zh-CN" i="1"/>
              <a:t>v</a:t>
            </a:r>
            <a:r>
              <a:rPr lang="zh-CN" altLang="en-US"/>
              <a:t>时</a:t>
            </a:r>
            <a:r>
              <a:rPr lang="en-US" altLang="zh-CN"/>
              <a:t>, </a:t>
            </a:r>
            <a:r>
              <a:rPr lang="zh-CN" altLang="en-US"/>
              <a:t>用颜色</a:t>
            </a:r>
            <a:r>
              <a:rPr lang="en-US" altLang="zh-CN"/>
              <a:t>α</a:t>
            </a:r>
            <a:r>
              <a:rPr lang="zh-CN" altLang="en-US"/>
              <a:t>给</a:t>
            </a:r>
            <a:r>
              <a:rPr lang="en-US" altLang="zh-CN" i="1"/>
              <a:t>e</a:t>
            </a:r>
            <a:r>
              <a:rPr lang="zh-CN" altLang="en-US"/>
              <a:t>着色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5120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例</a:t>
            </a:r>
            <a:r>
              <a:rPr lang="en-US" altLang="zh-CN"/>
              <a:t>12.5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522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  <p:grpSp>
        <p:nvGrpSpPr>
          <p:cNvPr id="52228" name="组合 63"/>
          <p:cNvGrpSpPr/>
          <p:nvPr/>
        </p:nvGrpSpPr>
        <p:grpSpPr>
          <a:xfrm>
            <a:off x="684213" y="1239838"/>
            <a:ext cx="2303462" cy="1684337"/>
            <a:chOff x="683568" y="1239143"/>
            <a:chExt cx="2304256" cy="1685801"/>
          </a:xfrm>
        </p:grpSpPr>
        <p:grpSp>
          <p:nvGrpSpPr>
            <p:cNvPr id="52229" name="组合 28"/>
            <p:cNvGrpSpPr/>
            <p:nvPr/>
          </p:nvGrpSpPr>
          <p:grpSpPr>
            <a:xfrm>
              <a:off x="683568" y="1239143"/>
              <a:ext cx="2304256" cy="1685801"/>
              <a:chOff x="683568" y="1239143"/>
              <a:chExt cx="2304256" cy="1685801"/>
            </a:xfrm>
          </p:grpSpPr>
          <p:sp>
            <p:nvSpPr>
              <p:cNvPr id="6" name="椭圆 5"/>
              <p:cNvSpPr/>
              <p:nvPr/>
            </p:nvSpPr>
            <p:spPr bwMode="auto">
              <a:xfrm>
                <a:off x="1202700" y="1628800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7" name="椭圆 6"/>
              <p:cNvSpPr/>
              <p:nvPr/>
            </p:nvSpPr>
            <p:spPr bwMode="auto">
              <a:xfrm>
                <a:off x="1907828" y="2348880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52232" name="TextBox 7"/>
              <p:cNvSpPr txBox="1"/>
              <p:nvPr/>
            </p:nvSpPr>
            <p:spPr>
              <a:xfrm>
                <a:off x="1115517" y="1239143"/>
                <a:ext cx="355723" cy="4623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>
                    <a:solidFill>
                      <a:schemeClr val="tx2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u</a:t>
                </a:r>
                <a:endParaRPr lang="zh-CN" altLang="en-US" sz="2400">
                  <a:solidFill>
                    <a:schemeClr val="tx2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233" name="TextBox 8"/>
              <p:cNvSpPr txBox="1"/>
              <p:nvPr/>
            </p:nvSpPr>
            <p:spPr>
              <a:xfrm>
                <a:off x="1836490" y="2462580"/>
                <a:ext cx="320786" cy="4623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>
                    <a:solidFill>
                      <a:schemeClr val="tx2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endParaRPr lang="zh-CN" altLang="en-US" sz="2400">
                  <a:solidFill>
                    <a:schemeClr val="tx2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2234" name="直接连接符 10"/>
              <p:cNvCxnSpPr/>
              <p:nvPr/>
            </p:nvCxnSpPr>
            <p:spPr>
              <a:xfrm rot="-10800000" flipV="1">
                <a:off x="683568" y="1736784"/>
                <a:ext cx="519132" cy="324063"/>
              </a:xfrm>
              <a:prstGeom prst="line">
                <a:avLst/>
              </a:prstGeom>
              <a:ln w="9525" cap="flat" cmpd="sng">
                <a:solidFill>
                  <a:srgbClr val="FFC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235" name="直接连接符 12"/>
              <p:cNvCxnSpPr/>
              <p:nvPr/>
            </p:nvCxnSpPr>
            <p:spPr>
              <a:xfrm rot="-5400000" flipH="1">
                <a:off x="1115616" y="2060848"/>
                <a:ext cx="504056" cy="72008"/>
              </a:xfrm>
              <a:prstGeom prst="line">
                <a:avLst/>
              </a:prstGeom>
              <a:ln w="9525" cap="flat" cmpd="sng">
                <a:solidFill>
                  <a:srgbClr val="0070C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236" name="直接连接符 15"/>
              <p:cNvCxnSpPr/>
              <p:nvPr/>
            </p:nvCxnSpPr>
            <p:spPr>
              <a:xfrm rot="-5400000" flipH="1">
                <a:off x="1367701" y="1808763"/>
                <a:ext cx="607692" cy="53579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2237" name="TextBox 16"/>
              <p:cNvSpPr txBox="1"/>
              <p:nvPr/>
            </p:nvSpPr>
            <p:spPr>
              <a:xfrm>
                <a:off x="1618927" y="1701507"/>
                <a:ext cx="322374" cy="4607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>
                    <a:solidFill>
                      <a:schemeClr val="tx2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e</a:t>
                </a:r>
                <a:endParaRPr lang="zh-CN" altLang="en-US" sz="2400">
                  <a:solidFill>
                    <a:schemeClr val="tx2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2238" name="直接连接符 18"/>
              <p:cNvCxnSpPr/>
              <p:nvPr/>
            </p:nvCxnSpPr>
            <p:spPr>
              <a:xfrm rot="5400000">
                <a:off x="583054" y="1985646"/>
                <a:ext cx="823771" cy="478742"/>
              </a:xfrm>
              <a:prstGeom prst="line">
                <a:avLst/>
              </a:prstGeom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239" name="直接连接符 20"/>
              <p:cNvCxnSpPr/>
              <p:nvPr/>
            </p:nvCxnSpPr>
            <p:spPr>
              <a:xfrm rot="5400000" flipH="1" flipV="1">
                <a:off x="1781721" y="1934865"/>
                <a:ext cx="648072" cy="179958"/>
              </a:xfrm>
              <a:prstGeom prst="line">
                <a:avLst/>
              </a:prstGeom>
              <a:ln w="9525" cap="flat" cmpd="sng">
                <a:solidFill>
                  <a:srgbClr val="FFC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240" name="直接连接符 22"/>
              <p:cNvCxnSpPr/>
              <p:nvPr/>
            </p:nvCxnSpPr>
            <p:spPr>
              <a:xfrm rot="5400000" flipH="1" flipV="1">
                <a:off x="2020097" y="1916837"/>
                <a:ext cx="535684" cy="391658"/>
              </a:xfrm>
              <a:prstGeom prst="line">
                <a:avLst/>
              </a:prstGeom>
              <a:ln w="9525" cap="flat" cmpd="sng">
                <a:solidFill>
                  <a:srgbClr val="00B0F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241" name="直接连接符 26"/>
              <p:cNvCxnSpPr/>
              <p:nvPr/>
            </p:nvCxnSpPr>
            <p:spPr>
              <a:xfrm flipV="1">
                <a:off x="2123728" y="1700808"/>
                <a:ext cx="864096" cy="792088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2242" name="TextBox 57"/>
            <p:cNvSpPr txBox="1"/>
            <p:nvPr/>
          </p:nvSpPr>
          <p:spPr>
            <a:xfrm>
              <a:off x="899542" y="2132093"/>
              <a:ext cx="352546" cy="46236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solidFill>
                    <a:srgbClr val="C00000"/>
                  </a:solidFill>
                  <a:latin typeface="Times New Roman" panose="02020603050405020304" charset="0"/>
                  <a:ea typeface="宋体" panose="02010600030101010101" pitchFamily="2" charset="-122"/>
                  <a:sym typeface="Symbol" panose="05050102010706020507" charset="2"/>
                </a:rPr>
                <a:t></a:t>
              </a:r>
              <a:endParaRPr lang="zh-CN" altLang="en-US" sz="2400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43" name="TextBox 58"/>
            <p:cNvSpPr txBox="1"/>
            <p:nvPr/>
          </p:nvSpPr>
          <p:spPr>
            <a:xfrm>
              <a:off x="2484414" y="1989094"/>
              <a:ext cx="311257" cy="460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solidFill>
                    <a:srgbClr val="C00000"/>
                  </a:solidFill>
                  <a:latin typeface="Times New Roman" panose="02020603050405020304" charset="0"/>
                  <a:ea typeface="宋体" panose="02010600030101010101" pitchFamily="2" charset="-122"/>
                  <a:sym typeface="Symbol" panose="05050102010706020507" charset="2"/>
                </a:rPr>
                <a:t></a:t>
              </a:r>
              <a:endParaRPr lang="zh-CN" altLang="en-US" sz="2400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2244" name="组合 62"/>
          <p:cNvGrpSpPr/>
          <p:nvPr/>
        </p:nvGrpSpPr>
        <p:grpSpPr>
          <a:xfrm>
            <a:off x="3851275" y="1341438"/>
            <a:ext cx="3384550" cy="1757362"/>
            <a:chOff x="3852044" y="1340768"/>
            <a:chExt cx="3384128" cy="1757809"/>
          </a:xfrm>
        </p:grpSpPr>
        <p:sp>
          <p:nvSpPr>
            <p:cNvPr id="31" name="椭圆 30"/>
            <p:cNvSpPr/>
            <p:nvPr/>
          </p:nvSpPr>
          <p:spPr bwMode="auto">
            <a:xfrm>
              <a:off x="3852044" y="2492896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2" name="椭圆 31"/>
            <p:cNvSpPr/>
            <p:nvPr/>
          </p:nvSpPr>
          <p:spPr bwMode="auto">
            <a:xfrm>
              <a:off x="4284092" y="1772816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3" name="椭圆 32"/>
            <p:cNvSpPr/>
            <p:nvPr/>
          </p:nvSpPr>
          <p:spPr bwMode="auto">
            <a:xfrm>
              <a:off x="4644008" y="256490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4" name="椭圆 33"/>
            <p:cNvSpPr/>
            <p:nvPr/>
          </p:nvSpPr>
          <p:spPr bwMode="auto">
            <a:xfrm>
              <a:off x="5004048" y="1772816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5" name="椭圆 34"/>
            <p:cNvSpPr/>
            <p:nvPr/>
          </p:nvSpPr>
          <p:spPr bwMode="auto">
            <a:xfrm>
              <a:off x="5724004" y="1772816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6" name="椭圆 35"/>
            <p:cNvSpPr/>
            <p:nvPr/>
          </p:nvSpPr>
          <p:spPr bwMode="auto">
            <a:xfrm>
              <a:off x="6516216" y="1772871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7" name="椭圆 36"/>
            <p:cNvSpPr/>
            <p:nvPr/>
          </p:nvSpPr>
          <p:spPr bwMode="auto">
            <a:xfrm>
              <a:off x="5364212" y="256490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8" name="椭圆 37"/>
            <p:cNvSpPr/>
            <p:nvPr/>
          </p:nvSpPr>
          <p:spPr bwMode="auto">
            <a:xfrm>
              <a:off x="6156176" y="256490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9" name="椭圆 38"/>
            <p:cNvSpPr/>
            <p:nvPr/>
          </p:nvSpPr>
          <p:spPr bwMode="auto">
            <a:xfrm>
              <a:off x="7020272" y="256490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2254" name="直接连接符 40"/>
            <p:cNvCxnSpPr/>
            <p:nvPr/>
          </p:nvCxnSpPr>
          <p:spPr>
            <a:xfrm rot="5400000" flipH="1" flipV="1">
              <a:off x="3869975" y="2047160"/>
              <a:ext cx="535739" cy="355716"/>
            </a:xfrm>
            <a:prstGeom prst="line">
              <a:avLst/>
            </a:prstGeom>
            <a:ln w="952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255" name="直接连接符 42"/>
            <p:cNvCxnSpPr/>
            <p:nvPr/>
          </p:nvCxnSpPr>
          <p:spPr>
            <a:xfrm rot="-5400000" flipH="1">
              <a:off x="4283933" y="2096877"/>
              <a:ext cx="576119" cy="35991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256" name="直接连接符 44"/>
            <p:cNvCxnSpPr/>
            <p:nvPr/>
          </p:nvCxnSpPr>
          <p:spPr>
            <a:xfrm rot="5400000" flipH="1" flipV="1">
              <a:off x="4589931" y="2119168"/>
              <a:ext cx="607747" cy="283708"/>
            </a:xfrm>
            <a:prstGeom prst="line">
              <a:avLst/>
            </a:prstGeom>
            <a:ln w="952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257" name="直接连接符 46"/>
            <p:cNvCxnSpPr/>
            <p:nvPr/>
          </p:nvCxnSpPr>
          <p:spPr>
            <a:xfrm rot="-5400000" flipH="1">
              <a:off x="5004013" y="2096753"/>
              <a:ext cx="576119" cy="3601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2258" name="TextBox 47"/>
            <p:cNvSpPr txBox="1"/>
            <p:nvPr/>
          </p:nvSpPr>
          <p:spPr>
            <a:xfrm>
              <a:off x="4931409" y="1340768"/>
              <a:ext cx="357143" cy="4620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solidFill>
                    <a:schemeClr val="tx2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u</a:t>
              </a:r>
              <a:endParaRPr lang="zh-CN" altLang="en-US" sz="24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259" name="TextBox 48"/>
            <p:cNvSpPr txBox="1"/>
            <p:nvPr/>
          </p:nvSpPr>
          <p:spPr>
            <a:xfrm>
              <a:off x="5364743" y="2636497"/>
              <a:ext cx="320635" cy="4620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solidFill>
                    <a:schemeClr val="tx2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endParaRPr lang="zh-CN" altLang="en-US" sz="24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cxnSp>
          <p:nvCxnSpPr>
            <p:cNvPr id="52260" name="直接连接符 50"/>
            <p:cNvCxnSpPr/>
            <p:nvPr/>
          </p:nvCxnSpPr>
          <p:spPr>
            <a:xfrm rot="5400000" flipH="1" flipV="1">
              <a:off x="5363991" y="2096940"/>
              <a:ext cx="576119" cy="35979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261" name="直接连接符 52"/>
            <p:cNvCxnSpPr/>
            <p:nvPr/>
          </p:nvCxnSpPr>
          <p:spPr>
            <a:xfrm rot="-5400000" flipH="1">
              <a:off x="5728345" y="2137081"/>
              <a:ext cx="639375" cy="279508"/>
            </a:xfrm>
            <a:prstGeom prst="line">
              <a:avLst/>
            </a:prstGeom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262" name="直接连接符 54"/>
            <p:cNvCxnSpPr/>
            <p:nvPr/>
          </p:nvCxnSpPr>
          <p:spPr>
            <a:xfrm rot="5400000" flipH="1" flipV="1">
              <a:off x="6174147" y="2114885"/>
              <a:ext cx="576064" cy="32397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263" name="直接连接符 56"/>
            <p:cNvCxnSpPr/>
            <p:nvPr/>
          </p:nvCxnSpPr>
          <p:spPr>
            <a:xfrm rot="-5400000" flipH="1">
              <a:off x="6592543" y="2065167"/>
              <a:ext cx="607692" cy="391782"/>
            </a:xfrm>
            <a:prstGeom prst="line">
              <a:avLst/>
            </a:prstGeom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264" name="直接连接符 60"/>
            <p:cNvCxnSpPr/>
            <p:nvPr/>
          </p:nvCxnSpPr>
          <p:spPr>
            <a:xfrm rot="-5400000" flipH="1">
              <a:off x="5746435" y="1399052"/>
              <a:ext cx="715732" cy="183194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2265" name="TextBox 61"/>
            <p:cNvSpPr txBox="1"/>
            <p:nvPr/>
          </p:nvSpPr>
          <p:spPr>
            <a:xfrm>
              <a:off x="6515537" y="2493586"/>
              <a:ext cx="339683" cy="4604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solidFill>
                    <a:srgbClr val="C00000"/>
                  </a:solidFill>
                  <a:latin typeface="Times New Roman" panose="02020603050405020304" charset="0"/>
                  <a:ea typeface="宋体" panose="02010600030101010101" pitchFamily="2" charset="-122"/>
                  <a:sym typeface="Symbol" panose="05050102010706020507" charset="2"/>
                </a:rPr>
                <a:t>?</a:t>
              </a:r>
              <a:endParaRPr lang="zh-CN" altLang="en-US" sz="2400" i="0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2266" name="组合 112"/>
          <p:cNvGrpSpPr/>
          <p:nvPr/>
        </p:nvGrpSpPr>
        <p:grpSpPr>
          <a:xfrm>
            <a:off x="395288" y="2852738"/>
            <a:ext cx="3384550" cy="1757362"/>
            <a:chOff x="395536" y="2852936"/>
            <a:chExt cx="3384128" cy="1757809"/>
          </a:xfrm>
        </p:grpSpPr>
        <p:grpSp>
          <p:nvGrpSpPr>
            <p:cNvPr id="52267" name="组合 64"/>
            <p:cNvGrpSpPr/>
            <p:nvPr/>
          </p:nvGrpSpPr>
          <p:grpSpPr>
            <a:xfrm>
              <a:off x="395536" y="2852936"/>
              <a:ext cx="3384128" cy="1757809"/>
              <a:chOff x="3852044" y="1340768"/>
              <a:chExt cx="3384128" cy="1757809"/>
            </a:xfrm>
          </p:grpSpPr>
          <p:sp>
            <p:nvSpPr>
              <p:cNvPr id="66" name="椭圆 65"/>
              <p:cNvSpPr/>
              <p:nvPr/>
            </p:nvSpPr>
            <p:spPr bwMode="auto">
              <a:xfrm>
                <a:off x="3852044" y="2492896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67" name="椭圆 66"/>
              <p:cNvSpPr/>
              <p:nvPr/>
            </p:nvSpPr>
            <p:spPr bwMode="auto">
              <a:xfrm>
                <a:off x="4284092" y="1772816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68" name="椭圆 67"/>
              <p:cNvSpPr/>
              <p:nvPr/>
            </p:nvSpPr>
            <p:spPr bwMode="auto">
              <a:xfrm>
                <a:off x="4644008" y="2564904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69" name="椭圆 68"/>
              <p:cNvSpPr/>
              <p:nvPr/>
            </p:nvSpPr>
            <p:spPr bwMode="auto">
              <a:xfrm>
                <a:off x="5004048" y="1772816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70" name="椭圆 69"/>
              <p:cNvSpPr/>
              <p:nvPr/>
            </p:nvSpPr>
            <p:spPr bwMode="auto">
              <a:xfrm>
                <a:off x="5724004" y="1772816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71" name="椭圆 70"/>
              <p:cNvSpPr/>
              <p:nvPr/>
            </p:nvSpPr>
            <p:spPr bwMode="auto">
              <a:xfrm>
                <a:off x="6516216" y="1772871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72" name="椭圆 71"/>
              <p:cNvSpPr/>
              <p:nvPr/>
            </p:nvSpPr>
            <p:spPr bwMode="auto">
              <a:xfrm>
                <a:off x="5364212" y="2564904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73" name="椭圆 72"/>
              <p:cNvSpPr/>
              <p:nvPr/>
            </p:nvSpPr>
            <p:spPr bwMode="auto">
              <a:xfrm>
                <a:off x="6156176" y="2564904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74" name="椭圆 73"/>
              <p:cNvSpPr/>
              <p:nvPr/>
            </p:nvSpPr>
            <p:spPr bwMode="auto">
              <a:xfrm>
                <a:off x="7020272" y="2564904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52277" name="直接连接符 74"/>
              <p:cNvCxnSpPr/>
              <p:nvPr/>
            </p:nvCxnSpPr>
            <p:spPr>
              <a:xfrm rot="5400000" flipH="1" flipV="1">
                <a:off x="3869975" y="2047160"/>
                <a:ext cx="535739" cy="355716"/>
              </a:xfrm>
              <a:prstGeom prst="line">
                <a:avLst/>
              </a:prstGeom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278" name="直接连接符 75"/>
              <p:cNvCxnSpPr/>
              <p:nvPr/>
            </p:nvCxnSpPr>
            <p:spPr>
              <a:xfrm rot="-5400000" flipH="1">
                <a:off x="4283933" y="2096877"/>
                <a:ext cx="576119" cy="359916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279" name="直接连接符 76"/>
              <p:cNvCxnSpPr/>
              <p:nvPr/>
            </p:nvCxnSpPr>
            <p:spPr>
              <a:xfrm rot="5400000" flipH="1" flipV="1">
                <a:off x="4589931" y="2119168"/>
                <a:ext cx="607747" cy="283708"/>
              </a:xfrm>
              <a:prstGeom prst="line">
                <a:avLst/>
              </a:prstGeom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280" name="直接连接符 77"/>
              <p:cNvCxnSpPr/>
              <p:nvPr/>
            </p:nvCxnSpPr>
            <p:spPr>
              <a:xfrm rot="-5400000" flipH="1">
                <a:off x="5004013" y="2096753"/>
                <a:ext cx="576119" cy="36016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2281" name="TextBox 78"/>
              <p:cNvSpPr txBox="1"/>
              <p:nvPr/>
            </p:nvSpPr>
            <p:spPr>
              <a:xfrm>
                <a:off x="4931409" y="1340768"/>
                <a:ext cx="357142" cy="4620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>
                    <a:solidFill>
                      <a:schemeClr val="tx2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u</a:t>
                </a:r>
                <a:endParaRPr lang="zh-CN" altLang="en-US" sz="2400">
                  <a:solidFill>
                    <a:schemeClr val="tx2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282" name="TextBox 79"/>
              <p:cNvSpPr txBox="1"/>
              <p:nvPr/>
            </p:nvSpPr>
            <p:spPr>
              <a:xfrm>
                <a:off x="5364742" y="2636497"/>
                <a:ext cx="320635" cy="4620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>
                    <a:solidFill>
                      <a:schemeClr val="tx2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endParaRPr lang="zh-CN" altLang="en-US" sz="2400">
                  <a:solidFill>
                    <a:schemeClr val="tx2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2283" name="直接连接符 80"/>
              <p:cNvCxnSpPr/>
              <p:nvPr/>
            </p:nvCxnSpPr>
            <p:spPr>
              <a:xfrm rot="5400000" flipH="1" flipV="1">
                <a:off x="5363991" y="2096940"/>
                <a:ext cx="576119" cy="359792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284" name="直接连接符 81"/>
              <p:cNvCxnSpPr/>
              <p:nvPr/>
            </p:nvCxnSpPr>
            <p:spPr>
              <a:xfrm rot="-5400000" flipH="1">
                <a:off x="5728345" y="2137081"/>
                <a:ext cx="639375" cy="279508"/>
              </a:xfrm>
              <a:prstGeom prst="line">
                <a:avLst/>
              </a:prstGeom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285" name="直接连接符 82"/>
              <p:cNvCxnSpPr/>
              <p:nvPr/>
            </p:nvCxnSpPr>
            <p:spPr>
              <a:xfrm rot="5400000" flipH="1" flipV="1">
                <a:off x="6174147" y="2114885"/>
                <a:ext cx="576064" cy="323974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286" name="直接连接符 83"/>
              <p:cNvCxnSpPr/>
              <p:nvPr/>
            </p:nvCxnSpPr>
            <p:spPr>
              <a:xfrm rot="-5400000" flipH="1">
                <a:off x="6592543" y="2065167"/>
                <a:ext cx="607692" cy="391782"/>
              </a:xfrm>
              <a:prstGeom prst="line">
                <a:avLst/>
              </a:prstGeom>
              <a:ln w="12700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2287" name="TextBox 85"/>
              <p:cNvSpPr txBox="1"/>
              <p:nvPr/>
            </p:nvSpPr>
            <p:spPr>
              <a:xfrm>
                <a:off x="4139345" y="2493586"/>
                <a:ext cx="339683" cy="4604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0">
                    <a:solidFill>
                      <a:srgbClr val="C00000"/>
                    </a:solidFill>
                    <a:latin typeface="Times New Roman" panose="02020603050405020304" charset="0"/>
                    <a:ea typeface="宋体" panose="02010600030101010101" pitchFamily="2" charset="-122"/>
                    <a:sym typeface="Symbol" panose="05050102010706020507" charset="2"/>
                  </a:rPr>
                  <a:t>?</a:t>
                </a:r>
                <a:endParaRPr lang="zh-CN" altLang="en-US" sz="2400" i="0">
                  <a:solidFill>
                    <a:srgbClr val="C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52288" name="直接连接符 89"/>
            <p:cNvCxnSpPr/>
            <p:nvPr/>
          </p:nvCxnSpPr>
          <p:spPr>
            <a:xfrm flipV="1">
              <a:off x="611436" y="3469380"/>
              <a:ext cx="2479890" cy="64366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2289" name="组合 115"/>
          <p:cNvGrpSpPr/>
          <p:nvPr/>
        </p:nvGrpSpPr>
        <p:grpSpPr>
          <a:xfrm>
            <a:off x="4140200" y="2895600"/>
            <a:ext cx="3384550" cy="1757363"/>
            <a:chOff x="4139952" y="2895327"/>
            <a:chExt cx="3384128" cy="1757809"/>
          </a:xfrm>
        </p:grpSpPr>
        <p:grpSp>
          <p:nvGrpSpPr>
            <p:cNvPr id="52290" name="组合 91"/>
            <p:cNvGrpSpPr/>
            <p:nvPr/>
          </p:nvGrpSpPr>
          <p:grpSpPr>
            <a:xfrm>
              <a:off x="4139952" y="2895327"/>
              <a:ext cx="3384128" cy="1757809"/>
              <a:chOff x="3852044" y="1340768"/>
              <a:chExt cx="3384128" cy="1757809"/>
            </a:xfrm>
          </p:grpSpPr>
          <p:sp>
            <p:nvSpPr>
              <p:cNvPr id="93" name="椭圆 92"/>
              <p:cNvSpPr/>
              <p:nvPr/>
            </p:nvSpPr>
            <p:spPr bwMode="auto">
              <a:xfrm>
                <a:off x="3852044" y="2492896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 bwMode="auto">
              <a:xfrm>
                <a:off x="4284092" y="1772816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 bwMode="auto">
              <a:xfrm>
                <a:off x="4644008" y="2564904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 bwMode="auto">
              <a:xfrm>
                <a:off x="5004048" y="1772816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 bwMode="auto">
              <a:xfrm>
                <a:off x="5724004" y="1772816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 bwMode="auto">
              <a:xfrm>
                <a:off x="6516216" y="1772871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 bwMode="auto">
              <a:xfrm>
                <a:off x="5364212" y="2564904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 bwMode="auto">
              <a:xfrm>
                <a:off x="6156176" y="2564904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sp>
            <p:nvSpPr>
              <p:cNvPr id="101" name="椭圆 100"/>
              <p:cNvSpPr/>
              <p:nvPr/>
            </p:nvSpPr>
            <p:spPr bwMode="auto">
              <a:xfrm>
                <a:off x="7020272" y="2564904"/>
                <a:ext cx="215900" cy="215969"/>
              </a:xfrm>
              <a:prstGeom prst="ellipse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scene3d>
                <a:camera prst="orthographicFront"/>
                <a:lightRig rig="threePt" dir="t"/>
              </a:scene3d>
              <a:sp3d>
                <a:bevelT w="50800"/>
                <a:bevelB w="38100"/>
              </a:sp3d>
            </p:spPr>
            <p:txBody>
              <a:bodyPr/>
              <a:lstStyle>
                <a:lvl1pPr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1pPr>
                <a:lvl2pPr marL="742950" indent="-28575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2pPr>
                <a:lvl3pPr marL="11430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 eaLnBrk="0" hangingPunct="0"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>
                    <a:solidFill>
                      <a:schemeClr val="tx1"/>
                    </a:solidFill>
                    <a:latin typeface="Tahoma" panose="020B0604030504040204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  <p:cxnSp>
            <p:nvCxnSpPr>
              <p:cNvPr id="52300" name="直接连接符 101"/>
              <p:cNvCxnSpPr/>
              <p:nvPr/>
            </p:nvCxnSpPr>
            <p:spPr>
              <a:xfrm rot="5400000" flipH="1" flipV="1">
                <a:off x="3869975" y="2047160"/>
                <a:ext cx="535739" cy="355716"/>
              </a:xfrm>
              <a:prstGeom prst="line">
                <a:avLst/>
              </a:prstGeom>
              <a:ln w="12700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301" name="直接连接符 102"/>
              <p:cNvCxnSpPr/>
              <p:nvPr/>
            </p:nvCxnSpPr>
            <p:spPr>
              <a:xfrm rot="-5400000" flipH="1">
                <a:off x="4283933" y="2096877"/>
                <a:ext cx="576119" cy="359916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302" name="直接连接符 103"/>
              <p:cNvCxnSpPr/>
              <p:nvPr/>
            </p:nvCxnSpPr>
            <p:spPr>
              <a:xfrm rot="5400000" flipH="1" flipV="1">
                <a:off x="4589931" y="2119168"/>
                <a:ext cx="607747" cy="283708"/>
              </a:xfrm>
              <a:prstGeom prst="line">
                <a:avLst/>
              </a:prstGeom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303" name="直接连接符 104"/>
              <p:cNvCxnSpPr/>
              <p:nvPr/>
            </p:nvCxnSpPr>
            <p:spPr>
              <a:xfrm rot="-5400000" flipH="1">
                <a:off x="5004013" y="2096753"/>
                <a:ext cx="576119" cy="36016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2304" name="TextBox 105"/>
              <p:cNvSpPr txBox="1"/>
              <p:nvPr/>
            </p:nvSpPr>
            <p:spPr>
              <a:xfrm>
                <a:off x="4931409" y="1340768"/>
                <a:ext cx="357143" cy="4620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>
                    <a:solidFill>
                      <a:schemeClr val="tx2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u</a:t>
                </a:r>
                <a:endParaRPr lang="zh-CN" altLang="en-US" sz="2400">
                  <a:solidFill>
                    <a:schemeClr val="tx2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305" name="TextBox 106"/>
              <p:cNvSpPr txBox="1"/>
              <p:nvPr/>
            </p:nvSpPr>
            <p:spPr>
              <a:xfrm>
                <a:off x="5364743" y="2636497"/>
                <a:ext cx="320635" cy="4620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>
                    <a:solidFill>
                      <a:schemeClr val="tx2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v</a:t>
                </a:r>
                <a:endParaRPr lang="zh-CN" altLang="en-US" sz="2400">
                  <a:solidFill>
                    <a:schemeClr val="tx2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2306" name="直接连接符 107"/>
              <p:cNvCxnSpPr/>
              <p:nvPr/>
            </p:nvCxnSpPr>
            <p:spPr>
              <a:xfrm rot="5400000" flipH="1" flipV="1">
                <a:off x="5363991" y="2096940"/>
                <a:ext cx="576119" cy="359792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307" name="直接连接符 108"/>
              <p:cNvCxnSpPr/>
              <p:nvPr/>
            </p:nvCxnSpPr>
            <p:spPr>
              <a:xfrm rot="-5400000" flipH="1">
                <a:off x="5728345" y="2137081"/>
                <a:ext cx="639375" cy="279508"/>
              </a:xfrm>
              <a:prstGeom prst="line">
                <a:avLst/>
              </a:prstGeom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308" name="直接连接符 109"/>
              <p:cNvCxnSpPr/>
              <p:nvPr/>
            </p:nvCxnSpPr>
            <p:spPr>
              <a:xfrm rot="5400000" flipH="1" flipV="1">
                <a:off x="6174147" y="2114885"/>
                <a:ext cx="576064" cy="323974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309" name="直接连接符 110"/>
              <p:cNvCxnSpPr/>
              <p:nvPr/>
            </p:nvCxnSpPr>
            <p:spPr>
              <a:xfrm rot="-5400000" flipH="1">
                <a:off x="6592543" y="2065167"/>
                <a:ext cx="607692" cy="391782"/>
              </a:xfrm>
              <a:prstGeom prst="line">
                <a:avLst/>
              </a:prstGeom>
              <a:ln w="28575" cap="flat" cmpd="sng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2310" name="TextBox 111"/>
              <p:cNvSpPr txBox="1"/>
              <p:nvPr/>
            </p:nvSpPr>
            <p:spPr>
              <a:xfrm>
                <a:off x="6588553" y="2522168"/>
                <a:ext cx="338096" cy="4620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SzTx/>
                </a:pPr>
                <a:r>
                  <a:rPr lang="en-US" altLang="zh-CN" sz="2400" i="0">
                    <a:solidFill>
                      <a:srgbClr val="C00000"/>
                    </a:solidFill>
                    <a:latin typeface="Times New Roman" panose="02020603050405020304" charset="0"/>
                    <a:ea typeface="宋体" panose="02010600030101010101" pitchFamily="2" charset="-122"/>
                    <a:sym typeface="Symbol" panose="05050102010706020507" charset="2"/>
                  </a:rPr>
                  <a:t>?</a:t>
                </a:r>
                <a:endParaRPr lang="zh-CN" altLang="en-US" sz="2400" i="0">
                  <a:solidFill>
                    <a:srgbClr val="C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52311" name="直接连接符 114"/>
            <p:cNvCxnSpPr/>
            <p:nvPr/>
          </p:nvCxnSpPr>
          <p:spPr>
            <a:xfrm rot="10800000">
              <a:off x="4756282" y="3511716"/>
              <a:ext cx="2551898" cy="7157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2312" name="组合 116"/>
          <p:cNvGrpSpPr/>
          <p:nvPr/>
        </p:nvGrpSpPr>
        <p:grpSpPr>
          <a:xfrm>
            <a:off x="611188" y="4581525"/>
            <a:ext cx="2592387" cy="1757363"/>
            <a:chOff x="4644008" y="1340768"/>
            <a:chExt cx="2592164" cy="1757809"/>
          </a:xfrm>
        </p:grpSpPr>
        <p:sp>
          <p:nvSpPr>
            <p:cNvPr id="120" name="椭圆 119"/>
            <p:cNvSpPr/>
            <p:nvPr/>
          </p:nvSpPr>
          <p:spPr bwMode="auto">
            <a:xfrm>
              <a:off x="4644008" y="256490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1" name="椭圆 120"/>
            <p:cNvSpPr/>
            <p:nvPr/>
          </p:nvSpPr>
          <p:spPr bwMode="auto">
            <a:xfrm>
              <a:off x="5004048" y="1772816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2" name="椭圆 121"/>
            <p:cNvSpPr/>
            <p:nvPr/>
          </p:nvSpPr>
          <p:spPr bwMode="auto">
            <a:xfrm>
              <a:off x="5724004" y="1772816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3" name="椭圆 122"/>
            <p:cNvSpPr/>
            <p:nvPr/>
          </p:nvSpPr>
          <p:spPr bwMode="auto">
            <a:xfrm>
              <a:off x="6516216" y="1772871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4" name="椭圆 123"/>
            <p:cNvSpPr/>
            <p:nvPr/>
          </p:nvSpPr>
          <p:spPr bwMode="auto">
            <a:xfrm>
              <a:off x="5364212" y="256490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5" name="椭圆 124"/>
            <p:cNvSpPr/>
            <p:nvPr/>
          </p:nvSpPr>
          <p:spPr bwMode="auto">
            <a:xfrm>
              <a:off x="6156176" y="256490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6" name="椭圆 125"/>
            <p:cNvSpPr/>
            <p:nvPr/>
          </p:nvSpPr>
          <p:spPr bwMode="auto">
            <a:xfrm>
              <a:off x="7020272" y="256490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2320" name="直接连接符 128"/>
            <p:cNvCxnSpPr/>
            <p:nvPr/>
          </p:nvCxnSpPr>
          <p:spPr>
            <a:xfrm rot="5400000" flipH="1" flipV="1">
              <a:off x="4589931" y="2119168"/>
              <a:ext cx="607747" cy="283708"/>
            </a:xfrm>
            <a:prstGeom prst="line">
              <a:avLst/>
            </a:prstGeom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21" name="直接连接符 129"/>
            <p:cNvCxnSpPr/>
            <p:nvPr/>
          </p:nvCxnSpPr>
          <p:spPr>
            <a:xfrm rot="-5400000" flipH="1">
              <a:off x="5004013" y="2096753"/>
              <a:ext cx="576119" cy="3601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2322" name="TextBox 130"/>
            <p:cNvSpPr txBox="1"/>
            <p:nvPr/>
          </p:nvSpPr>
          <p:spPr>
            <a:xfrm>
              <a:off x="4931320" y="1340768"/>
              <a:ext cx="357157" cy="4620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solidFill>
                    <a:schemeClr val="tx2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u</a:t>
              </a:r>
              <a:endParaRPr lang="zh-CN" altLang="en-US" sz="24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323" name="TextBox 131"/>
            <p:cNvSpPr txBox="1"/>
            <p:nvPr/>
          </p:nvSpPr>
          <p:spPr>
            <a:xfrm>
              <a:off x="5364671" y="2636497"/>
              <a:ext cx="320647" cy="4620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solidFill>
                    <a:schemeClr val="tx2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endParaRPr lang="zh-CN" altLang="en-US" sz="24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cxnSp>
          <p:nvCxnSpPr>
            <p:cNvPr id="52324" name="直接连接符 132"/>
            <p:cNvCxnSpPr/>
            <p:nvPr/>
          </p:nvCxnSpPr>
          <p:spPr>
            <a:xfrm rot="5400000" flipH="1" flipV="1">
              <a:off x="5363991" y="2096940"/>
              <a:ext cx="576119" cy="35979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25" name="直接连接符 133"/>
            <p:cNvCxnSpPr/>
            <p:nvPr/>
          </p:nvCxnSpPr>
          <p:spPr>
            <a:xfrm rot="-5400000" flipH="1">
              <a:off x="5728345" y="2137081"/>
              <a:ext cx="639375" cy="279508"/>
            </a:xfrm>
            <a:prstGeom prst="line">
              <a:avLst/>
            </a:prstGeom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26" name="直接连接符 134"/>
            <p:cNvCxnSpPr/>
            <p:nvPr/>
          </p:nvCxnSpPr>
          <p:spPr>
            <a:xfrm rot="5400000" flipH="1" flipV="1">
              <a:off x="6174147" y="2114885"/>
              <a:ext cx="576064" cy="32397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27" name="直接连接符 135"/>
            <p:cNvCxnSpPr/>
            <p:nvPr/>
          </p:nvCxnSpPr>
          <p:spPr>
            <a:xfrm rot="-5400000" flipH="1">
              <a:off x="6592543" y="2065167"/>
              <a:ext cx="607692" cy="391782"/>
            </a:xfrm>
            <a:prstGeom prst="line">
              <a:avLst/>
            </a:prstGeom>
            <a:ln w="12700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2328" name="组合 137"/>
          <p:cNvGrpSpPr/>
          <p:nvPr/>
        </p:nvGrpSpPr>
        <p:grpSpPr>
          <a:xfrm>
            <a:off x="3563938" y="4508500"/>
            <a:ext cx="2592387" cy="1758950"/>
            <a:chOff x="4644008" y="1340768"/>
            <a:chExt cx="2592164" cy="1757809"/>
          </a:xfrm>
        </p:grpSpPr>
        <p:sp>
          <p:nvSpPr>
            <p:cNvPr id="139" name="椭圆 138"/>
            <p:cNvSpPr/>
            <p:nvPr/>
          </p:nvSpPr>
          <p:spPr bwMode="auto">
            <a:xfrm>
              <a:off x="4644008" y="256490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0" name="椭圆 139"/>
            <p:cNvSpPr/>
            <p:nvPr/>
          </p:nvSpPr>
          <p:spPr bwMode="auto">
            <a:xfrm>
              <a:off x="5004048" y="1772816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1" name="椭圆 140"/>
            <p:cNvSpPr/>
            <p:nvPr/>
          </p:nvSpPr>
          <p:spPr bwMode="auto">
            <a:xfrm>
              <a:off x="5724004" y="1772816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2" name="椭圆 141"/>
            <p:cNvSpPr/>
            <p:nvPr/>
          </p:nvSpPr>
          <p:spPr bwMode="auto">
            <a:xfrm>
              <a:off x="6516216" y="1772871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3" name="椭圆 142"/>
            <p:cNvSpPr/>
            <p:nvPr/>
          </p:nvSpPr>
          <p:spPr bwMode="auto">
            <a:xfrm>
              <a:off x="5364212" y="256490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4" name="椭圆 143"/>
            <p:cNvSpPr/>
            <p:nvPr/>
          </p:nvSpPr>
          <p:spPr bwMode="auto">
            <a:xfrm>
              <a:off x="6156176" y="256490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5" name="椭圆 144"/>
            <p:cNvSpPr/>
            <p:nvPr/>
          </p:nvSpPr>
          <p:spPr bwMode="auto">
            <a:xfrm>
              <a:off x="7020272" y="256490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2336" name="直接连接符 145"/>
            <p:cNvCxnSpPr/>
            <p:nvPr/>
          </p:nvCxnSpPr>
          <p:spPr>
            <a:xfrm rot="5400000" flipH="1" flipV="1">
              <a:off x="4589931" y="2119168"/>
              <a:ext cx="607747" cy="283708"/>
            </a:xfrm>
            <a:prstGeom prst="line">
              <a:avLst/>
            </a:prstGeom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37" name="直接连接符 146"/>
            <p:cNvCxnSpPr/>
            <p:nvPr/>
          </p:nvCxnSpPr>
          <p:spPr>
            <a:xfrm rot="-5400000" flipH="1">
              <a:off x="5004013" y="2096753"/>
              <a:ext cx="576119" cy="3601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2338" name="TextBox 147"/>
            <p:cNvSpPr txBox="1"/>
            <p:nvPr/>
          </p:nvSpPr>
          <p:spPr>
            <a:xfrm>
              <a:off x="4931320" y="1340768"/>
              <a:ext cx="357157" cy="4616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solidFill>
                    <a:schemeClr val="tx2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u</a:t>
              </a:r>
              <a:endParaRPr lang="zh-CN" altLang="en-US" sz="24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339" name="TextBox 148"/>
            <p:cNvSpPr txBox="1"/>
            <p:nvPr/>
          </p:nvSpPr>
          <p:spPr>
            <a:xfrm>
              <a:off x="5364671" y="2636915"/>
              <a:ext cx="320647" cy="4616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solidFill>
                    <a:schemeClr val="tx2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endParaRPr lang="zh-CN" altLang="en-US" sz="24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cxnSp>
          <p:nvCxnSpPr>
            <p:cNvPr id="52340" name="直接连接符 149"/>
            <p:cNvCxnSpPr/>
            <p:nvPr/>
          </p:nvCxnSpPr>
          <p:spPr>
            <a:xfrm rot="5400000" flipH="1" flipV="1">
              <a:off x="5363991" y="2096940"/>
              <a:ext cx="576119" cy="359792"/>
            </a:xfrm>
            <a:prstGeom prst="line">
              <a:avLst/>
            </a:prstGeom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41" name="直接连接符 150"/>
            <p:cNvCxnSpPr/>
            <p:nvPr/>
          </p:nvCxnSpPr>
          <p:spPr>
            <a:xfrm rot="-5400000" flipH="1">
              <a:off x="5728345" y="2137081"/>
              <a:ext cx="639375" cy="27950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42" name="直接连接符 151"/>
            <p:cNvCxnSpPr/>
            <p:nvPr/>
          </p:nvCxnSpPr>
          <p:spPr>
            <a:xfrm rot="5400000" flipH="1" flipV="1">
              <a:off x="6174147" y="2114885"/>
              <a:ext cx="576064" cy="323974"/>
            </a:xfrm>
            <a:prstGeom prst="line">
              <a:avLst/>
            </a:prstGeom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43" name="直接连接符 152"/>
            <p:cNvCxnSpPr/>
            <p:nvPr/>
          </p:nvCxnSpPr>
          <p:spPr>
            <a:xfrm rot="-5400000" flipH="1">
              <a:off x="6592543" y="2065167"/>
              <a:ext cx="607692" cy="391782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2344" name="TextBox 153"/>
          <p:cNvSpPr txBox="1"/>
          <p:nvPr/>
        </p:nvSpPr>
        <p:spPr>
          <a:xfrm>
            <a:off x="6875463" y="5300663"/>
            <a:ext cx="322262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e</a:t>
            </a:r>
            <a:endParaRPr lang="zh-CN" altLang="en-US" sz="240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2345" name="TextBox 154"/>
          <p:cNvSpPr txBox="1"/>
          <p:nvPr/>
        </p:nvSpPr>
        <p:spPr>
          <a:xfrm>
            <a:off x="1835150" y="3284538"/>
            <a:ext cx="320675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e</a:t>
            </a:r>
            <a:endParaRPr lang="zh-CN" altLang="en-US" sz="240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2346" name="TextBox 157"/>
          <p:cNvSpPr txBox="1"/>
          <p:nvPr/>
        </p:nvSpPr>
        <p:spPr>
          <a:xfrm>
            <a:off x="5156200" y="2141538"/>
            <a:ext cx="320675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SzTx/>
            </a:pPr>
            <a:r>
              <a:rPr lang="en-US" altLang="zh-CN" sz="24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rPr>
              <a:t>e</a:t>
            </a:r>
            <a:endParaRPr lang="zh-CN" altLang="en-US" sz="2400">
              <a:solidFill>
                <a:schemeClr val="tx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52347" name="组合 158"/>
          <p:cNvGrpSpPr/>
          <p:nvPr/>
        </p:nvGrpSpPr>
        <p:grpSpPr>
          <a:xfrm>
            <a:off x="6443663" y="4508500"/>
            <a:ext cx="2592387" cy="1758950"/>
            <a:chOff x="4644008" y="1340768"/>
            <a:chExt cx="2592164" cy="1757809"/>
          </a:xfrm>
        </p:grpSpPr>
        <p:sp>
          <p:nvSpPr>
            <p:cNvPr id="160" name="椭圆 159"/>
            <p:cNvSpPr/>
            <p:nvPr/>
          </p:nvSpPr>
          <p:spPr bwMode="auto">
            <a:xfrm>
              <a:off x="4644008" y="256490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61" name="椭圆 160"/>
            <p:cNvSpPr/>
            <p:nvPr/>
          </p:nvSpPr>
          <p:spPr bwMode="auto">
            <a:xfrm>
              <a:off x="5004048" y="1772816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62" name="椭圆 161"/>
            <p:cNvSpPr/>
            <p:nvPr/>
          </p:nvSpPr>
          <p:spPr bwMode="auto">
            <a:xfrm>
              <a:off x="5724004" y="1772816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63" name="椭圆 162"/>
            <p:cNvSpPr/>
            <p:nvPr/>
          </p:nvSpPr>
          <p:spPr bwMode="auto">
            <a:xfrm>
              <a:off x="6516216" y="1772871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64" name="椭圆 163"/>
            <p:cNvSpPr/>
            <p:nvPr/>
          </p:nvSpPr>
          <p:spPr bwMode="auto">
            <a:xfrm>
              <a:off x="5364212" y="256490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65" name="椭圆 164"/>
            <p:cNvSpPr/>
            <p:nvPr/>
          </p:nvSpPr>
          <p:spPr bwMode="auto">
            <a:xfrm>
              <a:off x="6156176" y="256490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66" name="椭圆 165"/>
            <p:cNvSpPr/>
            <p:nvPr/>
          </p:nvSpPr>
          <p:spPr bwMode="auto">
            <a:xfrm>
              <a:off x="7020272" y="2564904"/>
              <a:ext cx="215900" cy="215969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2355" name="直接连接符 166"/>
            <p:cNvCxnSpPr/>
            <p:nvPr/>
          </p:nvCxnSpPr>
          <p:spPr>
            <a:xfrm rot="5400000" flipH="1" flipV="1">
              <a:off x="4589931" y="2119168"/>
              <a:ext cx="607747" cy="283708"/>
            </a:xfrm>
            <a:prstGeom prst="line">
              <a:avLst/>
            </a:prstGeom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56" name="直接连接符 167"/>
            <p:cNvCxnSpPr/>
            <p:nvPr/>
          </p:nvCxnSpPr>
          <p:spPr>
            <a:xfrm rot="-5400000" flipH="1">
              <a:off x="5004013" y="2096753"/>
              <a:ext cx="576119" cy="360164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2357" name="TextBox 168"/>
            <p:cNvSpPr txBox="1"/>
            <p:nvPr/>
          </p:nvSpPr>
          <p:spPr>
            <a:xfrm>
              <a:off x="4931320" y="1340768"/>
              <a:ext cx="357157" cy="4616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solidFill>
                    <a:schemeClr val="tx2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u</a:t>
              </a:r>
              <a:endParaRPr lang="zh-CN" altLang="en-US" sz="24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52358" name="TextBox 169"/>
            <p:cNvSpPr txBox="1"/>
            <p:nvPr/>
          </p:nvSpPr>
          <p:spPr>
            <a:xfrm>
              <a:off x="5364671" y="2636915"/>
              <a:ext cx="320647" cy="4616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>
                  <a:solidFill>
                    <a:schemeClr val="tx2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v</a:t>
              </a:r>
              <a:endParaRPr lang="zh-CN" altLang="en-US" sz="2400">
                <a:solidFill>
                  <a:schemeClr val="tx2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cxnSp>
          <p:nvCxnSpPr>
            <p:cNvPr id="52359" name="直接连接符 170"/>
            <p:cNvCxnSpPr/>
            <p:nvPr/>
          </p:nvCxnSpPr>
          <p:spPr>
            <a:xfrm rot="5400000" flipH="1" flipV="1">
              <a:off x="5363991" y="2096940"/>
              <a:ext cx="576119" cy="359792"/>
            </a:xfrm>
            <a:prstGeom prst="line">
              <a:avLst/>
            </a:prstGeom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60" name="直接连接符 171"/>
            <p:cNvCxnSpPr/>
            <p:nvPr/>
          </p:nvCxnSpPr>
          <p:spPr>
            <a:xfrm rot="-5400000" flipH="1">
              <a:off x="5728345" y="2137081"/>
              <a:ext cx="639375" cy="27950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61" name="直接连接符 172"/>
            <p:cNvCxnSpPr/>
            <p:nvPr/>
          </p:nvCxnSpPr>
          <p:spPr>
            <a:xfrm rot="5400000" flipH="1" flipV="1">
              <a:off x="6174147" y="2114885"/>
              <a:ext cx="576064" cy="323974"/>
            </a:xfrm>
            <a:prstGeom prst="line">
              <a:avLst/>
            </a:prstGeom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62" name="直接连接符 173"/>
            <p:cNvCxnSpPr/>
            <p:nvPr/>
          </p:nvCxnSpPr>
          <p:spPr>
            <a:xfrm rot="-5400000" flipH="1">
              <a:off x="6592543" y="2065167"/>
              <a:ext cx="607692" cy="391782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例</a:t>
            </a:r>
            <a:r>
              <a:rPr lang="en-US" altLang="zh-CN"/>
              <a:t>12.5</a:t>
            </a:r>
            <a:r>
              <a:rPr lang="zh-CN" altLang="en-US"/>
              <a:t>（续）</a:t>
            </a:r>
            <a:endParaRPr lang="zh-CN" altLang="en-US"/>
          </a:p>
        </p:txBody>
      </p:sp>
      <p:sp>
        <p:nvSpPr>
          <p:cNvPr id="54274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证明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): </a:t>
            </a:r>
            <a:r>
              <a:rPr lang="zh-CN" altLang="en-US"/>
              <a:t>设颜色</a:t>
            </a:r>
            <a:r>
              <a:rPr lang="en-US" altLang="zh-CN"/>
              <a:t>β</a:t>
            </a:r>
            <a:r>
              <a:rPr lang="zh-CN" altLang="en-US"/>
              <a:t>出现在</a:t>
            </a:r>
            <a:r>
              <a:rPr lang="en-US" altLang="zh-CN" i="1"/>
              <a:t>u</a:t>
            </a:r>
            <a:r>
              <a:rPr lang="zh-CN" altLang="en-US"/>
              <a:t>而不出现在</a:t>
            </a:r>
            <a:r>
              <a:rPr lang="en-US" altLang="zh-CN" i="1"/>
              <a:t>v</a:t>
            </a:r>
            <a:r>
              <a:rPr lang="en-US" altLang="zh-CN"/>
              <a:t>,</a:t>
            </a:r>
            <a:r>
              <a:rPr lang="zh-CN" altLang="en-US"/>
              <a:t>颜色</a:t>
            </a:r>
            <a:r>
              <a:rPr lang="en-US" altLang="zh-CN"/>
              <a:t>γ</a:t>
            </a:r>
            <a:r>
              <a:rPr lang="zh-CN" altLang="en-US"/>
              <a:t>出现在</a:t>
            </a:r>
            <a:r>
              <a:rPr lang="en-US" altLang="zh-CN" i="1"/>
              <a:t>v</a:t>
            </a:r>
            <a:r>
              <a:rPr lang="zh-CN" altLang="en-US"/>
              <a:t>而不出现在</a:t>
            </a:r>
            <a:r>
              <a:rPr lang="en-US" altLang="zh-CN" i="1"/>
              <a:t>u</a:t>
            </a:r>
            <a:r>
              <a:rPr lang="en-US" altLang="zh-CN"/>
              <a:t>. </a:t>
            </a:r>
            <a:r>
              <a:rPr lang="zh-CN" altLang="en-US"/>
              <a:t>则不存在这样的路径</a:t>
            </a:r>
            <a:r>
              <a:rPr lang="en-US" altLang="zh-CN"/>
              <a:t>: </a:t>
            </a:r>
            <a:r>
              <a:rPr lang="zh-CN" altLang="en-US">
                <a:solidFill>
                  <a:srgbClr val="FF00FF"/>
                </a:solidFill>
              </a:rPr>
              <a:t>从</a:t>
            </a:r>
            <a:r>
              <a:rPr lang="en-US" altLang="zh-CN" i="1">
                <a:solidFill>
                  <a:srgbClr val="FF00FF"/>
                </a:solidFill>
              </a:rPr>
              <a:t>v</a:t>
            </a:r>
            <a:r>
              <a:rPr lang="zh-CN" altLang="en-US">
                <a:solidFill>
                  <a:srgbClr val="FF00FF"/>
                </a:solidFill>
              </a:rPr>
              <a:t>到</a:t>
            </a:r>
            <a:r>
              <a:rPr lang="en-US" altLang="zh-CN" i="1">
                <a:solidFill>
                  <a:srgbClr val="FF00FF"/>
                </a:solidFill>
              </a:rPr>
              <a:t>u</a:t>
            </a:r>
            <a:r>
              <a:rPr lang="zh-CN" altLang="en-US">
                <a:solidFill>
                  <a:srgbClr val="FF00FF"/>
                </a:solidFill>
              </a:rPr>
              <a:t>只有</a:t>
            </a:r>
            <a:r>
              <a:rPr lang="en-US" altLang="zh-CN">
                <a:solidFill>
                  <a:srgbClr val="FF00FF"/>
                </a:solidFill>
              </a:rPr>
              <a:t>{β,γ}</a:t>
            </a:r>
            <a:r>
              <a:rPr lang="zh-CN" altLang="en-US">
                <a:solidFill>
                  <a:srgbClr val="FF00FF"/>
                </a:solidFill>
              </a:rPr>
              <a:t>这</a:t>
            </a:r>
            <a:r>
              <a:rPr lang="en-US" altLang="zh-CN">
                <a:solidFill>
                  <a:srgbClr val="FF00FF"/>
                </a:solidFill>
              </a:rPr>
              <a:t>2</a:t>
            </a:r>
            <a:r>
              <a:rPr lang="zh-CN" altLang="en-US">
                <a:solidFill>
                  <a:srgbClr val="FF00FF"/>
                </a:solidFill>
              </a:rPr>
              <a:t>种颜色的路径</a:t>
            </a:r>
            <a:r>
              <a:rPr lang="en-US" altLang="zh-CN">
                <a:solidFill>
                  <a:srgbClr val="FF00FF"/>
                </a:solidFill>
              </a:rPr>
              <a:t>,</a:t>
            </a:r>
            <a:r>
              <a:rPr lang="en-US" altLang="zh-CN"/>
              <a:t> </a:t>
            </a:r>
            <a:r>
              <a:rPr lang="zh-CN" altLang="en-US"/>
              <a:t>即在只有</a:t>
            </a:r>
            <a:r>
              <a:rPr lang="en-US" altLang="zh-CN"/>
              <a:t>{β,γ}</a:t>
            </a:r>
            <a:r>
              <a:rPr lang="zh-CN" altLang="en-US"/>
              <a:t>这</a:t>
            </a:r>
            <a:r>
              <a:rPr lang="en-US" altLang="zh-CN"/>
              <a:t>2</a:t>
            </a:r>
            <a:r>
              <a:rPr lang="zh-CN" altLang="en-US"/>
              <a:t>种颜色的边的导出子图中</a:t>
            </a:r>
            <a:r>
              <a:rPr lang="en-US" altLang="zh-CN"/>
              <a:t>, </a:t>
            </a:r>
            <a:r>
              <a:rPr lang="en-US" altLang="zh-CN" i="1"/>
              <a:t>v</a:t>
            </a:r>
            <a:r>
              <a:rPr lang="zh-CN" altLang="en-US"/>
              <a:t>与</a:t>
            </a:r>
            <a:r>
              <a:rPr lang="en-US" altLang="zh-CN" i="1"/>
              <a:t>u</a:t>
            </a:r>
            <a:r>
              <a:rPr lang="zh-CN" altLang="en-US"/>
              <a:t>是在不同的连通分支中</a:t>
            </a:r>
            <a:r>
              <a:rPr lang="en-US" altLang="zh-CN"/>
              <a:t>.</a:t>
            </a:r>
            <a:r>
              <a:rPr lang="zh-CN" altLang="en-US"/>
              <a:t>于是把</a:t>
            </a:r>
            <a:r>
              <a:rPr lang="en-US" altLang="zh-CN" i="1"/>
              <a:t>v</a:t>
            </a:r>
            <a:r>
              <a:rPr lang="zh-CN" altLang="en-US"/>
              <a:t>所在分支里</a:t>
            </a:r>
            <a:r>
              <a:rPr lang="en-US" altLang="zh-CN"/>
              <a:t>β</a:t>
            </a:r>
            <a:r>
              <a:rPr lang="zh-CN" altLang="en-US"/>
              <a:t>与</a:t>
            </a:r>
            <a:r>
              <a:rPr lang="en-US" altLang="zh-CN"/>
              <a:t>γ</a:t>
            </a:r>
            <a:r>
              <a:rPr lang="zh-CN" altLang="en-US"/>
              <a:t>颜色互换</a:t>
            </a:r>
            <a:r>
              <a:rPr lang="en-US" altLang="zh-CN"/>
              <a:t>, </a:t>
            </a:r>
            <a:r>
              <a:rPr lang="zh-CN" altLang="en-US"/>
              <a:t>然后把颜色</a:t>
            </a:r>
            <a:r>
              <a:rPr lang="el-GR" altLang="zh-CN"/>
              <a:t>γ</a:t>
            </a:r>
            <a:r>
              <a:rPr lang="zh-CN" altLang="en-US"/>
              <a:t>给</a:t>
            </a:r>
            <a:r>
              <a:rPr lang="en-US" altLang="zh-CN" i="1"/>
              <a:t>e</a:t>
            </a:r>
            <a:r>
              <a:rPr lang="en-US" altLang="zh-CN"/>
              <a:t>=(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). </a:t>
            </a:r>
            <a:endParaRPr lang="en-US" altLang="zh-CN"/>
          </a:p>
        </p:txBody>
      </p:sp>
      <p:sp>
        <p:nvSpPr>
          <p:cNvPr id="5427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例</a:t>
            </a:r>
            <a:r>
              <a:rPr lang="en-US" altLang="zh-CN"/>
              <a:t>12.6</a:t>
            </a:r>
            <a:endParaRPr lang="zh-CN" altLang="en-US"/>
          </a:p>
        </p:txBody>
      </p:sp>
      <p:sp>
        <p:nvSpPr>
          <p:cNvPr id="56322" name="内容占位符 2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720725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zh-CN" altLang="en-US">
                <a:solidFill>
                  <a:srgbClr val="FF0000"/>
                </a:solidFill>
              </a:rPr>
              <a:t>试证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&gt;1</a:t>
            </a:r>
            <a:r>
              <a:rPr lang="zh-CN" altLang="en-US">
                <a:solidFill>
                  <a:srgbClr val="FF0000"/>
                </a:solidFill>
              </a:rPr>
              <a:t>时</a:t>
            </a:r>
            <a:r>
              <a:rPr lang="en-US" altLang="zh-CN">
                <a:solidFill>
                  <a:srgbClr val="FF0000"/>
                </a:solidFill>
              </a:rPr>
              <a:t>,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632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  <p:graphicFrame>
        <p:nvGraphicFramePr>
          <p:cNvPr id="56324" name="Object 2"/>
          <p:cNvGraphicFramePr>
            <a:graphicFrameLocks noChangeAspect="1"/>
          </p:cNvGraphicFramePr>
          <p:nvPr/>
        </p:nvGraphicFramePr>
        <p:xfrm>
          <a:off x="2316163" y="1196975"/>
          <a:ext cx="32639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638300" imgH="469900" progId="Equation.3">
                  <p:embed/>
                </p:oleObj>
              </mc:Choice>
              <mc:Fallback>
                <p:oleObj name="" r:id="rId1" imgW="1638300" imgH="4699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16163" y="1196975"/>
                        <a:ext cx="3263900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5" name="内容占位符 2"/>
          <p:cNvSpPr txBox="1"/>
          <p:nvPr/>
        </p:nvSpPr>
        <p:spPr>
          <a:xfrm>
            <a:off x="323850" y="2133600"/>
            <a:ext cx="8496300" cy="31670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lnSpc>
                <a:spcPct val="120000"/>
              </a:lnSpc>
              <a:buClr>
                <a:schemeClr val="folHlink"/>
              </a:buClr>
              <a:buSzPct val="75000"/>
            </a:pPr>
            <a:r>
              <a:rPr lang="zh-CN" altLang="en-US" sz="2800" i="0">
                <a:solidFill>
                  <a:schemeClr val="hlink"/>
                </a:solidFill>
                <a:latin typeface="Times New Roman" panose="02020603050405020304" charset="0"/>
                <a:ea typeface="黑体" panose="02010609060101010101" charset="-122"/>
              </a:rPr>
              <a:t>证</a:t>
            </a:r>
            <a:r>
              <a:rPr lang="zh-CN" altLang="en-US" sz="2800" i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(1)</a:t>
            </a:r>
            <a:r>
              <a:rPr lang="zh-CN" altLang="en-US" sz="2800" i="0">
                <a:latin typeface="Times New Roman" panose="02020603050405020304" charset="0"/>
                <a:ea typeface="黑体" panose="02010609060101010101" charset="-122"/>
              </a:rPr>
              <a:t> 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zh-CN" altLang="en-US" sz="2800" i="0">
                <a:latin typeface="Times New Roman" panose="02020603050405020304" charset="0"/>
                <a:ea typeface="黑体" panose="02010609060101010101" charset="-122"/>
              </a:rPr>
              <a:t>为奇数时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</a:t>
            </a:r>
            <a:r>
              <a:rPr lang="en-US" altLang="zh-CN" sz="2800" i="0">
                <a:latin typeface="Tahoma" panose="020B0604030504040204" charset="0"/>
                <a:ea typeface="黑体" panose="02010609060101010101" charset="-122"/>
                <a:sym typeface="Symbol" panose="05050102010706020507" charset="2"/>
              </a:rPr>
              <a:t>’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(K</a:t>
            </a:r>
            <a:r>
              <a:rPr lang="en-US" altLang="zh-CN" sz="2800" baseline="-2500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n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)=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n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  <a:sym typeface="Symbol" panose="05050102010706020507" charset="2"/>
              </a:rPr>
              <a:t>.</a:t>
            </a:r>
            <a:endParaRPr lang="en-US" altLang="zh-CN" sz="2800" i="0">
              <a:latin typeface="Times New Roman" panose="02020603050405020304" charset="0"/>
              <a:ea typeface="黑体" panose="02010609060101010101" charset="-122"/>
              <a:sym typeface="Symbol" panose="05050102010706020507" charset="2"/>
            </a:endParaRPr>
          </a:p>
          <a:p>
            <a:pPr marL="342900" indent="-342900" eaLnBrk="0" hangingPunct="0">
              <a:lnSpc>
                <a:spcPct val="120000"/>
              </a:lnSpc>
              <a:buClr>
                <a:schemeClr val="folHlink"/>
              </a:buClr>
              <a:buSzPct val="75000"/>
            </a:pPr>
            <a:r>
              <a:rPr lang="zh-CN" altLang="en-US" sz="2800" i="0">
                <a:latin typeface="Times New Roman" panose="02020603050405020304" charset="0"/>
                <a:ea typeface="黑体" panose="02010609060101010101" charset="-122"/>
              </a:rPr>
              <a:t>每条边关联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2</a:t>
            </a:r>
            <a:r>
              <a:rPr lang="zh-CN" altLang="en-US" sz="2800" i="0">
                <a:latin typeface="Times New Roman" panose="02020603050405020304" charset="0"/>
                <a:ea typeface="黑体" panose="02010609060101010101" charset="-122"/>
              </a:rPr>
              <a:t>个不同顶点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i="0">
                <a:latin typeface="Times New Roman" panose="02020603050405020304" charset="0"/>
                <a:ea typeface="黑体" panose="02010609060101010101" charset="-122"/>
              </a:rPr>
              <a:t>同色边没有公共顶点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i="0">
                <a:latin typeface="Times New Roman" panose="02020603050405020304" charset="0"/>
                <a:ea typeface="黑体" panose="02010609060101010101" charset="-122"/>
              </a:rPr>
              <a:t>所以同色边至多有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-1)/2</a:t>
            </a:r>
            <a:r>
              <a:rPr lang="zh-CN" altLang="en-US" sz="2800" i="0">
                <a:latin typeface="Times New Roman" panose="02020603050405020304" charset="0"/>
                <a:ea typeface="黑体" panose="02010609060101010101" charset="-122"/>
              </a:rPr>
              <a:t>条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i="0">
                <a:latin typeface="Times New Roman" panose="02020603050405020304" charset="0"/>
                <a:ea typeface="黑体" panose="02010609060101010101" charset="-122"/>
              </a:rPr>
              <a:t>而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K</a:t>
            </a:r>
            <a:r>
              <a:rPr lang="en-US" altLang="zh-CN" sz="2800" i="0" baseline="-2500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zh-CN" altLang="en-US" sz="2800" i="0">
                <a:latin typeface="Times New Roman" panose="02020603050405020304" charset="0"/>
                <a:ea typeface="黑体" panose="02010609060101010101" charset="-122"/>
              </a:rPr>
              <a:t>中的边数为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-1)/2,</a:t>
            </a:r>
            <a:r>
              <a:rPr lang="zh-CN" altLang="en-US" sz="2800" i="0">
                <a:latin typeface="Times New Roman" panose="02020603050405020304" charset="0"/>
                <a:ea typeface="黑体" panose="02010609060101010101" charset="-122"/>
              </a:rPr>
              <a:t>因此至少需要</a:t>
            </a:r>
            <a:r>
              <a:rPr lang="en-US" altLang="zh-CN" sz="2800">
                <a:latin typeface="Times New Roman" panose="02020603050405020304" charset="0"/>
                <a:ea typeface="黑体" panose="02010609060101010101" charset="-122"/>
              </a:rPr>
              <a:t>n</a:t>
            </a:r>
            <a:r>
              <a:rPr lang="zh-CN" altLang="en-US" sz="2800" i="0">
                <a:latin typeface="Times New Roman" panose="02020603050405020304" charset="0"/>
                <a:ea typeface="黑体" panose="02010609060101010101" charset="-122"/>
              </a:rPr>
              <a:t>种颜色</a:t>
            </a:r>
            <a:r>
              <a:rPr lang="en-US" altLang="zh-CN" sz="2800" i="0">
                <a:latin typeface="Times New Roman" panose="02020603050405020304" charset="0"/>
                <a:ea typeface="黑体" panose="02010609060101010101" charset="-122"/>
              </a:rPr>
              <a:t>,</a:t>
            </a:r>
            <a:r>
              <a:rPr lang="zh-CN" altLang="en-US" sz="2800" i="0">
                <a:latin typeface="Times New Roman" panose="02020603050405020304" charset="0"/>
                <a:ea typeface="黑体" panose="02010609060101010101" charset="-122"/>
              </a:rPr>
              <a:t>即</a:t>
            </a:r>
            <a:r>
              <a:rPr lang="en-US" altLang="zh-CN" sz="2800" i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</a:t>
            </a:r>
            <a:r>
              <a:rPr lang="en-US" altLang="zh-CN" sz="2800" i="0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’</a:t>
            </a:r>
            <a:r>
              <a:rPr lang="en-US" altLang="zh-CN" sz="2800" i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(K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n</a:t>
            </a:r>
            <a:r>
              <a:rPr lang="en-US" altLang="zh-CN" sz="2800" i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) ≥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n</a:t>
            </a:r>
            <a:r>
              <a:rPr lang="en-US" altLang="zh-CN" sz="2800" i="0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.</a:t>
            </a:r>
            <a:endParaRPr lang="en-US" altLang="zh-CN" sz="2800" i="0">
              <a:latin typeface="Tahoma" panose="020B0604030504040204" charset="0"/>
              <a:ea typeface="宋体" panose="02010600030101010101" pitchFamily="2" charset="-122"/>
              <a:sym typeface="Symbol" panose="05050102010706020507" charset="2"/>
            </a:endParaRPr>
          </a:p>
          <a:p>
            <a:pPr marL="342900" indent="-342900" eaLnBrk="0" hangingPunct="0">
              <a:lnSpc>
                <a:spcPct val="120000"/>
              </a:lnSpc>
              <a:buClr>
                <a:schemeClr val="folHlink"/>
              </a:buClr>
              <a:buSzPct val="75000"/>
            </a:pPr>
            <a:r>
              <a:rPr lang="zh-CN" altLang="en-US" sz="2800" i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又存在如下图的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n</a:t>
            </a:r>
            <a:r>
              <a:rPr lang="en-US" altLang="zh-CN" sz="2800" i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-</a:t>
            </a:r>
            <a:r>
              <a:rPr lang="zh-CN" altLang="en-US" sz="2800" i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边着色</a:t>
            </a:r>
            <a:r>
              <a:rPr lang="en-US" altLang="zh-CN" sz="2800" i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,</a:t>
            </a:r>
            <a:r>
              <a:rPr lang="zh-CN" altLang="en-US" sz="2800" i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即</a:t>
            </a:r>
            <a:r>
              <a:rPr lang="en-US" altLang="zh-CN" sz="2800" i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</a:t>
            </a:r>
            <a:r>
              <a:rPr lang="en-US" altLang="zh-CN" sz="2800" i="0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’</a:t>
            </a:r>
            <a:r>
              <a:rPr lang="en-US" altLang="zh-CN" sz="2800" i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(K</a:t>
            </a:r>
            <a:r>
              <a:rPr lang="en-US" altLang="zh-CN" sz="2800" i="0" baseline="-2500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n</a:t>
            </a:r>
            <a:r>
              <a:rPr lang="en-US" altLang="zh-CN" sz="2800" i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) ≤ 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n</a:t>
            </a:r>
            <a:r>
              <a:rPr lang="en-US" altLang="zh-CN" sz="2800" i="0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.</a:t>
            </a:r>
            <a:endParaRPr lang="en-US" altLang="zh-CN" sz="2800" i="0">
              <a:latin typeface="Tahoma" panose="020B0604030504040204" charset="0"/>
              <a:ea typeface="宋体" panose="02010600030101010101" pitchFamily="2" charset="-122"/>
              <a:sym typeface="Symbol" panose="05050102010706020507" charset="2"/>
            </a:endParaRPr>
          </a:p>
          <a:p>
            <a:pPr marL="342900" indent="-342900" eaLnBrk="0" hangingPunct="0">
              <a:lnSpc>
                <a:spcPct val="120000"/>
              </a:lnSpc>
              <a:buClr>
                <a:schemeClr val="folHlink"/>
              </a:buClr>
              <a:buSzPct val="75000"/>
            </a:pPr>
            <a:r>
              <a:rPr lang="zh-CN" altLang="en-US" sz="2800" i="0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所以</a:t>
            </a:r>
            <a:r>
              <a:rPr lang="en-US" altLang="zh-CN" sz="2800" i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</a:t>
            </a:r>
            <a:r>
              <a:rPr lang="en-US" altLang="zh-CN" sz="2800" i="0">
                <a:latin typeface="Tahoma" panose="020B0604030504040204" charset="0"/>
                <a:ea typeface="宋体" panose="02010600030101010101" pitchFamily="2" charset="-122"/>
                <a:sym typeface="Symbol" panose="05050102010706020507" charset="2"/>
              </a:rPr>
              <a:t>’</a:t>
            </a:r>
            <a:r>
              <a:rPr lang="en-US" altLang="zh-CN" sz="2800" i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(K</a:t>
            </a:r>
            <a:r>
              <a:rPr lang="en-US" altLang="zh-CN" sz="2800" baseline="-2500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n</a:t>
            </a:r>
            <a:r>
              <a:rPr lang="en-US" altLang="zh-CN" sz="2800" i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)=</a:t>
            </a:r>
            <a:r>
              <a:rPr lang="en-US" altLang="zh-CN" sz="280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n</a:t>
            </a:r>
            <a:r>
              <a:rPr lang="en-US" altLang="zh-CN" sz="2800" i="0">
                <a:latin typeface="Times New Roman" panose="02020603050405020304" charset="0"/>
                <a:ea typeface="宋体" panose="02010600030101010101" pitchFamily="2" charset="-122"/>
                <a:sym typeface="Symbol" panose="05050102010706020507" charset="2"/>
              </a:rPr>
              <a:t>.</a:t>
            </a:r>
            <a:endParaRPr lang="zh-CN" altLang="en-US" sz="2800" i="0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56326" name="组合 25"/>
          <p:cNvGrpSpPr/>
          <p:nvPr/>
        </p:nvGrpSpPr>
        <p:grpSpPr>
          <a:xfrm>
            <a:off x="2441575" y="5157788"/>
            <a:ext cx="2000250" cy="1468437"/>
            <a:chOff x="2440788" y="5157192"/>
            <a:chExt cx="2001051" cy="1469078"/>
          </a:xfrm>
        </p:grpSpPr>
        <p:sp>
          <p:nvSpPr>
            <p:cNvPr id="56327" name="椭圆 11"/>
            <p:cNvSpPr/>
            <p:nvPr/>
          </p:nvSpPr>
          <p:spPr>
            <a:xfrm>
              <a:off x="2483768" y="5229200"/>
              <a:ext cx="1872208" cy="134076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3347864" y="5157192"/>
              <a:ext cx="215927" cy="215914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2843905" y="5229200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2483768" y="5517232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2440788" y="5978308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椭圆 12"/>
            <p:cNvSpPr/>
            <p:nvPr/>
          </p:nvSpPr>
          <p:spPr bwMode="auto">
            <a:xfrm>
              <a:off x="2742772" y="6338348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椭圆 13"/>
            <p:cNvSpPr/>
            <p:nvPr/>
          </p:nvSpPr>
          <p:spPr bwMode="auto">
            <a:xfrm>
              <a:off x="4139952" y="609329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" name="椭圆 14"/>
            <p:cNvSpPr/>
            <p:nvPr/>
          </p:nvSpPr>
          <p:spPr bwMode="auto">
            <a:xfrm>
              <a:off x="4225912" y="5632220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6" name="椭圆 15"/>
            <p:cNvSpPr/>
            <p:nvPr/>
          </p:nvSpPr>
          <p:spPr bwMode="auto">
            <a:xfrm>
              <a:off x="3893214" y="5271618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7" name="椭圆 16"/>
            <p:cNvSpPr/>
            <p:nvPr/>
          </p:nvSpPr>
          <p:spPr bwMode="auto">
            <a:xfrm>
              <a:off x="3765960" y="641035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6337" name="直接连接符 18"/>
            <p:cNvCxnSpPr/>
            <p:nvPr/>
          </p:nvCxnSpPr>
          <p:spPr>
            <a:xfrm rot="-5400000" flipH="1">
              <a:off x="3455305" y="4883604"/>
              <a:ext cx="42418" cy="1049309"/>
            </a:xfrm>
            <a:prstGeom prst="line">
              <a:avLst/>
            </a:prstGeom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38" name="直接连接符 19"/>
            <p:cNvCxnSpPr/>
            <p:nvPr/>
          </p:nvCxnSpPr>
          <p:spPr>
            <a:xfrm>
              <a:off x="2627784" y="5661248"/>
              <a:ext cx="1598128" cy="78929"/>
            </a:xfrm>
            <a:prstGeom prst="line">
              <a:avLst/>
            </a:prstGeom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39" name="直接连接符 21"/>
            <p:cNvCxnSpPr/>
            <p:nvPr/>
          </p:nvCxnSpPr>
          <p:spPr>
            <a:xfrm>
              <a:off x="2627784" y="6021288"/>
              <a:ext cx="1584178" cy="72010"/>
            </a:xfrm>
            <a:prstGeom prst="line">
              <a:avLst/>
            </a:prstGeom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40" name="直接连接符 23"/>
            <p:cNvCxnSpPr/>
            <p:nvPr/>
          </p:nvCxnSpPr>
          <p:spPr>
            <a:xfrm>
              <a:off x="2915816" y="6381329"/>
              <a:ext cx="881766" cy="60647"/>
            </a:xfrm>
            <a:prstGeom prst="line">
              <a:avLst/>
            </a:prstGeom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6341" name="组合 26"/>
          <p:cNvGrpSpPr/>
          <p:nvPr/>
        </p:nvGrpSpPr>
        <p:grpSpPr>
          <a:xfrm>
            <a:off x="5651500" y="5013325"/>
            <a:ext cx="2001838" cy="1468438"/>
            <a:chOff x="2440788" y="5157192"/>
            <a:chExt cx="2001051" cy="1469078"/>
          </a:xfrm>
        </p:grpSpPr>
        <p:sp>
          <p:nvSpPr>
            <p:cNvPr id="56342" name="椭圆 27"/>
            <p:cNvSpPr/>
            <p:nvPr/>
          </p:nvSpPr>
          <p:spPr>
            <a:xfrm>
              <a:off x="2483768" y="5229200"/>
              <a:ext cx="1872208" cy="134076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9" name="椭圆 28"/>
            <p:cNvSpPr/>
            <p:nvPr/>
          </p:nvSpPr>
          <p:spPr bwMode="auto">
            <a:xfrm>
              <a:off x="3347864" y="5157192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0" name="椭圆 29"/>
            <p:cNvSpPr/>
            <p:nvPr/>
          </p:nvSpPr>
          <p:spPr bwMode="auto">
            <a:xfrm>
              <a:off x="2843905" y="5229200"/>
              <a:ext cx="215927" cy="215914"/>
            </a:xfrm>
            <a:prstGeom prst="ellipse">
              <a:avLst/>
            </a:prstGeom>
            <a:solidFill>
              <a:srgbClr val="FF00FF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1" name="椭圆 30"/>
            <p:cNvSpPr/>
            <p:nvPr/>
          </p:nvSpPr>
          <p:spPr bwMode="auto">
            <a:xfrm>
              <a:off x="2483768" y="5517232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2" name="椭圆 31"/>
            <p:cNvSpPr/>
            <p:nvPr/>
          </p:nvSpPr>
          <p:spPr bwMode="auto">
            <a:xfrm>
              <a:off x="2440788" y="5978308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3" name="椭圆 32"/>
            <p:cNvSpPr/>
            <p:nvPr/>
          </p:nvSpPr>
          <p:spPr bwMode="auto">
            <a:xfrm>
              <a:off x="2742772" y="6338348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4" name="椭圆 33"/>
            <p:cNvSpPr/>
            <p:nvPr/>
          </p:nvSpPr>
          <p:spPr bwMode="auto">
            <a:xfrm>
              <a:off x="4139952" y="609329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5" name="椭圆 34"/>
            <p:cNvSpPr/>
            <p:nvPr/>
          </p:nvSpPr>
          <p:spPr bwMode="auto">
            <a:xfrm>
              <a:off x="4225912" y="5632220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6" name="椭圆 35"/>
            <p:cNvSpPr/>
            <p:nvPr/>
          </p:nvSpPr>
          <p:spPr bwMode="auto">
            <a:xfrm>
              <a:off x="3893214" y="5271618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7" name="椭圆 36"/>
            <p:cNvSpPr/>
            <p:nvPr/>
          </p:nvSpPr>
          <p:spPr bwMode="auto">
            <a:xfrm>
              <a:off x="3765960" y="641035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6352" name="直接连接符 37"/>
            <p:cNvCxnSpPr/>
            <p:nvPr/>
          </p:nvCxnSpPr>
          <p:spPr>
            <a:xfrm flipV="1">
              <a:off x="2728822" y="5341486"/>
              <a:ext cx="650664" cy="319764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53" name="直接连接符 38"/>
            <p:cNvCxnSpPr/>
            <p:nvPr/>
          </p:nvCxnSpPr>
          <p:spPr>
            <a:xfrm flipV="1">
              <a:off x="2656812" y="5487532"/>
              <a:ext cx="1344366" cy="533757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54" name="直接连接符 39"/>
            <p:cNvCxnSpPr/>
            <p:nvPr/>
          </p:nvCxnSpPr>
          <p:spPr>
            <a:xfrm flipV="1">
              <a:off x="2944844" y="5740177"/>
              <a:ext cx="1281068" cy="569143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355" name="直接连接符 40"/>
            <p:cNvCxnSpPr/>
            <p:nvPr/>
          </p:nvCxnSpPr>
          <p:spPr>
            <a:xfrm rot="-10800000" flipV="1">
              <a:off x="3797582" y="6201252"/>
              <a:ext cx="342370" cy="240723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例</a:t>
            </a:r>
            <a:r>
              <a:rPr lang="en-US" altLang="zh-CN"/>
              <a:t>12.6(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57346" name="内容占位符 2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2663825"/>
          </a:xfrm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(2) </a:t>
            </a:r>
            <a:r>
              <a:rPr lang="en-US" altLang="zh-CN" i="1"/>
              <a:t>n</a:t>
            </a:r>
            <a:r>
              <a:rPr lang="zh-CN" altLang="en-US"/>
              <a:t>为偶数时</a:t>
            </a:r>
            <a:r>
              <a:rPr lang="en-US" altLang="zh-CN"/>
              <a:t>, χ</a:t>
            </a:r>
            <a:r>
              <a:rPr lang="en-US" altLang="zh-CN">
                <a:latin typeface="Tahoma" panose="020B0604030504040204" charset="0"/>
              </a:rPr>
              <a:t>’</a:t>
            </a:r>
            <a:r>
              <a:rPr lang="en-US" altLang="zh-CN"/>
              <a:t>(K</a:t>
            </a:r>
            <a:r>
              <a:rPr lang="en-US" altLang="zh-CN" i="1" baseline="-25000"/>
              <a:t>n</a:t>
            </a:r>
            <a:r>
              <a:rPr lang="en-US" altLang="zh-CN"/>
              <a:t>)=</a:t>
            </a:r>
            <a:r>
              <a:rPr lang="en-US" altLang="zh-CN" i="1"/>
              <a:t>n</a:t>
            </a:r>
            <a:r>
              <a:rPr lang="en-US" altLang="zh-CN"/>
              <a:t>-1. 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每边关联</a:t>
            </a:r>
            <a:r>
              <a:rPr lang="en-US" altLang="zh-CN"/>
              <a:t>2</a:t>
            </a:r>
            <a:r>
              <a:rPr lang="zh-CN" altLang="en-US"/>
              <a:t>个不同顶点</a:t>
            </a:r>
            <a:r>
              <a:rPr lang="en-US" altLang="zh-CN"/>
              <a:t>, </a:t>
            </a:r>
            <a:r>
              <a:rPr lang="zh-CN" altLang="en-US"/>
              <a:t>同色边没有公共顶点</a:t>
            </a:r>
            <a:r>
              <a:rPr lang="en-US" altLang="zh-CN"/>
              <a:t>, </a:t>
            </a:r>
            <a:r>
              <a:rPr lang="zh-CN" altLang="en-US"/>
              <a:t>同色边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至多有</a:t>
            </a:r>
            <a:r>
              <a:rPr lang="en-US" altLang="zh-CN" i="1"/>
              <a:t>n</a:t>
            </a:r>
            <a:r>
              <a:rPr lang="en-US" altLang="zh-CN"/>
              <a:t>/2</a:t>
            </a:r>
            <a:r>
              <a:rPr lang="zh-CN" altLang="en-US"/>
              <a:t>条</a:t>
            </a:r>
            <a:r>
              <a:rPr lang="en-US" altLang="zh-CN"/>
              <a:t>, </a:t>
            </a:r>
            <a:r>
              <a:rPr lang="zh-CN" altLang="en-US"/>
              <a:t>至少需要</a:t>
            </a:r>
            <a:r>
              <a:rPr lang="en-US" altLang="zh-CN" i="1"/>
              <a:t>n</a:t>
            </a:r>
            <a:r>
              <a:rPr lang="en-US" altLang="zh-CN"/>
              <a:t>-1</a:t>
            </a:r>
            <a:r>
              <a:rPr lang="zh-CN" altLang="en-US"/>
              <a:t>种颜色</a:t>
            </a:r>
            <a:r>
              <a:rPr lang="en-US" altLang="zh-CN"/>
              <a:t>, </a:t>
            </a:r>
            <a:r>
              <a:rPr lang="zh-CN" altLang="en-US"/>
              <a:t>即</a:t>
            </a:r>
            <a:r>
              <a:rPr lang="el-GR" altLang="zh-CN"/>
              <a:t>χ</a:t>
            </a:r>
            <a:r>
              <a:rPr lang="el-GR" altLang="zh-CN">
                <a:latin typeface="Tahoma" panose="020B0604030504040204" charset="0"/>
              </a:rPr>
              <a:t>’</a:t>
            </a:r>
            <a:r>
              <a:rPr lang="el-GR" altLang="zh-CN"/>
              <a:t>(</a:t>
            </a:r>
            <a:r>
              <a:rPr lang="en-US" altLang="zh-CN"/>
              <a:t>K</a:t>
            </a:r>
            <a:r>
              <a:rPr lang="en-US" altLang="zh-CN" baseline="-25000"/>
              <a:t>n</a:t>
            </a:r>
            <a:r>
              <a:rPr lang="en-US" altLang="zh-CN"/>
              <a:t>)≥</a:t>
            </a:r>
            <a:r>
              <a:rPr lang="en-US" altLang="zh-CN" i="1"/>
              <a:t>n</a:t>
            </a:r>
            <a:r>
              <a:rPr lang="en-US" altLang="zh-CN"/>
              <a:t>-1. </a:t>
            </a:r>
            <a:r>
              <a:rPr lang="zh-CN" altLang="en-US"/>
              <a:t>又存</a:t>
            </a:r>
            <a:endParaRPr lang="en-US" altLang="zh-CN"/>
          </a:p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在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-1)-</a:t>
            </a:r>
            <a:r>
              <a:rPr lang="zh-CN" altLang="en-US"/>
              <a:t>边着色</a:t>
            </a:r>
            <a:r>
              <a:rPr lang="en-US" altLang="zh-CN"/>
              <a:t>,</a:t>
            </a:r>
            <a:r>
              <a:rPr lang="el-GR" altLang="zh-CN"/>
              <a:t>χ</a:t>
            </a:r>
            <a:r>
              <a:rPr lang="el-GR" altLang="zh-CN">
                <a:latin typeface="Tahoma" panose="020B0604030504040204" charset="0"/>
              </a:rPr>
              <a:t>’</a:t>
            </a:r>
            <a:r>
              <a:rPr lang="el-GR" altLang="zh-CN"/>
              <a:t>(</a:t>
            </a:r>
            <a:r>
              <a:rPr lang="en-US" altLang="zh-CN"/>
              <a:t>K</a:t>
            </a:r>
            <a:r>
              <a:rPr lang="en-US" altLang="zh-CN" i="1" baseline="-25000"/>
              <a:t>n</a:t>
            </a:r>
            <a:r>
              <a:rPr lang="en-US" altLang="zh-CN"/>
              <a:t>)≤</a:t>
            </a:r>
            <a:r>
              <a:rPr lang="en-US" altLang="zh-CN" i="1"/>
              <a:t>n</a:t>
            </a:r>
            <a:r>
              <a:rPr lang="en-US" altLang="zh-CN"/>
              <a:t>-1. </a:t>
            </a:r>
            <a:r>
              <a:rPr lang="zh-CN" altLang="en-US"/>
              <a:t>所以</a:t>
            </a:r>
            <a:r>
              <a:rPr lang="el-GR" altLang="zh-CN"/>
              <a:t>χ</a:t>
            </a:r>
            <a:r>
              <a:rPr lang="el-GR" altLang="zh-CN">
                <a:latin typeface="Tahoma" panose="020B0604030504040204" charset="0"/>
              </a:rPr>
              <a:t>’</a:t>
            </a:r>
            <a:r>
              <a:rPr lang="el-GR" altLang="zh-CN"/>
              <a:t>(</a:t>
            </a:r>
            <a:r>
              <a:rPr lang="en-US" altLang="zh-CN"/>
              <a:t>K</a:t>
            </a:r>
            <a:r>
              <a:rPr lang="en-US" altLang="zh-CN" baseline="-25000"/>
              <a:t>n</a:t>
            </a:r>
            <a:r>
              <a:rPr lang="en-US" altLang="zh-CN"/>
              <a:t>)=</a:t>
            </a:r>
            <a:r>
              <a:rPr lang="en-US" altLang="zh-CN" i="1"/>
              <a:t>n</a:t>
            </a:r>
            <a:r>
              <a:rPr lang="en-US" altLang="zh-CN"/>
              <a:t>-1. </a:t>
            </a:r>
            <a:endParaRPr lang="en-US" altLang="zh-CN"/>
          </a:p>
        </p:txBody>
      </p:sp>
      <p:sp>
        <p:nvSpPr>
          <p:cNvPr id="5734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  <p:grpSp>
        <p:nvGrpSpPr>
          <p:cNvPr id="57348" name="组合 24"/>
          <p:cNvGrpSpPr/>
          <p:nvPr/>
        </p:nvGrpSpPr>
        <p:grpSpPr>
          <a:xfrm>
            <a:off x="1844675" y="4086225"/>
            <a:ext cx="2000250" cy="1468438"/>
            <a:chOff x="2440788" y="5157192"/>
            <a:chExt cx="2001051" cy="1469078"/>
          </a:xfrm>
        </p:grpSpPr>
        <p:sp>
          <p:nvSpPr>
            <p:cNvPr id="57349" name="椭圆 25"/>
            <p:cNvSpPr/>
            <p:nvPr/>
          </p:nvSpPr>
          <p:spPr>
            <a:xfrm>
              <a:off x="2483768" y="5229200"/>
              <a:ext cx="1872208" cy="134076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27" name="椭圆 26"/>
            <p:cNvSpPr/>
            <p:nvPr/>
          </p:nvSpPr>
          <p:spPr bwMode="auto">
            <a:xfrm>
              <a:off x="3347864" y="5157192"/>
              <a:ext cx="215927" cy="215914"/>
            </a:xfrm>
            <a:prstGeom prst="ellipse">
              <a:avLst/>
            </a:prstGeom>
            <a:solidFill>
              <a:srgbClr val="00B050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8" name="椭圆 27"/>
            <p:cNvSpPr/>
            <p:nvPr/>
          </p:nvSpPr>
          <p:spPr bwMode="auto">
            <a:xfrm>
              <a:off x="2843905" y="5229200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9" name="椭圆 28"/>
            <p:cNvSpPr/>
            <p:nvPr/>
          </p:nvSpPr>
          <p:spPr bwMode="auto">
            <a:xfrm>
              <a:off x="2483768" y="5517232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0" name="椭圆 29"/>
            <p:cNvSpPr/>
            <p:nvPr/>
          </p:nvSpPr>
          <p:spPr bwMode="auto">
            <a:xfrm>
              <a:off x="2440788" y="5978308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1" name="椭圆 30"/>
            <p:cNvSpPr/>
            <p:nvPr/>
          </p:nvSpPr>
          <p:spPr bwMode="auto">
            <a:xfrm>
              <a:off x="2742772" y="6338348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2" name="椭圆 31"/>
            <p:cNvSpPr/>
            <p:nvPr/>
          </p:nvSpPr>
          <p:spPr bwMode="auto">
            <a:xfrm>
              <a:off x="4139952" y="609329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3" name="椭圆 32"/>
            <p:cNvSpPr/>
            <p:nvPr/>
          </p:nvSpPr>
          <p:spPr bwMode="auto">
            <a:xfrm>
              <a:off x="4225912" y="5632220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4" name="椭圆 33"/>
            <p:cNvSpPr/>
            <p:nvPr/>
          </p:nvSpPr>
          <p:spPr bwMode="auto">
            <a:xfrm>
              <a:off x="3893214" y="5271618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5" name="椭圆 34"/>
            <p:cNvSpPr/>
            <p:nvPr/>
          </p:nvSpPr>
          <p:spPr bwMode="auto">
            <a:xfrm>
              <a:off x="3765960" y="641035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7359" name="直接连接符 35"/>
            <p:cNvCxnSpPr/>
            <p:nvPr/>
          </p:nvCxnSpPr>
          <p:spPr>
            <a:xfrm rot="-5400000" flipH="1">
              <a:off x="3455305" y="4883604"/>
              <a:ext cx="42418" cy="1049309"/>
            </a:xfrm>
            <a:prstGeom prst="line">
              <a:avLst/>
            </a:prstGeom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360" name="直接连接符 36"/>
            <p:cNvCxnSpPr/>
            <p:nvPr/>
          </p:nvCxnSpPr>
          <p:spPr>
            <a:xfrm>
              <a:off x="2627784" y="5661248"/>
              <a:ext cx="1598128" cy="78929"/>
            </a:xfrm>
            <a:prstGeom prst="line">
              <a:avLst/>
            </a:prstGeom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361" name="直接连接符 37"/>
            <p:cNvCxnSpPr/>
            <p:nvPr/>
          </p:nvCxnSpPr>
          <p:spPr>
            <a:xfrm>
              <a:off x="2627784" y="6021288"/>
              <a:ext cx="1584178" cy="72010"/>
            </a:xfrm>
            <a:prstGeom prst="line">
              <a:avLst/>
            </a:prstGeom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362" name="直接连接符 38"/>
            <p:cNvCxnSpPr/>
            <p:nvPr/>
          </p:nvCxnSpPr>
          <p:spPr>
            <a:xfrm>
              <a:off x="2915816" y="6381329"/>
              <a:ext cx="881766" cy="60647"/>
            </a:xfrm>
            <a:prstGeom prst="line">
              <a:avLst/>
            </a:prstGeom>
            <a:ln w="28575" cap="flat" cmpd="sng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0" name="椭圆 39"/>
          <p:cNvSpPr/>
          <p:nvPr/>
        </p:nvSpPr>
        <p:spPr bwMode="auto">
          <a:xfrm>
            <a:off x="2780184" y="4733528"/>
            <a:ext cx="215927" cy="215914"/>
          </a:xfrm>
          <a:prstGeom prst="ellipse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50800"/>
            <a:bevelB w="38100"/>
          </a:sp3d>
        </p:spPr>
        <p:txBody>
          <a:bodyPr/>
          <a:lstStyle>
            <a:lvl1pPr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57364" name="直接连接符 40"/>
          <p:cNvCxnSpPr/>
          <p:nvPr/>
        </p:nvCxnSpPr>
        <p:spPr>
          <a:xfrm rot="-5400000" flipH="1">
            <a:off x="2657475" y="4503738"/>
            <a:ext cx="431800" cy="28575"/>
          </a:xfrm>
          <a:prstGeom prst="line">
            <a:avLst/>
          </a:prstGeom>
          <a:ln w="2857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7365" name="组合 41"/>
          <p:cNvGrpSpPr/>
          <p:nvPr/>
        </p:nvGrpSpPr>
        <p:grpSpPr>
          <a:xfrm>
            <a:off x="5148263" y="4292600"/>
            <a:ext cx="2000250" cy="1470025"/>
            <a:chOff x="2440788" y="5157192"/>
            <a:chExt cx="2001051" cy="1469078"/>
          </a:xfrm>
        </p:grpSpPr>
        <p:sp>
          <p:nvSpPr>
            <p:cNvPr id="57366" name="椭圆 42"/>
            <p:cNvSpPr/>
            <p:nvPr/>
          </p:nvSpPr>
          <p:spPr>
            <a:xfrm>
              <a:off x="2483768" y="5229200"/>
              <a:ext cx="1872208" cy="134076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buSzTx/>
              </a:pPr>
              <a:endParaRPr lang="zh-CN" altLang="en-US" i="0">
                <a:latin typeface="Tahoma" panose="020B0604030504040204" charset="0"/>
                <a:ea typeface="宋体" panose="02010600030101010101" pitchFamily="2" charset="-122"/>
              </a:endParaRPr>
            </a:p>
          </p:txBody>
        </p:sp>
        <p:sp>
          <p:nvSpPr>
            <p:cNvPr id="44" name="椭圆 43"/>
            <p:cNvSpPr/>
            <p:nvPr/>
          </p:nvSpPr>
          <p:spPr bwMode="auto">
            <a:xfrm>
              <a:off x="3347864" y="5157192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5" name="椭圆 44"/>
            <p:cNvSpPr/>
            <p:nvPr/>
          </p:nvSpPr>
          <p:spPr bwMode="auto">
            <a:xfrm>
              <a:off x="2843905" y="5229200"/>
              <a:ext cx="215927" cy="215914"/>
            </a:xfrm>
            <a:prstGeom prst="ellipse">
              <a:avLst/>
            </a:prstGeom>
            <a:solidFill>
              <a:srgbClr val="FF00FF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6" name="椭圆 45"/>
            <p:cNvSpPr/>
            <p:nvPr/>
          </p:nvSpPr>
          <p:spPr bwMode="auto">
            <a:xfrm>
              <a:off x="2483768" y="5517232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7" name="椭圆 46"/>
            <p:cNvSpPr/>
            <p:nvPr/>
          </p:nvSpPr>
          <p:spPr bwMode="auto">
            <a:xfrm>
              <a:off x="2440788" y="5978308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8" name="椭圆 47"/>
            <p:cNvSpPr/>
            <p:nvPr/>
          </p:nvSpPr>
          <p:spPr bwMode="auto">
            <a:xfrm>
              <a:off x="2742772" y="6338348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9" name="椭圆 48"/>
            <p:cNvSpPr/>
            <p:nvPr/>
          </p:nvSpPr>
          <p:spPr bwMode="auto">
            <a:xfrm>
              <a:off x="4139952" y="609329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0" name="椭圆 49"/>
            <p:cNvSpPr/>
            <p:nvPr/>
          </p:nvSpPr>
          <p:spPr bwMode="auto">
            <a:xfrm>
              <a:off x="4225912" y="5632220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1" name="椭圆 50"/>
            <p:cNvSpPr/>
            <p:nvPr/>
          </p:nvSpPr>
          <p:spPr bwMode="auto">
            <a:xfrm>
              <a:off x="3893214" y="5271618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2" name="椭圆 51"/>
            <p:cNvSpPr/>
            <p:nvPr/>
          </p:nvSpPr>
          <p:spPr bwMode="auto">
            <a:xfrm>
              <a:off x="3765960" y="641035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cxnSp>
          <p:nvCxnSpPr>
            <p:cNvPr id="57376" name="直接连接符 52"/>
            <p:cNvCxnSpPr/>
            <p:nvPr/>
          </p:nvCxnSpPr>
          <p:spPr>
            <a:xfrm flipV="1">
              <a:off x="2728822" y="5341486"/>
              <a:ext cx="650664" cy="319764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377" name="直接连接符 53"/>
            <p:cNvCxnSpPr/>
            <p:nvPr/>
          </p:nvCxnSpPr>
          <p:spPr>
            <a:xfrm flipV="1">
              <a:off x="2656812" y="5487532"/>
              <a:ext cx="1344366" cy="533757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378" name="直接连接符 54"/>
            <p:cNvCxnSpPr/>
            <p:nvPr/>
          </p:nvCxnSpPr>
          <p:spPr>
            <a:xfrm flipV="1">
              <a:off x="2944844" y="5740177"/>
              <a:ext cx="1281068" cy="569143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379" name="直接连接符 55"/>
            <p:cNvCxnSpPr/>
            <p:nvPr/>
          </p:nvCxnSpPr>
          <p:spPr>
            <a:xfrm rot="-10800000" flipV="1">
              <a:off x="3797582" y="6201252"/>
              <a:ext cx="342370" cy="240723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" name="椭圆 56"/>
          <p:cNvSpPr/>
          <p:nvPr/>
        </p:nvSpPr>
        <p:spPr bwMode="auto">
          <a:xfrm>
            <a:off x="6012160" y="4941168"/>
            <a:ext cx="215927" cy="215914"/>
          </a:xfrm>
          <a:prstGeom prst="ellipse">
            <a:avLst/>
          </a:prstGeom>
          <a:solidFill>
            <a:srgbClr val="FF00FF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>
            <a:bevelT w="50800"/>
            <a:bevelB w="38100"/>
          </a:sp3d>
        </p:spPr>
        <p:txBody>
          <a:bodyPr/>
          <a:lstStyle>
            <a:lvl1pPr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 eaLnBrk="0" hangingPunct="0"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 i="1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57381" name="直接连接符 57"/>
          <p:cNvCxnSpPr/>
          <p:nvPr/>
        </p:nvCxnSpPr>
        <p:spPr>
          <a:xfrm rot="-5400000" flipH="1">
            <a:off x="5678488" y="4606925"/>
            <a:ext cx="422275" cy="307975"/>
          </a:xfrm>
          <a:prstGeom prst="line">
            <a:avLst/>
          </a:prstGeom>
          <a:ln w="28575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例</a:t>
            </a:r>
            <a:r>
              <a:rPr lang="en-US" altLang="zh-CN"/>
              <a:t>12.7</a:t>
            </a:r>
            <a:r>
              <a:rPr lang="zh-CN" altLang="en-US"/>
              <a:t> 排课问题</a:t>
            </a:r>
            <a:endParaRPr lang="zh-CN" altLang="en-US"/>
          </a:p>
        </p:txBody>
      </p:sp>
      <p:sp>
        <p:nvSpPr>
          <p:cNvPr id="58370" name="内容占位符 2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5040313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/>
              <a:t>某一天内有</a:t>
            </a:r>
            <a:r>
              <a:rPr lang="en-US" altLang="zh-CN" i="1"/>
              <a:t>n</a:t>
            </a:r>
            <a:r>
              <a:rPr lang="zh-CN" altLang="en-US"/>
              <a:t>个教师给</a:t>
            </a:r>
            <a:r>
              <a:rPr lang="en-US" altLang="zh-CN" i="1"/>
              <a:t>m</a:t>
            </a:r>
            <a:r>
              <a:rPr lang="zh-CN" altLang="en-US"/>
              <a:t>个班上课</a:t>
            </a:r>
            <a:r>
              <a:rPr lang="en-US" altLang="zh-CN"/>
              <a:t>.</a:t>
            </a:r>
            <a:r>
              <a:rPr lang="zh-CN" altLang="en-US"/>
              <a:t>每个教师在同课时只能给一个班上课</a:t>
            </a:r>
            <a:r>
              <a:rPr lang="en-US" altLang="zh-CN"/>
              <a:t>.</a:t>
            </a:r>
            <a:endParaRPr lang="en-US" altLang="zh-CN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(1) </a:t>
            </a:r>
            <a:r>
              <a:rPr lang="zh-CN" altLang="en-US"/>
              <a:t>这一天内至少排多少节课</a:t>
            </a:r>
            <a:r>
              <a:rPr lang="en-US" altLang="zh-CN"/>
              <a:t>?</a:t>
            </a:r>
            <a:endParaRPr lang="en-US" altLang="zh-CN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(2) </a:t>
            </a:r>
            <a:r>
              <a:rPr lang="zh-CN" altLang="en-US"/>
              <a:t>不增加节数情况下至少需要几个教室</a:t>
            </a:r>
            <a:r>
              <a:rPr lang="en-US" altLang="zh-CN"/>
              <a:t>?</a:t>
            </a:r>
            <a:endParaRPr lang="en-US" altLang="zh-CN"/>
          </a:p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/>
              <a:t>(3) </a:t>
            </a:r>
            <a:r>
              <a:rPr lang="zh-CN" altLang="en-US"/>
              <a:t>若</a:t>
            </a:r>
            <a:r>
              <a:rPr lang="en-US" altLang="zh-CN" i="1"/>
              <a:t>n</a:t>
            </a:r>
            <a:r>
              <a:rPr lang="en-US" altLang="zh-CN"/>
              <a:t>=4,</a:t>
            </a:r>
            <a:r>
              <a:rPr lang="en-US" altLang="zh-CN" i="1"/>
              <a:t>m</a:t>
            </a:r>
            <a:r>
              <a:rPr lang="en-US" altLang="zh-CN"/>
              <a:t>=5. </a:t>
            </a:r>
            <a:r>
              <a:rPr lang="zh-CN" altLang="en-US"/>
              <a:t>教师是</a:t>
            </a:r>
            <a:r>
              <a:rPr lang="en-US" altLang="zh-CN"/>
              <a:t>t</a:t>
            </a:r>
            <a:r>
              <a:rPr lang="en-US" altLang="zh-CN" baseline="-25000"/>
              <a:t>1</a:t>
            </a:r>
            <a:r>
              <a:rPr lang="en-US" altLang="zh-CN"/>
              <a:t>,t</a:t>
            </a:r>
            <a:r>
              <a:rPr lang="en-US" altLang="zh-CN" baseline="-25000"/>
              <a:t>2</a:t>
            </a:r>
            <a:r>
              <a:rPr lang="en-US" altLang="zh-CN"/>
              <a:t>,t</a:t>
            </a:r>
            <a:r>
              <a:rPr lang="en-US" altLang="zh-CN" baseline="-25000"/>
              <a:t>3</a:t>
            </a:r>
            <a:r>
              <a:rPr lang="en-US" altLang="zh-CN"/>
              <a:t>,t</a:t>
            </a:r>
            <a:r>
              <a:rPr lang="en-US" altLang="zh-CN" baseline="-25000"/>
              <a:t>4</a:t>
            </a:r>
            <a:r>
              <a:rPr lang="en-US" altLang="zh-CN"/>
              <a:t>, </a:t>
            </a:r>
            <a:r>
              <a:rPr lang="zh-CN" altLang="en-US"/>
              <a:t>班是</a:t>
            </a:r>
            <a:r>
              <a:rPr lang="en-US" altLang="zh-CN"/>
              <a:t>c</a:t>
            </a:r>
            <a:r>
              <a:rPr lang="en-US" altLang="zh-CN" baseline="-25000"/>
              <a:t>1</a:t>
            </a:r>
            <a:r>
              <a:rPr lang="en-US" altLang="zh-CN"/>
              <a:t>,c</a:t>
            </a:r>
            <a:r>
              <a:rPr lang="en-US" altLang="zh-CN" baseline="-25000"/>
              <a:t>2</a:t>
            </a:r>
            <a:r>
              <a:rPr lang="en-US" altLang="zh-CN"/>
              <a:t>,c</a:t>
            </a:r>
            <a:r>
              <a:rPr lang="en-US" altLang="zh-CN" baseline="-25000"/>
              <a:t>3</a:t>
            </a:r>
            <a:r>
              <a:rPr lang="en-US" altLang="zh-CN"/>
              <a:t>,c</a:t>
            </a:r>
            <a:r>
              <a:rPr lang="en-US" altLang="zh-CN" baseline="-25000"/>
              <a:t>4</a:t>
            </a:r>
            <a:r>
              <a:rPr lang="en-US" altLang="zh-CN"/>
              <a:t>,c</a:t>
            </a:r>
            <a:r>
              <a:rPr lang="en-US" altLang="zh-CN" baseline="-25000"/>
              <a:t>5</a:t>
            </a:r>
            <a:r>
              <a:rPr lang="en-US" altLang="zh-CN"/>
              <a:t>. </a:t>
            </a:r>
            <a:r>
              <a:rPr lang="zh-CN" altLang="en-US"/>
              <a:t>已知</a:t>
            </a:r>
            <a:r>
              <a:rPr lang="en-US" altLang="zh-CN"/>
              <a:t>t</a:t>
            </a:r>
            <a:r>
              <a:rPr lang="en-US" altLang="zh-CN" baseline="-25000"/>
              <a:t>1</a:t>
            </a:r>
            <a:r>
              <a:rPr lang="zh-CN" altLang="en-US"/>
              <a:t>给</a:t>
            </a:r>
            <a:r>
              <a:rPr lang="en-US" altLang="zh-CN"/>
              <a:t>c</a:t>
            </a:r>
            <a:r>
              <a:rPr lang="en-US" altLang="zh-CN" baseline="-25000"/>
              <a:t>1</a:t>
            </a:r>
            <a:r>
              <a:rPr lang="en-US" altLang="zh-CN"/>
              <a:t>,c</a:t>
            </a:r>
            <a:r>
              <a:rPr lang="en-US" altLang="zh-CN" baseline="-25000"/>
              <a:t>2</a:t>
            </a:r>
            <a:r>
              <a:rPr lang="en-US" altLang="zh-CN"/>
              <a:t>,c</a:t>
            </a:r>
            <a:r>
              <a:rPr lang="en-US" altLang="zh-CN" baseline="-25000"/>
              <a:t>3</a:t>
            </a:r>
            <a:r>
              <a:rPr lang="zh-CN" altLang="en-US"/>
              <a:t>上</a:t>
            </a:r>
            <a:r>
              <a:rPr lang="en-US" altLang="zh-CN"/>
              <a:t>2</a:t>
            </a:r>
            <a:r>
              <a:rPr lang="zh-CN" altLang="en-US"/>
              <a:t>节</a:t>
            </a:r>
            <a:r>
              <a:rPr lang="en-US" altLang="zh-CN"/>
              <a:t>,1</a:t>
            </a:r>
            <a:r>
              <a:rPr lang="zh-CN" altLang="en-US"/>
              <a:t>节</a:t>
            </a:r>
            <a:r>
              <a:rPr lang="en-US" altLang="zh-CN"/>
              <a:t>,1</a:t>
            </a:r>
            <a:r>
              <a:rPr lang="zh-CN" altLang="en-US"/>
              <a:t>节课</a:t>
            </a:r>
            <a:r>
              <a:rPr lang="en-US" altLang="zh-CN"/>
              <a:t>, t</a:t>
            </a:r>
            <a:r>
              <a:rPr lang="en-US" altLang="zh-CN" baseline="-25000"/>
              <a:t>2</a:t>
            </a:r>
            <a:r>
              <a:rPr lang="zh-CN" altLang="en-US"/>
              <a:t>给</a:t>
            </a:r>
            <a:r>
              <a:rPr lang="en-US" altLang="zh-CN"/>
              <a:t>c</a:t>
            </a:r>
            <a:r>
              <a:rPr lang="en-US" altLang="zh-CN" baseline="-25000"/>
              <a:t>2</a:t>
            </a:r>
            <a:r>
              <a:rPr lang="en-US" altLang="zh-CN"/>
              <a:t>,c</a:t>
            </a:r>
            <a:r>
              <a:rPr lang="en-US" altLang="zh-CN" baseline="-25000"/>
              <a:t>3</a:t>
            </a:r>
            <a:r>
              <a:rPr lang="zh-CN" altLang="en-US"/>
              <a:t>各上</a:t>
            </a:r>
            <a:r>
              <a:rPr lang="en-US" altLang="zh-CN"/>
              <a:t>1</a:t>
            </a:r>
            <a:r>
              <a:rPr lang="zh-CN" altLang="en-US"/>
              <a:t>节课</a:t>
            </a:r>
            <a:r>
              <a:rPr lang="en-US" altLang="zh-CN"/>
              <a:t>, t</a:t>
            </a:r>
            <a:r>
              <a:rPr lang="en-US" altLang="zh-CN" baseline="-25000"/>
              <a:t>3</a:t>
            </a:r>
            <a:r>
              <a:rPr lang="zh-CN" altLang="en-US"/>
              <a:t>给</a:t>
            </a:r>
            <a:r>
              <a:rPr lang="en-US" altLang="zh-CN"/>
              <a:t>c</a:t>
            </a:r>
            <a:r>
              <a:rPr lang="en-US" altLang="zh-CN" baseline="-25000"/>
              <a:t>2</a:t>
            </a:r>
            <a:r>
              <a:rPr lang="en-US" altLang="zh-CN"/>
              <a:t>,c</a:t>
            </a:r>
            <a:r>
              <a:rPr lang="en-US" altLang="zh-CN" baseline="-25000"/>
              <a:t>3</a:t>
            </a:r>
            <a:r>
              <a:rPr lang="en-US" altLang="zh-CN"/>
              <a:t>,c</a:t>
            </a:r>
            <a:r>
              <a:rPr lang="en-US" altLang="zh-CN" baseline="-25000"/>
              <a:t>4</a:t>
            </a:r>
            <a:r>
              <a:rPr lang="zh-CN" altLang="en-US"/>
              <a:t>各上</a:t>
            </a:r>
            <a:r>
              <a:rPr lang="en-US" altLang="zh-CN"/>
              <a:t>1</a:t>
            </a:r>
            <a:r>
              <a:rPr lang="zh-CN" altLang="en-US"/>
              <a:t>节课</a:t>
            </a:r>
            <a:r>
              <a:rPr lang="en-US" altLang="zh-CN"/>
              <a:t>, t</a:t>
            </a:r>
            <a:r>
              <a:rPr lang="en-US" altLang="zh-CN" baseline="-25000"/>
              <a:t>4</a:t>
            </a:r>
            <a:r>
              <a:rPr lang="zh-CN" altLang="en-US"/>
              <a:t>给</a:t>
            </a:r>
            <a:r>
              <a:rPr lang="en-US" altLang="zh-CN"/>
              <a:t>c</a:t>
            </a:r>
            <a:r>
              <a:rPr lang="en-US" altLang="zh-CN" baseline="-25000"/>
              <a:t>4</a:t>
            </a:r>
            <a:r>
              <a:rPr lang="en-US" altLang="zh-CN"/>
              <a:t>,c</a:t>
            </a:r>
            <a:r>
              <a:rPr lang="en-US" altLang="zh-CN" baseline="-25000"/>
              <a:t>5</a:t>
            </a:r>
            <a:r>
              <a:rPr lang="zh-CN" altLang="en-US"/>
              <a:t>上</a:t>
            </a:r>
            <a:r>
              <a:rPr lang="en-US" altLang="zh-CN"/>
              <a:t>1</a:t>
            </a:r>
            <a:r>
              <a:rPr lang="zh-CN" altLang="en-US"/>
              <a:t>节</a:t>
            </a:r>
            <a:r>
              <a:rPr lang="en-US" altLang="zh-CN"/>
              <a:t>,2</a:t>
            </a:r>
            <a:r>
              <a:rPr lang="zh-CN" altLang="en-US"/>
              <a:t>节课</a:t>
            </a:r>
            <a:r>
              <a:rPr lang="en-US" altLang="zh-CN"/>
              <a:t>. </a:t>
            </a:r>
            <a:r>
              <a:rPr lang="zh-CN" altLang="en-US"/>
              <a:t>求最省教室的课表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5837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/>
              <a:t>12.7</a:t>
            </a:r>
            <a:r>
              <a:rPr lang="zh-CN" altLang="en-US"/>
              <a:t>的解答</a:t>
            </a:r>
            <a:endParaRPr lang="zh-CN" altLang="en-US"/>
          </a:p>
        </p:txBody>
      </p:sp>
      <p:sp>
        <p:nvSpPr>
          <p:cNvPr id="59394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de-DE"/>
              <a:t>解</a:t>
            </a:r>
            <a:r>
              <a:rPr lang="de-DE" altLang="zh-CN"/>
              <a:t>: </a:t>
            </a:r>
            <a:r>
              <a:rPr lang="zh-CN" altLang="de-DE"/>
              <a:t>令</a:t>
            </a:r>
            <a:r>
              <a:rPr lang="de-DE" altLang="zh-CN"/>
              <a:t>G=&lt;T,C,E&gt;, T={t</a:t>
            </a:r>
            <a:r>
              <a:rPr lang="de-DE" altLang="zh-CN" baseline="-25000"/>
              <a:t>1</a:t>
            </a:r>
            <a:r>
              <a:rPr lang="de-DE" altLang="zh-CN"/>
              <a:t>,t</a:t>
            </a:r>
            <a:r>
              <a:rPr lang="de-DE" altLang="zh-CN" baseline="-25000"/>
              <a:t>2</a:t>
            </a:r>
            <a:r>
              <a:rPr lang="de-DE" altLang="zh-CN"/>
              <a:t>,…,t</a:t>
            </a:r>
            <a:r>
              <a:rPr lang="de-DE" altLang="zh-CN" baseline="-25000"/>
              <a:t>m</a:t>
            </a:r>
            <a:r>
              <a:rPr lang="de-DE" altLang="zh-CN"/>
              <a:t>},</a:t>
            </a:r>
            <a:r>
              <a:rPr lang="en-US" altLang="zh-CN"/>
              <a:t>C={c</a:t>
            </a:r>
            <a:r>
              <a:rPr lang="en-US" altLang="zh-CN" baseline="-25000"/>
              <a:t>1</a:t>
            </a:r>
            <a:r>
              <a:rPr lang="en-US" altLang="zh-CN"/>
              <a:t>,c</a:t>
            </a:r>
            <a:r>
              <a:rPr lang="en-US" altLang="zh-CN" baseline="-25000"/>
              <a:t>2</a:t>
            </a:r>
            <a:r>
              <a:rPr lang="en-US" altLang="zh-CN"/>
              <a:t>,…,c</a:t>
            </a:r>
            <a:r>
              <a:rPr lang="en-US" altLang="zh-CN" baseline="-25000"/>
              <a:t>n</a:t>
            </a:r>
            <a:r>
              <a:rPr lang="en-US" altLang="zh-CN"/>
              <a:t>}, E={(</a:t>
            </a:r>
            <a:r>
              <a:rPr lang="en-US" altLang="zh-CN" i="1"/>
              <a:t>t</a:t>
            </a:r>
            <a:r>
              <a:rPr lang="en-US" altLang="zh-CN" i="1" baseline="-25000"/>
              <a:t>i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 i="1" baseline="-25000"/>
              <a:t>j</a:t>
            </a:r>
            <a:r>
              <a:rPr lang="en-US" altLang="zh-CN"/>
              <a:t>)| </a:t>
            </a:r>
            <a:r>
              <a:rPr lang="en-US" altLang="zh-CN" i="1"/>
              <a:t>t</a:t>
            </a:r>
            <a:r>
              <a:rPr lang="en-US" altLang="zh-CN" i="1" baseline="-25000"/>
              <a:t>i</a:t>
            </a:r>
            <a:r>
              <a:rPr lang="zh-CN" altLang="en-US"/>
              <a:t>给</a:t>
            </a:r>
            <a:r>
              <a:rPr lang="en-US" altLang="zh-CN" i="1"/>
              <a:t>c</a:t>
            </a:r>
            <a:r>
              <a:rPr lang="en-US" altLang="zh-CN" i="1" baseline="-25000"/>
              <a:t>j</a:t>
            </a:r>
            <a:r>
              <a:rPr lang="zh-CN" altLang="en-US"/>
              <a:t>上一节课</a:t>
            </a:r>
            <a:r>
              <a:rPr lang="en-US" altLang="zh-CN"/>
              <a:t>}.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给</a:t>
            </a:r>
            <a:r>
              <a:rPr lang="en-US" altLang="zh-CN"/>
              <a:t>G</a:t>
            </a:r>
            <a:r>
              <a:rPr lang="zh-CN" altLang="en-US"/>
              <a:t>进行边着色</a:t>
            </a:r>
            <a:r>
              <a:rPr lang="en-US" altLang="zh-CN"/>
              <a:t>, </a:t>
            </a:r>
            <a:r>
              <a:rPr lang="zh-CN" altLang="en-US"/>
              <a:t>同色边代表的教学可以同时进行</a:t>
            </a:r>
            <a:r>
              <a:rPr lang="en-US" altLang="zh-CN"/>
              <a:t>, </a:t>
            </a:r>
            <a:r>
              <a:rPr lang="zh-CN" altLang="en-US"/>
              <a:t>所以颜色数就是节数</a:t>
            </a:r>
            <a:r>
              <a:rPr lang="en-US" altLang="zh-CN"/>
              <a:t>, </a:t>
            </a:r>
            <a:r>
              <a:rPr lang="zh-CN" altLang="en-US"/>
              <a:t>同色边数就是教室数</a:t>
            </a:r>
            <a:r>
              <a:rPr lang="en-US" altLang="zh-CN"/>
              <a:t>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(1) </a:t>
            </a:r>
            <a:r>
              <a:rPr lang="en-US" altLang="zh-CN" i="1"/>
              <a:t>k</a:t>
            </a:r>
            <a:r>
              <a:rPr lang="en-US" altLang="zh-CN"/>
              <a:t>=χ</a:t>
            </a:r>
            <a:r>
              <a:rPr lang="en-US" altLang="zh-CN">
                <a:latin typeface="Tahoma" panose="020B0604030504040204" charset="0"/>
              </a:rPr>
              <a:t>’</a:t>
            </a:r>
            <a:r>
              <a:rPr lang="en-US" altLang="zh-CN"/>
              <a:t>(G)=Δ(G)</a:t>
            </a:r>
            <a:r>
              <a:rPr lang="zh-CN" altLang="en-US"/>
              <a:t>时</a:t>
            </a:r>
            <a:r>
              <a:rPr lang="en-US" altLang="zh-CN"/>
              <a:t>, </a:t>
            </a:r>
            <a:r>
              <a:rPr lang="zh-CN" altLang="en-US"/>
              <a:t>节数最少</a:t>
            </a:r>
            <a:r>
              <a:rPr lang="en-US" altLang="zh-CN"/>
              <a:t>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(2) min </a:t>
            </a:r>
            <a:r>
              <a:rPr lang="en-US" altLang="zh-CN" baseline="-50000"/>
              <a:t>1 ≤</a:t>
            </a:r>
            <a:r>
              <a:rPr lang="en-US" altLang="zh-CN" i="1" baseline="-50000"/>
              <a:t>i</a:t>
            </a:r>
            <a:r>
              <a:rPr lang="en-US" altLang="zh-CN" baseline="-50000"/>
              <a:t>≤p</a:t>
            </a:r>
            <a:r>
              <a:rPr lang="en-US" altLang="zh-CN" baseline="-25000"/>
              <a:t> </a:t>
            </a:r>
            <a:r>
              <a:rPr lang="en-US" altLang="zh-CN"/>
              <a:t>max {k</a:t>
            </a:r>
            <a:r>
              <a:rPr lang="en-US" altLang="zh-CN" i="1" baseline="-25000"/>
              <a:t>i</a:t>
            </a:r>
            <a:r>
              <a:rPr lang="en-US" altLang="zh-CN" baseline="-25000"/>
              <a:t>1</a:t>
            </a:r>
            <a:r>
              <a:rPr lang="en-US" altLang="zh-CN"/>
              <a:t>,k</a:t>
            </a:r>
            <a:r>
              <a:rPr lang="en-US" altLang="zh-CN" i="1" baseline="-25000"/>
              <a:t>i</a:t>
            </a:r>
            <a:r>
              <a:rPr lang="en-US" altLang="zh-CN" baseline="-25000"/>
              <a:t>2</a:t>
            </a:r>
            <a:r>
              <a:rPr lang="en-US" altLang="zh-CN"/>
              <a:t>,…,k</a:t>
            </a:r>
            <a:r>
              <a:rPr lang="en-US" altLang="zh-CN" i="1" baseline="-25000"/>
              <a:t>i</a:t>
            </a:r>
            <a:r>
              <a:rPr lang="el-GR" altLang="zh-CN" baseline="-25000"/>
              <a:t>Δ</a:t>
            </a:r>
            <a:r>
              <a:rPr lang="el-GR" altLang="zh-CN"/>
              <a:t>}, </a:t>
            </a:r>
            <a:r>
              <a:rPr lang="zh-CN" altLang="en-US"/>
              <a:t>教室数最少</a:t>
            </a:r>
            <a:r>
              <a:rPr lang="en-US" altLang="zh-CN"/>
              <a:t>. </a:t>
            </a:r>
            <a:r>
              <a:rPr lang="zh-CN" altLang="en-US"/>
              <a:t>其中</a:t>
            </a:r>
            <a:r>
              <a:rPr lang="en-US" altLang="zh-CN" i="1"/>
              <a:t>k</a:t>
            </a:r>
            <a:r>
              <a:rPr lang="en-US" altLang="zh-CN" i="1" baseline="-25000"/>
              <a:t>ij</a:t>
            </a:r>
            <a:endParaRPr lang="en-US" altLang="zh-CN" i="1" baseline="-25000"/>
          </a:p>
          <a:p>
            <a:pPr marL="0" indent="0">
              <a:buNone/>
            </a:pPr>
            <a:r>
              <a:rPr lang="zh-CN" altLang="en-US"/>
              <a:t>是在第</a:t>
            </a:r>
            <a:r>
              <a:rPr lang="en-US" altLang="zh-CN" i="1"/>
              <a:t>i</a:t>
            </a:r>
            <a:r>
              <a:rPr lang="zh-CN" altLang="en-US"/>
              <a:t>种着色方案中着颜色</a:t>
            </a:r>
            <a:r>
              <a:rPr lang="en-US" altLang="zh-CN" i="1"/>
              <a:t>j</a:t>
            </a:r>
            <a:r>
              <a:rPr lang="zh-CN" altLang="en-US"/>
              <a:t>的边数</a:t>
            </a:r>
            <a:r>
              <a:rPr lang="en-US" altLang="zh-CN"/>
              <a:t>,p</a:t>
            </a:r>
            <a:r>
              <a:rPr lang="zh-CN" altLang="en-US"/>
              <a:t>是</a:t>
            </a:r>
            <a:r>
              <a:rPr lang="en-US" altLang="zh-CN"/>
              <a:t>Δ-</a:t>
            </a:r>
            <a:r>
              <a:rPr lang="zh-CN" altLang="en-US"/>
              <a:t>边色的着色方案数</a:t>
            </a:r>
            <a:r>
              <a:rPr lang="en-US" altLang="zh-CN"/>
              <a:t>. (“</a:t>
            </a:r>
            <a:r>
              <a:rPr lang="zh-CN" altLang="en-US"/>
              <a:t>平衡”着色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5939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例</a:t>
            </a:r>
            <a:r>
              <a:rPr lang="en-US" altLang="zh-CN"/>
              <a:t>12.7</a:t>
            </a:r>
            <a:r>
              <a:rPr lang="zh-CN" altLang="en-US"/>
              <a:t>的解答</a:t>
            </a:r>
            <a:endParaRPr lang="zh-CN" altLang="en-US"/>
          </a:p>
        </p:txBody>
      </p:sp>
      <p:sp>
        <p:nvSpPr>
          <p:cNvPr id="60418" name="内容占位符 2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309562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>
                <a:solidFill>
                  <a:srgbClr val="FF00FF"/>
                </a:solidFill>
              </a:rPr>
              <a:t>解</a:t>
            </a:r>
            <a:r>
              <a:rPr lang="en-US" altLang="zh-CN">
                <a:solidFill>
                  <a:srgbClr val="FF00FF"/>
                </a:solidFill>
              </a:rPr>
              <a:t>:</a:t>
            </a:r>
            <a:r>
              <a:rPr lang="en-US" altLang="zh-CN"/>
              <a:t>  (3) </a:t>
            </a:r>
            <a:r>
              <a:rPr lang="zh-CN" altLang="en-US"/>
              <a:t>已知条件得出下图</a:t>
            </a:r>
            <a:r>
              <a:rPr lang="en-US" altLang="zh-CN"/>
              <a:t>G,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T={</a:t>
            </a:r>
            <a:r>
              <a:rPr lang="en-US" altLang="zh-CN" i="1"/>
              <a:t>t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t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 i="1"/>
              <a:t>t</a:t>
            </a:r>
            <a:r>
              <a:rPr lang="en-US" altLang="zh-CN" baseline="-25000"/>
              <a:t>4</a:t>
            </a:r>
            <a:r>
              <a:rPr lang="en-US" altLang="zh-CN"/>
              <a:t>}, C={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 i="1"/>
              <a:t>c</a:t>
            </a:r>
            <a:r>
              <a:rPr lang="en-US" altLang="zh-CN" baseline="-25000"/>
              <a:t>5</a:t>
            </a:r>
            <a:r>
              <a:rPr lang="en-US" altLang="zh-CN"/>
              <a:t>}.</a:t>
            </a:r>
            <a:endParaRPr lang="en-US" altLang="zh-CN"/>
          </a:p>
          <a:p>
            <a:pPr marL="0" indent="0">
              <a:buNone/>
            </a:pPr>
            <a:r>
              <a:rPr lang="el-GR" altLang="zh-CN"/>
              <a:t>Δ(</a:t>
            </a:r>
            <a:r>
              <a:rPr lang="en-US" altLang="zh-CN"/>
              <a:t>G)=4, </a:t>
            </a:r>
            <a:r>
              <a:rPr lang="zh-CN" altLang="en-US"/>
              <a:t>节数最少是</a:t>
            </a:r>
            <a:r>
              <a:rPr lang="en-US" altLang="zh-CN"/>
              <a:t>4.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min max {</a:t>
            </a:r>
            <a:r>
              <a:rPr lang="en-US" altLang="zh-CN" i="1"/>
              <a:t>k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 i="1"/>
              <a:t>k</a:t>
            </a:r>
            <a:r>
              <a:rPr lang="en-US" altLang="zh-CN" baseline="-25000"/>
              <a:t>4</a:t>
            </a:r>
            <a:r>
              <a:rPr lang="en-US" altLang="zh-CN"/>
              <a:t>}=3, </a:t>
            </a:r>
            <a:r>
              <a:rPr lang="zh-CN" altLang="en-US"/>
              <a:t>教室数最少是</a:t>
            </a:r>
            <a:r>
              <a:rPr lang="en-US" altLang="zh-CN"/>
              <a:t>3.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课表如下</a:t>
            </a:r>
            <a:r>
              <a:rPr lang="en-US" altLang="zh-CN"/>
              <a:t>. </a:t>
            </a:r>
            <a:endParaRPr lang="zh-CN" altLang="en-US"/>
          </a:p>
        </p:txBody>
      </p:sp>
      <p:sp>
        <p:nvSpPr>
          <p:cNvPr id="6041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  <p:grpSp>
        <p:nvGrpSpPr>
          <p:cNvPr id="60420" name="组合 46"/>
          <p:cNvGrpSpPr/>
          <p:nvPr/>
        </p:nvGrpSpPr>
        <p:grpSpPr>
          <a:xfrm>
            <a:off x="900113" y="4149725"/>
            <a:ext cx="4103687" cy="1871663"/>
            <a:chOff x="899592" y="4149080"/>
            <a:chExt cx="4104456" cy="1872208"/>
          </a:xfrm>
        </p:grpSpPr>
        <p:sp>
          <p:nvSpPr>
            <p:cNvPr id="6" name="椭圆 5"/>
            <p:cNvSpPr/>
            <p:nvPr/>
          </p:nvSpPr>
          <p:spPr bwMode="auto">
            <a:xfrm>
              <a:off x="1475753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2339752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3203848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3996033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971600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1979712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2843808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椭圆 12"/>
            <p:cNvSpPr/>
            <p:nvPr/>
          </p:nvSpPr>
          <p:spPr bwMode="auto">
            <a:xfrm>
              <a:off x="3707904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椭圆 13"/>
            <p:cNvSpPr/>
            <p:nvPr/>
          </p:nvSpPr>
          <p:spPr bwMode="auto">
            <a:xfrm>
              <a:off x="4644008" y="5517232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0430" name="TextBox 14"/>
            <p:cNvSpPr txBox="1"/>
            <p:nvPr/>
          </p:nvSpPr>
          <p:spPr>
            <a:xfrm>
              <a:off x="1374343" y="4191955"/>
              <a:ext cx="389011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31" name="TextBox 15"/>
            <p:cNvSpPr txBox="1"/>
            <p:nvPr/>
          </p:nvSpPr>
          <p:spPr>
            <a:xfrm>
              <a:off x="2268273" y="4149080"/>
              <a:ext cx="389010" cy="4620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32" name="TextBox 16"/>
            <p:cNvSpPr txBox="1"/>
            <p:nvPr/>
          </p:nvSpPr>
          <p:spPr>
            <a:xfrm>
              <a:off x="3132035" y="4149080"/>
              <a:ext cx="389010" cy="4620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33" name="TextBox 17"/>
            <p:cNvSpPr txBox="1"/>
            <p:nvPr/>
          </p:nvSpPr>
          <p:spPr>
            <a:xfrm>
              <a:off x="3924346" y="4149080"/>
              <a:ext cx="389011" cy="4620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34" name="TextBox 18"/>
            <p:cNvSpPr txBox="1"/>
            <p:nvPr/>
          </p:nvSpPr>
          <p:spPr>
            <a:xfrm>
              <a:off x="899592" y="5517903"/>
              <a:ext cx="423941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35" name="TextBox 19"/>
            <p:cNvSpPr txBox="1"/>
            <p:nvPr/>
          </p:nvSpPr>
          <p:spPr>
            <a:xfrm>
              <a:off x="1915782" y="5517903"/>
              <a:ext cx="423941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36" name="TextBox 20"/>
            <p:cNvSpPr txBox="1"/>
            <p:nvPr/>
          </p:nvSpPr>
          <p:spPr>
            <a:xfrm>
              <a:off x="2779544" y="5517903"/>
              <a:ext cx="423941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37" name="TextBox 21"/>
            <p:cNvSpPr txBox="1"/>
            <p:nvPr/>
          </p:nvSpPr>
          <p:spPr>
            <a:xfrm>
              <a:off x="3635367" y="5517903"/>
              <a:ext cx="423942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38" name="TextBox 22"/>
            <p:cNvSpPr txBox="1"/>
            <p:nvPr/>
          </p:nvSpPr>
          <p:spPr>
            <a:xfrm>
              <a:off x="4580107" y="5559190"/>
              <a:ext cx="423941" cy="4620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0439" name="任意多边形 23"/>
            <p:cNvSpPr/>
            <p:nvPr/>
          </p:nvSpPr>
          <p:spPr>
            <a:xfrm>
              <a:off x="1103086" y="4833257"/>
              <a:ext cx="391885" cy="624114"/>
            </a:xfrm>
            <a:custGeom>
              <a:avLst/>
              <a:gdLst/>
              <a:ahLst/>
              <a:cxnLst>
                <a:cxn ang="0">
                  <a:pos x="391885" y="0"/>
                </a:cxn>
                <a:cxn ang="0">
                  <a:pos x="145143" y="174172"/>
                </a:cxn>
                <a:cxn ang="0">
                  <a:pos x="43543" y="391886"/>
                </a:cxn>
                <a:cxn ang="0">
                  <a:pos x="0" y="624114"/>
                </a:cxn>
              </a:cxnLst>
              <a:pathLst>
                <a:path w="391885" h="624114">
                  <a:moveTo>
                    <a:pt x="391885" y="0"/>
                  </a:moveTo>
                  <a:cubicBezTo>
                    <a:pt x="297542" y="54429"/>
                    <a:pt x="203200" y="108858"/>
                    <a:pt x="145143" y="174172"/>
                  </a:cubicBezTo>
                  <a:cubicBezTo>
                    <a:pt x="87086" y="239486"/>
                    <a:pt x="67733" y="316896"/>
                    <a:pt x="43543" y="391886"/>
                  </a:cubicBezTo>
                  <a:cubicBezTo>
                    <a:pt x="19353" y="466876"/>
                    <a:pt x="9676" y="545495"/>
                    <a:pt x="0" y="624114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60440" name="直接连接符 25"/>
            <p:cNvCxnSpPr/>
            <p:nvPr/>
          </p:nvCxnSpPr>
          <p:spPr>
            <a:xfrm rot="-5400000" flipH="1">
              <a:off x="1511660" y="4977172"/>
              <a:ext cx="576064" cy="360040"/>
            </a:xfrm>
            <a:prstGeom prst="line">
              <a:avLst/>
            </a:prstGeom>
            <a:ln w="2857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441" name="直接连接符 28"/>
            <p:cNvCxnSpPr/>
            <p:nvPr/>
          </p:nvCxnSpPr>
          <p:spPr>
            <a:xfrm rot="-5400000" flipH="1">
              <a:off x="1948037" y="4549451"/>
              <a:ext cx="639414" cy="1215372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442" name="任意多边形 31"/>
            <p:cNvSpPr/>
            <p:nvPr/>
          </p:nvSpPr>
          <p:spPr>
            <a:xfrm>
              <a:off x="1146629" y="4876800"/>
              <a:ext cx="435428" cy="609600"/>
            </a:xfrm>
            <a:custGeom>
              <a:avLst/>
              <a:gdLst/>
              <a:ahLst/>
              <a:cxnLst>
                <a:cxn ang="0">
                  <a:pos x="435428" y="0"/>
                </a:cxn>
                <a:cxn ang="0">
                  <a:pos x="333828" y="406400"/>
                </a:cxn>
                <a:cxn ang="0">
                  <a:pos x="0" y="609600"/>
                </a:cxn>
              </a:cxnLst>
              <a:pathLst>
                <a:path w="435428" h="609600">
                  <a:moveTo>
                    <a:pt x="435428" y="0"/>
                  </a:moveTo>
                  <a:cubicBezTo>
                    <a:pt x="420913" y="152400"/>
                    <a:pt x="406399" y="304800"/>
                    <a:pt x="333828" y="406400"/>
                  </a:cubicBezTo>
                  <a:cubicBezTo>
                    <a:pt x="261257" y="508000"/>
                    <a:pt x="130628" y="558800"/>
                    <a:pt x="0" y="60960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60443" name="直接连接符 33"/>
            <p:cNvCxnSpPr/>
            <p:nvPr/>
          </p:nvCxnSpPr>
          <p:spPr>
            <a:xfrm rot="5400000">
              <a:off x="1925628" y="4999478"/>
              <a:ext cx="607794" cy="283698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444" name="直接连接符 35"/>
            <p:cNvCxnSpPr/>
            <p:nvPr/>
          </p:nvCxnSpPr>
          <p:spPr>
            <a:xfrm rot="-5400000" flipH="1">
              <a:off x="2380027" y="4981442"/>
              <a:ext cx="639414" cy="351373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445" name="直接连接符 37"/>
            <p:cNvCxnSpPr/>
            <p:nvPr/>
          </p:nvCxnSpPr>
          <p:spPr>
            <a:xfrm rot="5400000">
              <a:off x="2357676" y="4567430"/>
              <a:ext cx="607794" cy="1147794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446" name="直接连接符 39"/>
            <p:cNvCxnSpPr/>
            <p:nvPr/>
          </p:nvCxnSpPr>
          <p:spPr>
            <a:xfrm rot="5400000">
              <a:off x="2843705" y="4977117"/>
              <a:ext cx="576174" cy="36004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447" name="直接连接符 41"/>
            <p:cNvCxnSpPr/>
            <p:nvPr/>
          </p:nvCxnSpPr>
          <p:spPr>
            <a:xfrm rot="-5400000" flipH="1">
              <a:off x="3221772" y="4959090"/>
              <a:ext cx="607794" cy="427714"/>
            </a:xfrm>
            <a:prstGeom prst="line">
              <a:avLst/>
            </a:prstGeom>
            <a:ln w="2857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448" name="直接连接符 43"/>
            <p:cNvCxnSpPr/>
            <p:nvPr/>
          </p:nvCxnSpPr>
          <p:spPr>
            <a:xfrm rot="5400000">
              <a:off x="3617856" y="5035426"/>
              <a:ext cx="607794" cy="21178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449" name="任意多边形 44"/>
            <p:cNvSpPr/>
            <p:nvPr/>
          </p:nvSpPr>
          <p:spPr>
            <a:xfrm>
              <a:off x="4194629" y="4746171"/>
              <a:ext cx="665238" cy="812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2857" y="203200"/>
                </a:cxn>
                <a:cxn ang="0">
                  <a:pos x="624114" y="508000"/>
                </a:cxn>
                <a:cxn ang="0">
                  <a:pos x="609600" y="812800"/>
                </a:cxn>
              </a:cxnLst>
              <a:pathLst>
                <a:path w="665238" h="812800">
                  <a:moveTo>
                    <a:pt x="0" y="0"/>
                  </a:moveTo>
                  <a:cubicBezTo>
                    <a:pt x="129419" y="59266"/>
                    <a:pt x="258838" y="118533"/>
                    <a:pt x="362857" y="203200"/>
                  </a:cubicBezTo>
                  <a:cubicBezTo>
                    <a:pt x="466876" y="287867"/>
                    <a:pt x="582990" y="406400"/>
                    <a:pt x="624114" y="508000"/>
                  </a:cubicBezTo>
                  <a:cubicBezTo>
                    <a:pt x="665238" y="609600"/>
                    <a:pt x="637419" y="711200"/>
                    <a:pt x="609600" y="812800"/>
                  </a:cubicBez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0450" name="任意多边形 45"/>
            <p:cNvSpPr/>
            <p:nvPr/>
          </p:nvSpPr>
          <p:spPr>
            <a:xfrm>
              <a:off x="4136571" y="4804229"/>
              <a:ext cx="508000" cy="7692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7715" y="435428"/>
                </a:cxn>
                <a:cxn ang="0">
                  <a:pos x="508000" y="769257"/>
                </a:cxn>
              </a:cxnLst>
              <a:pathLst>
                <a:path w="508000" h="769257">
                  <a:moveTo>
                    <a:pt x="0" y="0"/>
                  </a:moveTo>
                  <a:cubicBezTo>
                    <a:pt x="66524" y="153609"/>
                    <a:pt x="133048" y="307219"/>
                    <a:pt x="217715" y="435428"/>
                  </a:cubicBezTo>
                  <a:cubicBezTo>
                    <a:pt x="302382" y="563638"/>
                    <a:pt x="405191" y="666447"/>
                    <a:pt x="508000" y="769257"/>
                  </a:cubicBezTo>
                </a:path>
              </a:pathLst>
            </a:custGeom>
            <a:noFill/>
            <a:ln w="2857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例</a:t>
            </a:r>
            <a:r>
              <a:rPr lang="en-US" altLang="zh-CN"/>
              <a:t>12.7(</a:t>
            </a:r>
            <a:r>
              <a:rPr lang="zh-CN" altLang="en-US"/>
              <a:t>解</a:t>
            </a:r>
            <a:r>
              <a:rPr lang="en-US" altLang="zh-CN"/>
              <a:t>,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/>
          </a:p>
        </p:txBody>
      </p:sp>
      <p:graphicFrame>
        <p:nvGraphicFramePr>
          <p:cNvPr id="37" name="内容占位符 36"/>
          <p:cNvGraphicFramePr>
            <a:graphicFrameLocks noGrp="1"/>
          </p:cNvGraphicFramePr>
          <p:nvPr>
            <p:ph idx="1"/>
          </p:nvPr>
        </p:nvGraphicFramePr>
        <p:xfrm>
          <a:off x="395288" y="1628775"/>
          <a:ext cx="8496300" cy="2590800"/>
        </p:xfrm>
        <a:graphic>
          <a:graphicData uri="http://schemas.openxmlformats.org/drawingml/2006/table">
            <a:tbl>
              <a:tblPr/>
              <a:tblGrid>
                <a:gridCol w="1698625"/>
                <a:gridCol w="1700212"/>
                <a:gridCol w="1698625"/>
                <a:gridCol w="1700213"/>
                <a:gridCol w="1698625"/>
              </a:tblGrid>
              <a:tr h="517525"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节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t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1</a:t>
                      </a:r>
                      <a:endParaRPr kumimoji="0" lang="zh-CN" altLang="en-US" sz="2800" b="1" i="0" u="none" strike="noStrike" cap="none" normalizeH="0" baseline="-2500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t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2</a:t>
                      </a:r>
                      <a:endParaRPr kumimoji="0" lang="zh-CN" altLang="en-US" sz="2800" b="1" i="0" u="none" strike="noStrike" cap="none" normalizeH="0" baseline="-2500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t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3</a:t>
                      </a:r>
                      <a:endParaRPr kumimoji="0" lang="zh-CN" altLang="en-US" sz="2800" b="1" i="0" u="none" strike="noStrike" cap="none" normalizeH="0" baseline="-2500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t</a:t>
                      </a:r>
                      <a:r>
                        <a:rPr kumimoji="0" lang="en-US" altLang="zh-CN" sz="2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4</a:t>
                      </a:r>
                      <a:endParaRPr kumimoji="0" lang="zh-CN" altLang="en-US" sz="2800" b="1" i="0" u="none" strike="noStrike" cap="none" normalizeH="0" baseline="-2500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1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1</a:t>
                      </a: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2</a:t>
                      </a: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3</a:t>
                      </a: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-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2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1</a:t>
                      </a: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3</a:t>
                      </a: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-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4</a:t>
                      </a: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3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2</a:t>
                      </a: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-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4</a:t>
                      </a: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5</a:t>
                      </a: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</a:tr>
              <a:tr h="517525"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4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3</a:t>
                      </a: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-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2</a:t>
                      </a: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7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lnSpc>
                          <a:spcPct val="11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c</a:t>
                      </a:r>
                      <a:r>
                        <a:rPr kumimoji="0" lang="en-US" altLang="zh-CN" sz="2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anose="02020603050405020304" charset="0"/>
                          <a:ea typeface="黑体" panose="02010609060101010101" charset="-122"/>
                        </a:rPr>
                        <a:t>5</a:t>
                      </a:r>
                      <a:endParaRPr kumimoji="0" lang="zh-CN" altLang="en-US" sz="2800" b="0" i="0" u="none" strike="noStrike" cap="none" normalizeH="0" baseline="-2500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anose="02020603050405020304" charset="0"/>
                        <a:ea typeface="黑体" panose="020106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</a:tr>
            </a:tbl>
          </a:graphicData>
        </a:graphic>
      </p:graphicFrame>
      <p:sp>
        <p:nvSpPr>
          <p:cNvPr id="6148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  <p:grpSp>
        <p:nvGrpSpPr>
          <p:cNvPr id="61481" name="组合 5"/>
          <p:cNvGrpSpPr/>
          <p:nvPr/>
        </p:nvGrpSpPr>
        <p:grpSpPr>
          <a:xfrm>
            <a:off x="900113" y="4149725"/>
            <a:ext cx="4103687" cy="1871663"/>
            <a:chOff x="899592" y="4149080"/>
            <a:chExt cx="4104456" cy="1872208"/>
          </a:xfrm>
        </p:grpSpPr>
        <p:sp>
          <p:nvSpPr>
            <p:cNvPr id="7" name="椭圆 6"/>
            <p:cNvSpPr/>
            <p:nvPr/>
          </p:nvSpPr>
          <p:spPr bwMode="auto">
            <a:xfrm>
              <a:off x="1475753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2339752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3203848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3996033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971600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1979712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椭圆 12"/>
            <p:cNvSpPr/>
            <p:nvPr/>
          </p:nvSpPr>
          <p:spPr bwMode="auto">
            <a:xfrm>
              <a:off x="2843808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椭圆 13"/>
            <p:cNvSpPr/>
            <p:nvPr/>
          </p:nvSpPr>
          <p:spPr bwMode="auto">
            <a:xfrm>
              <a:off x="3707904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" name="椭圆 14"/>
            <p:cNvSpPr/>
            <p:nvPr/>
          </p:nvSpPr>
          <p:spPr bwMode="auto">
            <a:xfrm>
              <a:off x="4644008" y="5517232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1491" name="TextBox 15"/>
            <p:cNvSpPr txBox="1"/>
            <p:nvPr/>
          </p:nvSpPr>
          <p:spPr>
            <a:xfrm>
              <a:off x="1374343" y="4191955"/>
              <a:ext cx="389011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1492" name="TextBox 16"/>
            <p:cNvSpPr txBox="1"/>
            <p:nvPr/>
          </p:nvSpPr>
          <p:spPr>
            <a:xfrm>
              <a:off x="2268273" y="4149080"/>
              <a:ext cx="389010" cy="4620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1493" name="TextBox 17"/>
            <p:cNvSpPr txBox="1"/>
            <p:nvPr/>
          </p:nvSpPr>
          <p:spPr>
            <a:xfrm>
              <a:off x="3132035" y="4149080"/>
              <a:ext cx="389010" cy="4620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1494" name="TextBox 18"/>
            <p:cNvSpPr txBox="1"/>
            <p:nvPr/>
          </p:nvSpPr>
          <p:spPr>
            <a:xfrm>
              <a:off x="3924346" y="4149080"/>
              <a:ext cx="389011" cy="4620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1495" name="TextBox 19"/>
            <p:cNvSpPr txBox="1"/>
            <p:nvPr/>
          </p:nvSpPr>
          <p:spPr>
            <a:xfrm>
              <a:off x="899592" y="5517903"/>
              <a:ext cx="423941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1496" name="TextBox 20"/>
            <p:cNvSpPr txBox="1"/>
            <p:nvPr/>
          </p:nvSpPr>
          <p:spPr>
            <a:xfrm>
              <a:off x="1915782" y="5517903"/>
              <a:ext cx="423941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1497" name="TextBox 21"/>
            <p:cNvSpPr txBox="1"/>
            <p:nvPr/>
          </p:nvSpPr>
          <p:spPr>
            <a:xfrm>
              <a:off x="2779544" y="5517903"/>
              <a:ext cx="423941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1498" name="TextBox 22"/>
            <p:cNvSpPr txBox="1"/>
            <p:nvPr/>
          </p:nvSpPr>
          <p:spPr>
            <a:xfrm>
              <a:off x="3635367" y="5517903"/>
              <a:ext cx="423942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1499" name="TextBox 23"/>
            <p:cNvSpPr txBox="1"/>
            <p:nvPr/>
          </p:nvSpPr>
          <p:spPr>
            <a:xfrm>
              <a:off x="4580107" y="5559190"/>
              <a:ext cx="423941" cy="4620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1500" name="任意多边形 24"/>
            <p:cNvSpPr/>
            <p:nvPr/>
          </p:nvSpPr>
          <p:spPr>
            <a:xfrm>
              <a:off x="1103086" y="4833257"/>
              <a:ext cx="391885" cy="624114"/>
            </a:xfrm>
            <a:custGeom>
              <a:avLst/>
              <a:gdLst/>
              <a:ahLst/>
              <a:cxnLst>
                <a:cxn ang="0">
                  <a:pos x="391885" y="0"/>
                </a:cxn>
                <a:cxn ang="0">
                  <a:pos x="145143" y="174172"/>
                </a:cxn>
                <a:cxn ang="0">
                  <a:pos x="43543" y="391886"/>
                </a:cxn>
                <a:cxn ang="0">
                  <a:pos x="0" y="624114"/>
                </a:cxn>
              </a:cxnLst>
              <a:pathLst>
                <a:path w="391885" h="624114">
                  <a:moveTo>
                    <a:pt x="391885" y="0"/>
                  </a:moveTo>
                  <a:cubicBezTo>
                    <a:pt x="297542" y="54429"/>
                    <a:pt x="203200" y="108858"/>
                    <a:pt x="145143" y="174172"/>
                  </a:cubicBezTo>
                  <a:cubicBezTo>
                    <a:pt x="87086" y="239486"/>
                    <a:pt x="67733" y="316896"/>
                    <a:pt x="43543" y="391886"/>
                  </a:cubicBezTo>
                  <a:cubicBezTo>
                    <a:pt x="19353" y="466876"/>
                    <a:pt x="9676" y="545495"/>
                    <a:pt x="0" y="624114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61501" name="直接连接符 25"/>
            <p:cNvCxnSpPr/>
            <p:nvPr/>
          </p:nvCxnSpPr>
          <p:spPr>
            <a:xfrm rot="-5400000" flipH="1">
              <a:off x="1511660" y="4977172"/>
              <a:ext cx="576064" cy="360040"/>
            </a:xfrm>
            <a:prstGeom prst="line">
              <a:avLst/>
            </a:prstGeom>
            <a:ln w="2857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502" name="直接连接符 26"/>
            <p:cNvCxnSpPr/>
            <p:nvPr/>
          </p:nvCxnSpPr>
          <p:spPr>
            <a:xfrm rot="-5400000" flipH="1">
              <a:off x="1948037" y="4549451"/>
              <a:ext cx="639414" cy="1215372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503" name="任意多边形 27"/>
            <p:cNvSpPr/>
            <p:nvPr/>
          </p:nvSpPr>
          <p:spPr>
            <a:xfrm>
              <a:off x="1146629" y="4876800"/>
              <a:ext cx="435428" cy="609600"/>
            </a:xfrm>
            <a:custGeom>
              <a:avLst/>
              <a:gdLst/>
              <a:ahLst/>
              <a:cxnLst>
                <a:cxn ang="0">
                  <a:pos x="435428" y="0"/>
                </a:cxn>
                <a:cxn ang="0">
                  <a:pos x="333828" y="406400"/>
                </a:cxn>
                <a:cxn ang="0">
                  <a:pos x="0" y="609600"/>
                </a:cxn>
              </a:cxnLst>
              <a:pathLst>
                <a:path w="435428" h="609600">
                  <a:moveTo>
                    <a:pt x="435428" y="0"/>
                  </a:moveTo>
                  <a:cubicBezTo>
                    <a:pt x="420913" y="152400"/>
                    <a:pt x="406399" y="304800"/>
                    <a:pt x="333828" y="406400"/>
                  </a:cubicBezTo>
                  <a:cubicBezTo>
                    <a:pt x="261257" y="508000"/>
                    <a:pt x="130628" y="558800"/>
                    <a:pt x="0" y="60960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61504" name="直接连接符 28"/>
            <p:cNvCxnSpPr/>
            <p:nvPr/>
          </p:nvCxnSpPr>
          <p:spPr>
            <a:xfrm rot="5400000">
              <a:off x="1925628" y="4999478"/>
              <a:ext cx="607794" cy="283698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505" name="直接连接符 29"/>
            <p:cNvCxnSpPr/>
            <p:nvPr/>
          </p:nvCxnSpPr>
          <p:spPr>
            <a:xfrm rot="-5400000" flipH="1">
              <a:off x="2380027" y="4981442"/>
              <a:ext cx="639414" cy="351373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506" name="直接连接符 30"/>
            <p:cNvCxnSpPr/>
            <p:nvPr/>
          </p:nvCxnSpPr>
          <p:spPr>
            <a:xfrm rot="5400000">
              <a:off x="2357676" y="4567430"/>
              <a:ext cx="607794" cy="1147794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507" name="直接连接符 31"/>
            <p:cNvCxnSpPr/>
            <p:nvPr/>
          </p:nvCxnSpPr>
          <p:spPr>
            <a:xfrm rot="5400000">
              <a:off x="2843705" y="4977117"/>
              <a:ext cx="576174" cy="36004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508" name="直接连接符 32"/>
            <p:cNvCxnSpPr/>
            <p:nvPr/>
          </p:nvCxnSpPr>
          <p:spPr>
            <a:xfrm rot="-5400000" flipH="1">
              <a:off x="3221772" y="4959090"/>
              <a:ext cx="607794" cy="427714"/>
            </a:xfrm>
            <a:prstGeom prst="line">
              <a:avLst/>
            </a:prstGeom>
            <a:ln w="2857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509" name="直接连接符 33"/>
            <p:cNvCxnSpPr/>
            <p:nvPr/>
          </p:nvCxnSpPr>
          <p:spPr>
            <a:xfrm rot="5400000">
              <a:off x="3617856" y="5035426"/>
              <a:ext cx="607794" cy="21178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510" name="任意多边形 34"/>
            <p:cNvSpPr/>
            <p:nvPr/>
          </p:nvSpPr>
          <p:spPr>
            <a:xfrm>
              <a:off x="4194629" y="4746171"/>
              <a:ext cx="665238" cy="812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2857" y="203200"/>
                </a:cxn>
                <a:cxn ang="0">
                  <a:pos x="624114" y="508000"/>
                </a:cxn>
                <a:cxn ang="0">
                  <a:pos x="609600" y="812800"/>
                </a:cxn>
              </a:cxnLst>
              <a:pathLst>
                <a:path w="665238" h="812800">
                  <a:moveTo>
                    <a:pt x="0" y="0"/>
                  </a:moveTo>
                  <a:cubicBezTo>
                    <a:pt x="129419" y="59266"/>
                    <a:pt x="258838" y="118533"/>
                    <a:pt x="362857" y="203200"/>
                  </a:cubicBezTo>
                  <a:cubicBezTo>
                    <a:pt x="466876" y="287867"/>
                    <a:pt x="582990" y="406400"/>
                    <a:pt x="624114" y="508000"/>
                  </a:cubicBezTo>
                  <a:cubicBezTo>
                    <a:pt x="665238" y="609600"/>
                    <a:pt x="637419" y="711200"/>
                    <a:pt x="609600" y="812800"/>
                  </a:cubicBez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511" name="任意多边形 35"/>
            <p:cNvSpPr/>
            <p:nvPr/>
          </p:nvSpPr>
          <p:spPr>
            <a:xfrm>
              <a:off x="4136571" y="4804229"/>
              <a:ext cx="508000" cy="7692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7715" y="435428"/>
                </a:cxn>
                <a:cxn ang="0">
                  <a:pos x="508000" y="769257"/>
                </a:cxn>
              </a:cxnLst>
              <a:pathLst>
                <a:path w="508000" h="769257">
                  <a:moveTo>
                    <a:pt x="0" y="0"/>
                  </a:moveTo>
                  <a:cubicBezTo>
                    <a:pt x="66524" y="153609"/>
                    <a:pt x="133048" y="307219"/>
                    <a:pt x="217715" y="435428"/>
                  </a:cubicBezTo>
                  <a:cubicBezTo>
                    <a:pt x="302382" y="563638"/>
                    <a:pt x="405191" y="666447"/>
                    <a:pt x="508000" y="769257"/>
                  </a:cubicBezTo>
                </a:path>
              </a:pathLst>
            </a:custGeom>
            <a:noFill/>
            <a:ln w="2857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排课问题总结</a:t>
            </a:r>
            <a:endParaRPr lang="en-US" altLang="zh-CN"/>
          </a:p>
        </p:txBody>
      </p:sp>
      <p:sp>
        <p:nvSpPr>
          <p:cNvPr id="62466" name="Content Placeholder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/>
              <a:t>结论：有</a:t>
            </a:r>
            <a:r>
              <a:rPr lang="en-US" altLang="zh-CN" i="1"/>
              <a:t>l</a:t>
            </a:r>
            <a:r>
              <a:rPr lang="zh-CN" altLang="en-US"/>
              <a:t>门课程，被安排在</a:t>
            </a:r>
            <a:r>
              <a:rPr lang="en-US" altLang="zh-CN" i="1"/>
              <a:t>p</a:t>
            </a:r>
            <a:r>
              <a:rPr lang="zh-CN" altLang="en-US"/>
              <a:t>节课中，则每节课时平均有</a:t>
            </a:r>
            <a:r>
              <a:rPr lang="en-US" altLang="zh-CN" i="1"/>
              <a:t>l</a:t>
            </a:r>
            <a:r>
              <a:rPr lang="en-US" altLang="zh-CN"/>
              <a:t>/</a:t>
            </a:r>
            <a:r>
              <a:rPr lang="en-US" altLang="zh-CN" i="1"/>
              <a:t>p</a:t>
            </a:r>
            <a:r>
              <a:rPr lang="zh-CN" altLang="en-US"/>
              <a:t>门课同时上课，可以证明如下结论成立：</a:t>
            </a:r>
            <a:endParaRPr lang="en-US" altLang="zh-CN"/>
          </a:p>
          <a:p>
            <a:pPr>
              <a:buNone/>
            </a:pPr>
            <a:r>
              <a:rPr lang="en-US" altLang="zh-CN"/>
              <a:t>    </a:t>
            </a:r>
            <a:r>
              <a:rPr lang="zh-CN" altLang="en-US">
                <a:solidFill>
                  <a:schemeClr val="tx2"/>
                </a:solidFill>
              </a:rPr>
              <a:t>总存在一个排课方案，使得任意一节课时最多使用</a:t>
            </a:r>
            <a:r>
              <a:rPr lang="en-US" altLang="zh-CN">
                <a:solidFill>
                  <a:schemeClr val="tx2"/>
                </a:solidFill>
              </a:rPr>
              <a:t>{</a:t>
            </a:r>
            <a:r>
              <a:rPr lang="en-US" altLang="zh-CN" i="1">
                <a:solidFill>
                  <a:schemeClr val="tx2"/>
                </a:solidFill>
              </a:rPr>
              <a:t>l</a:t>
            </a:r>
            <a:r>
              <a:rPr lang="en-US" altLang="zh-CN">
                <a:solidFill>
                  <a:schemeClr val="tx2"/>
                </a:solidFill>
              </a:rPr>
              <a:t>/</a:t>
            </a:r>
            <a:r>
              <a:rPr lang="en-US" altLang="zh-CN" i="1">
                <a:solidFill>
                  <a:schemeClr val="tx2"/>
                </a:solidFill>
              </a:rPr>
              <a:t>p</a:t>
            </a:r>
            <a:r>
              <a:rPr lang="en-US" altLang="zh-CN">
                <a:solidFill>
                  <a:schemeClr val="tx2"/>
                </a:solidFill>
              </a:rPr>
              <a:t>}</a:t>
            </a:r>
            <a:r>
              <a:rPr lang="zh-CN" altLang="en-US">
                <a:solidFill>
                  <a:schemeClr val="tx2"/>
                </a:solidFill>
              </a:rPr>
              <a:t>间教室。</a:t>
            </a:r>
            <a:endParaRPr lang="en-US" altLang="zh-CN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>
                <a:solidFill>
                  <a:schemeClr val="tx2"/>
                </a:solidFill>
              </a:rPr>
              <a:t> </a:t>
            </a:r>
            <a:r>
              <a:rPr lang="zh-CN" altLang="en-US">
                <a:solidFill>
                  <a:srgbClr val="FF00FF"/>
                </a:solidFill>
              </a:rPr>
              <a:t>如：在上例中，</a:t>
            </a:r>
            <a:r>
              <a:rPr lang="en-US" altLang="zh-CN" i="1">
                <a:solidFill>
                  <a:srgbClr val="FF00FF"/>
                </a:solidFill>
              </a:rPr>
              <a:t>l</a:t>
            </a:r>
            <a:r>
              <a:rPr lang="zh-CN" altLang="en-US">
                <a:solidFill>
                  <a:srgbClr val="FF00FF"/>
                </a:solidFill>
              </a:rPr>
              <a:t>是二部图的边数，</a:t>
            </a:r>
            <a:r>
              <a:rPr lang="en-US" altLang="zh-CN" i="1">
                <a:solidFill>
                  <a:srgbClr val="FF00FF"/>
                </a:solidFill>
              </a:rPr>
              <a:t>p</a:t>
            </a:r>
            <a:r>
              <a:rPr lang="zh-CN" altLang="en-US">
                <a:solidFill>
                  <a:srgbClr val="FF00FF"/>
                </a:solidFill>
              </a:rPr>
              <a:t>是边色数。</a:t>
            </a:r>
            <a:endParaRPr lang="en-US" altLang="zh-CN">
              <a:solidFill>
                <a:srgbClr val="FF00FF"/>
              </a:solidFill>
            </a:endParaRPr>
          </a:p>
          <a:p>
            <a:r>
              <a:rPr lang="zh-CN" altLang="en-US"/>
              <a:t>问题延伸：最多占用</a:t>
            </a:r>
            <a:r>
              <a:rPr lang="en-US" altLang="zh-CN" i="1"/>
              <a:t>x</a:t>
            </a:r>
            <a:r>
              <a:rPr lang="zh-CN" altLang="en-US"/>
              <a:t>间教室，要安排</a:t>
            </a:r>
            <a:r>
              <a:rPr lang="en-US" altLang="zh-CN" i="1"/>
              <a:t>l</a:t>
            </a:r>
            <a:r>
              <a:rPr lang="zh-CN" altLang="en-US"/>
              <a:t>门课，至少需要多少节课时？</a:t>
            </a:r>
            <a:endParaRPr lang="en-US" altLang="zh-CN"/>
          </a:p>
          <a:p>
            <a:pPr>
              <a:buNone/>
            </a:pPr>
            <a:r>
              <a:rPr lang="zh-CN" altLang="en-US">
                <a:solidFill>
                  <a:srgbClr val="FF00FF"/>
                </a:solidFill>
              </a:rPr>
              <a:t>如：上例中，如果最多使用</a:t>
            </a:r>
            <a:r>
              <a:rPr lang="en-US" altLang="zh-CN">
                <a:solidFill>
                  <a:srgbClr val="FF00FF"/>
                </a:solidFill>
              </a:rPr>
              <a:t>2</a:t>
            </a:r>
            <a:r>
              <a:rPr lang="zh-CN" altLang="en-US">
                <a:solidFill>
                  <a:srgbClr val="FF00FF"/>
                </a:solidFill>
              </a:rPr>
              <a:t>间教室，则至少安排</a:t>
            </a:r>
            <a:r>
              <a:rPr lang="en-US" altLang="zh-CN">
                <a:solidFill>
                  <a:srgbClr val="FF00FF"/>
                </a:solidFill>
              </a:rPr>
              <a:t>12/2=6</a:t>
            </a:r>
            <a:r>
              <a:rPr lang="zh-CN" altLang="en-US">
                <a:solidFill>
                  <a:srgbClr val="FF00FF"/>
                </a:solidFill>
              </a:rPr>
              <a:t>节课时。</a:t>
            </a:r>
            <a:endParaRPr lang="en-US" altLang="zh-CN">
              <a:solidFill>
                <a:srgbClr val="FF00FF"/>
              </a:solidFill>
            </a:endParaRPr>
          </a:p>
        </p:txBody>
      </p:sp>
      <p:sp>
        <p:nvSpPr>
          <p:cNvPr id="6246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/>
              <a:t>边着色</a:t>
            </a:r>
            <a:endParaRPr lang="zh-CN" altLang="en-US"/>
          </a:p>
        </p:txBody>
      </p:sp>
      <p:sp>
        <p:nvSpPr>
          <p:cNvPr id="63490" name="内容占位符 2"/>
          <p:cNvSpPr>
            <a:spLocks noGrp="1"/>
          </p:cNvSpPr>
          <p:nvPr>
            <p:ph idx="1"/>
          </p:nvPr>
        </p:nvSpPr>
        <p:spPr>
          <a:xfrm>
            <a:off x="323850" y="1412875"/>
            <a:ext cx="8496300" cy="4968875"/>
          </a:xfrm>
        </p:spPr>
        <p:txBody>
          <a:bodyPr vert="horz" wrap="square" lIns="91440" tIns="45720" rIns="91440" bIns="45720" anchor="t" anchorCtr="0"/>
          <a:p>
            <a:r>
              <a:rPr lang="zh-CN" altLang="en-US"/>
              <a:t>设无环图</a:t>
            </a:r>
            <a:r>
              <a:rPr lang="en-US" altLang="zh-CN"/>
              <a:t>G=&lt;V,E&gt;,</a:t>
            </a:r>
            <a:r>
              <a:rPr lang="zh-CN" altLang="en-US"/>
              <a:t>给</a:t>
            </a:r>
            <a:r>
              <a:rPr lang="en-US" altLang="zh-CN"/>
              <a:t>G</a:t>
            </a:r>
            <a:r>
              <a:rPr lang="zh-CN" altLang="en-US"/>
              <a:t>进行</a:t>
            </a:r>
            <a:r>
              <a:rPr lang="en-US" altLang="zh-CN" i="1"/>
              <a:t>k</a:t>
            </a:r>
            <a:r>
              <a:rPr lang="en-US" altLang="zh-CN"/>
              <a:t>-</a:t>
            </a:r>
            <a:r>
              <a:rPr lang="zh-CN" altLang="en-US"/>
              <a:t>边着色</a:t>
            </a:r>
            <a:r>
              <a:rPr lang="en-US" altLang="zh-CN"/>
              <a:t>,</a:t>
            </a:r>
            <a:r>
              <a:rPr lang="en-US" altLang="zh-CN" i="1"/>
              <a:t>k</a:t>
            </a:r>
            <a:r>
              <a:rPr lang="en-US" altLang="zh-CN"/>
              <a:t>≥</a:t>
            </a:r>
            <a:r>
              <a:rPr lang="el-GR" altLang="zh-CN"/>
              <a:t>χ</a:t>
            </a:r>
            <a:r>
              <a:rPr lang="el-GR" altLang="zh-CN">
                <a:latin typeface="Tahoma" panose="020B0604030504040204" charset="0"/>
              </a:rPr>
              <a:t>’</a:t>
            </a:r>
            <a:r>
              <a:rPr lang="el-GR" altLang="zh-CN"/>
              <a:t>(</a:t>
            </a:r>
            <a:r>
              <a:rPr lang="en-US" altLang="zh-CN"/>
              <a:t>G). </a:t>
            </a:r>
            <a:r>
              <a:rPr lang="zh-CN" altLang="en-US"/>
              <a:t>令</a:t>
            </a:r>
            <a:endParaRPr lang="zh-CN" altLang="en-US"/>
          </a:p>
          <a:p>
            <a:pPr>
              <a:buNone/>
            </a:pPr>
            <a:r>
              <a:rPr lang="en-US" altLang="zh-CN"/>
              <a:t>             </a:t>
            </a:r>
            <a:r>
              <a:rPr lang="en-US" altLang="zh-CN" i="1"/>
              <a:t>R</a:t>
            </a:r>
            <a:r>
              <a:rPr lang="en-US" altLang="zh-CN"/>
              <a:t>={ &lt;</a:t>
            </a:r>
            <a:r>
              <a:rPr lang="en-US" altLang="zh-CN" i="1"/>
              <a:t>e</a:t>
            </a:r>
            <a:r>
              <a:rPr lang="en-US" altLang="zh-CN" i="1" baseline="-25000"/>
              <a:t>i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 i="1" baseline="-25000"/>
              <a:t>j</a:t>
            </a:r>
            <a:r>
              <a:rPr lang="en-US" altLang="zh-CN"/>
              <a:t>&gt;| </a:t>
            </a:r>
            <a:r>
              <a:rPr lang="en-US" altLang="zh-CN" i="1"/>
              <a:t>e</a:t>
            </a:r>
            <a:r>
              <a:rPr lang="en-US" altLang="zh-CN" i="1" baseline="-25000"/>
              <a:t>i</a:t>
            </a:r>
            <a:r>
              <a:rPr lang="zh-CN" altLang="en-US"/>
              <a:t>与</a:t>
            </a:r>
            <a:r>
              <a:rPr lang="en-US" altLang="zh-CN" i="1"/>
              <a:t>e</a:t>
            </a:r>
            <a:r>
              <a:rPr lang="en-US" altLang="zh-CN" i="1" baseline="-25000"/>
              <a:t>j</a:t>
            </a:r>
            <a:r>
              <a:rPr lang="zh-CN" altLang="en-US"/>
              <a:t>着同色</a:t>
            </a:r>
            <a:r>
              <a:rPr lang="en-US" altLang="zh-CN"/>
              <a:t>}</a:t>
            </a:r>
            <a:endParaRPr lang="en-US" altLang="zh-CN"/>
          </a:p>
          <a:p>
            <a:pPr>
              <a:buNone/>
            </a:pPr>
            <a:r>
              <a:rPr lang="zh-CN" altLang="en-US"/>
              <a:t>     则</a:t>
            </a:r>
            <a:r>
              <a:rPr lang="en-US" altLang="zh-CN" i="1"/>
              <a:t>R</a:t>
            </a:r>
            <a:r>
              <a:rPr lang="zh-CN" altLang="en-US"/>
              <a:t>是</a:t>
            </a:r>
            <a:r>
              <a:rPr lang="en-US" altLang="zh-CN" i="1"/>
              <a:t>E</a:t>
            </a:r>
            <a:r>
              <a:rPr lang="zh-CN" altLang="en-US"/>
              <a:t>上等价关系</a:t>
            </a:r>
            <a:r>
              <a:rPr lang="en-US" altLang="zh-CN"/>
              <a:t>, </a:t>
            </a:r>
            <a:r>
              <a:rPr lang="zh-CN" altLang="en-US"/>
              <a:t>商集合</a:t>
            </a:r>
            <a:r>
              <a:rPr lang="en-US" altLang="zh-CN" i="1"/>
              <a:t>E</a:t>
            </a:r>
            <a:r>
              <a:rPr lang="en-US" altLang="zh-CN"/>
              <a:t>/</a:t>
            </a:r>
            <a:r>
              <a:rPr lang="en-US" altLang="zh-CN" i="1"/>
              <a:t>R</a:t>
            </a:r>
            <a:r>
              <a:rPr lang="en-US" altLang="zh-CN"/>
              <a:t>={E</a:t>
            </a:r>
            <a:r>
              <a:rPr lang="en-US" altLang="zh-CN" baseline="-25000"/>
              <a:t>1</a:t>
            </a:r>
            <a:r>
              <a:rPr lang="en-US" altLang="zh-CN"/>
              <a:t>,E</a:t>
            </a:r>
            <a:r>
              <a:rPr lang="en-US" altLang="zh-CN" baseline="-25000"/>
              <a:t>2</a:t>
            </a:r>
            <a:r>
              <a:rPr lang="en-US" altLang="zh-CN"/>
              <a:t>,…,E</a:t>
            </a:r>
            <a:r>
              <a:rPr lang="en-US" altLang="zh-CN" baseline="-25000"/>
              <a:t>k</a:t>
            </a:r>
            <a:r>
              <a:rPr lang="en-US" altLang="zh-CN"/>
              <a:t>}</a:t>
            </a:r>
            <a:r>
              <a:rPr lang="zh-CN" altLang="en-US"/>
              <a:t>是</a:t>
            </a:r>
            <a:r>
              <a:rPr lang="en-US" altLang="zh-CN"/>
              <a:t>E</a:t>
            </a:r>
            <a:r>
              <a:rPr lang="zh-CN" altLang="en-US"/>
              <a:t>的划分</a:t>
            </a:r>
            <a:r>
              <a:rPr lang="en-US" altLang="zh-CN"/>
              <a:t>, </a:t>
            </a:r>
            <a:r>
              <a:rPr lang="zh-CN" altLang="en-US"/>
              <a:t>划分块中元素着同色</a:t>
            </a:r>
            <a:endParaRPr lang="zh-CN" altLang="en-US"/>
          </a:p>
          <a:p>
            <a:endParaRPr lang="zh-CN" altLang="en-US"/>
          </a:p>
        </p:txBody>
      </p:sp>
      <p:sp>
        <p:nvSpPr>
          <p:cNvPr id="6349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8" cy="982663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例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451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1" i="1" u="none" kern="1200" baseline="0">
                <a:solidFill>
                  <a:schemeClr val="tx1"/>
                </a:solidFill>
                <a:latin typeface="Tahoma" panose="020B060403050404020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>
                <a:latin typeface="Tahoma" panose="020B0604030504040204" charset="0"/>
              </a:rPr>
            </a:fld>
            <a:endParaRPr lang="en-US" altLang="zh-CN" sz="1400" b="0" i="0">
              <a:latin typeface="Tahoma" panose="020B0604030504040204" charset="0"/>
            </a:endParaRPr>
          </a:p>
        </p:txBody>
      </p:sp>
      <p:grpSp>
        <p:nvGrpSpPr>
          <p:cNvPr id="64515" name="组合 5"/>
          <p:cNvGrpSpPr/>
          <p:nvPr/>
        </p:nvGrpSpPr>
        <p:grpSpPr>
          <a:xfrm>
            <a:off x="2124075" y="908050"/>
            <a:ext cx="4103688" cy="1873250"/>
            <a:chOff x="899592" y="4149080"/>
            <a:chExt cx="4104456" cy="1872208"/>
          </a:xfrm>
        </p:grpSpPr>
        <p:sp>
          <p:nvSpPr>
            <p:cNvPr id="7" name="椭圆 6"/>
            <p:cNvSpPr/>
            <p:nvPr/>
          </p:nvSpPr>
          <p:spPr bwMode="auto">
            <a:xfrm>
              <a:off x="1475753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2339752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3203848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3996033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971600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1979712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椭圆 12"/>
            <p:cNvSpPr/>
            <p:nvPr/>
          </p:nvSpPr>
          <p:spPr bwMode="auto">
            <a:xfrm>
              <a:off x="2843808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椭圆 13"/>
            <p:cNvSpPr/>
            <p:nvPr/>
          </p:nvSpPr>
          <p:spPr bwMode="auto">
            <a:xfrm>
              <a:off x="3707904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" name="椭圆 14"/>
            <p:cNvSpPr/>
            <p:nvPr/>
          </p:nvSpPr>
          <p:spPr bwMode="auto">
            <a:xfrm>
              <a:off x="4644008" y="5517232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4525" name="TextBox 15"/>
            <p:cNvSpPr txBox="1"/>
            <p:nvPr/>
          </p:nvSpPr>
          <p:spPr>
            <a:xfrm>
              <a:off x="1374344" y="4191919"/>
              <a:ext cx="389010" cy="4617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26" name="TextBox 16"/>
            <p:cNvSpPr txBox="1"/>
            <p:nvPr/>
          </p:nvSpPr>
          <p:spPr>
            <a:xfrm>
              <a:off x="2268273" y="4149080"/>
              <a:ext cx="389011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27" name="TextBox 17"/>
            <p:cNvSpPr txBox="1"/>
            <p:nvPr/>
          </p:nvSpPr>
          <p:spPr>
            <a:xfrm>
              <a:off x="3132035" y="4149080"/>
              <a:ext cx="389011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28" name="TextBox 18"/>
            <p:cNvSpPr txBox="1"/>
            <p:nvPr/>
          </p:nvSpPr>
          <p:spPr>
            <a:xfrm>
              <a:off x="3924346" y="4149080"/>
              <a:ext cx="389010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29" name="TextBox 19"/>
            <p:cNvSpPr txBox="1"/>
            <p:nvPr/>
          </p:nvSpPr>
          <p:spPr>
            <a:xfrm>
              <a:off x="899592" y="5516744"/>
              <a:ext cx="423942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30" name="TextBox 20"/>
            <p:cNvSpPr txBox="1"/>
            <p:nvPr/>
          </p:nvSpPr>
          <p:spPr>
            <a:xfrm>
              <a:off x="1915782" y="5516744"/>
              <a:ext cx="423942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31" name="TextBox 21"/>
            <p:cNvSpPr txBox="1"/>
            <p:nvPr/>
          </p:nvSpPr>
          <p:spPr>
            <a:xfrm>
              <a:off x="2779544" y="5516744"/>
              <a:ext cx="423942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32" name="TextBox 22"/>
            <p:cNvSpPr txBox="1"/>
            <p:nvPr/>
          </p:nvSpPr>
          <p:spPr>
            <a:xfrm>
              <a:off x="3635367" y="5516744"/>
              <a:ext cx="423941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33" name="TextBox 23"/>
            <p:cNvSpPr txBox="1"/>
            <p:nvPr/>
          </p:nvSpPr>
          <p:spPr>
            <a:xfrm>
              <a:off x="4580106" y="5559583"/>
              <a:ext cx="423942" cy="4617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34" name="任意多边形 24"/>
            <p:cNvSpPr/>
            <p:nvPr/>
          </p:nvSpPr>
          <p:spPr>
            <a:xfrm>
              <a:off x="1103086" y="4833257"/>
              <a:ext cx="391885" cy="624114"/>
            </a:xfrm>
            <a:custGeom>
              <a:avLst/>
              <a:gdLst/>
              <a:ahLst/>
              <a:cxnLst>
                <a:cxn ang="0">
                  <a:pos x="391885" y="0"/>
                </a:cxn>
                <a:cxn ang="0">
                  <a:pos x="145143" y="174172"/>
                </a:cxn>
                <a:cxn ang="0">
                  <a:pos x="43543" y="391886"/>
                </a:cxn>
                <a:cxn ang="0">
                  <a:pos x="0" y="624114"/>
                </a:cxn>
              </a:cxnLst>
              <a:pathLst>
                <a:path w="391885" h="624114">
                  <a:moveTo>
                    <a:pt x="391885" y="0"/>
                  </a:moveTo>
                  <a:cubicBezTo>
                    <a:pt x="297542" y="54429"/>
                    <a:pt x="203200" y="108858"/>
                    <a:pt x="145143" y="174172"/>
                  </a:cubicBezTo>
                  <a:cubicBezTo>
                    <a:pt x="87086" y="239486"/>
                    <a:pt x="67733" y="316896"/>
                    <a:pt x="43543" y="391886"/>
                  </a:cubicBezTo>
                  <a:cubicBezTo>
                    <a:pt x="19353" y="466876"/>
                    <a:pt x="9676" y="545495"/>
                    <a:pt x="0" y="624114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64535" name="直接连接符 25"/>
            <p:cNvCxnSpPr/>
            <p:nvPr/>
          </p:nvCxnSpPr>
          <p:spPr>
            <a:xfrm rot="-5400000" flipH="1">
              <a:off x="1511660" y="4977172"/>
              <a:ext cx="576064" cy="360040"/>
            </a:xfrm>
            <a:prstGeom prst="line">
              <a:avLst/>
            </a:prstGeom>
            <a:ln w="2857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36" name="直接连接符 26"/>
            <p:cNvCxnSpPr/>
            <p:nvPr/>
          </p:nvCxnSpPr>
          <p:spPr>
            <a:xfrm rot="-5400000" flipH="1">
              <a:off x="1948037" y="4549451"/>
              <a:ext cx="639414" cy="1215372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4537" name="任意多边形 27"/>
            <p:cNvSpPr/>
            <p:nvPr/>
          </p:nvSpPr>
          <p:spPr>
            <a:xfrm>
              <a:off x="1146629" y="4876800"/>
              <a:ext cx="435428" cy="609600"/>
            </a:xfrm>
            <a:custGeom>
              <a:avLst/>
              <a:gdLst/>
              <a:ahLst/>
              <a:cxnLst>
                <a:cxn ang="0">
                  <a:pos x="435428" y="0"/>
                </a:cxn>
                <a:cxn ang="0">
                  <a:pos x="333828" y="406400"/>
                </a:cxn>
                <a:cxn ang="0">
                  <a:pos x="0" y="609600"/>
                </a:cxn>
              </a:cxnLst>
              <a:pathLst>
                <a:path w="435428" h="609600">
                  <a:moveTo>
                    <a:pt x="435428" y="0"/>
                  </a:moveTo>
                  <a:cubicBezTo>
                    <a:pt x="420913" y="152400"/>
                    <a:pt x="406399" y="304800"/>
                    <a:pt x="333828" y="406400"/>
                  </a:cubicBezTo>
                  <a:cubicBezTo>
                    <a:pt x="261257" y="508000"/>
                    <a:pt x="130628" y="558800"/>
                    <a:pt x="0" y="60960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64538" name="直接连接符 28"/>
            <p:cNvCxnSpPr/>
            <p:nvPr/>
          </p:nvCxnSpPr>
          <p:spPr>
            <a:xfrm rot="5400000">
              <a:off x="1925628" y="4999478"/>
              <a:ext cx="607794" cy="283698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39" name="直接连接符 29"/>
            <p:cNvCxnSpPr/>
            <p:nvPr/>
          </p:nvCxnSpPr>
          <p:spPr>
            <a:xfrm rot="-5400000" flipH="1">
              <a:off x="2380027" y="4981442"/>
              <a:ext cx="639414" cy="351373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40" name="直接连接符 30"/>
            <p:cNvCxnSpPr/>
            <p:nvPr/>
          </p:nvCxnSpPr>
          <p:spPr>
            <a:xfrm rot="5400000">
              <a:off x="2357676" y="4567430"/>
              <a:ext cx="607794" cy="1147794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41" name="直接连接符 31"/>
            <p:cNvCxnSpPr/>
            <p:nvPr/>
          </p:nvCxnSpPr>
          <p:spPr>
            <a:xfrm rot="5400000">
              <a:off x="2843705" y="4977117"/>
              <a:ext cx="576174" cy="36004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42" name="直接连接符 32"/>
            <p:cNvCxnSpPr/>
            <p:nvPr/>
          </p:nvCxnSpPr>
          <p:spPr>
            <a:xfrm rot="-5400000" flipH="1">
              <a:off x="3221772" y="4959090"/>
              <a:ext cx="607794" cy="427714"/>
            </a:xfrm>
            <a:prstGeom prst="line">
              <a:avLst/>
            </a:prstGeom>
            <a:ln w="2857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43" name="直接连接符 33"/>
            <p:cNvCxnSpPr/>
            <p:nvPr/>
          </p:nvCxnSpPr>
          <p:spPr>
            <a:xfrm rot="5400000">
              <a:off x="3617856" y="5035426"/>
              <a:ext cx="607794" cy="21178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4544" name="任意多边形 34"/>
            <p:cNvSpPr/>
            <p:nvPr/>
          </p:nvSpPr>
          <p:spPr>
            <a:xfrm>
              <a:off x="4194629" y="4746171"/>
              <a:ext cx="665238" cy="812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2857" y="203200"/>
                </a:cxn>
                <a:cxn ang="0">
                  <a:pos x="624114" y="508000"/>
                </a:cxn>
                <a:cxn ang="0">
                  <a:pos x="609600" y="812800"/>
                </a:cxn>
              </a:cxnLst>
              <a:pathLst>
                <a:path w="665238" h="812800">
                  <a:moveTo>
                    <a:pt x="0" y="0"/>
                  </a:moveTo>
                  <a:cubicBezTo>
                    <a:pt x="129419" y="59266"/>
                    <a:pt x="258838" y="118533"/>
                    <a:pt x="362857" y="203200"/>
                  </a:cubicBezTo>
                  <a:cubicBezTo>
                    <a:pt x="466876" y="287867"/>
                    <a:pt x="582990" y="406400"/>
                    <a:pt x="624114" y="508000"/>
                  </a:cubicBezTo>
                  <a:cubicBezTo>
                    <a:pt x="665238" y="609600"/>
                    <a:pt x="637419" y="711200"/>
                    <a:pt x="609600" y="812800"/>
                  </a:cubicBez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4545" name="任意多边形 35"/>
            <p:cNvSpPr/>
            <p:nvPr/>
          </p:nvSpPr>
          <p:spPr>
            <a:xfrm>
              <a:off x="4136571" y="4804229"/>
              <a:ext cx="508000" cy="7692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7715" y="435428"/>
                </a:cxn>
                <a:cxn ang="0">
                  <a:pos x="508000" y="769257"/>
                </a:cxn>
              </a:cxnLst>
              <a:pathLst>
                <a:path w="508000" h="769257">
                  <a:moveTo>
                    <a:pt x="0" y="0"/>
                  </a:moveTo>
                  <a:cubicBezTo>
                    <a:pt x="66524" y="153609"/>
                    <a:pt x="133048" y="307219"/>
                    <a:pt x="217715" y="435428"/>
                  </a:cubicBezTo>
                  <a:cubicBezTo>
                    <a:pt x="302382" y="563638"/>
                    <a:pt x="405191" y="666447"/>
                    <a:pt x="508000" y="769257"/>
                  </a:cubicBezTo>
                </a:path>
              </a:pathLst>
            </a:custGeom>
            <a:noFill/>
            <a:ln w="2857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64546" name="组合 36"/>
          <p:cNvGrpSpPr/>
          <p:nvPr/>
        </p:nvGrpSpPr>
        <p:grpSpPr>
          <a:xfrm>
            <a:off x="323850" y="2781300"/>
            <a:ext cx="4103688" cy="1871663"/>
            <a:chOff x="899592" y="4149080"/>
            <a:chExt cx="4104456" cy="1872208"/>
          </a:xfrm>
        </p:grpSpPr>
        <p:sp>
          <p:nvSpPr>
            <p:cNvPr id="38" name="椭圆 37"/>
            <p:cNvSpPr/>
            <p:nvPr/>
          </p:nvSpPr>
          <p:spPr bwMode="auto">
            <a:xfrm>
              <a:off x="1475753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39" name="椭圆 38"/>
            <p:cNvSpPr/>
            <p:nvPr/>
          </p:nvSpPr>
          <p:spPr bwMode="auto">
            <a:xfrm>
              <a:off x="2339752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0" name="椭圆 39"/>
            <p:cNvSpPr/>
            <p:nvPr/>
          </p:nvSpPr>
          <p:spPr bwMode="auto">
            <a:xfrm>
              <a:off x="3203848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1" name="椭圆 40"/>
            <p:cNvSpPr/>
            <p:nvPr/>
          </p:nvSpPr>
          <p:spPr bwMode="auto">
            <a:xfrm>
              <a:off x="3996033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2" name="椭圆 41"/>
            <p:cNvSpPr/>
            <p:nvPr/>
          </p:nvSpPr>
          <p:spPr bwMode="auto">
            <a:xfrm>
              <a:off x="971600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3" name="椭圆 42"/>
            <p:cNvSpPr/>
            <p:nvPr/>
          </p:nvSpPr>
          <p:spPr bwMode="auto">
            <a:xfrm>
              <a:off x="1979712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4" name="椭圆 43"/>
            <p:cNvSpPr/>
            <p:nvPr/>
          </p:nvSpPr>
          <p:spPr bwMode="auto">
            <a:xfrm>
              <a:off x="2843808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5" name="椭圆 44"/>
            <p:cNvSpPr/>
            <p:nvPr/>
          </p:nvSpPr>
          <p:spPr bwMode="auto">
            <a:xfrm>
              <a:off x="3707904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46" name="椭圆 45"/>
            <p:cNvSpPr/>
            <p:nvPr/>
          </p:nvSpPr>
          <p:spPr bwMode="auto">
            <a:xfrm>
              <a:off x="4644008" y="5517232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4556" name="TextBox 46"/>
            <p:cNvSpPr txBox="1"/>
            <p:nvPr/>
          </p:nvSpPr>
          <p:spPr>
            <a:xfrm>
              <a:off x="1374344" y="4191955"/>
              <a:ext cx="389010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57" name="TextBox 47"/>
            <p:cNvSpPr txBox="1"/>
            <p:nvPr/>
          </p:nvSpPr>
          <p:spPr>
            <a:xfrm>
              <a:off x="2268273" y="4149080"/>
              <a:ext cx="389011" cy="4620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58" name="TextBox 48"/>
            <p:cNvSpPr txBox="1"/>
            <p:nvPr/>
          </p:nvSpPr>
          <p:spPr>
            <a:xfrm>
              <a:off x="3132035" y="4149080"/>
              <a:ext cx="389011" cy="4620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59" name="TextBox 49"/>
            <p:cNvSpPr txBox="1"/>
            <p:nvPr/>
          </p:nvSpPr>
          <p:spPr>
            <a:xfrm>
              <a:off x="3924346" y="4149080"/>
              <a:ext cx="389010" cy="4620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60" name="TextBox 50"/>
            <p:cNvSpPr txBox="1"/>
            <p:nvPr/>
          </p:nvSpPr>
          <p:spPr>
            <a:xfrm>
              <a:off x="899592" y="5517903"/>
              <a:ext cx="423942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61" name="TextBox 51"/>
            <p:cNvSpPr txBox="1"/>
            <p:nvPr/>
          </p:nvSpPr>
          <p:spPr>
            <a:xfrm>
              <a:off x="1915782" y="5517903"/>
              <a:ext cx="423942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62" name="TextBox 52"/>
            <p:cNvSpPr txBox="1"/>
            <p:nvPr/>
          </p:nvSpPr>
          <p:spPr>
            <a:xfrm>
              <a:off x="2779544" y="5517903"/>
              <a:ext cx="423942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63" name="TextBox 53"/>
            <p:cNvSpPr txBox="1"/>
            <p:nvPr/>
          </p:nvSpPr>
          <p:spPr>
            <a:xfrm>
              <a:off x="3635367" y="5517903"/>
              <a:ext cx="423941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64" name="TextBox 54"/>
            <p:cNvSpPr txBox="1"/>
            <p:nvPr/>
          </p:nvSpPr>
          <p:spPr>
            <a:xfrm>
              <a:off x="4580106" y="5559190"/>
              <a:ext cx="423942" cy="4620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65" name="任意多边形 55"/>
            <p:cNvSpPr/>
            <p:nvPr/>
          </p:nvSpPr>
          <p:spPr>
            <a:xfrm>
              <a:off x="1103086" y="4833257"/>
              <a:ext cx="391885" cy="624114"/>
            </a:xfrm>
            <a:custGeom>
              <a:avLst/>
              <a:gdLst/>
              <a:ahLst/>
              <a:cxnLst>
                <a:cxn ang="0">
                  <a:pos x="391885" y="0"/>
                </a:cxn>
                <a:cxn ang="0">
                  <a:pos x="145143" y="174172"/>
                </a:cxn>
                <a:cxn ang="0">
                  <a:pos x="43543" y="391886"/>
                </a:cxn>
                <a:cxn ang="0">
                  <a:pos x="0" y="624114"/>
                </a:cxn>
              </a:cxnLst>
              <a:pathLst>
                <a:path w="391885" h="624114">
                  <a:moveTo>
                    <a:pt x="391885" y="0"/>
                  </a:moveTo>
                  <a:cubicBezTo>
                    <a:pt x="297542" y="54429"/>
                    <a:pt x="203200" y="108858"/>
                    <a:pt x="145143" y="174172"/>
                  </a:cubicBezTo>
                  <a:cubicBezTo>
                    <a:pt x="87086" y="239486"/>
                    <a:pt x="67733" y="316896"/>
                    <a:pt x="43543" y="391886"/>
                  </a:cubicBezTo>
                  <a:cubicBezTo>
                    <a:pt x="19353" y="466876"/>
                    <a:pt x="9676" y="545495"/>
                    <a:pt x="0" y="624114"/>
                  </a:cubicBezTo>
                </a:path>
              </a:pathLst>
            </a:custGeom>
            <a:noFill/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64566" name="直接连接符 59"/>
            <p:cNvCxnSpPr/>
            <p:nvPr/>
          </p:nvCxnSpPr>
          <p:spPr>
            <a:xfrm rot="5400000">
              <a:off x="1925628" y="4999478"/>
              <a:ext cx="607794" cy="283698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67" name="直接连接符 62"/>
            <p:cNvCxnSpPr/>
            <p:nvPr/>
          </p:nvCxnSpPr>
          <p:spPr>
            <a:xfrm rot="5400000">
              <a:off x="2843705" y="4977117"/>
              <a:ext cx="576174" cy="360040"/>
            </a:xfrm>
            <a:prstGeom prst="line">
              <a:avLst/>
            </a:prstGeom>
            <a:ln w="28575" cap="flat" cmpd="sng">
              <a:solidFill>
                <a:srgbClr val="FF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4568" name="组合 120"/>
          <p:cNvGrpSpPr/>
          <p:nvPr/>
        </p:nvGrpSpPr>
        <p:grpSpPr>
          <a:xfrm>
            <a:off x="4716463" y="2852738"/>
            <a:ext cx="4103687" cy="1871662"/>
            <a:chOff x="899592" y="4149080"/>
            <a:chExt cx="4104456" cy="1872208"/>
          </a:xfrm>
        </p:grpSpPr>
        <p:sp>
          <p:nvSpPr>
            <p:cNvPr id="122" name="椭圆 121"/>
            <p:cNvSpPr/>
            <p:nvPr/>
          </p:nvSpPr>
          <p:spPr bwMode="auto">
            <a:xfrm>
              <a:off x="1475753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3" name="椭圆 122"/>
            <p:cNvSpPr/>
            <p:nvPr/>
          </p:nvSpPr>
          <p:spPr bwMode="auto">
            <a:xfrm>
              <a:off x="2339752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4" name="椭圆 123"/>
            <p:cNvSpPr/>
            <p:nvPr/>
          </p:nvSpPr>
          <p:spPr bwMode="auto">
            <a:xfrm>
              <a:off x="3203848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5" name="椭圆 124"/>
            <p:cNvSpPr/>
            <p:nvPr/>
          </p:nvSpPr>
          <p:spPr bwMode="auto">
            <a:xfrm>
              <a:off x="3996033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6" name="椭圆 125"/>
            <p:cNvSpPr/>
            <p:nvPr/>
          </p:nvSpPr>
          <p:spPr bwMode="auto">
            <a:xfrm>
              <a:off x="971600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7" name="椭圆 126"/>
            <p:cNvSpPr/>
            <p:nvPr/>
          </p:nvSpPr>
          <p:spPr bwMode="auto">
            <a:xfrm>
              <a:off x="1979712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8" name="椭圆 127"/>
            <p:cNvSpPr/>
            <p:nvPr/>
          </p:nvSpPr>
          <p:spPr bwMode="auto">
            <a:xfrm>
              <a:off x="2843808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29" name="椭圆 128"/>
            <p:cNvSpPr/>
            <p:nvPr/>
          </p:nvSpPr>
          <p:spPr bwMode="auto">
            <a:xfrm>
              <a:off x="3707904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0" name="椭圆 129"/>
            <p:cNvSpPr/>
            <p:nvPr/>
          </p:nvSpPr>
          <p:spPr bwMode="auto">
            <a:xfrm>
              <a:off x="4644008" y="5517232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4578" name="TextBox 130"/>
            <p:cNvSpPr txBox="1"/>
            <p:nvPr/>
          </p:nvSpPr>
          <p:spPr>
            <a:xfrm>
              <a:off x="1374343" y="4191955"/>
              <a:ext cx="389011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79" name="TextBox 131"/>
            <p:cNvSpPr txBox="1"/>
            <p:nvPr/>
          </p:nvSpPr>
          <p:spPr>
            <a:xfrm>
              <a:off x="2268273" y="4149080"/>
              <a:ext cx="389010" cy="4620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80" name="TextBox 132"/>
            <p:cNvSpPr txBox="1"/>
            <p:nvPr/>
          </p:nvSpPr>
          <p:spPr>
            <a:xfrm>
              <a:off x="3132035" y="4149080"/>
              <a:ext cx="389010" cy="4620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81" name="TextBox 133"/>
            <p:cNvSpPr txBox="1"/>
            <p:nvPr/>
          </p:nvSpPr>
          <p:spPr>
            <a:xfrm>
              <a:off x="3924346" y="4149080"/>
              <a:ext cx="389011" cy="4620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82" name="TextBox 134"/>
            <p:cNvSpPr txBox="1"/>
            <p:nvPr/>
          </p:nvSpPr>
          <p:spPr>
            <a:xfrm>
              <a:off x="899592" y="5517904"/>
              <a:ext cx="423941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83" name="TextBox 135"/>
            <p:cNvSpPr txBox="1"/>
            <p:nvPr/>
          </p:nvSpPr>
          <p:spPr>
            <a:xfrm>
              <a:off x="1915782" y="5517904"/>
              <a:ext cx="423941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84" name="TextBox 136"/>
            <p:cNvSpPr txBox="1"/>
            <p:nvPr/>
          </p:nvSpPr>
          <p:spPr>
            <a:xfrm>
              <a:off x="2779544" y="5517904"/>
              <a:ext cx="423941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85" name="TextBox 137"/>
            <p:cNvSpPr txBox="1"/>
            <p:nvPr/>
          </p:nvSpPr>
          <p:spPr>
            <a:xfrm>
              <a:off x="3635367" y="5517904"/>
              <a:ext cx="423942" cy="4605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86" name="TextBox 138"/>
            <p:cNvSpPr txBox="1"/>
            <p:nvPr/>
          </p:nvSpPr>
          <p:spPr>
            <a:xfrm>
              <a:off x="4580107" y="5559191"/>
              <a:ext cx="423941" cy="46209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587" name="任意多边形 142"/>
            <p:cNvSpPr/>
            <p:nvPr/>
          </p:nvSpPr>
          <p:spPr>
            <a:xfrm>
              <a:off x="1146629" y="4876800"/>
              <a:ext cx="435428" cy="609600"/>
            </a:xfrm>
            <a:custGeom>
              <a:avLst/>
              <a:gdLst/>
              <a:ahLst/>
              <a:cxnLst>
                <a:cxn ang="0">
                  <a:pos x="435428" y="0"/>
                </a:cxn>
                <a:cxn ang="0">
                  <a:pos x="333828" y="406400"/>
                </a:cxn>
                <a:cxn ang="0">
                  <a:pos x="0" y="609600"/>
                </a:cxn>
              </a:cxnLst>
              <a:pathLst>
                <a:path w="435428" h="609600">
                  <a:moveTo>
                    <a:pt x="435428" y="0"/>
                  </a:moveTo>
                  <a:cubicBezTo>
                    <a:pt x="420913" y="152400"/>
                    <a:pt x="406399" y="304800"/>
                    <a:pt x="333828" y="406400"/>
                  </a:cubicBezTo>
                  <a:cubicBezTo>
                    <a:pt x="261257" y="508000"/>
                    <a:pt x="130628" y="558800"/>
                    <a:pt x="0" y="60960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cxnSp>
          <p:nvCxnSpPr>
            <p:cNvPr id="64588" name="直接连接符 144"/>
            <p:cNvCxnSpPr/>
            <p:nvPr/>
          </p:nvCxnSpPr>
          <p:spPr>
            <a:xfrm rot="-5400000" flipH="1">
              <a:off x="2380027" y="4981442"/>
              <a:ext cx="639414" cy="351373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89" name="直接连接符 148"/>
            <p:cNvCxnSpPr/>
            <p:nvPr/>
          </p:nvCxnSpPr>
          <p:spPr>
            <a:xfrm rot="5400000">
              <a:off x="3617856" y="5035426"/>
              <a:ext cx="607794" cy="21178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4590" name="组合 151"/>
          <p:cNvGrpSpPr/>
          <p:nvPr/>
        </p:nvGrpSpPr>
        <p:grpSpPr>
          <a:xfrm>
            <a:off x="323850" y="4724400"/>
            <a:ext cx="4103688" cy="1873250"/>
            <a:chOff x="899592" y="4149080"/>
            <a:chExt cx="4104456" cy="1872208"/>
          </a:xfrm>
        </p:grpSpPr>
        <p:sp>
          <p:nvSpPr>
            <p:cNvPr id="153" name="椭圆 152"/>
            <p:cNvSpPr/>
            <p:nvPr/>
          </p:nvSpPr>
          <p:spPr bwMode="auto">
            <a:xfrm>
              <a:off x="1475753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4" name="椭圆 153"/>
            <p:cNvSpPr/>
            <p:nvPr/>
          </p:nvSpPr>
          <p:spPr bwMode="auto">
            <a:xfrm>
              <a:off x="2339752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5" name="椭圆 154"/>
            <p:cNvSpPr/>
            <p:nvPr/>
          </p:nvSpPr>
          <p:spPr bwMode="auto">
            <a:xfrm>
              <a:off x="3203848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6" name="椭圆 155"/>
            <p:cNvSpPr/>
            <p:nvPr/>
          </p:nvSpPr>
          <p:spPr bwMode="auto">
            <a:xfrm>
              <a:off x="3996033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7" name="椭圆 156"/>
            <p:cNvSpPr/>
            <p:nvPr/>
          </p:nvSpPr>
          <p:spPr bwMode="auto">
            <a:xfrm>
              <a:off x="971600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8" name="椭圆 157"/>
            <p:cNvSpPr/>
            <p:nvPr/>
          </p:nvSpPr>
          <p:spPr bwMode="auto">
            <a:xfrm>
              <a:off x="1979712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9" name="椭圆 158"/>
            <p:cNvSpPr/>
            <p:nvPr/>
          </p:nvSpPr>
          <p:spPr bwMode="auto">
            <a:xfrm>
              <a:off x="2843808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60" name="椭圆 159"/>
            <p:cNvSpPr/>
            <p:nvPr/>
          </p:nvSpPr>
          <p:spPr bwMode="auto">
            <a:xfrm>
              <a:off x="3707904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61" name="椭圆 160"/>
            <p:cNvSpPr/>
            <p:nvPr/>
          </p:nvSpPr>
          <p:spPr bwMode="auto">
            <a:xfrm>
              <a:off x="4644008" y="5517232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4600" name="TextBox 161"/>
            <p:cNvSpPr txBox="1"/>
            <p:nvPr/>
          </p:nvSpPr>
          <p:spPr>
            <a:xfrm>
              <a:off x="1374344" y="4191919"/>
              <a:ext cx="389010" cy="4617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601" name="TextBox 162"/>
            <p:cNvSpPr txBox="1"/>
            <p:nvPr/>
          </p:nvSpPr>
          <p:spPr>
            <a:xfrm>
              <a:off x="2268273" y="4149080"/>
              <a:ext cx="389011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602" name="TextBox 163"/>
            <p:cNvSpPr txBox="1"/>
            <p:nvPr/>
          </p:nvSpPr>
          <p:spPr>
            <a:xfrm>
              <a:off x="3132035" y="4149080"/>
              <a:ext cx="389011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603" name="TextBox 164"/>
            <p:cNvSpPr txBox="1"/>
            <p:nvPr/>
          </p:nvSpPr>
          <p:spPr>
            <a:xfrm>
              <a:off x="3924346" y="4149080"/>
              <a:ext cx="389010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604" name="TextBox 165"/>
            <p:cNvSpPr txBox="1"/>
            <p:nvPr/>
          </p:nvSpPr>
          <p:spPr>
            <a:xfrm>
              <a:off x="899592" y="5516744"/>
              <a:ext cx="423942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605" name="TextBox 166"/>
            <p:cNvSpPr txBox="1"/>
            <p:nvPr/>
          </p:nvSpPr>
          <p:spPr>
            <a:xfrm>
              <a:off x="1915782" y="5516744"/>
              <a:ext cx="423942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606" name="TextBox 167"/>
            <p:cNvSpPr txBox="1"/>
            <p:nvPr/>
          </p:nvSpPr>
          <p:spPr>
            <a:xfrm>
              <a:off x="2779544" y="5516744"/>
              <a:ext cx="423942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607" name="TextBox 168"/>
            <p:cNvSpPr txBox="1"/>
            <p:nvPr/>
          </p:nvSpPr>
          <p:spPr>
            <a:xfrm>
              <a:off x="3635367" y="5516744"/>
              <a:ext cx="423941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608" name="TextBox 169"/>
            <p:cNvSpPr txBox="1"/>
            <p:nvPr/>
          </p:nvSpPr>
          <p:spPr>
            <a:xfrm>
              <a:off x="4580106" y="5559583"/>
              <a:ext cx="423942" cy="4617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cxnSp>
          <p:nvCxnSpPr>
            <p:cNvPr id="64609" name="直接连接符 171"/>
            <p:cNvCxnSpPr/>
            <p:nvPr/>
          </p:nvCxnSpPr>
          <p:spPr>
            <a:xfrm rot="-5400000" flipH="1">
              <a:off x="1511660" y="4977172"/>
              <a:ext cx="576064" cy="360040"/>
            </a:xfrm>
            <a:prstGeom prst="line">
              <a:avLst/>
            </a:prstGeom>
            <a:ln w="2857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10" name="直接连接符 178"/>
            <p:cNvCxnSpPr/>
            <p:nvPr/>
          </p:nvCxnSpPr>
          <p:spPr>
            <a:xfrm rot="-5400000" flipH="1">
              <a:off x="3221772" y="4959090"/>
              <a:ext cx="607794" cy="427714"/>
            </a:xfrm>
            <a:prstGeom prst="line">
              <a:avLst/>
            </a:prstGeom>
            <a:ln w="2857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4611" name="任意多边形 181"/>
            <p:cNvSpPr/>
            <p:nvPr/>
          </p:nvSpPr>
          <p:spPr>
            <a:xfrm>
              <a:off x="4136571" y="4804229"/>
              <a:ext cx="508000" cy="7692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7715" y="435428"/>
                </a:cxn>
                <a:cxn ang="0">
                  <a:pos x="508000" y="769257"/>
                </a:cxn>
              </a:cxnLst>
              <a:pathLst>
                <a:path w="508000" h="769257">
                  <a:moveTo>
                    <a:pt x="0" y="0"/>
                  </a:moveTo>
                  <a:cubicBezTo>
                    <a:pt x="66524" y="153609"/>
                    <a:pt x="133048" y="307219"/>
                    <a:pt x="217715" y="435428"/>
                  </a:cubicBezTo>
                  <a:cubicBezTo>
                    <a:pt x="302382" y="563638"/>
                    <a:pt x="405191" y="666447"/>
                    <a:pt x="508000" y="769257"/>
                  </a:cubicBezTo>
                </a:path>
              </a:pathLst>
            </a:custGeom>
            <a:noFill/>
            <a:ln w="28575" cap="flat" cmpd="sng">
              <a:solidFill>
                <a:srgbClr val="0066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64612" name="组合 182"/>
          <p:cNvGrpSpPr/>
          <p:nvPr/>
        </p:nvGrpSpPr>
        <p:grpSpPr>
          <a:xfrm>
            <a:off x="4643438" y="4724400"/>
            <a:ext cx="4105275" cy="1873250"/>
            <a:chOff x="899592" y="4149080"/>
            <a:chExt cx="4104456" cy="1872208"/>
          </a:xfrm>
        </p:grpSpPr>
        <p:sp>
          <p:nvSpPr>
            <p:cNvPr id="184" name="椭圆 183"/>
            <p:cNvSpPr/>
            <p:nvPr/>
          </p:nvSpPr>
          <p:spPr bwMode="auto">
            <a:xfrm>
              <a:off x="1475753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85" name="椭圆 184"/>
            <p:cNvSpPr/>
            <p:nvPr/>
          </p:nvSpPr>
          <p:spPr bwMode="auto">
            <a:xfrm>
              <a:off x="2339752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86" name="椭圆 185"/>
            <p:cNvSpPr/>
            <p:nvPr/>
          </p:nvSpPr>
          <p:spPr bwMode="auto">
            <a:xfrm>
              <a:off x="3203848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87" name="椭圆 186"/>
            <p:cNvSpPr/>
            <p:nvPr/>
          </p:nvSpPr>
          <p:spPr bwMode="auto">
            <a:xfrm>
              <a:off x="3996033" y="4653136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88" name="椭圆 187"/>
            <p:cNvSpPr/>
            <p:nvPr/>
          </p:nvSpPr>
          <p:spPr bwMode="auto">
            <a:xfrm>
              <a:off x="971600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89" name="椭圆 188"/>
            <p:cNvSpPr/>
            <p:nvPr/>
          </p:nvSpPr>
          <p:spPr bwMode="auto">
            <a:xfrm>
              <a:off x="1979712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90" name="椭圆 189"/>
            <p:cNvSpPr/>
            <p:nvPr/>
          </p:nvSpPr>
          <p:spPr bwMode="auto">
            <a:xfrm>
              <a:off x="2843808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91" name="椭圆 190"/>
            <p:cNvSpPr/>
            <p:nvPr/>
          </p:nvSpPr>
          <p:spPr bwMode="auto">
            <a:xfrm>
              <a:off x="3707904" y="5445224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92" name="椭圆 191"/>
            <p:cNvSpPr/>
            <p:nvPr/>
          </p:nvSpPr>
          <p:spPr bwMode="auto">
            <a:xfrm>
              <a:off x="4644008" y="5517232"/>
              <a:ext cx="215927" cy="215914"/>
            </a:xfrm>
            <a:prstGeom prst="ellipse">
              <a:avLst/>
            </a:prstGeom>
            <a:solidFill>
              <a:schemeClr val="tx2"/>
            </a:solidFill>
            <a:ln w="952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threePt" dir="t"/>
            </a:scene3d>
            <a:sp3d>
              <a:bevelT w="50800"/>
              <a:bevelB w="38100"/>
            </a:sp3d>
          </p:spPr>
          <p:txBody>
            <a:bodyPr/>
            <a:lstStyle>
              <a:lvl1pPr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1pPr>
              <a:lvl2pPr marL="742950" indent="-28575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2pPr>
              <a:lvl3pPr marL="11430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 eaLnBrk="0" hangingPunct="0"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>
                  <a:solidFill>
                    <a:schemeClr val="tx1"/>
                  </a:solidFill>
                  <a:latin typeface="Tahoma" panose="020B0604030504040204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64622" name="TextBox 192"/>
            <p:cNvSpPr txBox="1"/>
            <p:nvPr/>
          </p:nvSpPr>
          <p:spPr>
            <a:xfrm>
              <a:off x="1374159" y="4191919"/>
              <a:ext cx="388860" cy="4617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623" name="TextBox 193"/>
            <p:cNvSpPr txBox="1"/>
            <p:nvPr/>
          </p:nvSpPr>
          <p:spPr>
            <a:xfrm>
              <a:off x="2267744" y="4149080"/>
              <a:ext cx="390447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624" name="TextBox 194"/>
            <p:cNvSpPr txBox="1"/>
            <p:nvPr/>
          </p:nvSpPr>
          <p:spPr>
            <a:xfrm>
              <a:off x="3131172" y="4149080"/>
              <a:ext cx="390447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625" name="TextBox 195"/>
            <p:cNvSpPr txBox="1"/>
            <p:nvPr/>
          </p:nvSpPr>
          <p:spPr>
            <a:xfrm>
              <a:off x="3923176" y="4149080"/>
              <a:ext cx="390447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t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626" name="TextBox 196"/>
            <p:cNvSpPr txBox="1"/>
            <p:nvPr/>
          </p:nvSpPr>
          <p:spPr>
            <a:xfrm>
              <a:off x="899592" y="5516744"/>
              <a:ext cx="423777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627" name="TextBox 197"/>
            <p:cNvSpPr txBox="1"/>
            <p:nvPr/>
          </p:nvSpPr>
          <p:spPr>
            <a:xfrm>
              <a:off x="1916976" y="5516744"/>
              <a:ext cx="422191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628" name="TextBox 198"/>
            <p:cNvSpPr txBox="1"/>
            <p:nvPr/>
          </p:nvSpPr>
          <p:spPr>
            <a:xfrm>
              <a:off x="2780404" y="5516744"/>
              <a:ext cx="423778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629" name="TextBox 199"/>
            <p:cNvSpPr txBox="1"/>
            <p:nvPr/>
          </p:nvSpPr>
          <p:spPr>
            <a:xfrm>
              <a:off x="3635896" y="5516744"/>
              <a:ext cx="423777" cy="4617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64630" name="TextBox 200"/>
            <p:cNvSpPr txBox="1"/>
            <p:nvPr/>
          </p:nvSpPr>
          <p:spPr>
            <a:xfrm>
              <a:off x="4580270" y="5559583"/>
              <a:ext cx="423778" cy="4617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buSzTx/>
              </a:pPr>
              <a:r>
                <a:rPr lang="en-US" altLang="zh-CN" sz="2400" i="0">
                  <a:latin typeface="Times New Roman" panose="02020603050405020304" charset="0"/>
                  <a:ea typeface="宋体" panose="02010600030101010101" pitchFamily="2" charset="-122"/>
                </a:rPr>
                <a:t>c</a:t>
              </a:r>
              <a:r>
                <a:rPr lang="en-US" altLang="zh-CN" sz="2400" i="0" baseline="-25000"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zh-CN" altLang="en-US" sz="2400" i="0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cxnSp>
          <p:nvCxnSpPr>
            <p:cNvPr id="64631" name="直接连接符 203"/>
            <p:cNvCxnSpPr/>
            <p:nvPr/>
          </p:nvCxnSpPr>
          <p:spPr>
            <a:xfrm rot="-5400000" flipH="1">
              <a:off x="1948037" y="4549451"/>
              <a:ext cx="639414" cy="1215372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32" name="直接连接符 207"/>
            <p:cNvCxnSpPr/>
            <p:nvPr/>
          </p:nvCxnSpPr>
          <p:spPr>
            <a:xfrm rot="5400000">
              <a:off x="2357676" y="4567430"/>
              <a:ext cx="607794" cy="1147794"/>
            </a:xfrm>
            <a:prstGeom prst="line">
              <a:avLst/>
            </a:prstGeom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4633" name="任意多边形 211"/>
            <p:cNvSpPr/>
            <p:nvPr/>
          </p:nvSpPr>
          <p:spPr>
            <a:xfrm>
              <a:off x="4194629" y="4746171"/>
              <a:ext cx="665238" cy="812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2857" y="203200"/>
                </a:cxn>
                <a:cxn ang="0">
                  <a:pos x="624114" y="508000"/>
                </a:cxn>
                <a:cxn ang="0">
                  <a:pos x="609600" y="812800"/>
                </a:cxn>
              </a:cxnLst>
              <a:pathLst>
                <a:path w="665238" h="812800">
                  <a:moveTo>
                    <a:pt x="0" y="0"/>
                  </a:moveTo>
                  <a:cubicBezTo>
                    <a:pt x="129419" y="59266"/>
                    <a:pt x="258838" y="118533"/>
                    <a:pt x="362857" y="203200"/>
                  </a:cubicBezTo>
                  <a:cubicBezTo>
                    <a:pt x="466876" y="287867"/>
                    <a:pt x="582990" y="406400"/>
                    <a:pt x="624114" y="508000"/>
                  </a:cubicBezTo>
                  <a:cubicBezTo>
                    <a:pt x="665238" y="609600"/>
                    <a:pt x="637419" y="711200"/>
                    <a:pt x="609600" y="812800"/>
                  </a:cubicBez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4"/>
          <p:cNvSpPr/>
          <p:nvPr/>
        </p:nvSpPr>
        <p:spPr>
          <a:xfrm>
            <a:off x="323850" y="1421130"/>
            <a:ext cx="8496300" cy="161544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342900" indent="-342900" eaLnBrk="0" fontAlgn="base" hangingPunct="0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800" i="0" strike="noStrike" noProof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+mn-cs"/>
              </a:rPr>
              <a:t>课后作业六</a:t>
            </a:r>
            <a:r>
              <a:rPr lang="zh-CN" altLang="en-US" sz="2800" i="0" strike="noStrike" noProof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+mn-cs"/>
              </a:rPr>
              <a:t>：</a:t>
            </a:r>
            <a:endParaRPr lang="zh-CN" altLang="en-US" sz="2800" i="0" strike="noStrike" noProof="1">
              <a:solidFill>
                <a:srgbClr val="FF0000"/>
              </a:solidFill>
              <a:latin typeface="Times New Roman" panose="02020603050405020304" charset="0"/>
              <a:ea typeface="黑体" panose="02010609060101010101" charset="-122"/>
            </a:endParaRPr>
          </a:p>
          <a:p>
            <a:pPr eaLnBrk="0" fontAlgn="base" hangingPunct="0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</a:pPr>
            <a:r>
              <a:rPr lang="zh-CN" altLang="en-US" sz="2800" i="0" strike="noStrike" noProof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  <a:cs typeface="+mn-cs"/>
              </a:rPr>
              <a:t>    </a:t>
            </a:r>
            <a:r>
              <a:rPr lang="zh-CN" altLang="en-US" sz="2800" i="0" strike="noStrike" noProof="1">
                <a:solidFill>
                  <a:schemeClr val="bg2"/>
                </a:solidFill>
                <a:latin typeface="Times New Roman" panose="02020603050405020304" charset="0"/>
                <a:ea typeface="黑体" panose="02010609060101010101" charset="-122"/>
                <a:cs typeface="+mn-cs"/>
              </a:rPr>
              <a:t>习题十二</a:t>
            </a:r>
            <a:r>
              <a:rPr lang="en-US" altLang="zh-CN" sz="2800" i="0" strike="noStrike" noProof="1">
                <a:solidFill>
                  <a:schemeClr val="bg2"/>
                </a:solidFill>
                <a:latin typeface="Times New Roman" panose="02020603050405020304" charset="0"/>
                <a:ea typeface="黑体" panose="02010609060101010101" charset="-122"/>
                <a:cs typeface="+mn-cs"/>
              </a:rPr>
              <a:t>,P189:</a:t>
            </a:r>
            <a:r>
              <a:rPr lang="zh-CN" altLang="en-US" sz="2800" i="0" strike="noStrike" noProof="1">
                <a:solidFill>
                  <a:schemeClr val="bg2"/>
                </a:solidFill>
                <a:latin typeface="Times New Roman" panose="02020603050405020304" charset="0"/>
                <a:ea typeface="黑体" panose="02010609060101010101" charset="-122"/>
                <a:cs typeface="+mn-cs"/>
              </a:rPr>
              <a:t> </a:t>
            </a:r>
            <a:r>
              <a:rPr lang="en-US" sz="2800" i="0" strike="noStrike" noProof="1">
                <a:solidFill>
                  <a:schemeClr val="bg2"/>
                </a:solidFill>
                <a:latin typeface="Times New Roman" panose="02020603050405020304" charset="0"/>
                <a:ea typeface="黑体" panose="02010609060101010101" charset="-122"/>
                <a:cs typeface="+mn-cs"/>
              </a:rPr>
              <a:t>1</a:t>
            </a:r>
            <a:r>
              <a:rPr lang="en-US" sz="2800" i="0" strike="noStrike" noProof="1">
                <a:latin typeface="Times New Roman" panose="02020603050405020304" charset="0"/>
                <a:ea typeface="黑体" panose="02010609060101010101" charset="-122"/>
                <a:cs typeface="+mn-cs"/>
              </a:rPr>
              <a:t>1,14</a:t>
            </a:r>
            <a:endParaRPr lang="zh-CN" altLang="en-US" sz="2800" i="0" strike="noStrike" noProof="1">
              <a:latin typeface="Times New Roman" panose="02020603050405020304" charset="0"/>
              <a:ea typeface="黑体" panose="02010609060101010101" charset="-122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KSO_WPP_MARK_KEY" val="2a0bc228-4f65-4aaf-90e9-36adbc9bca4e"/>
  <p:tag name="COMMONDATA" val="eyJoZGlkIjoiY2FjYjUwYzFhN2VkM2YwN2YyYmE3ZGUyNDQzZTVlNzEifQ=="/>
  <p:tag name="commondata" val="eyJoZGlkIjoiY2JiMjJjNjEwZGVmNWM5ZTE4YjkzYzY1NDY4YzMyMmMifQ=="/>
</p:tagLst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0"/>
      </a:accent5>
      <a:accent6>
        <a:srgbClr val="E5B900"/>
      </a:accent6>
      <a:hlink>
        <a:srgbClr val="FF0000"/>
      </a:hlink>
      <a:folHlink>
        <a:srgbClr val="3333CC"/>
      </a:folHlink>
    </a:clrScheme>
    <a:fontScheme name="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0"/>
      </a:accent5>
      <a:accent6>
        <a:srgbClr val="E5B900"/>
      </a:accent6>
      <a:hlink>
        <a:srgbClr val="FF0000"/>
      </a:hlink>
      <a:folHlink>
        <a:srgbClr val="3333CC"/>
      </a:folHlink>
    </a:clrScheme>
    <a:fontScheme name="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0"/>
      </a:accent5>
      <a:accent6>
        <a:srgbClr val="E5B900"/>
      </a:accent6>
      <a:hlink>
        <a:srgbClr val="FF0000"/>
      </a:hlink>
      <a:folHlink>
        <a:srgbClr val="3333CC"/>
      </a:folHlink>
    </a:clrScheme>
    <a:fontScheme name="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0"/>
      </a:accent5>
      <a:accent6>
        <a:srgbClr val="E5B900"/>
      </a:accent6>
      <a:hlink>
        <a:srgbClr val="FF0000"/>
      </a:hlink>
      <a:folHlink>
        <a:srgbClr val="3333CC"/>
      </a:folHlink>
    </a:clrScheme>
    <a:fontScheme name="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2959</Words>
  <Application>WPS 演示</Application>
  <PresentationFormat>全屏显示(4:3)</PresentationFormat>
  <Paragraphs>448</Paragraphs>
  <Slides>24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41" baseType="lpstr">
      <vt:lpstr>Arial</vt:lpstr>
      <vt:lpstr>宋体</vt:lpstr>
      <vt:lpstr>Wingdings</vt:lpstr>
      <vt:lpstr>Tahoma</vt:lpstr>
      <vt:lpstr>Times New Roman</vt:lpstr>
      <vt:lpstr>ＭＳ 明朝</vt:lpstr>
      <vt:lpstr>Yu Gothic</vt:lpstr>
      <vt:lpstr>微软雅黑</vt:lpstr>
      <vt:lpstr>Arial Unicode MS</vt:lpstr>
      <vt:lpstr>黑体</vt:lpstr>
      <vt:lpstr>Symbol</vt:lpstr>
      <vt:lpstr>Blends</vt:lpstr>
      <vt:lpstr>3_Blends</vt:lpstr>
      <vt:lpstr>2_Blends</vt:lpstr>
      <vt:lpstr>4_Blends</vt:lpstr>
      <vt:lpstr>Equation.3</vt:lpstr>
      <vt:lpstr>Equation.3</vt:lpstr>
      <vt:lpstr>12.3 地图的着色与平面图的点着色</vt:lpstr>
      <vt:lpstr>地图</vt:lpstr>
      <vt:lpstr>面着色与对偶图点着色</vt:lpstr>
      <vt:lpstr>PowerPoint 演示文稿</vt:lpstr>
      <vt:lpstr>平面图的点着色</vt:lpstr>
      <vt:lpstr>五色定理</vt:lpstr>
      <vt:lpstr>五色定理（续）</vt:lpstr>
      <vt:lpstr>五色定理（续）</vt:lpstr>
      <vt:lpstr>四色定理</vt:lpstr>
      <vt:lpstr>12.4 边着色</vt:lpstr>
      <vt:lpstr>边着色</vt:lpstr>
      <vt:lpstr>例12.5</vt:lpstr>
      <vt:lpstr>例12.5（续）</vt:lpstr>
      <vt:lpstr>例12.5（续）</vt:lpstr>
      <vt:lpstr>例12.6</vt:lpstr>
      <vt:lpstr>例12.6(续)</vt:lpstr>
      <vt:lpstr>例12.7 排课问题</vt:lpstr>
      <vt:lpstr>12.7的解答</vt:lpstr>
      <vt:lpstr>例12.7的解答</vt:lpstr>
      <vt:lpstr>例12.7(解,续)</vt:lpstr>
      <vt:lpstr>排课问题总结</vt:lpstr>
      <vt:lpstr>边着色</vt:lpstr>
      <vt:lpstr>例</vt:lpstr>
      <vt:lpstr>PowerPoint 演示文稿</vt:lpstr>
    </vt:vector>
  </TitlesOfParts>
  <Company>ouc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sheng</dc:creator>
  <cp:lastModifiedBy>WPS_1709687041</cp:lastModifiedBy>
  <cp:revision>941</cp:revision>
  <dcterms:created xsi:type="dcterms:W3CDTF">2008-01-04T07:39:00Z</dcterms:created>
  <dcterms:modified xsi:type="dcterms:W3CDTF">2025-12-22T22:32:43Z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7F6482E7ADE6434D9F76C85AA38FFD30</vt:lpwstr>
  </property>
</Properties>
</file>