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3"/>
  </p:handoutMasterIdLst>
  <p:sldIdLst>
    <p:sldId id="258" r:id="rId3"/>
    <p:sldId id="259" r:id="rId5"/>
    <p:sldId id="261" r:id="rId6"/>
    <p:sldId id="260" r:id="rId7"/>
    <p:sldId id="262" r:id="rId8"/>
    <p:sldId id="263" r:id="rId9"/>
    <p:sldId id="264" r:id="rId10"/>
    <p:sldId id="267" r:id="rId11"/>
    <p:sldId id="297" r:id="rId12"/>
    <p:sldId id="298" r:id="rId13"/>
    <p:sldId id="299" r:id="rId14"/>
    <p:sldId id="268" r:id="rId15"/>
    <p:sldId id="269" r:id="rId16"/>
    <p:sldId id="270" r:id="rId17"/>
    <p:sldId id="272" r:id="rId18"/>
    <p:sldId id="273" r:id="rId19"/>
    <p:sldId id="274" r:id="rId20"/>
    <p:sldId id="275" r:id="rId21"/>
    <p:sldId id="327" r:id="rId22"/>
    <p:sldId id="276" r:id="rId23"/>
    <p:sldId id="277" r:id="rId24"/>
    <p:sldId id="278" r:id="rId25"/>
    <p:sldId id="281" r:id="rId26"/>
    <p:sldId id="282" r:id="rId27"/>
    <p:sldId id="283" r:id="rId28"/>
    <p:sldId id="284" r:id="rId29"/>
    <p:sldId id="279" r:id="rId30"/>
    <p:sldId id="280" r:id="rId31"/>
    <p:sldId id="285" r:id="rId32"/>
    <p:sldId id="286" r:id="rId33"/>
    <p:sldId id="288" r:id="rId34"/>
    <p:sldId id="289" r:id="rId35"/>
    <p:sldId id="295" r:id="rId36"/>
    <p:sldId id="290" r:id="rId37"/>
    <p:sldId id="291" r:id="rId38"/>
    <p:sldId id="296" r:id="rId39"/>
    <p:sldId id="293" r:id="rId40"/>
    <p:sldId id="294" r:id="rId41"/>
    <p:sldId id="292" r:id="rId42"/>
  </p:sldIdLst>
  <p:sldSz cx="9144000" cy="6858000" type="screen4x3"/>
  <p:notesSz cx="6858000" cy="9144000"/>
  <p:custDataLst>
    <p:tags r:id="rId47"/>
  </p:custDataLst>
  <p:defaultTextStyle>
    <a:defPPr>
      <a:defRPr lang="zh-CN"/>
    </a:defPPr>
    <a:lvl1pPr marL="0" lvl="0"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00FF"/>
    <a:srgbClr val="0066FF"/>
    <a:srgbClr val="808080"/>
    <a:srgbClr val="5F5F5F"/>
    <a:srgbClr val="996633"/>
    <a:srgbClr val="C7F9F1"/>
    <a:srgbClr val="2194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61"/>
    <p:restoredTop sz="94708"/>
  </p:normalViewPr>
  <p:slideViewPr>
    <p:cSldViewPr showGuides="1">
      <p:cViewPr>
        <p:scale>
          <a:sx n="95" d="100"/>
          <a:sy n="95" d="100"/>
        </p:scale>
        <p:origin x="664" y="-72"/>
      </p:cViewPr>
      <p:guideLst>
        <p:guide orient="horz" pos="2145"/>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093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tags" Target="tags/tag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kumimoji="1"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kumimoji="1"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F4F8480A-DB83-7B43-8748-D4CED47B7F81}" type="datetimeFigureOut">
              <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hangingPunct="1">
              <a:defRPr kumimoji="1"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幻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eaLnBrk="1" hangingPunct="1">
              <a:defRPr kumimoji="1"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D32B53C8-3C2A-194F-9D38-FC50463642BD}" type="slidenum">
              <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ea typeface="宋体" panose="02010600030101010101" pitchFamily="2" charset="-122"/>
                <a:cs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2662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ea typeface="宋体" panose="02010600030101010101" pitchFamily="2" charset="-122"/>
                <a:cs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3076"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p:cNvSpPr>
          <p:nvPr>
            <p:ph type="body" sz="quarter"/>
          </p:nvPr>
        </p:nvSpPr>
        <p:spPr>
          <a:xfrm>
            <a:off x="685800" y="4343400"/>
            <a:ext cx="5486400" cy="4114800"/>
          </a:xfrm>
          <a:prstGeom prst="rect">
            <a:avLst/>
          </a:prstGeom>
          <a:noFill/>
          <a:ln w="9525">
            <a:noFill/>
          </a:ln>
        </p:spPr>
        <p:txBody>
          <a:bodyPr vert="horz" wrap="square" lIns="91440" tIns="45720" rIns="91440" bIns="45720" anchor="t" anchorCtr="0"/>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2663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ea typeface="宋体" panose="02010600030101010101" pitchFamily="2" charset="-122"/>
                <a:cs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2663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smtClean="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FA34889-3EA7-C944-AD92-B7B4EED57E61}"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
        <p:nvSpPr>
          <p:cNvPr id="5122" name="Rectangle 2"/>
          <p:cNvSpPr>
            <a:spLocks noRot="1" noTextEdit="1"/>
          </p:cNvSpPr>
          <p:nvPr>
            <p:ph type="sldImg"/>
          </p:nvPr>
        </p:nvSpPr>
        <p:spPr/>
      </p:sp>
      <p:sp>
        <p:nvSpPr>
          <p:cNvPr id="5123" name="Rectangle 3"/>
          <p:cNvSpPr>
            <a:spLocks noGrp="1"/>
          </p:cNvSpPr>
          <p:nvPr>
            <p:ph type="body"/>
          </p:nvPr>
        </p:nvSpPr>
        <p:spPr/>
        <p:txBody>
          <a:bodyPr wrap="square" lIns="91440" tIns="45720" rIns="91440" bIns="45720" anchor="t" anchorCtr="0"/>
          <a:p>
            <a:pPr lvl="0" eaLnBrk="1" hangingPunct="1"/>
            <a:endParaRPr lang="en-US" altLang="x-non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Slide Image Placeholder 1"/>
          <p:cNvSpPr>
            <a:spLocks noGrp="1" noRot="1" noChangeAspect="1" noTextEdit="1"/>
          </p:cNvSpPr>
          <p:nvPr>
            <p:ph type="sldImg"/>
          </p:nvPr>
        </p:nvSpPr>
        <p:spPr/>
      </p:sp>
      <p:sp>
        <p:nvSpPr>
          <p:cNvPr id="7170" name="Notes Placeholder 2"/>
          <p:cNvSpPr>
            <a:spLocks noGrp="1"/>
          </p:cNvSpPr>
          <p:nvPr>
            <p:ph type="body"/>
          </p:nvPr>
        </p:nvSpPr>
        <p:spPr/>
        <p:txBody>
          <a:bodyPr wrap="square" lIns="91440" tIns="45720" rIns="91440" bIns="45720" anchor="t" anchorCtr="0"/>
          <a:p>
            <a:pPr lvl="0"/>
            <a:r>
              <a:rPr lang="zh-CN" altLang="en-US"/>
              <a:t>有向树与根树的区别：根树是有向树，但有向树不一定是根树（举出反例）</a:t>
            </a:r>
            <a:endParaRPr lang="en-US" altLang="zh-CN"/>
          </a:p>
        </p:txBody>
      </p:sp>
      <p:sp>
        <p:nvSpPr>
          <p:cNvPr id="7171" name="Slide Number Placeholder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Rot="1" noTextEdit="1"/>
          </p:cNvSpPr>
          <p:nvPr>
            <p:ph type="sldImg"/>
          </p:nvPr>
        </p:nvSpPr>
        <p:spPr/>
      </p:sp>
      <p:sp>
        <p:nvSpPr>
          <p:cNvPr id="10242" name="Rectangle 3"/>
          <p:cNvSpPr>
            <a:spLocks noGrp="1"/>
          </p:cNvSpPr>
          <p:nvPr>
            <p:ph type="body"/>
          </p:nvPr>
        </p:nvSpPr>
        <p:spPr/>
        <p:txBody>
          <a:bodyPr wrap="square" lIns="91440" tIns="45720" rIns="91440" bIns="45720" anchor="t" anchorCtr="0"/>
          <a:p>
            <a:pPr lvl="0"/>
            <a:r>
              <a:rPr lang="zh-CN" altLang="en-US">
                <a:solidFill>
                  <a:schemeClr val="folHlink"/>
                </a:solidFill>
                <a:latin typeface="Times New Roman" panose="02020603050405020304" pitchFamily="18" charset="0"/>
                <a:ea typeface="黑体" panose="02010609060101010101" pitchFamily="49" charset="-122"/>
              </a:rPr>
              <a:t>左边的图：</a:t>
            </a:r>
            <a:endParaRPr lang="en-US" altLang="zh-CN">
              <a:solidFill>
                <a:schemeClr val="folHlink"/>
              </a:solidFill>
              <a:latin typeface="Times New Roman" panose="02020603050405020304" pitchFamily="18" charset="0"/>
              <a:ea typeface="黑体" panose="02010609060101010101" pitchFamily="49" charset="-122"/>
            </a:endParaRPr>
          </a:p>
          <a:p>
            <a:pPr lvl="0"/>
            <a:r>
              <a:rPr lang="zh-CN" altLang="en-US">
                <a:solidFill>
                  <a:schemeClr val="folHlink"/>
                </a:solidFill>
                <a:latin typeface="Times New Roman" panose="02020603050405020304" pitchFamily="18" charset="0"/>
                <a:ea typeface="黑体" panose="02010609060101010101" pitchFamily="49" charset="-122"/>
              </a:rPr>
              <a:t>有向树，不是根树</a:t>
            </a:r>
            <a:r>
              <a:rPr lang="en-US" altLang="zh-CN">
                <a:solidFill>
                  <a:schemeClr val="folHlink"/>
                </a:solidFill>
                <a:latin typeface="Times New Roman" panose="02020603050405020304" pitchFamily="18" charset="0"/>
                <a:ea typeface="黑体" panose="02010609060101010101" pitchFamily="49" charset="-122"/>
              </a:rPr>
              <a:t>,</a:t>
            </a:r>
            <a:r>
              <a:rPr lang="zh-CN" altLang="en-US">
                <a:solidFill>
                  <a:schemeClr val="folHlink"/>
                </a:solidFill>
                <a:latin typeface="Times New Roman" panose="02020603050405020304" pitchFamily="18" charset="0"/>
                <a:ea typeface="黑体" panose="02010609060101010101" pitchFamily="49" charset="-122"/>
              </a:rPr>
              <a:t>因为入度为</a:t>
            </a:r>
            <a:r>
              <a:rPr lang="en-US" altLang="zh-CN">
                <a:solidFill>
                  <a:schemeClr val="folHlink"/>
                </a:solidFill>
                <a:latin typeface="Times New Roman" panose="02020603050405020304" pitchFamily="18" charset="0"/>
                <a:ea typeface="黑体" panose="02010609060101010101" pitchFamily="49" charset="-122"/>
              </a:rPr>
              <a:t>0</a:t>
            </a:r>
            <a:r>
              <a:rPr lang="zh-CN" altLang="en-US">
                <a:solidFill>
                  <a:schemeClr val="folHlink"/>
                </a:solidFill>
                <a:latin typeface="Times New Roman" panose="02020603050405020304" pitchFamily="18" charset="0"/>
                <a:ea typeface="黑体" panose="02010609060101010101" pitchFamily="49" charset="-122"/>
              </a:rPr>
              <a:t>的结点有两个</a:t>
            </a:r>
            <a:endParaRPr lang="zh-CN" altLang="en-US">
              <a:solidFill>
                <a:schemeClr val="folHlink"/>
              </a:solidFill>
              <a:latin typeface="Times New Roman" panose="02020603050405020304" pitchFamily="18" charset="0"/>
              <a:ea typeface="黑体" panose="02010609060101010101" pitchFamily="49" charset="-122"/>
            </a:endParaRPr>
          </a:p>
          <a:p>
            <a:pPr lvl="0"/>
            <a:endParaRPr lang="en-US" altLang="zh-CN"/>
          </a:p>
          <a:p>
            <a:pPr lvl="0"/>
            <a:r>
              <a:rPr lang="zh-CN" altLang="en-US"/>
              <a:t>右边的图：</a:t>
            </a:r>
            <a:endParaRPr lang="en-US" altLang="zh-CN"/>
          </a:p>
          <a:p>
            <a:pPr lvl="0"/>
            <a:r>
              <a:rPr lang="zh-CN" altLang="en-US">
                <a:solidFill>
                  <a:schemeClr val="folHlink"/>
                </a:solidFill>
                <a:latin typeface="Times New Roman" panose="02020603050405020304" pitchFamily="18" charset="0"/>
                <a:ea typeface="黑体" panose="02010609060101010101" pitchFamily="49" charset="-122"/>
              </a:rPr>
              <a:t>根树，</a:t>
            </a:r>
            <a:endParaRPr lang="en-US" altLang="zh-CN">
              <a:solidFill>
                <a:schemeClr val="folHlink"/>
              </a:solidFill>
              <a:latin typeface="Times New Roman" panose="02020603050405020304" pitchFamily="18" charset="0"/>
              <a:ea typeface="黑体" panose="02010609060101010101" pitchFamily="49" charset="-122"/>
            </a:endParaRPr>
          </a:p>
          <a:p>
            <a:pPr lvl="0"/>
            <a:r>
              <a:rPr lang="zh-CN" altLang="en-US">
                <a:solidFill>
                  <a:schemeClr val="folHlink"/>
                </a:solidFill>
                <a:latin typeface="Times New Roman" panose="02020603050405020304" pitchFamily="18" charset="0"/>
                <a:ea typeface="黑体" panose="02010609060101010101" pitchFamily="49" charset="-122"/>
              </a:rPr>
              <a:t>根：</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1</a:t>
            </a:r>
            <a:endParaRPr lang="en-US" altLang="zh-CN">
              <a:solidFill>
                <a:schemeClr val="folHlink"/>
              </a:solidFill>
              <a:latin typeface="Times New Roman" panose="02020603050405020304" pitchFamily="18" charset="0"/>
              <a:ea typeface="黑体" panose="02010609060101010101" pitchFamily="49" charset="-122"/>
            </a:endParaRPr>
          </a:p>
          <a:p>
            <a:pPr lvl="0"/>
            <a:r>
              <a:rPr lang="zh-CN" altLang="en-US">
                <a:solidFill>
                  <a:schemeClr val="folHlink"/>
                </a:solidFill>
                <a:latin typeface="Times New Roman" panose="02020603050405020304" pitchFamily="18" charset="0"/>
                <a:ea typeface="黑体" panose="02010609060101010101" pitchFamily="49" charset="-122"/>
              </a:rPr>
              <a:t>分支结点： </a:t>
            </a:r>
            <a:r>
              <a:rPr lang="en-US" altLang="zh-CN" i="1">
                <a:solidFill>
                  <a:schemeClr val="folHlink"/>
                </a:solidFill>
                <a:latin typeface="Times New Roman" panose="02020603050405020304" pitchFamily="18" charset="0"/>
              </a:rPr>
              <a:t>v</a:t>
            </a:r>
            <a:r>
              <a:rPr lang="en-US" altLang="zh-CN" baseline="-25000">
                <a:solidFill>
                  <a:schemeClr val="folHlink"/>
                </a:solidFill>
                <a:latin typeface="Times New Roman" panose="02020603050405020304" pitchFamily="18" charset="0"/>
              </a:rPr>
              <a:t>1</a:t>
            </a:r>
            <a:r>
              <a:rPr lang="en-US" altLang="zh-CN">
                <a:solidFill>
                  <a:schemeClr val="folHlink"/>
                </a:solidFill>
                <a:latin typeface="Times New Roman" panose="02020603050405020304" pitchFamily="18" charset="0"/>
              </a:rPr>
              <a:t>,</a:t>
            </a:r>
            <a:r>
              <a:rPr lang="en-US" altLang="zh-CN"/>
              <a:t> </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2</a:t>
            </a:r>
            <a:r>
              <a:rPr lang="en-US" altLang="zh-CN">
                <a:solidFill>
                  <a:schemeClr val="folHlink"/>
                </a:solidFill>
                <a:latin typeface="Times New Roman" panose="02020603050405020304" pitchFamily="18" charset="0"/>
                <a:ea typeface="黑体" panose="02010609060101010101" pitchFamily="49" charset="-122"/>
              </a:rPr>
              <a:t>,</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4</a:t>
            </a:r>
            <a:r>
              <a:rPr lang="en-US" altLang="zh-CN">
                <a:solidFill>
                  <a:schemeClr val="folHlink"/>
                </a:solidFill>
                <a:latin typeface="Times New Roman" panose="02020603050405020304" pitchFamily="18" charset="0"/>
                <a:ea typeface="黑体" panose="02010609060101010101" pitchFamily="49" charset="-122"/>
              </a:rPr>
              <a:t>,</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8</a:t>
            </a:r>
            <a:r>
              <a:rPr lang="en-US" altLang="zh-CN">
                <a:solidFill>
                  <a:schemeClr val="folHlink"/>
                </a:solidFill>
                <a:latin typeface="Times New Roman" panose="02020603050405020304" pitchFamily="18" charset="0"/>
                <a:ea typeface="黑体" panose="02010609060101010101" pitchFamily="49" charset="-122"/>
              </a:rPr>
              <a:t>,</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9</a:t>
            </a:r>
            <a:endParaRPr lang="en-US" altLang="zh-CN" baseline="-25000">
              <a:solidFill>
                <a:schemeClr val="folHlink"/>
              </a:solidFill>
              <a:latin typeface="Times New Roman" panose="02020603050405020304" pitchFamily="18" charset="0"/>
              <a:ea typeface="黑体" panose="02010609060101010101" pitchFamily="49" charset="-122"/>
            </a:endParaRPr>
          </a:p>
          <a:p>
            <a:pPr lvl="0"/>
            <a:r>
              <a:rPr lang="zh-CN" altLang="en-US">
                <a:solidFill>
                  <a:schemeClr val="folHlink"/>
                </a:solidFill>
                <a:latin typeface="Times New Roman" panose="02020603050405020304" pitchFamily="18" charset="0"/>
                <a:ea typeface="黑体" panose="02010609060101010101" pitchFamily="49" charset="-122"/>
              </a:rPr>
              <a:t>叶：</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5</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6</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7</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10</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11</a:t>
            </a:r>
            <a:r>
              <a:rPr lang="en-US" altLang="zh-CN" i="1">
                <a:solidFill>
                  <a:schemeClr val="folHlink"/>
                </a:solidFill>
                <a:latin typeface="Times New Roman" panose="02020603050405020304" pitchFamily="18" charset="0"/>
                <a:ea typeface="黑体" panose="02010609060101010101" pitchFamily="49" charset="-122"/>
              </a:rPr>
              <a:t>,v</a:t>
            </a:r>
            <a:r>
              <a:rPr lang="en-US" altLang="zh-CN" baseline="-25000">
                <a:solidFill>
                  <a:schemeClr val="folHlink"/>
                </a:solidFill>
                <a:latin typeface="Times New Roman" panose="02020603050405020304" pitchFamily="18" charset="0"/>
                <a:ea typeface="黑体" panose="02010609060101010101" pitchFamily="49" charset="-122"/>
              </a:rPr>
              <a:t>12</a:t>
            </a:r>
            <a:endParaRPr lang="en-US" altLang="zh-CN" baseline="-25000">
              <a:solidFill>
                <a:schemeClr val="folHlink"/>
              </a:solidFill>
              <a:latin typeface="Times New Roman" panose="02020603050405020304" pitchFamily="18" charset="0"/>
              <a:ea typeface="黑体" panose="02010609060101010101" pitchFamily="49" charset="-122"/>
            </a:endParaRPr>
          </a:p>
          <a:p>
            <a:pPr lvl="0"/>
            <a:r>
              <a:rPr lang="zh-CN" altLang="en-US">
                <a:solidFill>
                  <a:schemeClr val="folHlink"/>
                </a:solidFill>
                <a:latin typeface="Times New Roman" panose="02020603050405020304" pitchFamily="18" charset="0"/>
                <a:ea typeface="黑体" panose="02010609060101010101" pitchFamily="49" charset="-122"/>
              </a:rPr>
              <a:t>树高：</a:t>
            </a:r>
            <a:r>
              <a:rPr lang="en-US" altLang="zh-CN">
                <a:solidFill>
                  <a:schemeClr val="folHlink"/>
                </a:solidFill>
                <a:latin typeface="Times New Roman" panose="02020603050405020304" pitchFamily="18" charset="0"/>
                <a:ea typeface="黑体" panose="02010609060101010101" pitchFamily="49" charset="-122"/>
              </a:rPr>
              <a:t>3</a:t>
            </a:r>
            <a:endParaRPr lang="en-US" altLang="zh-CN">
              <a:solidFill>
                <a:schemeClr val="folHlink"/>
              </a:solidFill>
              <a:latin typeface="Times New Roman" panose="02020603050405020304" pitchFamily="18" charset="0"/>
              <a:ea typeface="黑体" panose="02010609060101010101" pitchFamily="49" charset="-122"/>
            </a:endParaRPr>
          </a:p>
          <a:p>
            <a:pPr lvl="0"/>
            <a:endParaRPr lang="en-US" altLang="zh-CN"/>
          </a:p>
          <a:p>
            <a:pPr lvl="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幻灯片图像占位符 1"/>
          <p:cNvSpPr>
            <a:spLocks noGrp="1" noRot="1" noChangeAspect="1" noTextEdit="1"/>
          </p:cNvSpPr>
          <p:nvPr>
            <p:ph type="sldImg"/>
          </p:nvPr>
        </p:nvSpPr>
        <p:spPr/>
      </p:sp>
      <p:sp>
        <p:nvSpPr>
          <p:cNvPr id="18434" name="备注占位符 2"/>
          <p:cNvSpPr>
            <a:spLocks noGrp="1"/>
          </p:cNvSpPr>
          <p:nvPr>
            <p:ph type="body"/>
          </p:nvPr>
        </p:nvSpPr>
        <p:spPr/>
        <p:txBody>
          <a:bodyPr wrap="square" lIns="91440" tIns="45720" rIns="91440" bIns="45720" anchor="t" anchorCtr="0"/>
          <a:p>
            <a:pPr lvl="0"/>
            <a:r>
              <a:rPr lang="zh-CN" altLang="en-US"/>
              <a:t>并行只需要</a:t>
            </a:r>
            <a:r>
              <a:rPr lang="en-US" altLang="zh-CN"/>
              <a:t>3</a:t>
            </a:r>
            <a:r>
              <a:rPr lang="zh-CN" altLang="en-US"/>
              <a:t>步，而串行需要</a:t>
            </a:r>
            <a:r>
              <a:rPr lang="en-US" altLang="zh-CN"/>
              <a:t>7</a:t>
            </a:r>
            <a:r>
              <a:rPr lang="zh-CN" altLang="en-US"/>
              <a:t>步</a:t>
            </a:r>
            <a:endParaRPr lang="zh-CN" altLang="en-US"/>
          </a:p>
        </p:txBody>
      </p:sp>
      <p:sp>
        <p:nvSpPr>
          <p:cNvPr id="18435" name="幻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Rot="1" noTextEdit="1"/>
          </p:cNvSpPr>
          <p:nvPr>
            <p:ph type="sldImg"/>
          </p:nvPr>
        </p:nvSpPr>
        <p:spPr/>
      </p:sp>
      <p:sp>
        <p:nvSpPr>
          <p:cNvPr id="20482" name="Rectangle 3"/>
          <p:cNvSpPr>
            <a:spLocks noGrp="1"/>
          </p:cNvSpPr>
          <p:nvPr>
            <p:ph type="body"/>
          </p:nvPr>
        </p:nvSpPr>
        <p:spPr/>
        <p:txBody>
          <a:bodyPr wrap="square" lIns="91440" tIns="45720" rIns="91440" bIns="45720" anchor="t" anchorCtr="0"/>
          <a:p>
            <a:pPr lvl="0"/>
            <a:r>
              <a:rPr lang="zh-CN" altLang="en-US"/>
              <a:t>该题：已知</a:t>
            </a:r>
            <a:r>
              <a:rPr lang="en-US" altLang="zh-CN"/>
              <a:t>r=4,t=28,</a:t>
            </a:r>
            <a:r>
              <a:rPr lang="zh-CN" altLang="en-US"/>
              <a:t>根据定理</a:t>
            </a:r>
            <a:r>
              <a:rPr lang="en-US" altLang="zh-CN"/>
              <a:t>14.13</a:t>
            </a:r>
            <a:r>
              <a:rPr lang="zh-CN" altLang="en-US"/>
              <a:t>求</a:t>
            </a:r>
            <a:r>
              <a:rPr lang="en-US" altLang="zh-CN"/>
              <a:t>i</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Rot="1" noTextEdit="1"/>
          </p:cNvSpPr>
          <p:nvPr>
            <p:ph type="sldImg"/>
          </p:nvPr>
        </p:nvSpPr>
        <p:spPr/>
      </p:sp>
      <p:sp>
        <p:nvSpPr>
          <p:cNvPr id="22530" name="Rectangle 3"/>
          <p:cNvSpPr>
            <a:spLocks noGrp="1"/>
          </p:cNvSpPr>
          <p:nvPr>
            <p:ph type="body"/>
          </p:nvPr>
        </p:nvSpPr>
        <p:spPr/>
        <p:txBody>
          <a:bodyPr wrap="square" lIns="91440" tIns="45720" rIns="91440" bIns="45720" anchor="t" anchorCtr="0"/>
          <a:p>
            <a:pPr lvl="0"/>
            <a:r>
              <a:rPr lang="en-US" altLang="zh-CN"/>
              <a:t>r=3,t=9,</a:t>
            </a:r>
            <a:r>
              <a:rPr lang="zh-CN" altLang="en-US"/>
              <a:t>求</a:t>
            </a:r>
            <a:r>
              <a:rPr lang="en-US" altLang="zh-CN"/>
              <a:t> i</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Rot="1" noTextEdit="1"/>
          </p:cNvSpPr>
          <p:nvPr>
            <p:ph type="sldImg"/>
          </p:nvPr>
        </p:nvSpPr>
        <p:spPr/>
      </p:sp>
      <p:sp>
        <p:nvSpPr>
          <p:cNvPr id="24578"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Slide Image Placeholder 1"/>
          <p:cNvSpPr>
            <a:spLocks noGrp="1" noRot="1" noChangeAspect="1" noTextEdit="1"/>
          </p:cNvSpPr>
          <p:nvPr>
            <p:ph type="sldImg"/>
          </p:nvPr>
        </p:nvSpPr>
        <p:spPr/>
      </p:sp>
      <p:sp>
        <p:nvSpPr>
          <p:cNvPr id="33794" name="Notes Placeholder 2"/>
          <p:cNvSpPr>
            <a:spLocks noGrp="1"/>
          </p:cNvSpPr>
          <p:nvPr>
            <p:ph type="body"/>
          </p:nvPr>
        </p:nvSpPr>
        <p:spPr/>
        <p:txBody>
          <a:bodyPr wrap="square" lIns="91440" tIns="45720" rIns="91440" bIns="45720" anchor="t" anchorCtr="0"/>
          <a:p>
            <a:pPr lvl="0"/>
            <a:r>
              <a:rPr lang="zh-CN" altLang="en-US"/>
              <a:t>给定编码，让学生判定是否是前缀码</a:t>
            </a:r>
            <a:endParaRPr lang="en-US" altLang="zh-CN"/>
          </a:p>
        </p:txBody>
      </p:sp>
      <p:sp>
        <p:nvSpPr>
          <p:cNvPr id="33795" name="Slide Number Placeholder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a:latin typeface="Arial" panose="020B0604020202020204" pitchFamily="34" charset="0"/>
              </a:rPr>
            </a:fld>
            <a:endParaRPr lang="en-US" altLang="zh-CN" sz="1200" b="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Rot="1" noTextEdit="1"/>
          </p:cNvSpPr>
          <p:nvPr>
            <p:ph type="sldImg"/>
          </p:nvPr>
        </p:nvSpPr>
        <p:spPr/>
      </p:sp>
      <p:sp>
        <p:nvSpPr>
          <p:cNvPr id="35842"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Rot="1" noTextEdit="1"/>
          </p:cNvSpPr>
          <p:nvPr>
            <p:ph type="sldImg"/>
          </p:nvPr>
        </p:nvSpPr>
        <p:spPr/>
      </p:sp>
      <p:sp>
        <p:nvSpPr>
          <p:cNvPr id="37890"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Rot="1" noTextEdit="1"/>
          </p:cNvSpPr>
          <p:nvPr>
            <p:ph type="sldImg"/>
          </p:nvPr>
        </p:nvSpPr>
        <p:spPr/>
      </p:sp>
      <p:sp>
        <p:nvSpPr>
          <p:cNvPr id="39938"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Rot="1" noTextEdit="1"/>
          </p:cNvSpPr>
          <p:nvPr>
            <p:ph type="sldImg"/>
          </p:nvPr>
        </p:nvSpPr>
        <p:spPr/>
      </p:sp>
      <p:sp>
        <p:nvSpPr>
          <p:cNvPr id="41986"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Rot="1" noTextEdit="1"/>
          </p:cNvSpPr>
          <p:nvPr>
            <p:ph type="sldImg"/>
          </p:nvPr>
        </p:nvSpPr>
        <p:spPr/>
      </p:sp>
      <p:sp>
        <p:nvSpPr>
          <p:cNvPr id="48130"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Rot="1" noTextEdit="1"/>
          </p:cNvSpPr>
          <p:nvPr>
            <p:ph type="sldImg"/>
          </p:nvPr>
        </p:nvSpPr>
        <p:spPr/>
      </p:sp>
      <p:sp>
        <p:nvSpPr>
          <p:cNvPr id="50178"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Rot="1" noTextEdit="1"/>
          </p:cNvSpPr>
          <p:nvPr>
            <p:ph type="sldImg"/>
          </p:nvPr>
        </p:nvSpPr>
        <p:spPr/>
      </p:sp>
      <p:sp>
        <p:nvSpPr>
          <p:cNvPr id="52226"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Rot="1" noTextEdit="1"/>
          </p:cNvSpPr>
          <p:nvPr>
            <p:ph type="sldImg"/>
          </p:nvPr>
        </p:nvSpPr>
        <p:spPr/>
      </p:sp>
      <p:sp>
        <p:nvSpPr>
          <p:cNvPr id="54274"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Rot="1" noTextEdit="1"/>
          </p:cNvSpPr>
          <p:nvPr>
            <p:ph type="sldImg"/>
          </p:nvPr>
        </p:nvSpPr>
        <p:spPr/>
      </p:sp>
      <p:sp>
        <p:nvSpPr>
          <p:cNvPr id="56322"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Rot="1" noTextEdit="1"/>
          </p:cNvSpPr>
          <p:nvPr>
            <p:ph type="sldImg"/>
          </p:nvPr>
        </p:nvSpPr>
        <p:spPr/>
      </p:sp>
      <p:sp>
        <p:nvSpPr>
          <p:cNvPr id="59394"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Rot="1" noTextEdit="1"/>
          </p:cNvSpPr>
          <p:nvPr>
            <p:ph type="sldImg"/>
          </p:nvPr>
        </p:nvSpPr>
        <p:spPr/>
      </p:sp>
      <p:sp>
        <p:nvSpPr>
          <p:cNvPr id="61442" name="Rectangle 3"/>
          <p:cNvSpPr>
            <a:spLocks noGrp="1"/>
          </p:cNvSpPr>
          <p:nvPr>
            <p:ph type="body"/>
          </p:nvPr>
        </p:nvSpPr>
        <p:spPr/>
        <p:txBody>
          <a:bodyPr wrap="square" lIns="91440" tIns="45720" rIns="91440" bIns="45720" anchor="t" anchorCtr="0"/>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23850" y="1412875"/>
            <a:ext cx="417195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412875"/>
            <a:ext cx="417195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8" name="页脚占位符 7"/>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4" name="页脚占位符 3"/>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3" name="页脚占位符 2"/>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黑体" panose="02010609060101010101" pitchFamily="49"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69850"/>
            <a:ext cx="2154237" cy="6599238"/>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23850" y="69850"/>
            <a:ext cx="6313488" cy="6599238"/>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5" name="页脚占位符 4"/>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9850"/>
            <a:ext cx="7793037" cy="9826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32385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412875"/>
            <a:ext cx="4171950" cy="25511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116388"/>
            <a:ext cx="4171950" cy="25527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7" name="页脚占位符 6"/>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9850"/>
            <a:ext cx="7793037" cy="9826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32385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412875"/>
            <a:ext cx="4171950" cy="5256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6" name="页脚占位符 5"/>
          <p:cNvSpPr>
            <a:spLocks noGrp="1"/>
          </p:cNvSpPr>
          <p:nvPr>
            <p:ph type="ftr" sz="quarter" idx="11"/>
          </p:nvPr>
        </p:nvSpPr>
        <p:spPr/>
        <p:txBody>
          <a:bodyPr/>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441325"/>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441325"/>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86360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86360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790575"/>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333375"/>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1239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x-none" sz="24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p:cNvSpPr>
          <p:nvPr>
            <p:ph type="title"/>
          </p:nvPr>
        </p:nvSpPr>
        <p:spPr>
          <a:xfrm>
            <a:off x="1150938" y="69850"/>
            <a:ext cx="7793037" cy="982663"/>
          </a:xfrm>
          <a:prstGeom prst="rect">
            <a:avLst/>
          </a:prstGeom>
          <a:noFill/>
          <a:ln w="9525">
            <a:noFill/>
          </a:ln>
          <a:effectLst>
            <a:outerShdw dist="12700" algn="ctr" rotWithShape="0">
              <a:schemeClr val="bg2"/>
            </a:outerShdw>
          </a:effectLst>
        </p:spPr>
        <p:txBody>
          <a:bodyPr anchor="b" anchorCtr="0"/>
          <a:p>
            <a:pPr lvl="0"/>
            <a:r>
              <a:rPr lang="zh-CN" altLang="en-US"/>
              <a:t>单击此处编辑母版标题样式</a:t>
            </a:r>
            <a:endParaRPr lang="zh-CN" altLang="en-US"/>
          </a:p>
        </p:txBody>
      </p:sp>
      <p:sp>
        <p:nvSpPr>
          <p:cNvPr id="1034" name="Rectangle 10"/>
          <p:cNvSpPr>
            <a:spLocks noGrp="1"/>
          </p:cNvSpPr>
          <p:nvPr>
            <p:ph type="body"/>
          </p:nvPr>
        </p:nvSpPr>
        <p:spPr>
          <a:xfrm>
            <a:off x="323850" y="1412875"/>
            <a:ext cx="8496300" cy="525621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5131"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0">
                <a:ea typeface="宋体" panose="02010600030101010101" pitchFamily="2" charset="-122"/>
                <a:cs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宋体" panose="02010600030101010101" pitchFamily="2" charset="-122"/>
            </a:endParaRPr>
          </a:p>
        </p:txBody>
      </p:sp>
      <p:sp>
        <p:nvSpPr>
          <p:cNvPr id="5132"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400" b="0">
                <a:ea typeface="宋体" panose="02010600030101010101" pitchFamily="2" charset="-122"/>
              </a:defRPr>
            </a:lvl1pPr>
          </a:lstStyle>
          <a:p>
            <a:pPr lvl="0" eaLnBrk="1" fontAlgn="base" hangingPunct="1"/>
            <a:r>
              <a:rPr lang="zh-CN" altLang="en-US" strike="noStrike" noProof="1">
                <a:latin typeface="Tahoma" panose="020B0604030504040204" pitchFamily="34" charset="0"/>
                <a:ea typeface="宋体" panose="02010600030101010101" pitchFamily="2" charset="-122"/>
                <a:cs typeface="+mn-cs"/>
              </a:rPr>
              <a:t>图论之平面图</a:t>
            </a:r>
            <a:endParaRPr lang="en-US" altLang="zh-CN" sz="1400" b="0" strike="noStrike" noProof="1">
              <a:latin typeface="Tahoma" panose="020B0604030504040204" pitchFamily="34" charset="0"/>
              <a:ea typeface="宋体" panose="02010600030101010101" pitchFamily="2" charset="-122"/>
            </a:endParaRPr>
          </a:p>
        </p:txBody>
      </p:sp>
      <p:sp>
        <p:nvSpPr>
          <p:cNvPr id="5133"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b="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0B494DEA-F47A-E242-9AB2-82E9CD440C14}"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r"/>
  </p:transition>
  <p:hf sldNum="0" hdr="0" ftr="0" dt="0"/>
  <p:txStyles>
    <p:titleStyle>
      <a:lvl1pPr algn="l" rtl="0" eaLnBrk="0" fontAlgn="base" hangingPunct="0">
        <a:spcBef>
          <a:spcPct val="0"/>
        </a:spcBef>
        <a:spcAft>
          <a:spcPct val="0"/>
        </a:spcAft>
        <a:defRPr sz="4400" b="1">
          <a:solidFill>
            <a:schemeClr val="tx2"/>
          </a:solidFill>
          <a:latin typeface="+mj-lt"/>
          <a:ea typeface="+mj-ea"/>
          <a:cs typeface="黑体" panose="02010609060101010101" pitchFamily="49" charset="-122"/>
        </a:defRPr>
      </a:lvl1pPr>
      <a:lvl2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黑体" panose="02010609060101010101" pitchFamily="49" charset="-122"/>
          <a:cs typeface="黑体" panose="02010609060101010101" pitchFamily="49" charset="-122"/>
        </a:defRPr>
      </a:lvl5pPr>
      <a:lvl6pPr marL="4572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4400" b="1">
          <a:solidFill>
            <a:schemeClr val="tx2"/>
          </a:solidFill>
          <a:latin typeface="Tahoma" panose="020B0604030504040204" pitchFamily="34" charset="0"/>
          <a:ea typeface="黑体" panose="02010609060101010101" pitchFamily="49" charset="-122"/>
        </a:defRPr>
      </a:lvl9pPr>
    </p:titleStyle>
    <p:bodyStyle>
      <a:lvl1pPr marL="342900" indent="-342900" algn="l" rtl="0" eaLnBrk="0" fontAlgn="base" hangingPunct="0">
        <a:lnSpc>
          <a:spcPct val="110000"/>
        </a:lnSpc>
        <a:spcBef>
          <a:spcPct val="30000"/>
        </a:spcBef>
        <a:spcAft>
          <a:spcPct val="0"/>
        </a:spcAft>
        <a:buClr>
          <a:schemeClr val="folHlink"/>
        </a:buClr>
        <a:buSzPct val="75000"/>
        <a:buFont typeface="Wingdings" panose="05000000000000000000" pitchFamily="2" charset="2"/>
        <a:buChar char="n"/>
        <a:defRPr sz="2800" b="1">
          <a:solidFill>
            <a:schemeClr val="tx1"/>
          </a:solidFill>
          <a:latin typeface="+mn-lt"/>
          <a:ea typeface="+mn-ea"/>
          <a:cs typeface="黑体" panose="02010609060101010101" pitchFamily="49" charset="-122"/>
        </a:defRPr>
      </a:lvl1pPr>
      <a:lvl2pPr marL="742950" indent="-285750" algn="l" rtl="0" eaLnBrk="0" fontAlgn="base" hangingPunct="0">
        <a:lnSpc>
          <a:spcPct val="110000"/>
        </a:lnSpc>
        <a:spcBef>
          <a:spcPct val="30000"/>
        </a:spcBef>
        <a:spcAft>
          <a:spcPct val="0"/>
        </a:spcAft>
        <a:buClr>
          <a:schemeClr val="hlink"/>
        </a:buClr>
        <a:buSzPct val="75000"/>
        <a:buFont typeface="Wingdings" panose="05000000000000000000" pitchFamily="2" charset="2"/>
        <a:buChar char="n"/>
        <a:defRPr sz="2400" b="1">
          <a:solidFill>
            <a:schemeClr val="tx1"/>
          </a:solidFill>
          <a:latin typeface="+mn-lt"/>
          <a:ea typeface="+mn-ea"/>
          <a:cs typeface="黑体" panose="02010609060101010101" pitchFamily="49" charset="-122"/>
        </a:defRPr>
      </a:lvl2pPr>
      <a:lvl3pPr marL="1143000" indent="-228600" algn="l" rtl="0" eaLnBrk="0" fontAlgn="base" hangingPunct="0">
        <a:lnSpc>
          <a:spcPct val="110000"/>
        </a:lnSpc>
        <a:spcBef>
          <a:spcPct val="30000"/>
        </a:spcBef>
        <a:spcAft>
          <a:spcPct val="0"/>
        </a:spcAft>
        <a:buClr>
          <a:schemeClr val="folHlink"/>
        </a:buClr>
        <a:buSzPct val="50000"/>
        <a:buFont typeface="Wingdings" panose="05000000000000000000" pitchFamily="2" charset="2"/>
        <a:buChar char="n"/>
        <a:defRPr sz="2400" b="1">
          <a:solidFill>
            <a:schemeClr val="tx1"/>
          </a:solidFill>
          <a:latin typeface="+mn-lt"/>
          <a:ea typeface="+mn-ea"/>
          <a:cs typeface="黑体" panose="02010609060101010101" pitchFamily="49" charset="-122"/>
        </a:defRPr>
      </a:lvl3pPr>
      <a:lvl4pPr marL="1600200" indent="-228600" algn="l" rtl="0" eaLnBrk="0" fontAlgn="base" hangingPunct="0">
        <a:lnSpc>
          <a:spcPct val="110000"/>
        </a:lnSpc>
        <a:spcBef>
          <a:spcPct val="30000"/>
        </a:spcBef>
        <a:spcAft>
          <a:spcPct val="0"/>
        </a:spcAft>
        <a:buClr>
          <a:schemeClr val="accent2"/>
        </a:buClr>
        <a:buSzPct val="55000"/>
        <a:buFont typeface="Wingdings" panose="05000000000000000000" pitchFamily="2" charset="2"/>
        <a:buChar char="n"/>
        <a:defRPr sz="2000" b="1">
          <a:solidFill>
            <a:schemeClr val="tx1"/>
          </a:solidFill>
          <a:latin typeface="+mn-lt"/>
          <a:ea typeface="+mn-ea"/>
          <a:cs typeface="黑体" panose="02010609060101010101" pitchFamily="49" charset="-122"/>
        </a:defRPr>
      </a:lvl4pPr>
      <a:lvl5pPr marL="2057400" indent="-228600" algn="l" rtl="0" eaLnBrk="0" fontAlgn="base" hangingPunct="0">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cs typeface="黑体" panose="02010609060101010101" pitchFamily="49" charset="-122"/>
        </a:defRPr>
      </a:lvl5pPr>
      <a:lvl6pPr marL="25146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lnSpc>
          <a:spcPct val="110000"/>
        </a:lnSpc>
        <a:spcBef>
          <a:spcPct val="3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1.vml"/><Relationship Id="rId4" Type="http://schemas.openxmlformats.org/officeDocument/2006/relationships/slideLayout" Target="../slideLayouts/slideLayout1.xml"/><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2.e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vmlDrawing" Target="../drawings/vmlDrawing3.vml"/><Relationship Id="rId4" Type="http://schemas.openxmlformats.org/officeDocument/2006/relationships/slideLayout" Target="../slideLayouts/slideLayout11.xml"/><Relationship Id="rId3" Type="http://schemas.openxmlformats.org/officeDocument/2006/relationships/oleObject" Target="../embeddings/oleObject4.bin"/><Relationship Id="rId2" Type="http://schemas.openxmlformats.org/officeDocument/2006/relationships/image" Target="../media/image9.wmf"/><Relationship Id="rId1" Type="http://schemas.openxmlformats.org/officeDocument/2006/relationships/oleObject" Target="../embeddings/oleObject3.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vmlDrawing" Target="../drawings/vmlDrawing4.vml"/><Relationship Id="rId4" Type="http://schemas.openxmlformats.org/officeDocument/2006/relationships/slideLayout" Target="../slideLayouts/slideLayout11.xml"/><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5.vml"/><Relationship Id="rId3" Type="http://schemas.openxmlformats.org/officeDocument/2006/relationships/slideLayout" Target="../slideLayouts/slideLayout11.xml"/><Relationship Id="rId2" Type="http://schemas.openxmlformats.org/officeDocument/2006/relationships/image" Target="../media/image10.wmf"/><Relationship Id="rId1" Type="http://schemas.openxmlformats.org/officeDocument/2006/relationships/oleObject" Target="../embeddings/oleObject7.bin"/></Relationships>
</file>

<file path=ppt/slides/_rels/slide36.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11.xml"/><Relationship Id="rId4" Type="http://schemas.openxmlformats.org/officeDocument/2006/relationships/oleObject" Target="../embeddings/oleObject10.bin"/><Relationship Id="rId3" Type="http://schemas.openxmlformats.org/officeDocument/2006/relationships/oleObject" Target="../embeddings/oleObject9.bin"/><Relationship Id="rId2" Type="http://schemas.openxmlformats.org/officeDocument/2006/relationships/image" Target="../media/image11.wmf"/><Relationship Id="rId1" Type="http://schemas.openxmlformats.org/officeDocument/2006/relationships/oleObject" Target="../embeddings/oleObject8.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2"/>
          <p:cNvSpPr>
            <a:spLocks noGrp="1"/>
          </p:cNvSpPr>
          <p:nvPr>
            <p:ph type="title"/>
          </p:nvPr>
        </p:nvSpPr>
        <p:spPr/>
        <p:txBody>
          <a:bodyPr vert="horz" wrap="square" lIns="91440" tIns="45720" rIns="91440" bIns="45720" anchor="b" anchorCtr="0"/>
          <a:p>
            <a:pPr eaLnBrk="1" hangingPunct="1"/>
            <a:r>
              <a:rPr lang="zh-CN" altLang="en-US"/>
              <a:t>  根树</a:t>
            </a:r>
            <a:endParaRPr lang="zh-CN" altLang="en-US"/>
          </a:p>
        </p:txBody>
      </p:sp>
      <p:sp>
        <p:nvSpPr>
          <p:cNvPr id="4098" name="Rectangle 3"/>
          <p:cNvSpPr>
            <a:spLocks noGrp="1"/>
          </p:cNvSpPr>
          <p:nvPr>
            <p:ph idx="1"/>
          </p:nvPr>
        </p:nvSpPr>
        <p:spPr>
          <a:xfrm>
            <a:off x="323850" y="1412875"/>
            <a:ext cx="8496300" cy="5256213"/>
          </a:xfrm>
        </p:spPr>
        <p:txBody>
          <a:bodyPr vert="horz" wrap="square" lIns="91440" tIns="45720" rIns="91440" bIns="45720" anchor="t" anchorCtr="0"/>
          <a:p>
            <a:r>
              <a:rPr lang="en-US" altLang="zh-CN"/>
              <a:t>1. </a:t>
            </a:r>
            <a:r>
              <a:rPr lang="en-US" altLang="en-US"/>
              <a:t>根树</a:t>
            </a:r>
            <a:endParaRPr lang="en-US" altLang="zh-CN"/>
          </a:p>
          <a:p>
            <a:r>
              <a:rPr lang="en-US" altLang="zh-CN"/>
              <a:t>2. </a:t>
            </a:r>
            <a:r>
              <a:rPr lang="en-US" altLang="en-US"/>
              <a:t>根树的周游</a:t>
            </a:r>
            <a:endParaRPr lang="en-US" altLang="zh-CN"/>
          </a:p>
          <a:p>
            <a:r>
              <a:rPr lang="en-US" altLang="zh-CN"/>
              <a:t>3. </a:t>
            </a:r>
            <a:r>
              <a:rPr lang="en-US" altLang="en-US">
                <a:sym typeface="+mn-ea"/>
              </a:rPr>
              <a:t>最佳前缀码</a:t>
            </a:r>
            <a:endParaRPr lang="en-US" altLang="zh-CN"/>
          </a:p>
          <a:p>
            <a:r>
              <a:rPr lang="en-US" altLang="zh-CN"/>
              <a:t>4. </a:t>
            </a:r>
            <a:r>
              <a:rPr lang="en-US" altLang="en-US">
                <a:sym typeface="+mn-ea"/>
              </a:rPr>
              <a:t>最优树</a:t>
            </a:r>
            <a:r>
              <a:rPr lang="en-US" altLang="zh-CN">
                <a:sym typeface="+mn-ea"/>
              </a:rPr>
              <a:t>, Huffman</a:t>
            </a:r>
            <a:r>
              <a:rPr lang="en-US" altLang="en-US">
                <a:sym typeface="+mn-ea"/>
              </a:rPr>
              <a:t>算法</a:t>
            </a:r>
            <a:endParaRPr lang="zh-CN" altLang="en-US"/>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title"/>
          </p:nvPr>
        </p:nvSpPr>
        <p:spPr/>
        <p:txBody>
          <a:bodyPr vert="horz" wrap="square" lIns="91440" tIns="45720" rIns="91440" bIns="45720" anchor="b" anchorCtr="0"/>
          <a:p>
            <a:r>
              <a:rPr lang="zh-CN" altLang="en-US"/>
              <a:t>根树</a:t>
            </a:r>
            <a:r>
              <a:rPr lang="en-US" altLang="zh-CN"/>
              <a:t>(rooted tree)</a:t>
            </a:r>
            <a:endParaRPr lang="zh-CN" altLang="en-US"/>
          </a:p>
        </p:txBody>
      </p:sp>
      <p:sp>
        <p:nvSpPr>
          <p:cNvPr id="6146" name="Rectangle 3"/>
          <p:cNvSpPr>
            <a:spLocks noGrp="1"/>
          </p:cNvSpPr>
          <p:nvPr>
            <p:ph idx="1"/>
          </p:nvPr>
        </p:nvSpPr>
        <p:spPr/>
        <p:txBody>
          <a:bodyPr vert="horz" wrap="square" lIns="91440" tIns="45720" rIns="91440" bIns="45720" anchor="t" anchorCtr="0"/>
          <a:p>
            <a:r>
              <a:rPr lang="zh-CN" altLang="en-US"/>
              <a:t>有向树</a:t>
            </a:r>
            <a:r>
              <a:rPr lang="en-US" altLang="zh-CN"/>
              <a:t>: </a:t>
            </a:r>
            <a:r>
              <a:rPr lang="zh-CN" altLang="en-US"/>
              <a:t>基图是无向树的有向图</a:t>
            </a:r>
            <a:endParaRPr lang="zh-CN" altLang="en-US"/>
          </a:p>
          <a:p>
            <a:r>
              <a:rPr lang="zh-CN" altLang="en-US">
                <a:solidFill>
                  <a:srgbClr val="FF0000"/>
                </a:solidFill>
              </a:rPr>
              <a:t>根树</a:t>
            </a:r>
            <a:r>
              <a:rPr lang="en-US" altLang="zh-CN"/>
              <a:t>(rooted tree): </a:t>
            </a:r>
            <a:r>
              <a:rPr lang="zh-CN" altLang="en-US"/>
              <a:t>只有一个顶点入度为</a:t>
            </a:r>
            <a:r>
              <a:rPr lang="en-US" altLang="zh-CN"/>
              <a:t>0</a:t>
            </a:r>
            <a:r>
              <a:rPr lang="zh-CN" altLang="en-US"/>
              <a:t>，其余顶点入度均为</a:t>
            </a:r>
            <a:r>
              <a:rPr lang="en-US" altLang="zh-CN"/>
              <a:t>1</a:t>
            </a:r>
            <a:r>
              <a:rPr lang="zh-CN" altLang="en-US"/>
              <a:t>的有向树。</a:t>
            </a:r>
            <a:endParaRPr lang="zh-CN" altLang="en-US"/>
          </a:p>
        </p:txBody>
      </p:sp>
      <p:graphicFrame>
        <p:nvGraphicFramePr>
          <p:cNvPr id="18435" name="表格 18434"/>
          <p:cNvGraphicFramePr/>
          <p:nvPr/>
        </p:nvGraphicFramePr>
        <p:xfrm>
          <a:off x="777875" y="3500438"/>
          <a:ext cx="4535488" cy="2451100"/>
        </p:xfrm>
        <a:graphic>
          <a:graphicData uri="http://schemas.openxmlformats.org/drawingml/2006/table">
            <a:tbl>
              <a:tblPr/>
              <a:tblGrid>
                <a:gridCol w="719138"/>
                <a:gridCol w="1008062"/>
                <a:gridCol w="1008063"/>
                <a:gridCol w="865187"/>
                <a:gridCol w="935038"/>
              </a:tblGrid>
              <a:tr h="576580">
                <a:tc gridSpan="2">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zh-CN" altLang="en-US" sz="2400">
                          <a:latin typeface="Times New Roman" panose="02020603050405020304" pitchFamily="18" charset="0"/>
                          <a:ea typeface="黑体" panose="02010609060101010101" pitchFamily="49" charset="-122"/>
                        </a:rPr>
                        <a:t>名称</a:t>
                      </a:r>
                      <a:endParaRPr lang="zh-CN" altLang="en-US" sz="2400">
                        <a:latin typeface="Times New Roman" panose="02020603050405020304" pitchFamily="18" charset="0"/>
                        <a:ea typeface="黑体" panose="02010609060101010101" pitchFamily="49" charset="-122"/>
                      </a:endParaRPr>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zh-CN" altLang="en-US" sz="2400">
                          <a:latin typeface="Times New Roman" panose="02020603050405020304" pitchFamily="18" charset="0"/>
                          <a:ea typeface="黑体" panose="02010609060101010101" pitchFamily="49" charset="-122"/>
                        </a:rPr>
                        <a:t>入度</a:t>
                      </a:r>
                      <a:endParaRPr lang="zh-CN" altLang="en-US" sz="2400">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zh-CN" altLang="en-US" sz="2400">
                          <a:latin typeface="Times New Roman" panose="02020603050405020304" pitchFamily="18" charset="0"/>
                          <a:ea typeface="黑体" panose="02010609060101010101" pitchFamily="49" charset="-122"/>
                        </a:rPr>
                        <a:t>出度</a:t>
                      </a:r>
                      <a:endParaRPr lang="zh-CN" altLang="en-US" sz="2400">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zh-CN" altLang="en-US" sz="2400">
                          <a:latin typeface="Times New Roman" panose="02020603050405020304" pitchFamily="18" charset="0"/>
                          <a:ea typeface="黑体" panose="02010609060101010101" pitchFamily="49" charset="-122"/>
                        </a:rPr>
                        <a:t>个数</a:t>
                      </a:r>
                      <a:endParaRPr lang="zh-CN" altLang="en-US" sz="2400">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5945">
                <a:tc rowSpan="2">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zh-CN" altLang="en-US" sz="2400">
                          <a:latin typeface="Times New Roman" panose="02020603050405020304" pitchFamily="18" charset="0"/>
                          <a:ea typeface="黑体" panose="02010609060101010101" pitchFamily="49" charset="-122"/>
                        </a:rPr>
                        <a:t>分支点</a:t>
                      </a:r>
                      <a:endParaRPr lang="zh-CN" altLang="en-US" sz="2400">
                        <a:latin typeface="Times New Roman" panose="02020603050405020304" pitchFamily="18" charset="0"/>
                        <a:ea typeface="黑体" panose="02010609060101010101" pitchFamily="49" charset="-122"/>
                      </a:endParaRPr>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zh-CN" altLang="en-US" sz="2400">
                          <a:solidFill>
                            <a:schemeClr val="hlink"/>
                          </a:solidFill>
                          <a:latin typeface="Times New Roman" panose="02020603050405020304" pitchFamily="18" charset="0"/>
                          <a:ea typeface="黑体" panose="02010609060101010101" pitchFamily="49" charset="-122"/>
                        </a:rPr>
                        <a:t>树根</a:t>
                      </a:r>
                      <a:endParaRPr lang="zh-CN" altLang="en-US" sz="2400">
                        <a:solidFill>
                          <a:schemeClr val="hlink"/>
                        </a:solidFill>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solidFill>
                            <a:schemeClr val="hlink"/>
                          </a:solidFill>
                          <a:latin typeface="Times New Roman" panose="02020603050405020304" pitchFamily="18" charset="0"/>
                          <a:ea typeface="黑体" panose="02010609060101010101" pitchFamily="49" charset="-122"/>
                        </a:rPr>
                        <a:t>0</a:t>
                      </a:r>
                      <a:endParaRPr lang="en-US" altLang="zh-CN" sz="2400">
                        <a:solidFill>
                          <a:schemeClr val="hlink"/>
                        </a:solidFill>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latin typeface="Times New Roman" panose="02020603050405020304" pitchFamily="18" charset="0"/>
                          <a:ea typeface="黑体" panose="02010609060101010101" pitchFamily="49" charset="-122"/>
                        </a:rPr>
                        <a:t>&gt;0</a:t>
                      </a:r>
                      <a:endParaRPr lang="en-US" altLang="zh-CN" sz="2400">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solidFill>
                            <a:schemeClr val="hlink"/>
                          </a:solidFill>
                          <a:latin typeface="Times New Roman" panose="02020603050405020304" pitchFamily="18" charset="0"/>
                          <a:ea typeface="黑体" panose="02010609060101010101" pitchFamily="49" charset="-122"/>
                        </a:rPr>
                        <a:t>1</a:t>
                      </a:r>
                      <a:endParaRPr lang="en-US" altLang="zh-CN" sz="2400">
                        <a:solidFill>
                          <a:schemeClr val="hlink"/>
                        </a:solidFill>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22313">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zh-CN" altLang="en-US" sz="2400">
                          <a:solidFill>
                            <a:srgbClr val="FF00FF"/>
                          </a:solidFill>
                          <a:latin typeface="Times New Roman" panose="02020603050405020304" pitchFamily="18" charset="0"/>
                          <a:ea typeface="黑体" panose="02010609060101010101" pitchFamily="49" charset="-122"/>
                        </a:rPr>
                        <a:t>内点</a:t>
                      </a:r>
                      <a:endParaRPr lang="zh-CN" altLang="en-US" sz="2400">
                        <a:solidFill>
                          <a:srgbClr val="FF00FF"/>
                        </a:solidFill>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solidFill>
                            <a:srgbClr val="FFC000"/>
                          </a:solidFill>
                          <a:latin typeface="Times New Roman" panose="02020603050405020304" pitchFamily="18" charset="0"/>
                          <a:ea typeface="黑体" panose="02010609060101010101" pitchFamily="49" charset="-122"/>
                        </a:rPr>
                        <a:t>1</a:t>
                      </a:r>
                      <a:endParaRPr lang="en-US" altLang="zh-CN" sz="2400">
                        <a:solidFill>
                          <a:srgbClr val="FFC000"/>
                        </a:solidFill>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latin typeface="Times New Roman" panose="02020603050405020304" pitchFamily="18" charset="0"/>
                          <a:ea typeface="黑体" panose="02010609060101010101" pitchFamily="49" charset="-122"/>
                        </a:rPr>
                        <a:t>&gt;0</a:t>
                      </a:r>
                      <a:endParaRPr lang="en-US" altLang="zh-CN" sz="2400">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latin typeface="Times New Roman" panose="02020603050405020304" pitchFamily="18" charset="0"/>
                          <a:ea typeface="黑体" panose="02010609060101010101" pitchFamily="49" charset="-122"/>
                          <a:sym typeface="Symbol" panose="05050102010706020507" pitchFamily="18" charset="2"/>
                        </a:rPr>
                        <a:t>0</a:t>
                      </a:r>
                      <a:endParaRPr lang="en-US" altLang="zh-CN" sz="2400">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6262">
                <a:tc gridSpan="2">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zh-CN" altLang="en-US" sz="2400">
                          <a:solidFill>
                            <a:schemeClr val="folHlink"/>
                          </a:solidFill>
                          <a:latin typeface="Times New Roman" panose="02020603050405020304" pitchFamily="18" charset="0"/>
                          <a:ea typeface="黑体" panose="02010609060101010101" pitchFamily="49" charset="-122"/>
                        </a:rPr>
                        <a:t>树叶</a:t>
                      </a:r>
                      <a:endParaRPr lang="zh-CN" altLang="en-US" sz="2400">
                        <a:solidFill>
                          <a:schemeClr val="folHlink"/>
                        </a:solidFill>
                        <a:latin typeface="Times New Roman" panose="02020603050405020304" pitchFamily="18" charset="0"/>
                        <a:ea typeface="黑体" panose="02010609060101010101" pitchFamily="49" charset="-122"/>
                      </a:endParaRPr>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solidFill>
                            <a:srgbClr val="FFC000"/>
                          </a:solidFill>
                          <a:latin typeface="Times New Roman" panose="02020603050405020304" pitchFamily="18" charset="0"/>
                          <a:ea typeface="黑体" panose="02010609060101010101" pitchFamily="49" charset="-122"/>
                        </a:rPr>
                        <a:t>1</a:t>
                      </a:r>
                      <a:endParaRPr lang="en-US" altLang="zh-CN" sz="2400">
                        <a:solidFill>
                          <a:srgbClr val="FFC000"/>
                        </a:solidFill>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solidFill>
                            <a:schemeClr val="folHlink"/>
                          </a:solidFill>
                          <a:latin typeface="Times New Roman" panose="02020603050405020304" pitchFamily="18" charset="0"/>
                          <a:ea typeface="黑体" panose="02010609060101010101" pitchFamily="49" charset="-122"/>
                        </a:rPr>
                        <a:t>0</a:t>
                      </a:r>
                      <a:endParaRPr lang="en-US" altLang="zh-CN" sz="2400">
                        <a:solidFill>
                          <a:schemeClr val="folHlink"/>
                        </a:solidFill>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ctr">
                        <a:lnSpc>
                          <a:spcPct val="110000"/>
                        </a:lnSpc>
                        <a:spcBef>
                          <a:spcPct val="30000"/>
                        </a:spcBef>
                        <a:buClr>
                          <a:schemeClr val="folHlink"/>
                        </a:buClr>
                        <a:buSzPct val="75000"/>
                        <a:buFont typeface="Wingdings" panose="05000000000000000000" pitchFamily="2" charset="2"/>
                        <a:buNone/>
                      </a:pPr>
                      <a:r>
                        <a:rPr lang="en-US" altLang="zh-CN" sz="2400">
                          <a:latin typeface="Times New Roman" panose="02020603050405020304" pitchFamily="18" charset="0"/>
                          <a:ea typeface="黑体" panose="02010609060101010101" pitchFamily="49" charset="-122"/>
                          <a:sym typeface="Symbol" panose="05050102010706020507" pitchFamily="18" charset="2"/>
                        </a:rPr>
                        <a:t>0</a:t>
                      </a:r>
                      <a:endParaRPr lang="en-US" altLang="zh-CN" sz="2400">
                        <a:latin typeface="Times New Roman" panose="02020603050405020304" pitchFamily="18" charset="0"/>
                        <a:ea typeface="黑体" panose="02010609060101010101" pitchFamily="49" charset="-122"/>
                      </a:endParaRPr>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6176" name="Group 66"/>
          <p:cNvGrpSpPr/>
          <p:nvPr/>
        </p:nvGrpSpPr>
        <p:grpSpPr>
          <a:xfrm>
            <a:off x="5795328" y="3285173"/>
            <a:ext cx="2376487" cy="2952750"/>
            <a:chOff x="3923" y="1797"/>
            <a:chExt cx="1497" cy="1860"/>
          </a:xfrm>
        </p:grpSpPr>
        <p:sp>
          <p:nvSpPr>
            <p:cNvPr id="6177" name="Oval 46"/>
            <p:cNvSpPr/>
            <p:nvPr/>
          </p:nvSpPr>
          <p:spPr>
            <a:xfrm>
              <a:off x="4604" y="1797"/>
              <a:ext cx="136" cy="136"/>
            </a:xfrm>
            <a:prstGeom prst="ellipse">
              <a:avLst/>
            </a:prstGeom>
            <a:solidFill>
              <a:schemeClr va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78" name="Oval 47"/>
            <p:cNvSpPr/>
            <p:nvPr/>
          </p:nvSpPr>
          <p:spPr>
            <a:xfrm>
              <a:off x="4286" y="2205"/>
              <a:ext cx="136" cy="136"/>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79" name="Oval 48"/>
            <p:cNvSpPr/>
            <p:nvPr/>
          </p:nvSpPr>
          <p:spPr>
            <a:xfrm>
              <a:off x="5012" y="2205"/>
              <a:ext cx="136" cy="136"/>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80" name="Line 49"/>
            <p:cNvSpPr/>
            <p:nvPr/>
          </p:nvSpPr>
          <p:spPr>
            <a:xfrm flipH="1">
              <a:off x="4377" y="1933"/>
              <a:ext cx="272" cy="318"/>
            </a:xfrm>
            <a:prstGeom prst="line">
              <a:avLst/>
            </a:prstGeom>
            <a:ln w="9525" cap="flat" cmpd="sng">
              <a:solidFill>
                <a:schemeClr val="tx1"/>
              </a:solidFill>
              <a:prstDash val="solid"/>
              <a:round/>
              <a:headEnd type="none" w="med" len="med"/>
              <a:tailEnd type="none" w="med" len="med"/>
            </a:ln>
          </p:spPr>
        </p:sp>
        <p:sp>
          <p:nvSpPr>
            <p:cNvPr id="6181" name="Line 50"/>
            <p:cNvSpPr/>
            <p:nvPr/>
          </p:nvSpPr>
          <p:spPr>
            <a:xfrm>
              <a:off x="4694" y="1933"/>
              <a:ext cx="363" cy="318"/>
            </a:xfrm>
            <a:prstGeom prst="line">
              <a:avLst/>
            </a:prstGeom>
            <a:ln w="9525" cap="flat" cmpd="sng">
              <a:solidFill>
                <a:schemeClr val="tx1"/>
              </a:solidFill>
              <a:prstDash val="solid"/>
              <a:round/>
              <a:headEnd type="none" w="med" len="med"/>
              <a:tailEnd type="none" w="med" len="med"/>
            </a:ln>
          </p:spPr>
        </p:sp>
        <p:sp>
          <p:nvSpPr>
            <p:cNvPr id="6182" name="Oval 51"/>
            <p:cNvSpPr/>
            <p:nvPr/>
          </p:nvSpPr>
          <p:spPr>
            <a:xfrm>
              <a:off x="3923" y="2568"/>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83" name="Oval 52"/>
            <p:cNvSpPr/>
            <p:nvPr/>
          </p:nvSpPr>
          <p:spPr>
            <a:xfrm>
              <a:off x="4558" y="2614"/>
              <a:ext cx="136" cy="136"/>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84" name="Line 53"/>
            <p:cNvSpPr/>
            <p:nvPr/>
          </p:nvSpPr>
          <p:spPr>
            <a:xfrm flipH="1">
              <a:off x="4059" y="2341"/>
              <a:ext cx="273" cy="227"/>
            </a:xfrm>
            <a:prstGeom prst="line">
              <a:avLst/>
            </a:prstGeom>
            <a:ln w="9525" cap="flat" cmpd="sng">
              <a:solidFill>
                <a:schemeClr val="tx1"/>
              </a:solidFill>
              <a:prstDash val="solid"/>
              <a:round/>
              <a:headEnd type="none" w="med" len="med"/>
              <a:tailEnd type="none" w="med" len="med"/>
            </a:ln>
          </p:spPr>
        </p:sp>
        <p:sp>
          <p:nvSpPr>
            <p:cNvPr id="6185" name="Line 54"/>
            <p:cNvSpPr/>
            <p:nvPr/>
          </p:nvSpPr>
          <p:spPr>
            <a:xfrm>
              <a:off x="4377" y="2341"/>
              <a:ext cx="227" cy="318"/>
            </a:xfrm>
            <a:prstGeom prst="line">
              <a:avLst/>
            </a:prstGeom>
            <a:ln w="9525" cap="flat" cmpd="sng">
              <a:solidFill>
                <a:schemeClr val="tx1"/>
              </a:solidFill>
              <a:prstDash val="solid"/>
              <a:round/>
              <a:headEnd type="none" w="med" len="med"/>
              <a:tailEnd type="none" w="med" len="med"/>
            </a:ln>
          </p:spPr>
        </p:sp>
        <p:sp>
          <p:nvSpPr>
            <p:cNvPr id="6186" name="Oval 55"/>
            <p:cNvSpPr/>
            <p:nvPr/>
          </p:nvSpPr>
          <p:spPr>
            <a:xfrm>
              <a:off x="4286" y="3067"/>
              <a:ext cx="136" cy="136"/>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87" name="Oval 56"/>
            <p:cNvSpPr/>
            <p:nvPr/>
          </p:nvSpPr>
          <p:spPr>
            <a:xfrm>
              <a:off x="4921" y="306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88" name="Line 57"/>
            <p:cNvSpPr/>
            <p:nvPr/>
          </p:nvSpPr>
          <p:spPr>
            <a:xfrm flipH="1">
              <a:off x="4377" y="2750"/>
              <a:ext cx="227" cy="363"/>
            </a:xfrm>
            <a:prstGeom prst="line">
              <a:avLst/>
            </a:prstGeom>
            <a:ln w="9525" cap="flat" cmpd="sng">
              <a:solidFill>
                <a:schemeClr val="tx1"/>
              </a:solidFill>
              <a:prstDash val="solid"/>
              <a:round/>
              <a:headEnd type="none" w="med" len="med"/>
              <a:tailEnd type="none" w="med" len="med"/>
            </a:ln>
          </p:spPr>
        </p:sp>
        <p:sp>
          <p:nvSpPr>
            <p:cNvPr id="6189" name="Line 58"/>
            <p:cNvSpPr/>
            <p:nvPr/>
          </p:nvSpPr>
          <p:spPr>
            <a:xfrm>
              <a:off x="4694" y="2750"/>
              <a:ext cx="318" cy="363"/>
            </a:xfrm>
            <a:prstGeom prst="line">
              <a:avLst/>
            </a:prstGeom>
            <a:ln w="9525" cap="flat" cmpd="sng">
              <a:solidFill>
                <a:schemeClr val="tx1"/>
              </a:solidFill>
              <a:prstDash val="solid"/>
              <a:round/>
              <a:headEnd type="none" w="med" len="med"/>
              <a:tailEnd type="none" w="med" len="med"/>
            </a:ln>
          </p:spPr>
        </p:sp>
        <p:sp>
          <p:nvSpPr>
            <p:cNvPr id="6190" name="Line 59"/>
            <p:cNvSpPr/>
            <p:nvPr/>
          </p:nvSpPr>
          <p:spPr>
            <a:xfrm flipH="1">
              <a:off x="4105" y="3203"/>
              <a:ext cx="227" cy="363"/>
            </a:xfrm>
            <a:prstGeom prst="line">
              <a:avLst/>
            </a:prstGeom>
            <a:ln w="9525" cap="flat" cmpd="sng">
              <a:solidFill>
                <a:schemeClr val="tx1"/>
              </a:solidFill>
              <a:prstDash val="solid"/>
              <a:round/>
              <a:headEnd type="none" w="med" len="med"/>
              <a:tailEnd type="none" w="med" len="med"/>
            </a:ln>
          </p:spPr>
        </p:sp>
        <p:sp>
          <p:nvSpPr>
            <p:cNvPr id="6191" name="Line 60"/>
            <p:cNvSpPr/>
            <p:nvPr/>
          </p:nvSpPr>
          <p:spPr>
            <a:xfrm>
              <a:off x="4377" y="3203"/>
              <a:ext cx="227" cy="363"/>
            </a:xfrm>
            <a:prstGeom prst="line">
              <a:avLst/>
            </a:prstGeom>
            <a:ln w="9525" cap="flat" cmpd="sng">
              <a:solidFill>
                <a:schemeClr val="tx1"/>
              </a:solidFill>
              <a:prstDash val="solid"/>
              <a:round/>
              <a:headEnd type="none" w="med" len="med"/>
              <a:tailEnd type="none" w="med" len="med"/>
            </a:ln>
          </p:spPr>
        </p:sp>
        <p:sp>
          <p:nvSpPr>
            <p:cNvPr id="6192" name="Oval 61"/>
            <p:cNvSpPr/>
            <p:nvPr/>
          </p:nvSpPr>
          <p:spPr>
            <a:xfrm>
              <a:off x="4014" y="352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93" name="Oval 62"/>
            <p:cNvSpPr/>
            <p:nvPr/>
          </p:nvSpPr>
          <p:spPr>
            <a:xfrm>
              <a:off x="4558" y="352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6194" name="Line 63"/>
            <p:cNvSpPr/>
            <p:nvPr/>
          </p:nvSpPr>
          <p:spPr>
            <a:xfrm>
              <a:off x="5103" y="2341"/>
              <a:ext cx="226" cy="318"/>
            </a:xfrm>
            <a:prstGeom prst="line">
              <a:avLst/>
            </a:prstGeom>
            <a:ln w="9525" cap="flat" cmpd="sng">
              <a:solidFill>
                <a:schemeClr val="tx1"/>
              </a:solidFill>
              <a:prstDash val="solid"/>
              <a:round/>
              <a:headEnd type="none" w="med" len="med"/>
              <a:tailEnd type="none" w="med" len="med"/>
            </a:ln>
          </p:spPr>
        </p:sp>
        <p:sp>
          <p:nvSpPr>
            <p:cNvPr id="6195" name="Oval 65"/>
            <p:cNvSpPr/>
            <p:nvPr/>
          </p:nvSpPr>
          <p:spPr>
            <a:xfrm>
              <a:off x="5284" y="261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p:txBody>
          <a:bodyPr vert="horz" wrap="square" lIns="91440" tIns="45720" rIns="91440" bIns="45720" anchor="b" anchorCtr="0"/>
          <a:p>
            <a:r>
              <a:rPr lang="zh-CN" altLang="en-US"/>
              <a:t>举例</a:t>
            </a:r>
            <a:endParaRPr lang="zh-CN" altLang="en-US"/>
          </a:p>
        </p:txBody>
      </p:sp>
      <p:pic>
        <p:nvPicPr>
          <p:cNvPr id="232451" name="Picture 3" descr="图7-8"/>
          <p:cNvPicPr>
            <a:picLocks noChangeAspect="1"/>
          </p:cNvPicPr>
          <p:nvPr/>
        </p:nvPicPr>
        <p:blipFill>
          <a:blip r:embed="rId1">
            <a:clrChange>
              <a:clrFrom>
                <a:srgbClr val="FFFFFF"/>
              </a:clrFrom>
              <a:clrTo>
                <a:srgbClr val="FFFFFF">
                  <a:alpha val="0"/>
                </a:srgbClr>
              </a:clrTo>
            </a:clrChange>
          </a:blip>
          <a:stretch>
            <a:fillRect/>
          </a:stretch>
        </p:blipFill>
        <p:spPr>
          <a:xfrm>
            <a:off x="395288" y="1700213"/>
            <a:ext cx="3657600" cy="1795462"/>
          </a:xfrm>
          <a:prstGeom prst="rect">
            <a:avLst/>
          </a:prstGeom>
          <a:noFill/>
          <a:ln w="9525">
            <a:noFill/>
          </a:ln>
        </p:spPr>
      </p:pic>
      <p:graphicFrame>
        <p:nvGraphicFramePr>
          <p:cNvPr id="232453" name="Object 5"/>
          <p:cNvGraphicFramePr>
            <a:graphicFrameLocks noChangeAspect="1"/>
          </p:cNvGraphicFramePr>
          <p:nvPr/>
        </p:nvGraphicFramePr>
        <p:xfrm>
          <a:off x="4211638" y="1268413"/>
          <a:ext cx="3744912" cy="3235325"/>
        </p:xfrm>
        <a:graphic>
          <a:graphicData uri="http://schemas.openxmlformats.org/presentationml/2006/ole">
            <mc:AlternateContent xmlns:mc="http://schemas.openxmlformats.org/markup-compatibility/2006">
              <mc:Choice xmlns:v="urn:schemas-microsoft-com:vml" Requires="v">
                <p:oleObj spid="_x0000_s3076" name="" r:id="rId2" imgW="4154170" imgH="3589655" progId="Visio.Drawing.11">
                  <p:embed/>
                </p:oleObj>
              </mc:Choice>
              <mc:Fallback>
                <p:oleObj name="" r:id="rId2" imgW="4154170" imgH="3589655" progId="Visio.Drawing.11">
                  <p:embed/>
                  <p:pic>
                    <p:nvPicPr>
                      <p:cNvPr id="0" name="图片 3075"/>
                      <p:cNvPicPr/>
                      <p:nvPr/>
                    </p:nvPicPr>
                    <p:blipFill>
                      <a:blip r:embed="rId3"/>
                      <a:stretch>
                        <a:fillRect/>
                      </a:stretch>
                    </p:blipFill>
                    <p:spPr>
                      <a:xfrm>
                        <a:off x="4211638" y="1268413"/>
                        <a:ext cx="3744912" cy="3235325"/>
                      </a:xfrm>
                      <a:prstGeom prst="rect">
                        <a:avLst/>
                      </a:prstGeom>
                      <a:noFill/>
                      <a:ln w="38100">
                        <a:noFill/>
                        <a:miter/>
                      </a:ln>
                    </p:spPr>
                  </p:pic>
                </p:oleObj>
              </mc:Fallback>
            </mc:AlternateContent>
          </a:graphicData>
        </a:graphic>
      </p:graphicFrame>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2451"/>
                                        </p:tgtEl>
                                        <p:attrNameLst>
                                          <p:attrName>style.visibility</p:attrName>
                                        </p:attrNameLst>
                                      </p:cBhvr>
                                      <p:to>
                                        <p:strVal val="visible"/>
                                      </p:to>
                                    </p:set>
                                    <p:anim calcmode="lin" valueType="num">
                                      <p:cBhvr>
                                        <p:cTn id="7" dur="500" fill="hold"/>
                                        <p:tgtEl>
                                          <p:spTgt spid="232451"/>
                                        </p:tgtEl>
                                        <p:attrNameLst>
                                          <p:attrName>ppt_w</p:attrName>
                                        </p:attrNameLst>
                                      </p:cBhvr>
                                      <p:tavLst>
                                        <p:tav tm="0">
                                          <p:val>
                                            <p:fltVal val="0.000000"/>
                                          </p:val>
                                        </p:tav>
                                        <p:tav tm="100000">
                                          <p:val>
                                            <p:strVal val="#ppt_w"/>
                                          </p:val>
                                        </p:tav>
                                      </p:tavLst>
                                    </p:anim>
                                    <p:anim calcmode="lin" valueType="num">
                                      <p:cBhvr>
                                        <p:cTn id="8" dur="500" fill="hold"/>
                                        <p:tgtEl>
                                          <p:spTgt spid="232451"/>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32453"/>
                                        </p:tgtEl>
                                        <p:attrNameLst>
                                          <p:attrName>style.visibility</p:attrName>
                                        </p:attrNameLst>
                                      </p:cBhvr>
                                      <p:to>
                                        <p:strVal val="visible"/>
                                      </p:to>
                                    </p:set>
                                    <p:anim calcmode="lin" valueType="num">
                                      <p:cBhvr>
                                        <p:cTn id="13" dur="500" fill="hold"/>
                                        <p:tgtEl>
                                          <p:spTgt spid="232453"/>
                                        </p:tgtEl>
                                        <p:attrNameLst>
                                          <p:attrName>ppt_w</p:attrName>
                                        </p:attrNameLst>
                                      </p:cBhvr>
                                      <p:tavLst>
                                        <p:tav tm="0">
                                          <p:val>
                                            <p:fltVal val="0.000000"/>
                                          </p:val>
                                        </p:tav>
                                        <p:tav tm="100000">
                                          <p:val>
                                            <p:strVal val="#ppt_w"/>
                                          </p:val>
                                        </p:tav>
                                      </p:tavLst>
                                    </p:anim>
                                    <p:anim calcmode="lin" valueType="num">
                                      <p:cBhvr>
                                        <p:cTn id="14" dur="500" fill="hold"/>
                                        <p:tgtEl>
                                          <p:spTgt spid="23245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p:txBody>
          <a:bodyPr vert="horz" wrap="square" lIns="91440" tIns="45720" rIns="91440" bIns="45720" anchor="b" anchorCtr="0"/>
          <a:p>
            <a:r>
              <a:rPr lang="zh-CN" altLang="en-US"/>
              <a:t>层数与树高</a:t>
            </a:r>
            <a:endParaRPr lang="zh-CN" altLang="en-US"/>
          </a:p>
        </p:txBody>
      </p:sp>
      <p:sp>
        <p:nvSpPr>
          <p:cNvPr id="8194" name="Rectangle 3"/>
          <p:cNvSpPr>
            <a:spLocks noGrp="1"/>
          </p:cNvSpPr>
          <p:nvPr>
            <p:ph idx="1"/>
          </p:nvPr>
        </p:nvSpPr>
        <p:spPr/>
        <p:txBody>
          <a:bodyPr vert="horz" wrap="square" lIns="91440" tIns="45720" rIns="91440" bIns="45720" anchor="t" anchorCtr="0"/>
          <a:p>
            <a:r>
              <a:rPr lang="zh-CN" altLang="en-US">
                <a:solidFill>
                  <a:schemeClr val="hlink"/>
                </a:solidFill>
              </a:rPr>
              <a:t>画法</a:t>
            </a:r>
            <a:r>
              <a:rPr lang="en-US" altLang="zh-CN">
                <a:solidFill>
                  <a:schemeClr val="hlink"/>
                </a:solidFill>
              </a:rPr>
              <a:t>:</a:t>
            </a:r>
            <a:r>
              <a:rPr lang="en-US" altLang="zh-CN"/>
              <a:t> </a:t>
            </a:r>
            <a:r>
              <a:rPr lang="zh-CN" altLang="en-US"/>
              <a:t>树根在最上方</a:t>
            </a:r>
            <a:r>
              <a:rPr lang="en-US" altLang="zh-CN"/>
              <a:t>, </a:t>
            </a:r>
            <a:r>
              <a:rPr lang="zh-CN" altLang="en-US"/>
              <a:t>省略边的方向</a:t>
            </a:r>
            <a:r>
              <a:rPr lang="en-US" altLang="zh-CN"/>
              <a:t>(</a:t>
            </a:r>
            <a:r>
              <a:rPr lang="zh-CN" altLang="en-US"/>
              <a:t>从上到下</a:t>
            </a:r>
            <a:r>
              <a:rPr lang="en-US" altLang="zh-CN"/>
              <a:t>)</a:t>
            </a:r>
            <a:endParaRPr lang="en-US" altLang="zh-CN"/>
          </a:p>
          <a:p>
            <a:r>
              <a:rPr lang="zh-CN" altLang="en-US">
                <a:solidFill>
                  <a:schemeClr val="hlink"/>
                </a:solidFill>
              </a:rPr>
              <a:t>顶点</a:t>
            </a:r>
            <a:r>
              <a:rPr lang="en-US" altLang="zh-CN" i="1">
                <a:solidFill>
                  <a:schemeClr val="hlink"/>
                </a:solidFill>
              </a:rPr>
              <a:t>v</a:t>
            </a:r>
            <a:r>
              <a:rPr lang="zh-CN" altLang="en-US">
                <a:solidFill>
                  <a:schemeClr val="hlink"/>
                </a:solidFill>
              </a:rPr>
              <a:t>的层数</a:t>
            </a:r>
            <a:r>
              <a:rPr lang="en-US" altLang="zh-CN"/>
              <a:t>(level): L(</a:t>
            </a:r>
            <a:r>
              <a:rPr lang="en-US" altLang="zh-CN" i="1"/>
              <a:t>v</a:t>
            </a:r>
            <a:r>
              <a:rPr lang="en-US" altLang="zh-CN"/>
              <a:t>)=</a:t>
            </a:r>
            <a:r>
              <a:rPr lang="zh-CN" altLang="en-US"/>
              <a:t>从树根到</a:t>
            </a:r>
            <a:r>
              <a:rPr lang="en-US" altLang="zh-CN" i="1"/>
              <a:t>v</a:t>
            </a:r>
            <a:r>
              <a:rPr lang="zh-CN" altLang="en-US"/>
              <a:t>路径长度</a:t>
            </a:r>
            <a:endParaRPr lang="zh-CN" altLang="en-US"/>
          </a:p>
          <a:p>
            <a:r>
              <a:rPr lang="zh-CN" altLang="en-US">
                <a:solidFill>
                  <a:schemeClr val="hlink"/>
                </a:solidFill>
              </a:rPr>
              <a:t>树高</a:t>
            </a:r>
            <a:r>
              <a:rPr lang="en-US" altLang="zh-CN"/>
              <a:t>(height): </a:t>
            </a:r>
            <a:r>
              <a:rPr lang="en-US" altLang="zh-CN" i="1"/>
              <a:t>h</a:t>
            </a:r>
            <a:r>
              <a:rPr lang="en-US" altLang="zh-CN"/>
              <a:t>(T)=</a:t>
            </a:r>
            <a:r>
              <a:rPr lang="zh-CN" altLang="en-US"/>
              <a:t>顶点的最大层数</a:t>
            </a:r>
            <a:endParaRPr lang="zh-CN" altLang="en-US"/>
          </a:p>
        </p:txBody>
      </p:sp>
      <p:grpSp>
        <p:nvGrpSpPr>
          <p:cNvPr id="8195" name="Group 4"/>
          <p:cNvGrpSpPr/>
          <p:nvPr/>
        </p:nvGrpSpPr>
        <p:grpSpPr>
          <a:xfrm>
            <a:off x="6156325" y="3068638"/>
            <a:ext cx="2376488" cy="2952750"/>
            <a:chOff x="3923" y="1797"/>
            <a:chExt cx="1497" cy="1860"/>
          </a:xfrm>
        </p:grpSpPr>
        <p:sp>
          <p:nvSpPr>
            <p:cNvPr id="8196" name="Oval 5"/>
            <p:cNvSpPr/>
            <p:nvPr/>
          </p:nvSpPr>
          <p:spPr>
            <a:xfrm>
              <a:off x="4604" y="179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197" name="Oval 6"/>
            <p:cNvSpPr/>
            <p:nvPr/>
          </p:nvSpPr>
          <p:spPr>
            <a:xfrm>
              <a:off x="4286" y="220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198" name="Oval 7"/>
            <p:cNvSpPr/>
            <p:nvPr/>
          </p:nvSpPr>
          <p:spPr>
            <a:xfrm>
              <a:off x="5012" y="220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199" name="Line 8"/>
            <p:cNvSpPr/>
            <p:nvPr/>
          </p:nvSpPr>
          <p:spPr>
            <a:xfrm flipH="1">
              <a:off x="4377" y="1933"/>
              <a:ext cx="272" cy="318"/>
            </a:xfrm>
            <a:prstGeom prst="line">
              <a:avLst/>
            </a:prstGeom>
            <a:ln w="9525" cap="flat" cmpd="sng">
              <a:solidFill>
                <a:schemeClr val="tx1"/>
              </a:solidFill>
              <a:prstDash val="solid"/>
              <a:round/>
              <a:headEnd type="none" w="med" len="med"/>
              <a:tailEnd type="none" w="med" len="med"/>
            </a:ln>
          </p:spPr>
        </p:sp>
        <p:sp>
          <p:nvSpPr>
            <p:cNvPr id="8200" name="Line 9"/>
            <p:cNvSpPr/>
            <p:nvPr/>
          </p:nvSpPr>
          <p:spPr>
            <a:xfrm>
              <a:off x="4694" y="1933"/>
              <a:ext cx="363" cy="318"/>
            </a:xfrm>
            <a:prstGeom prst="line">
              <a:avLst/>
            </a:prstGeom>
            <a:ln w="9525" cap="flat" cmpd="sng">
              <a:solidFill>
                <a:schemeClr val="tx1"/>
              </a:solidFill>
              <a:prstDash val="solid"/>
              <a:round/>
              <a:headEnd type="none" w="med" len="med"/>
              <a:tailEnd type="none" w="med" len="med"/>
            </a:ln>
          </p:spPr>
        </p:sp>
        <p:sp>
          <p:nvSpPr>
            <p:cNvPr id="8201" name="Oval 10"/>
            <p:cNvSpPr/>
            <p:nvPr/>
          </p:nvSpPr>
          <p:spPr>
            <a:xfrm>
              <a:off x="3923" y="2568"/>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02" name="Oval 11"/>
            <p:cNvSpPr/>
            <p:nvPr/>
          </p:nvSpPr>
          <p:spPr>
            <a:xfrm>
              <a:off x="4558" y="261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03" name="Line 12"/>
            <p:cNvSpPr/>
            <p:nvPr/>
          </p:nvSpPr>
          <p:spPr>
            <a:xfrm flipH="1">
              <a:off x="4059" y="2341"/>
              <a:ext cx="273" cy="227"/>
            </a:xfrm>
            <a:prstGeom prst="line">
              <a:avLst/>
            </a:prstGeom>
            <a:ln w="9525" cap="flat" cmpd="sng">
              <a:solidFill>
                <a:schemeClr val="tx1"/>
              </a:solidFill>
              <a:prstDash val="solid"/>
              <a:round/>
              <a:headEnd type="none" w="med" len="med"/>
              <a:tailEnd type="none" w="med" len="med"/>
            </a:ln>
          </p:spPr>
        </p:sp>
        <p:sp>
          <p:nvSpPr>
            <p:cNvPr id="8204" name="Line 13"/>
            <p:cNvSpPr/>
            <p:nvPr/>
          </p:nvSpPr>
          <p:spPr>
            <a:xfrm>
              <a:off x="4377" y="2341"/>
              <a:ext cx="227" cy="318"/>
            </a:xfrm>
            <a:prstGeom prst="line">
              <a:avLst/>
            </a:prstGeom>
            <a:ln w="9525" cap="flat" cmpd="sng">
              <a:solidFill>
                <a:schemeClr val="tx1"/>
              </a:solidFill>
              <a:prstDash val="solid"/>
              <a:round/>
              <a:headEnd type="none" w="med" len="med"/>
              <a:tailEnd type="none" w="med" len="med"/>
            </a:ln>
          </p:spPr>
        </p:sp>
        <p:sp>
          <p:nvSpPr>
            <p:cNvPr id="8205" name="Oval 14"/>
            <p:cNvSpPr/>
            <p:nvPr/>
          </p:nvSpPr>
          <p:spPr>
            <a:xfrm>
              <a:off x="4286" y="306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06" name="Oval 15"/>
            <p:cNvSpPr/>
            <p:nvPr/>
          </p:nvSpPr>
          <p:spPr>
            <a:xfrm>
              <a:off x="4921" y="306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07" name="Line 16"/>
            <p:cNvSpPr/>
            <p:nvPr/>
          </p:nvSpPr>
          <p:spPr>
            <a:xfrm flipH="1">
              <a:off x="4377" y="2750"/>
              <a:ext cx="227" cy="363"/>
            </a:xfrm>
            <a:prstGeom prst="line">
              <a:avLst/>
            </a:prstGeom>
            <a:ln w="9525" cap="flat" cmpd="sng">
              <a:solidFill>
                <a:schemeClr val="tx1"/>
              </a:solidFill>
              <a:prstDash val="solid"/>
              <a:round/>
              <a:headEnd type="none" w="med" len="med"/>
              <a:tailEnd type="none" w="med" len="med"/>
            </a:ln>
          </p:spPr>
        </p:sp>
        <p:sp>
          <p:nvSpPr>
            <p:cNvPr id="8208" name="Line 17"/>
            <p:cNvSpPr/>
            <p:nvPr/>
          </p:nvSpPr>
          <p:spPr>
            <a:xfrm>
              <a:off x="4694" y="2750"/>
              <a:ext cx="318" cy="363"/>
            </a:xfrm>
            <a:prstGeom prst="line">
              <a:avLst/>
            </a:prstGeom>
            <a:ln w="9525" cap="flat" cmpd="sng">
              <a:solidFill>
                <a:schemeClr val="tx1"/>
              </a:solidFill>
              <a:prstDash val="solid"/>
              <a:round/>
              <a:headEnd type="none" w="med" len="med"/>
              <a:tailEnd type="none" w="med" len="med"/>
            </a:ln>
          </p:spPr>
        </p:sp>
        <p:sp>
          <p:nvSpPr>
            <p:cNvPr id="8209" name="Line 18"/>
            <p:cNvSpPr/>
            <p:nvPr/>
          </p:nvSpPr>
          <p:spPr>
            <a:xfrm flipH="1">
              <a:off x="4105" y="3203"/>
              <a:ext cx="227" cy="363"/>
            </a:xfrm>
            <a:prstGeom prst="line">
              <a:avLst/>
            </a:prstGeom>
            <a:ln w="9525" cap="flat" cmpd="sng">
              <a:solidFill>
                <a:schemeClr val="tx1"/>
              </a:solidFill>
              <a:prstDash val="solid"/>
              <a:round/>
              <a:headEnd type="none" w="med" len="med"/>
              <a:tailEnd type="none" w="med" len="med"/>
            </a:ln>
          </p:spPr>
        </p:sp>
        <p:sp>
          <p:nvSpPr>
            <p:cNvPr id="8210" name="Line 19"/>
            <p:cNvSpPr/>
            <p:nvPr/>
          </p:nvSpPr>
          <p:spPr>
            <a:xfrm>
              <a:off x="4377" y="3203"/>
              <a:ext cx="227" cy="363"/>
            </a:xfrm>
            <a:prstGeom prst="line">
              <a:avLst/>
            </a:prstGeom>
            <a:ln w="9525" cap="flat" cmpd="sng">
              <a:solidFill>
                <a:schemeClr val="tx1"/>
              </a:solidFill>
              <a:prstDash val="solid"/>
              <a:round/>
              <a:headEnd type="none" w="med" len="med"/>
              <a:tailEnd type="none" w="med" len="med"/>
            </a:ln>
          </p:spPr>
        </p:sp>
        <p:sp>
          <p:nvSpPr>
            <p:cNvPr id="8211" name="Oval 20"/>
            <p:cNvSpPr/>
            <p:nvPr/>
          </p:nvSpPr>
          <p:spPr>
            <a:xfrm>
              <a:off x="4014" y="352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12" name="Oval 21"/>
            <p:cNvSpPr/>
            <p:nvPr/>
          </p:nvSpPr>
          <p:spPr>
            <a:xfrm>
              <a:off x="4558" y="352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13" name="Line 22"/>
            <p:cNvSpPr/>
            <p:nvPr/>
          </p:nvSpPr>
          <p:spPr>
            <a:xfrm>
              <a:off x="5103" y="2341"/>
              <a:ext cx="226" cy="318"/>
            </a:xfrm>
            <a:prstGeom prst="line">
              <a:avLst/>
            </a:prstGeom>
            <a:ln w="9525" cap="flat" cmpd="sng">
              <a:solidFill>
                <a:schemeClr val="tx1"/>
              </a:solidFill>
              <a:prstDash val="solid"/>
              <a:round/>
              <a:headEnd type="none" w="med" len="med"/>
              <a:tailEnd type="none" w="med" len="med"/>
            </a:ln>
          </p:spPr>
        </p:sp>
        <p:sp>
          <p:nvSpPr>
            <p:cNvPr id="8214" name="Oval 23"/>
            <p:cNvSpPr/>
            <p:nvPr/>
          </p:nvSpPr>
          <p:spPr>
            <a:xfrm>
              <a:off x="5284" y="261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grpSp>
        <p:nvGrpSpPr>
          <p:cNvPr id="8215" name="Group 44"/>
          <p:cNvGrpSpPr/>
          <p:nvPr/>
        </p:nvGrpSpPr>
        <p:grpSpPr>
          <a:xfrm>
            <a:off x="1547813" y="3500438"/>
            <a:ext cx="2376487" cy="1512887"/>
            <a:chOff x="975" y="2205"/>
            <a:chExt cx="1497" cy="953"/>
          </a:xfrm>
        </p:grpSpPr>
        <p:sp>
          <p:nvSpPr>
            <p:cNvPr id="8216" name="Oval 25"/>
            <p:cNvSpPr/>
            <p:nvPr/>
          </p:nvSpPr>
          <p:spPr>
            <a:xfrm>
              <a:off x="1656" y="220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17" name="Oval 26"/>
            <p:cNvSpPr/>
            <p:nvPr/>
          </p:nvSpPr>
          <p:spPr>
            <a:xfrm>
              <a:off x="1338" y="261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18" name="Oval 27"/>
            <p:cNvSpPr/>
            <p:nvPr/>
          </p:nvSpPr>
          <p:spPr>
            <a:xfrm>
              <a:off x="2064" y="261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19" name="Line 28"/>
            <p:cNvSpPr/>
            <p:nvPr/>
          </p:nvSpPr>
          <p:spPr>
            <a:xfrm flipH="1">
              <a:off x="1429" y="2341"/>
              <a:ext cx="272" cy="318"/>
            </a:xfrm>
            <a:prstGeom prst="line">
              <a:avLst/>
            </a:prstGeom>
            <a:ln w="9525" cap="flat" cmpd="sng">
              <a:solidFill>
                <a:schemeClr val="tx1"/>
              </a:solidFill>
              <a:prstDash val="solid"/>
              <a:round/>
              <a:headEnd type="none" w="med" len="med"/>
              <a:tailEnd type="none" w="med" len="med"/>
            </a:ln>
          </p:spPr>
        </p:sp>
        <p:sp>
          <p:nvSpPr>
            <p:cNvPr id="8220" name="Line 29"/>
            <p:cNvSpPr/>
            <p:nvPr/>
          </p:nvSpPr>
          <p:spPr>
            <a:xfrm>
              <a:off x="1746" y="2341"/>
              <a:ext cx="363" cy="318"/>
            </a:xfrm>
            <a:prstGeom prst="line">
              <a:avLst/>
            </a:prstGeom>
            <a:ln w="9525" cap="flat" cmpd="sng">
              <a:solidFill>
                <a:schemeClr val="tx1"/>
              </a:solidFill>
              <a:prstDash val="solid"/>
              <a:round/>
              <a:headEnd type="none" w="med" len="med"/>
              <a:tailEnd type="none" w="med" len="med"/>
            </a:ln>
          </p:spPr>
        </p:sp>
        <p:sp>
          <p:nvSpPr>
            <p:cNvPr id="8221" name="Oval 30"/>
            <p:cNvSpPr/>
            <p:nvPr/>
          </p:nvSpPr>
          <p:spPr>
            <a:xfrm>
              <a:off x="975" y="2976"/>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22" name="Oval 31"/>
            <p:cNvSpPr/>
            <p:nvPr/>
          </p:nvSpPr>
          <p:spPr>
            <a:xfrm>
              <a:off x="1610" y="3022"/>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8223" name="Line 32"/>
            <p:cNvSpPr/>
            <p:nvPr/>
          </p:nvSpPr>
          <p:spPr>
            <a:xfrm flipH="1">
              <a:off x="1111" y="2749"/>
              <a:ext cx="273" cy="227"/>
            </a:xfrm>
            <a:prstGeom prst="line">
              <a:avLst/>
            </a:prstGeom>
            <a:ln w="9525" cap="flat" cmpd="sng">
              <a:solidFill>
                <a:schemeClr val="tx1"/>
              </a:solidFill>
              <a:prstDash val="solid"/>
              <a:round/>
              <a:headEnd type="none" w="med" len="med"/>
              <a:tailEnd type="none" w="med" len="med"/>
            </a:ln>
          </p:spPr>
        </p:sp>
        <p:sp>
          <p:nvSpPr>
            <p:cNvPr id="8224" name="Line 33"/>
            <p:cNvSpPr/>
            <p:nvPr/>
          </p:nvSpPr>
          <p:spPr>
            <a:xfrm>
              <a:off x="1429" y="2749"/>
              <a:ext cx="227" cy="318"/>
            </a:xfrm>
            <a:prstGeom prst="line">
              <a:avLst/>
            </a:prstGeom>
            <a:ln w="9525" cap="flat" cmpd="sng">
              <a:solidFill>
                <a:schemeClr val="tx1"/>
              </a:solidFill>
              <a:prstDash val="solid"/>
              <a:round/>
              <a:headEnd type="none" w="med" len="med"/>
              <a:tailEnd type="none" w="med" len="med"/>
            </a:ln>
          </p:spPr>
        </p:sp>
        <p:sp>
          <p:nvSpPr>
            <p:cNvPr id="8225" name="Line 42"/>
            <p:cNvSpPr/>
            <p:nvPr/>
          </p:nvSpPr>
          <p:spPr>
            <a:xfrm>
              <a:off x="2155" y="2749"/>
              <a:ext cx="226" cy="318"/>
            </a:xfrm>
            <a:prstGeom prst="line">
              <a:avLst/>
            </a:prstGeom>
            <a:ln w="9525" cap="flat" cmpd="sng">
              <a:solidFill>
                <a:schemeClr val="tx1"/>
              </a:solidFill>
              <a:prstDash val="solid"/>
              <a:round/>
              <a:headEnd type="none" w="med" len="med"/>
              <a:tailEnd type="none" w="med" len="med"/>
            </a:ln>
          </p:spPr>
        </p:sp>
        <p:sp>
          <p:nvSpPr>
            <p:cNvPr id="8226" name="Oval 43"/>
            <p:cNvSpPr/>
            <p:nvPr/>
          </p:nvSpPr>
          <p:spPr>
            <a:xfrm>
              <a:off x="2336" y="3022"/>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
        <p:nvSpPr>
          <p:cNvPr id="3" name="文本框 2"/>
          <p:cNvSpPr txBox="1"/>
          <p:nvPr/>
        </p:nvSpPr>
        <p:spPr>
          <a:xfrm>
            <a:off x="6251575" y="4940935"/>
            <a:ext cx="460375" cy="368300"/>
          </a:xfrm>
          <a:prstGeom prst="rect">
            <a:avLst/>
          </a:prstGeom>
          <a:noFill/>
        </p:spPr>
        <p:txBody>
          <a:bodyPr wrap="none" rtlCol="0">
            <a:spAutoFit/>
          </a:bodyPr>
          <a:p>
            <a:r>
              <a:rPr lang="en-US" altLang="zh-CN"/>
              <a:t>v2</a:t>
            </a:r>
            <a:endParaRPr lang="en-US" altLang="zh-CN"/>
          </a:p>
        </p:txBody>
      </p:sp>
      <p:sp>
        <p:nvSpPr>
          <p:cNvPr id="4" name="文本框 3"/>
          <p:cNvSpPr txBox="1"/>
          <p:nvPr/>
        </p:nvSpPr>
        <p:spPr>
          <a:xfrm>
            <a:off x="7343775" y="5787390"/>
            <a:ext cx="460375" cy="368300"/>
          </a:xfrm>
          <a:prstGeom prst="rect">
            <a:avLst/>
          </a:prstGeom>
          <a:noFill/>
        </p:spPr>
        <p:txBody>
          <a:bodyPr wrap="none" rtlCol="0">
            <a:spAutoFit/>
          </a:bodyPr>
          <a:p>
            <a:r>
              <a:rPr lang="en-US" altLang="zh-CN"/>
              <a:t>v3</a:t>
            </a:r>
            <a:endParaRPr lang="en-US" altLang="zh-CN"/>
          </a:p>
        </p:txBody>
      </p:sp>
      <p:sp>
        <p:nvSpPr>
          <p:cNvPr id="5" name="文本框 4"/>
          <p:cNvSpPr txBox="1"/>
          <p:nvPr/>
        </p:nvSpPr>
        <p:spPr>
          <a:xfrm>
            <a:off x="8551545" y="4253230"/>
            <a:ext cx="460375" cy="368300"/>
          </a:xfrm>
          <a:prstGeom prst="rect">
            <a:avLst/>
          </a:prstGeom>
          <a:noFill/>
        </p:spPr>
        <p:txBody>
          <a:bodyPr wrap="none" rtlCol="0">
            <a:spAutoFit/>
          </a:bodyPr>
          <a:p>
            <a:r>
              <a:rPr lang="en-US" altLang="zh-CN"/>
              <a:t>v1</a:t>
            </a:r>
            <a:endParaRPr lang="en-US" altLang="zh-CN"/>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p:nvPr>
        </p:nvSpPr>
        <p:spPr/>
        <p:txBody>
          <a:bodyPr vert="horz" wrap="square" lIns="91440" tIns="45720" rIns="91440" bIns="45720" anchor="b" anchorCtr="0"/>
          <a:p>
            <a:r>
              <a:rPr lang="zh-CN" altLang="en-US"/>
              <a:t>家族树</a:t>
            </a:r>
            <a:endParaRPr lang="zh-CN" altLang="en-US"/>
          </a:p>
        </p:txBody>
      </p:sp>
      <p:sp>
        <p:nvSpPr>
          <p:cNvPr id="11266" name="Rectangle 3"/>
          <p:cNvSpPr>
            <a:spLocks noGrp="1"/>
          </p:cNvSpPr>
          <p:nvPr>
            <p:ph idx="1"/>
          </p:nvPr>
        </p:nvSpPr>
        <p:spPr/>
        <p:txBody>
          <a:bodyPr vert="horz" wrap="square" lIns="91440" tIns="45720" rIns="91440" bIns="45720" anchor="t" anchorCtr="0"/>
          <a:p>
            <a:pPr marL="0">
              <a:spcBef>
                <a:spcPts val="200"/>
              </a:spcBef>
            </a:pPr>
            <a:r>
              <a:rPr lang="zh-CN" altLang="en-US">
                <a:solidFill>
                  <a:schemeClr val="hlink"/>
                </a:solidFill>
              </a:rPr>
              <a:t>祖先</a:t>
            </a:r>
            <a:r>
              <a:rPr lang="en-US" altLang="zh-CN"/>
              <a:t>: </a:t>
            </a:r>
            <a:r>
              <a:rPr lang="zh-CN" altLang="en-US"/>
              <a:t>从</a:t>
            </a:r>
            <a:r>
              <a:rPr lang="en-US" altLang="zh-CN" i="1"/>
              <a:t>u</a:t>
            </a:r>
            <a:r>
              <a:rPr lang="zh-CN" altLang="en-US"/>
              <a:t>可达</a:t>
            </a:r>
            <a:r>
              <a:rPr lang="en-US" altLang="zh-CN" i="1"/>
              <a:t>v</a:t>
            </a:r>
            <a:r>
              <a:rPr lang="en-US" altLang="zh-CN"/>
              <a:t>, </a:t>
            </a:r>
            <a:r>
              <a:rPr lang="en-US" altLang="zh-CN" i="1"/>
              <a:t>u</a:t>
            </a:r>
            <a:r>
              <a:rPr lang="zh-CN" altLang="en-US"/>
              <a:t>是</a:t>
            </a:r>
            <a:r>
              <a:rPr lang="en-US" altLang="zh-CN" i="1"/>
              <a:t>v</a:t>
            </a:r>
            <a:r>
              <a:rPr lang="zh-CN" altLang="en-US"/>
              <a:t>的</a:t>
            </a:r>
            <a:r>
              <a:rPr lang="zh-CN" altLang="en-US">
                <a:solidFill>
                  <a:srgbClr val="FF00FF"/>
                </a:solidFill>
              </a:rPr>
              <a:t>祖先</a:t>
            </a:r>
            <a:endParaRPr lang="zh-CN" altLang="en-US">
              <a:solidFill>
                <a:srgbClr val="FF00FF"/>
              </a:solidFill>
            </a:endParaRPr>
          </a:p>
          <a:p>
            <a:pPr marL="0">
              <a:spcBef>
                <a:spcPts val="200"/>
              </a:spcBef>
            </a:pPr>
            <a:r>
              <a:rPr lang="zh-CN" altLang="en-US">
                <a:solidFill>
                  <a:schemeClr val="hlink"/>
                </a:solidFill>
              </a:rPr>
              <a:t>后代</a:t>
            </a:r>
            <a:r>
              <a:rPr lang="en-US" altLang="zh-CN"/>
              <a:t>: </a:t>
            </a:r>
            <a:r>
              <a:rPr lang="zh-CN" altLang="en-US"/>
              <a:t>从</a:t>
            </a:r>
            <a:r>
              <a:rPr lang="en-US" altLang="zh-CN" i="1"/>
              <a:t>u</a:t>
            </a:r>
            <a:r>
              <a:rPr lang="zh-CN" altLang="en-US"/>
              <a:t>可达</a:t>
            </a:r>
            <a:r>
              <a:rPr lang="en-US" altLang="zh-CN" i="1"/>
              <a:t>v</a:t>
            </a:r>
            <a:r>
              <a:rPr lang="en-US" altLang="zh-CN"/>
              <a:t>, </a:t>
            </a:r>
            <a:r>
              <a:rPr lang="en-US" altLang="zh-CN" i="1"/>
              <a:t>v</a:t>
            </a:r>
            <a:r>
              <a:rPr lang="zh-CN" altLang="en-US"/>
              <a:t>是</a:t>
            </a:r>
            <a:r>
              <a:rPr lang="en-US" altLang="zh-CN" i="1"/>
              <a:t>u</a:t>
            </a:r>
            <a:r>
              <a:rPr lang="zh-CN" altLang="en-US"/>
              <a:t>的</a:t>
            </a:r>
            <a:r>
              <a:rPr lang="zh-CN" altLang="en-US">
                <a:solidFill>
                  <a:srgbClr val="FF00FF"/>
                </a:solidFill>
              </a:rPr>
              <a:t>后代</a:t>
            </a:r>
            <a:endParaRPr lang="zh-CN" altLang="en-US">
              <a:solidFill>
                <a:srgbClr val="996633"/>
              </a:solidFill>
            </a:endParaRPr>
          </a:p>
          <a:p>
            <a:pPr marL="0">
              <a:spcBef>
                <a:spcPts val="200"/>
              </a:spcBef>
            </a:pPr>
            <a:r>
              <a:rPr lang="zh-CN" altLang="en-US">
                <a:solidFill>
                  <a:schemeClr val="hlink"/>
                </a:solidFill>
              </a:rPr>
              <a:t>父亲</a:t>
            </a:r>
            <a:r>
              <a:rPr lang="en-US" altLang="zh-CN"/>
              <a:t>: </a:t>
            </a:r>
            <a:r>
              <a:rPr lang="en-US" altLang="zh-CN" i="1"/>
              <a:t>u</a:t>
            </a:r>
            <a:r>
              <a:rPr lang="zh-CN" altLang="en-US"/>
              <a:t>邻接到</a:t>
            </a:r>
            <a:r>
              <a:rPr lang="en-US" altLang="zh-CN" i="1"/>
              <a:t>v</a:t>
            </a:r>
            <a:r>
              <a:rPr lang="en-US" altLang="zh-CN"/>
              <a:t>, </a:t>
            </a:r>
            <a:r>
              <a:rPr lang="en-US" altLang="zh-CN" i="1"/>
              <a:t>u</a:t>
            </a:r>
            <a:r>
              <a:rPr lang="zh-CN" altLang="en-US"/>
              <a:t>是</a:t>
            </a:r>
            <a:r>
              <a:rPr lang="en-US" altLang="zh-CN" i="1"/>
              <a:t>v</a:t>
            </a:r>
            <a:r>
              <a:rPr lang="zh-CN" altLang="en-US"/>
              <a:t>的</a:t>
            </a:r>
            <a:r>
              <a:rPr lang="zh-CN" altLang="en-US">
                <a:solidFill>
                  <a:srgbClr val="0070C0"/>
                </a:solidFill>
              </a:rPr>
              <a:t>父亲</a:t>
            </a:r>
            <a:endParaRPr lang="zh-CN" altLang="en-US">
              <a:solidFill>
                <a:srgbClr val="FF00FF"/>
              </a:solidFill>
            </a:endParaRPr>
          </a:p>
          <a:p>
            <a:pPr marL="0">
              <a:spcBef>
                <a:spcPts val="200"/>
              </a:spcBef>
            </a:pPr>
            <a:r>
              <a:rPr lang="zh-CN" altLang="en-US">
                <a:solidFill>
                  <a:schemeClr val="hlink"/>
                </a:solidFill>
              </a:rPr>
              <a:t>儿子</a:t>
            </a:r>
            <a:r>
              <a:rPr lang="en-US" altLang="zh-CN"/>
              <a:t>: </a:t>
            </a:r>
            <a:r>
              <a:rPr lang="en-US" altLang="zh-CN" i="1">
                <a:sym typeface="黑体" panose="02010609060101010101" pitchFamily="49" charset="-122"/>
              </a:rPr>
              <a:t>u</a:t>
            </a:r>
            <a:r>
              <a:rPr lang="zh-CN" altLang="en-US">
                <a:sym typeface="黑体" panose="02010609060101010101" pitchFamily="49" charset="-122"/>
              </a:rPr>
              <a:t>邻接到</a:t>
            </a:r>
            <a:r>
              <a:rPr lang="en-US" altLang="zh-CN" i="1">
                <a:sym typeface="黑体" panose="02010609060101010101" pitchFamily="49" charset="-122"/>
              </a:rPr>
              <a:t>v</a:t>
            </a:r>
            <a:r>
              <a:rPr lang="en-US" altLang="zh-CN">
                <a:sym typeface="黑体" panose="02010609060101010101" pitchFamily="49" charset="-122"/>
              </a:rPr>
              <a:t>, </a:t>
            </a:r>
            <a:r>
              <a:rPr lang="en-US" altLang="zh-CN" i="1"/>
              <a:t>v</a:t>
            </a:r>
            <a:r>
              <a:rPr lang="zh-CN" altLang="en-US"/>
              <a:t>是</a:t>
            </a:r>
            <a:r>
              <a:rPr lang="en-US" altLang="zh-CN" i="1"/>
              <a:t>u</a:t>
            </a:r>
            <a:r>
              <a:rPr lang="zh-CN" altLang="en-US"/>
              <a:t>的</a:t>
            </a:r>
            <a:r>
              <a:rPr lang="zh-CN" altLang="en-US">
                <a:solidFill>
                  <a:srgbClr val="0070C0"/>
                </a:solidFill>
              </a:rPr>
              <a:t>儿子</a:t>
            </a:r>
            <a:endParaRPr lang="zh-CN" altLang="en-US">
              <a:solidFill>
                <a:srgbClr val="FF00FF"/>
              </a:solidFill>
            </a:endParaRPr>
          </a:p>
          <a:p>
            <a:pPr marL="0">
              <a:spcBef>
                <a:spcPts val="200"/>
              </a:spcBef>
            </a:pPr>
            <a:r>
              <a:rPr lang="zh-CN" altLang="en-US">
                <a:solidFill>
                  <a:schemeClr val="hlink"/>
                </a:solidFill>
              </a:rPr>
              <a:t>兄弟</a:t>
            </a:r>
            <a:r>
              <a:rPr lang="en-US" altLang="zh-CN"/>
              <a:t>: </a:t>
            </a:r>
            <a:r>
              <a:rPr lang="en-US" altLang="zh-CN" i="1"/>
              <a:t>u</a:t>
            </a:r>
            <a:r>
              <a:rPr lang="zh-CN" altLang="en-US"/>
              <a:t>与</a:t>
            </a:r>
            <a:r>
              <a:rPr lang="en-US" altLang="zh-CN" i="1"/>
              <a:t>v</a:t>
            </a:r>
            <a:r>
              <a:rPr lang="zh-CN" altLang="en-US"/>
              <a:t>有相同父亲</a:t>
            </a:r>
            <a:r>
              <a:rPr lang="en-US" altLang="zh-CN"/>
              <a:t>, </a:t>
            </a:r>
            <a:r>
              <a:rPr lang="en-US" altLang="zh-CN" i="1"/>
              <a:t>u</a:t>
            </a:r>
            <a:r>
              <a:rPr lang="zh-CN" altLang="en-US"/>
              <a:t>是</a:t>
            </a:r>
            <a:r>
              <a:rPr lang="en-US" altLang="zh-CN" i="1"/>
              <a:t>v</a:t>
            </a:r>
            <a:r>
              <a:rPr lang="zh-CN" altLang="en-US"/>
              <a:t>的</a:t>
            </a:r>
            <a:r>
              <a:rPr lang="zh-CN" altLang="en-US">
                <a:solidFill>
                  <a:srgbClr val="00B050"/>
                </a:solidFill>
              </a:rPr>
              <a:t>兄弟</a:t>
            </a:r>
            <a:endParaRPr lang="en-US" altLang="zh-CN">
              <a:solidFill>
                <a:srgbClr val="996633"/>
              </a:solidFill>
            </a:endParaRPr>
          </a:p>
          <a:p>
            <a:pPr marL="0">
              <a:spcBef>
                <a:spcPts val="200"/>
              </a:spcBef>
              <a:buNone/>
            </a:pPr>
            <a:endParaRPr lang="zh-CN" altLang="en-US" sz="2400">
              <a:solidFill>
                <a:srgbClr val="FF0000"/>
              </a:solidFill>
            </a:endParaRPr>
          </a:p>
          <a:p>
            <a:pPr marL="0">
              <a:spcBef>
                <a:spcPts val="200"/>
              </a:spcBef>
              <a:buNone/>
            </a:pPr>
            <a:r>
              <a:rPr lang="zh-CN" altLang="en-US">
                <a:solidFill>
                  <a:srgbClr val="FF0000"/>
                </a:solidFill>
              </a:rPr>
              <a:t>课后作业一</a:t>
            </a:r>
            <a:r>
              <a:rPr lang="zh-CN" altLang="en-US" sz="2400">
                <a:solidFill>
                  <a:srgbClr val="FF0000"/>
                </a:solidFill>
              </a:rPr>
              <a:t>：在右图的根数中</a:t>
            </a:r>
            <a:r>
              <a:rPr lang="en-US" altLang="zh-CN" sz="2400">
                <a:solidFill>
                  <a:srgbClr val="FF0000"/>
                </a:solidFill>
              </a:rPr>
              <a:t>,</a:t>
            </a:r>
            <a:r>
              <a:rPr lang="zh-CN" altLang="en-US" sz="2400">
                <a:solidFill>
                  <a:srgbClr val="FF0000"/>
                </a:solidFill>
              </a:rPr>
              <a:t> 求</a:t>
            </a:r>
            <a:r>
              <a:rPr lang="en-US" altLang="zh-CN" sz="2400" i="1">
                <a:solidFill>
                  <a:srgbClr val="FF0000"/>
                </a:solidFill>
              </a:rPr>
              <a:t>c</a:t>
            </a:r>
            <a:r>
              <a:rPr lang="zh-CN" altLang="en-US" sz="2400">
                <a:solidFill>
                  <a:srgbClr val="FF0000"/>
                </a:solidFill>
              </a:rPr>
              <a:t>的父亲</a:t>
            </a:r>
            <a:r>
              <a:rPr lang="en-US" altLang="zh-CN" sz="2400">
                <a:solidFill>
                  <a:srgbClr val="FF0000"/>
                </a:solidFill>
              </a:rPr>
              <a:t>,</a:t>
            </a:r>
            <a:r>
              <a:rPr lang="zh-CN" altLang="en-US" sz="2400">
                <a:solidFill>
                  <a:srgbClr val="FF0000"/>
                </a:solidFill>
              </a:rPr>
              <a:t> </a:t>
            </a:r>
            <a:r>
              <a:rPr lang="en-US" altLang="zh-CN" sz="2400" i="1">
                <a:solidFill>
                  <a:srgbClr val="FF0000"/>
                </a:solidFill>
              </a:rPr>
              <a:t>f</a:t>
            </a:r>
            <a:r>
              <a:rPr lang="zh-CN" altLang="en-US" sz="2400">
                <a:solidFill>
                  <a:srgbClr val="FF0000"/>
                </a:solidFill>
              </a:rPr>
              <a:t>的儿子</a:t>
            </a:r>
            <a:r>
              <a:rPr lang="en-US" altLang="zh-CN" sz="2400">
                <a:solidFill>
                  <a:srgbClr val="FF0000"/>
                </a:solidFill>
              </a:rPr>
              <a:t>,</a:t>
            </a:r>
            <a:r>
              <a:rPr lang="zh-CN" altLang="en-US" sz="2400">
                <a:solidFill>
                  <a:srgbClr val="FF0000"/>
                </a:solidFill>
              </a:rPr>
              <a:t> </a:t>
            </a:r>
            <a:r>
              <a:rPr lang="en-US" altLang="zh-CN" sz="2400" i="1">
                <a:solidFill>
                  <a:srgbClr val="FF0000"/>
                </a:solidFill>
              </a:rPr>
              <a:t>f</a:t>
            </a:r>
            <a:r>
              <a:rPr lang="zh-CN" altLang="en-US" sz="2400">
                <a:solidFill>
                  <a:srgbClr val="FF0000"/>
                </a:solidFill>
              </a:rPr>
              <a:t>的</a:t>
            </a:r>
            <a:endParaRPr lang="en-US" altLang="zh-CN" sz="2400">
              <a:solidFill>
                <a:srgbClr val="FF0000"/>
              </a:solidFill>
            </a:endParaRPr>
          </a:p>
          <a:p>
            <a:pPr marL="0">
              <a:spcBef>
                <a:spcPts val="200"/>
              </a:spcBef>
              <a:buNone/>
            </a:pPr>
            <a:r>
              <a:rPr lang="zh-CN" altLang="en-US" sz="2400">
                <a:solidFill>
                  <a:srgbClr val="FF0000"/>
                </a:solidFill>
              </a:rPr>
              <a:t>兄弟</a:t>
            </a:r>
            <a:r>
              <a:rPr lang="en-US" altLang="zh-CN" sz="2400">
                <a:solidFill>
                  <a:srgbClr val="FF0000"/>
                </a:solidFill>
              </a:rPr>
              <a:t>,</a:t>
            </a:r>
            <a:r>
              <a:rPr lang="zh-CN" altLang="en-US" sz="2400">
                <a:solidFill>
                  <a:srgbClr val="FF0000"/>
                </a:solidFill>
              </a:rPr>
              <a:t> </a:t>
            </a:r>
            <a:r>
              <a:rPr lang="en-US" altLang="zh-CN" sz="2400" i="1">
                <a:solidFill>
                  <a:srgbClr val="FF0000"/>
                </a:solidFill>
              </a:rPr>
              <a:t>e</a:t>
            </a:r>
            <a:r>
              <a:rPr lang="zh-CN" altLang="en-US" sz="2400">
                <a:solidFill>
                  <a:srgbClr val="FF0000"/>
                </a:solidFill>
              </a:rPr>
              <a:t>的所有祖先</a:t>
            </a:r>
            <a:r>
              <a:rPr lang="en-US" altLang="zh-CN" sz="2400">
                <a:solidFill>
                  <a:srgbClr val="FF0000"/>
                </a:solidFill>
              </a:rPr>
              <a:t>,</a:t>
            </a:r>
            <a:r>
              <a:rPr lang="zh-CN" altLang="en-US" sz="2400">
                <a:solidFill>
                  <a:srgbClr val="FF0000"/>
                </a:solidFill>
              </a:rPr>
              <a:t> </a:t>
            </a:r>
            <a:r>
              <a:rPr lang="en-US" altLang="zh-CN" sz="2400" i="1">
                <a:solidFill>
                  <a:srgbClr val="FF0000"/>
                </a:solidFill>
              </a:rPr>
              <a:t>b</a:t>
            </a:r>
            <a:r>
              <a:rPr lang="zh-CN" altLang="en-US" sz="2400">
                <a:solidFill>
                  <a:srgbClr val="FF0000"/>
                </a:solidFill>
              </a:rPr>
              <a:t>的所有后代</a:t>
            </a:r>
            <a:r>
              <a:rPr lang="en-US" altLang="zh-CN" sz="2400">
                <a:solidFill>
                  <a:srgbClr val="FF0000"/>
                </a:solidFill>
              </a:rPr>
              <a:t>,</a:t>
            </a:r>
            <a:r>
              <a:rPr lang="zh-CN" altLang="en-US" sz="2400">
                <a:solidFill>
                  <a:srgbClr val="FF0000"/>
                </a:solidFill>
              </a:rPr>
              <a:t> 所有内点</a:t>
            </a:r>
            <a:endParaRPr lang="en-US" altLang="zh-CN" sz="2400">
              <a:solidFill>
                <a:srgbClr val="FF0000"/>
              </a:solidFill>
            </a:endParaRPr>
          </a:p>
          <a:p>
            <a:pPr marL="0">
              <a:spcBef>
                <a:spcPts val="200"/>
              </a:spcBef>
              <a:buNone/>
            </a:pPr>
            <a:r>
              <a:rPr lang="zh-CN" altLang="en-US" sz="2400">
                <a:solidFill>
                  <a:srgbClr val="FF0000"/>
                </a:solidFill>
              </a:rPr>
              <a:t>以及所有树叶？</a:t>
            </a:r>
            <a:endParaRPr lang="zh-CN" altLang="en-US" sz="2400">
              <a:solidFill>
                <a:srgbClr val="FF0000"/>
              </a:solidFill>
            </a:endParaRPr>
          </a:p>
        </p:txBody>
      </p:sp>
      <p:grpSp>
        <p:nvGrpSpPr>
          <p:cNvPr id="11267" name="组 2"/>
          <p:cNvGrpSpPr/>
          <p:nvPr/>
        </p:nvGrpSpPr>
        <p:grpSpPr>
          <a:xfrm>
            <a:off x="6184900" y="1001713"/>
            <a:ext cx="2525713" cy="3311525"/>
            <a:chOff x="6007998" y="2996952"/>
            <a:chExt cx="2524815" cy="3312368"/>
          </a:xfrm>
        </p:grpSpPr>
        <p:grpSp>
          <p:nvGrpSpPr>
            <p:cNvPr id="11268" name="Group 4"/>
            <p:cNvGrpSpPr/>
            <p:nvPr/>
          </p:nvGrpSpPr>
          <p:grpSpPr>
            <a:xfrm>
              <a:off x="6156325" y="3213100"/>
              <a:ext cx="2376488" cy="2952750"/>
              <a:chOff x="3923" y="1797"/>
              <a:chExt cx="1497" cy="1860"/>
            </a:xfrm>
          </p:grpSpPr>
          <p:sp>
            <p:nvSpPr>
              <p:cNvPr id="11269" name="Oval 5"/>
              <p:cNvSpPr/>
              <p:nvPr/>
            </p:nvSpPr>
            <p:spPr>
              <a:xfrm>
                <a:off x="4604" y="1797"/>
                <a:ext cx="136" cy="136"/>
              </a:xfrm>
              <a:prstGeom prst="ellipse">
                <a:avLst/>
              </a:prstGeom>
              <a:solidFill>
                <a:srgbClr val="FF00FF"/>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70" name="Oval 6"/>
              <p:cNvSpPr/>
              <p:nvPr/>
            </p:nvSpPr>
            <p:spPr>
              <a:xfrm>
                <a:off x="4286" y="2205"/>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71" name="Oval 7"/>
              <p:cNvSpPr/>
              <p:nvPr/>
            </p:nvSpPr>
            <p:spPr>
              <a:xfrm>
                <a:off x="5012" y="2205"/>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72" name="Line 8"/>
              <p:cNvSpPr/>
              <p:nvPr/>
            </p:nvSpPr>
            <p:spPr>
              <a:xfrm flipH="1">
                <a:off x="4377" y="1933"/>
                <a:ext cx="272" cy="318"/>
              </a:xfrm>
              <a:prstGeom prst="line">
                <a:avLst/>
              </a:prstGeom>
              <a:ln w="9525" cap="flat" cmpd="sng">
                <a:solidFill>
                  <a:schemeClr val="tx1"/>
                </a:solidFill>
                <a:prstDash val="solid"/>
                <a:round/>
                <a:headEnd type="none" w="med" len="med"/>
                <a:tailEnd type="none" w="med" len="med"/>
              </a:ln>
            </p:spPr>
          </p:sp>
          <p:sp>
            <p:nvSpPr>
              <p:cNvPr id="11273" name="Line 9"/>
              <p:cNvSpPr/>
              <p:nvPr/>
            </p:nvSpPr>
            <p:spPr>
              <a:xfrm>
                <a:off x="4694" y="1933"/>
                <a:ext cx="363" cy="318"/>
              </a:xfrm>
              <a:prstGeom prst="line">
                <a:avLst/>
              </a:prstGeom>
              <a:ln w="9525" cap="flat" cmpd="sng">
                <a:solidFill>
                  <a:schemeClr val="tx1"/>
                </a:solidFill>
                <a:prstDash val="solid"/>
                <a:round/>
                <a:headEnd type="none" w="med" len="med"/>
                <a:tailEnd type="none" w="med" len="med"/>
              </a:ln>
            </p:spPr>
          </p:sp>
          <p:sp>
            <p:nvSpPr>
              <p:cNvPr id="11274" name="Oval 10"/>
              <p:cNvSpPr/>
              <p:nvPr/>
            </p:nvSpPr>
            <p:spPr>
              <a:xfrm>
                <a:off x="3923" y="2568"/>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75" name="Oval 11"/>
              <p:cNvSpPr/>
              <p:nvPr/>
            </p:nvSpPr>
            <p:spPr>
              <a:xfrm>
                <a:off x="4558" y="2614"/>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76" name="Line 12"/>
              <p:cNvSpPr/>
              <p:nvPr/>
            </p:nvSpPr>
            <p:spPr>
              <a:xfrm flipH="1">
                <a:off x="4059" y="2341"/>
                <a:ext cx="273" cy="227"/>
              </a:xfrm>
              <a:prstGeom prst="line">
                <a:avLst/>
              </a:prstGeom>
              <a:ln w="9525" cap="flat" cmpd="sng">
                <a:solidFill>
                  <a:schemeClr val="tx1"/>
                </a:solidFill>
                <a:prstDash val="solid"/>
                <a:round/>
                <a:headEnd type="none" w="med" len="med"/>
                <a:tailEnd type="none" w="med" len="med"/>
              </a:ln>
            </p:spPr>
          </p:sp>
          <p:sp>
            <p:nvSpPr>
              <p:cNvPr id="11277" name="Line 13"/>
              <p:cNvSpPr/>
              <p:nvPr/>
            </p:nvSpPr>
            <p:spPr>
              <a:xfrm>
                <a:off x="4377" y="2341"/>
                <a:ext cx="227" cy="318"/>
              </a:xfrm>
              <a:prstGeom prst="line">
                <a:avLst/>
              </a:prstGeom>
              <a:ln w="9525" cap="flat" cmpd="sng">
                <a:solidFill>
                  <a:schemeClr val="tx1"/>
                </a:solidFill>
                <a:prstDash val="solid"/>
                <a:round/>
                <a:headEnd type="none" w="med" len="med"/>
                <a:tailEnd type="none" w="med" len="med"/>
              </a:ln>
            </p:spPr>
          </p:sp>
          <p:sp>
            <p:nvSpPr>
              <p:cNvPr id="11278" name="Oval 14"/>
              <p:cNvSpPr/>
              <p:nvPr/>
            </p:nvSpPr>
            <p:spPr>
              <a:xfrm>
                <a:off x="4286" y="3067"/>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79" name="Oval 15"/>
              <p:cNvSpPr/>
              <p:nvPr/>
            </p:nvSpPr>
            <p:spPr>
              <a:xfrm>
                <a:off x="4921" y="3067"/>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80" name="Line 16"/>
              <p:cNvSpPr/>
              <p:nvPr/>
            </p:nvSpPr>
            <p:spPr>
              <a:xfrm flipH="1">
                <a:off x="4377" y="2750"/>
                <a:ext cx="227" cy="363"/>
              </a:xfrm>
              <a:prstGeom prst="line">
                <a:avLst/>
              </a:prstGeom>
              <a:ln w="9525" cap="flat" cmpd="sng">
                <a:solidFill>
                  <a:schemeClr val="tx1"/>
                </a:solidFill>
                <a:prstDash val="solid"/>
                <a:round/>
                <a:headEnd type="none" w="med" len="med"/>
                <a:tailEnd type="none" w="med" len="med"/>
              </a:ln>
            </p:spPr>
          </p:sp>
          <p:sp>
            <p:nvSpPr>
              <p:cNvPr id="11281" name="Line 17"/>
              <p:cNvSpPr/>
              <p:nvPr/>
            </p:nvSpPr>
            <p:spPr>
              <a:xfrm>
                <a:off x="4694" y="2750"/>
                <a:ext cx="318" cy="363"/>
              </a:xfrm>
              <a:prstGeom prst="line">
                <a:avLst/>
              </a:prstGeom>
              <a:ln w="9525" cap="flat" cmpd="sng">
                <a:solidFill>
                  <a:schemeClr val="tx1"/>
                </a:solidFill>
                <a:prstDash val="solid"/>
                <a:round/>
                <a:headEnd type="none" w="med" len="med"/>
                <a:tailEnd type="none" w="med" len="med"/>
              </a:ln>
            </p:spPr>
          </p:sp>
          <p:sp>
            <p:nvSpPr>
              <p:cNvPr id="11282" name="Line 18"/>
              <p:cNvSpPr/>
              <p:nvPr/>
            </p:nvSpPr>
            <p:spPr>
              <a:xfrm flipH="1">
                <a:off x="4105" y="3203"/>
                <a:ext cx="227" cy="363"/>
              </a:xfrm>
              <a:prstGeom prst="line">
                <a:avLst/>
              </a:prstGeom>
              <a:ln w="9525" cap="flat" cmpd="sng">
                <a:solidFill>
                  <a:schemeClr val="tx1"/>
                </a:solidFill>
                <a:prstDash val="solid"/>
                <a:round/>
                <a:headEnd type="none" w="med" len="med"/>
                <a:tailEnd type="none" w="med" len="med"/>
              </a:ln>
            </p:spPr>
          </p:sp>
          <p:sp>
            <p:nvSpPr>
              <p:cNvPr id="11283" name="Line 19"/>
              <p:cNvSpPr/>
              <p:nvPr/>
            </p:nvSpPr>
            <p:spPr>
              <a:xfrm>
                <a:off x="4377" y="3203"/>
                <a:ext cx="227" cy="363"/>
              </a:xfrm>
              <a:prstGeom prst="line">
                <a:avLst/>
              </a:prstGeom>
              <a:ln w="9525" cap="flat" cmpd="sng">
                <a:solidFill>
                  <a:schemeClr val="tx1"/>
                </a:solidFill>
                <a:prstDash val="solid"/>
                <a:round/>
                <a:headEnd type="none" w="med" len="med"/>
                <a:tailEnd type="none" w="med" len="med"/>
              </a:ln>
            </p:spPr>
          </p:sp>
          <p:sp>
            <p:nvSpPr>
              <p:cNvPr id="11284" name="Oval 20"/>
              <p:cNvSpPr/>
              <p:nvPr/>
            </p:nvSpPr>
            <p:spPr>
              <a:xfrm>
                <a:off x="4014" y="3521"/>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85" name="Oval 21"/>
              <p:cNvSpPr/>
              <p:nvPr/>
            </p:nvSpPr>
            <p:spPr>
              <a:xfrm>
                <a:off x="4558" y="3521"/>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1286" name="Line 22"/>
              <p:cNvSpPr/>
              <p:nvPr/>
            </p:nvSpPr>
            <p:spPr>
              <a:xfrm>
                <a:off x="5103" y="2341"/>
                <a:ext cx="226" cy="318"/>
              </a:xfrm>
              <a:prstGeom prst="line">
                <a:avLst/>
              </a:prstGeom>
              <a:ln w="9525" cap="flat" cmpd="sng">
                <a:solidFill>
                  <a:schemeClr val="tx1"/>
                </a:solidFill>
                <a:prstDash val="solid"/>
                <a:round/>
                <a:headEnd type="none" w="med" len="med"/>
                <a:tailEnd type="none" w="med" len="med"/>
              </a:ln>
            </p:spPr>
          </p:sp>
          <p:sp>
            <p:nvSpPr>
              <p:cNvPr id="11287" name="Oval 23"/>
              <p:cNvSpPr/>
              <p:nvPr/>
            </p:nvSpPr>
            <p:spPr>
              <a:xfrm>
                <a:off x="5284" y="2614"/>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11288" name="文本框 1"/>
            <p:cNvSpPr txBox="1"/>
            <p:nvPr/>
          </p:nvSpPr>
          <p:spPr>
            <a:xfrm>
              <a:off x="6877050" y="2996952"/>
              <a:ext cx="364202"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a</a:t>
              </a:r>
              <a:endParaRPr lang="zh-CN" altLang="en-US" i="1" dirty="0">
                <a:latin typeface="Times New Roman" panose="02020603050405020304" pitchFamily="18" charset="0"/>
                <a:ea typeface="宋体" panose="02010600030101010101" pitchFamily="2" charset="-122"/>
              </a:endParaRPr>
            </a:p>
          </p:txBody>
        </p:sp>
        <p:sp>
          <p:nvSpPr>
            <p:cNvPr id="11289" name="文本框 36"/>
            <p:cNvSpPr txBox="1"/>
            <p:nvPr/>
          </p:nvSpPr>
          <p:spPr>
            <a:xfrm>
              <a:off x="6440046" y="3553852"/>
              <a:ext cx="364202"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b</a:t>
              </a:r>
              <a:endParaRPr lang="zh-CN" altLang="en-US" i="1" dirty="0">
                <a:latin typeface="Times New Roman" panose="02020603050405020304" pitchFamily="18" charset="0"/>
                <a:ea typeface="宋体" panose="02010600030101010101" pitchFamily="2" charset="-122"/>
              </a:endParaRPr>
            </a:p>
          </p:txBody>
        </p:sp>
        <p:sp>
          <p:nvSpPr>
            <p:cNvPr id="11290" name="文本框 37"/>
            <p:cNvSpPr txBox="1"/>
            <p:nvPr/>
          </p:nvSpPr>
          <p:spPr>
            <a:xfrm>
              <a:off x="6012160" y="4489956"/>
              <a:ext cx="343364"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c</a:t>
              </a:r>
              <a:endParaRPr lang="zh-CN" altLang="en-US" i="1" dirty="0">
                <a:latin typeface="Times New Roman" panose="02020603050405020304" pitchFamily="18" charset="0"/>
                <a:ea typeface="宋体" panose="02010600030101010101" pitchFamily="2" charset="-122"/>
              </a:endParaRPr>
            </a:p>
          </p:txBody>
        </p:sp>
        <p:sp>
          <p:nvSpPr>
            <p:cNvPr id="11291" name="文本框 38"/>
            <p:cNvSpPr txBox="1"/>
            <p:nvPr/>
          </p:nvSpPr>
          <p:spPr>
            <a:xfrm>
              <a:off x="6007998" y="5786100"/>
              <a:ext cx="364202"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d</a:t>
              </a:r>
              <a:endParaRPr lang="zh-CN" altLang="en-US" i="1" dirty="0">
                <a:latin typeface="Times New Roman" panose="02020603050405020304" pitchFamily="18" charset="0"/>
                <a:ea typeface="宋体" panose="02010600030101010101" pitchFamily="2" charset="-122"/>
              </a:endParaRPr>
            </a:p>
          </p:txBody>
        </p:sp>
        <p:sp>
          <p:nvSpPr>
            <p:cNvPr id="11292" name="文本框 39"/>
            <p:cNvSpPr txBox="1"/>
            <p:nvPr/>
          </p:nvSpPr>
          <p:spPr>
            <a:xfrm>
              <a:off x="6372200" y="4994012"/>
              <a:ext cx="343364"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e</a:t>
              </a:r>
              <a:endParaRPr lang="zh-CN" altLang="en-US" i="1" dirty="0">
                <a:latin typeface="Times New Roman" panose="02020603050405020304" pitchFamily="18" charset="0"/>
                <a:ea typeface="宋体" panose="02010600030101010101" pitchFamily="2" charset="-122"/>
              </a:endParaRPr>
            </a:p>
          </p:txBody>
        </p:sp>
        <p:sp>
          <p:nvSpPr>
            <p:cNvPr id="11293" name="文本框 40"/>
            <p:cNvSpPr txBox="1"/>
            <p:nvPr/>
          </p:nvSpPr>
          <p:spPr>
            <a:xfrm>
              <a:off x="6804248" y="4345940"/>
              <a:ext cx="304892"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f</a:t>
              </a:r>
              <a:endParaRPr lang="zh-CN" altLang="en-US" i="1" dirty="0">
                <a:latin typeface="Times New Roman" panose="02020603050405020304" pitchFamily="18" charset="0"/>
                <a:ea typeface="宋体" panose="02010600030101010101" pitchFamily="2" charset="-122"/>
              </a:endParaRPr>
            </a:p>
          </p:txBody>
        </p:sp>
        <p:sp>
          <p:nvSpPr>
            <p:cNvPr id="11294" name="文本框 41"/>
            <p:cNvSpPr txBox="1"/>
            <p:nvPr/>
          </p:nvSpPr>
          <p:spPr>
            <a:xfrm>
              <a:off x="6804248" y="5786100"/>
              <a:ext cx="364202"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g</a:t>
              </a:r>
              <a:endParaRPr lang="zh-CN" altLang="en-US" i="1" dirty="0">
                <a:latin typeface="Times New Roman" panose="02020603050405020304" pitchFamily="18" charset="0"/>
                <a:ea typeface="宋体" panose="02010600030101010101" pitchFamily="2" charset="-122"/>
              </a:endParaRPr>
            </a:p>
          </p:txBody>
        </p:sp>
        <p:sp>
          <p:nvSpPr>
            <p:cNvPr id="11295" name="文本框 42"/>
            <p:cNvSpPr txBox="1"/>
            <p:nvPr/>
          </p:nvSpPr>
          <p:spPr>
            <a:xfrm>
              <a:off x="7448158" y="5138028"/>
              <a:ext cx="385042"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h</a:t>
              </a:r>
              <a:endParaRPr lang="zh-CN" altLang="en-US" i="1" dirty="0">
                <a:latin typeface="Times New Roman" panose="02020603050405020304" pitchFamily="18" charset="0"/>
                <a:ea typeface="宋体" panose="02010600030101010101" pitchFamily="2" charset="-122"/>
              </a:endParaRPr>
            </a:p>
          </p:txBody>
        </p:sp>
        <p:sp>
          <p:nvSpPr>
            <p:cNvPr id="11296" name="文本框 43"/>
            <p:cNvSpPr txBox="1"/>
            <p:nvPr/>
          </p:nvSpPr>
          <p:spPr>
            <a:xfrm>
              <a:off x="8028384" y="4489956"/>
              <a:ext cx="284052" cy="523220"/>
            </a:xfrm>
            <a:prstGeom prst="rect">
              <a:avLst/>
            </a:prstGeom>
            <a:noFill/>
            <a:ln w="9525">
              <a:noFill/>
            </a:ln>
          </p:spPr>
          <p:txBody>
            <a:bodyPr wrap="none" anchor="t" anchorCtr="0">
              <a:spAutoFit/>
            </a:bodyPr>
            <a:p>
              <a:pPr eaLnBrk="0" hangingPunct="0">
                <a:buSzTx/>
              </a:pPr>
              <a:r>
                <a:rPr lang="en-US" altLang="zh-CN" sz="2800" i="1" dirty="0" err="1">
                  <a:latin typeface="Times New Roman" panose="02020603050405020304" pitchFamily="18" charset="0"/>
                  <a:ea typeface="宋体" panose="02010600030101010101" pitchFamily="2" charset="-122"/>
                </a:rPr>
                <a:t>i</a:t>
              </a:r>
              <a:endParaRPr lang="zh-CN" altLang="en-US" i="1" dirty="0">
                <a:latin typeface="Times New Roman" panose="02020603050405020304" pitchFamily="18" charset="0"/>
                <a:ea typeface="宋体" panose="02010600030101010101" pitchFamily="2" charset="-122"/>
              </a:endParaRPr>
            </a:p>
          </p:txBody>
        </p:sp>
        <p:sp>
          <p:nvSpPr>
            <p:cNvPr id="11297" name="文本框 44"/>
            <p:cNvSpPr txBox="1"/>
            <p:nvPr/>
          </p:nvSpPr>
          <p:spPr>
            <a:xfrm>
              <a:off x="7592174" y="3697868"/>
              <a:ext cx="284052" cy="523220"/>
            </a:xfrm>
            <a:prstGeom prst="rect">
              <a:avLst/>
            </a:prstGeom>
            <a:noFill/>
            <a:ln w="9525">
              <a:noFill/>
            </a:ln>
          </p:spPr>
          <p:txBody>
            <a:bodyPr wrap="none" anchor="t" anchorCtr="0">
              <a:spAutoFit/>
            </a:bodyPr>
            <a:p>
              <a:pPr eaLnBrk="0" hangingPunct="0">
                <a:buSzTx/>
              </a:pPr>
              <a:r>
                <a:rPr lang="en-US" altLang="zh-CN" sz="2800" i="1" dirty="0">
                  <a:latin typeface="Times New Roman" panose="02020603050405020304" pitchFamily="18" charset="0"/>
                  <a:ea typeface="宋体" panose="02010600030101010101" pitchFamily="2" charset="-122"/>
                </a:rPr>
                <a:t>j</a:t>
              </a:r>
              <a:endParaRPr lang="zh-CN" altLang="en-US" i="1" dirty="0">
                <a:latin typeface="Times New Roman" panose="02020603050405020304" pitchFamily="18" charset="0"/>
                <a:ea typeface="宋体" panose="02010600030101010101" pitchFamily="2" charset="-122"/>
              </a:endParaRPr>
            </a:p>
          </p:txBody>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p:txBody>
          <a:bodyPr vert="horz" wrap="square" lIns="91440" tIns="45720" rIns="91440" bIns="45720" anchor="b" anchorCtr="0"/>
          <a:p>
            <a:r>
              <a:rPr lang="zh-CN" altLang="en-US"/>
              <a:t>有序树</a:t>
            </a:r>
            <a:r>
              <a:rPr lang="en-US" altLang="zh-CN"/>
              <a:t>(ordered tree)</a:t>
            </a:r>
            <a:endParaRPr lang="zh-CN" altLang="en-US"/>
          </a:p>
        </p:txBody>
      </p:sp>
      <p:sp>
        <p:nvSpPr>
          <p:cNvPr id="12290" name="Rectangle 3"/>
          <p:cNvSpPr>
            <a:spLocks noGrp="1"/>
          </p:cNvSpPr>
          <p:nvPr>
            <p:ph idx="1"/>
          </p:nvPr>
        </p:nvSpPr>
        <p:spPr/>
        <p:txBody>
          <a:bodyPr vert="horz" wrap="square" lIns="91440" tIns="45720" rIns="91440" bIns="45720" anchor="t" anchorCtr="0"/>
          <a:p>
            <a:r>
              <a:rPr lang="zh-CN" altLang="en-US"/>
              <a:t>有序树</a:t>
            </a:r>
            <a:r>
              <a:rPr lang="en-US" altLang="zh-CN"/>
              <a:t>: </a:t>
            </a:r>
            <a:r>
              <a:rPr lang="zh-CN" altLang="en-US"/>
              <a:t>给相同层数的顶点标上次序的根树</a:t>
            </a:r>
            <a:endParaRPr lang="zh-CN" altLang="en-US"/>
          </a:p>
        </p:txBody>
      </p:sp>
      <p:grpSp>
        <p:nvGrpSpPr>
          <p:cNvPr id="12291" name="Group 34"/>
          <p:cNvGrpSpPr/>
          <p:nvPr/>
        </p:nvGrpSpPr>
        <p:grpSpPr>
          <a:xfrm>
            <a:off x="1908175" y="2441575"/>
            <a:ext cx="2736850" cy="3316288"/>
            <a:chOff x="1202" y="1538"/>
            <a:chExt cx="1724" cy="2089"/>
          </a:xfrm>
        </p:grpSpPr>
        <p:grpSp>
          <p:nvGrpSpPr>
            <p:cNvPr id="12292" name="Group 4"/>
            <p:cNvGrpSpPr/>
            <p:nvPr/>
          </p:nvGrpSpPr>
          <p:grpSpPr>
            <a:xfrm>
              <a:off x="1429" y="1706"/>
              <a:ext cx="1497" cy="1860"/>
              <a:chOff x="3923" y="1797"/>
              <a:chExt cx="1497" cy="1860"/>
            </a:xfrm>
          </p:grpSpPr>
          <p:sp>
            <p:nvSpPr>
              <p:cNvPr id="12293" name="Oval 5"/>
              <p:cNvSpPr/>
              <p:nvPr/>
            </p:nvSpPr>
            <p:spPr>
              <a:xfrm>
                <a:off x="4604" y="179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294" name="Oval 6"/>
              <p:cNvSpPr/>
              <p:nvPr/>
            </p:nvSpPr>
            <p:spPr>
              <a:xfrm>
                <a:off x="4286" y="220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295" name="Oval 7"/>
              <p:cNvSpPr/>
              <p:nvPr/>
            </p:nvSpPr>
            <p:spPr>
              <a:xfrm>
                <a:off x="5012" y="220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296" name="Line 8"/>
              <p:cNvSpPr/>
              <p:nvPr/>
            </p:nvSpPr>
            <p:spPr>
              <a:xfrm flipH="1">
                <a:off x="4377" y="1933"/>
                <a:ext cx="272" cy="318"/>
              </a:xfrm>
              <a:prstGeom prst="line">
                <a:avLst/>
              </a:prstGeom>
              <a:ln w="9525" cap="flat" cmpd="sng">
                <a:solidFill>
                  <a:schemeClr val="tx1"/>
                </a:solidFill>
                <a:prstDash val="solid"/>
                <a:round/>
                <a:headEnd type="none" w="med" len="med"/>
                <a:tailEnd type="none" w="med" len="med"/>
              </a:ln>
            </p:spPr>
          </p:sp>
          <p:sp>
            <p:nvSpPr>
              <p:cNvPr id="12297" name="Line 9"/>
              <p:cNvSpPr/>
              <p:nvPr/>
            </p:nvSpPr>
            <p:spPr>
              <a:xfrm>
                <a:off x="4694" y="1933"/>
                <a:ext cx="363" cy="318"/>
              </a:xfrm>
              <a:prstGeom prst="line">
                <a:avLst/>
              </a:prstGeom>
              <a:ln w="9525" cap="flat" cmpd="sng">
                <a:solidFill>
                  <a:schemeClr val="tx1"/>
                </a:solidFill>
                <a:prstDash val="solid"/>
                <a:round/>
                <a:headEnd type="none" w="med" len="med"/>
                <a:tailEnd type="none" w="med" len="med"/>
              </a:ln>
            </p:spPr>
          </p:sp>
          <p:sp>
            <p:nvSpPr>
              <p:cNvPr id="12298" name="Oval 10"/>
              <p:cNvSpPr/>
              <p:nvPr/>
            </p:nvSpPr>
            <p:spPr>
              <a:xfrm>
                <a:off x="3923" y="2568"/>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299" name="Oval 11"/>
              <p:cNvSpPr/>
              <p:nvPr/>
            </p:nvSpPr>
            <p:spPr>
              <a:xfrm>
                <a:off x="4558" y="261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300" name="Line 12"/>
              <p:cNvSpPr/>
              <p:nvPr/>
            </p:nvSpPr>
            <p:spPr>
              <a:xfrm flipH="1">
                <a:off x="4059" y="2341"/>
                <a:ext cx="273" cy="227"/>
              </a:xfrm>
              <a:prstGeom prst="line">
                <a:avLst/>
              </a:prstGeom>
              <a:ln w="9525" cap="flat" cmpd="sng">
                <a:solidFill>
                  <a:schemeClr val="tx1"/>
                </a:solidFill>
                <a:prstDash val="solid"/>
                <a:round/>
                <a:headEnd type="none" w="med" len="med"/>
                <a:tailEnd type="none" w="med" len="med"/>
              </a:ln>
            </p:spPr>
          </p:sp>
          <p:sp>
            <p:nvSpPr>
              <p:cNvPr id="12301" name="Line 13"/>
              <p:cNvSpPr/>
              <p:nvPr/>
            </p:nvSpPr>
            <p:spPr>
              <a:xfrm>
                <a:off x="4377" y="2341"/>
                <a:ext cx="227" cy="318"/>
              </a:xfrm>
              <a:prstGeom prst="line">
                <a:avLst/>
              </a:prstGeom>
              <a:ln w="9525" cap="flat" cmpd="sng">
                <a:solidFill>
                  <a:schemeClr val="tx1"/>
                </a:solidFill>
                <a:prstDash val="solid"/>
                <a:round/>
                <a:headEnd type="none" w="med" len="med"/>
                <a:tailEnd type="none" w="med" len="med"/>
              </a:ln>
            </p:spPr>
          </p:sp>
          <p:sp>
            <p:nvSpPr>
              <p:cNvPr id="12302" name="Oval 14"/>
              <p:cNvSpPr/>
              <p:nvPr/>
            </p:nvSpPr>
            <p:spPr>
              <a:xfrm>
                <a:off x="4286" y="306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303" name="Oval 15"/>
              <p:cNvSpPr/>
              <p:nvPr/>
            </p:nvSpPr>
            <p:spPr>
              <a:xfrm>
                <a:off x="4921" y="306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304" name="Line 16"/>
              <p:cNvSpPr/>
              <p:nvPr/>
            </p:nvSpPr>
            <p:spPr>
              <a:xfrm flipH="1">
                <a:off x="4377" y="2750"/>
                <a:ext cx="227" cy="363"/>
              </a:xfrm>
              <a:prstGeom prst="line">
                <a:avLst/>
              </a:prstGeom>
              <a:ln w="9525" cap="flat" cmpd="sng">
                <a:solidFill>
                  <a:schemeClr val="tx1"/>
                </a:solidFill>
                <a:prstDash val="solid"/>
                <a:round/>
                <a:headEnd type="none" w="med" len="med"/>
                <a:tailEnd type="none" w="med" len="med"/>
              </a:ln>
            </p:spPr>
          </p:sp>
          <p:sp>
            <p:nvSpPr>
              <p:cNvPr id="12305" name="Line 17"/>
              <p:cNvSpPr/>
              <p:nvPr/>
            </p:nvSpPr>
            <p:spPr>
              <a:xfrm>
                <a:off x="4694" y="2750"/>
                <a:ext cx="318" cy="363"/>
              </a:xfrm>
              <a:prstGeom prst="line">
                <a:avLst/>
              </a:prstGeom>
              <a:ln w="9525" cap="flat" cmpd="sng">
                <a:solidFill>
                  <a:schemeClr val="tx1"/>
                </a:solidFill>
                <a:prstDash val="solid"/>
                <a:round/>
                <a:headEnd type="none" w="med" len="med"/>
                <a:tailEnd type="none" w="med" len="med"/>
              </a:ln>
            </p:spPr>
          </p:sp>
          <p:sp>
            <p:nvSpPr>
              <p:cNvPr id="12306" name="Line 18"/>
              <p:cNvSpPr/>
              <p:nvPr/>
            </p:nvSpPr>
            <p:spPr>
              <a:xfrm flipH="1">
                <a:off x="4105" y="3203"/>
                <a:ext cx="227" cy="363"/>
              </a:xfrm>
              <a:prstGeom prst="line">
                <a:avLst/>
              </a:prstGeom>
              <a:ln w="9525" cap="flat" cmpd="sng">
                <a:solidFill>
                  <a:schemeClr val="tx1"/>
                </a:solidFill>
                <a:prstDash val="solid"/>
                <a:round/>
                <a:headEnd type="none" w="med" len="med"/>
                <a:tailEnd type="none" w="med" len="med"/>
              </a:ln>
            </p:spPr>
          </p:sp>
          <p:sp>
            <p:nvSpPr>
              <p:cNvPr id="12307" name="Line 19"/>
              <p:cNvSpPr/>
              <p:nvPr/>
            </p:nvSpPr>
            <p:spPr>
              <a:xfrm>
                <a:off x="4377" y="3203"/>
                <a:ext cx="227" cy="363"/>
              </a:xfrm>
              <a:prstGeom prst="line">
                <a:avLst/>
              </a:prstGeom>
              <a:ln w="9525" cap="flat" cmpd="sng">
                <a:solidFill>
                  <a:schemeClr val="tx1"/>
                </a:solidFill>
                <a:prstDash val="solid"/>
                <a:round/>
                <a:headEnd type="none" w="med" len="med"/>
                <a:tailEnd type="none" w="med" len="med"/>
              </a:ln>
            </p:spPr>
          </p:sp>
          <p:sp>
            <p:nvSpPr>
              <p:cNvPr id="12308" name="Oval 20"/>
              <p:cNvSpPr/>
              <p:nvPr/>
            </p:nvSpPr>
            <p:spPr>
              <a:xfrm>
                <a:off x="4014" y="352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309" name="Oval 21"/>
              <p:cNvSpPr/>
              <p:nvPr/>
            </p:nvSpPr>
            <p:spPr>
              <a:xfrm>
                <a:off x="4558" y="352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2310" name="Line 22"/>
              <p:cNvSpPr/>
              <p:nvPr/>
            </p:nvSpPr>
            <p:spPr>
              <a:xfrm>
                <a:off x="5103" y="2341"/>
                <a:ext cx="226" cy="318"/>
              </a:xfrm>
              <a:prstGeom prst="line">
                <a:avLst/>
              </a:prstGeom>
              <a:ln w="9525" cap="flat" cmpd="sng">
                <a:solidFill>
                  <a:schemeClr val="tx1"/>
                </a:solidFill>
                <a:prstDash val="solid"/>
                <a:round/>
                <a:headEnd type="none" w="med" len="med"/>
                <a:tailEnd type="none" w="med" len="med"/>
              </a:ln>
            </p:spPr>
          </p:sp>
          <p:sp>
            <p:nvSpPr>
              <p:cNvPr id="12311" name="Oval 23"/>
              <p:cNvSpPr/>
              <p:nvPr/>
            </p:nvSpPr>
            <p:spPr>
              <a:xfrm>
                <a:off x="5284" y="261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12312" name="Text Box 24"/>
            <p:cNvSpPr txBox="1"/>
            <p:nvPr/>
          </p:nvSpPr>
          <p:spPr>
            <a:xfrm>
              <a:off x="1927" y="153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12313" name="Text Box 25"/>
            <p:cNvSpPr txBox="1"/>
            <p:nvPr/>
          </p:nvSpPr>
          <p:spPr>
            <a:xfrm>
              <a:off x="1610" y="1917"/>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12314" name="Text Box 26"/>
            <p:cNvSpPr txBox="1"/>
            <p:nvPr/>
          </p:nvSpPr>
          <p:spPr>
            <a:xfrm>
              <a:off x="2336" y="2024"/>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12315" name="Text Box 27"/>
            <p:cNvSpPr txBox="1"/>
            <p:nvPr/>
          </p:nvSpPr>
          <p:spPr>
            <a:xfrm>
              <a:off x="1202" y="2387"/>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12316" name="Text Box 28"/>
            <p:cNvSpPr txBox="1"/>
            <p:nvPr/>
          </p:nvSpPr>
          <p:spPr>
            <a:xfrm>
              <a:off x="1837" y="2416"/>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12317" name="Text Box 29"/>
            <p:cNvSpPr txBox="1"/>
            <p:nvPr/>
          </p:nvSpPr>
          <p:spPr>
            <a:xfrm>
              <a:off x="2562" y="2432"/>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3</a:t>
              </a:r>
              <a:endParaRPr lang="en-US" altLang="zh-CN" sz="2400">
                <a:latin typeface="Times New Roman" panose="02020603050405020304" pitchFamily="18" charset="0"/>
                <a:ea typeface="宋体" panose="02010600030101010101" pitchFamily="2" charset="-122"/>
              </a:endParaRPr>
            </a:p>
          </p:txBody>
        </p:sp>
        <p:sp>
          <p:nvSpPr>
            <p:cNvPr id="12318" name="Text Box 30"/>
            <p:cNvSpPr txBox="1"/>
            <p:nvPr/>
          </p:nvSpPr>
          <p:spPr>
            <a:xfrm>
              <a:off x="1565" y="284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12319" name="Text Box 31"/>
            <p:cNvSpPr txBox="1"/>
            <p:nvPr/>
          </p:nvSpPr>
          <p:spPr>
            <a:xfrm>
              <a:off x="2200" y="287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12320" name="Text Box 32"/>
            <p:cNvSpPr txBox="1"/>
            <p:nvPr/>
          </p:nvSpPr>
          <p:spPr>
            <a:xfrm>
              <a:off x="1338" y="3294"/>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12321" name="Text Box 33"/>
            <p:cNvSpPr txBox="1"/>
            <p:nvPr/>
          </p:nvSpPr>
          <p:spPr>
            <a:xfrm>
              <a:off x="1882" y="3339"/>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p:txBody>
          <a:bodyPr vert="horz" wrap="square" lIns="91440" tIns="45720" rIns="91440" bIns="45720" anchor="b" anchorCtr="0"/>
          <a:p>
            <a:r>
              <a:rPr lang="en-US" altLang="zh-CN"/>
              <a:t>r</a:t>
            </a:r>
            <a:r>
              <a:rPr lang="zh-CN" altLang="en-US"/>
              <a:t>叉树</a:t>
            </a:r>
            <a:r>
              <a:rPr lang="en-US" altLang="zh-CN"/>
              <a:t>(t-ary tree)</a:t>
            </a:r>
            <a:endParaRPr lang="zh-CN" altLang="en-US"/>
          </a:p>
        </p:txBody>
      </p:sp>
      <p:sp>
        <p:nvSpPr>
          <p:cNvPr id="13314" name="Rectangle 3"/>
          <p:cNvSpPr>
            <a:spLocks noGrp="1"/>
          </p:cNvSpPr>
          <p:nvPr>
            <p:ph idx="1"/>
          </p:nvPr>
        </p:nvSpPr>
        <p:spPr/>
        <p:txBody>
          <a:bodyPr vert="horz" wrap="square" lIns="91440" tIns="45720" rIns="91440" bIns="45720" anchor="t" anchorCtr="0"/>
          <a:p>
            <a:r>
              <a:rPr lang="en-US" altLang="zh-CN" i="1">
                <a:solidFill>
                  <a:srgbClr val="FF0000"/>
                </a:solidFill>
              </a:rPr>
              <a:t>r</a:t>
            </a:r>
            <a:r>
              <a:rPr lang="zh-CN" altLang="en-US">
                <a:solidFill>
                  <a:srgbClr val="FF0000"/>
                </a:solidFill>
              </a:rPr>
              <a:t>叉树</a:t>
            </a:r>
            <a:r>
              <a:rPr lang="en-US" altLang="zh-CN"/>
              <a:t>: </a:t>
            </a:r>
            <a:r>
              <a:rPr lang="en-US" altLang="zh-CN">
                <a:sym typeface="+mn-ea"/>
              </a:rPr>
              <a:t>∀</a:t>
            </a:r>
            <a:r>
              <a:rPr lang="en-US" altLang="zh-CN" i="1">
                <a:sym typeface="+mn-ea"/>
              </a:rPr>
              <a:t>v</a:t>
            </a:r>
            <a:r>
              <a:rPr lang="zh-CN" altLang="en-US">
                <a:sym typeface="+mn-ea"/>
              </a:rPr>
              <a:t>为分支点</a:t>
            </a:r>
            <a:r>
              <a:rPr lang="en-US" altLang="zh-CN"/>
              <a:t>, d</a:t>
            </a:r>
            <a:r>
              <a:rPr lang="en-US" altLang="zh-CN" baseline="30000"/>
              <a:t>+</a:t>
            </a:r>
            <a:r>
              <a:rPr lang="en-US" altLang="zh-CN"/>
              <a:t>(</a:t>
            </a:r>
            <a:r>
              <a:rPr lang="en-US" altLang="zh-CN" i="1"/>
              <a:t>v</a:t>
            </a:r>
            <a:r>
              <a:rPr lang="en-US" altLang="zh-CN"/>
              <a:t>)≤</a:t>
            </a:r>
            <a:r>
              <a:rPr lang="en-US" altLang="zh-CN" i="1"/>
              <a:t>r</a:t>
            </a:r>
            <a:endParaRPr lang="en-US" altLang="zh-CN" i="1"/>
          </a:p>
          <a:p>
            <a:r>
              <a:rPr lang="zh-CN" altLang="en-US"/>
              <a:t>正则</a:t>
            </a:r>
            <a:r>
              <a:rPr lang="en-US" altLang="zh-CN"/>
              <a:t>(regular)</a:t>
            </a:r>
            <a:r>
              <a:rPr lang="zh-CN" altLang="en-US"/>
              <a:t>树</a:t>
            </a:r>
            <a:r>
              <a:rPr lang="en-US" altLang="zh-CN"/>
              <a:t>: ∀</a:t>
            </a:r>
            <a:r>
              <a:rPr lang="en-US" altLang="zh-CN" i="1"/>
              <a:t>v</a:t>
            </a:r>
            <a:r>
              <a:rPr lang="zh-CN" altLang="en-US"/>
              <a:t>为分支点</a:t>
            </a:r>
            <a:r>
              <a:rPr lang="en-US" altLang="zh-CN"/>
              <a:t>, d</a:t>
            </a:r>
            <a:r>
              <a:rPr lang="en-US" altLang="zh-CN" baseline="30000"/>
              <a:t>+</a:t>
            </a:r>
            <a:r>
              <a:rPr lang="en-US" altLang="zh-CN"/>
              <a:t>(</a:t>
            </a:r>
            <a:r>
              <a:rPr lang="en-US" altLang="zh-CN" i="1"/>
              <a:t>v</a:t>
            </a:r>
            <a:r>
              <a:rPr lang="en-US" altLang="zh-CN"/>
              <a:t>)</a:t>
            </a:r>
            <a:r>
              <a:rPr lang="zh-CN" altLang="zh-CN"/>
              <a:t>都相等</a:t>
            </a:r>
            <a:endParaRPr lang="en-US" altLang="zh-CN"/>
          </a:p>
          <a:p>
            <a:r>
              <a:rPr lang="zh-CN" altLang="en-US"/>
              <a:t>完全</a:t>
            </a:r>
            <a:r>
              <a:rPr lang="en-US" altLang="zh-CN"/>
              <a:t>(complete)</a:t>
            </a:r>
            <a:r>
              <a:rPr lang="zh-CN" altLang="en-US"/>
              <a:t>树</a:t>
            </a:r>
            <a:r>
              <a:rPr lang="en-US" altLang="zh-CN"/>
              <a:t>: ∀</a:t>
            </a:r>
            <a:r>
              <a:rPr lang="zh-CN" altLang="en-US"/>
              <a:t>树叶</a:t>
            </a:r>
            <a:r>
              <a:rPr lang="en-US" altLang="zh-CN" i="1"/>
              <a:t>v</a:t>
            </a:r>
            <a:r>
              <a:rPr lang="en-US" altLang="zh-CN"/>
              <a:t>,L(</a:t>
            </a:r>
            <a:r>
              <a:rPr lang="en-US" altLang="zh-CN" i="1"/>
              <a:t>v</a:t>
            </a:r>
            <a:r>
              <a:rPr lang="en-US" altLang="zh-CN"/>
              <a:t>)=</a:t>
            </a:r>
            <a:r>
              <a:rPr lang="en-US" altLang="zh-CN" i="1"/>
              <a:t>h</a:t>
            </a:r>
            <a:r>
              <a:rPr lang="en-US" altLang="zh-CN"/>
              <a:t>(</a:t>
            </a:r>
            <a:r>
              <a:rPr lang="en-US" altLang="zh-CN" i="1"/>
              <a:t>T</a:t>
            </a:r>
            <a:r>
              <a:rPr lang="en-US" altLang="zh-CN"/>
              <a:t>)</a:t>
            </a:r>
            <a:endParaRPr lang="en-US" altLang="zh-CN"/>
          </a:p>
          <a:p>
            <a:r>
              <a:rPr lang="en-US" altLang="zh-CN" i="1">
                <a:solidFill>
                  <a:srgbClr val="FF0000"/>
                </a:solidFill>
              </a:rPr>
              <a:t>r</a:t>
            </a:r>
            <a:r>
              <a:rPr lang="zh-CN" altLang="en-US">
                <a:solidFill>
                  <a:srgbClr val="FF0000"/>
                </a:solidFill>
                <a:sym typeface="黑体" panose="02010609060101010101" pitchFamily="49" charset="-122"/>
              </a:rPr>
              <a:t>叉正则</a:t>
            </a:r>
            <a:r>
              <a:rPr lang="zh-CN" altLang="en-US">
                <a:solidFill>
                  <a:srgbClr val="FF0000"/>
                </a:solidFill>
              </a:rPr>
              <a:t>树</a:t>
            </a:r>
            <a:r>
              <a:rPr lang="en-US" altLang="zh-CN"/>
              <a:t>,</a:t>
            </a:r>
            <a:r>
              <a:rPr lang="en-US" altLang="zh-CN" i="1">
                <a:solidFill>
                  <a:srgbClr val="FF0000"/>
                </a:solidFill>
                <a:sym typeface="黑体" panose="02010609060101010101" pitchFamily="49" charset="-122"/>
              </a:rPr>
              <a:t>r</a:t>
            </a:r>
            <a:r>
              <a:rPr lang="zh-CN" altLang="en-US">
                <a:solidFill>
                  <a:srgbClr val="FF0000"/>
                </a:solidFill>
                <a:sym typeface="黑体" panose="02010609060101010101" pitchFamily="49" charset="-122"/>
              </a:rPr>
              <a:t>叉</a:t>
            </a:r>
            <a:r>
              <a:rPr lang="zh-CN" altLang="en-US">
                <a:solidFill>
                  <a:srgbClr val="FF0000"/>
                </a:solidFill>
              </a:rPr>
              <a:t>完全正则树</a:t>
            </a:r>
            <a:endParaRPr lang="en-US" altLang="zh-CN">
              <a:solidFill>
                <a:srgbClr val="FF0000"/>
              </a:solidFill>
            </a:endParaRPr>
          </a:p>
          <a:p>
            <a:r>
              <a:rPr lang="en-US" altLang="zh-CN" i="1"/>
              <a:t>r</a:t>
            </a:r>
            <a:r>
              <a:rPr lang="zh-CN" altLang="en-US"/>
              <a:t>叉有序树</a:t>
            </a:r>
            <a:r>
              <a:rPr lang="en-US" altLang="zh-CN"/>
              <a:t>,</a:t>
            </a:r>
            <a:r>
              <a:rPr lang="en-US" altLang="zh-CN" i="1"/>
              <a:t>r</a:t>
            </a:r>
            <a:r>
              <a:rPr lang="zh-CN" altLang="en-US"/>
              <a:t>叉正则有序树</a:t>
            </a:r>
            <a:r>
              <a:rPr lang="en-US" altLang="zh-CN"/>
              <a:t>,</a:t>
            </a:r>
            <a:r>
              <a:rPr lang="en-US" altLang="zh-CN" i="1"/>
              <a:t>r</a:t>
            </a:r>
            <a:r>
              <a:rPr lang="zh-CN" altLang="en-US"/>
              <a:t>叉完全正则有序树</a:t>
            </a:r>
            <a:endParaRPr lang="zh-CN" altLang="en-US"/>
          </a:p>
        </p:txBody>
      </p:sp>
      <p:grpSp>
        <p:nvGrpSpPr>
          <p:cNvPr id="13315" name="Group 34"/>
          <p:cNvGrpSpPr/>
          <p:nvPr/>
        </p:nvGrpSpPr>
        <p:grpSpPr>
          <a:xfrm>
            <a:off x="107950" y="4724400"/>
            <a:ext cx="2303463" cy="1584325"/>
            <a:chOff x="567" y="2840"/>
            <a:chExt cx="1451" cy="998"/>
          </a:xfrm>
        </p:grpSpPr>
        <p:sp>
          <p:nvSpPr>
            <p:cNvPr id="13316" name="Oval 5"/>
            <p:cNvSpPr/>
            <p:nvPr/>
          </p:nvSpPr>
          <p:spPr>
            <a:xfrm>
              <a:off x="1202" y="2840"/>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17" name="Oval 6"/>
            <p:cNvSpPr/>
            <p:nvPr/>
          </p:nvSpPr>
          <p:spPr>
            <a:xfrm>
              <a:off x="884" y="3248"/>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18" name="Oval 7"/>
            <p:cNvSpPr/>
            <p:nvPr/>
          </p:nvSpPr>
          <p:spPr>
            <a:xfrm>
              <a:off x="1610" y="3248"/>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19" name="Line 8"/>
            <p:cNvSpPr/>
            <p:nvPr/>
          </p:nvSpPr>
          <p:spPr>
            <a:xfrm flipH="1">
              <a:off x="975" y="2976"/>
              <a:ext cx="272" cy="318"/>
            </a:xfrm>
            <a:prstGeom prst="line">
              <a:avLst/>
            </a:prstGeom>
            <a:ln w="9525" cap="flat" cmpd="sng">
              <a:solidFill>
                <a:schemeClr val="tx1"/>
              </a:solidFill>
              <a:prstDash val="solid"/>
              <a:round/>
              <a:headEnd type="none" w="med" len="med"/>
              <a:tailEnd type="none" w="med" len="med"/>
            </a:ln>
          </p:spPr>
        </p:sp>
        <p:sp>
          <p:nvSpPr>
            <p:cNvPr id="13320" name="Line 9"/>
            <p:cNvSpPr/>
            <p:nvPr/>
          </p:nvSpPr>
          <p:spPr>
            <a:xfrm>
              <a:off x="1292" y="2976"/>
              <a:ext cx="363" cy="318"/>
            </a:xfrm>
            <a:prstGeom prst="line">
              <a:avLst/>
            </a:prstGeom>
            <a:ln w="9525" cap="flat" cmpd="sng">
              <a:solidFill>
                <a:schemeClr val="tx1"/>
              </a:solidFill>
              <a:prstDash val="solid"/>
              <a:round/>
              <a:headEnd type="none" w="med" len="med"/>
              <a:tailEnd type="none" w="med" len="med"/>
            </a:ln>
          </p:spPr>
        </p:sp>
        <p:sp>
          <p:nvSpPr>
            <p:cNvPr id="13321" name="Oval 10"/>
            <p:cNvSpPr/>
            <p:nvPr/>
          </p:nvSpPr>
          <p:spPr>
            <a:xfrm>
              <a:off x="567" y="365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2" name="Oval 11"/>
            <p:cNvSpPr/>
            <p:nvPr/>
          </p:nvSpPr>
          <p:spPr>
            <a:xfrm>
              <a:off x="1156" y="365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3" name="Line 12"/>
            <p:cNvSpPr/>
            <p:nvPr/>
          </p:nvSpPr>
          <p:spPr>
            <a:xfrm flipH="1">
              <a:off x="657" y="3385"/>
              <a:ext cx="227" cy="317"/>
            </a:xfrm>
            <a:prstGeom prst="line">
              <a:avLst/>
            </a:prstGeom>
            <a:ln w="9525" cap="flat" cmpd="sng">
              <a:solidFill>
                <a:schemeClr val="tx1"/>
              </a:solidFill>
              <a:prstDash val="solid"/>
              <a:round/>
              <a:headEnd type="none" w="med" len="med"/>
              <a:tailEnd type="none" w="med" len="med"/>
            </a:ln>
          </p:spPr>
        </p:sp>
        <p:sp>
          <p:nvSpPr>
            <p:cNvPr id="13324" name="Line 13"/>
            <p:cNvSpPr/>
            <p:nvPr/>
          </p:nvSpPr>
          <p:spPr>
            <a:xfrm>
              <a:off x="975" y="3384"/>
              <a:ext cx="227" cy="318"/>
            </a:xfrm>
            <a:prstGeom prst="line">
              <a:avLst/>
            </a:prstGeom>
            <a:ln w="9525" cap="flat" cmpd="sng">
              <a:solidFill>
                <a:schemeClr val="tx1"/>
              </a:solidFill>
              <a:prstDash val="solid"/>
              <a:round/>
              <a:headEnd type="none" w="med" len="med"/>
              <a:tailEnd type="none" w="med" len="med"/>
            </a:ln>
          </p:spPr>
        </p:sp>
        <p:sp>
          <p:nvSpPr>
            <p:cNvPr id="13325" name="Line 14"/>
            <p:cNvSpPr/>
            <p:nvPr/>
          </p:nvSpPr>
          <p:spPr>
            <a:xfrm>
              <a:off x="1701" y="3384"/>
              <a:ext cx="226" cy="318"/>
            </a:xfrm>
            <a:prstGeom prst="line">
              <a:avLst/>
            </a:prstGeom>
            <a:ln w="9525" cap="flat" cmpd="sng">
              <a:solidFill>
                <a:schemeClr val="tx1"/>
              </a:solidFill>
              <a:prstDash val="solid"/>
              <a:round/>
              <a:headEnd type="none" w="med" len="med"/>
              <a:tailEnd type="none" w="med" len="med"/>
            </a:ln>
          </p:spPr>
        </p:sp>
        <p:sp>
          <p:nvSpPr>
            <p:cNvPr id="13326" name="Oval 15"/>
            <p:cNvSpPr/>
            <p:nvPr/>
          </p:nvSpPr>
          <p:spPr>
            <a:xfrm>
              <a:off x="1882" y="365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7" name="Oval 28"/>
            <p:cNvSpPr/>
            <p:nvPr/>
          </p:nvSpPr>
          <p:spPr>
            <a:xfrm>
              <a:off x="1220" y="328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28" name="Line 29"/>
            <p:cNvSpPr/>
            <p:nvPr/>
          </p:nvSpPr>
          <p:spPr>
            <a:xfrm>
              <a:off x="1274" y="2976"/>
              <a:ext cx="0" cy="363"/>
            </a:xfrm>
            <a:prstGeom prst="line">
              <a:avLst/>
            </a:prstGeom>
            <a:ln w="9525" cap="flat" cmpd="sng">
              <a:solidFill>
                <a:schemeClr val="tx1"/>
              </a:solidFill>
              <a:prstDash val="solid"/>
              <a:round/>
              <a:headEnd type="none" w="med" len="med"/>
              <a:tailEnd type="none" w="med" len="med"/>
            </a:ln>
          </p:spPr>
        </p:sp>
        <p:sp>
          <p:nvSpPr>
            <p:cNvPr id="13329" name="Oval 30"/>
            <p:cNvSpPr/>
            <p:nvPr/>
          </p:nvSpPr>
          <p:spPr>
            <a:xfrm>
              <a:off x="839" y="365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0" name="Line 31"/>
            <p:cNvSpPr/>
            <p:nvPr/>
          </p:nvSpPr>
          <p:spPr>
            <a:xfrm>
              <a:off x="930" y="3385"/>
              <a:ext cx="0" cy="317"/>
            </a:xfrm>
            <a:prstGeom prst="line">
              <a:avLst/>
            </a:prstGeom>
            <a:ln w="9525" cap="flat" cmpd="sng">
              <a:solidFill>
                <a:schemeClr val="tx1"/>
              </a:solidFill>
              <a:prstDash val="solid"/>
              <a:round/>
              <a:headEnd type="none" w="med" len="med"/>
              <a:tailEnd type="none" w="med" len="med"/>
            </a:ln>
          </p:spPr>
        </p:sp>
        <p:sp>
          <p:nvSpPr>
            <p:cNvPr id="13331" name="Oval 32"/>
            <p:cNvSpPr/>
            <p:nvPr/>
          </p:nvSpPr>
          <p:spPr>
            <a:xfrm>
              <a:off x="1519" y="3702"/>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2" name="Line 33"/>
            <p:cNvSpPr/>
            <p:nvPr/>
          </p:nvSpPr>
          <p:spPr>
            <a:xfrm flipH="1">
              <a:off x="1610" y="3385"/>
              <a:ext cx="45" cy="317"/>
            </a:xfrm>
            <a:prstGeom prst="line">
              <a:avLst/>
            </a:prstGeom>
            <a:ln w="9525" cap="flat" cmpd="sng">
              <a:solidFill>
                <a:schemeClr val="tx1"/>
              </a:solidFill>
              <a:prstDash val="solid"/>
              <a:round/>
              <a:headEnd type="none" w="med" len="med"/>
              <a:tailEnd type="none" w="med" len="med"/>
            </a:ln>
          </p:spPr>
        </p:sp>
      </p:grpSp>
      <p:grpSp>
        <p:nvGrpSpPr>
          <p:cNvPr id="13333" name="Group 64"/>
          <p:cNvGrpSpPr/>
          <p:nvPr/>
        </p:nvGrpSpPr>
        <p:grpSpPr>
          <a:xfrm>
            <a:off x="2743200" y="4435475"/>
            <a:ext cx="2881313" cy="2232025"/>
            <a:chOff x="1927" y="2523"/>
            <a:chExt cx="1815" cy="1406"/>
          </a:xfrm>
        </p:grpSpPr>
        <p:sp>
          <p:nvSpPr>
            <p:cNvPr id="13334" name="Oval 36"/>
            <p:cNvSpPr/>
            <p:nvPr/>
          </p:nvSpPr>
          <p:spPr>
            <a:xfrm>
              <a:off x="2653" y="252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5" name="Oval 37"/>
            <p:cNvSpPr/>
            <p:nvPr/>
          </p:nvSpPr>
          <p:spPr>
            <a:xfrm>
              <a:off x="2199" y="293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6" name="Oval 38"/>
            <p:cNvSpPr/>
            <p:nvPr/>
          </p:nvSpPr>
          <p:spPr>
            <a:xfrm>
              <a:off x="3107" y="293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37" name="Line 39"/>
            <p:cNvSpPr/>
            <p:nvPr/>
          </p:nvSpPr>
          <p:spPr>
            <a:xfrm flipH="1">
              <a:off x="2290" y="2659"/>
              <a:ext cx="363" cy="318"/>
            </a:xfrm>
            <a:prstGeom prst="line">
              <a:avLst/>
            </a:prstGeom>
            <a:ln w="9525" cap="flat" cmpd="sng">
              <a:solidFill>
                <a:schemeClr val="tx1"/>
              </a:solidFill>
              <a:prstDash val="solid"/>
              <a:round/>
              <a:headEnd type="none" w="med" len="med"/>
              <a:tailEnd type="none" w="med" len="med"/>
            </a:ln>
          </p:spPr>
        </p:sp>
        <p:sp>
          <p:nvSpPr>
            <p:cNvPr id="13338" name="Line 40"/>
            <p:cNvSpPr/>
            <p:nvPr/>
          </p:nvSpPr>
          <p:spPr>
            <a:xfrm>
              <a:off x="2789" y="2614"/>
              <a:ext cx="363" cy="362"/>
            </a:xfrm>
            <a:prstGeom prst="line">
              <a:avLst/>
            </a:prstGeom>
            <a:ln w="9525" cap="flat" cmpd="sng">
              <a:solidFill>
                <a:schemeClr val="tx1"/>
              </a:solidFill>
              <a:prstDash val="solid"/>
              <a:round/>
              <a:headEnd type="none" w="med" len="med"/>
              <a:tailEnd type="none" w="med" len="med"/>
            </a:ln>
          </p:spPr>
        </p:sp>
        <p:sp>
          <p:nvSpPr>
            <p:cNvPr id="13339" name="Oval 41"/>
            <p:cNvSpPr/>
            <p:nvPr/>
          </p:nvSpPr>
          <p:spPr>
            <a:xfrm>
              <a:off x="2064" y="3340"/>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0" name="Oval 42"/>
            <p:cNvSpPr/>
            <p:nvPr/>
          </p:nvSpPr>
          <p:spPr>
            <a:xfrm>
              <a:off x="2471" y="3340"/>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1" name="Line 43"/>
            <p:cNvSpPr/>
            <p:nvPr/>
          </p:nvSpPr>
          <p:spPr>
            <a:xfrm flipH="1">
              <a:off x="2109" y="3068"/>
              <a:ext cx="90" cy="317"/>
            </a:xfrm>
            <a:prstGeom prst="line">
              <a:avLst/>
            </a:prstGeom>
            <a:ln w="9525" cap="flat" cmpd="sng">
              <a:solidFill>
                <a:schemeClr val="tx1"/>
              </a:solidFill>
              <a:prstDash val="solid"/>
              <a:round/>
              <a:headEnd type="none" w="med" len="med"/>
              <a:tailEnd type="none" w="med" len="med"/>
            </a:ln>
          </p:spPr>
        </p:sp>
        <p:sp>
          <p:nvSpPr>
            <p:cNvPr id="13342" name="Line 44"/>
            <p:cNvSpPr/>
            <p:nvPr/>
          </p:nvSpPr>
          <p:spPr>
            <a:xfrm>
              <a:off x="2290" y="3067"/>
              <a:ext cx="227" cy="318"/>
            </a:xfrm>
            <a:prstGeom prst="line">
              <a:avLst/>
            </a:prstGeom>
            <a:ln w="9525" cap="flat" cmpd="sng">
              <a:solidFill>
                <a:schemeClr val="tx1"/>
              </a:solidFill>
              <a:prstDash val="solid"/>
              <a:round/>
              <a:headEnd type="none" w="med" len="med"/>
              <a:tailEnd type="none" w="med" len="med"/>
            </a:ln>
          </p:spPr>
        </p:sp>
        <p:sp>
          <p:nvSpPr>
            <p:cNvPr id="13343" name="Line 45"/>
            <p:cNvSpPr/>
            <p:nvPr/>
          </p:nvSpPr>
          <p:spPr>
            <a:xfrm>
              <a:off x="3198" y="3067"/>
              <a:ext cx="226" cy="318"/>
            </a:xfrm>
            <a:prstGeom prst="line">
              <a:avLst/>
            </a:prstGeom>
            <a:ln w="9525" cap="flat" cmpd="sng">
              <a:solidFill>
                <a:schemeClr val="tx1"/>
              </a:solidFill>
              <a:prstDash val="solid"/>
              <a:round/>
              <a:headEnd type="none" w="med" len="med"/>
              <a:tailEnd type="none" w="med" len="med"/>
            </a:ln>
          </p:spPr>
        </p:sp>
        <p:sp>
          <p:nvSpPr>
            <p:cNvPr id="13344" name="Oval 46"/>
            <p:cNvSpPr/>
            <p:nvPr/>
          </p:nvSpPr>
          <p:spPr>
            <a:xfrm>
              <a:off x="3379" y="3340"/>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5" name="Oval 49"/>
            <p:cNvSpPr/>
            <p:nvPr/>
          </p:nvSpPr>
          <p:spPr>
            <a:xfrm>
              <a:off x="1927" y="3702"/>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6" name="Oval 51"/>
            <p:cNvSpPr/>
            <p:nvPr/>
          </p:nvSpPr>
          <p:spPr>
            <a:xfrm>
              <a:off x="3016" y="338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7" name="Line 52"/>
            <p:cNvSpPr/>
            <p:nvPr/>
          </p:nvSpPr>
          <p:spPr>
            <a:xfrm flipH="1">
              <a:off x="3107" y="3068"/>
              <a:ext cx="45" cy="317"/>
            </a:xfrm>
            <a:prstGeom prst="line">
              <a:avLst/>
            </a:prstGeom>
            <a:ln w="9525" cap="flat" cmpd="sng">
              <a:solidFill>
                <a:schemeClr val="tx1"/>
              </a:solidFill>
              <a:prstDash val="solid"/>
              <a:round/>
              <a:headEnd type="none" w="med" len="med"/>
              <a:tailEnd type="none" w="med" len="med"/>
            </a:ln>
          </p:spPr>
        </p:sp>
        <p:sp>
          <p:nvSpPr>
            <p:cNvPr id="13348" name="Oval 53"/>
            <p:cNvSpPr/>
            <p:nvPr/>
          </p:nvSpPr>
          <p:spPr>
            <a:xfrm>
              <a:off x="2245" y="3702"/>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49" name="Line 54"/>
            <p:cNvSpPr/>
            <p:nvPr/>
          </p:nvSpPr>
          <p:spPr>
            <a:xfrm flipH="1">
              <a:off x="2018" y="3475"/>
              <a:ext cx="91" cy="273"/>
            </a:xfrm>
            <a:prstGeom prst="line">
              <a:avLst/>
            </a:prstGeom>
            <a:ln w="9525" cap="flat" cmpd="sng">
              <a:solidFill>
                <a:schemeClr val="tx1"/>
              </a:solidFill>
              <a:prstDash val="solid"/>
              <a:round/>
              <a:headEnd type="none" w="med" len="med"/>
              <a:tailEnd type="none" w="med" len="med"/>
            </a:ln>
          </p:spPr>
        </p:sp>
        <p:sp>
          <p:nvSpPr>
            <p:cNvPr id="13350" name="Line 55"/>
            <p:cNvSpPr/>
            <p:nvPr/>
          </p:nvSpPr>
          <p:spPr>
            <a:xfrm>
              <a:off x="2109" y="3475"/>
              <a:ext cx="136" cy="227"/>
            </a:xfrm>
            <a:prstGeom prst="line">
              <a:avLst/>
            </a:prstGeom>
            <a:ln w="9525" cap="flat" cmpd="sng">
              <a:solidFill>
                <a:schemeClr val="tx1"/>
              </a:solidFill>
              <a:prstDash val="solid"/>
              <a:round/>
              <a:headEnd type="none" w="med" len="med"/>
              <a:tailEnd type="none" w="med" len="med"/>
            </a:ln>
          </p:spPr>
        </p:sp>
        <p:sp>
          <p:nvSpPr>
            <p:cNvPr id="13351" name="Oval 56"/>
            <p:cNvSpPr/>
            <p:nvPr/>
          </p:nvSpPr>
          <p:spPr>
            <a:xfrm>
              <a:off x="2789"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52" name="Oval 57"/>
            <p:cNvSpPr/>
            <p:nvPr/>
          </p:nvSpPr>
          <p:spPr>
            <a:xfrm>
              <a:off x="3107"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53" name="Oval 58"/>
            <p:cNvSpPr/>
            <p:nvPr/>
          </p:nvSpPr>
          <p:spPr>
            <a:xfrm>
              <a:off x="3289"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54" name="Oval 59"/>
            <p:cNvSpPr/>
            <p:nvPr/>
          </p:nvSpPr>
          <p:spPr>
            <a:xfrm>
              <a:off x="3606"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55" name="Line 60"/>
            <p:cNvSpPr/>
            <p:nvPr/>
          </p:nvSpPr>
          <p:spPr>
            <a:xfrm flipH="1">
              <a:off x="2880" y="3475"/>
              <a:ext cx="182" cy="318"/>
            </a:xfrm>
            <a:prstGeom prst="line">
              <a:avLst/>
            </a:prstGeom>
            <a:ln w="9525" cap="flat" cmpd="sng">
              <a:solidFill>
                <a:schemeClr val="tx1"/>
              </a:solidFill>
              <a:prstDash val="solid"/>
              <a:round/>
              <a:headEnd type="none" w="med" len="med"/>
              <a:tailEnd type="none" w="med" len="med"/>
            </a:ln>
          </p:spPr>
        </p:sp>
        <p:sp>
          <p:nvSpPr>
            <p:cNvPr id="13356" name="Line 61"/>
            <p:cNvSpPr/>
            <p:nvPr/>
          </p:nvSpPr>
          <p:spPr>
            <a:xfrm>
              <a:off x="3107" y="3521"/>
              <a:ext cx="91" cy="317"/>
            </a:xfrm>
            <a:prstGeom prst="line">
              <a:avLst/>
            </a:prstGeom>
            <a:ln w="9525" cap="flat" cmpd="sng">
              <a:solidFill>
                <a:schemeClr val="tx1"/>
              </a:solidFill>
              <a:prstDash val="solid"/>
              <a:round/>
              <a:headEnd type="none" w="med" len="med"/>
              <a:tailEnd type="none" w="med" len="med"/>
            </a:ln>
          </p:spPr>
        </p:sp>
        <p:sp>
          <p:nvSpPr>
            <p:cNvPr id="13357" name="Line 62"/>
            <p:cNvSpPr/>
            <p:nvPr/>
          </p:nvSpPr>
          <p:spPr>
            <a:xfrm flipH="1">
              <a:off x="3379" y="3475"/>
              <a:ext cx="46" cy="318"/>
            </a:xfrm>
            <a:prstGeom prst="line">
              <a:avLst/>
            </a:prstGeom>
            <a:ln w="9525" cap="flat" cmpd="sng">
              <a:solidFill>
                <a:schemeClr val="tx1"/>
              </a:solidFill>
              <a:prstDash val="solid"/>
              <a:round/>
              <a:headEnd type="none" w="med" len="med"/>
              <a:tailEnd type="none" w="med" len="med"/>
            </a:ln>
          </p:spPr>
        </p:sp>
        <p:sp>
          <p:nvSpPr>
            <p:cNvPr id="13358" name="Line 63"/>
            <p:cNvSpPr/>
            <p:nvPr/>
          </p:nvSpPr>
          <p:spPr>
            <a:xfrm>
              <a:off x="3470" y="3475"/>
              <a:ext cx="182" cy="318"/>
            </a:xfrm>
            <a:prstGeom prst="line">
              <a:avLst/>
            </a:prstGeom>
            <a:ln w="9525" cap="flat" cmpd="sng">
              <a:solidFill>
                <a:schemeClr val="tx1"/>
              </a:solidFill>
              <a:prstDash val="solid"/>
              <a:round/>
              <a:headEnd type="none" w="med" len="med"/>
              <a:tailEnd type="none" w="med" len="med"/>
            </a:ln>
          </p:spPr>
        </p:sp>
      </p:grpSp>
      <p:grpSp>
        <p:nvGrpSpPr>
          <p:cNvPr id="13359" name="Group 95"/>
          <p:cNvGrpSpPr/>
          <p:nvPr/>
        </p:nvGrpSpPr>
        <p:grpSpPr>
          <a:xfrm>
            <a:off x="5867400" y="4437063"/>
            <a:ext cx="3241675" cy="2087562"/>
            <a:chOff x="3696" y="2614"/>
            <a:chExt cx="2042" cy="1315"/>
          </a:xfrm>
        </p:grpSpPr>
        <p:sp>
          <p:nvSpPr>
            <p:cNvPr id="13360" name="Oval 66"/>
            <p:cNvSpPr/>
            <p:nvPr/>
          </p:nvSpPr>
          <p:spPr>
            <a:xfrm>
              <a:off x="4422" y="261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61" name="Oval 67"/>
            <p:cNvSpPr/>
            <p:nvPr/>
          </p:nvSpPr>
          <p:spPr>
            <a:xfrm>
              <a:off x="4014" y="3022"/>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62" name="Oval 68"/>
            <p:cNvSpPr/>
            <p:nvPr/>
          </p:nvSpPr>
          <p:spPr>
            <a:xfrm>
              <a:off x="5012" y="3022"/>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63" name="Line 69"/>
            <p:cNvSpPr/>
            <p:nvPr/>
          </p:nvSpPr>
          <p:spPr>
            <a:xfrm flipH="1">
              <a:off x="4059" y="2750"/>
              <a:ext cx="363" cy="318"/>
            </a:xfrm>
            <a:prstGeom prst="line">
              <a:avLst/>
            </a:prstGeom>
            <a:ln w="9525" cap="flat" cmpd="sng">
              <a:solidFill>
                <a:schemeClr val="tx1"/>
              </a:solidFill>
              <a:prstDash val="solid"/>
              <a:round/>
              <a:headEnd type="none" w="med" len="med"/>
              <a:tailEnd type="none" w="med" len="med"/>
            </a:ln>
          </p:spPr>
        </p:sp>
        <p:sp>
          <p:nvSpPr>
            <p:cNvPr id="13364" name="Line 70"/>
            <p:cNvSpPr/>
            <p:nvPr/>
          </p:nvSpPr>
          <p:spPr>
            <a:xfrm>
              <a:off x="4558" y="2705"/>
              <a:ext cx="454" cy="362"/>
            </a:xfrm>
            <a:prstGeom prst="line">
              <a:avLst/>
            </a:prstGeom>
            <a:ln w="9525" cap="flat" cmpd="sng">
              <a:solidFill>
                <a:schemeClr val="tx1"/>
              </a:solidFill>
              <a:prstDash val="solid"/>
              <a:round/>
              <a:headEnd type="none" w="med" len="med"/>
              <a:tailEnd type="none" w="med" len="med"/>
            </a:ln>
          </p:spPr>
        </p:sp>
        <p:sp>
          <p:nvSpPr>
            <p:cNvPr id="13365" name="Oval 71"/>
            <p:cNvSpPr/>
            <p:nvPr/>
          </p:nvSpPr>
          <p:spPr>
            <a:xfrm>
              <a:off x="3833" y="343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66" name="Oval 72"/>
            <p:cNvSpPr/>
            <p:nvPr/>
          </p:nvSpPr>
          <p:spPr>
            <a:xfrm>
              <a:off x="4377" y="343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67" name="Line 73"/>
            <p:cNvSpPr/>
            <p:nvPr/>
          </p:nvSpPr>
          <p:spPr>
            <a:xfrm flipH="1">
              <a:off x="3923" y="3158"/>
              <a:ext cx="136" cy="272"/>
            </a:xfrm>
            <a:prstGeom prst="line">
              <a:avLst/>
            </a:prstGeom>
            <a:ln w="9525" cap="flat" cmpd="sng">
              <a:solidFill>
                <a:schemeClr val="tx1"/>
              </a:solidFill>
              <a:prstDash val="solid"/>
              <a:round/>
              <a:headEnd type="none" w="med" len="med"/>
              <a:tailEnd type="none" w="med" len="med"/>
            </a:ln>
          </p:spPr>
        </p:sp>
        <p:sp>
          <p:nvSpPr>
            <p:cNvPr id="13368" name="Line 74"/>
            <p:cNvSpPr/>
            <p:nvPr/>
          </p:nvSpPr>
          <p:spPr>
            <a:xfrm>
              <a:off x="4150" y="3158"/>
              <a:ext cx="272" cy="317"/>
            </a:xfrm>
            <a:prstGeom prst="line">
              <a:avLst/>
            </a:prstGeom>
            <a:ln w="9525" cap="flat" cmpd="sng">
              <a:solidFill>
                <a:schemeClr val="tx1"/>
              </a:solidFill>
              <a:prstDash val="solid"/>
              <a:round/>
              <a:headEnd type="none" w="med" len="med"/>
              <a:tailEnd type="none" w="med" len="med"/>
            </a:ln>
          </p:spPr>
        </p:sp>
        <p:sp>
          <p:nvSpPr>
            <p:cNvPr id="13369" name="Line 75"/>
            <p:cNvSpPr/>
            <p:nvPr/>
          </p:nvSpPr>
          <p:spPr>
            <a:xfrm>
              <a:off x="5103" y="3158"/>
              <a:ext cx="226" cy="318"/>
            </a:xfrm>
            <a:prstGeom prst="line">
              <a:avLst/>
            </a:prstGeom>
            <a:ln w="9525" cap="flat" cmpd="sng">
              <a:solidFill>
                <a:schemeClr val="tx1"/>
              </a:solidFill>
              <a:prstDash val="solid"/>
              <a:round/>
              <a:headEnd type="none" w="med" len="med"/>
              <a:tailEnd type="none" w="med" len="med"/>
            </a:ln>
          </p:spPr>
        </p:sp>
        <p:sp>
          <p:nvSpPr>
            <p:cNvPr id="13370" name="Oval 76"/>
            <p:cNvSpPr/>
            <p:nvPr/>
          </p:nvSpPr>
          <p:spPr>
            <a:xfrm>
              <a:off x="5284" y="343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71" name="Oval 77"/>
            <p:cNvSpPr/>
            <p:nvPr/>
          </p:nvSpPr>
          <p:spPr>
            <a:xfrm>
              <a:off x="3696"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72" name="Oval 78"/>
            <p:cNvSpPr/>
            <p:nvPr/>
          </p:nvSpPr>
          <p:spPr>
            <a:xfrm>
              <a:off x="4921" y="3476"/>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73" name="Line 79"/>
            <p:cNvSpPr/>
            <p:nvPr/>
          </p:nvSpPr>
          <p:spPr>
            <a:xfrm flipH="1">
              <a:off x="5012" y="3159"/>
              <a:ext cx="45" cy="317"/>
            </a:xfrm>
            <a:prstGeom prst="line">
              <a:avLst/>
            </a:prstGeom>
            <a:ln w="9525" cap="flat" cmpd="sng">
              <a:solidFill>
                <a:schemeClr val="tx1"/>
              </a:solidFill>
              <a:prstDash val="solid"/>
              <a:round/>
              <a:headEnd type="none" w="med" len="med"/>
              <a:tailEnd type="none" w="med" len="med"/>
            </a:ln>
          </p:spPr>
        </p:sp>
        <p:sp>
          <p:nvSpPr>
            <p:cNvPr id="13374" name="Oval 80"/>
            <p:cNvSpPr/>
            <p:nvPr/>
          </p:nvSpPr>
          <p:spPr>
            <a:xfrm>
              <a:off x="4014"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75" name="Line 81"/>
            <p:cNvSpPr/>
            <p:nvPr/>
          </p:nvSpPr>
          <p:spPr>
            <a:xfrm flipH="1">
              <a:off x="3787" y="3566"/>
              <a:ext cx="91" cy="273"/>
            </a:xfrm>
            <a:prstGeom prst="line">
              <a:avLst/>
            </a:prstGeom>
            <a:ln w="9525" cap="flat" cmpd="sng">
              <a:solidFill>
                <a:schemeClr val="tx1"/>
              </a:solidFill>
              <a:prstDash val="solid"/>
              <a:round/>
              <a:headEnd type="none" w="med" len="med"/>
              <a:tailEnd type="none" w="med" len="med"/>
            </a:ln>
          </p:spPr>
        </p:sp>
        <p:sp>
          <p:nvSpPr>
            <p:cNvPr id="13376" name="Line 82"/>
            <p:cNvSpPr/>
            <p:nvPr/>
          </p:nvSpPr>
          <p:spPr>
            <a:xfrm>
              <a:off x="3878" y="3566"/>
              <a:ext cx="136" cy="227"/>
            </a:xfrm>
            <a:prstGeom prst="line">
              <a:avLst/>
            </a:prstGeom>
            <a:ln w="9525" cap="flat" cmpd="sng">
              <a:solidFill>
                <a:schemeClr val="tx1"/>
              </a:solidFill>
              <a:prstDash val="solid"/>
              <a:round/>
              <a:headEnd type="none" w="med" len="med"/>
              <a:tailEnd type="none" w="med" len="med"/>
            </a:ln>
          </p:spPr>
        </p:sp>
        <p:sp>
          <p:nvSpPr>
            <p:cNvPr id="13377" name="Oval 83"/>
            <p:cNvSpPr/>
            <p:nvPr/>
          </p:nvSpPr>
          <p:spPr>
            <a:xfrm>
              <a:off x="4785"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78" name="Oval 84"/>
            <p:cNvSpPr/>
            <p:nvPr/>
          </p:nvSpPr>
          <p:spPr>
            <a:xfrm>
              <a:off x="5103"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79" name="Oval 85"/>
            <p:cNvSpPr/>
            <p:nvPr/>
          </p:nvSpPr>
          <p:spPr>
            <a:xfrm>
              <a:off x="5285"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80" name="Oval 86"/>
            <p:cNvSpPr/>
            <p:nvPr/>
          </p:nvSpPr>
          <p:spPr>
            <a:xfrm>
              <a:off x="5602"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81" name="Line 87"/>
            <p:cNvSpPr/>
            <p:nvPr/>
          </p:nvSpPr>
          <p:spPr>
            <a:xfrm flipH="1">
              <a:off x="4785" y="3566"/>
              <a:ext cx="182" cy="318"/>
            </a:xfrm>
            <a:prstGeom prst="line">
              <a:avLst/>
            </a:prstGeom>
            <a:ln w="9525" cap="flat" cmpd="sng">
              <a:solidFill>
                <a:schemeClr val="tx1"/>
              </a:solidFill>
              <a:prstDash val="solid"/>
              <a:round/>
              <a:headEnd type="none" w="med" len="med"/>
              <a:tailEnd type="none" w="med" len="med"/>
            </a:ln>
          </p:spPr>
        </p:sp>
        <p:sp>
          <p:nvSpPr>
            <p:cNvPr id="13382" name="Line 88"/>
            <p:cNvSpPr/>
            <p:nvPr/>
          </p:nvSpPr>
          <p:spPr>
            <a:xfrm>
              <a:off x="5012" y="3612"/>
              <a:ext cx="136" cy="226"/>
            </a:xfrm>
            <a:prstGeom prst="line">
              <a:avLst/>
            </a:prstGeom>
            <a:ln w="9525" cap="flat" cmpd="sng">
              <a:solidFill>
                <a:schemeClr val="tx1"/>
              </a:solidFill>
              <a:prstDash val="solid"/>
              <a:round/>
              <a:headEnd type="none" w="med" len="med"/>
              <a:tailEnd type="none" w="med" len="med"/>
            </a:ln>
          </p:spPr>
        </p:sp>
        <p:sp>
          <p:nvSpPr>
            <p:cNvPr id="13383" name="Line 89"/>
            <p:cNvSpPr/>
            <p:nvPr/>
          </p:nvSpPr>
          <p:spPr>
            <a:xfrm flipH="1">
              <a:off x="5329" y="3566"/>
              <a:ext cx="0" cy="318"/>
            </a:xfrm>
            <a:prstGeom prst="line">
              <a:avLst/>
            </a:prstGeom>
            <a:ln w="9525" cap="flat" cmpd="sng">
              <a:solidFill>
                <a:schemeClr val="tx1"/>
              </a:solidFill>
              <a:prstDash val="solid"/>
              <a:round/>
              <a:headEnd type="none" w="med" len="med"/>
              <a:tailEnd type="none" w="med" len="med"/>
            </a:ln>
          </p:spPr>
        </p:sp>
        <p:sp>
          <p:nvSpPr>
            <p:cNvPr id="13384" name="Line 90"/>
            <p:cNvSpPr/>
            <p:nvPr/>
          </p:nvSpPr>
          <p:spPr>
            <a:xfrm>
              <a:off x="5375" y="3566"/>
              <a:ext cx="227" cy="227"/>
            </a:xfrm>
            <a:prstGeom prst="line">
              <a:avLst/>
            </a:prstGeom>
            <a:ln w="9525" cap="flat" cmpd="sng">
              <a:solidFill>
                <a:schemeClr val="tx1"/>
              </a:solidFill>
              <a:prstDash val="solid"/>
              <a:round/>
              <a:headEnd type="none" w="med" len="med"/>
              <a:tailEnd type="none" w="med" len="med"/>
            </a:ln>
          </p:spPr>
        </p:sp>
        <p:sp>
          <p:nvSpPr>
            <p:cNvPr id="13385" name="Oval 91"/>
            <p:cNvSpPr/>
            <p:nvPr/>
          </p:nvSpPr>
          <p:spPr>
            <a:xfrm>
              <a:off x="4240"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86" name="Oval 92"/>
            <p:cNvSpPr/>
            <p:nvPr/>
          </p:nvSpPr>
          <p:spPr>
            <a:xfrm>
              <a:off x="4558" y="379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13387" name="Line 93"/>
            <p:cNvSpPr/>
            <p:nvPr/>
          </p:nvSpPr>
          <p:spPr>
            <a:xfrm flipH="1">
              <a:off x="4331" y="3566"/>
              <a:ext cx="91" cy="273"/>
            </a:xfrm>
            <a:prstGeom prst="line">
              <a:avLst/>
            </a:prstGeom>
            <a:ln w="9525" cap="flat" cmpd="sng">
              <a:solidFill>
                <a:schemeClr val="tx1"/>
              </a:solidFill>
              <a:prstDash val="solid"/>
              <a:round/>
              <a:headEnd type="none" w="med" len="med"/>
              <a:tailEnd type="none" w="med" len="med"/>
            </a:ln>
          </p:spPr>
        </p:sp>
        <p:sp>
          <p:nvSpPr>
            <p:cNvPr id="13388" name="Line 94"/>
            <p:cNvSpPr/>
            <p:nvPr/>
          </p:nvSpPr>
          <p:spPr>
            <a:xfrm>
              <a:off x="4422" y="3566"/>
              <a:ext cx="136" cy="227"/>
            </a:xfrm>
            <a:prstGeom prst="line">
              <a:avLst/>
            </a:prstGeom>
            <a:ln w="9525" cap="flat" cmpd="sng">
              <a:solidFill>
                <a:schemeClr val="tx1"/>
              </a:solidFill>
              <a:prstDash val="solid"/>
              <a:round/>
              <a:headEnd type="none" w="med" len="med"/>
              <a:tailEnd type="none" w="med" len="med"/>
            </a:ln>
          </p:spPr>
        </p:sp>
      </p:grpSp>
      <p:sp>
        <p:nvSpPr>
          <p:cNvPr id="2" name="灯片编号占位符 3"/>
          <p:cNvSpPr>
            <a:spLocks noGrp="1"/>
          </p:cNvSpPr>
          <p:nvPr>
            <p:ph type="sldNum" sz="quarter" idx="12"/>
            <p:custDataLst>
              <p:tags r:id="rId1"/>
            </p:custDataLst>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p:txBody>
          <a:bodyPr vert="horz" wrap="square" lIns="91440" tIns="45720" rIns="91440" bIns="45720" anchor="b" anchorCtr="0"/>
          <a:p>
            <a:r>
              <a:rPr lang="zh-CN" altLang="en-US"/>
              <a:t>定理</a:t>
            </a:r>
            <a:r>
              <a:rPr lang="en-US" altLang="zh-CN"/>
              <a:t>14.13</a:t>
            </a:r>
            <a:endParaRPr lang="zh-CN" altLang="en-US"/>
          </a:p>
        </p:txBody>
      </p:sp>
      <p:sp>
        <p:nvSpPr>
          <p:cNvPr id="25602" name="Rectangle 3"/>
          <p:cNvSpPr>
            <a:spLocks noGrp="1"/>
          </p:cNvSpPr>
          <p:nvPr>
            <p:ph idx="1"/>
          </p:nvPr>
        </p:nvSpPr>
        <p:spPr/>
        <p:txBody>
          <a:bodyPr vert="horz" wrap="square" lIns="91440" tIns="45720" rIns="91440" bIns="45720" anchor="t" anchorCtr="0"/>
          <a:p>
            <a:pPr>
              <a:lnSpc>
                <a:spcPct val="120000"/>
              </a:lnSpc>
              <a:spcBef>
                <a:spcPct val="0"/>
              </a:spcBef>
            </a:pPr>
            <a:r>
              <a:rPr lang="zh-CN" altLang="en-US">
                <a:solidFill>
                  <a:schemeClr val="hlink"/>
                </a:solidFill>
              </a:rPr>
              <a:t>定理</a:t>
            </a:r>
            <a:r>
              <a:rPr lang="en-US" altLang="zh-CN">
                <a:solidFill>
                  <a:schemeClr val="hlink"/>
                </a:solidFill>
              </a:rPr>
              <a:t>14.13</a:t>
            </a:r>
            <a:r>
              <a:rPr lang="en-US" altLang="zh-CN"/>
              <a:t>: </a:t>
            </a:r>
            <a:r>
              <a:rPr lang="zh-CN" altLang="en-US"/>
              <a:t>设</a:t>
            </a:r>
            <a:r>
              <a:rPr lang="en-US" altLang="zh-CN" i="1"/>
              <a:t>r</a:t>
            </a:r>
            <a:r>
              <a:rPr lang="en-US" altLang="zh-CN"/>
              <a:t>(≥2)</a:t>
            </a:r>
            <a:r>
              <a:rPr lang="zh-CN" altLang="en-US"/>
              <a:t>叉正则树</a:t>
            </a:r>
            <a:r>
              <a:rPr lang="en-US" altLang="zh-CN"/>
              <a:t>T</a:t>
            </a:r>
            <a:r>
              <a:rPr lang="zh-CN" altLang="en-US"/>
              <a:t>有</a:t>
            </a:r>
            <a:r>
              <a:rPr lang="en-US" altLang="zh-CN" i="1"/>
              <a:t>i</a:t>
            </a:r>
            <a:r>
              <a:rPr lang="zh-CN" altLang="en-US"/>
              <a:t>个分支点和</a:t>
            </a:r>
            <a:r>
              <a:rPr lang="en-US" altLang="zh-CN" i="1"/>
              <a:t>t</a:t>
            </a:r>
            <a:r>
              <a:rPr lang="zh-CN" altLang="en-US"/>
              <a:t>个树叶</a:t>
            </a:r>
            <a:r>
              <a:rPr lang="en-US" altLang="zh-CN"/>
              <a:t>, </a:t>
            </a:r>
            <a:r>
              <a:rPr lang="zh-CN" altLang="en-US"/>
              <a:t>则</a:t>
            </a:r>
            <a:r>
              <a:rPr lang="en-US" altLang="zh-CN"/>
              <a:t>(</a:t>
            </a:r>
            <a:r>
              <a:rPr lang="en-US" altLang="zh-CN" i="1"/>
              <a:t>r</a:t>
            </a:r>
            <a:r>
              <a:rPr lang="en-US" altLang="zh-CN"/>
              <a:t>-1)</a:t>
            </a:r>
            <a:r>
              <a:rPr lang="en-US" altLang="zh-CN" i="1"/>
              <a:t>i</a:t>
            </a:r>
            <a:r>
              <a:rPr lang="en-US" altLang="zh-CN"/>
              <a:t>=</a:t>
            </a:r>
            <a:r>
              <a:rPr lang="en-US" altLang="zh-CN" i="1"/>
              <a:t>t</a:t>
            </a:r>
            <a:r>
              <a:rPr lang="en-US" altLang="zh-CN"/>
              <a:t>-1.</a:t>
            </a:r>
            <a:endParaRPr lang="en-US" altLang="zh-CN"/>
          </a:p>
          <a:p>
            <a:pPr>
              <a:lnSpc>
                <a:spcPct val="120000"/>
              </a:lnSpc>
              <a:spcBef>
                <a:spcPct val="0"/>
              </a:spcBef>
              <a:buNone/>
            </a:pPr>
            <a:r>
              <a:rPr lang="zh-CN" altLang="en-US">
                <a:solidFill>
                  <a:schemeClr val="tx2"/>
                </a:solidFill>
              </a:rPr>
              <a:t>证明</a:t>
            </a:r>
            <a:r>
              <a:rPr lang="en-US" altLang="zh-CN">
                <a:solidFill>
                  <a:schemeClr val="tx2"/>
                </a:solidFill>
              </a:rPr>
              <a:t>:</a:t>
            </a:r>
            <a:r>
              <a:rPr lang="zh-CN" altLang="en-US">
                <a:solidFill>
                  <a:schemeClr val="folHlink"/>
                </a:solidFill>
              </a:rPr>
              <a:t>正则</a:t>
            </a:r>
            <a:r>
              <a:rPr lang="en-US" altLang="zh-CN" i="1">
                <a:solidFill>
                  <a:schemeClr val="folHlink"/>
                </a:solidFill>
              </a:rPr>
              <a:t>r</a:t>
            </a:r>
            <a:r>
              <a:rPr lang="zh-CN" altLang="en-US">
                <a:solidFill>
                  <a:schemeClr val="folHlink"/>
                </a:solidFill>
              </a:rPr>
              <a:t>叉树的每个分枝结点的出度均是</a:t>
            </a:r>
            <a:r>
              <a:rPr lang="en-US" altLang="zh-CN" i="1">
                <a:solidFill>
                  <a:schemeClr val="folHlink"/>
                </a:solidFill>
              </a:rPr>
              <a:t>r</a:t>
            </a:r>
            <a:r>
              <a:rPr lang="en-US" altLang="zh-CN">
                <a:solidFill>
                  <a:schemeClr val="folHlink"/>
                </a:solidFill>
              </a:rPr>
              <a:t>,</a:t>
            </a:r>
            <a:r>
              <a:rPr lang="zh-CN" altLang="en-US">
                <a:solidFill>
                  <a:schemeClr val="folHlink"/>
                </a:solidFill>
              </a:rPr>
              <a:t>树叶的出度为零</a:t>
            </a:r>
            <a:r>
              <a:rPr lang="en-US" altLang="zh-CN">
                <a:solidFill>
                  <a:schemeClr val="folHlink"/>
                </a:solidFill>
              </a:rPr>
              <a:t>,</a:t>
            </a:r>
            <a:r>
              <a:rPr lang="zh-CN" altLang="en-US">
                <a:solidFill>
                  <a:schemeClr val="folHlink"/>
                </a:solidFill>
              </a:rPr>
              <a:t>除了根结点</a:t>
            </a:r>
            <a:r>
              <a:rPr lang="en-US" altLang="zh-CN">
                <a:solidFill>
                  <a:schemeClr val="folHlink"/>
                </a:solidFill>
              </a:rPr>
              <a:t>,</a:t>
            </a:r>
            <a:r>
              <a:rPr lang="zh-CN" altLang="en-US">
                <a:solidFill>
                  <a:schemeClr val="folHlink"/>
                </a:solidFill>
              </a:rPr>
              <a:t>其余每个结点的入度都为</a:t>
            </a:r>
            <a:r>
              <a:rPr lang="en-US" altLang="zh-CN">
                <a:solidFill>
                  <a:schemeClr val="folHlink"/>
                </a:solidFill>
              </a:rPr>
              <a:t>1,</a:t>
            </a:r>
            <a:r>
              <a:rPr lang="zh-CN" altLang="en-US">
                <a:solidFill>
                  <a:schemeClr val="folHlink"/>
                </a:solidFill>
              </a:rPr>
              <a:t>根据有向图的握手原理得</a:t>
            </a:r>
            <a:endParaRPr lang="zh-CN" altLang="en-US">
              <a:solidFill>
                <a:schemeClr val="folHlink"/>
              </a:solidFill>
            </a:endParaRPr>
          </a:p>
          <a:p>
            <a:pPr>
              <a:lnSpc>
                <a:spcPct val="120000"/>
              </a:lnSpc>
              <a:spcBef>
                <a:spcPct val="0"/>
              </a:spcBef>
              <a:buNone/>
            </a:pPr>
            <a:r>
              <a:rPr lang="zh-CN" altLang="en-US">
                <a:solidFill>
                  <a:schemeClr val="folHlink"/>
                </a:solidFill>
              </a:rPr>
              <a:t>             </a:t>
            </a:r>
            <a:r>
              <a:rPr lang="en-US" altLang="zh-CN" i="1">
                <a:solidFill>
                  <a:schemeClr val="folHlink"/>
                </a:solidFill>
              </a:rPr>
              <a:t>m</a:t>
            </a:r>
            <a:r>
              <a:rPr lang="en-US" altLang="zh-CN">
                <a:solidFill>
                  <a:schemeClr val="folHlink"/>
                </a:solidFill>
              </a:rPr>
              <a:t>=</a:t>
            </a:r>
            <a:r>
              <a:rPr lang="en-US" altLang="zh-CN" i="1">
                <a:solidFill>
                  <a:schemeClr val="folHlink"/>
                </a:solidFill>
              </a:rPr>
              <a:t>t</a:t>
            </a:r>
            <a:r>
              <a:rPr lang="en-US" altLang="zh-CN">
                <a:solidFill>
                  <a:schemeClr val="folHlink"/>
                </a:solidFill>
              </a:rPr>
              <a:t>+</a:t>
            </a:r>
            <a:r>
              <a:rPr lang="en-US" altLang="zh-CN" i="1">
                <a:solidFill>
                  <a:schemeClr val="folHlink"/>
                </a:solidFill>
              </a:rPr>
              <a:t>i</a:t>
            </a:r>
            <a:r>
              <a:rPr lang="en-US" altLang="zh-CN">
                <a:solidFill>
                  <a:schemeClr val="folHlink"/>
                </a:solidFill>
              </a:rPr>
              <a:t>-1=</a:t>
            </a:r>
            <a:r>
              <a:rPr lang="en-US" altLang="zh-CN" i="1">
                <a:solidFill>
                  <a:schemeClr val="folHlink"/>
                </a:solidFill>
              </a:rPr>
              <a:t>ri</a:t>
            </a:r>
            <a:endParaRPr lang="en-US" altLang="zh-CN">
              <a:solidFill>
                <a:schemeClr val="folHlink"/>
              </a:solidFill>
            </a:endParaRPr>
          </a:p>
          <a:p>
            <a:pPr>
              <a:lnSpc>
                <a:spcPct val="120000"/>
              </a:lnSpc>
              <a:spcBef>
                <a:spcPct val="0"/>
              </a:spcBef>
              <a:buNone/>
            </a:pPr>
            <a:r>
              <a:rPr lang="zh-CN" altLang="en-US">
                <a:solidFill>
                  <a:schemeClr val="folHlink"/>
                </a:solidFill>
              </a:rPr>
              <a:t>解得 </a:t>
            </a:r>
            <a:r>
              <a:rPr lang="en-US" altLang="zh-CN">
                <a:solidFill>
                  <a:schemeClr val="folHlink"/>
                </a:solidFill>
              </a:rPr>
              <a:t>(</a:t>
            </a:r>
            <a:r>
              <a:rPr lang="en-US" altLang="zh-CN" i="1">
                <a:solidFill>
                  <a:schemeClr val="folHlink"/>
                </a:solidFill>
              </a:rPr>
              <a:t>r</a:t>
            </a:r>
            <a:r>
              <a:rPr lang="en-US" altLang="zh-CN">
                <a:solidFill>
                  <a:schemeClr val="folHlink"/>
                </a:solidFill>
              </a:rPr>
              <a:t>-1)</a:t>
            </a:r>
            <a:r>
              <a:rPr lang="en-US" altLang="zh-CN" i="1">
                <a:solidFill>
                  <a:schemeClr val="folHlink"/>
                </a:solidFill>
              </a:rPr>
              <a:t>i</a:t>
            </a:r>
            <a:r>
              <a:rPr lang="en-US" altLang="zh-CN">
                <a:solidFill>
                  <a:schemeClr val="folHlink"/>
                </a:solidFill>
              </a:rPr>
              <a:t>=</a:t>
            </a:r>
            <a:r>
              <a:rPr lang="en-US" altLang="zh-CN" i="1">
                <a:solidFill>
                  <a:schemeClr val="folHlink"/>
                </a:solidFill>
              </a:rPr>
              <a:t>t</a:t>
            </a:r>
            <a:r>
              <a:rPr lang="en-US" altLang="zh-CN">
                <a:solidFill>
                  <a:schemeClr val="folHlink"/>
                </a:solidFill>
              </a:rPr>
              <a:t>-1</a:t>
            </a:r>
            <a:endParaRPr lang="en-US" altLang="zh-CN">
              <a:solidFill>
                <a:schemeClr val="folHlink"/>
              </a:solidFill>
            </a:endParaRPr>
          </a:p>
          <a:p>
            <a:pPr>
              <a:lnSpc>
                <a:spcPct val="120000"/>
              </a:lnSpc>
              <a:spcBef>
                <a:spcPct val="0"/>
              </a:spcBef>
            </a:pPr>
            <a:r>
              <a:rPr lang="zh-CN" altLang="en-US"/>
              <a:t>思考：如果树</a:t>
            </a:r>
            <a:r>
              <a:rPr lang="en-US" altLang="zh-CN"/>
              <a:t>T</a:t>
            </a:r>
            <a:r>
              <a:rPr lang="zh-CN" altLang="en-US"/>
              <a:t>是</a:t>
            </a:r>
            <a:r>
              <a:rPr lang="en-US" altLang="zh-CN" i="1"/>
              <a:t>r</a:t>
            </a:r>
            <a:r>
              <a:rPr lang="zh-CN" altLang="en-US"/>
              <a:t>叉树，结论是什么呢？</a:t>
            </a:r>
            <a:endParaRPr lang="zh-CN" altLang="en-US"/>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xEl>
                                              <p:charRg st="46" end="10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2">
                                            <p:txEl>
                                              <p:charRg st="107" end="13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2">
                                            <p:txEl>
                                              <p:charRg st="131" end="14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602">
                                            <p:txEl>
                                              <p:charRg st="145" end="16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p:txBody>
          <a:bodyPr vert="horz" wrap="square" lIns="91440" tIns="45720" rIns="91440" bIns="45720" anchor="b" anchorCtr="0"/>
          <a:p>
            <a:r>
              <a:rPr lang="zh-CN" altLang="en-US"/>
              <a:t>树作为模型</a:t>
            </a:r>
            <a:r>
              <a:rPr lang="en-US" altLang="zh-CN"/>
              <a:t>—</a:t>
            </a:r>
            <a:r>
              <a:rPr lang="zh-CN" altLang="en-US"/>
              <a:t>表示组织机构</a:t>
            </a:r>
            <a:endParaRPr lang="en-US" altLang="zh-CN"/>
          </a:p>
        </p:txBody>
      </p:sp>
      <p:sp>
        <p:nvSpPr>
          <p:cNvPr id="15362" name="Rectangle 3"/>
          <p:cNvSpPr>
            <a:spLocks noGrp="1"/>
          </p:cNvSpPr>
          <p:nvPr>
            <p:ph idx="1"/>
          </p:nvPr>
        </p:nvSpPr>
        <p:spPr/>
        <p:txBody>
          <a:bodyPr vert="horz" wrap="square" lIns="91440" tIns="45720" rIns="91440" bIns="45720" anchor="t" anchorCtr="0"/>
          <a:p>
            <a:pPr marL="0" indent="0">
              <a:buNone/>
            </a:pPr>
            <a:r>
              <a:rPr lang="zh-CN" altLang="en-US"/>
              <a:t>大的组织机构的结构可以用根树来建模。在这个树中每个顶点表示机构里的一个职务。从一个顶点到另外一个顶点的边的起点所表示的人是终点所表示的人的（直接）上司。如下图所示</a:t>
            </a:r>
            <a:endParaRPr lang="en-US" altLang="zh-CN"/>
          </a:p>
        </p:txBody>
      </p:sp>
      <p:pic>
        <p:nvPicPr>
          <p:cNvPr id="15363" name="图片 1"/>
          <p:cNvPicPr>
            <a:picLocks noChangeAspect="1"/>
          </p:cNvPicPr>
          <p:nvPr/>
        </p:nvPicPr>
        <p:blipFill>
          <a:blip r:embed="rId1"/>
          <a:stretch>
            <a:fillRect/>
          </a:stretch>
        </p:blipFill>
        <p:spPr>
          <a:xfrm>
            <a:off x="281940" y="3501390"/>
            <a:ext cx="8753475" cy="2820670"/>
          </a:xfrm>
          <a:prstGeom prst="rect">
            <a:avLst/>
          </a:prstGeom>
          <a:noFill/>
          <a:ln w="9525">
            <a:noFill/>
          </a:ln>
        </p:spPr>
      </p:pic>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p:nvPr>
        </p:nvSpPr>
        <p:spPr/>
        <p:txBody>
          <a:bodyPr vert="horz" wrap="square" lIns="91440" tIns="45720" rIns="91440" bIns="45720" anchor="b" anchorCtr="0"/>
          <a:p>
            <a:r>
              <a:rPr lang="zh-CN" altLang="en-US"/>
              <a:t>树作为模型</a:t>
            </a:r>
            <a:r>
              <a:rPr lang="en-US" altLang="zh-CN"/>
              <a:t>—</a:t>
            </a:r>
            <a:r>
              <a:rPr lang="zh-CN" altLang="en-US"/>
              <a:t>计算机文件系统</a:t>
            </a:r>
            <a:endParaRPr lang="en-US" altLang="zh-CN"/>
          </a:p>
        </p:txBody>
      </p:sp>
      <p:pic>
        <p:nvPicPr>
          <p:cNvPr id="16386" name="图片 1"/>
          <p:cNvPicPr>
            <a:picLocks noChangeAspect="1"/>
          </p:cNvPicPr>
          <p:nvPr/>
        </p:nvPicPr>
        <p:blipFill>
          <a:blip r:embed="rId1"/>
          <a:stretch>
            <a:fillRect/>
          </a:stretch>
        </p:blipFill>
        <p:spPr>
          <a:xfrm>
            <a:off x="1691323" y="1412875"/>
            <a:ext cx="7404100" cy="5395913"/>
          </a:xfrm>
          <a:prstGeom prst="rect">
            <a:avLst/>
          </a:prstGeom>
          <a:noFill/>
          <a:ln w="9525">
            <a:noFill/>
          </a:ln>
        </p:spPr>
      </p:pic>
      <p:sp>
        <p:nvSpPr>
          <p:cNvPr id="16387" name="Rectangle 3"/>
          <p:cNvSpPr>
            <a:spLocks noGrp="1"/>
          </p:cNvSpPr>
          <p:nvPr>
            <p:ph idx="1"/>
          </p:nvPr>
        </p:nvSpPr>
        <p:spPr>
          <a:xfrm>
            <a:off x="467360" y="1412875"/>
            <a:ext cx="8496300" cy="4464050"/>
          </a:xfrm>
        </p:spPr>
        <p:txBody>
          <a:bodyPr vert="horz" wrap="square" lIns="91440" tIns="45720" rIns="91440" bIns="45720" anchor="t" anchorCtr="0"/>
          <a:p>
            <a:pPr marL="0" indent="0">
              <a:spcBef>
                <a:spcPts val="200"/>
              </a:spcBef>
              <a:buNone/>
            </a:pPr>
            <a:r>
              <a:rPr lang="zh-CN" altLang="en-US"/>
              <a:t>计算机存储器中的文件可以组织城目录，</a:t>
            </a:r>
            <a:endParaRPr lang="en-US" altLang="zh-CN"/>
          </a:p>
          <a:p>
            <a:pPr marL="0" indent="0">
              <a:spcBef>
                <a:spcPts val="200"/>
              </a:spcBef>
              <a:buNone/>
            </a:pPr>
            <a:r>
              <a:rPr lang="zh-CN" altLang="en-US"/>
              <a:t>目录可以包含文件和子目录。</a:t>
            </a:r>
            <a:endParaRPr lang="en-US" altLang="zh-CN"/>
          </a:p>
          <a:p>
            <a:pPr marL="0" indent="0">
              <a:spcBef>
                <a:spcPts val="200"/>
              </a:spcBef>
              <a:buNone/>
            </a:pPr>
            <a:r>
              <a:rPr lang="zh-CN" altLang="en-US"/>
              <a:t>根目录包含整个文件</a:t>
            </a:r>
            <a:endParaRPr lang="en-US" altLang="zh-CN"/>
          </a:p>
          <a:p>
            <a:pPr marL="0" indent="0">
              <a:spcBef>
                <a:spcPts val="200"/>
              </a:spcBef>
              <a:buNone/>
            </a:pPr>
            <a:r>
              <a:rPr lang="zh-CN" altLang="en-US"/>
              <a:t>系统。因此，文件</a:t>
            </a:r>
            <a:endParaRPr lang="en-US" altLang="zh-CN"/>
          </a:p>
          <a:p>
            <a:pPr marL="0" indent="0">
              <a:spcBef>
                <a:spcPts val="200"/>
              </a:spcBef>
              <a:buNone/>
            </a:pPr>
            <a:r>
              <a:rPr lang="zh-CN" altLang="en-US"/>
              <a:t>系统可以表示</a:t>
            </a:r>
            <a:endParaRPr lang="en-US" altLang="zh-CN"/>
          </a:p>
          <a:p>
            <a:pPr marL="0" indent="0">
              <a:spcBef>
                <a:spcPts val="200"/>
              </a:spcBef>
              <a:buNone/>
            </a:pPr>
            <a:r>
              <a:rPr lang="zh-CN" altLang="en-US"/>
              <a:t>成根数，其</a:t>
            </a:r>
            <a:endParaRPr lang="en-US" altLang="zh-CN"/>
          </a:p>
          <a:p>
            <a:pPr marL="0" indent="0">
              <a:spcBef>
                <a:spcPts val="200"/>
              </a:spcBef>
              <a:buNone/>
            </a:pPr>
            <a:r>
              <a:rPr lang="zh-CN" altLang="en-US"/>
              <a:t>中根表示根</a:t>
            </a:r>
            <a:endParaRPr lang="en-US" altLang="zh-CN"/>
          </a:p>
          <a:p>
            <a:pPr marL="0" indent="0">
              <a:spcBef>
                <a:spcPts val="200"/>
              </a:spcBef>
              <a:buNone/>
            </a:pPr>
            <a:r>
              <a:rPr lang="zh-CN" altLang="en-US"/>
              <a:t>目录，内点</a:t>
            </a:r>
            <a:endParaRPr lang="en-US" altLang="zh-CN"/>
          </a:p>
          <a:p>
            <a:pPr marL="0" indent="0">
              <a:spcBef>
                <a:spcPts val="200"/>
              </a:spcBef>
              <a:buNone/>
            </a:pPr>
            <a:r>
              <a:rPr lang="zh-CN" altLang="en-US"/>
              <a:t>表示子目录，</a:t>
            </a:r>
            <a:endParaRPr lang="en-US" altLang="zh-CN"/>
          </a:p>
          <a:p>
            <a:pPr marL="0" indent="0">
              <a:spcBef>
                <a:spcPts val="200"/>
              </a:spcBef>
              <a:buNone/>
            </a:pPr>
            <a:r>
              <a:rPr lang="zh-CN" altLang="en-US"/>
              <a:t>树叶表示文件或空目录。</a:t>
            </a:r>
            <a:endParaRPr lang="en-US" altLang="zh-CN"/>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p:txBody>
          <a:bodyPr vert="horz" wrap="square" lIns="91440" tIns="45720" rIns="91440" bIns="45720" anchor="b" anchorCtr="0"/>
          <a:p>
            <a:r>
              <a:rPr lang="zh-CN" altLang="en-US"/>
              <a:t>树作为模型</a:t>
            </a:r>
            <a:r>
              <a:rPr lang="en-US" altLang="zh-CN"/>
              <a:t>—</a:t>
            </a:r>
            <a:r>
              <a:rPr lang="zh-CN" altLang="en-US"/>
              <a:t>并行处理系统</a:t>
            </a:r>
            <a:endParaRPr lang="en-US" altLang="zh-CN"/>
          </a:p>
        </p:txBody>
      </p:sp>
      <p:pic>
        <p:nvPicPr>
          <p:cNvPr id="17410" name="图片 1"/>
          <p:cNvPicPr>
            <a:picLocks noChangeAspect="1"/>
          </p:cNvPicPr>
          <p:nvPr/>
        </p:nvPicPr>
        <p:blipFill>
          <a:blip r:embed="rId1"/>
          <a:stretch>
            <a:fillRect/>
          </a:stretch>
        </p:blipFill>
        <p:spPr>
          <a:xfrm>
            <a:off x="5364480" y="1845310"/>
            <a:ext cx="3708400" cy="2870200"/>
          </a:xfrm>
          <a:prstGeom prst="rect">
            <a:avLst/>
          </a:prstGeom>
          <a:noFill/>
          <a:ln w="9525">
            <a:noFill/>
          </a:ln>
        </p:spPr>
      </p:pic>
      <p:sp>
        <p:nvSpPr>
          <p:cNvPr id="17411" name="Rectangle 3"/>
          <p:cNvSpPr>
            <a:spLocks noGrp="1"/>
          </p:cNvSpPr>
          <p:nvPr>
            <p:ph idx="1"/>
          </p:nvPr>
        </p:nvSpPr>
        <p:spPr>
          <a:xfrm>
            <a:off x="323850" y="1412875"/>
            <a:ext cx="8496300" cy="5111750"/>
          </a:xfrm>
        </p:spPr>
        <p:txBody>
          <a:bodyPr vert="horz" wrap="square" lIns="91440" tIns="45720" rIns="91440" bIns="45720" anchor="t" anchorCtr="0"/>
          <a:p>
            <a:pPr marL="0" indent="0">
              <a:spcBef>
                <a:spcPts val="200"/>
              </a:spcBef>
              <a:buNone/>
            </a:pPr>
            <a:r>
              <a:rPr lang="zh-CN" altLang="en-US" sz="2400"/>
              <a:t>树形连接网络是把处理器互相连接的一种重要方式，一般采用二叉正则树，能把</a:t>
            </a:r>
            <a:r>
              <a:rPr lang="en-US" altLang="zh-CN" sz="2400"/>
              <a:t>2</a:t>
            </a:r>
            <a:r>
              <a:rPr lang="en-US" altLang="zh-CN" sz="2400" i="1" baseline="30000"/>
              <a:t>k</a:t>
            </a:r>
            <a:r>
              <a:rPr lang="en-US" altLang="zh-CN" sz="2400"/>
              <a:t>-1</a:t>
            </a:r>
            <a:r>
              <a:rPr lang="zh-CN" altLang="en-US" sz="2400"/>
              <a:t>个处理</a:t>
            </a:r>
            <a:endParaRPr lang="en-US" altLang="zh-CN" sz="2400"/>
          </a:p>
          <a:p>
            <a:pPr marL="0" indent="0">
              <a:spcBef>
                <a:spcPts val="200"/>
              </a:spcBef>
              <a:buNone/>
            </a:pPr>
            <a:r>
              <a:rPr lang="zh-CN" altLang="en-US" sz="2400"/>
              <a:t>器互相连接起来</a:t>
            </a:r>
            <a:r>
              <a:rPr lang="en-US" altLang="zh-CN" sz="2400"/>
              <a:t>(</a:t>
            </a:r>
            <a:r>
              <a:rPr lang="en-US" altLang="zh-CN" sz="2400" i="1"/>
              <a:t>k</a:t>
            </a:r>
            <a:r>
              <a:rPr lang="zh-CN" altLang="en-US" sz="2400"/>
              <a:t>为正整数</a:t>
            </a:r>
            <a:r>
              <a:rPr lang="en-US" altLang="zh-CN" sz="2400"/>
              <a:t>)</a:t>
            </a:r>
            <a:r>
              <a:rPr lang="zh-CN" altLang="en-US" sz="2400"/>
              <a:t>。一个</a:t>
            </a:r>
            <a:endParaRPr lang="en-US" altLang="zh-CN" sz="2400"/>
          </a:p>
          <a:p>
            <a:pPr marL="0" indent="0">
              <a:spcBef>
                <a:spcPts val="200"/>
              </a:spcBef>
              <a:buNone/>
            </a:pPr>
            <a:r>
              <a:rPr lang="zh-CN" altLang="en-US" sz="2400"/>
              <a:t>非根也非树叶的顶点</a:t>
            </a:r>
            <a:r>
              <a:rPr lang="en-US" altLang="zh-CN" sz="2400"/>
              <a:t>v</a:t>
            </a:r>
            <a:r>
              <a:rPr lang="zh-CN" altLang="en-US" sz="2400"/>
              <a:t>所表示的处</a:t>
            </a:r>
            <a:endParaRPr lang="en-US" altLang="zh-CN" sz="2400"/>
          </a:p>
          <a:p>
            <a:pPr marL="0" indent="0">
              <a:spcBef>
                <a:spcPts val="200"/>
              </a:spcBef>
              <a:buNone/>
            </a:pPr>
            <a:r>
              <a:rPr lang="zh-CN" altLang="en-US" sz="2400"/>
              <a:t>理器有</a:t>
            </a:r>
            <a:r>
              <a:rPr lang="en-US" altLang="zh-CN" sz="2400"/>
              <a:t>3</a:t>
            </a:r>
            <a:r>
              <a:rPr lang="zh-CN" altLang="en-US" sz="2400"/>
              <a:t>个双向连接，根所表示</a:t>
            </a:r>
            <a:endParaRPr lang="en-US" altLang="zh-CN" sz="2400"/>
          </a:p>
          <a:p>
            <a:pPr marL="0" indent="0">
              <a:spcBef>
                <a:spcPts val="200"/>
              </a:spcBef>
              <a:buNone/>
            </a:pPr>
            <a:r>
              <a:rPr lang="zh-CN" altLang="en-US" sz="2400"/>
              <a:t>的处理器有</a:t>
            </a:r>
            <a:r>
              <a:rPr lang="en-US" altLang="zh-CN" sz="2400"/>
              <a:t>2</a:t>
            </a:r>
            <a:r>
              <a:rPr lang="zh-CN" altLang="en-US" sz="2400"/>
              <a:t>个双向连接，树叶</a:t>
            </a:r>
            <a:endParaRPr lang="en-US" altLang="zh-CN" sz="2400"/>
          </a:p>
          <a:p>
            <a:pPr marL="0" indent="0">
              <a:spcBef>
                <a:spcPts val="200"/>
              </a:spcBef>
              <a:buNone/>
            </a:pPr>
            <a:r>
              <a:rPr lang="zh-CN" altLang="en-US" sz="2400"/>
              <a:t>所表示的处理器有</a:t>
            </a:r>
            <a:r>
              <a:rPr lang="en-US" altLang="zh-CN" sz="2400"/>
              <a:t>1</a:t>
            </a:r>
            <a:r>
              <a:rPr lang="zh-CN" altLang="en-US" sz="2400"/>
              <a:t>个双向连接。</a:t>
            </a:r>
            <a:endParaRPr lang="en-US" altLang="zh-CN" sz="2400"/>
          </a:p>
          <a:p>
            <a:pPr marL="0" indent="0">
              <a:spcBef>
                <a:spcPts val="200"/>
              </a:spcBef>
              <a:buNone/>
            </a:pPr>
            <a:r>
              <a:rPr lang="zh-CN" altLang="en-US" sz="2400"/>
              <a:t>如右图中的处理器完成</a:t>
            </a:r>
            <a:r>
              <a:rPr lang="en-US" altLang="zh-CN" sz="2400"/>
              <a:t>8</a:t>
            </a:r>
            <a:r>
              <a:rPr lang="zh-CN" altLang="en-US" sz="2400"/>
              <a:t>个数相加的步骤：</a:t>
            </a:r>
            <a:endParaRPr lang="en-US" altLang="zh-CN" sz="2400"/>
          </a:p>
          <a:p>
            <a:pPr marL="0" indent="0">
              <a:spcBef>
                <a:spcPts val="200"/>
              </a:spcBef>
              <a:buNone/>
            </a:pPr>
            <a:r>
              <a:rPr lang="zh-CN" altLang="en-US" sz="2400"/>
              <a:t>步骤</a:t>
            </a:r>
            <a:r>
              <a:rPr lang="en-US" altLang="zh-CN" sz="2400"/>
              <a:t>1:</a:t>
            </a:r>
            <a:r>
              <a:rPr lang="zh-CN" altLang="en-US" sz="2400"/>
              <a:t> </a:t>
            </a:r>
            <a:r>
              <a:rPr lang="en-US" altLang="zh-CN" sz="2400"/>
              <a:t>P</a:t>
            </a:r>
            <a:r>
              <a:rPr lang="en-US" altLang="zh-CN" sz="2400" baseline="-25000"/>
              <a:t>4</a:t>
            </a:r>
            <a:r>
              <a:rPr lang="zh-CN" altLang="en-US" sz="2400"/>
              <a:t>完成</a:t>
            </a:r>
            <a:r>
              <a:rPr lang="en-US" altLang="zh-CN" sz="2400" i="1"/>
              <a:t>x</a:t>
            </a:r>
            <a:r>
              <a:rPr lang="en-US" altLang="zh-CN" sz="2400" baseline="-25000"/>
              <a:t>1</a:t>
            </a:r>
            <a:r>
              <a:rPr lang="zh-CN" altLang="en-US" sz="2400"/>
              <a:t>和</a:t>
            </a:r>
            <a:r>
              <a:rPr lang="en-US" altLang="zh-CN" sz="2400" i="1"/>
              <a:t>x</a:t>
            </a:r>
            <a:r>
              <a:rPr lang="en-US" altLang="zh-CN" sz="2400" baseline="-25000"/>
              <a:t>2</a:t>
            </a:r>
            <a:r>
              <a:rPr lang="zh-CN" altLang="en-US" sz="2400"/>
              <a:t>相加，</a:t>
            </a:r>
            <a:r>
              <a:rPr lang="en-US" altLang="zh-CN" sz="2400"/>
              <a:t>P</a:t>
            </a:r>
            <a:r>
              <a:rPr lang="en-US" altLang="zh-CN" sz="2400" baseline="-25000"/>
              <a:t>5</a:t>
            </a:r>
            <a:r>
              <a:rPr lang="zh-CN" altLang="en-US" sz="2400"/>
              <a:t>完成</a:t>
            </a:r>
            <a:r>
              <a:rPr lang="en-US" altLang="zh-CN" sz="2400" i="1"/>
              <a:t>x</a:t>
            </a:r>
            <a:r>
              <a:rPr lang="en-US" altLang="zh-CN" sz="2400" baseline="-25000"/>
              <a:t>3</a:t>
            </a:r>
            <a:r>
              <a:rPr lang="zh-CN" altLang="en-US" sz="2400"/>
              <a:t>和</a:t>
            </a:r>
            <a:r>
              <a:rPr lang="en-US" altLang="zh-CN" sz="2400" i="1"/>
              <a:t>x</a:t>
            </a:r>
            <a:r>
              <a:rPr lang="en-US" altLang="zh-CN" sz="2400" baseline="-25000"/>
              <a:t>4</a:t>
            </a:r>
            <a:r>
              <a:rPr lang="zh-CN" altLang="en-US" sz="2400"/>
              <a:t>相加，</a:t>
            </a:r>
            <a:r>
              <a:rPr lang="en-US" altLang="zh-CN" sz="2400"/>
              <a:t>P</a:t>
            </a:r>
            <a:r>
              <a:rPr lang="en-US" altLang="zh-CN" sz="2400" baseline="-25000"/>
              <a:t>6</a:t>
            </a:r>
            <a:r>
              <a:rPr lang="zh-CN" altLang="en-US" sz="2400"/>
              <a:t>完成</a:t>
            </a:r>
            <a:r>
              <a:rPr lang="en-US" altLang="zh-CN" sz="2400" i="1"/>
              <a:t>x</a:t>
            </a:r>
            <a:r>
              <a:rPr lang="en-US" altLang="zh-CN" sz="2400" baseline="-25000"/>
              <a:t>5</a:t>
            </a:r>
            <a:r>
              <a:rPr lang="zh-CN" altLang="en-US" sz="2400"/>
              <a:t>和</a:t>
            </a:r>
            <a:r>
              <a:rPr lang="en-US" altLang="zh-CN" sz="2400" i="1"/>
              <a:t>x</a:t>
            </a:r>
            <a:r>
              <a:rPr lang="en-US" altLang="zh-CN" sz="2400" baseline="-25000"/>
              <a:t>6</a:t>
            </a:r>
            <a:r>
              <a:rPr lang="zh-CN" altLang="en-US" sz="2400"/>
              <a:t>相加，</a:t>
            </a:r>
            <a:r>
              <a:rPr lang="en-US" altLang="zh-CN" sz="2400"/>
              <a:t>P</a:t>
            </a:r>
            <a:r>
              <a:rPr lang="en-US" altLang="zh-CN" sz="2400" baseline="-25000"/>
              <a:t>7</a:t>
            </a:r>
            <a:r>
              <a:rPr lang="zh-CN" altLang="en-US" sz="2400"/>
              <a:t>完成</a:t>
            </a:r>
            <a:r>
              <a:rPr lang="en-US" altLang="zh-CN" sz="2400" i="1"/>
              <a:t>x</a:t>
            </a:r>
            <a:r>
              <a:rPr lang="en-US" altLang="zh-CN" sz="2400" baseline="-25000"/>
              <a:t>7</a:t>
            </a:r>
            <a:r>
              <a:rPr lang="zh-CN" altLang="en-US" sz="2400"/>
              <a:t>和</a:t>
            </a:r>
            <a:r>
              <a:rPr lang="en-US" altLang="zh-CN" sz="2400" i="1"/>
              <a:t>x</a:t>
            </a:r>
            <a:r>
              <a:rPr lang="en-US" altLang="zh-CN" sz="2400" baseline="-25000"/>
              <a:t>8</a:t>
            </a:r>
            <a:r>
              <a:rPr lang="zh-CN" altLang="en-US" sz="2400"/>
              <a:t>相加；</a:t>
            </a:r>
            <a:endParaRPr lang="en-US" altLang="zh-CN" sz="2400"/>
          </a:p>
          <a:p>
            <a:pPr marL="0" indent="0">
              <a:spcBef>
                <a:spcPts val="200"/>
              </a:spcBef>
              <a:buNone/>
            </a:pPr>
            <a:r>
              <a:rPr lang="zh-CN" altLang="en-US" sz="2400"/>
              <a:t>步骤</a:t>
            </a:r>
            <a:r>
              <a:rPr lang="en-US" altLang="zh-CN" sz="2400"/>
              <a:t>2</a:t>
            </a:r>
            <a:r>
              <a:rPr lang="zh-CN" altLang="en-US" sz="2400"/>
              <a:t>：</a:t>
            </a:r>
            <a:r>
              <a:rPr lang="en-US" altLang="zh-CN" sz="2400"/>
              <a:t> P</a:t>
            </a:r>
            <a:r>
              <a:rPr lang="en-US" altLang="zh-CN" sz="2400" baseline="-25000"/>
              <a:t>2</a:t>
            </a:r>
            <a:r>
              <a:rPr lang="zh-CN" altLang="en-US" sz="2400"/>
              <a:t>完成</a:t>
            </a:r>
            <a:r>
              <a:rPr lang="en-US" altLang="zh-CN" sz="2400" i="1"/>
              <a:t>x</a:t>
            </a:r>
            <a:r>
              <a:rPr lang="en-US" altLang="zh-CN" sz="2400" baseline="-25000"/>
              <a:t>1</a:t>
            </a:r>
            <a:r>
              <a:rPr lang="en-US" altLang="zh-CN" sz="2400"/>
              <a:t>+</a:t>
            </a:r>
            <a:r>
              <a:rPr lang="en-US" altLang="zh-CN" sz="2400" i="1"/>
              <a:t>x</a:t>
            </a:r>
            <a:r>
              <a:rPr lang="en-US" altLang="zh-CN" sz="2400" baseline="-25000"/>
              <a:t>2</a:t>
            </a:r>
            <a:r>
              <a:rPr lang="zh-CN" altLang="en-US" sz="2400"/>
              <a:t>和</a:t>
            </a:r>
            <a:r>
              <a:rPr lang="en-US" altLang="zh-CN" sz="2400" i="1"/>
              <a:t>x</a:t>
            </a:r>
            <a:r>
              <a:rPr lang="en-US" altLang="zh-CN" sz="2400" baseline="-25000"/>
              <a:t>3</a:t>
            </a:r>
            <a:r>
              <a:rPr lang="en-US" altLang="zh-CN" sz="2400"/>
              <a:t>+</a:t>
            </a:r>
            <a:r>
              <a:rPr lang="en-US" altLang="zh-CN" sz="2400" i="1"/>
              <a:t>x</a:t>
            </a:r>
            <a:r>
              <a:rPr lang="en-US" altLang="zh-CN" sz="2400" baseline="-25000"/>
              <a:t>4</a:t>
            </a:r>
            <a:r>
              <a:rPr lang="zh-CN" altLang="en-US" sz="2400"/>
              <a:t>相加，</a:t>
            </a:r>
            <a:r>
              <a:rPr lang="en-US" altLang="zh-CN" sz="2400"/>
              <a:t>P</a:t>
            </a:r>
            <a:r>
              <a:rPr lang="en-US" altLang="zh-CN" sz="2400" baseline="-25000"/>
              <a:t>3</a:t>
            </a:r>
            <a:r>
              <a:rPr lang="zh-CN" altLang="en-US" sz="2400"/>
              <a:t>完成</a:t>
            </a:r>
            <a:r>
              <a:rPr lang="en-US" altLang="zh-CN" sz="2400" i="1"/>
              <a:t>x</a:t>
            </a:r>
            <a:r>
              <a:rPr lang="en-US" altLang="zh-CN" sz="2400" baseline="-25000"/>
              <a:t>5</a:t>
            </a:r>
            <a:r>
              <a:rPr lang="en-US" altLang="zh-CN" sz="2400"/>
              <a:t>+</a:t>
            </a:r>
            <a:r>
              <a:rPr lang="en-US" altLang="zh-CN" sz="2400" i="1"/>
              <a:t>x</a:t>
            </a:r>
            <a:r>
              <a:rPr lang="en-US" altLang="zh-CN" sz="2400" baseline="-25000"/>
              <a:t>6</a:t>
            </a:r>
            <a:r>
              <a:rPr lang="zh-CN" altLang="en-US" sz="2400"/>
              <a:t>和</a:t>
            </a:r>
            <a:r>
              <a:rPr lang="en-US" altLang="zh-CN" sz="2400" i="1"/>
              <a:t>x</a:t>
            </a:r>
            <a:r>
              <a:rPr lang="en-US" altLang="zh-CN" sz="2400" baseline="-25000"/>
              <a:t>7</a:t>
            </a:r>
            <a:r>
              <a:rPr lang="en-US" altLang="zh-CN" sz="2400"/>
              <a:t>+</a:t>
            </a:r>
            <a:r>
              <a:rPr lang="en-US" altLang="zh-CN" sz="2400" i="1"/>
              <a:t>x</a:t>
            </a:r>
            <a:r>
              <a:rPr lang="en-US" altLang="zh-CN" sz="2400" baseline="-25000"/>
              <a:t>8</a:t>
            </a:r>
            <a:r>
              <a:rPr lang="zh-CN" altLang="en-US" sz="2400"/>
              <a:t>相加；</a:t>
            </a:r>
            <a:endParaRPr lang="en-US" altLang="zh-CN" sz="2400"/>
          </a:p>
          <a:p>
            <a:pPr marL="0" indent="0">
              <a:spcBef>
                <a:spcPts val="200"/>
              </a:spcBef>
              <a:buNone/>
            </a:pPr>
            <a:r>
              <a:rPr lang="zh-CN" altLang="en-US" sz="2400"/>
              <a:t>步骤</a:t>
            </a:r>
            <a:r>
              <a:rPr lang="en-US" altLang="zh-CN" sz="2400"/>
              <a:t>3: P</a:t>
            </a:r>
            <a:r>
              <a:rPr lang="en-US" altLang="zh-CN" sz="2400" baseline="-25000"/>
              <a:t>2</a:t>
            </a:r>
            <a:r>
              <a:rPr lang="zh-CN" altLang="en-US" sz="2400"/>
              <a:t>完成</a:t>
            </a:r>
            <a:r>
              <a:rPr lang="en-US" altLang="zh-CN" sz="2400" i="1"/>
              <a:t>x</a:t>
            </a:r>
            <a:r>
              <a:rPr lang="en-US" altLang="zh-CN" sz="2400" baseline="-25000"/>
              <a:t>1</a:t>
            </a:r>
            <a:r>
              <a:rPr lang="en-US" altLang="zh-CN" sz="2400"/>
              <a:t>+</a:t>
            </a:r>
            <a:r>
              <a:rPr lang="en-US" altLang="zh-CN" sz="2400" i="1"/>
              <a:t>x</a:t>
            </a:r>
            <a:r>
              <a:rPr lang="en-US" altLang="zh-CN" sz="2400" baseline="-25000"/>
              <a:t>2</a:t>
            </a:r>
            <a:r>
              <a:rPr lang="en-US" altLang="zh-CN" sz="2400"/>
              <a:t>+</a:t>
            </a:r>
            <a:r>
              <a:rPr lang="en-US" altLang="zh-CN" sz="2400" i="1"/>
              <a:t>x</a:t>
            </a:r>
            <a:r>
              <a:rPr lang="en-US" altLang="zh-CN" sz="2400" baseline="-25000"/>
              <a:t>3</a:t>
            </a:r>
            <a:r>
              <a:rPr lang="en-US" altLang="zh-CN" sz="2400"/>
              <a:t>+</a:t>
            </a:r>
            <a:r>
              <a:rPr lang="en-US" altLang="zh-CN" sz="2400" i="1"/>
              <a:t>x</a:t>
            </a:r>
            <a:r>
              <a:rPr lang="en-US" altLang="zh-CN" sz="2400" baseline="-25000"/>
              <a:t>4</a:t>
            </a:r>
            <a:r>
              <a:rPr lang="zh-CN" altLang="en-US" sz="2400"/>
              <a:t>和</a:t>
            </a:r>
            <a:r>
              <a:rPr lang="en-US" altLang="zh-CN" sz="2400" i="1"/>
              <a:t>x</a:t>
            </a:r>
            <a:r>
              <a:rPr lang="en-US" altLang="zh-CN" sz="2400" baseline="-25000"/>
              <a:t>5</a:t>
            </a:r>
            <a:r>
              <a:rPr lang="en-US" altLang="zh-CN" sz="2400"/>
              <a:t>+</a:t>
            </a:r>
            <a:r>
              <a:rPr lang="en-US" altLang="zh-CN" sz="2400" i="1"/>
              <a:t>x</a:t>
            </a:r>
            <a:r>
              <a:rPr lang="en-US" altLang="zh-CN" sz="2400" baseline="-25000"/>
              <a:t>6</a:t>
            </a:r>
            <a:r>
              <a:rPr lang="en-US" altLang="zh-CN" sz="2400"/>
              <a:t>+</a:t>
            </a:r>
            <a:r>
              <a:rPr lang="en-US" altLang="zh-CN" sz="2400" i="1"/>
              <a:t>x</a:t>
            </a:r>
            <a:r>
              <a:rPr lang="en-US" altLang="zh-CN" sz="2400" baseline="-25000"/>
              <a:t>7</a:t>
            </a:r>
            <a:r>
              <a:rPr lang="en-US" altLang="zh-CN" sz="2400"/>
              <a:t>+</a:t>
            </a:r>
            <a:r>
              <a:rPr lang="en-US" altLang="zh-CN" sz="2400" i="1"/>
              <a:t>x</a:t>
            </a:r>
            <a:r>
              <a:rPr lang="en-US" altLang="zh-CN" sz="2400" baseline="-25000"/>
              <a:t>8</a:t>
            </a:r>
            <a:r>
              <a:rPr lang="zh-CN" altLang="en-US" sz="2400"/>
              <a:t>相加</a:t>
            </a:r>
            <a:endParaRPr lang="en-US" altLang="zh-CN" sz="2400"/>
          </a:p>
          <a:p>
            <a:pPr marL="0" indent="0">
              <a:spcBef>
                <a:spcPts val="200"/>
              </a:spcBef>
              <a:buNone/>
            </a:pPr>
            <a:endParaRPr lang="en-US" altLang="zh-CN" sz="2400"/>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p:txBody>
          <a:bodyPr vert="horz" wrap="square" lIns="91440" tIns="45720" rIns="91440" bIns="45720" anchor="b" anchorCtr="0"/>
          <a:p>
            <a:r>
              <a:rPr lang="zh-CN" altLang="en-US"/>
              <a:t>应用实例</a:t>
            </a:r>
            <a:endParaRPr lang="zh-CN" altLang="en-US"/>
          </a:p>
        </p:txBody>
      </p:sp>
      <p:sp>
        <p:nvSpPr>
          <p:cNvPr id="19458" name="Rectangle 3"/>
          <p:cNvSpPr>
            <a:spLocks noGrp="1"/>
          </p:cNvSpPr>
          <p:nvPr>
            <p:ph idx="1"/>
          </p:nvPr>
        </p:nvSpPr>
        <p:spPr>
          <a:xfrm>
            <a:off x="323850" y="1557338"/>
            <a:ext cx="8496300" cy="4679950"/>
          </a:xfrm>
        </p:spPr>
        <p:txBody>
          <a:bodyPr vert="horz" wrap="square" lIns="91440" tIns="45720" rIns="91440" bIns="45720" anchor="t" anchorCtr="0"/>
          <a:p>
            <a:pPr>
              <a:spcBef>
                <a:spcPct val="20000"/>
              </a:spcBef>
              <a:buNone/>
            </a:pPr>
            <a:r>
              <a:rPr lang="zh-CN" altLang="en-US" sz="2600">
                <a:solidFill>
                  <a:schemeClr val="hlink"/>
                </a:solidFill>
              </a:rPr>
              <a:t>例题 </a:t>
            </a:r>
            <a:r>
              <a:rPr lang="zh-CN" altLang="en-US" sz="2600">
                <a:solidFill>
                  <a:schemeClr val="folHlink"/>
                </a:solidFill>
              </a:rPr>
              <a:t>设有</a:t>
            </a:r>
            <a:r>
              <a:rPr lang="en-US" altLang="zh-CN" sz="2600">
                <a:solidFill>
                  <a:schemeClr val="folHlink"/>
                </a:solidFill>
              </a:rPr>
              <a:t>28</a:t>
            </a:r>
            <a:r>
              <a:rPr lang="zh-CN" altLang="en-US" sz="2600">
                <a:solidFill>
                  <a:schemeClr val="folHlink"/>
                </a:solidFill>
              </a:rPr>
              <a:t>盏灯，拟公用一个电源插座，问至少需用多少块具有四插座的接线板。</a:t>
            </a:r>
            <a:endParaRPr lang="zh-CN" altLang="en-US" sz="2600">
              <a:solidFill>
                <a:schemeClr val="folHlink"/>
              </a:solidFill>
            </a:endParaRPr>
          </a:p>
          <a:p>
            <a:pPr>
              <a:spcBef>
                <a:spcPct val="20000"/>
              </a:spcBef>
              <a:buNone/>
            </a:pPr>
            <a:r>
              <a:rPr lang="zh-CN" altLang="en-US" sz="2600">
                <a:solidFill>
                  <a:schemeClr val="hlink"/>
                </a:solidFill>
              </a:rPr>
              <a:t>解 </a:t>
            </a:r>
            <a:r>
              <a:rPr lang="zh-CN" altLang="en-US" sz="2600">
                <a:solidFill>
                  <a:schemeClr val="folHlink"/>
                </a:solidFill>
              </a:rPr>
              <a:t> 将每个四插座的接线板看作分</a:t>
            </a:r>
            <a:r>
              <a:rPr lang="zh-CN" altLang="en-US" sz="2600">
                <a:solidFill>
                  <a:schemeClr val="folHlink"/>
                </a:solidFill>
              </a:rPr>
              <a:t>支结点，每盏灯看作是树叶，公用的电源插座为根，可以构成</a:t>
            </a:r>
            <a:r>
              <a:rPr lang="en-US" altLang="zh-CN" sz="2600">
                <a:solidFill>
                  <a:schemeClr val="folHlink"/>
                </a:solidFill>
              </a:rPr>
              <a:t>4</a:t>
            </a:r>
            <a:r>
              <a:rPr lang="zh-CN" altLang="en-US" sz="2600">
                <a:solidFill>
                  <a:schemeClr val="folHlink"/>
                </a:solidFill>
              </a:rPr>
              <a:t>叉树，那么</a:t>
            </a:r>
            <a:r>
              <a:rPr lang="en-US" altLang="zh-CN" sz="2600" i="1">
                <a:solidFill>
                  <a:schemeClr val="folHlink"/>
                </a:solidFill>
              </a:rPr>
              <a:t>t</a:t>
            </a:r>
            <a:r>
              <a:rPr lang="en-US" altLang="zh-CN" sz="2600">
                <a:solidFill>
                  <a:schemeClr val="folHlink"/>
                </a:solidFill>
              </a:rPr>
              <a:t>=28</a:t>
            </a:r>
            <a:r>
              <a:rPr lang="zh-CN" altLang="en-US" sz="2600">
                <a:solidFill>
                  <a:schemeClr val="folHlink"/>
                </a:solidFill>
              </a:rPr>
              <a:t>，</a:t>
            </a:r>
            <a:r>
              <a:rPr lang="en-US" altLang="zh-CN" sz="2600" i="1">
                <a:solidFill>
                  <a:schemeClr val="folHlink"/>
                </a:solidFill>
              </a:rPr>
              <a:t>r</a:t>
            </a:r>
            <a:r>
              <a:rPr lang="en-US" altLang="zh-CN" sz="2600">
                <a:solidFill>
                  <a:schemeClr val="folHlink"/>
                </a:solidFill>
              </a:rPr>
              <a:t>=4 </a:t>
            </a:r>
            <a:endParaRPr lang="en-US" altLang="zh-CN" sz="2600">
              <a:solidFill>
                <a:schemeClr val="folHlink"/>
              </a:solidFill>
            </a:endParaRPr>
          </a:p>
          <a:p>
            <a:pPr>
              <a:spcBef>
                <a:spcPct val="20000"/>
              </a:spcBef>
              <a:buNone/>
            </a:pPr>
            <a:r>
              <a:rPr lang="en-US" altLang="zh-CN" sz="2600">
                <a:solidFill>
                  <a:schemeClr val="folHlink"/>
                </a:solidFill>
              </a:rPr>
              <a:t>    </a:t>
            </a:r>
            <a:r>
              <a:rPr lang="zh-CN" altLang="en-US" sz="2600">
                <a:solidFill>
                  <a:schemeClr val="folHlink"/>
                </a:solidFill>
              </a:rPr>
              <a:t>由</a:t>
            </a:r>
            <a:r>
              <a:rPr lang="en-US" altLang="zh-CN" sz="2600">
                <a:solidFill>
                  <a:schemeClr val="folHlink"/>
                </a:solidFill>
              </a:rPr>
              <a:t>(</a:t>
            </a:r>
            <a:r>
              <a:rPr lang="en-US" altLang="zh-CN" sz="2600" i="1">
                <a:solidFill>
                  <a:schemeClr val="folHlink"/>
                </a:solidFill>
              </a:rPr>
              <a:t>r</a:t>
            </a:r>
            <a:r>
              <a:rPr lang="en-US" altLang="zh-CN" sz="2600">
                <a:solidFill>
                  <a:schemeClr val="folHlink"/>
                </a:solidFill>
              </a:rPr>
              <a:t>-1)</a:t>
            </a:r>
            <a:r>
              <a:rPr lang="en-US" altLang="zh-CN" sz="2600" i="1">
                <a:solidFill>
                  <a:schemeClr val="folHlink"/>
                </a:solidFill>
              </a:rPr>
              <a:t>i</a:t>
            </a:r>
            <a:r>
              <a:rPr lang="en-US" altLang="zh-CN" sz="2400">
                <a:solidFill>
                  <a:schemeClr val="tx2"/>
                </a:solidFill>
                <a:sym typeface="Symbol" panose="05050102010706020507" pitchFamily="18" charset="2"/>
              </a:rPr>
              <a:t></a:t>
            </a:r>
            <a:r>
              <a:rPr lang="en-US" altLang="zh-CN" sz="2600" i="1">
                <a:solidFill>
                  <a:schemeClr val="folHlink"/>
                </a:solidFill>
              </a:rPr>
              <a:t>t</a:t>
            </a:r>
            <a:r>
              <a:rPr lang="en-US" altLang="zh-CN" sz="2600">
                <a:solidFill>
                  <a:schemeClr val="folHlink"/>
                </a:solidFill>
              </a:rPr>
              <a:t>-1</a:t>
            </a:r>
            <a:r>
              <a:rPr lang="zh-CN" altLang="en-US" sz="2600">
                <a:solidFill>
                  <a:schemeClr val="folHlink"/>
                </a:solidFill>
              </a:rPr>
              <a:t>，可得</a:t>
            </a:r>
            <a:r>
              <a:rPr lang="en-US" altLang="zh-CN" sz="2600" i="1">
                <a:solidFill>
                  <a:schemeClr val="folHlink"/>
                </a:solidFill>
              </a:rPr>
              <a:t>i</a:t>
            </a:r>
            <a:r>
              <a:rPr lang="en-US" altLang="zh-CN" sz="2400">
                <a:solidFill>
                  <a:schemeClr val="tx2"/>
                </a:solidFill>
                <a:sym typeface="Symbol" panose="05050102010706020507" pitchFamily="18" charset="2"/>
              </a:rPr>
              <a:t></a:t>
            </a:r>
            <a:r>
              <a:rPr lang="en-US" altLang="zh-CN" sz="2600">
                <a:solidFill>
                  <a:schemeClr val="folHlink"/>
                </a:solidFill>
              </a:rPr>
              <a:t>9.</a:t>
            </a:r>
            <a:endParaRPr lang="en-US" altLang="zh-CN" sz="2600">
              <a:solidFill>
                <a:schemeClr val="folHlink"/>
              </a:solidFill>
            </a:endParaRPr>
          </a:p>
          <a:p>
            <a:pPr>
              <a:spcBef>
                <a:spcPct val="20000"/>
              </a:spcBef>
              <a:buNone/>
            </a:pPr>
            <a:r>
              <a:rPr lang="zh-CN" altLang="en-US" sz="2600">
                <a:solidFill>
                  <a:schemeClr val="folHlink"/>
                </a:solidFill>
              </a:rPr>
              <a:t>所以至少需要</a:t>
            </a:r>
            <a:r>
              <a:rPr lang="en-US" altLang="zh-CN" sz="2600">
                <a:solidFill>
                  <a:schemeClr val="folHlink"/>
                </a:solidFill>
              </a:rPr>
              <a:t>9</a:t>
            </a:r>
            <a:r>
              <a:rPr lang="zh-CN" altLang="en-US" sz="2600">
                <a:solidFill>
                  <a:schemeClr val="folHlink"/>
                </a:solidFill>
              </a:rPr>
              <a:t>块具有四插座的接线板。</a:t>
            </a:r>
            <a:endParaRPr lang="en-US" altLang="zh-CN" sz="2600">
              <a:solidFill>
                <a:schemeClr val="folHlink"/>
              </a:solidFill>
            </a:endParaRPr>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
        <p:nvSpPr>
          <p:cNvPr id="4" name="文本框 3"/>
          <p:cNvSpPr txBox="1"/>
          <p:nvPr>
            <p:custDataLst>
              <p:tags r:id="rId1"/>
            </p:custDataLst>
          </p:nvPr>
        </p:nvSpPr>
        <p:spPr>
          <a:xfrm>
            <a:off x="395605" y="5228590"/>
            <a:ext cx="7889875" cy="895350"/>
          </a:xfrm>
          <a:prstGeom prst="rect">
            <a:avLst/>
          </a:prstGeom>
          <a:noFill/>
        </p:spPr>
        <p:txBody>
          <a:bodyPr wrap="square" rtlCol="0" anchor="t">
            <a:noAutofit/>
          </a:bodyPr>
          <a:p>
            <a:r>
              <a:rPr lang="zh-CN" altLang="en-US" sz="2400">
                <a:solidFill>
                  <a:srgbClr val="FF0000"/>
                </a:solidFill>
                <a:sym typeface="+mn-ea"/>
              </a:rPr>
              <a:t>课堂测试二：</a:t>
            </a:r>
            <a:r>
              <a:rPr lang="zh-CN" altLang="zh-CN" sz="2400">
                <a:solidFill>
                  <a:srgbClr val="FF0000"/>
                </a:solidFill>
                <a:sym typeface="+mn-ea"/>
              </a:rPr>
              <a:t>带有</a:t>
            </a:r>
            <a:r>
              <a:rPr lang="en-US" altLang="zh-CN" sz="2400" i="1">
                <a:solidFill>
                  <a:srgbClr val="FF0000"/>
                </a:solidFill>
                <a:sym typeface="+mn-ea"/>
              </a:rPr>
              <a:t>i</a:t>
            </a:r>
            <a:r>
              <a:rPr lang="zh-CN" altLang="zh-CN" sz="2400">
                <a:solidFill>
                  <a:srgbClr val="FF0000"/>
                </a:solidFill>
                <a:sym typeface="+mn-ea"/>
              </a:rPr>
              <a:t>个分支点的</a:t>
            </a:r>
            <a:r>
              <a:rPr lang="en-US" altLang="zh-CN" sz="2400" i="1">
                <a:solidFill>
                  <a:srgbClr val="FF0000"/>
                </a:solidFill>
                <a:sym typeface="+mn-ea"/>
              </a:rPr>
              <a:t>r</a:t>
            </a:r>
            <a:r>
              <a:rPr lang="zh-CN" altLang="zh-CN" sz="2400">
                <a:solidFill>
                  <a:srgbClr val="FF0000"/>
                </a:solidFill>
                <a:sym typeface="+mn-ea"/>
              </a:rPr>
              <a:t>叉正则树含有多个顶点？</a:t>
            </a:r>
            <a:endParaRPr lang="zh-CN" altLang="zh-CN" sz="2400">
              <a:solidFill>
                <a:srgbClr val="FF0000"/>
              </a:solidFill>
              <a:sym typeface="+mn-ea"/>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xEl>
                                              <p:charRg st="39" end="9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8">
                                            <p:txEl>
                                              <p:charRg st="98" end="12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8">
                                            <p:txEl>
                                              <p:charRg st="121" end="14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p:nvPr>
        </p:nvSpPr>
        <p:spPr/>
        <p:txBody>
          <a:bodyPr vert="horz" wrap="square" lIns="91440" tIns="45720" rIns="91440" bIns="45720" anchor="b" anchorCtr="0"/>
          <a:p>
            <a:r>
              <a:rPr lang="zh-CN" altLang="en-US" sz="4000">
                <a:solidFill>
                  <a:srgbClr val="FF0000"/>
                </a:solidFill>
              </a:rPr>
              <a:t>课后作业二</a:t>
            </a:r>
            <a:endParaRPr lang="zh-CN" altLang="en-US" sz="4000">
              <a:solidFill>
                <a:srgbClr val="FF0000"/>
              </a:solidFill>
            </a:endParaRPr>
          </a:p>
        </p:txBody>
      </p:sp>
      <p:sp>
        <p:nvSpPr>
          <p:cNvPr id="21506" name="Rectangle 3"/>
          <p:cNvSpPr>
            <a:spLocks noGrp="1"/>
          </p:cNvSpPr>
          <p:nvPr>
            <p:ph idx="1"/>
          </p:nvPr>
        </p:nvSpPr>
        <p:spPr/>
        <p:txBody>
          <a:bodyPr vert="horz" wrap="square" lIns="91440" tIns="45720" rIns="91440" bIns="45720" anchor="t" anchorCtr="0"/>
          <a:p>
            <a:pPr>
              <a:spcBef>
                <a:spcPct val="20000"/>
              </a:spcBef>
              <a:buNone/>
            </a:pPr>
            <a:r>
              <a:rPr lang="zh-CN" altLang="en-US" sz="2600">
                <a:solidFill>
                  <a:schemeClr val="hlink"/>
                </a:solidFill>
              </a:rPr>
              <a:t>例题 </a:t>
            </a:r>
            <a:r>
              <a:rPr lang="zh-CN" altLang="en-US" sz="2600">
                <a:solidFill>
                  <a:schemeClr val="folHlink"/>
                </a:solidFill>
              </a:rPr>
              <a:t> 假设一台计算机有一条加法指令，可计算</a:t>
            </a:r>
            <a:r>
              <a:rPr lang="en-US" altLang="zh-CN" sz="2600">
                <a:solidFill>
                  <a:schemeClr val="folHlink"/>
                </a:solidFill>
              </a:rPr>
              <a:t>3</a:t>
            </a:r>
            <a:r>
              <a:rPr lang="zh-CN" altLang="en-US" sz="2600">
                <a:solidFill>
                  <a:schemeClr val="folHlink"/>
                </a:solidFill>
              </a:rPr>
              <a:t>个数的和</a:t>
            </a:r>
            <a:r>
              <a:rPr lang="en-US" altLang="zh-CN" sz="2600">
                <a:solidFill>
                  <a:schemeClr val="folHlink"/>
                </a:solidFill>
              </a:rPr>
              <a:t>,</a:t>
            </a:r>
            <a:r>
              <a:rPr lang="zh-CN" altLang="en-US" sz="2600">
                <a:solidFill>
                  <a:schemeClr val="folHlink"/>
                </a:solidFill>
              </a:rPr>
              <a:t>如果要计算</a:t>
            </a:r>
            <a:r>
              <a:rPr lang="en-US" altLang="zh-CN" sz="2600">
                <a:solidFill>
                  <a:schemeClr val="folHlink"/>
                </a:solidFill>
              </a:rPr>
              <a:t>9</a:t>
            </a:r>
            <a:r>
              <a:rPr lang="zh-CN" altLang="en-US" sz="2600">
                <a:solidFill>
                  <a:schemeClr val="folHlink"/>
                </a:solidFill>
              </a:rPr>
              <a:t>个数的和，至少要执行几次加法指令。</a:t>
            </a:r>
            <a:endParaRPr lang="zh-CN" altLang="en-US" sz="2600">
              <a:solidFill>
                <a:schemeClr val="folHlink"/>
              </a:solidFill>
            </a:endParaRPr>
          </a:p>
          <a:p>
            <a:pPr>
              <a:spcBef>
                <a:spcPct val="20000"/>
              </a:spcBef>
              <a:buNone/>
            </a:pPr>
            <a:endParaRPr lang="zh-CN" altLang="en-US" sz="2600"/>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p:txBody>
          <a:bodyPr vert="horz" wrap="square" lIns="91440" tIns="45720" rIns="91440" bIns="45720" anchor="b" anchorCtr="0"/>
          <a:p>
            <a:r>
              <a:rPr lang="zh-CN" altLang="en-US"/>
              <a:t>根子树</a:t>
            </a:r>
            <a:endParaRPr lang="zh-CN" altLang="en-US"/>
          </a:p>
        </p:txBody>
      </p:sp>
      <p:sp>
        <p:nvSpPr>
          <p:cNvPr id="23554" name="Rectangle 3"/>
          <p:cNvSpPr>
            <a:spLocks noGrp="1"/>
          </p:cNvSpPr>
          <p:nvPr>
            <p:ph idx="1"/>
          </p:nvPr>
        </p:nvSpPr>
        <p:spPr>
          <a:xfrm>
            <a:off x="250825" y="1431925"/>
            <a:ext cx="8458200" cy="5092700"/>
          </a:xfrm>
        </p:spPr>
        <p:txBody>
          <a:bodyPr vert="horz" wrap="square" lIns="91440" tIns="45720" rIns="91440" bIns="45720" anchor="t"/>
          <a:p>
            <a:pPr marL="0" marR="0" indent="-342900" algn="l" defTabSz="914400" rtl="0" eaLnBrk="0" fontAlgn="base" latinLnBrk="0" hangingPunct="0">
              <a:lnSpc>
                <a:spcPct val="110000"/>
              </a:lnSpc>
              <a:spcBef>
                <a:spcPts val="2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rgbClr val="FF3300"/>
                </a:solidFill>
                <a:latin typeface="+mn-lt"/>
                <a:ea typeface="+mn-ea"/>
                <a:cs typeface="黑体" panose="02010609060101010101" pitchFamily="49" charset="-122"/>
                <a:sym typeface="+mn-ea"/>
              </a:rPr>
              <a:t>根子树</a:t>
            </a:r>
            <a:r>
              <a:rPr kumimoji="0" lang="en-US" altLang="zh-CN" sz="2800" b="1" i="0" u="none" strike="noStrike" kern="0" cap="none" spc="0" normalizeH="0" baseline="0" noProof="1">
                <a:solidFill>
                  <a:srgbClr val="FF3300"/>
                </a:solidFill>
                <a:latin typeface="+mn-lt"/>
                <a:ea typeface="+mn-ea"/>
                <a:cs typeface="黑体" panose="02010609060101010101" pitchFamily="49" charset="-122"/>
                <a:sym typeface="+mn-ea"/>
              </a:rPr>
              <a:t>T</a:t>
            </a:r>
            <a:r>
              <a:rPr kumimoji="0" lang="en-US" altLang="zh-CN" sz="2800" b="1" i="1" u="none" strike="noStrike" kern="0" cap="none" spc="0" normalizeH="0" baseline="-25000" noProof="1">
                <a:solidFill>
                  <a:srgbClr val="FF3300"/>
                </a:solidFill>
                <a:latin typeface="+mn-lt"/>
                <a:ea typeface="+mn-ea"/>
                <a:cs typeface="黑体" panose="02010609060101010101" pitchFamily="49" charset="-122"/>
                <a:sym typeface="+mn-ea"/>
              </a:rPr>
              <a:t>v</a:t>
            </a:r>
            <a:r>
              <a:rPr kumimoji="0" lang="en-US" altLang="zh-CN" sz="2800" b="1" i="0" u="none" strike="noStrike" kern="0" cap="none" spc="0" normalizeH="0" baseline="0" noProof="1">
                <a:solidFill>
                  <a:schemeClr val="tx1"/>
                </a:solidFill>
                <a:latin typeface="+mn-lt"/>
                <a:ea typeface="+mn-ea"/>
                <a:cs typeface="黑体" panose="02010609060101010101" pitchFamily="49" charset="-122"/>
                <a:sym typeface="+mn-ea"/>
              </a:rPr>
              <a:t>:</a:t>
            </a:r>
            <a:r>
              <a:rPr kumimoji="0" lang="zh-CN" altLang="en-US" sz="2800" b="1" i="0" u="none" strike="noStrike" kern="0" cap="none" spc="0" normalizeH="0" baseline="0" noProof="1">
                <a:solidFill>
                  <a:schemeClr val="tx1"/>
                </a:solidFill>
                <a:latin typeface="+mn-lt"/>
                <a:ea typeface="+mn-ea"/>
                <a:cs typeface="黑体" panose="02010609060101010101" pitchFamily="49" charset="-122"/>
                <a:sym typeface="+mn-ea"/>
              </a:rPr>
              <a:t>设</a:t>
            </a:r>
            <a:r>
              <a:rPr kumimoji="0" lang="en-US" altLang="zh-CN" sz="2800" b="1" i="1" u="none" strike="noStrike" kern="0" cap="none" spc="0" normalizeH="0" baseline="0" noProof="1">
                <a:solidFill>
                  <a:schemeClr val="tx1"/>
                </a:solidFill>
                <a:latin typeface="+mn-lt"/>
                <a:ea typeface="+mn-ea"/>
                <a:cs typeface="黑体" panose="02010609060101010101" pitchFamily="49" charset="-122"/>
                <a:sym typeface="+mn-ea"/>
              </a:rPr>
              <a:t>v</a:t>
            </a:r>
            <a:r>
              <a:rPr kumimoji="0" lang="zh-CN" altLang="en-US" sz="2800" b="1" i="0" u="none" strike="noStrike" kern="0" cap="none" spc="0" normalizeH="0" baseline="0" noProof="1">
                <a:solidFill>
                  <a:schemeClr val="tx1"/>
                </a:solidFill>
                <a:latin typeface="+mn-lt"/>
                <a:ea typeface="+mn-ea"/>
                <a:cs typeface="黑体" panose="02010609060101010101" pitchFamily="49" charset="-122"/>
                <a:sym typeface="+mn-ea"/>
              </a:rPr>
              <a:t>是根树的一个顶点且不是树根</a:t>
            </a:r>
            <a:r>
              <a:rPr kumimoji="0" lang="en-US" altLang="zh-CN" sz="2800" b="1" i="0" u="none" strike="noStrike" kern="0" cap="none" spc="0" normalizeH="0" baseline="0" noProof="1">
                <a:solidFill>
                  <a:schemeClr val="tx1"/>
                </a:solidFill>
                <a:latin typeface="+mn-lt"/>
                <a:ea typeface="+mn-ea"/>
                <a:cs typeface="黑体" panose="02010609060101010101" pitchFamily="49" charset="-122"/>
                <a:sym typeface="+mn-ea"/>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sym typeface="+mn-ea"/>
              </a:rPr>
              <a:t>称</a:t>
            </a:r>
            <a:r>
              <a:rPr kumimoji="0" lang="en-US" altLang="zh-CN" sz="2800" b="1" i="1" u="none" strike="noStrike" kern="0" cap="none" spc="0" normalizeH="0" baseline="0" noProof="1">
                <a:solidFill>
                  <a:schemeClr val="tx1"/>
                </a:solidFill>
                <a:latin typeface="+mn-lt"/>
                <a:ea typeface="+mn-ea"/>
                <a:cs typeface="黑体" panose="02010609060101010101" pitchFamily="49" charset="-122"/>
                <a:sym typeface="+mn-ea"/>
              </a:rPr>
              <a:t>v</a:t>
            </a:r>
            <a:r>
              <a:rPr kumimoji="0" lang="zh-CN" altLang="en-US" sz="2800" b="1" i="0" u="none" strike="noStrike" kern="0" cap="none" spc="0" normalizeH="0" baseline="0" noProof="1">
                <a:solidFill>
                  <a:schemeClr val="tx1"/>
                </a:solidFill>
                <a:latin typeface="+mn-lt"/>
                <a:ea typeface="+mn-ea"/>
                <a:cs typeface="黑体" panose="02010609060101010101" pitchFamily="49" charset="-122"/>
                <a:sym typeface="+mn-ea"/>
              </a:rPr>
              <a:t>及         其所有后代的</a:t>
            </a:r>
            <a:r>
              <a:rPr kumimoji="0" lang="zh-CN" altLang="en-US" sz="2800" b="1" i="0" u="none" strike="noStrike" kern="0" cap="none" spc="0" normalizeH="0" baseline="0" noProof="1">
                <a:solidFill>
                  <a:srgbClr val="FF00FF"/>
                </a:solidFill>
                <a:latin typeface="+mn-lt"/>
                <a:ea typeface="+mn-ea"/>
                <a:cs typeface="黑体" panose="02010609060101010101" pitchFamily="49" charset="-122"/>
                <a:sym typeface="+mn-ea"/>
              </a:rPr>
              <a:t>顶点导出子图</a:t>
            </a:r>
            <a:r>
              <a:rPr kumimoji="0" lang="zh-CN" altLang="en-US" sz="2800" b="1" i="0" u="none" strike="noStrike" kern="0" cap="none" spc="0" normalizeH="0" baseline="0" noProof="1">
                <a:solidFill>
                  <a:schemeClr val="tx1"/>
                </a:solidFill>
                <a:latin typeface="+mn-lt"/>
                <a:ea typeface="+mn-ea"/>
                <a:cs typeface="黑体" panose="02010609060101010101" pitchFamily="49" charset="-122"/>
                <a:sym typeface="+mn-ea"/>
              </a:rPr>
              <a:t>为以</a:t>
            </a:r>
            <a:r>
              <a:rPr kumimoji="0" lang="en-US" altLang="zh-CN" sz="2800" b="1" i="1" u="none" strike="noStrike" kern="0" cap="none" spc="0" normalizeH="0" baseline="0" noProof="1">
                <a:solidFill>
                  <a:schemeClr val="tx1"/>
                </a:solidFill>
                <a:latin typeface="+mn-lt"/>
                <a:ea typeface="+mn-ea"/>
                <a:cs typeface="黑体" panose="02010609060101010101" pitchFamily="49" charset="-122"/>
                <a:sym typeface="+mn-ea"/>
              </a:rPr>
              <a:t>v</a:t>
            </a:r>
            <a:r>
              <a:rPr kumimoji="0" lang="zh-CN" altLang="en-US" sz="2800" b="1" i="0" u="none" strike="noStrike" kern="0" cap="none" spc="0" normalizeH="0" baseline="0" noProof="1">
                <a:solidFill>
                  <a:schemeClr val="tx1"/>
                </a:solidFill>
                <a:latin typeface="+mn-lt"/>
                <a:ea typeface="+mn-ea"/>
                <a:cs typeface="黑体" panose="02010609060101010101" pitchFamily="49" charset="-122"/>
                <a:sym typeface="+mn-ea"/>
              </a:rPr>
              <a:t>为根的</a:t>
            </a:r>
            <a:r>
              <a:rPr kumimoji="0" lang="zh-CN" altLang="en-US" sz="2800" b="1" i="0" u="none" strike="noStrike" kern="0" cap="none" spc="0" normalizeH="0" baseline="0" noProof="1">
                <a:solidFill>
                  <a:srgbClr val="FF3300"/>
                </a:solidFill>
                <a:latin typeface="+mn-lt"/>
                <a:ea typeface="+mn-ea"/>
                <a:cs typeface="黑体" panose="02010609060101010101" pitchFamily="49" charset="-122"/>
                <a:sym typeface="+mn-ea"/>
              </a:rPr>
              <a:t>根子树。</a:t>
            </a:r>
            <a:endParaRPr kumimoji="0" lang="en-US" altLang="zh-CN" sz="2800" b="1" i="0" u="none" strike="noStrike" kern="0" cap="none" spc="0" normalizeH="0" baseline="0" noProof="1">
              <a:solidFill>
                <a:srgbClr val="996633"/>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hlink"/>
                </a:solidFill>
                <a:latin typeface="+mn-lt"/>
                <a:ea typeface="+mn-ea"/>
                <a:cs typeface="黑体" panose="02010609060101010101" pitchFamily="49" charset="-122"/>
              </a:rPr>
              <a:t>左</a:t>
            </a:r>
            <a:r>
              <a:rPr kumimoji="0" lang="en-US" altLang="zh-CN" sz="2800" b="1" i="0" u="none" strike="noStrike" kern="0" cap="none" spc="0" normalizeH="0" baseline="0" noProof="1">
                <a:solidFill>
                  <a:schemeClr val="hlink"/>
                </a:solidFill>
                <a:latin typeface="+mn-lt"/>
                <a:ea typeface="+mn-ea"/>
                <a:cs typeface="黑体" panose="02010609060101010101" pitchFamily="49" charset="-122"/>
              </a:rPr>
              <a:t>(</a:t>
            </a:r>
            <a:r>
              <a:rPr kumimoji="0" lang="zh-CN" altLang="en-US" sz="2800" b="1" i="0" u="none" strike="noStrike" kern="0" cap="none" spc="0" normalizeH="0" baseline="0" noProof="1">
                <a:solidFill>
                  <a:schemeClr val="hlink"/>
                </a:solidFill>
                <a:latin typeface="+mn-lt"/>
                <a:ea typeface="+mn-ea"/>
                <a:cs typeface="黑体" panose="02010609060101010101" pitchFamily="49" charset="-122"/>
              </a:rPr>
              <a:t>右</a:t>
            </a:r>
            <a:r>
              <a:rPr kumimoji="0" lang="en-US" altLang="zh-CN" sz="2800" b="1" i="0" u="none" strike="noStrike" kern="0" cap="none" spc="0" normalizeH="0" baseline="0" noProof="1">
                <a:solidFill>
                  <a:schemeClr val="hlink"/>
                </a:solidFill>
                <a:latin typeface="+mn-lt"/>
                <a:ea typeface="+mn-ea"/>
                <a:cs typeface="黑体" panose="02010609060101010101" pitchFamily="49" charset="-122"/>
              </a:rPr>
              <a:t>)</a:t>
            </a:r>
            <a:r>
              <a:rPr kumimoji="0" lang="zh-CN" altLang="en-US" sz="2800" b="1" i="0" u="none" strike="noStrike" kern="0" cap="none" spc="0" normalizeH="0" baseline="0" noProof="1">
                <a:solidFill>
                  <a:schemeClr val="hlink"/>
                </a:solidFill>
                <a:latin typeface="+mn-lt"/>
                <a:ea typeface="+mn-ea"/>
                <a:cs typeface="黑体" panose="02010609060101010101" pitchFamily="49" charset="-122"/>
              </a:rPr>
              <a:t>子树</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r>
              <a:rPr kumimoji="0" lang="en-US" altLang="zh-CN" sz="2800" b="1" i="0" u="none" strike="noStrike" kern="0" cap="none" spc="0" normalizeH="0" baseline="0" noProof="1">
                <a:solidFill>
                  <a:srgbClr val="FF0000"/>
                </a:solidFill>
                <a:latin typeface="+mn-lt"/>
                <a:ea typeface="+mn-ea"/>
                <a:cs typeface="黑体" panose="02010609060101010101" pitchFamily="49" charset="-122"/>
              </a:rPr>
              <a:t>2</a:t>
            </a:r>
            <a:r>
              <a:rPr kumimoji="0" lang="zh-CN" altLang="en-US" sz="2800" b="1" i="0" u="none" strike="noStrike" kern="0" cap="none" spc="0" normalizeH="0" baseline="0" noProof="1">
                <a:solidFill>
                  <a:srgbClr val="FF0000"/>
                </a:solidFill>
                <a:latin typeface="+mn-lt"/>
                <a:ea typeface="+mn-ea"/>
                <a:cs typeface="黑体" panose="02010609060101010101" pitchFamily="49" charset="-122"/>
              </a:rPr>
              <a:t>叉正则有序树</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的每个分支点的左右两个儿子导出的根子树</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endParaRPr kumimoji="0" lang="en-US" altLang="zh-CN"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folHlink"/>
                </a:solidFill>
                <a:latin typeface="+mn-lt"/>
                <a:ea typeface="+mn-ea"/>
                <a:cs typeface="黑体" panose="02010609060101010101" pitchFamily="49" charset="-122"/>
              </a:rPr>
              <a:t>例 在右图所示的根树中，根树由分</a:t>
            </a:r>
            <a:endParaRPr kumimoji="0" lang="en-US" altLang="zh-CN" sz="2800" b="1" i="0" u="none" strike="noStrike" kern="0" cap="none" spc="0" normalizeH="0" baseline="0" noProof="1">
              <a:solidFill>
                <a:schemeClr val="folHlink"/>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folHlink"/>
                </a:solidFill>
                <a:latin typeface="+mn-lt"/>
                <a:ea typeface="+mn-ea"/>
                <a:cs typeface="黑体" panose="02010609060101010101" pitchFamily="49" charset="-122"/>
              </a:rPr>
              <a:t>别以</a:t>
            </a:r>
            <a:r>
              <a:rPr kumimoji="0" lang="en-US" altLang="zh-CN" sz="2800" b="1" i="1" u="none" strike="noStrike" kern="0" cap="none" spc="0" normalizeH="0" baseline="0" noProof="1">
                <a:solidFill>
                  <a:schemeClr val="folHlink"/>
                </a:solidFill>
                <a:latin typeface="+mn-lt"/>
                <a:ea typeface="+mn-ea"/>
                <a:cs typeface="黑体" panose="02010609060101010101" pitchFamily="49" charset="-122"/>
              </a:rPr>
              <a:t>v</a:t>
            </a:r>
            <a:r>
              <a:rPr kumimoji="0" lang="en-US" altLang="zh-CN" sz="2800" b="1" i="0" u="none" strike="noStrike" kern="0" cap="none" spc="0" normalizeH="0" baseline="-25000" noProof="1">
                <a:solidFill>
                  <a:schemeClr val="folHlink"/>
                </a:solidFill>
                <a:latin typeface="+mn-lt"/>
                <a:ea typeface="+mn-ea"/>
                <a:cs typeface="黑体" panose="02010609060101010101" pitchFamily="49" charset="-122"/>
              </a:rPr>
              <a:t>2</a:t>
            </a:r>
            <a:r>
              <a:rPr kumimoji="0" lang="en-US" altLang="zh-CN" sz="2800" b="1" i="0" u="none" strike="noStrike" kern="0" cap="none" spc="0" normalizeH="0" baseline="0" noProof="1">
                <a:solidFill>
                  <a:schemeClr val="folHlink"/>
                </a:solidFill>
                <a:latin typeface="+mn-lt"/>
                <a:ea typeface="+mn-ea"/>
                <a:cs typeface="黑体" panose="02010609060101010101" pitchFamily="49" charset="-122"/>
              </a:rPr>
              <a:t>,</a:t>
            </a:r>
            <a:r>
              <a:rPr kumimoji="0" lang="en-US" altLang="zh-CN" sz="2800" b="1" i="1" u="none" strike="noStrike" kern="0" cap="none" spc="0" normalizeH="0" baseline="0" noProof="1">
                <a:solidFill>
                  <a:schemeClr val="folHlink"/>
                </a:solidFill>
                <a:latin typeface="+mn-lt"/>
                <a:ea typeface="+mn-ea"/>
                <a:cs typeface="黑体" panose="02010609060101010101" pitchFamily="49" charset="-122"/>
              </a:rPr>
              <a:t>v</a:t>
            </a:r>
            <a:r>
              <a:rPr kumimoji="0" lang="en-US" altLang="zh-CN" sz="2800" b="1" i="0" u="none" strike="noStrike" kern="0" cap="none" spc="0" normalizeH="0" baseline="-25000" noProof="1">
                <a:solidFill>
                  <a:schemeClr val="folHlink"/>
                </a:solidFill>
                <a:latin typeface="+mn-lt"/>
                <a:ea typeface="+mn-ea"/>
                <a:cs typeface="黑体" panose="02010609060101010101" pitchFamily="49" charset="-122"/>
              </a:rPr>
              <a:t>3</a:t>
            </a:r>
            <a:r>
              <a:rPr kumimoji="0" lang="en-US" altLang="zh-CN" sz="2800" b="1" i="0" u="none" strike="noStrike" kern="0" cap="none" spc="0" normalizeH="0" baseline="0" noProof="1">
                <a:solidFill>
                  <a:schemeClr val="folHlink"/>
                </a:solidFill>
                <a:latin typeface="+mn-lt"/>
                <a:ea typeface="+mn-ea"/>
                <a:cs typeface="黑体" panose="02010609060101010101" pitchFamily="49" charset="-122"/>
              </a:rPr>
              <a:t>,</a:t>
            </a:r>
            <a:r>
              <a:rPr kumimoji="0" lang="en-US" altLang="zh-CN" sz="2800" b="1" i="1" u="none" strike="noStrike" kern="0" cap="none" spc="0" normalizeH="0" baseline="0" noProof="1">
                <a:solidFill>
                  <a:schemeClr val="folHlink"/>
                </a:solidFill>
                <a:latin typeface="+mn-lt"/>
                <a:ea typeface="+mn-ea"/>
                <a:cs typeface="黑体" panose="02010609060101010101" pitchFamily="49" charset="-122"/>
              </a:rPr>
              <a:t>v</a:t>
            </a:r>
            <a:r>
              <a:rPr kumimoji="0" lang="en-US" altLang="zh-CN" sz="2800" b="1" i="0" u="none" strike="noStrike" kern="0" cap="none" spc="0" normalizeH="0" baseline="-25000" noProof="1">
                <a:solidFill>
                  <a:schemeClr val="folHlink"/>
                </a:solidFill>
                <a:latin typeface="+mn-lt"/>
                <a:ea typeface="+mn-ea"/>
                <a:cs typeface="黑体" panose="02010609060101010101" pitchFamily="49" charset="-122"/>
              </a:rPr>
              <a:t>4</a:t>
            </a:r>
            <a:r>
              <a:rPr kumimoji="0" lang="zh-CN" altLang="en-US" sz="2800" b="1" i="0" u="none" strike="noStrike" kern="0" cap="none" spc="0" normalizeH="0" baseline="0" noProof="1">
                <a:solidFill>
                  <a:schemeClr val="folHlink"/>
                </a:solidFill>
                <a:latin typeface="+mn-lt"/>
                <a:ea typeface="+mn-ea"/>
                <a:cs typeface="黑体" panose="02010609060101010101" pitchFamily="49" charset="-122"/>
              </a:rPr>
              <a:t>为根的</a:t>
            </a:r>
            <a:r>
              <a:rPr kumimoji="0" lang="en-US" altLang="zh-CN" sz="2800" b="1" i="0" u="none" strike="noStrike" kern="0" cap="none" spc="0" normalizeH="0" baseline="0" noProof="1">
                <a:solidFill>
                  <a:schemeClr val="folHlink"/>
                </a:solidFill>
                <a:latin typeface="+mn-lt"/>
                <a:ea typeface="+mn-ea"/>
                <a:cs typeface="黑体" panose="02010609060101010101" pitchFamily="49" charset="-122"/>
              </a:rPr>
              <a:t>3</a:t>
            </a:r>
            <a:r>
              <a:rPr kumimoji="0" lang="zh-CN" altLang="en-US" sz="2800" b="1" i="0" u="none" strike="noStrike" kern="0" cap="none" spc="0" normalizeH="0" baseline="0" noProof="1">
                <a:solidFill>
                  <a:schemeClr val="folHlink"/>
                </a:solidFill>
                <a:latin typeface="+mn-lt"/>
                <a:ea typeface="+mn-ea"/>
                <a:cs typeface="黑体" panose="02010609060101010101" pitchFamily="49" charset="-122"/>
              </a:rPr>
              <a:t>个根</a:t>
            </a:r>
            <a:r>
              <a:rPr kumimoji="0" lang="zh-CN" altLang="en-US" sz="2800" b="1" i="0" u="none" strike="noStrike" kern="0" cap="none" spc="0" normalizeH="0" baseline="0" noProof="1">
                <a:solidFill>
                  <a:schemeClr val="folHlink"/>
                </a:solidFill>
                <a:latin typeface="+mn-lt"/>
                <a:ea typeface="+mn-ea"/>
                <a:cs typeface="黑体" panose="02010609060101010101" pitchFamily="49" charset="-122"/>
              </a:rPr>
              <a:t>子树组成。</a:t>
            </a:r>
            <a:endParaRPr kumimoji="0" lang="zh-CN" altLang="en-US" sz="2800" b="1" i="0" u="none" strike="noStrike" kern="0" cap="none" spc="0" normalizeH="0" baseline="0" noProof="1">
              <a:solidFill>
                <a:schemeClr val="folHlink"/>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folHlink"/>
                </a:solidFill>
                <a:latin typeface="+mn-lt"/>
                <a:ea typeface="+mn-ea"/>
                <a:cs typeface="黑体" panose="02010609060101010101" pitchFamily="49" charset="-122"/>
              </a:rPr>
              <a:t>以</a:t>
            </a:r>
            <a:r>
              <a:rPr kumimoji="0" lang="en-US" altLang="zh-CN" sz="2800" b="1" i="1" u="none" strike="noStrike" kern="0" cap="none" spc="0" normalizeH="0" baseline="0" noProof="1">
                <a:solidFill>
                  <a:schemeClr val="folHlink"/>
                </a:solidFill>
                <a:latin typeface="+mn-lt"/>
                <a:ea typeface="+mn-ea"/>
                <a:cs typeface="黑体" panose="02010609060101010101" pitchFamily="49" charset="-122"/>
              </a:rPr>
              <a:t>v</a:t>
            </a:r>
            <a:r>
              <a:rPr kumimoji="0" lang="en-US" altLang="zh-CN" sz="2800" b="1" i="0" u="none" strike="noStrike" kern="0" cap="none" spc="0" normalizeH="0" baseline="-25000" noProof="1">
                <a:solidFill>
                  <a:schemeClr val="folHlink"/>
                </a:solidFill>
                <a:latin typeface="+mn-lt"/>
                <a:ea typeface="+mn-ea"/>
                <a:cs typeface="黑体" panose="02010609060101010101" pitchFamily="49" charset="-122"/>
              </a:rPr>
              <a:t>4</a:t>
            </a:r>
            <a:r>
              <a:rPr kumimoji="0" lang="zh-CN" altLang="en-US" sz="2800" b="1" i="0" u="none" strike="noStrike" kern="0" cap="none" spc="0" normalizeH="0" baseline="0" noProof="1">
                <a:solidFill>
                  <a:schemeClr val="folHlink"/>
                </a:solidFill>
                <a:latin typeface="+mn-lt"/>
                <a:ea typeface="+mn-ea"/>
                <a:cs typeface="黑体" panose="02010609060101010101" pitchFamily="49" charset="-122"/>
              </a:rPr>
              <a:t>为根的子树由分别以</a:t>
            </a:r>
            <a:r>
              <a:rPr kumimoji="0" lang="en-US" altLang="zh-CN" sz="2800" b="1" i="1" u="none" strike="noStrike" kern="0" cap="none" spc="0" normalizeH="0" baseline="0" noProof="1">
                <a:solidFill>
                  <a:schemeClr val="folHlink"/>
                </a:solidFill>
                <a:latin typeface="+mn-lt"/>
                <a:ea typeface="+mn-ea"/>
                <a:cs typeface="黑体" panose="02010609060101010101" pitchFamily="49" charset="-122"/>
              </a:rPr>
              <a:t>v</a:t>
            </a:r>
            <a:r>
              <a:rPr kumimoji="0" lang="en-US" altLang="zh-CN" sz="2800" b="1" i="0" u="none" strike="noStrike" kern="0" cap="none" spc="0" normalizeH="0" baseline="-25000" noProof="1">
                <a:solidFill>
                  <a:schemeClr val="folHlink"/>
                </a:solidFill>
                <a:latin typeface="+mn-lt"/>
                <a:ea typeface="+mn-ea"/>
                <a:cs typeface="黑体" panose="02010609060101010101" pitchFamily="49" charset="-122"/>
              </a:rPr>
              <a:t>8</a:t>
            </a:r>
            <a:r>
              <a:rPr kumimoji="0" lang="en-US" altLang="zh-CN" sz="2800" b="1" i="0" u="none" strike="noStrike" kern="0" cap="none" spc="0" normalizeH="0" baseline="0" noProof="1">
                <a:solidFill>
                  <a:schemeClr val="folHlink"/>
                </a:solidFill>
                <a:latin typeface="+mn-lt"/>
                <a:ea typeface="+mn-ea"/>
                <a:cs typeface="黑体" panose="02010609060101010101" pitchFamily="49" charset="-122"/>
              </a:rPr>
              <a:t>,</a:t>
            </a:r>
            <a:r>
              <a:rPr kumimoji="0" lang="en-US" altLang="zh-CN" sz="2800" b="1" i="1" u="none" strike="noStrike" kern="0" cap="none" spc="0" normalizeH="0" baseline="0" noProof="1">
                <a:solidFill>
                  <a:schemeClr val="folHlink"/>
                </a:solidFill>
                <a:latin typeface="+mn-lt"/>
                <a:ea typeface="+mn-ea"/>
                <a:cs typeface="黑体" panose="02010609060101010101" pitchFamily="49" charset="-122"/>
              </a:rPr>
              <a:t>v</a:t>
            </a:r>
            <a:r>
              <a:rPr kumimoji="0" lang="en-US" altLang="zh-CN" sz="2800" b="1" i="0" u="none" strike="noStrike" kern="0" cap="none" spc="0" normalizeH="0" baseline="-25000" noProof="1">
                <a:solidFill>
                  <a:schemeClr val="folHlink"/>
                </a:solidFill>
                <a:latin typeface="+mn-lt"/>
                <a:ea typeface="+mn-ea"/>
                <a:cs typeface="黑体" panose="02010609060101010101" pitchFamily="49" charset="-122"/>
              </a:rPr>
              <a:t>9</a:t>
            </a:r>
            <a:endParaRPr kumimoji="0" lang="en-US" altLang="zh-CN" sz="2800" b="1" i="0" u="none" strike="noStrike" kern="0" cap="none" spc="0" normalizeH="0" baseline="-25000" noProof="1">
              <a:solidFill>
                <a:schemeClr val="folHlink"/>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folHlink"/>
                </a:solidFill>
                <a:latin typeface="+mn-lt"/>
                <a:ea typeface="+mn-ea"/>
                <a:cs typeface="黑体" panose="02010609060101010101" pitchFamily="49" charset="-122"/>
              </a:rPr>
              <a:t>为根的两个根子树构成。</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p:txBody>
      </p:sp>
      <p:graphicFrame>
        <p:nvGraphicFramePr>
          <p:cNvPr id="4" name="Object 4"/>
          <p:cNvGraphicFramePr>
            <a:graphicFrameLocks noChangeAspect="1"/>
          </p:cNvGraphicFramePr>
          <p:nvPr/>
        </p:nvGraphicFramePr>
        <p:xfrm>
          <a:off x="5199063" y="2852738"/>
          <a:ext cx="3744912" cy="3235325"/>
        </p:xfrm>
        <a:graphic>
          <a:graphicData uri="http://schemas.openxmlformats.org/presentationml/2006/ole">
            <mc:AlternateContent xmlns:mc="http://schemas.openxmlformats.org/markup-compatibility/2006">
              <mc:Choice xmlns:v="urn:schemas-microsoft-com:vml" Requires="v">
                <p:oleObj spid="_x0000_s3076" name="" r:id="rId1" imgW="4154170" imgH="3589655" progId="Visio.Drawing.11">
                  <p:embed/>
                </p:oleObj>
              </mc:Choice>
              <mc:Fallback>
                <p:oleObj name="" r:id="rId1" imgW="4154170" imgH="3589655" progId="Visio.Drawing.11">
                  <p:embed/>
                  <p:pic>
                    <p:nvPicPr>
                      <p:cNvPr id="0" name="图片 3075"/>
                      <p:cNvPicPr/>
                      <p:nvPr/>
                    </p:nvPicPr>
                    <p:blipFill>
                      <a:blip r:embed="rId2"/>
                      <a:stretch>
                        <a:fillRect/>
                      </a:stretch>
                    </p:blipFill>
                    <p:spPr>
                      <a:xfrm>
                        <a:off x="5199063" y="2852738"/>
                        <a:ext cx="3744912" cy="3235325"/>
                      </a:xfrm>
                      <a:prstGeom prst="rect">
                        <a:avLst/>
                      </a:prstGeom>
                      <a:noFill/>
                      <a:ln w="38100">
                        <a:noFill/>
                        <a:miter/>
                      </a:ln>
                    </p:spPr>
                  </p:pic>
                </p:oleObj>
              </mc:Fallback>
            </mc:AlternateContent>
          </a:graphicData>
        </a:graphic>
      </p:graphicFrame>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p:txBody>
          <a:bodyPr vert="horz" wrap="square" lIns="91440" tIns="45720" rIns="91440" bIns="45720" anchor="b" anchorCtr="0"/>
          <a:p>
            <a:r>
              <a:rPr lang="zh-CN" altLang="en-US"/>
              <a:t>根树的周游</a:t>
            </a:r>
            <a:r>
              <a:rPr lang="en-US" altLang="zh-CN"/>
              <a:t>(travesal)</a:t>
            </a:r>
            <a:endParaRPr lang="zh-CN" altLang="en-US"/>
          </a:p>
        </p:txBody>
      </p:sp>
      <p:sp>
        <p:nvSpPr>
          <p:cNvPr id="25602" name="Rectangle 3"/>
          <p:cNvSpPr>
            <a:spLocks noGrp="1"/>
          </p:cNvSpPr>
          <p:nvPr>
            <p:ph idx="1"/>
          </p:nvPr>
        </p:nvSpPr>
        <p:spPr/>
        <p:txBody>
          <a:bodyPr vert="horz" wrap="square" lIns="91440" tIns="45720" rIns="91440" bIns="45720" anchor="t"/>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hlink"/>
                </a:solidFill>
                <a:latin typeface="+mn-lt"/>
                <a:ea typeface="+mn-ea"/>
                <a:cs typeface="黑体" panose="02010609060101010101" pitchFamily="49" charset="-122"/>
              </a:rPr>
              <a:t>根树的周游</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列出根树的所有顶点</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每个顶点访问且仅访问一次</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a:p>
            <a:pPr marL="0" marR="0" indent="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设</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T</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是一棵</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2</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叉正则有序树，对其行遍：</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hlink"/>
                </a:solidFill>
                <a:latin typeface="+mn-lt"/>
                <a:ea typeface="+mn-ea"/>
                <a:cs typeface="黑体" panose="02010609060101010101" pitchFamily="49" charset="-122"/>
              </a:rPr>
              <a:t>中序行遍</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左子树</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rgbClr val="FF0000"/>
                </a:solidFill>
                <a:latin typeface="+mn-lt"/>
                <a:ea typeface="+mn-ea"/>
                <a:cs typeface="黑体" panose="02010609060101010101" pitchFamily="49" charset="-122"/>
              </a:rPr>
              <a:t>根</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右子树</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hlink"/>
                </a:solidFill>
                <a:latin typeface="+mn-lt"/>
                <a:ea typeface="+mn-ea"/>
                <a:cs typeface="黑体" panose="02010609060101010101" pitchFamily="49" charset="-122"/>
              </a:rPr>
              <a:t>前序行遍</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rgbClr val="FF0000"/>
                </a:solidFill>
                <a:latin typeface="+mn-lt"/>
                <a:ea typeface="+mn-ea"/>
                <a:cs typeface="黑体" panose="02010609060101010101" pitchFamily="49" charset="-122"/>
              </a:rPr>
              <a:t>根</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左子树</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右子树</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hlink"/>
                </a:solidFill>
                <a:latin typeface="+mn-lt"/>
                <a:ea typeface="+mn-ea"/>
                <a:cs typeface="黑体" panose="02010609060101010101" pitchFamily="49" charset="-122"/>
              </a:rPr>
              <a:t>后序行遍</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左子树</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右子树</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rgbClr val="FF0000"/>
                </a:solidFill>
                <a:latin typeface="+mn-lt"/>
                <a:ea typeface="+mn-ea"/>
                <a:cs typeface="黑体" panose="02010609060101010101" pitchFamily="49" charset="-122"/>
              </a:rPr>
              <a:t>根</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hlink"/>
                </a:solidFill>
                <a:latin typeface="+mn-lt"/>
                <a:ea typeface="+mn-ea"/>
                <a:cs typeface="黑体" panose="02010609060101010101" pitchFamily="49" charset="-122"/>
              </a:rPr>
              <a:t>例</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中序</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en-US" altLang="zh-CN" sz="2800" b="1" i="1" u="none" strike="noStrike" kern="0" cap="none" spc="0" normalizeH="0" baseline="0" noProof="1">
                <a:solidFill>
                  <a:schemeClr val="tx1"/>
                </a:solidFill>
                <a:latin typeface="+mn-lt"/>
                <a:ea typeface="+mn-ea"/>
                <a:cs typeface="黑体" panose="02010609060101010101" pitchFamily="49" charset="-122"/>
              </a:rPr>
              <a:t>dbigjehacf</a:t>
            </a:r>
            <a:endParaRPr kumimoji="0" lang="en-US" altLang="zh-CN" sz="2800" b="1" i="1"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          前序</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en-US" altLang="zh-CN" sz="2800" b="1" i="1" u="none" strike="noStrike" kern="0" cap="none" spc="0" normalizeH="0" baseline="0" noProof="1">
                <a:solidFill>
                  <a:schemeClr val="tx1"/>
                </a:solidFill>
                <a:latin typeface="+mn-lt"/>
                <a:ea typeface="+mn-ea"/>
                <a:cs typeface="黑体" panose="02010609060101010101" pitchFamily="49" charset="-122"/>
              </a:rPr>
              <a:t>abdegijhcf</a:t>
            </a:r>
            <a:endParaRPr kumimoji="0" lang="en-US" altLang="zh-CN" sz="2800" b="1" i="1"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           后序</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 </a:t>
            </a:r>
            <a:r>
              <a:rPr kumimoji="0" lang="en-US" altLang="zh-CN" sz="2800" b="1" i="1" u="none" strike="noStrike" kern="0" cap="none" spc="0" normalizeH="0" baseline="0" noProof="1">
                <a:solidFill>
                  <a:schemeClr val="tx1"/>
                </a:solidFill>
                <a:latin typeface="+mn-lt"/>
                <a:ea typeface="+mn-ea"/>
                <a:cs typeface="黑体" panose="02010609060101010101" pitchFamily="49" charset="-122"/>
              </a:rPr>
              <a:t>dijghebfca</a:t>
            </a:r>
            <a:endParaRPr kumimoji="0" lang="zh-CN" altLang="en-US" sz="2800" b="1" i="1" u="none" strike="noStrike" kern="0" cap="none" spc="0" normalizeH="0" baseline="0" noProof="1">
              <a:solidFill>
                <a:schemeClr val="tx1"/>
              </a:solidFill>
              <a:latin typeface="+mn-lt"/>
              <a:ea typeface="+mn-ea"/>
              <a:cs typeface="黑体" panose="02010609060101010101" pitchFamily="49" charset="-122"/>
            </a:endParaRPr>
          </a:p>
        </p:txBody>
      </p:sp>
      <p:sp>
        <p:nvSpPr>
          <p:cNvPr id="25623" name="Text Box 25"/>
          <p:cNvSpPr txBox="1"/>
          <p:nvPr/>
        </p:nvSpPr>
        <p:spPr>
          <a:xfrm>
            <a:off x="7019290" y="2947988"/>
            <a:ext cx="336550" cy="45720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a</a:t>
            </a:r>
            <a:endParaRPr lang="en-US" altLang="zh-CN" sz="2400" i="1">
              <a:latin typeface="Times New Roman" panose="02020603050405020304" pitchFamily="18" charset="0"/>
              <a:ea typeface="宋体" panose="02010600030101010101" pitchFamily="2" charset="-122"/>
            </a:endParaRPr>
          </a:p>
        </p:txBody>
      </p:sp>
      <p:grpSp>
        <p:nvGrpSpPr>
          <p:cNvPr id="34" name="组合 33"/>
          <p:cNvGrpSpPr/>
          <p:nvPr/>
        </p:nvGrpSpPr>
        <p:grpSpPr>
          <a:xfrm>
            <a:off x="5723890" y="3357245"/>
            <a:ext cx="2663190" cy="3049270"/>
            <a:chOff x="9584" y="5288"/>
            <a:chExt cx="4194" cy="4802"/>
          </a:xfrm>
        </p:grpSpPr>
        <p:grpSp>
          <p:nvGrpSpPr>
            <p:cNvPr id="25603" name="Group 5"/>
            <p:cNvGrpSpPr/>
            <p:nvPr/>
          </p:nvGrpSpPr>
          <p:grpSpPr>
            <a:xfrm>
              <a:off x="10036" y="5288"/>
              <a:ext cx="3743" cy="4650"/>
              <a:chOff x="3923" y="1797"/>
              <a:chExt cx="1497" cy="1860"/>
            </a:xfrm>
          </p:grpSpPr>
          <p:sp>
            <p:nvSpPr>
              <p:cNvPr id="25604" name="Oval 6"/>
              <p:cNvSpPr/>
              <p:nvPr/>
            </p:nvSpPr>
            <p:spPr>
              <a:xfrm>
                <a:off x="4604" y="179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05" name="Oval 7"/>
              <p:cNvSpPr/>
              <p:nvPr/>
            </p:nvSpPr>
            <p:spPr>
              <a:xfrm>
                <a:off x="4286" y="220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06" name="Oval 8"/>
              <p:cNvSpPr/>
              <p:nvPr/>
            </p:nvSpPr>
            <p:spPr>
              <a:xfrm>
                <a:off x="5012" y="2205"/>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07" name="Line 9"/>
              <p:cNvSpPr/>
              <p:nvPr/>
            </p:nvSpPr>
            <p:spPr>
              <a:xfrm flipH="1">
                <a:off x="4377" y="1933"/>
                <a:ext cx="272" cy="318"/>
              </a:xfrm>
              <a:prstGeom prst="line">
                <a:avLst/>
              </a:prstGeom>
              <a:ln w="9525" cap="flat" cmpd="sng">
                <a:solidFill>
                  <a:schemeClr val="tx1"/>
                </a:solidFill>
                <a:prstDash val="solid"/>
                <a:round/>
                <a:headEnd type="none" w="med" len="med"/>
                <a:tailEnd type="none" w="med" len="med"/>
              </a:ln>
            </p:spPr>
          </p:sp>
          <p:sp>
            <p:nvSpPr>
              <p:cNvPr id="25608" name="Line 10"/>
              <p:cNvSpPr/>
              <p:nvPr/>
            </p:nvSpPr>
            <p:spPr>
              <a:xfrm>
                <a:off x="4694" y="1933"/>
                <a:ext cx="363" cy="318"/>
              </a:xfrm>
              <a:prstGeom prst="line">
                <a:avLst/>
              </a:prstGeom>
              <a:ln w="9525" cap="flat" cmpd="sng">
                <a:solidFill>
                  <a:schemeClr val="tx1"/>
                </a:solidFill>
                <a:prstDash val="solid"/>
                <a:round/>
                <a:headEnd type="none" w="med" len="med"/>
                <a:tailEnd type="none" w="med" len="med"/>
              </a:ln>
            </p:spPr>
          </p:sp>
          <p:sp>
            <p:nvSpPr>
              <p:cNvPr id="25609" name="Oval 11"/>
              <p:cNvSpPr/>
              <p:nvPr/>
            </p:nvSpPr>
            <p:spPr>
              <a:xfrm>
                <a:off x="3923" y="2568"/>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10" name="Oval 12"/>
              <p:cNvSpPr/>
              <p:nvPr/>
            </p:nvSpPr>
            <p:spPr>
              <a:xfrm>
                <a:off x="4558" y="261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11" name="Line 13"/>
              <p:cNvSpPr/>
              <p:nvPr/>
            </p:nvSpPr>
            <p:spPr>
              <a:xfrm flipH="1">
                <a:off x="4059" y="2341"/>
                <a:ext cx="273" cy="227"/>
              </a:xfrm>
              <a:prstGeom prst="line">
                <a:avLst/>
              </a:prstGeom>
              <a:ln w="9525" cap="flat" cmpd="sng">
                <a:solidFill>
                  <a:schemeClr val="tx1"/>
                </a:solidFill>
                <a:prstDash val="solid"/>
                <a:round/>
                <a:headEnd type="none" w="med" len="med"/>
                <a:tailEnd type="none" w="med" len="med"/>
              </a:ln>
            </p:spPr>
          </p:sp>
          <p:sp>
            <p:nvSpPr>
              <p:cNvPr id="25612" name="Line 14"/>
              <p:cNvSpPr/>
              <p:nvPr/>
            </p:nvSpPr>
            <p:spPr>
              <a:xfrm>
                <a:off x="4377" y="2341"/>
                <a:ext cx="227" cy="318"/>
              </a:xfrm>
              <a:prstGeom prst="line">
                <a:avLst/>
              </a:prstGeom>
              <a:ln w="9525" cap="flat" cmpd="sng">
                <a:solidFill>
                  <a:schemeClr val="tx1"/>
                </a:solidFill>
                <a:prstDash val="solid"/>
                <a:round/>
                <a:headEnd type="none" w="med" len="med"/>
                <a:tailEnd type="none" w="med" len="med"/>
              </a:ln>
            </p:spPr>
          </p:sp>
          <p:sp>
            <p:nvSpPr>
              <p:cNvPr id="25613" name="Oval 15"/>
              <p:cNvSpPr/>
              <p:nvPr/>
            </p:nvSpPr>
            <p:spPr>
              <a:xfrm>
                <a:off x="4286" y="306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14" name="Oval 16"/>
              <p:cNvSpPr/>
              <p:nvPr/>
            </p:nvSpPr>
            <p:spPr>
              <a:xfrm>
                <a:off x="4921" y="3067"/>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15" name="Line 17"/>
              <p:cNvSpPr/>
              <p:nvPr/>
            </p:nvSpPr>
            <p:spPr>
              <a:xfrm flipH="1">
                <a:off x="4377" y="2750"/>
                <a:ext cx="227" cy="363"/>
              </a:xfrm>
              <a:prstGeom prst="line">
                <a:avLst/>
              </a:prstGeom>
              <a:ln w="9525" cap="flat" cmpd="sng">
                <a:solidFill>
                  <a:schemeClr val="tx1"/>
                </a:solidFill>
                <a:prstDash val="solid"/>
                <a:round/>
                <a:headEnd type="none" w="med" len="med"/>
                <a:tailEnd type="none" w="med" len="med"/>
              </a:ln>
            </p:spPr>
          </p:sp>
          <p:sp>
            <p:nvSpPr>
              <p:cNvPr id="25616" name="Line 18"/>
              <p:cNvSpPr/>
              <p:nvPr/>
            </p:nvSpPr>
            <p:spPr>
              <a:xfrm>
                <a:off x="4694" y="2750"/>
                <a:ext cx="318" cy="363"/>
              </a:xfrm>
              <a:prstGeom prst="line">
                <a:avLst/>
              </a:prstGeom>
              <a:ln w="9525" cap="flat" cmpd="sng">
                <a:solidFill>
                  <a:schemeClr val="tx1"/>
                </a:solidFill>
                <a:prstDash val="solid"/>
                <a:round/>
                <a:headEnd type="none" w="med" len="med"/>
                <a:tailEnd type="none" w="med" len="med"/>
              </a:ln>
            </p:spPr>
          </p:sp>
          <p:sp>
            <p:nvSpPr>
              <p:cNvPr id="25617" name="Line 19"/>
              <p:cNvSpPr/>
              <p:nvPr/>
            </p:nvSpPr>
            <p:spPr>
              <a:xfrm flipH="1">
                <a:off x="4105" y="3203"/>
                <a:ext cx="227" cy="363"/>
              </a:xfrm>
              <a:prstGeom prst="line">
                <a:avLst/>
              </a:prstGeom>
              <a:ln w="9525" cap="flat" cmpd="sng">
                <a:solidFill>
                  <a:schemeClr val="tx1"/>
                </a:solidFill>
                <a:prstDash val="solid"/>
                <a:round/>
                <a:headEnd type="none" w="med" len="med"/>
                <a:tailEnd type="none" w="med" len="med"/>
              </a:ln>
            </p:spPr>
          </p:sp>
          <p:sp>
            <p:nvSpPr>
              <p:cNvPr id="25618" name="Line 20"/>
              <p:cNvSpPr/>
              <p:nvPr/>
            </p:nvSpPr>
            <p:spPr>
              <a:xfrm>
                <a:off x="4377" y="3203"/>
                <a:ext cx="227" cy="363"/>
              </a:xfrm>
              <a:prstGeom prst="line">
                <a:avLst/>
              </a:prstGeom>
              <a:ln w="9525" cap="flat" cmpd="sng">
                <a:solidFill>
                  <a:schemeClr val="tx1"/>
                </a:solidFill>
                <a:prstDash val="solid"/>
                <a:round/>
                <a:headEnd type="none" w="med" len="med"/>
                <a:tailEnd type="none" w="med" len="med"/>
              </a:ln>
            </p:spPr>
          </p:sp>
          <p:sp>
            <p:nvSpPr>
              <p:cNvPr id="25619" name="Oval 21"/>
              <p:cNvSpPr/>
              <p:nvPr/>
            </p:nvSpPr>
            <p:spPr>
              <a:xfrm>
                <a:off x="4014" y="352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20" name="Oval 22"/>
              <p:cNvSpPr/>
              <p:nvPr/>
            </p:nvSpPr>
            <p:spPr>
              <a:xfrm>
                <a:off x="4558" y="3521"/>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5621" name="Line 23"/>
              <p:cNvSpPr/>
              <p:nvPr/>
            </p:nvSpPr>
            <p:spPr>
              <a:xfrm>
                <a:off x="5103" y="2341"/>
                <a:ext cx="226" cy="318"/>
              </a:xfrm>
              <a:prstGeom prst="line">
                <a:avLst/>
              </a:prstGeom>
              <a:ln w="9525" cap="flat" cmpd="sng">
                <a:solidFill>
                  <a:schemeClr val="tx1"/>
                </a:solidFill>
                <a:prstDash val="solid"/>
                <a:round/>
                <a:headEnd type="none" w="med" len="med"/>
                <a:tailEnd type="none" w="med" len="med"/>
              </a:ln>
            </p:spPr>
          </p:sp>
          <p:sp>
            <p:nvSpPr>
              <p:cNvPr id="25622" name="Oval 24"/>
              <p:cNvSpPr/>
              <p:nvPr/>
            </p:nvSpPr>
            <p:spPr>
              <a:xfrm>
                <a:off x="5284" y="261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grpSp>
        <p:sp>
          <p:nvSpPr>
            <p:cNvPr id="25624" name="Text Box 35"/>
            <p:cNvSpPr txBox="1"/>
            <p:nvPr/>
          </p:nvSpPr>
          <p:spPr>
            <a:xfrm>
              <a:off x="10489" y="5740"/>
              <a:ext cx="530"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b</a:t>
              </a:r>
              <a:endParaRPr lang="en-US" altLang="zh-CN" sz="2400" i="1">
                <a:latin typeface="Times New Roman" panose="02020603050405020304" pitchFamily="18" charset="0"/>
                <a:ea typeface="宋体" panose="02010600030101010101" pitchFamily="2" charset="-122"/>
              </a:endParaRPr>
            </a:p>
          </p:txBody>
        </p:sp>
        <p:sp>
          <p:nvSpPr>
            <p:cNvPr id="25625" name="Text Box 36"/>
            <p:cNvSpPr txBox="1"/>
            <p:nvPr/>
          </p:nvSpPr>
          <p:spPr>
            <a:xfrm>
              <a:off x="12191" y="6080"/>
              <a:ext cx="503"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c</a:t>
              </a:r>
              <a:endParaRPr lang="en-US" altLang="zh-CN" sz="2400" i="1">
                <a:latin typeface="Times New Roman" panose="02020603050405020304" pitchFamily="18" charset="0"/>
                <a:ea typeface="宋体" panose="02010600030101010101" pitchFamily="2" charset="-122"/>
              </a:endParaRPr>
            </a:p>
          </p:txBody>
        </p:sp>
        <p:sp>
          <p:nvSpPr>
            <p:cNvPr id="25626" name="Text Box 37"/>
            <p:cNvSpPr txBox="1"/>
            <p:nvPr/>
          </p:nvSpPr>
          <p:spPr>
            <a:xfrm>
              <a:off x="9584" y="6875"/>
              <a:ext cx="530"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d</a:t>
              </a:r>
              <a:endParaRPr lang="en-US" altLang="zh-CN" sz="2400" i="1">
                <a:latin typeface="Times New Roman" panose="02020603050405020304" pitchFamily="18" charset="0"/>
                <a:ea typeface="宋体" panose="02010600030101010101" pitchFamily="2" charset="-122"/>
              </a:endParaRPr>
            </a:p>
          </p:txBody>
        </p:sp>
        <p:sp>
          <p:nvSpPr>
            <p:cNvPr id="25627" name="Text Box 38"/>
            <p:cNvSpPr txBox="1"/>
            <p:nvPr/>
          </p:nvSpPr>
          <p:spPr>
            <a:xfrm>
              <a:off x="11056" y="6988"/>
              <a:ext cx="503"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endParaRPr lang="en-US" altLang="zh-CN" sz="2400" i="1">
                <a:latin typeface="Times New Roman" panose="02020603050405020304" pitchFamily="18" charset="0"/>
                <a:ea typeface="宋体" panose="02010600030101010101" pitchFamily="2" charset="-122"/>
              </a:endParaRPr>
            </a:p>
          </p:txBody>
        </p:sp>
        <p:sp>
          <p:nvSpPr>
            <p:cNvPr id="25628" name="Text Box 39"/>
            <p:cNvSpPr txBox="1"/>
            <p:nvPr/>
          </p:nvSpPr>
          <p:spPr>
            <a:xfrm>
              <a:off x="12984" y="7100"/>
              <a:ext cx="450"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f</a:t>
              </a:r>
              <a:endParaRPr lang="en-US" altLang="zh-CN" sz="2400" i="1">
                <a:latin typeface="Times New Roman" panose="02020603050405020304" pitchFamily="18" charset="0"/>
                <a:ea typeface="宋体" panose="02010600030101010101" pitchFamily="2" charset="-122"/>
              </a:endParaRPr>
            </a:p>
          </p:txBody>
        </p:sp>
        <p:sp>
          <p:nvSpPr>
            <p:cNvPr id="25629" name="Text Box 40"/>
            <p:cNvSpPr txBox="1"/>
            <p:nvPr/>
          </p:nvSpPr>
          <p:spPr>
            <a:xfrm>
              <a:off x="10489" y="8123"/>
              <a:ext cx="530"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g</a:t>
              </a:r>
              <a:endParaRPr lang="en-US" altLang="zh-CN" sz="2400" i="1">
                <a:latin typeface="Times New Roman" panose="02020603050405020304" pitchFamily="18" charset="0"/>
                <a:ea typeface="宋体" panose="02010600030101010101" pitchFamily="2" charset="-122"/>
              </a:endParaRPr>
            </a:p>
          </p:txBody>
        </p:sp>
        <p:sp>
          <p:nvSpPr>
            <p:cNvPr id="25630" name="Text Box 41"/>
            <p:cNvSpPr txBox="1"/>
            <p:nvPr/>
          </p:nvSpPr>
          <p:spPr>
            <a:xfrm>
              <a:off x="12076" y="8235"/>
              <a:ext cx="558"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h</a:t>
              </a:r>
              <a:endParaRPr lang="en-US" altLang="zh-CN" sz="2400" i="1">
                <a:latin typeface="Times New Roman" panose="02020603050405020304" pitchFamily="18" charset="0"/>
                <a:ea typeface="宋体" panose="02010600030101010101" pitchFamily="2" charset="-122"/>
              </a:endParaRPr>
            </a:p>
          </p:txBody>
        </p:sp>
        <p:sp>
          <p:nvSpPr>
            <p:cNvPr id="25631" name="Text Box 42"/>
            <p:cNvSpPr txBox="1"/>
            <p:nvPr/>
          </p:nvSpPr>
          <p:spPr>
            <a:xfrm>
              <a:off x="9809" y="9255"/>
              <a:ext cx="422"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i</a:t>
              </a:r>
              <a:endParaRPr lang="en-US" altLang="zh-CN" sz="2400" i="1">
                <a:latin typeface="Times New Roman" panose="02020603050405020304" pitchFamily="18" charset="0"/>
                <a:ea typeface="宋体" panose="02010600030101010101" pitchFamily="2" charset="-122"/>
              </a:endParaRPr>
            </a:p>
          </p:txBody>
        </p:sp>
        <p:sp>
          <p:nvSpPr>
            <p:cNvPr id="25632" name="Text Box 43"/>
            <p:cNvSpPr txBox="1"/>
            <p:nvPr/>
          </p:nvSpPr>
          <p:spPr>
            <a:xfrm>
              <a:off x="11881" y="9370"/>
              <a:ext cx="423" cy="720"/>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j</a:t>
              </a:r>
              <a:endParaRPr lang="en-US" altLang="zh-CN" sz="2400" i="1">
                <a:latin typeface="Times New Roman" panose="02020603050405020304" pitchFamily="18" charset="0"/>
                <a:ea typeface="宋体" panose="02010600030101010101" pitchFamily="2" charset="-122"/>
              </a:endParaRPr>
            </a:p>
          </p:txBody>
        </p:sp>
      </p:grpSp>
      <p:sp>
        <p:nvSpPr>
          <p:cNvPr id="33" name="灯片编号占位符 3"/>
          <p:cNvSpPr>
            <a:spLocks noGrp="1"/>
          </p:cNvSpPr>
          <p:nvPr>
            <p:ph type="sldNum" sz="quarter" idx="12"/>
          </p:nvPr>
        </p:nvSpPr>
        <p:spPr>
          <a:xfrm>
            <a:off x="7072630" y="6309043"/>
            <a:ext cx="1905000" cy="457200"/>
          </a:xfrm>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p:txBody>
          <a:bodyPr vert="horz" wrap="square" lIns="91440" tIns="45720" rIns="91440" bIns="45720" anchor="b" anchorCtr="0"/>
          <a:p>
            <a:r>
              <a:rPr lang="zh-CN" altLang="en-US"/>
              <a:t>四则运算式与二叉正侧有序树</a:t>
            </a:r>
            <a:endParaRPr lang="zh-CN" altLang="en-US"/>
          </a:p>
        </p:txBody>
      </p:sp>
      <p:sp>
        <p:nvSpPr>
          <p:cNvPr id="26626" name="Rectangle 3"/>
          <p:cNvSpPr>
            <a:spLocks noGrp="1"/>
          </p:cNvSpPr>
          <p:nvPr>
            <p:ph idx="1"/>
          </p:nvPr>
        </p:nvSpPr>
        <p:spPr>
          <a:xfrm>
            <a:off x="250825" y="1412875"/>
            <a:ext cx="8496300" cy="649288"/>
          </a:xfrm>
        </p:spPr>
        <p:txBody>
          <a:bodyPr vert="horz" wrap="square" lIns="91440" tIns="45720" rIns="91440" bIns="45720" anchor="t" anchorCtr="0"/>
          <a:p>
            <a:r>
              <a:rPr lang="en-US" altLang="zh-CN"/>
              <a:t>((</a:t>
            </a:r>
            <a:r>
              <a:rPr lang="en-US" altLang="zh-CN" i="1"/>
              <a:t>a</a:t>
            </a:r>
            <a:r>
              <a:rPr lang="en-US" altLang="zh-CN"/>
              <a:t>∗(</a:t>
            </a:r>
            <a:r>
              <a:rPr lang="en-US" altLang="zh-CN" i="1"/>
              <a:t>b</a:t>
            </a:r>
            <a:r>
              <a:rPr lang="en-US" altLang="zh-CN"/>
              <a:t>+</a:t>
            </a:r>
            <a:r>
              <a:rPr lang="en-US" altLang="zh-CN" i="1"/>
              <a:t>c</a:t>
            </a:r>
            <a:r>
              <a:rPr lang="en-US" altLang="zh-CN"/>
              <a:t>))∗</a:t>
            </a:r>
            <a:r>
              <a:rPr lang="en-US" altLang="zh-CN" i="1"/>
              <a:t>d</a:t>
            </a:r>
            <a:r>
              <a:rPr lang="en-US" altLang="zh-CN"/>
              <a:t>-</a:t>
            </a:r>
            <a:r>
              <a:rPr lang="en-US" altLang="zh-CN" i="1"/>
              <a:t>e</a:t>
            </a:r>
            <a:r>
              <a:rPr lang="en-US" altLang="zh-CN"/>
              <a:t>)÷(</a:t>
            </a:r>
            <a:r>
              <a:rPr lang="en-US" altLang="zh-CN" i="1"/>
              <a:t>f</a:t>
            </a:r>
            <a:r>
              <a:rPr lang="en-US" altLang="zh-CN"/>
              <a:t>+</a:t>
            </a:r>
            <a:r>
              <a:rPr lang="en-US" altLang="zh-CN" i="1"/>
              <a:t>g</a:t>
            </a:r>
            <a:r>
              <a:rPr lang="en-US" altLang="zh-CN"/>
              <a:t>)÷(</a:t>
            </a:r>
            <a:r>
              <a:rPr lang="en-US" altLang="zh-CN" i="1"/>
              <a:t>h</a:t>
            </a:r>
            <a:r>
              <a:rPr lang="en-US" altLang="zh-CN"/>
              <a:t>∗(</a:t>
            </a:r>
            <a:r>
              <a:rPr lang="en-US" altLang="zh-CN" i="1"/>
              <a:t>i</a:t>
            </a:r>
            <a:r>
              <a:rPr lang="en-US" altLang="zh-CN"/>
              <a:t>+</a:t>
            </a:r>
            <a:r>
              <a:rPr lang="en-US" altLang="zh-CN" i="1"/>
              <a:t>j</a:t>
            </a:r>
            <a:r>
              <a:rPr lang="en-US" altLang="zh-CN"/>
              <a:t>))</a:t>
            </a:r>
            <a:endParaRPr lang="zh-CN" altLang="en-US"/>
          </a:p>
        </p:txBody>
      </p:sp>
      <p:grpSp>
        <p:nvGrpSpPr>
          <p:cNvPr id="26627" name="Group 51"/>
          <p:cNvGrpSpPr/>
          <p:nvPr/>
        </p:nvGrpSpPr>
        <p:grpSpPr>
          <a:xfrm>
            <a:off x="2555875" y="1412875"/>
            <a:ext cx="6121400" cy="5329238"/>
            <a:chOff x="204" y="935"/>
            <a:chExt cx="3856" cy="3357"/>
          </a:xfrm>
        </p:grpSpPr>
        <p:sp>
          <p:nvSpPr>
            <p:cNvPr id="26628" name="Oval 4"/>
            <p:cNvSpPr/>
            <p:nvPr/>
          </p:nvSpPr>
          <p:spPr>
            <a:xfrm>
              <a:off x="884" y="4091"/>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29" name="Oval 5"/>
            <p:cNvSpPr/>
            <p:nvPr/>
          </p:nvSpPr>
          <p:spPr>
            <a:xfrm>
              <a:off x="1383" y="4091"/>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30" name="Oval 6"/>
            <p:cNvSpPr/>
            <p:nvPr/>
          </p:nvSpPr>
          <p:spPr>
            <a:xfrm>
              <a:off x="1066" y="3638"/>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6631" name="Rectangle 7"/>
            <p:cNvSpPr/>
            <p:nvPr/>
          </p:nvSpPr>
          <p:spPr>
            <a:xfrm>
              <a:off x="703" y="4004"/>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b</a:t>
              </a:r>
              <a:endParaRPr lang="zh-CN" altLang="en-US" sz="2400" i="1">
                <a:latin typeface="Times New Roman" panose="02020603050405020304" pitchFamily="18" charset="0"/>
                <a:ea typeface="宋体" panose="02010600030101010101" pitchFamily="2" charset="-122"/>
              </a:endParaRPr>
            </a:p>
          </p:txBody>
        </p:sp>
        <p:sp>
          <p:nvSpPr>
            <p:cNvPr id="26632" name="Rectangle 8"/>
            <p:cNvSpPr/>
            <p:nvPr/>
          </p:nvSpPr>
          <p:spPr>
            <a:xfrm>
              <a:off x="1500" y="4000"/>
              <a:ext cx="201"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c</a:t>
              </a:r>
              <a:endParaRPr lang="zh-CN" altLang="en-US" sz="2400" i="1">
                <a:latin typeface="Times New Roman" panose="02020603050405020304" pitchFamily="18" charset="0"/>
                <a:ea typeface="宋体" panose="02010600030101010101" pitchFamily="2" charset="-122"/>
              </a:endParaRPr>
            </a:p>
          </p:txBody>
        </p:sp>
        <p:sp>
          <p:nvSpPr>
            <p:cNvPr id="26633" name="Line 9"/>
            <p:cNvSpPr/>
            <p:nvPr/>
          </p:nvSpPr>
          <p:spPr>
            <a:xfrm flipH="1">
              <a:off x="975" y="3864"/>
              <a:ext cx="181" cy="273"/>
            </a:xfrm>
            <a:prstGeom prst="line">
              <a:avLst/>
            </a:prstGeom>
            <a:ln w="28575" cap="flat" cmpd="sng">
              <a:solidFill>
                <a:schemeClr val="tx1"/>
              </a:solidFill>
              <a:prstDash val="solid"/>
              <a:round/>
              <a:headEnd type="none" w="med" len="med"/>
              <a:tailEnd type="none" w="med" len="med"/>
            </a:ln>
          </p:spPr>
        </p:sp>
        <p:sp>
          <p:nvSpPr>
            <p:cNvPr id="26634" name="Line 10"/>
            <p:cNvSpPr/>
            <p:nvPr/>
          </p:nvSpPr>
          <p:spPr>
            <a:xfrm>
              <a:off x="1202" y="3864"/>
              <a:ext cx="226" cy="273"/>
            </a:xfrm>
            <a:prstGeom prst="line">
              <a:avLst/>
            </a:prstGeom>
            <a:ln w="28575" cap="flat" cmpd="sng">
              <a:solidFill>
                <a:schemeClr val="tx1"/>
              </a:solidFill>
              <a:prstDash val="solid"/>
              <a:round/>
              <a:headEnd type="none" w="med" len="med"/>
              <a:tailEnd type="none" w="med" len="med"/>
            </a:ln>
          </p:spPr>
        </p:sp>
        <p:sp>
          <p:nvSpPr>
            <p:cNvPr id="26635" name="Oval 11"/>
            <p:cNvSpPr/>
            <p:nvPr/>
          </p:nvSpPr>
          <p:spPr>
            <a:xfrm>
              <a:off x="430" y="3683"/>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36" name="Rectangle 12"/>
            <p:cNvSpPr/>
            <p:nvPr/>
          </p:nvSpPr>
          <p:spPr>
            <a:xfrm>
              <a:off x="204" y="3638"/>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a</a:t>
              </a:r>
              <a:endParaRPr lang="zh-CN" altLang="en-US" sz="2400" i="1">
                <a:latin typeface="Times New Roman" panose="02020603050405020304" pitchFamily="18" charset="0"/>
                <a:ea typeface="宋体" panose="02010600030101010101" pitchFamily="2" charset="-122"/>
              </a:endParaRPr>
            </a:p>
          </p:txBody>
        </p:sp>
        <p:sp>
          <p:nvSpPr>
            <p:cNvPr id="26637" name="Oval 13"/>
            <p:cNvSpPr/>
            <p:nvPr/>
          </p:nvSpPr>
          <p:spPr>
            <a:xfrm>
              <a:off x="657" y="3093"/>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6638" name="Line 14"/>
            <p:cNvSpPr/>
            <p:nvPr/>
          </p:nvSpPr>
          <p:spPr>
            <a:xfrm flipV="1">
              <a:off x="476" y="3275"/>
              <a:ext cx="272" cy="408"/>
            </a:xfrm>
            <a:prstGeom prst="line">
              <a:avLst/>
            </a:prstGeom>
            <a:ln w="28575" cap="flat" cmpd="sng">
              <a:solidFill>
                <a:schemeClr val="tx1"/>
              </a:solidFill>
              <a:prstDash val="solid"/>
              <a:round/>
              <a:headEnd type="none" w="med" len="med"/>
              <a:tailEnd type="none" w="med" len="med"/>
            </a:ln>
          </p:spPr>
        </p:sp>
        <p:sp>
          <p:nvSpPr>
            <p:cNvPr id="26639" name="Line 15"/>
            <p:cNvSpPr/>
            <p:nvPr/>
          </p:nvSpPr>
          <p:spPr>
            <a:xfrm>
              <a:off x="793" y="3275"/>
              <a:ext cx="318" cy="408"/>
            </a:xfrm>
            <a:prstGeom prst="line">
              <a:avLst/>
            </a:prstGeom>
            <a:ln w="28575" cap="flat" cmpd="sng">
              <a:solidFill>
                <a:schemeClr val="tx1"/>
              </a:solidFill>
              <a:prstDash val="solid"/>
              <a:round/>
              <a:headEnd type="none" w="med" len="med"/>
              <a:tailEnd type="none" w="med" len="med"/>
            </a:ln>
          </p:spPr>
        </p:sp>
        <p:sp>
          <p:nvSpPr>
            <p:cNvPr id="26640" name="Oval 16"/>
            <p:cNvSpPr/>
            <p:nvPr/>
          </p:nvSpPr>
          <p:spPr>
            <a:xfrm>
              <a:off x="1383" y="3093"/>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41" name="Rectangle 17"/>
            <p:cNvSpPr/>
            <p:nvPr/>
          </p:nvSpPr>
          <p:spPr>
            <a:xfrm>
              <a:off x="1519" y="3003"/>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d</a:t>
              </a:r>
              <a:endParaRPr lang="zh-CN" altLang="en-US" sz="2400" i="1">
                <a:latin typeface="Times New Roman" panose="02020603050405020304" pitchFamily="18" charset="0"/>
                <a:ea typeface="宋体" panose="02010600030101010101" pitchFamily="2" charset="-122"/>
              </a:endParaRPr>
            </a:p>
          </p:txBody>
        </p:sp>
        <p:sp>
          <p:nvSpPr>
            <p:cNvPr id="26642" name="Oval 18"/>
            <p:cNvSpPr/>
            <p:nvPr/>
          </p:nvSpPr>
          <p:spPr>
            <a:xfrm>
              <a:off x="975" y="2549"/>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6643" name="Line 19"/>
            <p:cNvSpPr/>
            <p:nvPr/>
          </p:nvSpPr>
          <p:spPr>
            <a:xfrm flipH="1">
              <a:off x="793" y="2776"/>
              <a:ext cx="273" cy="363"/>
            </a:xfrm>
            <a:prstGeom prst="line">
              <a:avLst/>
            </a:prstGeom>
            <a:ln w="28575" cap="flat" cmpd="sng">
              <a:solidFill>
                <a:schemeClr val="tx1"/>
              </a:solidFill>
              <a:prstDash val="solid"/>
              <a:round/>
              <a:headEnd type="none" w="med" len="med"/>
              <a:tailEnd type="none" w="med" len="med"/>
            </a:ln>
          </p:spPr>
        </p:sp>
        <p:sp>
          <p:nvSpPr>
            <p:cNvPr id="26644" name="Line 20"/>
            <p:cNvSpPr/>
            <p:nvPr/>
          </p:nvSpPr>
          <p:spPr>
            <a:xfrm>
              <a:off x="1156" y="2776"/>
              <a:ext cx="272" cy="363"/>
            </a:xfrm>
            <a:prstGeom prst="line">
              <a:avLst/>
            </a:prstGeom>
            <a:ln w="28575" cap="flat" cmpd="sng">
              <a:solidFill>
                <a:schemeClr val="tx1"/>
              </a:solidFill>
              <a:prstDash val="solid"/>
              <a:round/>
              <a:headEnd type="none" w="med" len="med"/>
              <a:tailEnd type="none" w="med" len="med"/>
            </a:ln>
          </p:spPr>
        </p:sp>
        <p:sp>
          <p:nvSpPr>
            <p:cNvPr id="26645" name="Oval 21"/>
            <p:cNvSpPr/>
            <p:nvPr/>
          </p:nvSpPr>
          <p:spPr>
            <a:xfrm>
              <a:off x="1701" y="259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46" name="Rectangle 22"/>
            <p:cNvSpPr/>
            <p:nvPr/>
          </p:nvSpPr>
          <p:spPr>
            <a:xfrm>
              <a:off x="1837" y="2504"/>
              <a:ext cx="201"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endParaRPr lang="zh-CN" altLang="en-US" sz="2400" i="1">
                <a:latin typeface="Times New Roman" panose="02020603050405020304" pitchFamily="18" charset="0"/>
                <a:ea typeface="宋体" panose="02010600030101010101" pitchFamily="2" charset="-122"/>
              </a:endParaRPr>
            </a:p>
          </p:txBody>
        </p:sp>
        <p:sp>
          <p:nvSpPr>
            <p:cNvPr id="26647" name="Oval 23"/>
            <p:cNvSpPr/>
            <p:nvPr/>
          </p:nvSpPr>
          <p:spPr>
            <a:xfrm>
              <a:off x="1292" y="2005"/>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6648" name="Line 24"/>
            <p:cNvSpPr/>
            <p:nvPr/>
          </p:nvSpPr>
          <p:spPr>
            <a:xfrm flipH="1">
              <a:off x="1110" y="2232"/>
              <a:ext cx="273" cy="363"/>
            </a:xfrm>
            <a:prstGeom prst="line">
              <a:avLst/>
            </a:prstGeom>
            <a:ln w="28575" cap="flat" cmpd="sng">
              <a:solidFill>
                <a:schemeClr val="tx1"/>
              </a:solidFill>
              <a:prstDash val="solid"/>
              <a:round/>
              <a:headEnd type="none" w="med" len="med"/>
              <a:tailEnd type="none" w="med" len="med"/>
            </a:ln>
          </p:spPr>
        </p:sp>
        <p:sp>
          <p:nvSpPr>
            <p:cNvPr id="26649" name="Line 25"/>
            <p:cNvSpPr/>
            <p:nvPr/>
          </p:nvSpPr>
          <p:spPr>
            <a:xfrm>
              <a:off x="1473" y="2232"/>
              <a:ext cx="272" cy="363"/>
            </a:xfrm>
            <a:prstGeom prst="line">
              <a:avLst/>
            </a:prstGeom>
            <a:ln w="28575" cap="flat" cmpd="sng">
              <a:solidFill>
                <a:schemeClr val="tx1"/>
              </a:solidFill>
              <a:prstDash val="solid"/>
              <a:round/>
              <a:headEnd type="none" w="med" len="med"/>
              <a:tailEnd type="none" w="med" len="med"/>
            </a:ln>
          </p:spPr>
        </p:sp>
        <p:sp>
          <p:nvSpPr>
            <p:cNvPr id="26650" name="Oval 26"/>
            <p:cNvSpPr/>
            <p:nvPr/>
          </p:nvSpPr>
          <p:spPr>
            <a:xfrm>
              <a:off x="1882" y="1480"/>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6651" name="Line 27"/>
            <p:cNvSpPr/>
            <p:nvPr/>
          </p:nvSpPr>
          <p:spPr>
            <a:xfrm flipH="1">
              <a:off x="1474" y="1661"/>
              <a:ext cx="453" cy="409"/>
            </a:xfrm>
            <a:prstGeom prst="line">
              <a:avLst/>
            </a:prstGeom>
            <a:ln w="28575" cap="flat" cmpd="sng">
              <a:solidFill>
                <a:schemeClr val="tx1"/>
              </a:solidFill>
              <a:prstDash val="solid"/>
              <a:round/>
              <a:headEnd type="none" w="med" len="med"/>
              <a:tailEnd type="none" w="med" len="med"/>
            </a:ln>
          </p:spPr>
        </p:sp>
        <p:sp>
          <p:nvSpPr>
            <p:cNvPr id="26652" name="Line 28"/>
            <p:cNvSpPr/>
            <p:nvPr/>
          </p:nvSpPr>
          <p:spPr>
            <a:xfrm>
              <a:off x="2109" y="1661"/>
              <a:ext cx="317" cy="408"/>
            </a:xfrm>
            <a:prstGeom prst="line">
              <a:avLst/>
            </a:prstGeom>
            <a:ln w="28575" cap="flat" cmpd="sng">
              <a:solidFill>
                <a:schemeClr val="tx1"/>
              </a:solidFill>
              <a:prstDash val="solid"/>
              <a:round/>
              <a:headEnd type="none" w="med" len="med"/>
              <a:tailEnd type="none" w="med" len="med"/>
            </a:ln>
          </p:spPr>
        </p:sp>
        <p:sp>
          <p:nvSpPr>
            <p:cNvPr id="26653" name="Oval 29"/>
            <p:cNvSpPr/>
            <p:nvPr/>
          </p:nvSpPr>
          <p:spPr>
            <a:xfrm>
              <a:off x="2336" y="2024"/>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6654" name="Line 30"/>
            <p:cNvSpPr/>
            <p:nvPr/>
          </p:nvSpPr>
          <p:spPr>
            <a:xfrm flipH="1">
              <a:off x="2154" y="2251"/>
              <a:ext cx="273" cy="363"/>
            </a:xfrm>
            <a:prstGeom prst="line">
              <a:avLst/>
            </a:prstGeom>
            <a:ln w="28575" cap="flat" cmpd="sng">
              <a:solidFill>
                <a:schemeClr val="tx1"/>
              </a:solidFill>
              <a:prstDash val="solid"/>
              <a:round/>
              <a:headEnd type="none" w="med" len="med"/>
              <a:tailEnd type="none" w="med" len="med"/>
            </a:ln>
          </p:spPr>
        </p:sp>
        <p:sp>
          <p:nvSpPr>
            <p:cNvPr id="26655" name="Line 31"/>
            <p:cNvSpPr/>
            <p:nvPr/>
          </p:nvSpPr>
          <p:spPr>
            <a:xfrm>
              <a:off x="2517" y="2251"/>
              <a:ext cx="272" cy="363"/>
            </a:xfrm>
            <a:prstGeom prst="line">
              <a:avLst/>
            </a:prstGeom>
            <a:ln w="28575" cap="flat" cmpd="sng">
              <a:solidFill>
                <a:schemeClr val="tx1"/>
              </a:solidFill>
              <a:prstDash val="solid"/>
              <a:round/>
              <a:headEnd type="none" w="med" len="med"/>
              <a:tailEnd type="none" w="med" len="med"/>
            </a:ln>
          </p:spPr>
        </p:sp>
        <p:sp>
          <p:nvSpPr>
            <p:cNvPr id="26656" name="Oval 32"/>
            <p:cNvSpPr/>
            <p:nvPr/>
          </p:nvSpPr>
          <p:spPr>
            <a:xfrm>
              <a:off x="206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57" name="Oval 33"/>
            <p:cNvSpPr/>
            <p:nvPr/>
          </p:nvSpPr>
          <p:spPr>
            <a:xfrm>
              <a:off x="274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58" name="Rectangle 34"/>
            <p:cNvSpPr/>
            <p:nvPr/>
          </p:nvSpPr>
          <p:spPr>
            <a:xfrm>
              <a:off x="2018" y="2688"/>
              <a:ext cx="180"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f</a:t>
              </a:r>
              <a:endParaRPr lang="zh-CN" altLang="en-US" sz="2400" i="1">
                <a:latin typeface="Times New Roman" panose="02020603050405020304" pitchFamily="18" charset="0"/>
                <a:ea typeface="宋体" panose="02010600030101010101" pitchFamily="2" charset="-122"/>
              </a:endParaRPr>
            </a:p>
          </p:txBody>
        </p:sp>
        <p:sp>
          <p:nvSpPr>
            <p:cNvPr id="26659" name="Rectangle 35"/>
            <p:cNvSpPr/>
            <p:nvPr/>
          </p:nvSpPr>
          <p:spPr>
            <a:xfrm>
              <a:off x="2700" y="2704"/>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g</a:t>
              </a:r>
              <a:endParaRPr lang="zh-CN" altLang="en-US" sz="2400" i="1">
                <a:latin typeface="Times New Roman" panose="02020603050405020304" pitchFamily="18" charset="0"/>
                <a:ea typeface="宋体" panose="02010600030101010101" pitchFamily="2" charset="-122"/>
              </a:endParaRPr>
            </a:p>
          </p:txBody>
        </p:sp>
        <p:sp>
          <p:nvSpPr>
            <p:cNvPr id="26660" name="Oval 36"/>
            <p:cNvSpPr/>
            <p:nvPr/>
          </p:nvSpPr>
          <p:spPr>
            <a:xfrm>
              <a:off x="2653" y="935"/>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6661" name="Oval 37"/>
            <p:cNvSpPr/>
            <p:nvPr/>
          </p:nvSpPr>
          <p:spPr>
            <a:xfrm>
              <a:off x="3288" y="1526"/>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6662" name="Oval 38"/>
            <p:cNvSpPr/>
            <p:nvPr/>
          </p:nvSpPr>
          <p:spPr>
            <a:xfrm>
              <a:off x="3016" y="202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63" name="Rectangle 39"/>
            <p:cNvSpPr/>
            <p:nvPr/>
          </p:nvSpPr>
          <p:spPr>
            <a:xfrm>
              <a:off x="2789" y="1979"/>
              <a:ext cx="223"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h</a:t>
              </a:r>
              <a:endParaRPr lang="zh-CN" altLang="en-US" sz="2400" i="1">
                <a:latin typeface="Times New Roman" panose="02020603050405020304" pitchFamily="18" charset="0"/>
                <a:ea typeface="宋体" panose="02010600030101010101" pitchFamily="2" charset="-122"/>
              </a:endParaRPr>
            </a:p>
          </p:txBody>
        </p:sp>
        <p:sp>
          <p:nvSpPr>
            <p:cNvPr id="26664" name="Line 40"/>
            <p:cNvSpPr/>
            <p:nvPr/>
          </p:nvSpPr>
          <p:spPr>
            <a:xfrm flipV="1">
              <a:off x="2109" y="1117"/>
              <a:ext cx="590" cy="408"/>
            </a:xfrm>
            <a:prstGeom prst="line">
              <a:avLst/>
            </a:prstGeom>
            <a:ln w="28575" cap="flat" cmpd="sng">
              <a:solidFill>
                <a:schemeClr val="tx1"/>
              </a:solidFill>
              <a:prstDash val="solid"/>
              <a:round/>
              <a:headEnd type="none" w="med" len="med"/>
              <a:tailEnd type="none" w="med" len="med"/>
            </a:ln>
          </p:spPr>
        </p:sp>
        <p:sp>
          <p:nvSpPr>
            <p:cNvPr id="26665" name="Line 41"/>
            <p:cNvSpPr/>
            <p:nvPr/>
          </p:nvSpPr>
          <p:spPr>
            <a:xfrm flipV="1">
              <a:off x="3107" y="1706"/>
              <a:ext cx="227" cy="318"/>
            </a:xfrm>
            <a:prstGeom prst="line">
              <a:avLst/>
            </a:prstGeom>
            <a:ln w="28575" cap="flat" cmpd="sng">
              <a:solidFill>
                <a:schemeClr val="tx1"/>
              </a:solidFill>
              <a:prstDash val="solid"/>
              <a:round/>
              <a:headEnd type="none" w="med" len="med"/>
              <a:tailEnd type="none" w="med" len="med"/>
            </a:ln>
          </p:spPr>
        </p:sp>
        <p:sp>
          <p:nvSpPr>
            <p:cNvPr id="26666" name="Line 42"/>
            <p:cNvSpPr/>
            <p:nvPr/>
          </p:nvSpPr>
          <p:spPr>
            <a:xfrm>
              <a:off x="3470" y="1706"/>
              <a:ext cx="226" cy="409"/>
            </a:xfrm>
            <a:prstGeom prst="line">
              <a:avLst/>
            </a:prstGeom>
            <a:ln w="28575" cap="flat" cmpd="sng">
              <a:solidFill>
                <a:schemeClr val="tx1"/>
              </a:solidFill>
              <a:prstDash val="solid"/>
              <a:round/>
              <a:headEnd type="none" w="med" len="med"/>
              <a:tailEnd type="none" w="med" len="med"/>
            </a:ln>
          </p:spPr>
        </p:sp>
        <p:sp>
          <p:nvSpPr>
            <p:cNvPr id="26667" name="Oval 43"/>
            <p:cNvSpPr/>
            <p:nvPr/>
          </p:nvSpPr>
          <p:spPr>
            <a:xfrm>
              <a:off x="3560" y="2024"/>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6668" name="Line 44"/>
            <p:cNvSpPr/>
            <p:nvPr/>
          </p:nvSpPr>
          <p:spPr>
            <a:xfrm flipH="1">
              <a:off x="3334" y="2251"/>
              <a:ext cx="273" cy="363"/>
            </a:xfrm>
            <a:prstGeom prst="line">
              <a:avLst/>
            </a:prstGeom>
            <a:ln w="28575" cap="flat" cmpd="sng">
              <a:solidFill>
                <a:schemeClr val="tx1"/>
              </a:solidFill>
              <a:prstDash val="solid"/>
              <a:round/>
              <a:headEnd type="none" w="med" len="med"/>
              <a:tailEnd type="none" w="med" len="med"/>
            </a:ln>
          </p:spPr>
        </p:sp>
        <p:sp>
          <p:nvSpPr>
            <p:cNvPr id="26669" name="Line 45"/>
            <p:cNvSpPr/>
            <p:nvPr/>
          </p:nvSpPr>
          <p:spPr>
            <a:xfrm>
              <a:off x="3697" y="2251"/>
              <a:ext cx="272" cy="363"/>
            </a:xfrm>
            <a:prstGeom prst="line">
              <a:avLst/>
            </a:prstGeom>
            <a:ln w="28575" cap="flat" cmpd="sng">
              <a:solidFill>
                <a:schemeClr val="tx1"/>
              </a:solidFill>
              <a:prstDash val="solid"/>
              <a:round/>
              <a:headEnd type="none" w="med" len="med"/>
              <a:tailEnd type="none" w="med" len="med"/>
            </a:ln>
          </p:spPr>
        </p:sp>
        <p:sp>
          <p:nvSpPr>
            <p:cNvPr id="26670" name="Oval 46"/>
            <p:cNvSpPr/>
            <p:nvPr/>
          </p:nvSpPr>
          <p:spPr>
            <a:xfrm>
              <a:off x="324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71" name="Oval 47"/>
            <p:cNvSpPr/>
            <p:nvPr/>
          </p:nvSpPr>
          <p:spPr>
            <a:xfrm>
              <a:off x="392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672" name="Rectangle 48"/>
            <p:cNvSpPr/>
            <p:nvPr/>
          </p:nvSpPr>
          <p:spPr>
            <a:xfrm>
              <a:off x="3198" y="2688"/>
              <a:ext cx="169"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i</a:t>
              </a:r>
              <a:endParaRPr lang="zh-CN" altLang="en-US" sz="2400" i="1">
                <a:latin typeface="Times New Roman" panose="02020603050405020304" pitchFamily="18" charset="0"/>
                <a:ea typeface="宋体" panose="02010600030101010101" pitchFamily="2" charset="-122"/>
              </a:endParaRPr>
            </a:p>
          </p:txBody>
        </p:sp>
        <p:sp>
          <p:nvSpPr>
            <p:cNvPr id="26673" name="Rectangle 49"/>
            <p:cNvSpPr/>
            <p:nvPr/>
          </p:nvSpPr>
          <p:spPr>
            <a:xfrm>
              <a:off x="3880" y="2704"/>
              <a:ext cx="169"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j</a:t>
              </a:r>
              <a:endParaRPr lang="zh-CN" altLang="en-US" sz="2400" i="1">
                <a:latin typeface="Times New Roman" panose="02020603050405020304" pitchFamily="18" charset="0"/>
                <a:ea typeface="宋体" panose="02010600030101010101" pitchFamily="2" charset="-122"/>
              </a:endParaRPr>
            </a:p>
          </p:txBody>
        </p:sp>
        <p:sp>
          <p:nvSpPr>
            <p:cNvPr id="26674" name="Line 50"/>
            <p:cNvSpPr/>
            <p:nvPr/>
          </p:nvSpPr>
          <p:spPr>
            <a:xfrm>
              <a:off x="2835" y="1117"/>
              <a:ext cx="544" cy="453"/>
            </a:xfrm>
            <a:prstGeom prst="line">
              <a:avLst/>
            </a:prstGeom>
            <a:ln w="28575" cap="flat" cmpd="sng">
              <a:solidFill>
                <a:schemeClr val="tx1"/>
              </a:solidFill>
              <a:prstDash val="solid"/>
              <a:round/>
              <a:headEnd type="none" w="med" len="med"/>
              <a:tailEnd type="none" w="med" len="med"/>
            </a:ln>
          </p:spPr>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p:txBody>
          <a:bodyPr vert="horz" wrap="square" lIns="91440" tIns="45720" rIns="91440" bIns="45720" anchor="b" anchorCtr="0"/>
          <a:p>
            <a:r>
              <a:rPr lang="zh-CN" altLang="en-US"/>
              <a:t>中缀法</a:t>
            </a:r>
            <a:r>
              <a:rPr lang="en-US" altLang="zh-CN"/>
              <a:t>,</a:t>
            </a:r>
            <a:r>
              <a:rPr lang="zh-CN" altLang="en-US"/>
              <a:t>前缀法</a:t>
            </a:r>
            <a:r>
              <a:rPr lang="en-US" altLang="zh-CN"/>
              <a:t>,</a:t>
            </a:r>
            <a:r>
              <a:rPr lang="zh-CN" altLang="en-US"/>
              <a:t>后缀法</a:t>
            </a:r>
            <a:endParaRPr lang="zh-CN" altLang="en-US"/>
          </a:p>
        </p:txBody>
      </p:sp>
      <p:sp>
        <p:nvSpPr>
          <p:cNvPr id="27650" name="Rectangle 3"/>
          <p:cNvSpPr>
            <a:spLocks noGrp="1"/>
          </p:cNvSpPr>
          <p:nvPr>
            <p:ph idx="1"/>
          </p:nvPr>
        </p:nvSpPr>
        <p:spPr/>
        <p:txBody>
          <a:bodyPr vert="horz" wrap="square" lIns="91440" tIns="45720" rIns="91440" bIns="45720" anchor="t"/>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中缀记</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符号</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法</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endParaRPr kumimoji="0" lang="en-US" altLang="zh-CN" sz="2800" b="1" i="0" u="none" strike="noStrike" kern="0" cap="none" spc="0" normalizeH="0" baseline="0" noProof="1">
              <a:solidFill>
                <a:schemeClr val="tx1"/>
              </a:solidFill>
              <a:latin typeface="+mn-lt"/>
              <a:ea typeface="+mn-ea"/>
              <a:cs typeface="黑体" panose="02010609060101010101" pitchFamily="49" charset="-122"/>
            </a:endParaRPr>
          </a:p>
          <a:p>
            <a:pPr marL="0" marR="0" indent="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    中序行</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遍</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前缀记法</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波兰记法</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endParaRPr kumimoji="0" lang="en-US" altLang="zh-CN"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    前序</a:t>
            </a:r>
            <a:r>
              <a:rPr lang="zh-CN" altLang="en-US">
                <a:sym typeface="+mn-ea"/>
              </a:rPr>
              <a:t>行遍</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Char char="n"/>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后缀记法</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逆波兰记法</a:t>
            </a:r>
            <a:r>
              <a:rPr kumimoji="0" lang="en-US" altLang="zh-CN" sz="2800" b="1" i="0" u="none" strike="noStrike" kern="0" cap="none" spc="0" normalizeH="0" baseline="0" noProof="1">
                <a:solidFill>
                  <a:schemeClr val="tx1"/>
                </a:solidFill>
                <a:latin typeface="+mn-lt"/>
                <a:ea typeface="+mn-ea"/>
                <a:cs typeface="黑体" panose="02010609060101010101" pitchFamily="49" charset="-122"/>
              </a:rPr>
              <a:t>):</a:t>
            </a:r>
            <a:endParaRPr kumimoji="0" lang="en-US" altLang="zh-CN" sz="2800" b="1" i="0" u="none" strike="noStrike" kern="0" cap="none" spc="0" normalizeH="0" baseline="0" noProof="1">
              <a:solidFill>
                <a:schemeClr val="tx1"/>
              </a:solidFill>
              <a:latin typeface="+mn-lt"/>
              <a:ea typeface="+mn-ea"/>
              <a:cs typeface="黑体" panose="02010609060101010101" pitchFamily="49" charset="-122"/>
            </a:endParaRPr>
          </a:p>
          <a:p>
            <a:pPr marL="342900" marR="0" indent="-342900" algn="l" defTabSz="914400" rtl="0" eaLnBrk="0" fontAlgn="base" latinLnBrk="0" hangingPunct="0">
              <a:lnSpc>
                <a:spcPct val="110000"/>
              </a:lnSpc>
              <a:spcBef>
                <a:spcPct val="30000"/>
              </a:spcBef>
              <a:spcAft>
                <a:spcPct val="0"/>
              </a:spcAft>
              <a:buClr>
                <a:schemeClr val="folHlink"/>
              </a:buClr>
              <a:buSzPct val="75000"/>
              <a:buFont typeface="Wingdings" panose="05000000000000000000" pitchFamily="2" charset="2"/>
              <a:buNone/>
            </a:pPr>
            <a:r>
              <a:rPr kumimoji="0" lang="zh-CN" altLang="en-US" sz="2800" b="1" i="0" u="none" strike="noStrike" kern="0" cap="none" spc="0" normalizeH="0" baseline="0" noProof="1">
                <a:solidFill>
                  <a:schemeClr val="tx1"/>
                </a:solidFill>
                <a:latin typeface="+mn-lt"/>
                <a:ea typeface="+mn-ea"/>
                <a:cs typeface="黑体" panose="02010609060101010101" pitchFamily="49" charset="-122"/>
              </a:rPr>
              <a:t>     后序</a:t>
            </a:r>
            <a:r>
              <a:rPr lang="zh-CN" altLang="en-US">
                <a:sym typeface="+mn-ea"/>
              </a:rPr>
              <a:t>行遍</a:t>
            </a:r>
            <a:endParaRPr kumimoji="0" lang="zh-CN" altLang="en-US" sz="2800" b="1" i="0" u="none" strike="noStrike" kern="0" cap="none" spc="0" normalizeH="0" baseline="0" noProof="1">
              <a:solidFill>
                <a:schemeClr val="tx1"/>
              </a:solidFill>
              <a:latin typeface="+mn-lt"/>
              <a:ea typeface="+mn-ea"/>
              <a:cs typeface="黑体" panose="02010609060101010101" pitchFamily="49" charset="-122"/>
            </a:endParaRPr>
          </a:p>
        </p:txBody>
      </p:sp>
      <p:grpSp>
        <p:nvGrpSpPr>
          <p:cNvPr id="27651" name="Group 4"/>
          <p:cNvGrpSpPr/>
          <p:nvPr/>
        </p:nvGrpSpPr>
        <p:grpSpPr>
          <a:xfrm>
            <a:off x="2843213" y="1196975"/>
            <a:ext cx="6121400" cy="5329238"/>
            <a:chOff x="204" y="935"/>
            <a:chExt cx="3856" cy="3357"/>
          </a:xfrm>
        </p:grpSpPr>
        <p:sp>
          <p:nvSpPr>
            <p:cNvPr id="27652" name="Oval 5"/>
            <p:cNvSpPr/>
            <p:nvPr/>
          </p:nvSpPr>
          <p:spPr>
            <a:xfrm>
              <a:off x="884" y="4091"/>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53" name="Oval 6"/>
            <p:cNvSpPr/>
            <p:nvPr/>
          </p:nvSpPr>
          <p:spPr>
            <a:xfrm>
              <a:off x="1383" y="4091"/>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54" name="Oval 7"/>
            <p:cNvSpPr/>
            <p:nvPr/>
          </p:nvSpPr>
          <p:spPr>
            <a:xfrm>
              <a:off x="1066" y="3638"/>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7655" name="Rectangle 8"/>
            <p:cNvSpPr/>
            <p:nvPr/>
          </p:nvSpPr>
          <p:spPr>
            <a:xfrm>
              <a:off x="703" y="4004"/>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b</a:t>
              </a:r>
              <a:endParaRPr lang="zh-CN" altLang="en-US" sz="2400" i="1">
                <a:latin typeface="Times New Roman" panose="02020603050405020304" pitchFamily="18" charset="0"/>
                <a:ea typeface="宋体" panose="02010600030101010101" pitchFamily="2" charset="-122"/>
              </a:endParaRPr>
            </a:p>
          </p:txBody>
        </p:sp>
        <p:sp>
          <p:nvSpPr>
            <p:cNvPr id="27656" name="Rectangle 9"/>
            <p:cNvSpPr/>
            <p:nvPr/>
          </p:nvSpPr>
          <p:spPr>
            <a:xfrm>
              <a:off x="1500" y="4000"/>
              <a:ext cx="201"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c</a:t>
              </a:r>
              <a:endParaRPr lang="zh-CN" altLang="en-US" sz="2400" i="1">
                <a:latin typeface="Times New Roman" panose="02020603050405020304" pitchFamily="18" charset="0"/>
                <a:ea typeface="宋体" panose="02010600030101010101" pitchFamily="2" charset="-122"/>
              </a:endParaRPr>
            </a:p>
          </p:txBody>
        </p:sp>
        <p:sp>
          <p:nvSpPr>
            <p:cNvPr id="27657" name="Line 10"/>
            <p:cNvSpPr/>
            <p:nvPr/>
          </p:nvSpPr>
          <p:spPr>
            <a:xfrm flipH="1">
              <a:off x="975" y="3864"/>
              <a:ext cx="181" cy="273"/>
            </a:xfrm>
            <a:prstGeom prst="line">
              <a:avLst/>
            </a:prstGeom>
            <a:ln w="28575" cap="flat" cmpd="sng">
              <a:solidFill>
                <a:schemeClr val="tx1"/>
              </a:solidFill>
              <a:prstDash val="solid"/>
              <a:round/>
              <a:headEnd type="none" w="med" len="med"/>
              <a:tailEnd type="none" w="med" len="med"/>
            </a:ln>
          </p:spPr>
        </p:sp>
        <p:sp>
          <p:nvSpPr>
            <p:cNvPr id="27658" name="Line 11"/>
            <p:cNvSpPr/>
            <p:nvPr/>
          </p:nvSpPr>
          <p:spPr>
            <a:xfrm>
              <a:off x="1202" y="3864"/>
              <a:ext cx="226" cy="273"/>
            </a:xfrm>
            <a:prstGeom prst="line">
              <a:avLst/>
            </a:prstGeom>
            <a:ln w="28575" cap="flat" cmpd="sng">
              <a:solidFill>
                <a:schemeClr val="tx1"/>
              </a:solidFill>
              <a:prstDash val="solid"/>
              <a:round/>
              <a:headEnd type="none" w="med" len="med"/>
              <a:tailEnd type="none" w="med" len="med"/>
            </a:ln>
          </p:spPr>
        </p:sp>
        <p:sp>
          <p:nvSpPr>
            <p:cNvPr id="27659" name="Oval 12"/>
            <p:cNvSpPr/>
            <p:nvPr/>
          </p:nvSpPr>
          <p:spPr>
            <a:xfrm>
              <a:off x="430" y="3683"/>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60" name="Rectangle 13"/>
            <p:cNvSpPr/>
            <p:nvPr/>
          </p:nvSpPr>
          <p:spPr>
            <a:xfrm>
              <a:off x="204" y="3638"/>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a</a:t>
              </a:r>
              <a:endParaRPr lang="zh-CN" altLang="en-US" sz="2400" i="1">
                <a:latin typeface="Times New Roman" panose="02020603050405020304" pitchFamily="18" charset="0"/>
                <a:ea typeface="宋体" panose="02010600030101010101" pitchFamily="2" charset="-122"/>
              </a:endParaRPr>
            </a:p>
          </p:txBody>
        </p:sp>
        <p:sp>
          <p:nvSpPr>
            <p:cNvPr id="27661" name="Oval 14"/>
            <p:cNvSpPr/>
            <p:nvPr/>
          </p:nvSpPr>
          <p:spPr>
            <a:xfrm>
              <a:off x="657" y="3093"/>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7662" name="Line 15"/>
            <p:cNvSpPr/>
            <p:nvPr/>
          </p:nvSpPr>
          <p:spPr>
            <a:xfrm flipV="1">
              <a:off x="476" y="3275"/>
              <a:ext cx="272" cy="408"/>
            </a:xfrm>
            <a:prstGeom prst="line">
              <a:avLst/>
            </a:prstGeom>
            <a:ln w="28575" cap="flat" cmpd="sng">
              <a:solidFill>
                <a:schemeClr val="tx1"/>
              </a:solidFill>
              <a:prstDash val="solid"/>
              <a:round/>
              <a:headEnd type="none" w="med" len="med"/>
              <a:tailEnd type="none" w="med" len="med"/>
            </a:ln>
          </p:spPr>
        </p:sp>
        <p:sp>
          <p:nvSpPr>
            <p:cNvPr id="27663" name="Line 16"/>
            <p:cNvSpPr/>
            <p:nvPr/>
          </p:nvSpPr>
          <p:spPr>
            <a:xfrm>
              <a:off x="793" y="3275"/>
              <a:ext cx="318" cy="408"/>
            </a:xfrm>
            <a:prstGeom prst="line">
              <a:avLst/>
            </a:prstGeom>
            <a:ln w="28575" cap="flat" cmpd="sng">
              <a:solidFill>
                <a:schemeClr val="tx1"/>
              </a:solidFill>
              <a:prstDash val="solid"/>
              <a:round/>
              <a:headEnd type="none" w="med" len="med"/>
              <a:tailEnd type="none" w="med" len="med"/>
            </a:ln>
          </p:spPr>
        </p:sp>
        <p:sp>
          <p:nvSpPr>
            <p:cNvPr id="27664" name="Oval 17"/>
            <p:cNvSpPr/>
            <p:nvPr/>
          </p:nvSpPr>
          <p:spPr>
            <a:xfrm>
              <a:off x="1383" y="3093"/>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65" name="Rectangle 18"/>
            <p:cNvSpPr/>
            <p:nvPr/>
          </p:nvSpPr>
          <p:spPr>
            <a:xfrm>
              <a:off x="1519" y="3003"/>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d</a:t>
              </a:r>
              <a:endParaRPr lang="zh-CN" altLang="en-US" sz="2400" i="1">
                <a:latin typeface="Times New Roman" panose="02020603050405020304" pitchFamily="18" charset="0"/>
                <a:ea typeface="宋体" panose="02010600030101010101" pitchFamily="2" charset="-122"/>
              </a:endParaRPr>
            </a:p>
          </p:txBody>
        </p:sp>
        <p:sp>
          <p:nvSpPr>
            <p:cNvPr id="27666" name="Oval 19"/>
            <p:cNvSpPr/>
            <p:nvPr/>
          </p:nvSpPr>
          <p:spPr>
            <a:xfrm>
              <a:off x="975" y="2549"/>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7667" name="Line 20"/>
            <p:cNvSpPr/>
            <p:nvPr/>
          </p:nvSpPr>
          <p:spPr>
            <a:xfrm flipH="1">
              <a:off x="793" y="2776"/>
              <a:ext cx="273" cy="363"/>
            </a:xfrm>
            <a:prstGeom prst="line">
              <a:avLst/>
            </a:prstGeom>
            <a:ln w="28575" cap="flat" cmpd="sng">
              <a:solidFill>
                <a:schemeClr val="tx1"/>
              </a:solidFill>
              <a:prstDash val="solid"/>
              <a:round/>
              <a:headEnd type="none" w="med" len="med"/>
              <a:tailEnd type="none" w="med" len="med"/>
            </a:ln>
          </p:spPr>
        </p:sp>
        <p:sp>
          <p:nvSpPr>
            <p:cNvPr id="27668" name="Line 21"/>
            <p:cNvSpPr/>
            <p:nvPr/>
          </p:nvSpPr>
          <p:spPr>
            <a:xfrm>
              <a:off x="1156" y="2776"/>
              <a:ext cx="272" cy="363"/>
            </a:xfrm>
            <a:prstGeom prst="line">
              <a:avLst/>
            </a:prstGeom>
            <a:ln w="28575" cap="flat" cmpd="sng">
              <a:solidFill>
                <a:schemeClr val="tx1"/>
              </a:solidFill>
              <a:prstDash val="solid"/>
              <a:round/>
              <a:headEnd type="none" w="med" len="med"/>
              <a:tailEnd type="none" w="med" len="med"/>
            </a:ln>
          </p:spPr>
        </p:sp>
        <p:sp>
          <p:nvSpPr>
            <p:cNvPr id="27669" name="Oval 22"/>
            <p:cNvSpPr/>
            <p:nvPr/>
          </p:nvSpPr>
          <p:spPr>
            <a:xfrm>
              <a:off x="1701" y="259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70" name="Rectangle 23"/>
            <p:cNvSpPr/>
            <p:nvPr/>
          </p:nvSpPr>
          <p:spPr>
            <a:xfrm>
              <a:off x="1837" y="2504"/>
              <a:ext cx="201"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endParaRPr lang="zh-CN" altLang="en-US" sz="2400" i="1">
                <a:latin typeface="Times New Roman" panose="02020603050405020304" pitchFamily="18" charset="0"/>
                <a:ea typeface="宋体" panose="02010600030101010101" pitchFamily="2" charset="-122"/>
              </a:endParaRPr>
            </a:p>
          </p:txBody>
        </p:sp>
        <p:sp>
          <p:nvSpPr>
            <p:cNvPr id="27671" name="Oval 24"/>
            <p:cNvSpPr/>
            <p:nvPr/>
          </p:nvSpPr>
          <p:spPr>
            <a:xfrm>
              <a:off x="1292" y="2005"/>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7672" name="Line 25"/>
            <p:cNvSpPr/>
            <p:nvPr/>
          </p:nvSpPr>
          <p:spPr>
            <a:xfrm flipH="1">
              <a:off x="1110" y="2232"/>
              <a:ext cx="273" cy="363"/>
            </a:xfrm>
            <a:prstGeom prst="line">
              <a:avLst/>
            </a:prstGeom>
            <a:ln w="28575" cap="flat" cmpd="sng">
              <a:solidFill>
                <a:schemeClr val="tx1"/>
              </a:solidFill>
              <a:prstDash val="solid"/>
              <a:round/>
              <a:headEnd type="none" w="med" len="med"/>
              <a:tailEnd type="none" w="med" len="med"/>
            </a:ln>
          </p:spPr>
        </p:sp>
        <p:sp>
          <p:nvSpPr>
            <p:cNvPr id="27673" name="Line 26"/>
            <p:cNvSpPr/>
            <p:nvPr/>
          </p:nvSpPr>
          <p:spPr>
            <a:xfrm>
              <a:off x="1473" y="2232"/>
              <a:ext cx="272" cy="363"/>
            </a:xfrm>
            <a:prstGeom prst="line">
              <a:avLst/>
            </a:prstGeom>
            <a:ln w="28575" cap="flat" cmpd="sng">
              <a:solidFill>
                <a:schemeClr val="tx1"/>
              </a:solidFill>
              <a:prstDash val="solid"/>
              <a:round/>
              <a:headEnd type="none" w="med" len="med"/>
              <a:tailEnd type="none" w="med" len="med"/>
            </a:ln>
          </p:spPr>
        </p:sp>
        <p:sp>
          <p:nvSpPr>
            <p:cNvPr id="27674" name="Oval 27"/>
            <p:cNvSpPr/>
            <p:nvPr/>
          </p:nvSpPr>
          <p:spPr>
            <a:xfrm>
              <a:off x="1882" y="1480"/>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7675" name="Line 28"/>
            <p:cNvSpPr/>
            <p:nvPr/>
          </p:nvSpPr>
          <p:spPr>
            <a:xfrm flipH="1">
              <a:off x="1474" y="1661"/>
              <a:ext cx="453" cy="409"/>
            </a:xfrm>
            <a:prstGeom prst="line">
              <a:avLst/>
            </a:prstGeom>
            <a:ln w="28575" cap="flat" cmpd="sng">
              <a:solidFill>
                <a:schemeClr val="tx1"/>
              </a:solidFill>
              <a:prstDash val="solid"/>
              <a:round/>
              <a:headEnd type="none" w="med" len="med"/>
              <a:tailEnd type="none" w="med" len="med"/>
            </a:ln>
          </p:spPr>
        </p:sp>
        <p:sp>
          <p:nvSpPr>
            <p:cNvPr id="27676" name="Line 29"/>
            <p:cNvSpPr/>
            <p:nvPr/>
          </p:nvSpPr>
          <p:spPr>
            <a:xfrm>
              <a:off x="2109" y="1661"/>
              <a:ext cx="317" cy="408"/>
            </a:xfrm>
            <a:prstGeom prst="line">
              <a:avLst/>
            </a:prstGeom>
            <a:ln w="28575" cap="flat" cmpd="sng">
              <a:solidFill>
                <a:schemeClr val="tx1"/>
              </a:solidFill>
              <a:prstDash val="solid"/>
              <a:round/>
              <a:headEnd type="none" w="med" len="med"/>
              <a:tailEnd type="none" w="med" len="med"/>
            </a:ln>
          </p:spPr>
        </p:sp>
        <p:sp>
          <p:nvSpPr>
            <p:cNvPr id="27677" name="Oval 30"/>
            <p:cNvSpPr/>
            <p:nvPr/>
          </p:nvSpPr>
          <p:spPr>
            <a:xfrm>
              <a:off x="2336" y="2024"/>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7678" name="Line 31"/>
            <p:cNvSpPr/>
            <p:nvPr/>
          </p:nvSpPr>
          <p:spPr>
            <a:xfrm flipH="1">
              <a:off x="2154" y="2251"/>
              <a:ext cx="273" cy="363"/>
            </a:xfrm>
            <a:prstGeom prst="line">
              <a:avLst/>
            </a:prstGeom>
            <a:ln w="28575" cap="flat" cmpd="sng">
              <a:solidFill>
                <a:schemeClr val="tx1"/>
              </a:solidFill>
              <a:prstDash val="solid"/>
              <a:round/>
              <a:headEnd type="none" w="med" len="med"/>
              <a:tailEnd type="none" w="med" len="med"/>
            </a:ln>
          </p:spPr>
        </p:sp>
        <p:sp>
          <p:nvSpPr>
            <p:cNvPr id="27679" name="Line 32"/>
            <p:cNvSpPr/>
            <p:nvPr/>
          </p:nvSpPr>
          <p:spPr>
            <a:xfrm>
              <a:off x="2517" y="2251"/>
              <a:ext cx="272" cy="363"/>
            </a:xfrm>
            <a:prstGeom prst="line">
              <a:avLst/>
            </a:prstGeom>
            <a:ln w="28575" cap="flat" cmpd="sng">
              <a:solidFill>
                <a:schemeClr val="tx1"/>
              </a:solidFill>
              <a:prstDash val="solid"/>
              <a:round/>
              <a:headEnd type="none" w="med" len="med"/>
              <a:tailEnd type="none" w="med" len="med"/>
            </a:ln>
          </p:spPr>
        </p:sp>
        <p:sp>
          <p:nvSpPr>
            <p:cNvPr id="27680" name="Oval 33"/>
            <p:cNvSpPr/>
            <p:nvPr/>
          </p:nvSpPr>
          <p:spPr>
            <a:xfrm>
              <a:off x="206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81" name="Oval 34"/>
            <p:cNvSpPr/>
            <p:nvPr/>
          </p:nvSpPr>
          <p:spPr>
            <a:xfrm>
              <a:off x="274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82" name="Rectangle 35"/>
            <p:cNvSpPr/>
            <p:nvPr/>
          </p:nvSpPr>
          <p:spPr>
            <a:xfrm>
              <a:off x="2018" y="2688"/>
              <a:ext cx="180"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f</a:t>
              </a:r>
              <a:endParaRPr lang="zh-CN" altLang="en-US" sz="2400" i="1">
                <a:latin typeface="Times New Roman" panose="02020603050405020304" pitchFamily="18" charset="0"/>
                <a:ea typeface="宋体" panose="02010600030101010101" pitchFamily="2" charset="-122"/>
              </a:endParaRPr>
            </a:p>
          </p:txBody>
        </p:sp>
        <p:sp>
          <p:nvSpPr>
            <p:cNvPr id="27683" name="Rectangle 36"/>
            <p:cNvSpPr/>
            <p:nvPr/>
          </p:nvSpPr>
          <p:spPr>
            <a:xfrm>
              <a:off x="2700" y="2704"/>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g</a:t>
              </a:r>
              <a:endParaRPr lang="zh-CN" altLang="en-US" sz="2400" i="1">
                <a:latin typeface="Times New Roman" panose="02020603050405020304" pitchFamily="18" charset="0"/>
                <a:ea typeface="宋体" panose="02010600030101010101" pitchFamily="2" charset="-122"/>
              </a:endParaRPr>
            </a:p>
          </p:txBody>
        </p:sp>
        <p:sp>
          <p:nvSpPr>
            <p:cNvPr id="27684" name="Oval 37"/>
            <p:cNvSpPr/>
            <p:nvPr/>
          </p:nvSpPr>
          <p:spPr>
            <a:xfrm>
              <a:off x="2653" y="935"/>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7685" name="Oval 38"/>
            <p:cNvSpPr/>
            <p:nvPr/>
          </p:nvSpPr>
          <p:spPr>
            <a:xfrm>
              <a:off x="3288" y="1526"/>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7686" name="Oval 39"/>
            <p:cNvSpPr/>
            <p:nvPr/>
          </p:nvSpPr>
          <p:spPr>
            <a:xfrm>
              <a:off x="3016" y="202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87" name="Rectangle 40"/>
            <p:cNvSpPr/>
            <p:nvPr/>
          </p:nvSpPr>
          <p:spPr>
            <a:xfrm>
              <a:off x="2789" y="1979"/>
              <a:ext cx="223"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h</a:t>
              </a:r>
              <a:endParaRPr lang="zh-CN" altLang="en-US" sz="2400" i="1">
                <a:latin typeface="Times New Roman" panose="02020603050405020304" pitchFamily="18" charset="0"/>
                <a:ea typeface="宋体" panose="02010600030101010101" pitchFamily="2" charset="-122"/>
              </a:endParaRPr>
            </a:p>
          </p:txBody>
        </p:sp>
        <p:sp>
          <p:nvSpPr>
            <p:cNvPr id="27688" name="Line 41"/>
            <p:cNvSpPr/>
            <p:nvPr/>
          </p:nvSpPr>
          <p:spPr>
            <a:xfrm flipV="1">
              <a:off x="2109" y="1117"/>
              <a:ext cx="590" cy="408"/>
            </a:xfrm>
            <a:prstGeom prst="line">
              <a:avLst/>
            </a:prstGeom>
            <a:ln w="28575" cap="flat" cmpd="sng">
              <a:solidFill>
                <a:schemeClr val="tx1"/>
              </a:solidFill>
              <a:prstDash val="solid"/>
              <a:round/>
              <a:headEnd type="none" w="med" len="med"/>
              <a:tailEnd type="none" w="med" len="med"/>
            </a:ln>
          </p:spPr>
        </p:sp>
        <p:sp>
          <p:nvSpPr>
            <p:cNvPr id="27689" name="Line 42"/>
            <p:cNvSpPr/>
            <p:nvPr/>
          </p:nvSpPr>
          <p:spPr>
            <a:xfrm flipV="1">
              <a:off x="3107" y="1706"/>
              <a:ext cx="227" cy="318"/>
            </a:xfrm>
            <a:prstGeom prst="line">
              <a:avLst/>
            </a:prstGeom>
            <a:ln w="28575" cap="flat" cmpd="sng">
              <a:solidFill>
                <a:schemeClr val="tx1"/>
              </a:solidFill>
              <a:prstDash val="solid"/>
              <a:round/>
              <a:headEnd type="none" w="med" len="med"/>
              <a:tailEnd type="none" w="med" len="med"/>
            </a:ln>
          </p:spPr>
        </p:sp>
        <p:sp>
          <p:nvSpPr>
            <p:cNvPr id="27690" name="Line 43"/>
            <p:cNvSpPr/>
            <p:nvPr/>
          </p:nvSpPr>
          <p:spPr>
            <a:xfrm>
              <a:off x="3470" y="1706"/>
              <a:ext cx="226" cy="409"/>
            </a:xfrm>
            <a:prstGeom prst="line">
              <a:avLst/>
            </a:prstGeom>
            <a:ln w="28575" cap="flat" cmpd="sng">
              <a:solidFill>
                <a:schemeClr val="tx1"/>
              </a:solidFill>
              <a:prstDash val="solid"/>
              <a:round/>
              <a:headEnd type="none" w="med" len="med"/>
              <a:tailEnd type="none" w="med" len="med"/>
            </a:ln>
          </p:spPr>
        </p:sp>
        <p:sp>
          <p:nvSpPr>
            <p:cNvPr id="27691" name="Oval 44"/>
            <p:cNvSpPr/>
            <p:nvPr/>
          </p:nvSpPr>
          <p:spPr>
            <a:xfrm>
              <a:off x="3560" y="2024"/>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7692" name="Line 45"/>
            <p:cNvSpPr/>
            <p:nvPr/>
          </p:nvSpPr>
          <p:spPr>
            <a:xfrm flipH="1">
              <a:off x="3334" y="2251"/>
              <a:ext cx="273" cy="363"/>
            </a:xfrm>
            <a:prstGeom prst="line">
              <a:avLst/>
            </a:prstGeom>
            <a:ln w="28575" cap="flat" cmpd="sng">
              <a:solidFill>
                <a:schemeClr val="tx1"/>
              </a:solidFill>
              <a:prstDash val="solid"/>
              <a:round/>
              <a:headEnd type="none" w="med" len="med"/>
              <a:tailEnd type="none" w="med" len="med"/>
            </a:ln>
          </p:spPr>
        </p:sp>
        <p:sp>
          <p:nvSpPr>
            <p:cNvPr id="27693" name="Line 46"/>
            <p:cNvSpPr/>
            <p:nvPr/>
          </p:nvSpPr>
          <p:spPr>
            <a:xfrm>
              <a:off x="3697" y="2251"/>
              <a:ext cx="272" cy="363"/>
            </a:xfrm>
            <a:prstGeom prst="line">
              <a:avLst/>
            </a:prstGeom>
            <a:ln w="28575" cap="flat" cmpd="sng">
              <a:solidFill>
                <a:schemeClr val="tx1"/>
              </a:solidFill>
              <a:prstDash val="solid"/>
              <a:round/>
              <a:headEnd type="none" w="med" len="med"/>
              <a:tailEnd type="none" w="med" len="med"/>
            </a:ln>
          </p:spPr>
        </p:sp>
        <p:sp>
          <p:nvSpPr>
            <p:cNvPr id="27694" name="Oval 47"/>
            <p:cNvSpPr/>
            <p:nvPr/>
          </p:nvSpPr>
          <p:spPr>
            <a:xfrm>
              <a:off x="324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95" name="Oval 48"/>
            <p:cNvSpPr/>
            <p:nvPr/>
          </p:nvSpPr>
          <p:spPr>
            <a:xfrm>
              <a:off x="392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7696" name="Rectangle 49"/>
            <p:cNvSpPr/>
            <p:nvPr/>
          </p:nvSpPr>
          <p:spPr>
            <a:xfrm>
              <a:off x="3198" y="2688"/>
              <a:ext cx="169"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i</a:t>
              </a:r>
              <a:endParaRPr lang="zh-CN" altLang="en-US" sz="2400" i="1">
                <a:latin typeface="Times New Roman" panose="02020603050405020304" pitchFamily="18" charset="0"/>
                <a:ea typeface="宋体" panose="02010600030101010101" pitchFamily="2" charset="-122"/>
              </a:endParaRPr>
            </a:p>
          </p:txBody>
        </p:sp>
        <p:sp>
          <p:nvSpPr>
            <p:cNvPr id="27697" name="Rectangle 50"/>
            <p:cNvSpPr/>
            <p:nvPr/>
          </p:nvSpPr>
          <p:spPr>
            <a:xfrm>
              <a:off x="3880" y="2704"/>
              <a:ext cx="169"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j</a:t>
              </a:r>
              <a:endParaRPr lang="zh-CN" altLang="en-US" sz="2400" i="1">
                <a:latin typeface="Times New Roman" panose="02020603050405020304" pitchFamily="18" charset="0"/>
                <a:ea typeface="宋体" panose="02010600030101010101" pitchFamily="2" charset="-122"/>
              </a:endParaRPr>
            </a:p>
          </p:txBody>
        </p:sp>
        <p:sp>
          <p:nvSpPr>
            <p:cNvPr id="27698" name="Line 51"/>
            <p:cNvSpPr/>
            <p:nvPr/>
          </p:nvSpPr>
          <p:spPr>
            <a:xfrm>
              <a:off x="2835" y="1117"/>
              <a:ext cx="544" cy="453"/>
            </a:xfrm>
            <a:prstGeom prst="line">
              <a:avLst/>
            </a:prstGeom>
            <a:ln w="28575" cap="flat" cmpd="sng">
              <a:solidFill>
                <a:schemeClr val="tx1"/>
              </a:solidFill>
              <a:prstDash val="solid"/>
              <a:round/>
              <a:headEnd type="none" w="med" len="med"/>
              <a:tailEnd type="none" w="med" len="med"/>
            </a:ln>
          </p:spPr>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p:txBody>
          <a:bodyPr vert="horz" wrap="square" lIns="91440" tIns="45720" rIns="91440" bIns="45720" anchor="b" anchorCtr="0"/>
          <a:p>
            <a:r>
              <a:rPr lang="zh-CN" altLang="en-US"/>
              <a:t>举例</a:t>
            </a:r>
            <a:endParaRPr lang="zh-CN" altLang="en-US"/>
          </a:p>
        </p:txBody>
      </p:sp>
      <p:sp>
        <p:nvSpPr>
          <p:cNvPr id="28674" name="Rectangle 3"/>
          <p:cNvSpPr>
            <a:spLocks noGrp="1"/>
          </p:cNvSpPr>
          <p:nvPr>
            <p:ph idx="1"/>
          </p:nvPr>
        </p:nvSpPr>
        <p:spPr/>
        <p:txBody>
          <a:bodyPr vert="horz" wrap="square" lIns="91440" tIns="45720" rIns="91440" bIns="45720" anchor="t" anchorCtr="0"/>
          <a:p>
            <a:r>
              <a:rPr lang="zh-CN" altLang="en-US"/>
              <a:t>中缀</a:t>
            </a:r>
            <a:r>
              <a:rPr lang="en-US" altLang="zh-CN"/>
              <a:t>:</a:t>
            </a:r>
            <a:endParaRPr lang="en-US" altLang="zh-CN"/>
          </a:p>
          <a:p>
            <a:pPr>
              <a:buNone/>
            </a:pPr>
            <a:r>
              <a:rPr lang="en-US" altLang="zh-CN"/>
              <a:t> ((</a:t>
            </a:r>
            <a:r>
              <a:rPr lang="en-US" altLang="zh-CN" i="1"/>
              <a:t>a</a:t>
            </a:r>
            <a:r>
              <a:rPr lang="en-US" altLang="zh-CN"/>
              <a:t>∗(</a:t>
            </a:r>
            <a:r>
              <a:rPr lang="en-US" altLang="zh-CN" i="1"/>
              <a:t>b</a:t>
            </a:r>
            <a:r>
              <a:rPr lang="en-US" altLang="zh-CN"/>
              <a:t>+</a:t>
            </a:r>
            <a:r>
              <a:rPr lang="en-US" altLang="zh-CN" i="1"/>
              <a:t>c</a:t>
            </a:r>
            <a:r>
              <a:rPr lang="en-US" altLang="zh-CN"/>
              <a:t>))∗</a:t>
            </a:r>
            <a:r>
              <a:rPr lang="en-US" altLang="zh-CN" i="1"/>
              <a:t>d</a:t>
            </a:r>
            <a:r>
              <a:rPr lang="en-US" altLang="zh-CN"/>
              <a:t>-</a:t>
            </a:r>
            <a:r>
              <a:rPr lang="en-US" altLang="zh-CN" i="1"/>
              <a:t>e</a:t>
            </a:r>
            <a:r>
              <a:rPr lang="en-US" altLang="zh-CN"/>
              <a:t>)÷(</a:t>
            </a:r>
            <a:r>
              <a:rPr lang="en-US" altLang="zh-CN" i="1"/>
              <a:t>f</a:t>
            </a:r>
            <a:r>
              <a:rPr lang="en-US" altLang="zh-CN"/>
              <a:t>+</a:t>
            </a:r>
            <a:r>
              <a:rPr lang="en-US" altLang="zh-CN" i="1"/>
              <a:t>g</a:t>
            </a:r>
            <a:r>
              <a:rPr lang="en-US" altLang="zh-CN"/>
              <a:t>)÷(</a:t>
            </a:r>
            <a:r>
              <a:rPr lang="en-US" altLang="zh-CN" i="1"/>
              <a:t>h</a:t>
            </a:r>
            <a:r>
              <a:rPr lang="en-US" altLang="zh-CN"/>
              <a:t>∗(</a:t>
            </a:r>
            <a:r>
              <a:rPr lang="en-US" altLang="zh-CN" i="1"/>
              <a:t>i</a:t>
            </a:r>
            <a:r>
              <a:rPr lang="en-US" altLang="zh-CN"/>
              <a:t>+</a:t>
            </a:r>
            <a:r>
              <a:rPr lang="en-US" altLang="zh-CN" i="1"/>
              <a:t>j</a:t>
            </a:r>
            <a:r>
              <a:rPr lang="en-US" altLang="zh-CN"/>
              <a:t>))</a:t>
            </a:r>
            <a:endParaRPr lang="en-US" altLang="zh-CN"/>
          </a:p>
          <a:p>
            <a:r>
              <a:rPr lang="zh-CN" altLang="en-US"/>
              <a:t>前缀</a:t>
            </a:r>
            <a:r>
              <a:rPr lang="en-US" altLang="zh-CN"/>
              <a:t>(</a:t>
            </a:r>
            <a:r>
              <a:rPr lang="zh-CN" altLang="en-US"/>
              <a:t>波兰</a:t>
            </a:r>
            <a:r>
              <a:rPr lang="en-US" altLang="zh-CN"/>
              <a:t>): </a:t>
            </a:r>
            <a:endParaRPr lang="en-US" altLang="zh-CN"/>
          </a:p>
          <a:p>
            <a:pPr>
              <a:buNone/>
            </a:pPr>
            <a:r>
              <a:rPr lang="en-US" altLang="zh-CN"/>
              <a:t>÷÷-∗∗</a:t>
            </a:r>
            <a:r>
              <a:rPr lang="en-US" altLang="zh-CN" i="1"/>
              <a:t>a</a:t>
            </a:r>
            <a:r>
              <a:rPr lang="en-US" altLang="zh-CN"/>
              <a:t>+</a:t>
            </a:r>
            <a:r>
              <a:rPr lang="en-US" altLang="zh-CN" i="1"/>
              <a:t>bcde</a:t>
            </a:r>
            <a:r>
              <a:rPr lang="en-US" altLang="zh-CN"/>
              <a:t>+</a:t>
            </a:r>
            <a:r>
              <a:rPr lang="en-US" altLang="zh-CN" i="1"/>
              <a:t>fg</a:t>
            </a:r>
            <a:r>
              <a:rPr lang="en-US" altLang="zh-CN"/>
              <a:t>∗</a:t>
            </a:r>
            <a:r>
              <a:rPr lang="en-US" altLang="zh-CN" i="1"/>
              <a:t>h</a:t>
            </a:r>
            <a:r>
              <a:rPr lang="en-US" altLang="zh-CN"/>
              <a:t>+</a:t>
            </a:r>
            <a:r>
              <a:rPr lang="en-US" altLang="zh-CN" i="1"/>
              <a:t>ij</a:t>
            </a:r>
            <a:endParaRPr lang="en-US" altLang="zh-CN" i="1"/>
          </a:p>
          <a:p>
            <a:r>
              <a:rPr lang="zh-CN" altLang="en-US"/>
              <a:t>后缀</a:t>
            </a:r>
            <a:r>
              <a:rPr lang="en-US" altLang="zh-CN"/>
              <a:t>(</a:t>
            </a:r>
            <a:r>
              <a:rPr lang="zh-CN" altLang="en-US"/>
              <a:t>逆波兰</a:t>
            </a:r>
            <a:r>
              <a:rPr lang="en-US" altLang="zh-CN"/>
              <a:t>):</a:t>
            </a:r>
            <a:endParaRPr lang="en-US" altLang="zh-CN"/>
          </a:p>
          <a:p>
            <a:pPr>
              <a:buNone/>
            </a:pPr>
            <a:r>
              <a:rPr lang="en-US" altLang="zh-CN" i="1"/>
              <a:t>abc</a:t>
            </a:r>
            <a:r>
              <a:rPr lang="en-US" altLang="zh-CN"/>
              <a:t>+∗</a:t>
            </a:r>
            <a:r>
              <a:rPr lang="en-US" altLang="zh-CN" i="1"/>
              <a:t>d</a:t>
            </a:r>
            <a:r>
              <a:rPr lang="en-US" altLang="zh-CN"/>
              <a:t>∗</a:t>
            </a:r>
            <a:r>
              <a:rPr lang="en-US" altLang="zh-CN" i="1"/>
              <a:t>e</a:t>
            </a:r>
            <a:r>
              <a:rPr lang="en-US" altLang="zh-CN"/>
              <a:t>-</a:t>
            </a:r>
            <a:r>
              <a:rPr lang="en-US" altLang="zh-CN" i="1"/>
              <a:t>fg</a:t>
            </a:r>
            <a:r>
              <a:rPr lang="en-US" altLang="zh-CN"/>
              <a:t>+÷</a:t>
            </a:r>
            <a:endParaRPr lang="en-US" altLang="zh-CN"/>
          </a:p>
          <a:p>
            <a:pPr>
              <a:buNone/>
            </a:pPr>
            <a:r>
              <a:rPr lang="en-US" altLang="zh-CN" i="1"/>
              <a:t>hij</a:t>
            </a:r>
            <a:r>
              <a:rPr lang="en-US" altLang="zh-CN"/>
              <a:t>+∗÷</a:t>
            </a:r>
            <a:endParaRPr lang="en-US" altLang="zh-CN"/>
          </a:p>
          <a:p>
            <a:pPr>
              <a:buNone/>
            </a:pPr>
            <a:r>
              <a:rPr lang="en-US" altLang="zh-CN"/>
              <a:t>(</a:t>
            </a:r>
            <a:r>
              <a:rPr lang="zh-CN" altLang="en-US"/>
              <a:t>可以用栈实现）</a:t>
            </a:r>
            <a:endParaRPr lang="zh-CN" altLang="en-US"/>
          </a:p>
        </p:txBody>
      </p:sp>
      <p:grpSp>
        <p:nvGrpSpPr>
          <p:cNvPr id="28675" name="Group 4"/>
          <p:cNvGrpSpPr/>
          <p:nvPr/>
        </p:nvGrpSpPr>
        <p:grpSpPr>
          <a:xfrm>
            <a:off x="2987675" y="1627505"/>
            <a:ext cx="6121400" cy="5329238"/>
            <a:chOff x="204" y="935"/>
            <a:chExt cx="3856" cy="3357"/>
          </a:xfrm>
        </p:grpSpPr>
        <p:sp>
          <p:nvSpPr>
            <p:cNvPr id="28676" name="Oval 5"/>
            <p:cNvSpPr/>
            <p:nvPr/>
          </p:nvSpPr>
          <p:spPr>
            <a:xfrm>
              <a:off x="884" y="4091"/>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677" name="Oval 6"/>
            <p:cNvSpPr/>
            <p:nvPr/>
          </p:nvSpPr>
          <p:spPr>
            <a:xfrm>
              <a:off x="1383" y="4091"/>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678" name="Oval 7"/>
            <p:cNvSpPr/>
            <p:nvPr/>
          </p:nvSpPr>
          <p:spPr>
            <a:xfrm>
              <a:off x="1066" y="3638"/>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8679" name="Rectangle 8"/>
            <p:cNvSpPr/>
            <p:nvPr/>
          </p:nvSpPr>
          <p:spPr>
            <a:xfrm>
              <a:off x="703" y="4004"/>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b</a:t>
              </a:r>
              <a:endParaRPr lang="zh-CN" altLang="en-US" sz="2400" i="1">
                <a:latin typeface="Times New Roman" panose="02020603050405020304" pitchFamily="18" charset="0"/>
                <a:ea typeface="宋体" panose="02010600030101010101" pitchFamily="2" charset="-122"/>
              </a:endParaRPr>
            </a:p>
          </p:txBody>
        </p:sp>
        <p:sp>
          <p:nvSpPr>
            <p:cNvPr id="28680" name="Rectangle 9"/>
            <p:cNvSpPr/>
            <p:nvPr/>
          </p:nvSpPr>
          <p:spPr>
            <a:xfrm>
              <a:off x="1500" y="4000"/>
              <a:ext cx="201"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c</a:t>
              </a:r>
              <a:endParaRPr lang="zh-CN" altLang="en-US" sz="2400" i="1">
                <a:latin typeface="Times New Roman" panose="02020603050405020304" pitchFamily="18" charset="0"/>
                <a:ea typeface="宋体" panose="02010600030101010101" pitchFamily="2" charset="-122"/>
              </a:endParaRPr>
            </a:p>
          </p:txBody>
        </p:sp>
        <p:sp>
          <p:nvSpPr>
            <p:cNvPr id="28681" name="Line 10"/>
            <p:cNvSpPr/>
            <p:nvPr/>
          </p:nvSpPr>
          <p:spPr>
            <a:xfrm flipH="1">
              <a:off x="975" y="3864"/>
              <a:ext cx="181" cy="273"/>
            </a:xfrm>
            <a:prstGeom prst="line">
              <a:avLst/>
            </a:prstGeom>
            <a:ln w="28575" cap="flat" cmpd="sng">
              <a:solidFill>
                <a:schemeClr val="tx1"/>
              </a:solidFill>
              <a:prstDash val="solid"/>
              <a:round/>
              <a:headEnd type="none" w="med" len="med"/>
              <a:tailEnd type="none" w="med" len="med"/>
            </a:ln>
          </p:spPr>
        </p:sp>
        <p:sp>
          <p:nvSpPr>
            <p:cNvPr id="28682" name="Line 11"/>
            <p:cNvSpPr/>
            <p:nvPr/>
          </p:nvSpPr>
          <p:spPr>
            <a:xfrm>
              <a:off x="1202" y="3864"/>
              <a:ext cx="226" cy="273"/>
            </a:xfrm>
            <a:prstGeom prst="line">
              <a:avLst/>
            </a:prstGeom>
            <a:ln w="28575" cap="flat" cmpd="sng">
              <a:solidFill>
                <a:schemeClr val="tx1"/>
              </a:solidFill>
              <a:prstDash val="solid"/>
              <a:round/>
              <a:headEnd type="none" w="med" len="med"/>
              <a:tailEnd type="none" w="med" len="med"/>
            </a:ln>
          </p:spPr>
        </p:sp>
        <p:sp>
          <p:nvSpPr>
            <p:cNvPr id="28683" name="Oval 12"/>
            <p:cNvSpPr/>
            <p:nvPr/>
          </p:nvSpPr>
          <p:spPr>
            <a:xfrm>
              <a:off x="430" y="3683"/>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684" name="Rectangle 13"/>
            <p:cNvSpPr/>
            <p:nvPr/>
          </p:nvSpPr>
          <p:spPr>
            <a:xfrm>
              <a:off x="204" y="3638"/>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a</a:t>
              </a:r>
              <a:endParaRPr lang="zh-CN" altLang="en-US" sz="2400" i="1">
                <a:latin typeface="Times New Roman" panose="02020603050405020304" pitchFamily="18" charset="0"/>
                <a:ea typeface="宋体" panose="02010600030101010101" pitchFamily="2" charset="-122"/>
              </a:endParaRPr>
            </a:p>
          </p:txBody>
        </p:sp>
        <p:sp>
          <p:nvSpPr>
            <p:cNvPr id="28685" name="Oval 14"/>
            <p:cNvSpPr/>
            <p:nvPr/>
          </p:nvSpPr>
          <p:spPr>
            <a:xfrm>
              <a:off x="657" y="3093"/>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8686" name="Line 15"/>
            <p:cNvSpPr/>
            <p:nvPr/>
          </p:nvSpPr>
          <p:spPr>
            <a:xfrm flipV="1">
              <a:off x="476" y="3275"/>
              <a:ext cx="272" cy="408"/>
            </a:xfrm>
            <a:prstGeom prst="line">
              <a:avLst/>
            </a:prstGeom>
            <a:ln w="28575" cap="flat" cmpd="sng">
              <a:solidFill>
                <a:schemeClr val="tx1"/>
              </a:solidFill>
              <a:prstDash val="solid"/>
              <a:round/>
              <a:headEnd type="none" w="med" len="med"/>
              <a:tailEnd type="none" w="med" len="med"/>
            </a:ln>
          </p:spPr>
        </p:sp>
        <p:sp>
          <p:nvSpPr>
            <p:cNvPr id="28687" name="Line 16"/>
            <p:cNvSpPr/>
            <p:nvPr/>
          </p:nvSpPr>
          <p:spPr>
            <a:xfrm>
              <a:off x="793" y="3275"/>
              <a:ext cx="318" cy="408"/>
            </a:xfrm>
            <a:prstGeom prst="line">
              <a:avLst/>
            </a:prstGeom>
            <a:ln w="28575" cap="flat" cmpd="sng">
              <a:solidFill>
                <a:schemeClr val="tx1"/>
              </a:solidFill>
              <a:prstDash val="solid"/>
              <a:round/>
              <a:headEnd type="none" w="med" len="med"/>
              <a:tailEnd type="none" w="med" len="med"/>
            </a:ln>
          </p:spPr>
        </p:sp>
        <p:sp>
          <p:nvSpPr>
            <p:cNvPr id="28688" name="Oval 17"/>
            <p:cNvSpPr/>
            <p:nvPr/>
          </p:nvSpPr>
          <p:spPr>
            <a:xfrm>
              <a:off x="1383" y="3093"/>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689" name="Rectangle 18"/>
            <p:cNvSpPr/>
            <p:nvPr/>
          </p:nvSpPr>
          <p:spPr>
            <a:xfrm>
              <a:off x="1519" y="3003"/>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d</a:t>
              </a:r>
              <a:endParaRPr lang="zh-CN" altLang="en-US" sz="2400" i="1">
                <a:latin typeface="Times New Roman" panose="02020603050405020304" pitchFamily="18" charset="0"/>
                <a:ea typeface="宋体" panose="02010600030101010101" pitchFamily="2" charset="-122"/>
              </a:endParaRPr>
            </a:p>
          </p:txBody>
        </p:sp>
        <p:sp>
          <p:nvSpPr>
            <p:cNvPr id="28690" name="Oval 19"/>
            <p:cNvSpPr/>
            <p:nvPr/>
          </p:nvSpPr>
          <p:spPr>
            <a:xfrm>
              <a:off x="975" y="2549"/>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8691" name="Line 20"/>
            <p:cNvSpPr/>
            <p:nvPr/>
          </p:nvSpPr>
          <p:spPr>
            <a:xfrm flipH="1">
              <a:off x="793" y="2776"/>
              <a:ext cx="273" cy="363"/>
            </a:xfrm>
            <a:prstGeom prst="line">
              <a:avLst/>
            </a:prstGeom>
            <a:ln w="28575" cap="flat" cmpd="sng">
              <a:solidFill>
                <a:schemeClr val="tx1"/>
              </a:solidFill>
              <a:prstDash val="solid"/>
              <a:round/>
              <a:headEnd type="none" w="med" len="med"/>
              <a:tailEnd type="none" w="med" len="med"/>
            </a:ln>
          </p:spPr>
        </p:sp>
        <p:sp>
          <p:nvSpPr>
            <p:cNvPr id="28692" name="Line 21"/>
            <p:cNvSpPr/>
            <p:nvPr/>
          </p:nvSpPr>
          <p:spPr>
            <a:xfrm>
              <a:off x="1156" y="2776"/>
              <a:ext cx="272" cy="363"/>
            </a:xfrm>
            <a:prstGeom prst="line">
              <a:avLst/>
            </a:prstGeom>
            <a:ln w="28575" cap="flat" cmpd="sng">
              <a:solidFill>
                <a:schemeClr val="tx1"/>
              </a:solidFill>
              <a:prstDash val="solid"/>
              <a:round/>
              <a:headEnd type="none" w="med" len="med"/>
              <a:tailEnd type="none" w="med" len="med"/>
            </a:ln>
          </p:spPr>
        </p:sp>
        <p:sp>
          <p:nvSpPr>
            <p:cNvPr id="28693" name="Oval 22"/>
            <p:cNvSpPr/>
            <p:nvPr/>
          </p:nvSpPr>
          <p:spPr>
            <a:xfrm>
              <a:off x="1701" y="259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694" name="Rectangle 23"/>
            <p:cNvSpPr/>
            <p:nvPr/>
          </p:nvSpPr>
          <p:spPr>
            <a:xfrm>
              <a:off x="1837" y="2504"/>
              <a:ext cx="201"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e</a:t>
              </a:r>
              <a:endParaRPr lang="zh-CN" altLang="en-US" sz="2400" i="1">
                <a:latin typeface="Times New Roman" panose="02020603050405020304" pitchFamily="18" charset="0"/>
                <a:ea typeface="宋体" panose="02010600030101010101" pitchFamily="2" charset="-122"/>
              </a:endParaRPr>
            </a:p>
          </p:txBody>
        </p:sp>
        <p:sp>
          <p:nvSpPr>
            <p:cNvPr id="28695" name="Oval 24"/>
            <p:cNvSpPr/>
            <p:nvPr/>
          </p:nvSpPr>
          <p:spPr>
            <a:xfrm>
              <a:off x="1292" y="2005"/>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8696" name="Line 25"/>
            <p:cNvSpPr/>
            <p:nvPr/>
          </p:nvSpPr>
          <p:spPr>
            <a:xfrm flipH="1">
              <a:off x="1110" y="2232"/>
              <a:ext cx="273" cy="363"/>
            </a:xfrm>
            <a:prstGeom prst="line">
              <a:avLst/>
            </a:prstGeom>
            <a:ln w="28575" cap="flat" cmpd="sng">
              <a:solidFill>
                <a:schemeClr val="tx1"/>
              </a:solidFill>
              <a:prstDash val="solid"/>
              <a:round/>
              <a:headEnd type="none" w="med" len="med"/>
              <a:tailEnd type="none" w="med" len="med"/>
            </a:ln>
          </p:spPr>
        </p:sp>
        <p:sp>
          <p:nvSpPr>
            <p:cNvPr id="28697" name="Line 26"/>
            <p:cNvSpPr/>
            <p:nvPr/>
          </p:nvSpPr>
          <p:spPr>
            <a:xfrm>
              <a:off x="1473" y="2232"/>
              <a:ext cx="272" cy="363"/>
            </a:xfrm>
            <a:prstGeom prst="line">
              <a:avLst/>
            </a:prstGeom>
            <a:ln w="28575" cap="flat" cmpd="sng">
              <a:solidFill>
                <a:schemeClr val="tx1"/>
              </a:solidFill>
              <a:prstDash val="solid"/>
              <a:round/>
              <a:headEnd type="none" w="med" len="med"/>
              <a:tailEnd type="none" w="med" len="med"/>
            </a:ln>
          </p:spPr>
        </p:sp>
        <p:sp>
          <p:nvSpPr>
            <p:cNvPr id="28698" name="Oval 27"/>
            <p:cNvSpPr/>
            <p:nvPr/>
          </p:nvSpPr>
          <p:spPr>
            <a:xfrm>
              <a:off x="1882" y="1480"/>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8699" name="Line 28"/>
            <p:cNvSpPr/>
            <p:nvPr/>
          </p:nvSpPr>
          <p:spPr>
            <a:xfrm flipH="1">
              <a:off x="1474" y="1661"/>
              <a:ext cx="453" cy="409"/>
            </a:xfrm>
            <a:prstGeom prst="line">
              <a:avLst/>
            </a:prstGeom>
            <a:ln w="28575" cap="flat" cmpd="sng">
              <a:solidFill>
                <a:schemeClr val="tx1"/>
              </a:solidFill>
              <a:prstDash val="solid"/>
              <a:round/>
              <a:headEnd type="none" w="med" len="med"/>
              <a:tailEnd type="none" w="med" len="med"/>
            </a:ln>
          </p:spPr>
        </p:sp>
        <p:sp>
          <p:nvSpPr>
            <p:cNvPr id="28700" name="Line 29"/>
            <p:cNvSpPr/>
            <p:nvPr/>
          </p:nvSpPr>
          <p:spPr>
            <a:xfrm>
              <a:off x="2109" y="1661"/>
              <a:ext cx="317" cy="408"/>
            </a:xfrm>
            <a:prstGeom prst="line">
              <a:avLst/>
            </a:prstGeom>
            <a:ln w="28575" cap="flat" cmpd="sng">
              <a:solidFill>
                <a:schemeClr val="tx1"/>
              </a:solidFill>
              <a:prstDash val="solid"/>
              <a:round/>
              <a:headEnd type="none" w="med" len="med"/>
              <a:tailEnd type="none" w="med" len="med"/>
            </a:ln>
          </p:spPr>
        </p:sp>
        <p:sp>
          <p:nvSpPr>
            <p:cNvPr id="28701" name="Oval 30"/>
            <p:cNvSpPr/>
            <p:nvPr/>
          </p:nvSpPr>
          <p:spPr>
            <a:xfrm>
              <a:off x="2336" y="2024"/>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rPr>
                <a:t>+</a:t>
              </a:r>
              <a:endParaRPr lang="en-US" altLang="zh-CN" sz="2400">
                <a:latin typeface="Tahoma" panose="020B0604030504040204" pitchFamily="34" charset="0"/>
                <a:ea typeface="宋体" panose="02010600030101010101" pitchFamily="2" charset="-122"/>
              </a:endParaRPr>
            </a:p>
          </p:txBody>
        </p:sp>
        <p:sp>
          <p:nvSpPr>
            <p:cNvPr id="28702" name="Line 31"/>
            <p:cNvSpPr/>
            <p:nvPr/>
          </p:nvSpPr>
          <p:spPr>
            <a:xfrm flipH="1">
              <a:off x="2154" y="2251"/>
              <a:ext cx="273" cy="363"/>
            </a:xfrm>
            <a:prstGeom prst="line">
              <a:avLst/>
            </a:prstGeom>
            <a:ln w="28575" cap="flat" cmpd="sng">
              <a:solidFill>
                <a:schemeClr val="tx1"/>
              </a:solidFill>
              <a:prstDash val="solid"/>
              <a:round/>
              <a:headEnd type="none" w="med" len="med"/>
              <a:tailEnd type="none" w="med" len="med"/>
            </a:ln>
          </p:spPr>
        </p:sp>
        <p:sp>
          <p:nvSpPr>
            <p:cNvPr id="28703" name="Line 32"/>
            <p:cNvSpPr/>
            <p:nvPr/>
          </p:nvSpPr>
          <p:spPr>
            <a:xfrm>
              <a:off x="2517" y="2251"/>
              <a:ext cx="272" cy="363"/>
            </a:xfrm>
            <a:prstGeom prst="line">
              <a:avLst/>
            </a:prstGeom>
            <a:ln w="28575" cap="flat" cmpd="sng">
              <a:solidFill>
                <a:schemeClr val="tx1"/>
              </a:solidFill>
              <a:prstDash val="solid"/>
              <a:round/>
              <a:headEnd type="none" w="med" len="med"/>
              <a:tailEnd type="none" w="med" len="med"/>
            </a:ln>
          </p:spPr>
        </p:sp>
        <p:sp>
          <p:nvSpPr>
            <p:cNvPr id="28704" name="Oval 33"/>
            <p:cNvSpPr/>
            <p:nvPr/>
          </p:nvSpPr>
          <p:spPr>
            <a:xfrm>
              <a:off x="206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705" name="Oval 34"/>
            <p:cNvSpPr/>
            <p:nvPr/>
          </p:nvSpPr>
          <p:spPr>
            <a:xfrm>
              <a:off x="274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706" name="Rectangle 35"/>
            <p:cNvSpPr/>
            <p:nvPr/>
          </p:nvSpPr>
          <p:spPr>
            <a:xfrm>
              <a:off x="2018" y="2688"/>
              <a:ext cx="180"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f</a:t>
              </a:r>
              <a:endParaRPr lang="zh-CN" altLang="en-US" sz="2400" i="1">
                <a:latin typeface="Times New Roman" panose="02020603050405020304" pitchFamily="18" charset="0"/>
                <a:ea typeface="宋体" panose="02010600030101010101" pitchFamily="2" charset="-122"/>
              </a:endParaRPr>
            </a:p>
          </p:txBody>
        </p:sp>
        <p:sp>
          <p:nvSpPr>
            <p:cNvPr id="28707" name="Rectangle 36"/>
            <p:cNvSpPr/>
            <p:nvPr/>
          </p:nvSpPr>
          <p:spPr>
            <a:xfrm>
              <a:off x="2700" y="2704"/>
              <a:ext cx="212"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g</a:t>
              </a:r>
              <a:endParaRPr lang="zh-CN" altLang="en-US" sz="2400" i="1">
                <a:latin typeface="Times New Roman" panose="02020603050405020304" pitchFamily="18" charset="0"/>
                <a:ea typeface="宋体" panose="02010600030101010101" pitchFamily="2" charset="-122"/>
              </a:endParaRPr>
            </a:p>
          </p:txBody>
        </p:sp>
        <p:sp>
          <p:nvSpPr>
            <p:cNvPr id="28708" name="Oval 37"/>
            <p:cNvSpPr/>
            <p:nvPr/>
          </p:nvSpPr>
          <p:spPr>
            <a:xfrm>
              <a:off x="2653" y="935"/>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8709" name="Oval 38"/>
            <p:cNvSpPr/>
            <p:nvPr/>
          </p:nvSpPr>
          <p:spPr>
            <a:xfrm>
              <a:off x="3288" y="1526"/>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8710" name="Oval 39"/>
            <p:cNvSpPr/>
            <p:nvPr/>
          </p:nvSpPr>
          <p:spPr>
            <a:xfrm>
              <a:off x="3016" y="202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711" name="Rectangle 40"/>
            <p:cNvSpPr/>
            <p:nvPr/>
          </p:nvSpPr>
          <p:spPr>
            <a:xfrm>
              <a:off x="2789" y="1979"/>
              <a:ext cx="223"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h</a:t>
              </a:r>
              <a:endParaRPr lang="zh-CN" altLang="en-US" sz="2400" i="1">
                <a:latin typeface="Times New Roman" panose="02020603050405020304" pitchFamily="18" charset="0"/>
                <a:ea typeface="宋体" panose="02010600030101010101" pitchFamily="2" charset="-122"/>
              </a:endParaRPr>
            </a:p>
          </p:txBody>
        </p:sp>
        <p:sp>
          <p:nvSpPr>
            <p:cNvPr id="28712" name="Line 41"/>
            <p:cNvSpPr/>
            <p:nvPr/>
          </p:nvSpPr>
          <p:spPr>
            <a:xfrm flipV="1">
              <a:off x="2109" y="1117"/>
              <a:ext cx="590" cy="408"/>
            </a:xfrm>
            <a:prstGeom prst="line">
              <a:avLst/>
            </a:prstGeom>
            <a:ln w="28575" cap="flat" cmpd="sng">
              <a:solidFill>
                <a:schemeClr val="tx1"/>
              </a:solidFill>
              <a:prstDash val="solid"/>
              <a:round/>
              <a:headEnd type="none" w="med" len="med"/>
              <a:tailEnd type="none" w="med" len="med"/>
            </a:ln>
          </p:spPr>
        </p:sp>
        <p:sp>
          <p:nvSpPr>
            <p:cNvPr id="28713" name="Line 42"/>
            <p:cNvSpPr/>
            <p:nvPr/>
          </p:nvSpPr>
          <p:spPr>
            <a:xfrm flipV="1">
              <a:off x="3107" y="1706"/>
              <a:ext cx="227" cy="318"/>
            </a:xfrm>
            <a:prstGeom prst="line">
              <a:avLst/>
            </a:prstGeom>
            <a:ln w="28575" cap="flat" cmpd="sng">
              <a:solidFill>
                <a:schemeClr val="tx1"/>
              </a:solidFill>
              <a:prstDash val="solid"/>
              <a:round/>
              <a:headEnd type="none" w="med" len="med"/>
              <a:tailEnd type="none" w="med" len="med"/>
            </a:ln>
          </p:spPr>
        </p:sp>
        <p:sp>
          <p:nvSpPr>
            <p:cNvPr id="28714" name="Line 43"/>
            <p:cNvSpPr/>
            <p:nvPr/>
          </p:nvSpPr>
          <p:spPr>
            <a:xfrm>
              <a:off x="3470" y="1706"/>
              <a:ext cx="226" cy="409"/>
            </a:xfrm>
            <a:prstGeom prst="line">
              <a:avLst/>
            </a:prstGeom>
            <a:ln w="28575" cap="flat" cmpd="sng">
              <a:solidFill>
                <a:schemeClr val="tx1"/>
              </a:solidFill>
              <a:prstDash val="solid"/>
              <a:round/>
              <a:headEnd type="none" w="med" len="med"/>
              <a:tailEnd type="none" w="med" len="med"/>
            </a:ln>
          </p:spPr>
        </p:sp>
        <p:sp>
          <p:nvSpPr>
            <p:cNvPr id="28715" name="Oval 44"/>
            <p:cNvSpPr/>
            <p:nvPr/>
          </p:nvSpPr>
          <p:spPr>
            <a:xfrm>
              <a:off x="3560" y="2024"/>
              <a:ext cx="226" cy="22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buSzTx/>
              </a:pPr>
              <a:r>
                <a:rPr lang="en-US" altLang="zh-CN" sz="2400">
                  <a:latin typeface="Tahoma" panose="020B0604030504040204" pitchFamily="34" charset="0"/>
                  <a:ea typeface="宋体" panose="02010600030101010101" pitchFamily="2" charset="-122"/>
                  <a:sym typeface="Symbol" panose="05050102010706020507" pitchFamily="18" charset="2"/>
                </a:rPr>
                <a:t>+</a:t>
              </a:r>
              <a:endParaRPr lang="en-US" altLang="zh-CN" sz="2400">
                <a:latin typeface="Tahoma" panose="020B0604030504040204" pitchFamily="34" charset="0"/>
                <a:ea typeface="宋体" panose="02010600030101010101" pitchFamily="2" charset="-122"/>
                <a:sym typeface="Symbol" panose="05050102010706020507" pitchFamily="18" charset="2"/>
              </a:endParaRPr>
            </a:p>
          </p:txBody>
        </p:sp>
        <p:sp>
          <p:nvSpPr>
            <p:cNvPr id="28716" name="Line 45"/>
            <p:cNvSpPr/>
            <p:nvPr/>
          </p:nvSpPr>
          <p:spPr>
            <a:xfrm flipH="1">
              <a:off x="3334" y="2251"/>
              <a:ext cx="273" cy="363"/>
            </a:xfrm>
            <a:prstGeom prst="line">
              <a:avLst/>
            </a:prstGeom>
            <a:ln w="28575" cap="flat" cmpd="sng">
              <a:solidFill>
                <a:schemeClr val="tx1"/>
              </a:solidFill>
              <a:prstDash val="solid"/>
              <a:round/>
              <a:headEnd type="none" w="med" len="med"/>
              <a:tailEnd type="none" w="med" len="med"/>
            </a:ln>
          </p:spPr>
        </p:sp>
        <p:sp>
          <p:nvSpPr>
            <p:cNvPr id="28717" name="Line 46"/>
            <p:cNvSpPr/>
            <p:nvPr/>
          </p:nvSpPr>
          <p:spPr>
            <a:xfrm>
              <a:off x="3697" y="2251"/>
              <a:ext cx="272" cy="363"/>
            </a:xfrm>
            <a:prstGeom prst="line">
              <a:avLst/>
            </a:prstGeom>
            <a:ln w="28575" cap="flat" cmpd="sng">
              <a:solidFill>
                <a:schemeClr val="tx1"/>
              </a:solidFill>
              <a:prstDash val="solid"/>
              <a:round/>
              <a:headEnd type="none" w="med" len="med"/>
              <a:tailEnd type="none" w="med" len="med"/>
            </a:ln>
          </p:spPr>
        </p:sp>
        <p:sp>
          <p:nvSpPr>
            <p:cNvPr id="28718" name="Oval 47"/>
            <p:cNvSpPr/>
            <p:nvPr/>
          </p:nvSpPr>
          <p:spPr>
            <a:xfrm>
              <a:off x="324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719" name="Oval 48"/>
            <p:cNvSpPr/>
            <p:nvPr/>
          </p:nvSpPr>
          <p:spPr>
            <a:xfrm>
              <a:off x="3924" y="2614"/>
              <a:ext cx="136" cy="136"/>
            </a:xfrm>
            <a:prstGeom prst="ellipse">
              <a:avLst/>
            </a:prstGeom>
            <a:noFill/>
            <a:ln w="2857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8720" name="Rectangle 49"/>
            <p:cNvSpPr/>
            <p:nvPr/>
          </p:nvSpPr>
          <p:spPr>
            <a:xfrm>
              <a:off x="3198" y="2688"/>
              <a:ext cx="169"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i</a:t>
              </a:r>
              <a:endParaRPr lang="zh-CN" altLang="en-US" sz="2400" i="1">
                <a:latin typeface="Times New Roman" panose="02020603050405020304" pitchFamily="18" charset="0"/>
                <a:ea typeface="宋体" panose="02010600030101010101" pitchFamily="2" charset="-122"/>
              </a:endParaRPr>
            </a:p>
          </p:txBody>
        </p:sp>
        <p:sp>
          <p:nvSpPr>
            <p:cNvPr id="28721" name="Rectangle 50"/>
            <p:cNvSpPr/>
            <p:nvPr/>
          </p:nvSpPr>
          <p:spPr>
            <a:xfrm>
              <a:off x="3880" y="2704"/>
              <a:ext cx="169" cy="288"/>
            </a:xfrm>
            <a:prstGeom prst="rect">
              <a:avLst/>
            </a:prstGeom>
            <a:noFill/>
            <a:ln w="2857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j</a:t>
              </a:r>
              <a:endParaRPr lang="zh-CN" altLang="en-US" sz="2400" i="1">
                <a:latin typeface="Times New Roman" panose="02020603050405020304" pitchFamily="18" charset="0"/>
                <a:ea typeface="宋体" panose="02010600030101010101" pitchFamily="2" charset="-122"/>
              </a:endParaRPr>
            </a:p>
          </p:txBody>
        </p:sp>
        <p:sp>
          <p:nvSpPr>
            <p:cNvPr id="28722" name="Line 51"/>
            <p:cNvSpPr/>
            <p:nvPr/>
          </p:nvSpPr>
          <p:spPr>
            <a:xfrm>
              <a:off x="2835" y="1117"/>
              <a:ext cx="544" cy="453"/>
            </a:xfrm>
            <a:prstGeom prst="line">
              <a:avLst/>
            </a:prstGeom>
            <a:ln w="28575" cap="flat" cmpd="sng">
              <a:solidFill>
                <a:schemeClr val="tx1"/>
              </a:solidFill>
              <a:prstDash val="solid"/>
              <a:round/>
              <a:headEnd type="none" w="med" len="med"/>
              <a:tailEnd type="none" w="med" len="med"/>
            </a:ln>
          </p:spPr>
        </p:sp>
      </p:grpSp>
      <p:sp>
        <p:nvSpPr>
          <p:cNvPr id="4099" name="灯片编号占位符 3"/>
          <p:cNvSpPr>
            <a:spLocks noGrp="1"/>
          </p:cNvSpPr>
          <p:nvPr>
            <p:ph type="sldNum" sz="quarter" idx="12"/>
          </p:nvPr>
        </p:nvSpPr>
        <p:spPr>
          <a:xfrm>
            <a:off x="7110730" y="6309043"/>
            <a:ext cx="1905000" cy="457200"/>
          </a:xfrm>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文本框 3"/>
          <p:cNvSpPr txBox="1"/>
          <p:nvPr/>
        </p:nvSpPr>
        <p:spPr>
          <a:xfrm>
            <a:off x="606425" y="1649413"/>
            <a:ext cx="4470400" cy="521970"/>
          </a:xfrm>
          <a:prstGeom prst="rect">
            <a:avLst/>
          </a:prstGeom>
          <a:noFill/>
          <a:ln w="9525">
            <a:noFill/>
          </a:ln>
        </p:spPr>
        <p:txBody>
          <a:bodyPr wrap="square" anchor="t" anchorCtr="0">
            <a:spAutoFit/>
          </a:bodyPr>
          <a:p>
            <a:r>
              <a:rPr lang="en-US" altLang="zh-CN" sz="2800">
                <a:solidFill>
                  <a:srgbClr val="FF0000"/>
                </a:solidFill>
                <a:latin typeface="Tahoma" panose="020B0604030504040204" pitchFamily="34" charset="0"/>
                <a:ea typeface="宋体" panose="02010600030101010101" pitchFamily="2" charset="-122"/>
                <a:sym typeface="黑体" panose="02010609060101010101" pitchFamily="49" charset="-122"/>
              </a:rPr>
              <a:t>P155,</a:t>
            </a:r>
            <a:r>
              <a:rPr lang="zh-CN" altLang="en-US" sz="2800">
                <a:solidFill>
                  <a:srgbClr val="FF0000"/>
                </a:solidFill>
                <a:latin typeface="Tahoma" panose="020B0604030504040204" pitchFamily="34" charset="0"/>
                <a:ea typeface="宋体" panose="02010600030101010101" pitchFamily="2" charset="-122"/>
              </a:rPr>
              <a:t>习题九</a:t>
            </a:r>
            <a:r>
              <a:rPr lang="en-US" altLang="zh-CN" sz="2800">
                <a:solidFill>
                  <a:srgbClr val="FF0000"/>
                </a:solidFill>
                <a:latin typeface="Tahoma" panose="020B0604030504040204" pitchFamily="34" charset="0"/>
                <a:ea typeface="宋体" panose="02010600030101010101" pitchFamily="2" charset="-122"/>
              </a:rPr>
              <a:t>:20,21</a:t>
            </a:r>
            <a:endParaRPr lang="en-US" altLang="zh-CN" sz="2800">
              <a:solidFill>
                <a:srgbClr val="FF0000"/>
              </a:solidFill>
              <a:latin typeface="Tahoma" panose="020B0604030504040204" pitchFamily="34" charset="0"/>
              <a:ea typeface="宋体" panose="02010600030101010101" pitchFamily="2" charset="-122"/>
            </a:endParaRPr>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
        <p:nvSpPr>
          <p:cNvPr id="21505" name="Rectangle 2"/>
          <p:cNvSpPr>
            <a:spLocks noGrp="1"/>
          </p:cNvSpPr>
          <p:nvPr>
            <p:ph type="title"/>
          </p:nvPr>
        </p:nvSpPr>
        <p:spPr>
          <a:xfrm>
            <a:off x="898843" y="-243205"/>
            <a:ext cx="7772400" cy="1362075"/>
          </a:xfrm>
        </p:spPr>
        <p:txBody>
          <a:bodyPr vert="horz" wrap="square" lIns="91440" tIns="45720" rIns="91440" bIns="45720" anchor="b" anchorCtr="0"/>
          <a:p>
            <a:r>
              <a:rPr lang="zh-CN" altLang="en-US" sz="4000">
                <a:solidFill>
                  <a:srgbClr val="FF0000"/>
                </a:solidFill>
              </a:rPr>
              <a:t>课后作业三</a:t>
            </a:r>
            <a:endParaRPr lang="zh-CN" altLang="en-US" sz="4000">
              <a:solidFill>
                <a:srgbClr val="FF0000"/>
              </a:solidFill>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p:txBody>
          <a:bodyPr vert="horz" wrap="square" lIns="91440" tIns="45720" rIns="91440" bIns="45720" anchor="b" anchorCtr="0"/>
          <a:p>
            <a:r>
              <a:rPr lang="zh-CN" altLang="en-US"/>
              <a:t>通讯编码</a:t>
            </a:r>
            <a:endParaRPr lang="zh-CN" altLang="en-US"/>
          </a:p>
        </p:txBody>
      </p:sp>
      <p:sp>
        <p:nvSpPr>
          <p:cNvPr id="30722" name="Rectangle 3"/>
          <p:cNvSpPr>
            <a:spLocks noGrp="1"/>
          </p:cNvSpPr>
          <p:nvPr>
            <p:ph idx="1"/>
          </p:nvPr>
        </p:nvSpPr>
        <p:spPr/>
        <p:txBody>
          <a:bodyPr vert="horz" wrap="square" lIns="91440" tIns="45720" rIns="91440" bIns="45720" anchor="t" anchorCtr="0"/>
          <a:p>
            <a:r>
              <a:rPr lang="en-US" altLang="zh-CN"/>
              <a:t>Shannon, Hamming, Sudan</a:t>
            </a:r>
            <a:endParaRPr lang="en-US" altLang="zh-CN"/>
          </a:p>
          <a:p>
            <a:r>
              <a:rPr lang="zh-CN" altLang="en-US"/>
              <a:t>有噪声信道的可靠通信</a:t>
            </a:r>
            <a:r>
              <a:rPr lang="en-US" altLang="zh-CN"/>
              <a:t>: </a:t>
            </a:r>
            <a:r>
              <a:rPr lang="zh-CN" altLang="en-US"/>
              <a:t>编码</a:t>
            </a:r>
            <a:endParaRPr lang="zh-CN" altLang="en-US"/>
          </a:p>
          <a:p>
            <a:r>
              <a:rPr lang="zh-CN" altLang="en-US"/>
              <a:t>信息就是不确定性的消除</a:t>
            </a:r>
            <a:r>
              <a:rPr lang="en-US" altLang="zh-CN"/>
              <a:t>: </a:t>
            </a:r>
            <a:r>
              <a:rPr lang="zh-CN" altLang="en-US"/>
              <a:t>熵</a:t>
            </a:r>
            <a:r>
              <a:rPr lang="en-US" altLang="zh-CN"/>
              <a:t>(entropy)</a:t>
            </a:r>
            <a:endParaRPr lang="en-US" altLang="zh-CN"/>
          </a:p>
          <a:p>
            <a:r>
              <a:rPr lang="zh-CN" altLang="en-US"/>
              <a:t>比特</a:t>
            </a:r>
            <a:r>
              <a:rPr lang="en-US" altLang="zh-CN"/>
              <a:t>(bit): binary information unit</a:t>
            </a:r>
            <a:endParaRPr lang="en-US" altLang="zh-CN"/>
          </a:p>
          <a:p>
            <a:r>
              <a:rPr lang="zh-CN" altLang="en-US"/>
              <a:t>例</a:t>
            </a:r>
            <a:r>
              <a:rPr lang="en-US" altLang="zh-CN"/>
              <a:t>: {0,1,2,…,7}, log</a:t>
            </a:r>
            <a:r>
              <a:rPr lang="en-US" altLang="zh-CN" baseline="-25000"/>
              <a:t>2</a:t>
            </a:r>
            <a:r>
              <a:rPr lang="en-US" altLang="zh-CN"/>
              <a:t>8=3, </a:t>
            </a:r>
            <a:r>
              <a:rPr lang="zh-CN" altLang="en-US"/>
              <a:t>编码为</a:t>
            </a:r>
            <a:r>
              <a:rPr lang="en-US" altLang="zh-CN"/>
              <a:t>000,001,010,…,111</a:t>
            </a:r>
            <a:endParaRPr lang="en-US" altLang="zh-CN"/>
          </a:p>
          <a:p>
            <a:pPr>
              <a:buNone/>
            </a:pPr>
            <a:r>
              <a:rPr lang="en-US" altLang="zh-CN"/>
              <a:t>    000111010101</a:t>
            </a:r>
            <a:r>
              <a:rPr lang="zh-CN" altLang="en-US"/>
              <a:t>译为</a:t>
            </a:r>
            <a:r>
              <a:rPr lang="en-US" altLang="zh-CN"/>
              <a:t>0725</a:t>
            </a:r>
            <a:endParaRPr lang="zh-CN" altLang="en-US"/>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p:nvPr>
        </p:nvSpPr>
        <p:spPr/>
        <p:txBody>
          <a:bodyPr vert="horz" wrap="square" lIns="91440" tIns="45720" rIns="91440" bIns="45720" anchor="b" anchorCtr="0"/>
          <a:p>
            <a:r>
              <a:rPr lang="zh-CN" altLang="en-US"/>
              <a:t>不等长编码</a:t>
            </a:r>
            <a:endParaRPr lang="zh-CN" altLang="en-US"/>
          </a:p>
        </p:txBody>
      </p:sp>
      <p:sp>
        <p:nvSpPr>
          <p:cNvPr id="31746" name="Rectangle 3"/>
          <p:cNvSpPr>
            <a:spLocks noGrp="1"/>
          </p:cNvSpPr>
          <p:nvPr>
            <p:ph idx="1"/>
          </p:nvPr>
        </p:nvSpPr>
        <p:spPr/>
        <p:txBody>
          <a:bodyPr vert="horz" wrap="square" lIns="91440" tIns="45720" rIns="91440" bIns="45720" anchor="t" anchorCtr="0"/>
          <a:p>
            <a:r>
              <a:rPr lang="zh-CN" altLang="en-US"/>
              <a:t>若</a:t>
            </a:r>
            <a:r>
              <a:rPr lang="en-US" altLang="zh-CN"/>
              <a:t>{0,1,2,…,7}</a:t>
            </a:r>
            <a:r>
              <a:rPr lang="zh-CN" altLang="en-US"/>
              <a:t>出现频率不一样</a:t>
            </a:r>
            <a:r>
              <a:rPr lang="en-US" altLang="zh-CN"/>
              <a:t>,</a:t>
            </a:r>
            <a:r>
              <a:rPr lang="zh-CN" altLang="en-US"/>
              <a:t>则出现频率高的用短码字</a:t>
            </a:r>
            <a:endParaRPr lang="zh-CN" altLang="en-US"/>
          </a:p>
          <a:p>
            <a:r>
              <a:rPr lang="zh-CN" altLang="en-US">
                <a:solidFill>
                  <a:schemeClr val="hlink"/>
                </a:solidFill>
              </a:rPr>
              <a:t>例</a:t>
            </a:r>
            <a:r>
              <a:rPr lang="en-US" altLang="zh-CN">
                <a:solidFill>
                  <a:schemeClr val="hlink"/>
                </a:solidFill>
              </a:rPr>
              <a:t>:</a:t>
            </a:r>
            <a:r>
              <a:rPr lang="en-US" altLang="zh-CN"/>
              <a:t> </a:t>
            </a:r>
            <a:r>
              <a:rPr lang="zh-CN" altLang="en-US"/>
              <a:t>频率递减</a:t>
            </a:r>
            <a:r>
              <a:rPr lang="en-US" altLang="zh-CN"/>
              <a:t>: 0,1,2,3,4,5,6,7, </a:t>
            </a:r>
            <a:r>
              <a:rPr lang="zh-CN" altLang="en-US"/>
              <a:t>编码为</a:t>
            </a:r>
            <a:r>
              <a:rPr lang="en-US" altLang="zh-CN"/>
              <a:t>0,1,00,01,10,11,000,001.</a:t>
            </a:r>
            <a:endParaRPr lang="en-US" altLang="zh-CN"/>
          </a:p>
          <a:p>
            <a:pPr>
              <a:buNone/>
            </a:pPr>
            <a:r>
              <a:rPr lang="zh-CN" altLang="en-US"/>
              <a:t>   若收到</a:t>
            </a:r>
            <a:r>
              <a:rPr lang="en-US" altLang="zh-CN"/>
              <a:t>000111, </a:t>
            </a:r>
            <a:r>
              <a:rPr lang="zh-CN" altLang="en-US"/>
              <a:t>不能唯一解码</a:t>
            </a:r>
            <a:r>
              <a:rPr lang="en-US" altLang="zh-CN"/>
              <a:t>:</a:t>
            </a:r>
            <a:endParaRPr lang="en-US" altLang="zh-CN"/>
          </a:p>
          <a:p>
            <a:pPr>
              <a:buNone/>
            </a:pPr>
            <a:r>
              <a:rPr lang="en-US" altLang="zh-CN"/>
              <a:t>    651, 235, 075,…</a:t>
            </a:r>
            <a:r>
              <a:rPr lang="zh-CN" altLang="en-US"/>
              <a:t>等</a:t>
            </a:r>
            <a:r>
              <a:rPr lang="en-US" altLang="zh-CN"/>
              <a:t>.</a:t>
            </a:r>
            <a:endParaRPr lang="en-US" altLang="zh-CN"/>
          </a:p>
          <a:p>
            <a:pPr>
              <a:buNone/>
            </a:pPr>
            <a:r>
              <a:rPr lang="zh-CN" altLang="en-US"/>
              <a:t>   </a:t>
            </a:r>
            <a:r>
              <a:rPr lang="zh-CN" altLang="en-US">
                <a:solidFill>
                  <a:schemeClr val="hlink"/>
                </a:solidFill>
              </a:rPr>
              <a:t>原因</a:t>
            </a:r>
            <a:r>
              <a:rPr lang="en-US" altLang="zh-CN">
                <a:solidFill>
                  <a:schemeClr val="hlink"/>
                </a:solidFill>
              </a:rPr>
              <a:t>: </a:t>
            </a:r>
            <a:r>
              <a:rPr lang="zh-CN" altLang="en-US">
                <a:solidFill>
                  <a:schemeClr val="hlink"/>
                </a:solidFill>
              </a:rPr>
              <a:t>码字互为前缀</a:t>
            </a:r>
            <a:r>
              <a:rPr lang="en-US" altLang="zh-CN">
                <a:solidFill>
                  <a:schemeClr val="hlink"/>
                </a:solidFill>
              </a:rPr>
              <a:t>,</a:t>
            </a:r>
            <a:r>
              <a:rPr lang="zh-CN" altLang="en-US">
                <a:solidFill>
                  <a:schemeClr val="hlink"/>
                </a:solidFill>
              </a:rPr>
              <a:t>如</a:t>
            </a:r>
            <a:r>
              <a:rPr lang="en-US" altLang="zh-CN">
                <a:solidFill>
                  <a:schemeClr val="hlink"/>
                </a:solidFill>
              </a:rPr>
              <a:t>00</a:t>
            </a:r>
            <a:r>
              <a:rPr lang="zh-CN" altLang="en-US">
                <a:solidFill>
                  <a:schemeClr val="hlink"/>
                </a:solidFill>
              </a:rPr>
              <a:t>是</a:t>
            </a:r>
            <a:r>
              <a:rPr lang="en-US" altLang="zh-CN">
                <a:solidFill>
                  <a:schemeClr val="hlink"/>
                </a:solidFill>
              </a:rPr>
              <a:t>001</a:t>
            </a:r>
            <a:r>
              <a:rPr lang="zh-CN" altLang="en-US">
                <a:solidFill>
                  <a:schemeClr val="hlink"/>
                </a:solidFill>
              </a:rPr>
              <a:t>的前缀</a:t>
            </a:r>
            <a:endParaRPr lang="zh-CN" altLang="en-US">
              <a:solidFill>
                <a:schemeClr val="hlink"/>
              </a:solidFill>
            </a:endParaRPr>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p:nvPr>
        </p:nvSpPr>
        <p:spPr/>
        <p:txBody>
          <a:bodyPr vert="horz" wrap="square" lIns="91440" tIns="45720" rIns="91440" bIns="45720" anchor="b" anchorCtr="0"/>
          <a:p>
            <a:r>
              <a:rPr lang="zh-CN" altLang="en-US"/>
              <a:t>前缀码</a:t>
            </a:r>
            <a:r>
              <a:rPr lang="en-US" altLang="zh-CN"/>
              <a:t>(prefix code)</a:t>
            </a:r>
            <a:endParaRPr lang="zh-CN" altLang="en-US"/>
          </a:p>
        </p:txBody>
      </p:sp>
      <p:sp>
        <p:nvSpPr>
          <p:cNvPr id="32770" name="Rectangle 3"/>
          <p:cNvSpPr>
            <a:spLocks noGrp="1"/>
          </p:cNvSpPr>
          <p:nvPr>
            <p:ph idx="1"/>
          </p:nvPr>
        </p:nvSpPr>
        <p:spPr/>
        <p:txBody>
          <a:bodyPr vert="horz" wrap="square" lIns="91440" tIns="45720" rIns="91440" bIns="45720" anchor="t" anchorCtr="0"/>
          <a:p>
            <a:r>
              <a:rPr lang="zh-CN" altLang="en-US">
                <a:solidFill>
                  <a:schemeClr val="hlink"/>
                </a:solidFill>
              </a:rPr>
              <a:t>前缀码</a:t>
            </a:r>
            <a:r>
              <a:rPr lang="en-US" altLang="zh-CN"/>
              <a:t>: </a:t>
            </a:r>
            <a:r>
              <a:rPr lang="zh-CN" altLang="en-US">
                <a:solidFill>
                  <a:srgbClr val="FF0000"/>
                </a:solidFill>
              </a:rPr>
              <a:t>码字互相不为前缀</a:t>
            </a:r>
            <a:r>
              <a:rPr lang="zh-CN" altLang="en-US"/>
              <a:t>的</a:t>
            </a:r>
            <a:r>
              <a:rPr lang="zh-CN" altLang="en-US">
                <a:solidFill>
                  <a:srgbClr val="FF0000"/>
                </a:solidFill>
              </a:rPr>
              <a:t>不等长编码</a:t>
            </a:r>
            <a:endParaRPr lang="zh-CN" altLang="en-US"/>
          </a:p>
          <a:p>
            <a:r>
              <a:rPr lang="zh-CN" altLang="en-US"/>
              <a:t>前缀码与二叉树对应</a:t>
            </a:r>
            <a:endParaRPr lang="zh-CN" altLang="en-US"/>
          </a:p>
          <a:p>
            <a:r>
              <a:rPr lang="zh-CN" altLang="en-US">
                <a:solidFill>
                  <a:schemeClr val="hlink"/>
                </a:solidFill>
              </a:rPr>
              <a:t>例</a:t>
            </a:r>
            <a:r>
              <a:rPr lang="en-US" altLang="zh-CN"/>
              <a:t>:{0,1,2,3}</a:t>
            </a:r>
            <a:r>
              <a:rPr lang="zh-CN" altLang="en-US"/>
              <a:t>编码为</a:t>
            </a:r>
            <a:r>
              <a:rPr lang="en-US" altLang="zh-CN"/>
              <a:t>{00,010,011,1}</a:t>
            </a:r>
            <a:r>
              <a:rPr lang="zh-CN" altLang="en-US"/>
              <a:t>，</a:t>
            </a:r>
            <a:endParaRPr lang="en-US" altLang="zh-CN"/>
          </a:p>
          <a:p>
            <a:pPr>
              <a:buNone/>
            </a:pPr>
            <a:r>
              <a:rPr lang="en-US" altLang="zh-CN"/>
              <a:t>        </a:t>
            </a:r>
            <a:r>
              <a:rPr lang="zh-CN" altLang="en-US"/>
              <a:t>即</a:t>
            </a:r>
            <a:r>
              <a:rPr lang="en-US" altLang="zh-CN"/>
              <a:t>0</a:t>
            </a:r>
            <a:r>
              <a:rPr lang="en-US" altLang="zh-CN">
                <a:sym typeface="Symbol" panose="05050102010706020507" pitchFamily="18" charset="2"/>
              </a:rPr>
              <a:t>00, </a:t>
            </a:r>
            <a:r>
              <a:rPr lang="en-US" altLang="zh-CN"/>
              <a:t>1</a:t>
            </a:r>
            <a:r>
              <a:rPr lang="en-US" altLang="zh-CN">
                <a:sym typeface="Symbol" panose="05050102010706020507" pitchFamily="18" charset="2"/>
              </a:rPr>
              <a:t>010,</a:t>
            </a:r>
            <a:r>
              <a:rPr lang="en-US" altLang="zh-CN"/>
              <a:t> 2</a:t>
            </a:r>
            <a:r>
              <a:rPr lang="en-US" altLang="zh-CN">
                <a:sym typeface="Symbol" panose="05050102010706020507" pitchFamily="18" charset="2"/>
              </a:rPr>
              <a:t>011,</a:t>
            </a:r>
            <a:r>
              <a:rPr lang="en-US" altLang="zh-CN"/>
              <a:t> 3</a:t>
            </a:r>
            <a:r>
              <a:rPr lang="en-US" altLang="zh-CN">
                <a:sym typeface="Symbol" panose="05050102010706020507" pitchFamily="18" charset="2"/>
              </a:rPr>
              <a:t>1</a:t>
            </a:r>
            <a:endParaRPr lang="en-US" altLang="zh-CN"/>
          </a:p>
          <a:p>
            <a:pPr>
              <a:buNone/>
            </a:pPr>
            <a:r>
              <a:rPr lang="zh-CN" altLang="en-US"/>
              <a:t>     收到</a:t>
            </a:r>
            <a:r>
              <a:rPr lang="en-US" altLang="zh-CN"/>
              <a:t>00</a:t>
            </a:r>
            <a:r>
              <a:rPr lang="en-US" altLang="zh-CN">
                <a:solidFill>
                  <a:srgbClr val="FF00FF"/>
                </a:solidFill>
              </a:rPr>
              <a:t>011</a:t>
            </a:r>
            <a:r>
              <a:rPr lang="en-US" altLang="zh-CN"/>
              <a:t>1,</a:t>
            </a:r>
            <a:r>
              <a:rPr lang="zh-CN" altLang="en-US"/>
              <a:t>译为</a:t>
            </a:r>
            <a:r>
              <a:rPr lang="en-US" altLang="zh-CN"/>
              <a:t>0</a:t>
            </a:r>
            <a:r>
              <a:rPr lang="en-US" altLang="zh-CN">
                <a:solidFill>
                  <a:srgbClr val="FF00FF"/>
                </a:solidFill>
              </a:rPr>
              <a:t>2</a:t>
            </a:r>
            <a:r>
              <a:rPr lang="en-US" altLang="zh-CN"/>
              <a:t>3</a:t>
            </a:r>
            <a:endParaRPr lang="zh-CN" altLang="en-US"/>
          </a:p>
        </p:txBody>
      </p:sp>
      <p:grpSp>
        <p:nvGrpSpPr>
          <p:cNvPr id="32771" name="Group 29"/>
          <p:cNvGrpSpPr/>
          <p:nvPr/>
        </p:nvGrpSpPr>
        <p:grpSpPr>
          <a:xfrm>
            <a:off x="3419475" y="4019550"/>
            <a:ext cx="2497138" cy="2447925"/>
            <a:chOff x="385" y="2614"/>
            <a:chExt cx="1573" cy="1542"/>
          </a:xfrm>
        </p:grpSpPr>
        <p:grpSp>
          <p:nvGrpSpPr>
            <p:cNvPr id="32772" name="Group 24"/>
            <p:cNvGrpSpPr/>
            <p:nvPr/>
          </p:nvGrpSpPr>
          <p:grpSpPr>
            <a:xfrm>
              <a:off x="567" y="2614"/>
              <a:ext cx="1225" cy="1315"/>
              <a:chOff x="1111" y="2886"/>
              <a:chExt cx="1225" cy="1315"/>
            </a:xfrm>
          </p:grpSpPr>
          <p:sp>
            <p:nvSpPr>
              <p:cNvPr id="32773" name="Oval 5"/>
              <p:cNvSpPr/>
              <p:nvPr/>
            </p:nvSpPr>
            <p:spPr>
              <a:xfrm>
                <a:off x="1792" y="2886"/>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2774" name="Oval 6"/>
              <p:cNvSpPr/>
              <p:nvPr/>
            </p:nvSpPr>
            <p:spPr>
              <a:xfrm>
                <a:off x="1474" y="3294"/>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2775" name="Oval 7"/>
              <p:cNvSpPr/>
              <p:nvPr/>
            </p:nvSpPr>
            <p:spPr>
              <a:xfrm>
                <a:off x="2200" y="3294"/>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2776" name="Line 8"/>
              <p:cNvSpPr/>
              <p:nvPr/>
            </p:nvSpPr>
            <p:spPr>
              <a:xfrm flipH="1">
                <a:off x="1565" y="3022"/>
                <a:ext cx="272" cy="318"/>
              </a:xfrm>
              <a:prstGeom prst="line">
                <a:avLst/>
              </a:prstGeom>
              <a:ln w="9525" cap="flat" cmpd="sng">
                <a:solidFill>
                  <a:schemeClr val="tx1"/>
                </a:solidFill>
                <a:prstDash val="solid"/>
                <a:round/>
                <a:headEnd type="none" w="med" len="med"/>
                <a:tailEnd type="none" w="med" len="med"/>
              </a:ln>
            </p:spPr>
          </p:sp>
          <p:sp>
            <p:nvSpPr>
              <p:cNvPr id="32777" name="Line 9"/>
              <p:cNvSpPr/>
              <p:nvPr/>
            </p:nvSpPr>
            <p:spPr>
              <a:xfrm>
                <a:off x="1882" y="3022"/>
                <a:ext cx="363" cy="318"/>
              </a:xfrm>
              <a:prstGeom prst="line">
                <a:avLst/>
              </a:prstGeom>
              <a:ln w="9525" cap="flat" cmpd="sng">
                <a:solidFill>
                  <a:schemeClr val="tx1"/>
                </a:solidFill>
                <a:prstDash val="solid"/>
                <a:round/>
                <a:headEnd type="none" w="med" len="med"/>
                <a:tailEnd type="none" w="med" len="med"/>
              </a:ln>
            </p:spPr>
          </p:sp>
          <p:sp>
            <p:nvSpPr>
              <p:cNvPr id="32778" name="Oval 10"/>
              <p:cNvSpPr/>
              <p:nvPr/>
            </p:nvSpPr>
            <p:spPr>
              <a:xfrm>
                <a:off x="1111" y="3657"/>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2779" name="Oval 11"/>
              <p:cNvSpPr/>
              <p:nvPr/>
            </p:nvSpPr>
            <p:spPr>
              <a:xfrm>
                <a:off x="1746" y="3703"/>
                <a:ext cx="136" cy="136"/>
              </a:xfrm>
              <a:prstGeom prst="ellipse">
                <a:avLst/>
              </a:prstGeom>
              <a:solidFill>
                <a:schemeClr val="folHlink"/>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2780" name="Line 12"/>
              <p:cNvSpPr/>
              <p:nvPr/>
            </p:nvSpPr>
            <p:spPr>
              <a:xfrm flipH="1">
                <a:off x="1247" y="3430"/>
                <a:ext cx="273" cy="227"/>
              </a:xfrm>
              <a:prstGeom prst="line">
                <a:avLst/>
              </a:prstGeom>
              <a:ln w="9525" cap="flat" cmpd="sng">
                <a:solidFill>
                  <a:schemeClr val="tx1"/>
                </a:solidFill>
                <a:prstDash val="solid"/>
                <a:round/>
                <a:headEnd type="none" w="med" len="med"/>
                <a:tailEnd type="none" w="med" len="med"/>
              </a:ln>
            </p:spPr>
          </p:sp>
          <p:sp>
            <p:nvSpPr>
              <p:cNvPr id="32781" name="Line 13"/>
              <p:cNvSpPr/>
              <p:nvPr/>
            </p:nvSpPr>
            <p:spPr>
              <a:xfrm>
                <a:off x="1565" y="3430"/>
                <a:ext cx="227" cy="318"/>
              </a:xfrm>
              <a:prstGeom prst="line">
                <a:avLst/>
              </a:prstGeom>
              <a:ln w="9525" cap="flat" cmpd="sng">
                <a:solidFill>
                  <a:schemeClr val="tx1"/>
                </a:solidFill>
                <a:prstDash val="solid"/>
                <a:round/>
                <a:headEnd type="none" w="med" len="med"/>
                <a:tailEnd type="none" w="med" len="med"/>
              </a:ln>
            </p:spPr>
          </p:sp>
          <p:sp>
            <p:nvSpPr>
              <p:cNvPr id="32782" name="Line 14"/>
              <p:cNvSpPr/>
              <p:nvPr/>
            </p:nvSpPr>
            <p:spPr>
              <a:xfrm>
                <a:off x="1837" y="3793"/>
                <a:ext cx="271" cy="318"/>
              </a:xfrm>
              <a:prstGeom prst="line">
                <a:avLst/>
              </a:prstGeom>
              <a:ln w="9525" cap="flat" cmpd="sng">
                <a:solidFill>
                  <a:schemeClr val="tx1"/>
                </a:solidFill>
                <a:prstDash val="solid"/>
                <a:round/>
                <a:headEnd type="none" w="med" len="med"/>
                <a:tailEnd type="none" w="med" len="med"/>
              </a:ln>
            </p:spPr>
          </p:sp>
          <p:sp>
            <p:nvSpPr>
              <p:cNvPr id="32783" name="Oval 15"/>
              <p:cNvSpPr/>
              <p:nvPr/>
            </p:nvSpPr>
            <p:spPr>
              <a:xfrm>
                <a:off x="2064" y="4065"/>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2784" name="Line 16"/>
              <p:cNvSpPr/>
              <p:nvPr/>
            </p:nvSpPr>
            <p:spPr>
              <a:xfrm flipH="1">
                <a:off x="1610" y="3838"/>
                <a:ext cx="181" cy="272"/>
              </a:xfrm>
              <a:prstGeom prst="line">
                <a:avLst/>
              </a:prstGeom>
              <a:ln w="9525" cap="flat" cmpd="sng">
                <a:solidFill>
                  <a:schemeClr val="tx1"/>
                </a:solidFill>
                <a:prstDash val="solid"/>
                <a:round/>
                <a:headEnd type="none" w="med" len="med"/>
                <a:tailEnd type="none" w="med" len="med"/>
              </a:ln>
            </p:spPr>
          </p:sp>
          <p:sp>
            <p:nvSpPr>
              <p:cNvPr id="32785" name="Oval 17"/>
              <p:cNvSpPr/>
              <p:nvPr/>
            </p:nvSpPr>
            <p:spPr>
              <a:xfrm>
                <a:off x="1519" y="4065"/>
                <a:ext cx="136" cy="136"/>
              </a:xfrm>
              <a:prstGeom prst="ellipse">
                <a:avLst/>
              </a:prstGeom>
              <a:solidFill>
                <a:srgbClr val="996633"/>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32786" name="Text Box 18"/>
              <p:cNvSpPr txBox="1"/>
              <p:nvPr/>
            </p:nvSpPr>
            <p:spPr>
              <a:xfrm>
                <a:off x="1507" y="2944"/>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32787" name="Text Box 19"/>
              <p:cNvSpPr txBox="1"/>
              <p:nvPr/>
            </p:nvSpPr>
            <p:spPr>
              <a:xfrm>
                <a:off x="2018" y="2931"/>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32788" name="Text Box 20"/>
              <p:cNvSpPr txBox="1"/>
              <p:nvPr/>
            </p:nvSpPr>
            <p:spPr>
              <a:xfrm>
                <a:off x="1202" y="3294"/>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32789" name="Text Box 21"/>
              <p:cNvSpPr txBox="1"/>
              <p:nvPr/>
            </p:nvSpPr>
            <p:spPr>
              <a:xfrm>
                <a:off x="1655" y="3385"/>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32790" name="Text Box 22"/>
              <p:cNvSpPr txBox="1"/>
              <p:nvPr/>
            </p:nvSpPr>
            <p:spPr>
              <a:xfrm>
                <a:off x="1519" y="3777"/>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32791" name="Text Box 23"/>
              <p:cNvSpPr txBox="1"/>
              <p:nvPr/>
            </p:nvSpPr>
            <p:spPr>
              <a:xfrm>
                <a:off x="1973" y="374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grpSp>
        <p:sp>
          <p:nvSpPr>
            <p:cNvPr id="32792" name="Text Box 25"/>
            <p:cNvSpPr txBox="1"/>
            <p:nvPr/>
          </p:nvSpPr>
          <p:spPr>
            <a:xfrm>
              <a:off x="385" y="3475"/>
              <a:ext cx="308" cy="288"/>
            </a:xfrm>
            <a:prstGeom prst="rect">
              <a:avLst/>
            </a:prstGeom>
            <a:noFill/>
            <a:ln w="9525">
              <a:noFill/>
            </a:ln>
          </p:spPr>
          <p:txBody>
            <a:bodyPr wrap="none" anchor="t" anchorCtr="0">
              <a:spAutoFit/>
            </a:bodyPr>
            <a:p>
              <a:pPr>
                <a:buSzTx/>
              </a:pPr>
              <a:r>
                <a:rPr lang="en-US" altLang="zh-CN" sz="2400">
                  <a:solidFill>
                    <a:srgbClr val="996633"/>
                  </a:solidFill>
                  <a:latin typeface="Times New Roman" panose="02020603050405020304" pitchFamily="18" charset="0"/>
                  <a:ea typeface="宋体" panose="02010600030101010101" pitchFamily="2" charset="-122"/>
                </a:rPr>
                <a:t>00</a:t>
              </a:r>
              <a:endParaRPr lang="en-US" altLang="zh-CN" sz="2400">
                <a:solidFill>
                  <a:srgbClr val="996633"/>
                </a:solidFill>
                <a:latin typeface="Times New Roman" panose="02020603050405020304" pitchFamily="18" charset="0"/>
                <a:ea typeface="宋体" panose="02010600030101010101" pitchFamily="2" charset="-122"/>
              </a:endParaRPr>
            </a:p>
          </p:txBody>
        </p:sp>
        <p:sp>
          <p:nvSpPr>
            <p:cNvPr id="32793" name="Text Box 26"/>
            <p:cNvSpPr txBox="1"/>
            <p:nvPr/>
          </p:nvSpPr>
          <p:spPr>
            <a:xfrm>
              <a:off x="793" y="3868"/>
              <a:ext cx="404" cy="288"/>
            </a:xfrm>
            <a:prstGeom prst="rect">
              <a:avLst/>
            </a:prstGeom>
            <a:noFill/>
            <a:ln w="9525">
              <a:noFill/>
            </a:ln>
          </p:spPr>
          <p:txBody>
            <a:bodyPr wrap="none" anchor="t" anchorCtr="0">
              <a:spAutoFit/>
            </a:bodyPr>
            <a:p>
              <a:pPr>
                <a:buSzTx/>
              </a:pPr>
              <a:r>
                <a:rPr lang="en-US" altLang="zh-CN" sz="2400">
                  <a:solidFill>
                    <a:srgbClr val="996633"/>
                  </a:solidFill>
                  <a:latin typeface="Times New Roman" panose="02020603050405020304" pitchFamily="18" charset="0"/>
                  <a:ea typeface="宋体" panose="02010600030101010101" pitchFamily="2" charset="-122"/>
                </a:rPr>
                <a:t>010</a:t>
              </a:r>
              <a:endParaRPr lang="en-US" altLang="zh-CN" sz="2400">
                <a:solidFill>
                  <a:srgbClr val="996633"/>
                </a:solidFill>
                <a:latin typeface="Times New Roman" panose="02020603050405020304" pitchFamily="18" charset="0"/>
                <a:ea typeface="宋体" panose="02010600030101010101" pitchFamily="2" charset="-122"/>
              </a:endParaRPr>
            </a:p>
          </p:txBody>
        </p:sp>
        <p:sp>
          <p:nvSpPr>
            <p:cNvPr id="32794" name="Text Box 27"/>
            <p:cNvSpPr txBox="1"/>
            <p:nvPr/>
          </p:nvSpPr>
          <p:spPr>
            <a:xfrm>
              <a:off x="1519" y="3868"/>
              <a:ext cx="404" cy="288"/>
            </a:xfrm>
            <a:prstGeom prst="rect">
              <a:avLst/>
            </a:prstGeom>
            <a:noFill/>
            <a:ln w="9525">
              <a:noFill/>
            </a:ln>
          </p:spPr>
          <p:txBody>
            <a:bodyPr wrap="none" anchor="t" anchorCtr="0">
              <a:spAutoFit/>
            </a:bodyPr>
            <a:p>
              <a:pPr>
                <a:buSzTx/>
              </a:pPr>
              <a:r>
                <a:rPr lang="en-US" altLang="zh-CN" sz="2400">
                  <a:solidFill>
                    <a:srgbClr val="996633"/>
                  </a:solidFill>
                  <a:latin typeface="Times New Roman" panose="02020603050405020304" pitchFamily="18" charset="0"/>
                  <a:ea typeface="宋体" panose="02010600030101010101" pitchFamily="2" charset="-122"/>
                </a:rPr>
                <a:t>011</a:t>
              </a:r>
              <a:endParaRPr lang="en-US" altLang="zh-CN" sz="2400">
                <a:solidFill>
                  <a:srgbClr val="996633"/>
                </a:solidFill>
                <a:latin typeface="Times New Roman" panose="02020603050405020304" pitchFamily="18" charset="0"/>
                <a:ea typeface="宋体" panose="02010600030101010101" pitchFamily="2" charset="-122"/>
              </a:endParaRPr>
            </a:p>
          </p:txBody>
        </p:sp>
        <p:sp>
          <p:nvSpPr>
            <p:cNvPr id="32795" name="Text Box 28"/>
            <p:cNvSpPr txBox="1"/>
            <p:nvPr/>
          </p:nvSpPr>
          <p:spPr>
            <a:xfrm>
              <a:off x="1746" y="3022"/>
              <a:ext cx="212" cy="288"/>
            </a:xfrm>
            <a:prstGeom prst="rect">
              <a:avLst/>
            </a:prstGeom>
            <a:noFill/>
            <a:ln w="9525">
              <a:noFill/>
            </a:ln>
          </p:spPr>
          <p:txBody>
            <a:bodyPr wrap="none" anchor="t" anchorCtr="0">
              <a:spAutoFit/>
            </a:bodyPr>
            <a:p>
              <a:pPr>
                <a:buSzTx/>
              </a:pPr>
              <a:r>
                <a:rPr lang="en-US" altLang="zh-CN" sz="2400">
                  <a:solidFill>
                    <a:srgbClr val="996633"/>
                  </a:solidFill>
                  <a:latin typeface="Times New Roman" panose="02020603050405020304" pitchFamily="18" charset="0"/>
                  <a:ea typeface="宋体" panose="02010600030101010101" pitchFamily="2" charset="-122"/>
                </a:rPr>
                <a:t>1</a:t>
              </a:r>
              <a:endParaRPr lang="en-US" altLang="zh-CN" sz="2400">
                <a:solidFill>
                  <a:srgbClr val="996633"/>
                </a:solidFill>
                <a:latin typeface="Times New Roman" panose="02020603050405020304" pitchFamily="18" charset="0"/>
                <a:ea typeface="宋体" panose="02010600030101010101" pitchFamily="2" charset="-122"/>
              </a:endParaRPr>
            </a:p>
          </p:txBody>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p:txBody>
          <a:bodyPr vert="horz" wrap="square" lIns="91440" tIns="45720" rIns="91440" bIns="45720" anchor="b" anchorCtr="0"/>
          <a:p>
            <a:r>
              <a:rPr lang="zh-CN" altLang="en-US"/>
              <a:t>前缀码的得到</a:t>
            </a:r>
            <a:endParaRPr lang="zh-CN" altLang="en-US"/>
          </a:p>
        </p:txBody>
      </p:sp>
      <p:sp>
        <p:nvSpPr>
          <p:cNvPr id="33794" name="Rectangle 3"/>
          <p:cNvSpPr>
            <a:spLocks noGrp="1"/>
          </p:cNvSpPr>
          <p:nvPr>
            <p:ph idx="1"/>
          </p:nvPr>
        </p:nvSpPr>
        <p:spPr>
          <a:xfrm>
            <a:off x="323850" y="1412875"/>
            <a:ext cx="8496300" cy="5040313"/>
          </a:xfrm>
        </p:spPr>
        <p:txBody>
          <a:bodyPr vert="horz" wrap="square" lIns="91440" tIns="45720" rIns="91440" bIns="45720" anchor="t" anchorCtr="0"/>
          <a:p>
            <a:pPr>
              <a:lnSpc>
                <a:spcPct val="120000"/>
              </a:lnSpc>
              <a:spcBef>
                <a:spcPct val="0"/>
              </a:spcBef>
              <a:buNone/>
            </a:pPr>
            <a:r>
              <a:rPr lang="zh-CN" altLang="en-US">
                <a:solidFill>
                  <a:schemeClr val="hlink"/>
                </a:solidFill>
              </a:rPr>
              <a:t>定理</a:t>
            </a:r>
            <a:r>
              <a:rPr lang="en-US" altLang="zh-CN">
                <a:solidFill>
                  <a:schemeClr val="folHlink"/>
                </a:solidFill>
              </a:rPr>
              <a:t>  </a:t>
            </a:r>
            <a:r>
              <a:rPr lang="zh-CN" altLang="en-US"/>
              <a:t>任意一棵二叉树的树叶可对应一个前缀码</a:t>
            </a:r>
            <a:r>
              <a:rPr lang="en-US" altLang="zh-CN"/>
              <a:t>.</a:t>
            </a:r>
            <a:endParaRPr lang="en-US" altLang="zh-CN"/>
          </a:p>
          <a:p>
            <a:pPr>
              <a:lnSpc>
                <a:spcPct val="120000"/>
              </a:lnSpc>
              <a:spcBef>
                <a:spcPct val="0"/>
              </a:spcBef>
              <a:buNone/>
            </a:pPr>
            <a:r>
              <a:rPr lang="zh-CN" altLang="en-US">
                <a:solidFill>
                  <a:schemeClr val="hlink"/>
                </a:solidFill>
              </a:rPr>
              <a:t>证明</a:t>
            </a:r>
            <a:r>
              <a:rPr lang="zh-CN" altLang="en-US"/>
              <a:t>  给定一棵二叉树</a:t>
            </a:r>
            <a:r>
              <a:rPr lang="en-US" altLang="zh-CN"/>
              <a:t>,</a:t>
            </a:r>
            <a:r>
              <a:rPr lang="zh-CN" altLang="en-US"/>
              <a:t>对每个分支点</a:t>
            </a:r>
            <a:r>
              <a:rPr lang="en-US" altLang="zh-CN"/>
              <a:t>,</a:t>
            </a:r>
            <a:r>
              <a:rPr lang="zh-CN" altLang="en-US"/>
              <a:t>若关联</a:t>
            </a:r>
            <a:r>
              <a:rPr lang="en-US" altLang="zh-CN"/>
              <a:t>2</a:t>
            </a:r>
            <a:r>
              <a:rPr lang="zh-CN" altLang="en-US"/>
              <a:t>条边</a:t>
            </a:r>
            <a:r>
              <a:rPr lang="en-US" altLang="zh-CN"/>
              <a:t>, </a:t>
            </a:r>
            <a:endParaRPr lang="en-US" altLang="zh-CN"/>
          </a:p>
          <a:p>
            <a:pPr>
              <a:lnSpc>
                <a:spcPct val="120000"/>
              </a:lnSpc>
              <a:spcBef>
                <a:spcPct val="0"/>
              </a:spcBef>
              <a:buNone/>
            </a:pPr>
            <a:r>
              <a:rPr lang="zh-CN" altLang="en-US"/>
              <a:t>则给左边标</a:t>
            </a:r>
            <a:r>
              <a:rPr lang="en-US" altLang="zh-CN"/>
              <a:t>0,</a:t>
            </a:r>
            <a:r>
              <a:rPr lang="zh-CN" altLang="en-US"/>
              <a:t>右边标</a:t>
            </a:r>
            <a:r>
              <a:rPr lang="en-US" altLang="zh-CN"/>
              <a:t>1; </a:t>
            </a:r>
            <a:r>
              <a:rPr lang="zh-CN" altLang="en-US"/>
              <a:t>若只关联</a:t>
            </a:r>
            <a:r>
              <a:rPr lang="en-US" altLang="zh-CN"/>
              <a:t>1</a:t>
            </a:r>
            <a:r>
              <a:rPr lang="zh-CN" altLang="en-US"/>
              <a:t>条边</a:t>
            </a:r>
            <a:r>
              <a:rPr lang="en-US" altLang="zh-CN"/>
              <a:t>,</a:t>
            </a:r>
            <a:r>
              <a:rPr lang="zh-CN" altLang="en-US"/>
              <a:t>则可以给它标</a:t>
            </a:r>
            <a:r>
              <a:rPr lang="en-US" altLang="zh-CN"/>
              <a:t>0(</a:t>
            </a:r>
            <a:r>
              <a:rPr lang="zh-CN" altLang="en-US"/>
              <a:t>看作左边</a:t>
            </a:r>
            <a:r>
              <a:rPr lang="en-US" altLang="zh-CN"/>
              <a:t>),</a:t>
            </a:r>
            <a:r>
              <a:rPr lang="zh-CN" altLang="en-US"/>
              <a:t>也可以标</a:t>
            </a:r>
            <a:r>
              <a:rPr lang="en-US" altLang="zh-CN"/>
              <a:t>1(</a:t>
            </a:r>
            <a:r>
              <a:rPr lang="zh-CN" altLang="en-US"/>
              <a:t>看作右边</a:t>
            </a:r>
            <a:r>
              <a:rPr lang="en-US" altLang="zh-CN"/>
              <a:t>). </a:t>
            </a:r>
            <a:r>
              <a:rPr lang="zh-CN" altLang="en-US"/>
              <a:t>将从树根到每一片树叶的通路上标的数字组成的字符串标定在树叶处</a:t>
            </a:r>
            <a:r>
              <a:rPr lang="en-US" altLang="zh-CN"/>
              <a:t>.</a:t>
            </a:r>
            <a:r>
              <a:rPr lang="zh-CN" altLang="en-US"/>
              <a:t>因为没有一片树叶的标定字符串是另一片树叶标定字符串的</a:t>
            </a:r>
            <a:r>
              <a:rPr lang="zh-CN" altLang="en-US">
                <a:solidFill>
                  <a:srgbClr val="FF00FF"/>
                </a:solidFill>
              </a:rPr>
              <a:t>前缀</a:t>
            </a:r>
            <a:r>
              <a:rPr lang="en-US" altLang="zh-CN"/>
              <a:t>,</a:t>
            </a:r>
            <a:r>
              <a:rPr lang="zh-CN" altLang="en-US"/>
              <a:t>因此任何一棵二叉树的树叶对应一个前缀码</a:t>
            </a:r>
            <a:r>
              <a:rPr lang="en-US" altLang="zh-CN"/>
              <a:t>.</a:t>
            </a:r>
            <a:endParaRPr lang="en-US" altLang="zh-CN"/>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4">
                                            <p:txEl>
                                              <p:charRg st="24" end="5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4">
                                            <p:txEl>
                                              <p:charRg st="52" end="18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p:txBody>
          <a:bodyPr vert="horz" wrap="square" lIns="91440" tIns="45720" rIns="91440" bIns="45720" anchor="b" anchorCtr="0"/>
          <a:p>
            <a:r>
              <a:rPr lang="zh-CN" altLang="en-US"/>
              <a:t>实例</a:t>
            </a:r>
            <a:endParaRPr lang="zh-CN" altLang="en-US"/>
          </a:p>
        </p:txBody>
      </p:sp>
      <p:sp>
        <p:nvSpPr>
          <p:cNvPr id="36866" name="Rectangle 3"/>
          <p:cNvSpPr>
            <a:spLocks noGrp="1"/>
          </p:cNvSpPr>
          <p:nvPr>
            <p:ph idx="1"/>
          </p:nvPr>
        </p:nvSpPr>
        <p:spPr>
          <a:xfrm>
            <a:off x="323850" y="1412875"/>
            <a:ext cx="2663825" cy="720725"/>
          </a:xfrm>
        </p:spPr>
        <p:txBody>
          <a:bodyPr vert="horz" wrap="square" lIns="91440" tIns="45720" rIns="91440" bIns="45720" anchor="t" anchorCtr="0"/>
          <a:p>
            <a:pPr>
              <a:buNone/>
            </a:pPr>
            <a:r>
              <a:rPr lang="zh-CN" altLang="en-US">
                <a:solidFill>
                  <a:schemeClr val="folHlink"/>
                </a:solidFill>
              </a:rPr>
              <a:t>如下图所示。</a:t>
            </a:r>
            <a:endParaRPr lang="zh-CN" altLang="en-US">
              <a:solidFill>
                <a:schemeClr val="folHlink"/>
              </a:solidFill>
            </a:endParaRPr>
          </a:p>
        </p:txBody>
      </p:sp>
      <p:pic>
        <p:nvPicPr>
          <p:cNvPr id="260100" name="Picture 4" descr="16-10(1)"/>
          <p:cNvPicPr>
            <a:picLocks noChangeAspect="1"/>
          </p:cNvPicPr>
          <p:nvPr/>
        </p:nvPicPr>
        <p:blipFill>
          <a:blip r:embed="rId1"/>
          <a:stretch>
            <a:fillRect/>
          </a:stretch>
        </p:blipFill>
        <p:spPr>
          <a:xfrm>
            <a:off x="2339975" y="2062163"/>
            <a:ext cx="3024188" cy="2989262"/>
          </a:xfrm>
          <a:prstGeom prst="rect">
            <a:avLst/>
          </a:prstGeom>
          <a:noFill/>
          <a:ln w="9525">
            <a:noFill/>
          </a:ln>
        </p:spPr>
      </p:pic>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0100"/>
                                        </p:tgtEl>
                                        <p:attrNameLst>
                                          <p:attrName>style.visibility</p:attrName>
                                        </p:attrNameLst>
                                      </p:cBhvr>
                                      <p:to>
                                        <p:strVal val="visible"/>
                                      </p:to>
                                    </p:set>
                                    <p:anim calcmode="lin" valueType="num">
                                      <p:cBhvr>
                                        <p:cTn id="7" dur="500" fill="hold"/>
                                        <p:tgtEl>
                                          <p:spTgt spid="260100"/>
                                        </p:tgtEl>
                                        <p:attrNameLst>
                                          <p:attrName>ppt_w</p:attrName>
                                        </p:attrNameLst>
                                      </p:cBhvr>
                                      <p:tavLst>
                                        <p:tav tm="0">
                                          <p:val>
                                            <p:fltVal val="0.000000"/>
                                          </p:val>
                                        </p:tav>
                                        <p:tav tm="100000">
                                          <p:val>
                                            <p:strVal val="#ppt_w"/>
                                          </p:val>
                                        </p:tav>
                                      </p:tavLst>
                                    </p:anim>
                                    <p:anim calcmode="lin" valueType="num">
                                      <p:cBhvr>
                                        <p:cTn id="8" dur="500" fill="hold"/>
                                        <p:tgtEl>
                                          <p:spTgt spid="260100"/>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p:nvPr>
        </p:nvSpPr>
        <p:spPr/>
        <p:txBody>
          <a:bodyPr vert="horz" wrap="square" lIns="91440" tIns="45720" rIns="91440" bIns="45720" anchor="b" anchorCtr="0"/>
          <a:p>
            <a:r>
              <a:rPr lang="zh-CN" altLang="en-US"/>
              <a:t>前缀码对应二叉树</a:t>
            </a:r>
            <a:endParaRPr lang="zh-CN" altLang="en-US"/>
          </a:p>
        </p:txBody>
      </p:sp>
      <p:sp>
        <p:nvSpPr>
          <p:cNvPr id="37890" name="Rectangle 3"/>
          <p:cNvSpPr>
            <a:spLocks noGrp="1"/>
          </p:cNvSpPr>
          <p:nvPr>
            <p:ph idx="1"/>
          </p:nvPr>
        </p:nvSpPr>
        <p:spPr>
          <a:xfrm>
            <a:off x="179388" y="1266825"/>
            <a:ext cx="8785225" cy="5591175"/>
          </a:xfrm>
        </p:spPr>
        <p:txBody>
          <a:bodyPr vert="horz" wrap="square" lIns="91440" tIns="45720" rIns="91440" bIns="45720" anchor="t" anchorCtr="0"/>
          <a:p>
            <a:pPr>
              <a:spcBef>
                <a:spcPct val="20000"/>
              </a:spcBef>
              <a:buNone/>
            </a:pPr>
            <a:r>
              <a:rPr lang="zh-CN" altLang="en-US">
                <a:solidFill>
                  <a:schemeClr val="hlink"/>
                </a:solidFill>
              </a:rPr>
              <a:t>定理</a:t>
            </a:r>
            <a:r>
              <a:rPr lang="en-US" altLang="zh-CN">
                <a:solidFill>
                  <a:schemeClr val="folHlink"/>
                </a:solidFill>
              </a:rPr>
              <a:t>  </a:t>
            </a:r>
            <a:r>
              <a:rPr lang="zh-CN" altLang="en-US"/>
              <a:t>任何一个前缀码都对应一棵二叉树</a:t>
            </a:r>
            <a:r>
              <a:rPr lang="en-US" altLang="zh-CN"/>
              <a:t>.</a:t>
            </a:r>
            <a:endParaRPr lang="en-US" altLang="zh-CN"/>
          </a:p>
          <a:p>
            <a:pPr>
              <a:spcBef>
                <a:spcPct val="20000"/>
              </a:spcBef>
              <a:buNone/>
            </a:pPr>
            <a:r>
              <a:rPr lang="zh-CN" altLang="en-US">
                <a:solidFill>
                  <a:schemeClr val="hlink"/>
                </a:solidFill>
              </a:rPr>
              <a:t>证明 </a:t>
            </a:r>
            <a:r>
              <a:rPr lang="zh-CN" altLang="en-US"/>
              <a:t> </a:t>
            </a:r>
            <a:r>
              <a:rPr lang="zh-CN" altLang="en-US">
                <a:solidFill>
                  <a:schemeClr val="folHlink"/>
                </a:solidFill>
              </a:rPr>
              <a:t>设给定一个前缀码</a:t>
            </a:r>
            <a:r>
              <a:rPr lang="en-US" altLang="zh-CN">
                <a:solidFill>
                  <a:schemeClr val="folHlink"/>
                </a:solidFill>
              </a:rPr>
              <a:t>,</a:t>
            </a:r>
            <a:r>
              <a:rPr lang="zh-CN" altLang="en-US">
                <a:solidFill>
                  <a:schemeClr val="folHlink"/>
                </a:solidFill>
              </a:rPr>
              <a:t>前缀码中最长序列的长度为</a:t>
            </a:r>
            <a:r>
              <a:rPr lang="en-US" altLang="zh-CN" i="1">
                <a:solidFill>
                  <a:schemeClr val="folHlink"/>
                </a:solidFill>
              </a:rPr>
              <a:t>h</a:t>
            </a:r>
            <a:r>
              <a:rPr lang="en-US" altLang="zh-CN">
                <a:solidFill>
                  <a:schemeClr val="folHlink"/>
                </a:solidFill>
              </a:rPr>
              <a:t>.</a:t>
            </a:r>
            <a:r>
              <a:rPr lang="zh-CN" altLang="en-US">
                <a:solidFill>
                  <a:schemeClr val="folHlink"/>
                </a:solidFill>
              </a:rPr>
              <a:t>画出一棵高度为</a:t>
            </a:r>
            <a:r>
              <a:rPr lang="en-US" altLang="zh-CN" i="1">
                <a:solidFill>
                  <a:schemeClr val="folHlink"/>
                </a:solidFill>
              </a:rPr>
              <a:t>h</a:t>
            </a:r>
            <a:r>
              <a:rPr lang="zh-CN" altLang="en-US">
                <a:solidFill>
                  <a:schemeClr val="folHlink"/>
                </a:solidFill>
              </a:rPr>
              <a:t>的完全正则二叉树</a:t>
            </a:r>
            <a:r>
              <a:rPr lang="en-US" altLang="zh-CN">
                <a:solidFill>
                  <a:schemeClr val="folHlink"/>
                </a:solidFill>
              </a:rPr>
              <a:t>,</a:t>
            </a:r>
            <a:r>
              <a:rPr lang="zh-CN" altLang="en-US">
                <a:solidFill>
                  <a:schemeClr val="folHlink"/>
                </a:solidFill>
              </a:rPr>
              <a:t>给每个分枝点射出的两条边分别标以</a:t>
            </a:r>
            <a:r>
              <a:rPr lang="en-US" altLang="zh-CN">
                <a:solidFill>
                  <a:schemeClr val="folHlink"/>
                </a:solidFill>
              </a:rPr>
              <a:t>0</a:t>
            </a:r>
            <a:r>
              <a:rPr lang="zh-CN" altLang="en-US">
                <a:solidFill>
                  <a:schemeClr val="folHlink"/>
                </a:solidFill>
              </a:rPr>
              <a:t>和</a:t>
            </a:r>
            <a:r>
              <a:rPr lang="en-US" altLang="zh-CN">
                <a:solidFill>
                  <a:schemeClr val="folHlink"/>
                </a:solidFill>
              </a:rPr>
              <a:t>1,</a:t>
            </a:r>
            <a:r>
              <a:rPr lang="zh-CN" altLang="en-US">
                <a:solidFill>
                  <a:schemeClr val="folHlink"/>
                </a:solidFill>
              </a:rPr>
              <a:t>这样树中的每个结点可以标定一个长度不超过</a:t>
            </a:r>
            <a:r>
              <a:rPr lang="en-US" altLang="zh-CN" i="1">
                <a:solidFill>
                  <a:schemeClr val="folHlink"/>
                </a:solidFill>
              </a:rPr>
              <a:t>h</a:t>
            </a:r>
            <a:r>
              <a:rPr lang="zh-CN" altLang="en-US">
                <a:solidFill>
                  <a:schemeClr val="folHlink"/>
                </a:solidFill>
              </a:rPr>
              <a:t>的二进制序列</a:t>
            </a:r>
            <a:r>
              <a:rPr lang="en-US" altLang="zh-CN">
                <a:solidFill>
                  <a:schemeClr val="folHlink"/>
                </a:solidFill>
              </a:rPr>
              <a:t>,</a:t>
            </a:r>
            <a:r>
              <a:rPr lang="zh-CN" altLang="en-US">
                <a:solidFill>
                  <a:schemeClr val="folHlink"/>
                </a:solidFill>
              </a:rPr>
              <a:t>它是从树根到该结点通路上各边的标号所确定</a:t>
            </a:r>
            <a:r>
              <a:rPr lang="en-US" altLang="zh-CN">
                <a:solidFill>
                  <a:schemeClr val="folHlink"/>
                </a:solidFill>
              </a:rPr>
              <a:t>,</a:t>
            </a:r>
            <a:r>
              <a:rPr lang="zh-CN" altLang="en-US">
                <a:solidFill>
                  <a:schemeClr val="folHlink"/>
                </a:solidFill>
              </a:rPr>
              <a:t>因此长度不超过</a:t>
            </a:r>
            <a:r>
              <a:rPr lang="en-US" altLang="zh-CN" i="1">
                <a:solidFill>
                  <a:schemeClr val="folHlink"/>
                </a:solidFill>
              </a:rPr>
              <a:t>h</a:t>
            </a:r>
            <a:r>
              <a:rPr lang="zh-CN" altLang="en-US">
                <a:solidFill>
                  <a:schemeClr val="folHlink"/>
                </a:solidFill>
              </a:rPr>
              <a:t>的每一个二进制序列必对应一个结点</a:t>
            </a:r>
            <a:r>
              <a:rPr lang="en-US" altLang="zh-CN">
                <a:solidFill>
                  <a:schemeClr val="folHlink"/>
                </a:solidFill>
              </a:rPr>
              <a:t>.</a:t>
            </a:r>
            <a:endParaRPr lang="en-US" altLang="zh-CN">
              <a:solidFill>
                <a:schemeClr val="folHlink"/>
              </a:solidFill>
            </a:endParaRPr>
          </a:p>
          <a:p>
            <a:pPr>
              <a:spcBef>
                <a:spcPct val="20000"/>
              </a:spcBef>
              <a:buNone/>
            </a:pPr>
            <a:r>
              <a:rPr lang="zh-CN" altLang="en-US">
                <a:solidFill>
                  <a:schemeClr val="folHlink"/>
                </a:solidFill>
              </a:rPr>
              <a:t>   对应于前缀码中的每一序列的结点给予一个标记</a:t>
            </a:r>
            <a:r>
              <a:rPr lang="en-US" altLang="zh-CN">
                <a:solidFill>
                  <a:schemeClr val="folHlink"/>
                </a:solidFill>
              </a:rPr>
              <a:t>,</a:t>
            </a:r>
            <a:r>
              <a:rPr lang="zh-CN" altLang="en-US">
                <a:solidFill>
                  <a:schemeClr val="folHlink"/>
                </a:solidFill>
              </a:rPr>
              <a:t>并将标记结点的所有后裔和射出的边全部删掉</a:t>
            </a:r>
            <a:r>
              <a:rPr lang="en-US" altLang="zh-CN">
                <a:solidFill>
                  <a:schemeClr val="folHlink"/>
                </a:solidFill>
              </a:rPr>
              <a:t>,</a:t>
            </a:r>
            <a:r>
              <a:rPr lang="zh-CN" altLang="en-US">
                <a:solidFill>
                  <a:schemeClr val="folHlink"/>
                </a:solidFill>
              </a:rPr>
              <a:t>再删掉其中未加标记的树叶</a:t>
            </a:r>
            <a:r>
              <a:rPr lang="en-US" altLang="zh-CN">
                <a:solidFill>
                  <a:schemeClr val="folHlink"/>
                </a:solidFill>
              </a:rPr>
              <a:t>,</a:t>
            </a:r>
            <a:r>
              <a:rPr lang="zh-CN" altLang="en-US">
                <a:solidFill>
                  <a:schemeClr val="folHlink"/>
                </a:solidFill>
              </a:rPr>
              <a:t>得到一棵新的二叉树</a:t>
            </a:r>
            <a:r>
              <a:rPr lang="en-US" altLang="zh-CN">
                <a:solidFill>
                  <a:schemeClr val="folHlink"/>
                </a:solidFill>
              </a:rPr>
              <a:t>,</a:t>
            </a:r>
            <a:r>
              <a:rPr lang="zh-CN" altLang="en-US">
                <a:solidFill>
                  <a:schemeClr val="folHlink"/>
                </a:solidFill>
              </a:rPr>
              <a:t>它的树叶就对应给定的前缀码</a:t>
            </a:r>
            <a:r>
              <a:rPr lang="en-US" altLang="zh-CN">
                <a:solidFill>
                  <a:schemeClr val="folHlink"/>
                </a:solidFill>
              </a:rPr>
              <a:t>.</a:t>
            </a:r>
            <a:endParaRPr lang="en-US" altLang="zh-CN">
              <a:solidFill>
                <a:schemeClr val="folHlink"/>
              </a:solidFill>
            </a:endParaRPr>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0">
                                            <p:txEl>
                                              <p:charRg st="21" end="16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0">
                                            <p:txEl>
                                              <p:charRg st="160" end="24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p:txBody>
          <a:bodyPr vert="horz" wrap="square" lIns="91440" tIns="45720" rIns="91440" bIns="45720" anchor="b" anchorCtr="0"/>
          <a:p>
            <a:r>
              <a:rPr lang="zh-CN" altLang="en-US"/>
              <a:t>实例</a:t>
            </a:r>
            <a:endParaRPr lang="zh-CN" altLang="en-US"/>
          </a:p>
        </p:txBody>
      </p:sp>
      <p:sp>
        <p:nvSpPr>
          <p:cNvPr id="40962" name="Rectangle 3"/>
          <p:cNvSpPr>
            <a:spLocks noGrp="1"/>
          </p:cNvSpPr>
          <p:nvPr>
            <p:ph idx="1"/>
          </p:nvPr>
        </p:nvSpPr>
        <p:spPr/>
        <p:txBody>
          <a:bodyPr vert="horz" wrap="square" lIns="91440" tIns="45720" rIns="91440" bIns="45720" anchor="t" anchorCtr="0"/>
          <a:p>
            <a:pPr>
              <a:buNone/>
            </a:pPr>
            <a:r>
              <a:rPr lang="zh-CN" altLang="en-US">
                <a:solidFill>
                  <a:schemeClr val="folHlink"/>
                </a:solidFill>
              </a:rPr>
              <a:t>画出与前缀码</a:t>
            </a:r>
            <a:r>
              <a:rPr lang="en-US" altLang="zh-CN">
                <a:solidFill>
                  <a:schemeClr val="folHlink"/>
                </a:solidFill>
              </a:rPr>
              <a:t>{000,001,01,1}</a:t>
            </a:r>
            <a:r>
              <a:rPr lang="zh-CN" altLang="en-US">
                <a:solidFill>
                  <a:schemeClr val="folHlink"/>
                </a:solidFill>
              </a:rPr>
              <a:t>对应的二叉树。</a:t>
            </a:r>
            <a:endParaRPr lang="zh-CN" altLang="en-US">
              <a:solidFill>
                <a:schemeClr val="folHlink"/>
              </a:solidFill>
            </a:endParaRPr>
          </a:p>
        </p:txBody>
      </p:sp>
      <p:pic>
        <p:nvPicPr>
          <p:cNvPr id="264196" name="Picture 4" descr="图7-8"/>
          <p:cNvPicPr>
            <a:picLocks noChangeAspect="1"/>
          </p:cNvPicPr>
          <p:nvPr/>
        </p:nvPicPr>
        <p:blipFill>
          <a:blip r:embed="rId1">
            <a:clrChange>
              <a:clrFrom>
                <a:srgbClr val="FFFFFF"/>
              </a:clrFrom>
              <a:clrTo>
                <a:srgbClr val="FFFFFF">
                  <a:alpha val="0"/>
                </a:srgbClr>
              </a:clrTo>
            </a:clrChange>
          </a:blip>
          <a:stretch>
            <a:fillRect/>
          </a:stretch>
        </p:blipFill>
        <p:spPr>
          <a:xfrm>
            <a:off x="533400" y="2557463"/>
            <a:ext cx="4476750" cy="3248025"/>
          </a:xfrm>
          <a:prstGeom prst="rect">
            <a:avLst/>
          </a:prstGeom>
          <a:noFill/>
          <a:ln w="9525">
            <a:noFill/>
          </a:ln>
        </p:spPr>
      </p:pic>
      <p:grpSp>
        <p:nvGrpSpPr>
          <p:cNvPr id="2" name="Group 5"/>
          <p:cNvGrpSpPr/>
          <p:nvPr/>
        </p:nvGrpSpPr>
        <p:grpSpPr>
          <a:xfrm>
            <a:off x="609600" y="2633663"/>
            <a:ext cx="4419600" cy="2057400"/>
            <a:chOff x="384" y="1344"/>
            <a:chExt cx="2784" cy="1296"/>
          </a:xfrm>
        </p:grpSpPr>
        <p:sp>
          <p:nvSpPr>
            <p:cNvPr id="40965" name="Text Box 6"/>
            <p:cNvSpPr txBox="1"/>
            <p:nvPr/>
          </p:nvSpPr>
          <p:spPr>
            <a:xfrm>
              <a:off x="1612" y="2352"/>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grpSp>
          <p:nvGrpSpPr>
            <p:cNvPr id="40966" name="Group 7"/>
            <p:cNvGrpSpPr/>
            <p:nvPr/>
          </p:nvGrpSpPr>
          <p:grpSpPr>
            <a:xfrm>
              <a:off x="384" y="1344"/>
              <a:ext cx="2784" cy="1296"/>
              <a:chOff x="384" y="1344"/>
              <a:chExt cx="2784" cy="1296"/>
            </a:xfrm>
          </p:grpSpPr>
          <p:sp>
            <p:nvSpPr>
              <p:cNvPr id="40967" name="Text Box 8"/>
              <p:cNvSpPr txBox="1"/>
              <p:nvPr/>
            </p:nvSpPr>
            <p:spPr>
              <a:xfrm>
                <a:off x="1286" y="1370"/>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0</a:t>
                </a:r>
                <a:endParaRPr lang="en-US" altLang="zh-CN" sz="2400" b="0">
                  <a:latin typeface="Times New Roman" panose="02020603050405020304" pitchFamily="18" charset="0"/>
                  <a:ea typeface="宋体" panose="02010600030101010101" pitchFamily="2" charset="-122"/>
                </a:endParaRPr>
              </a:p>
            </p:txBody>
          </p:sp>
          <p:sp>
            <p:nvSpPr>
              <p:cNvPr id="40968" name="Text Box 9"/>
              <p:cNvSpPr txBox="1"/>
              <p:nvPr/>
            </p:nvSpPr>
            <p:spPr>
              <a:xfrm>
                <a:off x="816" y="1776"/>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0</a:t>
                </a:r>
                <a:endParaRPr lang="en-US" altLang="zh-CN" sz="2400" b="0">
                  <a:latin typeface="Times New Roman" panose="02020603050405020304" pitchFamily="18" charset="0"/>
                  <a:ea typeface="宋体" panose="02010600030101010101" pitchFamily="2" charset="-122"/>
                </a:endParaRPr>
              </a:p>
            </p:txBody>
          </p:sp>
          <p:sp>
            <p:nvSpPr>
              <p:cNvPr id="40969" name="Text Box 10"/>
              <p:cNvSpPr txBox="1"/>
              <p:nvPr/>
            </p:nvSpPr>
            <p:spPr>
              <a:xfrm>
                <a:off x="384" y="2304"/>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0</a:t>
                </a:r>
                <a:endParaRPr lang="en-US" altLang="zh-CN" sz="2400" b="0">
                  <a:latin typeface="Times New Roman" panose="02020603050405020304" pitchFamily="18" charset="0"/>
                  <a:ea typeface="宋体" panose="02010600030101010101" pitchFamily="2" charset="-122"/>
                </a:endParaRPr>
              </a:p>
            </p:txBody>
          </p:sp>
          <p:sp>
            <p:nvSpPr>
              <p:cNvPr id="40970" name="Text Box 11"/>
              <p:cNvSpPr txBox="1"/>
              <p:nvPr/>
            </p:nvSpPr>
            <p:spPr>
              <a:xfrm>
                <a:off x="2112" y="1824"/>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0</a:t>
                </a:r>
                <a:endParaRPr lang="en-US" altLang="zh-CN" sz="2400" b="0">
                  <a:latin typeface="Times New Roman" panose="02020603050405020304" pitchFamily="18" charset="0"/>
                  <a:ea typeface="宋体" panose="02010600030101010101" pitchFamily="2" charset="-122"/>
                </a:endParaRPr>
              </a:p>
            </p:txBody>
          </p:sp>
          <p:sp>
            <p:nvSpPr>
              <p:cNvPr id="40971" name="Text Box 12"/>
              <p:cNvSpPr txBox="1"/>
              <p:nvPr/>
            </p:nvSpPr>
            <p:spPr>
              <a:xfrm>
                <a:off x="1872" y="2352"/>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0</a:t>
                </a:r>
                <a:endParaRPr lang="en-US" altLang="zh-CN" sz="2400" b="0">
                  <a:latin typeface="Times New Roman" panose="02020603050405020304" pitchFamily="18" charset="0"/>
                  <a:ea typeface="宋体" panose="02010600030101010101" pitchFamily="2" charset="-122"/>
                </a:endParaRPr>
              </a:p>
            </p:txBody>
          </p:sp>
          <p:sp>
            <p:nvSpPr>
              <p:cNvPr id="40972" name="Text Box 13"/>
              <p:cNvSpPr txBox="1"/>
              <p:nvPr/>
            </p:nvSpPr>
            <p:spPr>
              <a:xfrm>
                <a:off x="2592" y="2352"/>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0</a:t>
                </a:r>
                <a:endParaRPr lang="en-US" altLang="zh-CN" sz="2400" b="0">
                  <a:latin typeface="Times New Roman" panose="02020603050405020304" pitchFamily="18" charset="0"/>
                  <a:ea typeface="宋体" panose="02010600030101010101" pitchFamily="2" charset="-122"/>
                </a:endParaRPr>
              </a:p>
            </p:txBody>
          </p:sp>
          <p:sp>
            <p:nvSpPr>
              <p:cNvPr id="40973" name="Text Box 14"/>
              <p:cNvSpPr txBox="1"/>
              <p:nvPr/>
            </p:nvSpPr>
            <p:spPr>
              <a:xfrm>
                <a:off x="2016" y="1344"/>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0974" name="Text Box 15"/>
              <p:cNvSpPr txBox="1"/>
              <p:nvPr/>
            </p:nvSpPr>
            <p:spPr>
              <a:xfrm>
                <a:off x="1296" y="1824"/>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0975" name="Text Box 16"/>
              <p:cNvSpPr txBox="1"/>
              <p:nvPr/>
            </p:nvSpPr>
            <p:spPr>
              <a:xfrm>
                <a:off x="796" y="2304"/>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0976" name="Text Box 17"/>
              <p:cNvSpPr txBox="1"/>
              <p:nvPr/>
            </p:nvSpPr>
            <p:spPr>
              <a:xfrm>
                <a:off x="1200" y="2352"/>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0</a:t>
                </a:r>
                <a:endParaRPr lang="en-US" altLang="zh-CN" sz="2400" b="0">
                  <a:latin typeface="Times New Roman" panose="02020603050405020304" pitchFamily="18" charset="0"/>
                  <a:ea typeface="宋体" panose="02010600030101010101" pitchFamily="2" charset="-122"/>
                </a:endParaRPr>
              </a:p>
            </p:txBody>
          </p:sp>
          <p:sp>
            <p:nvSpPr>
              <p:cNvPr id="40977" name="Text Box 18"/>
              <p:cNvSpPr txBox="1"/>
              <p:nvPr/>
            </p:nvSpPr>
            <p:spPr>
              <a:xfrm>
                <a:off x="2592" y="1776"/>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0978" name="Text Box 19"/>
              <p:cNvSpPr txBox="1"/>
              <p:nvPr/>
            </p:nvSpPr>
            <p:spPr>
              <a:xfrm>
                <a:off x="2256" y="2304"/>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0979" name="Text Box 20"/>
              <p:cNvSpPr txBox="1"/>
              <p:nvPr/>
            </p:nvSpPr>
            <p:spPr>
              <a:xfrm>
                <a:off x="2956" y="2352"/>
                <a:ext cx="212" cy="288"/>
              </a:xfrm>
              <a:prstGeom prst="rect">
                <a:avLst/>
              </a:prstGeom>
              <a:noFill/>
              <a:ln w="9525">
                <a:noFill/>
              </a:ln>
            </p:spPr>
            <p:txBody>
              <a:bodyPr wrap="none" anchor="t" anchorCtr="0">
                <a:spAutoFit/>
              </a:bodyPr>
              <a:p>
                <a:pPr>
                  <a:buSzTx/>
                </a:pPr>
                <a:r>
                  <a:rPr lang="en-US" altLang="zh-CN" sz="2400" b="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grpSp>
      </p:grpSp>
      <p:sp>
        <p:nvSpPr>
          <p:cNvPr id="264213" name="Rectangle 21"/>
          <p:cNvSpPr/>
          <p:nvPr/>
        </p:nvSpPr>
        <p:spPr>
          <a:xfrm>
            <a:off x="381000" y="4767263"/>
            <a:ext cx="533400" cy="381000"/>
          </a:xfrm>
          <a:prstGeom prst="rect">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4214" name="Rectangle 22"/>
          <p:cNvSpPr/>
          <p:nvPr/>
        </p:nvSpPr>
        <p:spPr>
          <a:xfrm>
            <a:off x="1219200" y="4767263"/>
            <a:ext cx="533400" cy="381000"/>
          </a:xfrm>
          <a:prstGeom prst="rect">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4215" name="Rectangle 23"/>
          <p:cNvSpPr/>
          <p:nvPr/>
        </p:nvSpPr>
        <p:spPr>
          <a:xfrm>
            <a:off x="2209800" y="3929063"/>
            <a:ext cx="533400" cy="381000"/>
          </a:xfrm>
          <a:prstGeom prst="rect">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264216" name="Rectangle 24"/>
          <p:cNvSpPr/>
          <p:nvPr/>
        </p:nvSpPr>
        <p:spPr>
          <a:xfrm>
            <a:off x="3581400" y="3167063"/>
            <a:ext cx="533400" cy="381000"/>
          </a:xfrm>
          <a:prstGeom prst="rect">
            <a:avLst/>
          </a:prstGeom>
          <a:noFill/>
          <a:ln w="28575" cap="flat" cmpd="sng">
            <a:solidFill>
              <a:schemeClr val="tx1"/>
            </a:solidFill>
            <a:prstDash val="solid"/>
            <a:miter/>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pic>
        <p:nvPicPr>
          <p:cNvPr id="264217" name="Picture 25" descr="图7-8"/>
          <p:cNvPicPr>
            <a:picLocks noChangeAspect="1"/>
          </p:cNvPicPr>
          <p:nvPr/>
        </p:nvPicPr>
        <p:blipFill>
          <a:blip r:embed="rId2">
            <a:clrChange>
              <a:clrFrom>
                <a:srgbClr val="FFFFFF"/>
              </a:clrFrom>
              <a:clrTo>
                <a:srgbClr val="FFFFFF">
                  <a:alpha val="0"/>
                </a:srgbClr>
              </a:clrTo>
            </a:clrChange>
          </a:blip>
          <a:stretch>
            <a:fillRect/>
          </a:stretch>
        </p:blipFill>
        <p:spPr>
          <a:xfrm>
            <a:off x="5867400" y="2476500"/>
            <a:ext cx="2752725" cy="3257550"/>
          </a:xfrm>
          <a:prstGeom prst="rect">
            <a:avLst/>
          </a:prstGeom>
          <a:noFill/>
          <a:ln w="9525">
            <a:noFill/>
          </a:ln>
        </p:spPr>
      </p:pic>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4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42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42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42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42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4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13" grpId="0" animBg="1"/>
      <p:bldP spid="264214" grpId="0" animBg="1"/>
      <p:bldP spid="264215" grpId="0" animBg="1"/>
      <p:bldP spid="2642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p:nvPr>
        </p:nvSpPr>
        <p:spPr/>
        <p:txBody>
          <a:bodyPr vert="horz" wrap="square" lIns="91440" tIns="45720" rIns="91440" bIns="45720" anchor="b" anchorCtr="0"/>
          <a:p>
            <a:r>
              <a:rPr lang="zh-CN" altLang="en-US"/>
              <a:t>最佳前缀码</a:t>
            </a:r>
            <a:endParaRPr lang="zh-CN" altLang="en-US"/>
          </a:p>
        </p:txBody>
      </p:sp>
      <p:sp>
        <p:nvSpPr>
          <p:cNvPr id="43010" name="Rectangle 3"/>
          <p:cNvSpPr>
            <a:spLocks noGrp="1"/>
          </p:cNvSpPr>
          <p:nvPr>
            <p:ph idx="1"/>
          </p:nvPr>
        </p:nvSpPr>
        <p:spPr/>
        <p:txBody>
          <a:bodyPr vert="horz" wrap="square" lIns="91440" tIns="45720" rIns="91440" bIns="45720" anchor="t" anchorCtr="0"/>
          <a:p>
            <a:r>
              <a:rPr lang="zh-CN" altLang="en-US">
                <a:solidFill>
                  <a:schemeClr val="hlink"/>
                </a:solidFill>
              </a:rPr>
              <a:t>最佳前缀码</a:t>
            </a:r>
            <a:r>
              <a:rPr lang="en-US" altLang="zh-CN">
                <a:solidFill>
                  <a:schemeClr val="hlink"/>
                </a:solidFill>
              </a:rPr>
              <a:t>:</a:t>
            </a:r>
            <a:r>
              <a:rPr lang="en-US" altLang="zh-CN"/>
              <a:t> </a:t>
            </a:r>
            <a:r>
              <a:rPr lang="zh-CN" altLang="en-US"/>
              <a:t>给定信号出现频率</a:t>
            </a:r>
            <a:r>
              <a:rPr lang="en-US" altLang="zh-CN"/>
              <a:t>, </a:t>
            </a:r>
            <a:r>
              <a:rPr lang="zh-CN" altLang="en-US"/>
              <a:t>平均码字长度最短的前缀码</a:t>
            </a:r>
            <a:endParaRPr lang="zh-CN" altLang="en-US"/>
          </a:p>
          <a:p>
            <a:r>
              <a:rPr lang="zh-CN" altLang="en-US">
                <a:solidFill>
                  <a:schemeClr val="hlink"/>
                </a:solidFill>
              </a:rPr>
              <a:t>平均码字长度</a:t>
            </a:r>
            <a:r>
              <a:rPr lang="en-US" altLang="zh-CN">
                <a:solidFill>
                  <a:schemeClr val="hlink"/>
                </a:solidFill>
              </a:rPr>
              <a:t>:</a:t>
            </a:r>
            <a:r>
              <a:rPr lang="en-US" altLang="zh-CN"/>
              <a:t> </a:t>
            </a:r>
            <a:r>
              <a:rPr lang="zh-CN" altLang="en-US"/>
              <a:t>码字长度乘以频率</a:t>
            </a:r>
            <a:r>
              <a:rPr lang="en-US" altLang="zh-CN"/>
              <a:t>,</a:t>
            </a:r>
            <a:r>
              <a:rPr lang="zh-CN" altLang="en-US"/>
              <a:t>求和</a:t>
            </a:r>
            <a:endParaRPr lang="zh-CN" altLang="en-US"/>
          </a:p>
          <a:p>
            <a:r>
              <a:rPr lang="zh-CN" altLang="en-US">
                <a:solidFill>
                  <a:schemeClr val="hlink"/>
                </a:solidFill>
              </a:rPr>
              <a:t>例</a:t>
            </a:r>
            <a:r>
              <a:rPr lang="en-US" altLang="zh-CN"/>
              <a:t>: {0,1,2,3}, 40%, 30%, 20%,10%,</a:t>
            </a:r>
            <a:endParaRPr lang="en-US" altLang="zh-CN"/>
          </a:p>
          <a:p>
            <a:pPr>
              <a:buNone/>
            </a:pPr>
            <a:r>
              <a:rPr lang="zh-CN" altLang="en-US"/>
              <a:t>    编码</a:t>
            </a:r>
            <a:r>
              <a:rPr lang="en-US" altLang="zh-CN"/>
              <a:t>1: {00,010,011,1},</a:t>
            </a:r>
            <a:endParaRPr lang="en-US" altLang="zh-CN"/>
          </a:p>
          <a:p>
            <a:pPr>
              <a:buNone/>
            </a:pPr>
            <a:r>
              <a:rPr lang="en-US" altLang="zh-CN"/>
              <a:t>      2×40%+3×30%+3×20%+1×10%=2.4</a:t>
            </a:r>
            <a:endParaRPr lang="en-US" altLang="zh-CN"/>
          </a:p>
          <a:p>
            <a:pPr>
              <a:buNone/>
            </a:pPr>
            <a:r>
              <a:rPr lang="zh-CN" altLang="en-US"/>
              <a:t>    编码</a:t>
            </a:r>
            <a:r>
              <a:rPr lang="en-US" altLang="zh-CN"/>
              <a:t>2: {1,00,010,011},</a:t>
            </a:r>
            <a:endParaRPr lang="en-US" altLang="zh-CN"/>
          </a:p>
          <a:p>
            <a:pPr>
              <a:buNone/>
            </a:pPr>
            <a:r>
              <a:rPr lang="en-US" altLang="zh-CN"/>
              <a:t>      1×40%+2×30%+3×20%+3×10%=1.9</a:t>
            </a:r>
            <a:endParaRPr lang="zh-CN" altLang="en-US"/>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p:nvPr>
        </p:nvSpPr>
        <p:spPr/>
        <p:txBody>
          <a:bodyPr vert="horz" wrap="square" lIns="91440" tIns="45720" rIns="91440" bIns="45720" anchor="b" anchorCtr="0"/>
          <a:p>
            <a:r>
              <a:rPr lang="zh-CN" altLang="en-US" b="0"/>
              <a:t>最优二叉树</a:t>
            </a:r>
            <a:endParaRPr lang="zh-CN" altLang="en-US" b="0"/>
          </a:p>
        </p:txBody>
      </p:sp>
      <p:sp>
        <p:nvSpPr>
          <p:cNvPr id="44034" name="Rectangle 3"/>
          <p:cNvSpPr>
            <a:spLocks noGrp="1"/>
          </p:cNvSpPr>
          <p:nvPr>
            <p:ph idx="1"/>
          </p:nvPr>
        </p:nvSpPr>
        <p:spPr/>
        <p:txBody>
          <a:bodyPr vert="horz" wrap="square" lIns="91440" tIns="45720" rIns="91440" bIns="45720" anchor="t" anchorCtr="0"/>
          <a:p>
            <a:r>
              <a:rPr lang="zh-CN" altLang="en-US">
                <a:solidFill>
                  <a:schemeClr val="hlink"/>
                </a:solidFill>
              </a:rPr>
              <a:t>带权二叉树</a:t>
            </a:r>
            <a:r>
              <a:rPr lang="en-US" altLang="zh-CN">
                <a:solidFill>
                  <a:schemeClr val="hlink"/>
                </a:solidFill>
              </a:rPr>
              <a:t>:</a:t>
            </a:r>
            <a:r>
              <a:rPr lang="en-US" altLang="zh-CN"/>
              <a:t> </a:t>
            </a:r>
            <a:r>
              <a:rPr lang="zh-CN" altLang="en-US"/>
              <a:t>每个树叶</a:t>
            </a:r>
            <a:r>
              <a:rPr lang="en-US" altLang="zh-CN" i="1"/>
              <a:t>v</a:t>
            </a:r>
            <a:r>
              <a:rPr lang="en-US" altLang="zh-CN" i="1" baseline="-25000"/>
              <a:t>i</a:t>
            </a:r>
            <a:r>
              <a:rPr lang="zh-CN" altLang="en-US"/>
              <a:t>都指定实数权</a:t>
            </a:r>
            <a:r>
              <a:rPr lang="en-US" altLang="zh-CN" i="1"/>
              <a:t>w</a:t>
            </a:r>
            <a:r>
              <a:rPr lang="en-US" altLang="zh-CN" i="1" baseline="-25000"/>
              <a:t>i</a:t>
            </a:r>
            <a:endParaRPr lang="en-US" altLang="zh-CN" i="1" baseline="-25000"/>
          </a:p>
          <a:p>
            <a:r>
              <a:rPr lang="zh-CN" altLang="en-US">
                <a:solidFill>
                  <a:schemeClr val="hlink"/>
                </a:solidFill>
              </a:rPr>
              <a:t>带权二叉树的权</a:t>
            </a:r>
            <a:r>
              <a:rPr lang="en-US" altLang="zh-CN">
                <a:solidFill>
                  <a:schemeClr val="hlink"/>
                </a:solidFill>
              </a:rPr>
              <a:t>:</a:t>
            </a:r>
            <a:r>
              <a:rPr lang="en-US" altLang="zh-CN"/>
              <a:t> W(T)=Σ</a:t>
            </a:r>
            <a:r>
              <a:rPr lang="en-US" altLang="zh-CN" i="1" baseline="30000"/>
              <a:t>t</a:t>
            </a:r>
            <a:r>
              <a:rPr lang="en-US" altLang="zh-CN" i="1" baseline="-25000"/>
              <a:t>i</a:t>
            </a:r>
            <a:r>
              <a:rPr lang="en-US" altLang="zh-CN" baseline="-25000"/>
              <a:t>=1</a:t>
            </a:r>
            <a:r>
              <a:rPr lang="en-US" altLang="zh-CN" i="1"/>
              <a:t>w</a:t>
            </a:r>
            <a:r>
              <a:rPr lang="en-US" altLang="zh-CN" i="1" baseline="-25000"/>
              <a:t>i</a:t>
            </a:r>
            <a:r>
              <a:rPr lang="en-US" altLang="zh-CN"/>
              <a:t>L(</a:t>
            </a:r>
            <a:r>
              <a:rPr lang="en-US" altLang="zh-CN" i="1"/>
              <a:t>v</a:t>
            </a:r>
            <a:r>
              <a:rPr lang="en-US" altLang="zh-CN" i="1" baseline="-25000"/>
              <a:t>i</a:t>
            </a:r>
            <a:r>
              <a:rPr lang="en-US" altLang="zh-CN"/>
              <a:t>), </a:t>
            </a:r>
            <a:r>
              <a:rPr lang="zh-CN" altLang="en-US"/>
              <a:t>树叶是</a:t>
            </a:r>
            <a:r>
              <a:rPr lang="en-US" altLang="zh-CN" i="1"/>
              <a:t>v</a:t>
            </a:r>
            <a:r>
              <a:rPr lang="en-US" altLang="zh-CN" baseline="-25000"/>
              <a:t>1</a:t>
            </a:r>
            <a:r>
              <a:rPr lang="en-US" altLang="zh-CN"/>
              <a:t>, </a:t>
            </a:r>
            <a:r>
              <a:rPr lang="en-US" altLang="zh-CN" i="1"/>
              <a:t>v</a:t>
            </a:r>
            <a:r>
              <a:rPr lang="en-US" altLang="zh-CN" baseline="-25000"/>
              <a:t>2</a:t>
            </a:r>
            <a:r>
              <a:rPr lang="en-US" altLang="zh-CN"/>
              <a:t>,…, </a:t>
            </a:r>
            <a:r>
              <a:rPr lang="en-US" altLang="zh-CN" i="1"/>
              <a:t>v</a:t>
            </a:r>
            <a:r>
              <a:rPr lang="en-US" altLang="zh-CN" baseline="-25000"/>
              <a:t>t</a:t>
            </a:r>
            <a:r>
              <a:rPr lang="en-US" altLang="zh-CN"/>
              <a:t>, </a:t>
            </a:r>
            <a:r>
              <a:rPr lang="zh-CN" altLang="en-US"/>
              <a:t>对应的层数是</a:t>
            </a:r>
            <a:r>
              <a:rPr lang="en-US" altLang="zh-CN"/>
              <a:t>L(</a:t>
            </a:r>
            <a:r>
              <a:rPr lang="en-US" altLang="zh-CN" i="1"/>
              <a:t>v</a:t>
            </a:r>
            <a:r>
              <a:rPr lang="en-US" altLang="zh-CN" baseline="-25000"/>
              <a:t>1</a:t>
            </a:r>
            <a:r>
              <a:rPr lang="en-US" altLang="zh-CN"/>
              <a:t>),L(</a:t>
            </a:r>
            <a:r>
              <a:rPr lang="en-US" altLang="zh-CN" i="1"/>
              <a:t>v</a:t>
            </a:r>
            <a:r>
              <a:rPr lang="en-US" altLang="zh-CN" baseline="-25000"/>
              <a:t>2</a:t>
            </a:r>
            <a:r>
              <a:rPr lang="en-US" altLang="zh-CN"/>
              <a:t>),…,L(</a:t>
            </a:r>
            <a:r>
              <a:rPr lang="en-US" altLang="zh-CN" i="1"/>
              <a:t>v</a:t>
            </a:r>
            <a:r>
              <a:rPr lang="en-US" altLang="zh-CN" i="1" baseline="-25000"/>
              <a:t>t</a:t>
            </a:r>
            <a:r>
              <a:rPr lang="en-US" altLang="zh-CN"/>
              <a:t>)</a:t>
            </a:r>
            <a:endParaRPr lang="en-US" altLang="zh-CN"/>
          </a:p>
          <a:p>
            <a:r>
              <a:rPr lang="zh-CN" altLang="en-US">
                <a:solidFill>
                  <a:schemeClr val="hlink"/>
                </a:solidFill>
              </a:rPr>
              <a:t>最优二叉树</a:t>
            </a:r>
            <a:r>
              <a:rPr lang="en-US" altLang="zh-CN">
                <a:solidFill>
                  <a:schemeClr val="hlink"/>
                </a:solidFill>
              </a:rPr>
              <a:t>:</a:t>
            </a:r>
            <a:r>
              <a:rPr lang="en-US" altLang="zh-CN"/>
              <a:t> </a:t>
            </a:r>
            <a:r>
              <a:rPr lang="zh-CN" altLang="en-US"/>
              <a:t>树叶权为</a:t>
            </a:r>
            <a:r>
              <a:rPr lang="en-US" altLang="zh-CN" i="1"/>
              <a:t>w</a:t>
            </a:r>
            <a:r>
              <a:rPr lang="en-US" altLang="zh-CN" baseline="-25000"/>
              <a:t>1</a:t>
            </a:r>
            <a:r>
              <a:rPr lang="en-US" altLang="zh-CN"/>
              <a:t>,</a:t>
            </a:r>
            <a:r>
              <a:rPr lang="en-US" altLang="zh-CN" i="1"/>
              <a:t>w</a:t>
            </a:r>
            <a:r>
              <a:rPr lang="en-US" altLang="zh-CN" baseline="-25000"/>
              <a:t>2</a:t>
            </a:r>
            <a:r>
              <a:rPr lang="en-US" altLang="zh-CN"/>
              <a:t>,…,</a:t>
            </a:r>
            <a:r>
              <a:rPr lang="en-US" altLang="zh-CN" i="1"/>
              <a:t>w</a:t>
            </a:r>
            <a:r>
              <a:rPr lang="en-US" altLang="zh-CN" i="1" baseline="-25000"/>
              <a:t>t</a:t>
            </a:r>
            <a:r>
              <a:rPr lang="zh-CN" altLang="en-US"/>
              <a:t>的所有二叉树中权最小的一个</a:t>
            </a:r>
            <a:r>
              <a:rPr lang="en-US" altLang="zh-CN"/>
              <a:t>(</a:t>
            </a:r>
            <a:r>
              <a:rPr lang="zh-CN" altLang="en-US"/>
              <a:t>不唯一</a:t>
            </a:r>
            <a:r>
              <a:rPr lang="en-US" altLang="zh-CN"/>
              <a:t>)</a:t>
            </a:r>
            <a:endParaRPr lang="en-US" altLang="zh-CN"/>
          </a:p>
          <a:p>
            <a:r>
              <a:rPr lang="zh-CN" altLang="en-US"/>
              <a:t>求最优二叉树的算法</a:t>
            </a:r>
            <a:r>
              <a:rPr lang="en-US" altLang="zh-CN"/>
              <a:t>: Huffman</a:t>
            </a:r>
            <a:r>
              <a:rPr lang="zh-CN" altLang="en-US"/>
              <a:t>算法</a:t>
            </a:r>
            <a:endParaRPr lang="zh-CN" altLang="en-US"/>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2" name="Rectangle 2"/>
          <p:cNvSpPr>
            <a:spLocks noGrp="1" noChangeArrowheads="1"/>
          </p:cNvSpPr>
          <p:nvPr>
            <p:ph type="title"/>
          </p:nvPr>
        </p:nvSpPr>
        <p:spPr>
          <a:xfrm>
            <a:off x="1150938" y="69850"/>
            <a:ext cx="7793038" cy="98266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0" i="0" u="none" strike="noStrike" kern="0" cap="none" spc="0" normalizeH="0" baseline="0" noProof="0" smtClean="0">
                <a:ln>
                  <a:noFill/>
                </a:ln>
                <a:solidFill>
                  <a:schemeClr val="tx2"/>
                </a:solidFill>
                <a:effectLst/>
                <a:uLnTx/>
                <a:uFillTx/>
                <a:latin typeface="+mj-lt"/>
                <a:ea typeface="+mj-ea"/>
                <a:cs typeface="+mj-cs"/>
              </a:rPr>
              <a:t>Huffman</a:t>
            </a:r>
            <a:r>
              <a:rPr kumimoji="0" lang="zh-CN" altLang="en-US" sz="4400" b="0" i="0" u="none" strike="noStrike" kern="0" cap="none" spc="0" normalizeH="0" baseline="0" noProof="0" smtClean="0">
                <a:ln>
                  <a:noFill/>
                </a:ln>
                <a:solidFill>
                  <a:schemeClr val="tx2"/>
                </a:solidFill>
                <a:effectLst/>
                <a:uLnTx/>
                <a:uFillTx/>
                <a:latin typeface="+mj-lt"/>
                <a:ea typeface="+mj-ea"/>
                <a:cs typeface="+mj-cs"/>
              </a:rPr>
              <a:t>算法</a:t>
            </a:r>
            <a:endParaRPr kumimoji="0" lang="zh-CN" altLang="en-US" sz="4400" b="0" i="0" u="none" strike="noStrike" kern="0" cap="none" spc="0" normalizeH="0" baseline="0" noProof="0" smtClean="0">
              <a:ln>
                <a:noFill/>
              </a:ln>
              <a:solidFill>
                <a:schemeClr val="tx2"/>
              </a:solidFill>
              <a:effectLst/>
              <a:uLnTx/>
              <a:uFillTx/>
              <a:latin typeface="+mj-lt"/>
              <a:ea typeface="+mj-ea"/>
              <a:cs typeface="+mj-cs"/>
            </a:endParaRPr>
          </a:p>
        </p:txBody>
      </p:sp>
      <p:sp>
        <p:nvSpPr>
          <p:cNvPr id="45058" name="Rectangle 3"/>
          <p:cNvSpPr>
            <a:spLocks noGrp="1"/>
          </p:cNvSpPr>
          <p:nvPr>
            <p:ph idx="1"/>
          </p:nvPr>
        </p:nvSpPr>
        <p:spPr/>
        <p:txBody>
          <a:bodyPr vert="horz" wrap="square" lIns="91440" tIns="45720" rIns="91440" bIns="45720" anchor="t" anchorCtr="0"/>
          <a:p>
            <a:r>
              <a:rPr lang="zh-CN" altLang="en-US"/>
              <a:t>输入</a:t>
            </a:r>
            <a:r>
              <a:rPr lang="en-US" altLang="zh-CN"/>
              <a:t>: </a:t>
            </a:r>
            <a:r>
              <a:rPr lang="zh-CN" altLang="en-US"/>
              <a:t>实数</a:t>
            </a:r>
            <a:r>
              <a:rPr lang="en-US" altLang="zh-CN" i="1"/>
              <a:t>w</a:t>
            </a:r>
            <a:r>
              <a:rPr lang="en-US" altLang="zh-CN" baseline="-25000"/>
              <a:t>1</a:t>
            </a:r>
            <a:r>
              <a:rPr lang="en-US" altLang="zh-CN"/>
              <a:t>,</a:t>
            </a:r>
            <a:r>
              <a:rPr lang="en-US" altLang="zh-CN" i="1"/>
              <a:t>w</a:t>
            </a:r>
            <a:r>
              <a:rPr lang="en-US" altLang="zh-CN" baseline="-25000"/>
              <a:t>2</a:t>
            </a:r>
            <a:r>
              <a:rPr lang="en-US" altLang="zh-CN"/>
              <a:t>,…,</a:t>
            </a:r>
            <a:r>
              <a:rPr lang="en-US" altLang="zh-CN" i="1"/>
              <a:t>w</a:t>
            </a:r>
            <a:r>
              <a:rPr lang="en-US" altLang="zh-CN" i="1" baseline="-25000"/>
              <a:t>t</a:t>
            </a:r>
            <a:endParaRPr lang="en-US" altLang="zh-CN"/>
          </a:p>
          <a:p>
            <a:r>
              <a:rPr lang="zh-CN" altLang="en-US"/>
              <a:t>输出</a:t>
            </a:r>
            <a:r>
              <a:rPr lang="en-US" altLang="zh-CN"/>
              <a:t>: </a:t>
            </a:r>
            <a:r>
              <a:rPr lang="zh-CN" altLang="en-US"/>
              <a:t>树叶权为</a:t>
            </a:r>
            <a:r>
              <a:rPr lang="en-US" altLang="zh-CN" i="1"/>
              <a:t>w</a:t>
            </a:r>
            <a:r>
              <a:rPr lang="en-US" altLang="zh-CN" baseline="-25000"/>
              <a:t>1</a:t>
            </a:r>
            <a:r>
              <a:rPr lang="en-US" altLang="zh-CN"/>
              <a:t>,</a:t>
            </a:r>
            <a:r>
              <a:rPr lang="en-US" altLang="zh-CN" i="1"/>
              <a:t>w</a:t>
            </a:r>
            <a:r>
              <a:rPr lang="en-US" altLang="zh-CN" baseline="-25000"/>
              <a:t>2</a:t>
            </a:r>
            <a:r>
              <a:rPr lang="en-US" altLang="zh-CN"/>
              <a:t>,…,</a:t>
            </a:r>
            <a:r>
              <a:rPr lang="en-US" altLang="zh-CN" i="1"/>
              <a:t>w</a:t>
            </a:r>
            <a:r>
              <a:rPr lang="en-US" altLang="zh-CN" i="1" baseline="-25000"/>
              <a:t>t</a:t>
            </a:r>
            <a:r>
              <a:rPr lang="zh-CN" altLang="en-US"/>
              <a:t>的最优二叉树</a:t>
            </a:r>
            <a:endParaRPr lang="zh-CN" altLang="en-US"/>
          </a:p>
          <a:p>
            <a:r>
              <a:rPr lang="zh-CN" altLang="en-US"/>
              <a:t>算法</a:t>
            </a:r>
            <a:r>
              <a:rPr lang="en-US" altLang="zh-CN"/>
              <a:t>: </a:t>
            </a:r>
            <a:endParaRPr lang="en-US" altLang="zh-CN"/>
          </a:p>
          <a:p>
            <a:pPr>
              <a:buNone/>
            </a:pPr>
            <a:r>
              <a:rPr lang="en-US" altLang="zh-CN"/>
              <a:t>    1. </a:t>
            </a:r>
            <a:r>
              <a:rPr lang="zh-CN" altLang="en-US"/>
              <a:t>选择最小的</a:t>
            </a:r>
            <a:r>
              <a:rPr lang="en-US" altLang="zh-CN"/>
              <a:t>2</a:t>
            </a:r>
            <a:r>
              <a:rPr lang="zh-CN" altLang="en-US"/>
              <a:t>个权</a:t>
            </a:r>
            <a:r>
              <a:rPr lang="en-US" altLang="zh-CN" i="1"/>
              <a:t>w</a:t>
            </a:r>
            <a:r>
              <a:rPr lang="en-US" altLang="zh-CN" baseline="-25000"/>
              <a:t>1</a:t>
            </a:r>
            <a:r>
              <a:rPr lang="en-US" altLang="zh-CN"/>
              <a:t>,</a:t>
            </a:r>
            <a:r>
              <a:rPr lang="en-US" altLang="zh-CN" i="1"/>
              <a:t>w</a:t>
            </a:r>
            <a:r>
              <a:rPr lang="en-US" altLang="zh-CN" baseline="-25000"/>
              <a:t>2</a:t>
            </a:r>
            <a:r>
              <a:rPr lang="en-US" altLang="zh-CN"/>
              <a:t>, </a:t>
            </a:r>
            <a:r>
              <a:rPr lang="zh-CN" altLang="en-US"/>
              <a:t>连接对应的树叶得到权为</a:t>
            </a:r>
            <a:r>
              <a:rPr lang="en-US" altLang="zh-CN" i="1"/>
              <a:t>w</a:t>
            </a:r>
            <a:r>
              <a:rPr lang="en-US" altLang="zh-CN" baseline="-25000"/>
              <a:t>1</a:t>
            </a:r>
            <a:r>
              <a:rPr lang="en-US" altLang="zh-CN"/>
              <a:t>+</a:t>
            </a:r>
            <a:r>
              <a:rPr lang="en-US" altLang="zh-CN" i="1"/>
              <a:t>w</a:t>
            </a:r>
            <a:r>
              <a:rPr lang="en-US" altLang="zh-CN" baseline="-25000"/>
              <a:t>2</a:t>
            </a:r>
            <a:r>
              <a:rPr lang="zh-CN" altLang="en-US"/>
              <a:t>的分支点</a:t>
            </a:r>
            <a:endParaRPr lang="zh-CN" altLang="en-US"/>
          </a:p>
          <a:p>
            <a:pPr>
              <a:buNone/>
            </a:pPr>
            <a:r>
              <a:rPr lang="en-US" altLang="zh-CN"/>
              <a:t>    2. </a:t>
            </a:r>
            <a:r>
              <a:rPr lang="zh-CN" altLang="en-US"/>
              <a:t>选择</a:t>
            </a:r>
            <a:r>
              <a:rPr lang="en-US" altLang="zh-CN" i="1"/>
              <a:t>w</a:t>
            </a:r>
            <a:r>
              <a:rPr lang="en-US" altLang="zh-CN" baseline="-25000"/>
              <a:t>1</a:t>
            </a:r>
            <a:r>
              <a:rPr lang="en-US" altLang="zh-CN"/>
              <a:t>+</a:t>
            </a:r>
            <a:r>
              <a:rPr lang="en-US" altLang="zh-CN" i="1"/>
              <a:t>w</a:t>
            </a:r>
            <a:r>
              <a:rPr lang="en-US" altLang="zh-CN" baseline="-25000"/>
              <a:t>2</a:t>
            </a:r>
            <a:r>
              <a:rPr lang="en-US" altLang="zh-CN"/>
              <a:t> ,</a:t>
            </a:r>
            <a:r>
              <a:rPr lang="en-US" altLang="zh-CN" i="1"/>
              <a:t>w</a:t>
            </a:r>
            <a:r>
              <a:rPr lang="en-US" altLang="zh-CN" baseline="-25000"/>
              <a:t>3</a:t>
            </a:r>
            <a:r>
              <a:rPr lang="en-US" altLang="zh-CN"/>
              <a:t>,</a:t>
            </a:r>
            <a:r>
              <a:rPr lang="en-US" altLang="zh-CN" i="1"/>
              <a:t>w</a:t>
            </a:r>
            <a:r>
              <a:rPr lang="en-US" altLang="zh-CN" baseline="-25000"/>
              <a:t>4</a:t>
            </a:r>
            <a:r>
              <a:rPr lang="en-US" altLang="zh-CN"/>
              <a:t>, …,</a:t>
            </a:r>
            <a:r>
              <a:rPr lang="en-US" altLang="zh-CN" i="1"/>
              <a:t>w</a:t>
            </a:r>
            <a:r>
              <a:rPr lang="en-US" altLang="zh-CN" i="1" baseline="-25000"/>
              <a:t>t</a:t>
            </a:r>
            <a:r>
              <a:rPr lang="zh-CN" altLang="en-US"/>
              <a:t>中最小的</a:t>
            </a:r>
            <a:r>
              <a:rPr lang="en-US" altLang="zh-CN"/>
              <a:t>2</a:t>
            </a:r>
            <a:r>
              <a:rPr lang="zh-CN" altLang="en-US"/>
              <a:t>个权</a:t>
            </a:r>
            <a:r>
              <a:rPr lang="en-US" altLang="zh-CN"/>
              <a:t>, </a:t>
            </a:r>
            <a:r>
              <a:rPr lang="zh-CN" altLang="en-US"/>
              <a:t>连接对应顶点得到新的分支点和权</a:t>
            </a:r>
            <a:endParaRPr lang="zh-CN" altLang="en-US"/>
          </a:p>
          <a:p>
            <a:pPr>
              <a:buNone/>
            </a:pPr>
            <a:r>
              <a:rPr lang="en-US" altLang="zh-CN"/>
              <a:t>    3. </a:t>
            </a:r>
            <a:r>
              <a:rPr lang="zh-CN" altLang="en-US"/>
              <a:t>同上重复进行</a:t>
            </a:r>
            <a:r>
              <a:rPr lang="en-US" altLang="zh-CN"/>
              <a:t>, </a:t>
            </a:r>
            <a:r>
              <a:rPr lang="zh-CN" altLang="en-US"/>
              <a:t>直到只剩</a:t>
            </a:r>
            <a:r>
              <a:rPr lang="en-US" altLang="zh-CN"/>
              <a:t>1</a:t>
            </a:r>
            <a:r>
              <a:rPr lang="zh-CN" altLang="en-US"/>
              <a:t>个权为止</a:t>
            </a:r>
            <a:endParaRPr lang="zh-CN" altLang="en-US"/>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type="title"/>
          </p:nvPr>
        </p:nvSpPr>
        <p:spPr/>
        <p:txBody>
          <a:bodyPr vert="horz" wrap="square" lIns="91440" tIns="45720" rIns="91440" bIns="45720" anchor="b" anchorCtr="0"/>
          <a:p>
            <a:r>
              <a:rPr lang="en-US" altLang="zh-CN" b="0"/>
              <a:t>Huffman</a:t>
            </a:r>
            <a:r>
              <a:rPr lang="zh-CN" altLang="en-US" b="0"/>
              <a:t>算法</a:t>
            </a:r>
            <a:r>
              <a:rPr lang="en-US" altLang="zh-CN" b="0"/>
              <a:t>(</a:t>
            </a:r>
            <a:r>
              <a:rPr lang="zh-CN" altLang="en-US" b="0"/>
              <a:t>举例</a:t>
            </a:r>
            <a:r>
              <a:rPr lang="en-US" altLang="zh-CN" b="0"/>
              <a:t>)</a:t>
            </a:r>
            <a:endParaRPr lang="zh-CN" altLang="en-US" b="0"/>
          </a:p>
        </p:txBody>
      </p:sp>
      <p:sp>
        <p:nvSpPr>
          <p:cNvPr id="46082" name="Rectangle 3"/>
          <p:cNvSpPr>
            <a:spLocks noGrp="1"/>
          </p:cNvSpPr>
          <p:nvPr>
            <p:ph idx="1"/>
          </p:nvPr>
        </p:nvSpPr>
        <p:spPr/>
        <p:txBody>
          <a:bodyPr vert="horz" wrap="square" lIns="91440" tIns="45720" rIns="91440" bIns="45720" anchor="t" anchorCtr="0"/>
          <a:p>
            <a:r>
              <a:rPr lang="zh-CN" altLang="en-US">
                <a:solidFill>
                  <a:schemeClr val="hlink"/>
                </a:solidFill>
              </a:rPr>
              <a:t>例</a:t>
            </a:r>
            <a:r>
              <a:rPr lang="en-US" altLang="zh-CN">
                <a:solidFill>
                  <a:schemeClr val="hlink"/>
                </a:solidFill>
              </a:rPr>
              <a:t>14.9</a:t>
            </a:r>
            <a:r>
              <a:rPr lang="en-US" altLang="zh-CN"/>
              <a:t>: 2,3,5,7,8</a:t>
            </a:r>
            <a:endParaRPr lang="en-US" altLang="zh-CN"/>
          </a:p>
          <a:p>
            <a:r>
              <a:rPr lang="zh-CN" altLang="en-US">
                <a:solidFill>
                  <a:schemeClr val="hlink"/>
                </a:solidFill>
              </a:rPr>
              <a:t>解</a:t>
            </a:r>
            <a:r>
              <a:rPr lang="en-US" altLang="zh-CN"/>
              <a:t>: </a:t>
            </a:r>
            <a:r>
              <a:rPr lang="en-US" altLang="zh-CN">
                <a:solidFill>
                  <a:srgbClr val="FF00FF"/>
                </a:solidFill>
              </a:rPr>
              <a:t>2,3</a:t>
            </a:r>
            <a:r>
              <a:rPr lang="en-US" altLang="zh-CN"/>
              <a:t>,5,7,8 // </a:t>
            </a:r>
            <a:r>
              <a:rPr lang="en-US" altLang="zh-CN">
                <a:solidFill>
                  <a:schemeClr val="folHlink"/>
                </a:solidFill>
              </a:rPr>
              <a:t>5</a:t>
            </a:r>
            <a:r>
              <a:rPr lang="en-US" altLang="zh-CN"/>
              <a:t>,</a:t>
            </a:r>
            <a:r>
              <a:rPr lang="en-US" altLang="zh-CN">
                <a:solidFill>
                  <a:srgbClr val="FF00FF"/>
                </a:solidFill>
              </a:rPr>
              <a:t>5</a:t>
            </a:r>
            <a:r>
              <a:rPr lang="en-US" altLang="zh-CN"/>
              <a:t>,7,8 // </a:t>
            </a:r>
            <a:r>
              <a:rPr lang="en-US" altLang="zh-CN">
                <a:solidFill>
                  <a:schemeClr val="folHlink"/>
                </a:solidFill>
              </a:rPr>
              <a:t>10</a:t>
            </a:r>
            <a:r>
              <a:rPr lang="en-US" altLang="zh-CN"/>
              <a:t>,</a:t>
            </a:r>
            <a:r>
              <a:rPr lang="en-US" altLang="zh-CN">
                <a:solidFill>
                  <a:srgbClr val="FF00FF"/>
                </a:solidFill>
              </a:rPr>
              <a:t>7,8</a:t>
            </a:r>
            <a:r>
              <a:rPr lang="en-US" altLang="zh-CN"/>
              <a:t> // </a:t>
            </a:r>
            <a:r>
              <a:rPr lang="en-US" altLang="zh-CN">
                <a:solidFill>
                  <a:srgbClr val="FF00FF"/>
                </a:solidFill>
              </a:rPr>
              <a:t>10</a:t>
            </a:r>
            <a:r>
              <a:rPr lang="en-US" altLang="zh-CN"/>
              <a:t>,</a:t>
            </a:r>
            <a:r>
              <a:rPr lang="en-US" altLang="zh-CN">
                <a:solidFill>
                  <a:srgbClr val="0066FF"/>
                </a:solidFill>
              </a:rPr>
              <a:t>15</a:t>
            </a:r>
            <a:r>
              <a:rPr lang="en-US" altLang="zh-CN"/>
              <a:t> // </a:t>
            </a:r>
            <a:r>
              <a:rPr lang="en-US" altLang="zh-CN">
                <a:solidFill>
                  <a:schemeClr val="folHlink"/>
                </a:solidFill>
              </a:rPr>
              <a:t>25</a:t>
            </a:r>
            <a:r>
              <a:rPr lang="en-US" altLang="zh-CN"/>
              <a:t> //</a:t>
            </a:r>
            <a:endParaRPr lang="zh-CN" altLang="en-US"/>
          </a:p>
        </p:txBody>
      </p:sp>
      <p:grpSp>
        <p:nvGrpSpPr>
          <p:cNvPr id="46083" name="Group 15"/>
          <p:cNvGrpSpPr/>
          <p:nvPr/>
        </p:nvGrpSpPr>
        <p:grpSpPr>
          <a:xfrm>
            <a:off x="34925" y="2636838"/>
            <a:ext cx="2370138" cy="965200"/>
            <a:chOff x="612" y="1752"/>
            <a:chExt cx="1493" cy="608"/>
          </a:xfrm>
        </p:grpSpPr>
        <p:sp>
          <p:nvSpPr>
            <p:cNvPr id="46084" name="Oval 7"/>
            <p:cNvSpPr/>
            <p:nvPr/>
          </p:nvSpPr>
          <p:spPr>
            <a:xfrm>
              <a:off x="1247" y="1797"/>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085" name="Text Box 8"/>
            <p:cNvSpPr txBox="1"/>
            <p:nvPr/>
          </p:nvSpPr>
          <p:spPr>
            <a:xfrm>
              <a:off x="989" y="1752"/>
              <a:ext cx="213" cy="291"/>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5</a:t>
              </a:r>
              <a:endParaRPr lang="en-US" altLang="zh-CN" sz="2400">
                <a:latin typeface="Times New Roman" panose="02020603050405020304" pitchFamily="18" charset="0"/>
                <a:ea typeface="宋体" panose="02010600030101010101" pitchFamily="2" charset="-122"/>
              </a:endParaRPr>
            </a:p>
          </p:txBody>
        </p:sp>
        <p:sp>
          <p:nvSpPr>
            <p:cNvPr id="46086" name="Line 9"/>
            <p:cNvSpPr/>
            <p:nvPr/>
          </p:nvSpPr>
          <p:spPr>
            <a:xfrm flipH="1">
              <a:off x="975" y="1933"/>
              <a:ext cx="317" cy="318"/>
            </a:xfrm>
            <a:prstGeom prst="line">
              <a:avLst/>
            </a:prstGeom>
            <a:ln w="9525" cap="flat" cmpd="sng">
              <a:solidFill>
                <a:schemeClr val="tx1"/>
              </a:solidFill>
              <a:prstDash val="solid"/>
              <a:round/>
              <a:headEnd type="none" w="med" len="med"/>
              <a:tailEnd type="none" w="med" len="med"/>
            </a:ln>
          </p:spPr>
        </p:sp>
        <p:sp>
          <p:nvSpPr>
            <p:cNvPr id="46087" name="Line 10"/>
            <p:cNvSpPr/>
            <p:nvPr/>
          </p:nvSpPr>
          <p:spPr>
            <a:xfrm>
              <a:off x="1338" y="1888"/>
              <a:ext cx="453" cy="363"/>
            </a:xfrm>
            <a:prstGeom prst="line">
              <a:avLst/>
            </a:prstGeom>
            <a:ln w="9525" cap="flat" cmpd="sng">
              <a:solidFill>
                <a:schemeClr val="tx1"/>
              </a:solidFill>
              <a:prstDash val="solid"/>
              <a:round/>
              <a:headEnd type="none" w="med" len="med"/>
              <a:tailEnd type="none" w="med" len="med"/>
            </a:ln>
          </p:spPr>
        </p:sp>
        <p:sp>
          <p:nvSpPr>
            <p:cNvPr id="46088" name="Oval 11"/>
            <p:cNvSpPr/>
            <p:nvPr/>
          </p:nvSpPr>
          <p:spPr>
            <a:xfrm>
              <a:off x="884" y="2205"/>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089" name="Oval 12"/>
            <p:cNvSpPr/>
            <p:nvPr/>
          </p:nvSpPr>
          <p:spPr>
            <a:xfrm>
              <a:off x="1746" y="2205"/>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090" name="Text Box 13"/>
            <p:cNvSpPr txBox="1"/>
            <p:nvPr/>
          </p:nvSpPr>
          <p:spPr>
            <a:xfrm>
              <a:off x="612" y="2069"/>
              <a:ext cx="213" cy="291"/>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46091" name="Text Box 14"/>
            <p:cNvSpPr txBox="1"/>
            <p:nvPr/>
          </p:nvSpPr>
          <p:spPr>
            <a:xfrm>
              <a:off x="1892" y="2053"/>
              <a:ext cx="213" cy="291"/>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3</a:t>
              </a:r>
              <a:endParaRPr lang="en-US" altLang="zh-CN" sz="2400">
                <a:latin typeface="Times New Roman" panose="02020603050405020304" pitchFamily="18" charset="0"/>
                <a:ea typeface="宋体" panose="02010600030101010101" pitchFamily="2" charset="-122"/>
              </a:endParaRPr>
            </a:p>
          </p:txBody>
        </p:sp>
      </p:grpSp>
      <p:grpSp>
        <p:nvGrpSpPr>
          <p:cNvPr id="46092" name="Group 78"/>
          <p:cNvGrpSpPr/>
          <p:nvPr/>
        </p:nvGrpSpPr>
        <p:grpSpPr>
          <a:xfrm>
            <a:off x="179388" y="4438650"/>
            <a:ext cx="3865562" cy="2303463"/>
            <a:chOff x="2441" y="2705"/>
            <a:chExt cx="2435" cy="1451"/>
          </a:xfrm>
        </p:grpSpPr>
        <p:sp>
          <p:nvSpPr>
            <p:cNvPr id="46093" name="Oval 52"/>
            <p:cNvSpPr/>
            <p:nvPr/>
          </p:nvSpPr>
          <p:spPr>
            <a:xfrm>
              <a:off x="3701" y="2750"/>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094" name="Text Box 53"/>
            <p:cNvSpPr txBox="1"/>
            <p:nvPr/>
          </p:nvSpPr>
          <p:spPr>
            <a:xfrm>
              <a:off x="3257" y="2705"/>
              <a:ext cx="308"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25</a:t>
              </a:r>
              <a:endParaRPr lang="en-US" altLang="zh-CN" sz="2400">
                <a:latin typeface="Times New Roman" panose="02020603050405020304" pitchFamily="18" charset="0"/>
                <a:ea typeface="宋体" panose="02010600030101010101" pitchFamily="2" charset="-122"/>
              </a:endParaRPr>
            </a:p>
          </p:txBody>
        </p:sp>
        <p:sp>
          <p:nvSpPr>
            <p:cNvPr id="46095" name="Line 54"/>
            <p:cNvSpPr/>
            <p:nvPr/>
          </p:nvSpPr>
          <p:spPr>
            <a:xfrm flipH="1">
              <a:off x="3429" y="2886"/>
              <a:ext cx="317" cy="318"/>
            </a:xfrm>
            <a:prstGeom prst="line">
              <a:avLst/>
            </a:prstGeom>
            <a:ln w="9525" cap="flat" cmpd="sng">
              <a:solidFill>
                <a:schemeClr val="tx1"/>
              </a:solidFill>
              <a:prstDash val="solid"/>
              <a:round/>
              <a:headEnd type="none" w="med" len="med"/>
              <a:tailEnd type="none" w="med" len="med"/>
            </a:ln>
          </p:spPr>
        </p:sp>
        <p:sp>
          <p:nvSpPr>
            <p:cNvPr id="46096" name="Line 55"/>
            <p:cNvSpPr/>
            <p:nvPr/>
          </p:nvSpPr>
          <p:spPr>
            <a:xfrm>
              <a:off x="3792" y="2841"/>
              <a:ext cx="453" cy="363"/>
            </a:xfrm>
            <a:prstGeom prst="line">
              <a:avLst/>
            </a:prstGeom>
            <a:ln w="9525" cap="flat" cmpd="sng">
              <a:solidFill>
                <a:schemeClr val="tx1"/>
              </a:solidFill>
              <a:prstDash val="solid"/>
              <a:round/>
              <a:headEnd type="none" w="med" len="med"/>
              <a:tailEnd type="none" w="med" len="med"/>
            </a:ln>
          </p:spPr>
        </p:sp>
        <p:sp>
          <p:nvSpPr>
            <p:cNvPr id="46097" name="Oval 56"/>
            <p:cNvSpPr/>
            <p:nvPr/>
          </p:nvSpPr>
          <p:spPr>
            <a:xfrm>
              <a:off x="3338" y="3158"/>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098" name="Oval 57"/>
            <p:cNvSpPr/>
            <p:nvPr/>
          </p:nvSpPr>
          <p:spPr>
            <a:xfrm>
              <a:off x="4200" y="3158"/>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099" name="Text Box 58"/>
            <p:cNvSpPr txBox="1"/>
            <p:nvPr/>
          </p:nvSpPr>
          <p:spPr>
            <a:xfrm>
              <a:off x="3066" y="3022"/>
              <a:ext cx="308"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10</a:t>
              </a:r>
              <a:endParaRPr lang="en-US" altLang="zh-CN" sz="2400">
                <a:latin typeface="Times New Roman" panose="02020603050405020304" pitchFamily="18" charset="0"/>
                <a:ea typeface="宋体" panose="02010600030101010101" pitchFamily="2" charset="-122"/>
              </a:endParaRPr>
            </a:p>
          </p:txBody>
        </p:sp>
        <p:sp>
          <p:nvSpPr>
            <p:cNvPr id="46100" name="Text Box 59"/>
            <p:cNvSpPr txBox="1"/>
            <p:nvPr/>
          </p:nvSpPr>
          <p:spPr>
            <a:xfrm>
              <a:off x="4346" y="3006"/>
              <a:ext cx="308"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15</a:t>
              </a:r>
              <a:endParaRPr lang="en-US" altLang="zh-CN" sz="2400">
                <a:latin typeface="Times New Roman" panose="02020603050405020304" pitchFamily="18" charset="0"/>
                <a:ea typeface="宋体" panose="02010600030101010101" pitchFamily="2" charset="-122"/>
              </a:endParaRPr>
            </a:p>
          </p:txBody>
        </p:sp>
        <p:sp>
          <p:nvSpPr>
            <p:cNvPr id="46101" name="Line 60"/>
            <p:cNvSpPr/>
            <p:nvPr/>
          </p:nvSpPr>
          <p:spPr>
            <a:xfrm flipH="1">
              <a:off x="3984" y="3278"/>
              <a:ext cx="272" cy="318"/>
            </a:xfrm>
            <a:prstGeom prst="line">
              <a:avLst/>
            </a:prstGeom>
            <a:ln w="9525" cap="flat" cmpd="sng">
              <a:solidFill>
                <a:schemeClr val="tx1"/>
              </a:solidFill>
              <a:prstDash val="solid"/>
              <a:round/>
              <a:headEnd type="none" w="med" len="med"/>
              <a:tailEnd type="none" w="med" len="med"/>
            </a:ln>
          </p:spPr>
        </p:sp>
        <p:sp>
          <p:nvSpPr>
            <p:cNvPr id="46102" name="Line 61"/>
            <p:cNvSpPr/>
            <p:nvPr/>
          </p:nvSpPr>
          <p:spPr>
            <a:xfrm>
              <a:off x="4301" y="3278"/>
              <a:ext cx="318" cy="318"/>
            </a:xfrm>
            <a:prstGeom prst="line">
              <a:avLst/>
            </a:prstGeom>
            <a:ln w="9525" cap="flat" cmpd="sng">
              <a:solidFill>
                <a:schemeClr val="tx1"/>
              </a:solidFill>
              <a:prstDash val="solid"/>
              <a:round/>
              <a:headEnd type="none" w="med" len="med"/>
              <a:tailEnd type="none" w="med" len="med"/>
            </a:ln>
          </p:spPr>
        </p:sp>
        <p:sp>
          <p:nvSpPr>
            <p:cNvPr id="46103" name="Oval 62"/>
            <p:cNvSpPr/>
            <p:nvPr/>
          </p:nvSpPr>
          <p:spPr>
            <a:xfrm>
              <a:off x="3893"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04" name="Oval 63"/>
            <p:cNvSpPr/>
            <p:nvPr/>
          </p:nvSpPr>
          <p:spPr>
            <a:xfrm>
              <a:off x="4573"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05" name="Text Box 64"/>
            <p:cNvSpPr txBox="1"/>
            <p:nvPr/>
          </p:nvSpPr>
          <p:spPr>
            <a:xfrm>
              <a:off x="3771" y="3324"/>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7</a:t>
              </a:r>
              <a:endParaRPr lang="en-US" altLang="zh-CN" sz="2400">
                <a:latin typeface="Times New Roman" panose="02020603050405020304" pitchFamily="18" charset="0"/>
                <a:ea typeface="宋体" panose="02010600030101010101" pitchFamily="2" charset="-122"/>
              </a:endParaRPr>
            </a:p>
          </p:txBody>
        </p:sp>
        <p:sp>
          <p:nvSpPr>
            <p:cNvPr id="46106" name="Text Box 65"/>
            <p:cNvSpPr txBox="1"/>
            <p:nvPr/>
          </p:nvSpPr>
          <p:spPr>
            <a:xfrm>
              <a:off x="4664" y="3415"/>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8</a:t>
              </a:r>
              <a:endParaRPr lang="en-US" altLang="zh-CN" sz="2400">
                <a:latin typeface="Times New Roman" panose="02020603050405020304" pitchFamily="18" charset="0"/>
                <a:ea typeface="宋体" panose="02010600030101010101" pitchFamily="2" charset="-122"/>
              </a:endParaRPr>
            </a:p>
          </p:txBody>
        </p:sp>
        <p:sp>
          <p:nvSpPr>
            <p:cNvPr id="46107" name="Line 66"/>
            <p:cNvSpPr/>
            <p:nvPr/>
          </p:nvSpPr>
          <p:spPr>
            <a:xfrm flipH="1">
              <a:off x="3046" y="3279"/>
              <a:ext cx="317" cy="317"/>
            </a:xfrm>
            <a:prstGeom prst="line">
              <a:avLst/>
            </a:prstGeom>
            <a:ln w="9525" cap="flat" cmpd="sng">
              <a:solidFill>
                <a:schemeClr val="tx1"/>
              </a:solidFill>
              <a:prstDash val="solid"/>
              <a:round/>
              <a:headEnd type="none" w="med" len="med"/>
              <a:tailEnd type="none" w="med" len="med"/>
            </a:ln>
          </p:spPr>
        </p:sp>
        <p:sp>
          <p:nvSpPr>
            <p:cNvPr id="46108" name="Line 67"/>
            <p:cNvSpPr/>
            <p:nvPr/>
          </p:nvSpPr>
          <p:spPr>
            <a:xfrm>
              <a:off x="3408" y="3279"/>
              <a:ext cx="227" cy="317"/>
            </a:xfrm>
            <a:prstGeom prst="line">
              <a:avLst/>
            </a:prstGeom>
            <a:ln w="9525" cap="flat" cmpd="sng">
              <a:solidFill>
                <a:schemeClr val="tx1"/>
              </a:solidFill>
              <a:prstDash val="solid"/>
              <a:round/>
              <a:headEnd type="none" w="med" len="med"/>
              <a:tailEnd type="none" w="med" len="med"/>
            </a:ln>
          </p:spPr>
        </p:sp>
        <p:sp>
          <p:nvSpPr>
            <p:cNvPr id="46109" name="Oval 68"/>
            <p:cNvSpPr/>
            <p:nvPr/>
          </p:nvSpPr>
          <p:spPr>
            <a:xfrm>
              <a:off x="2955"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10" name="Oval 69"/>
            <p:cNvSpPr/>
            <p:nvPr/>
          </p:nvSpPr>
          <p:spPr>
            <a:xfrm>
              <a:off x="3590"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11" name="Text Box 70"/>
            <p:cNvSpPr txBox="1"/>
            <p:nvPr/>
          </p:nvSpPr>
          <p:spPr>
            <a:xfrm>
              <a:off x="2751" y="34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5</a:t>
              </a:r>
              <a:endParaRPr lang="en-US" altLang="zh-CN" sz="2400">
                <a:latin typeface="Times New Roman" panose="02020603050405020304" pitchFamily="18" charset="0"/>
                <a:ea typeface="宋体" panose="02010600030101010101" pitchFamily="2" charset="-122"/>
              </a:endParaRPr>
            </a:p>
          </p:txBody>
        </p:sp>
        <p:sp>
          <p:nvSpPr>
            <p:cNvPr id="46112" name="Text Box 71"/>
            <p:cNvSpPr txBox="1"/>
            <p:nvPr/>
          </p:nvSpPr>
          <p:spPr>
            <a:xfrm>
              <a:off x="3408" y="34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5</a:t>
              </a:r>
              <a:endParaRPr lang="en-US" altLang="zh-CN" sz="2400">
                <a:latin typeface="Times New Roman" panose="02020603050405020304" pitchFamily="18" charset="0"/>
                <a:ea typeface="宋体" panose="02010600030101010101" pitchFamily="2" charset="-122"/>
              </a:endParaRPr>
            </a:p>
          </p:txBody>
        </p:sp>
        <p:sp>
          <p:nvSpPr>
            <p:cNvPr id="46113" name="Line 72"/>
            <p:cNvSpPr/>
            <p:nvPr/>
          </p:nvSpPr>
          <p:spPr>
            <a:xfrm flipH="1">
              <a:off x="2744" y="3657"/>
              <a:ext cx="227" cy="317"/>
            </a:xfrm>
            <a:prstGeom prst="line">
              <a:avLst/>
            </a:prstGeom>
            <a:ln w="9525" cap="flat" cmpd="sng">
              <a:solidFill>
                <a:schemeClr val="tx1"/>
              </a:solidFill>
              <a:prstDash val="solid"/>
              <a:round/>
              <a:headEnd type="none" w="med" len="med"/>
              <a:tailEnd type="none" w="med" len="med"/>
            </a:ln>
          </p:spPr>
        </p:sp>
        <p:sp>
          <p:nvSpPr>
            <p:cNvPr id="46114" name="Line 73"/>
            <p:cNvSpPr/>
            <p:nvPr/>
          </p:nvSpPr>
          <p:spPr>
            <a:xfrm>
              <a:off x="3061" y="3657"/>
              <a:ext cx="227" cy="272"/>
            </a:xfrm>
            <a:prstGeom prst="line">
              <a:avLst/>
            </a:prstGeom>
            <a:ln w="9525" cap="flat" cmpd="sng">
              <a:solidFill>
                <a:schemeClr val="tx1"/>
              </a:solidFill>
              <a:prstDash val="solid"/>
              <a:round/>
              <a:headEnd type="none" w="med" len="med"/>
              <a:tailEnd type="none" w="med" len="med"/>
            </a:ln>
          </p:spPr>
        </p:sp>
        <p:sp>
          <p:nvSpPr>
            <p:cNvPr id="46115" name="Oval 74"/>
            <p:cNvSpPr/>
            <p:nvPr/>
          </p:nvSpPr>
          <p:spPr>
            <a:xfrm>
              <a:off x="2653" y="3929"/>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16" name="Oval 75"/>
            <p:cNvSpPr/>
            <p:nvPr/>
          </p:nvSpPr>
          <p:spPr>
            <a:xfrm>
              <a:off x="3243" y="3929"/>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17" name="Text Box 76"/>
            <p:cNvSpPr txBox="1"/>
            <p:nvPr/>
          </p:nvSpPr>
          <p:spPr>
            <a:xfrm>
              <a:off x="2441" y="386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46118" name="Text Box 77"/>
            <p:cNvSpPr txBox="1"/>
            <p:nvPr/>
          </p:nvSpPr>
          <p:spPr>
            <a:xfrm>
              <a:off x="3061" y="386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3</a:t>
              </a:r>
              <a:endParaRPr lang="en-US" altLang="zh-CN" sz="2400">
                <a:latin typeface="Times New Roman" panose="02020603050405020304" pitchFamily="18" charset="0"/>
                <a:ea typeface="宋体" panose="02010600030101010101" pitchFamily="2" charset="-122"/>
              </a:endParaRPr>
            </a:p>
          </p:txBody>
        </p:sp>
      </p:grpSp>
      <p:sp>
        <p:nvSpPr>
          <p:cNvPr id="46119" name="Text Box 79"/>
          <p:cNvSpPr txBox="1"/>
          <p:nvPr/>
        </p:nvSpPr>
        <p:spPr>
          <a:xfrm>
            <a:off x="4154488" y="5084763"/>
            <a:ext cx="4738687" cy="954087"/>
          </a:xfrm>
          <a:prstGeom prst="rect">
            <a:avLst/>
          </a:prstGeom>
          <a:noFill/>
          <a:ln w="9525">
            <a:noFill/>
          </a:ln>
        </p:spPr>
        <p:txBody>
          <a:bodyPr wrap="none" anchor="t" anchorCtr="0">
            <a:spAutoFit/>
          </a:bodyPr>
          <a:p>
            <a:pPr>
              <a:buSzTx/>
            </a:pPr>
            <a:r>
              <a:rPr lang="en-US" altLang="zh-CN" sz="2800">
                <a:latin typeface="Times New Roman" panose="02020603050405020304" pitchFamily="18" charset="0"/>
                <a:ea typeface="宋体" panose="02010600030101010101" pitchFamily="2" charset="-122"/>
              </a:rPr>
              <a:t>W(T)=2</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3+3</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3+5</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2+7</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2+8</a:t>
            </a:r>
            <a:r>
              <a:rPr lang="zh-CN" altLang="en-US"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2</a:t>
            </a:r>
            <a:endParaRPr lang="en-US" altLang="zh-CN" sz="2800">
              <a:latin typeface="Times New Roman" panose="02020603050405020304" pitchFamily="18" charset="0"/>
              <a:ea typeface="宋体" panose="02010600030101010101" pitchFamily="2" charset="-122"/>
            </a:endParaRPr>
          </a:p>
          <a:p>
            <a:pPr>
              <a:buSzTx/>
            </a:pPr>
            <a:r>
              <a:rPr lang="zh-CN" altLang="zh-CN" sz="2800">
                <a:latin typeface="Times New Roman" panose="02020603050405020304" pitchFamily="18" charset="0"/>
                <a:ea typeface="宋体" panose="02010600030101010101" pitchFamily="2" charset="-122"/>
              </a:rPr>
              <a:t>＝</a:t>
            </a:r>
            <a:r>
              <a:rPr lang="en-US" altLang="zh-CN" sz="2800">
                <a:latin typeface="Times New Roman" panose="02020603050405020304" pitchFamily="18" charset="0"/>
                <a:ea typeface="宋体" panose="02010600030101010101" pitchFamily="2" charset="-122"/>
              </a:rPr>
              <a:t>55.   </a:t>
            </a:r>
            <a:endParaRPr lang="en-US" altLang="zh-CN" sz="2800">
              <a:latin typeface="Times New Roman" panose="02020603050405020304" pitchFamily="18" charset="0"/>
              <a:ea typeface="宋体" panose="02010600030101010101" pitchFamily="2" charset="-122"/>
            </a:endParaRPr>
          </a:p>
        </p:txBody>
      </p:sp>
      <p:grpSp>
        <p:nvGrpSpPr>
          <p:cNvPr id="46120" name="Group 78"/>
          <p:cNvGrpSpPr/>
          <p:nvPr/>
        </p:nvGrpSpPr>
        <p:grpSpPr>
          <a:xfrm>
            <a:off x="2316163" y="2492375"/>
            <a:ext cx="2039937" cy="1800225"/>
            <a:chOff x="2441" y="3022"/>
            <a:chExt cx="1285" cy="1134"/>
          </a:xfrm>
        </p:grpSpPr>
        <p:sp>
          <p:nvSpPr>
            <p:cNvPr id="46121" name="Oval 56"/>
            <p:cNvSpPr/>
            <p:nvPr/>
          </p:nvSpPr>
          <p:spPr>
            <a:xfrm>
              <a:off x="3338" y="3158"/>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22" name="Text Box 58"/>
            <p:cNvSpPr txBox="1"/>
            <p:nvPr/>
          </p:nvSpPr>
          <p:spPr>
            <a:xfrm>
              <a:off x="3066" y="3022"/>
              <a:ext cx="308"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10</a:t>
              </a:r>
              <a:endParaRPr lang="en-US" altLang="zh-CN" sz="2400">
                <a:latin typeface="Times New Roman" panose="02020603050405020304" pitchFamily="18" charset="0"/>
                <a:ea typeface="宋体" panose="02010600030101010101" pitchFamily="2" charset="-122"/>
              </a:endParaRPr>
            </a:p>
          </p:txBody>
        </p:sp>
        <p:sp>
          <p:nvSpPr>
            <p:cNvPr id="46123" name="Line 66"/>
            <p:cNvSpPr/>
            <p:nvPr/>
          </p:nvSpPr>
          <p:spPr>
            <a:xfrm flipH="1">
              <a:off x="3046" y="3279"/>
              <a:ext cx="317" cy="317"/>
            </a:xfrm>
            <a:prstGeom prst="line">
              <a:avLst/>
            </a:prstGeom>
            <a:ln w="9525" cap="flat" cmpd="sng">
              <a:solidFill>
                <a:schemeClr val="tx1"/>
              </a:solidFill>
              <a:prstDash val="solid"/>
              <a:round/>
              <a:headEnd type="none" w="med" len="med"/>
              <a:tailEnd type="none" w="med" len="med"/>
            </a:ln>
          </p:spPr>
        </p:sp>
        <p:sp>
          <p:nvSpPr>
            <p:cNvPr id="46124" name="Line 67"/>
            <p:cNvSpPr/>
            <p:nvPr/>
          </p:nvSpPr>
          <p:spPr>
            <a:xfrm>
              <a:off x="3408" y="3279"/>
              <a:ext cx="227" cy="317"/>
            </a:xfrm>
            <a:prstGeom prst="line">
              <a:avLst/>
            </a:prstGeom>
            <a:ln w="9525" cap="flat" cmpd="sng">
              <a:solidFill>
                <a:schemeClr val="tx1"/>
              </a:solidFill>
              <a:prstDash val="solid"/>
              <a:round/>
              <a:headEnd type="none" w="med" len="med"/>
              <a:tailEnd type="none" w="med" len="med"/>
            </a:ln>
          </p:spPr>
        </p:sp>
        <p:sp>
          <p:nvSpPr>
            <p:cNvPr id="46125" name="Oval 68"/>
            <p:cNvSpPr/>
            <p:nvPr/>
          </p:nvSpPr>
          <p:spPr>
            <a:xfrm>
              <a:off x="2955"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26" name="Oval 69"/>
            <p:cNvSpPr/>
            <p:nvPr/>
          </p:nvSpPr>
          <p:spPr>
            <a:xfrm>
              <a:off x="3590"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27" name="Text Box 70"/>
            <p:cNvSpPr txBox="1"/>
            <p:nvPr/>
          </p:nvSpPr>
          <p:spPr>
            <a:xfrm>
              <a:off x="2751" y="34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5</a:t>
              </a:r>
              <a:endParaRPr lang="en-US" altLang="zh-CN" sz="2400">
                <a:latin typeface="Times New Roman" panose="02020603050405020304" pitchFamily="18" charset="0"/>
                <a:ea typeface="宋体" panose="02010600030101010101" pitchFamily="2" charset="-122"/>
              </a:endParaRPr>
            </a:p>
          </p:txBody>
        </p:sp>
        <p:sp>
          <p:nvSpPr>
            <p:cNvPr id="46128" name="Text Box 71"/>
            <p:cNvSpPr txBox="1"/>
            <p:nvPr/>
          </p:nvSpPr>
          <p:spPr>
            <a:xfrm>
              <a:off x="3408" y="34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5</a:t>
              </a:r>
              <a:endParaRPr lang="en-US" altLang="zh-CN" sz="2400">
                <a:latin typeface="Times New Roman" panose="02020603050405020304" pitchFamily="18" charset="0"/>
                <a:ea typeface="宋体" panose="02010600030101010101" pitchFamily="2" charset="-122"/>
              </a:endParaRPr>
            </a:p>
          </p:txBody>
        </p:sp>
        <p:sp>
          <p:nvSpPr>
            <p:cNvPr id="46129" name="Line 72"/>
            <p:cNvSpPr/>
            <p:nvPr/>
          </p:nvSpPr>
          <p:spPr>
            <a:xfrm flipH="1">
              <a:off x="2744" y="3657"/>
              <a:ext cx="227" cy="317"/>
            </a:xfrm>
            <a:prstGeom prst="line">
              <a:avLst/>
            </a:prstGeom>
            <a:ln w="9525" cap="flat" cmpd="sng">
              <a:solidFill>
                <a:schemeClr val="tx1"/>
              </a:solidFill>
              <a:prstDash val="solid"/>
              <a:round/>
              <a:headEnd type="none" w="med" len="med"/>
              <a:tailEnd type="none" w="med" len="med"/>
            </a:ln>
          </p:spPr>
        </p:sp>
        <p:sp>
          <p:nvSpPr>
            <p:cNvPr id="46130" name="Line 73"/>
            <p:cNvSpPr/>
            <p:nvPr/>
          </p:nvSpPr>
          <p:spPr>
            <a:xfrm>
              <a:off x="3061" y="3657"/>
              <a:ext cx="227" cy="272"/>
            </a:xfrm>
            <a:prstGeom prst="line">
              <a:avLst/>
            </a:prstGeom>
            <a:ln w="9525" cap="flat" cmpd="sng">
              <a:solidFill>
                <a:schemeClr val="tx1"/>
              </a:solidFill>
              <a:prstDash val="solid"/>
              <a:round/>
              <a:headEnd type="none" w="med" len="med"/>
              <a:tailEnd type="none" w="med" len="med"/>
            </a:ln>
          </p:spPr>
        </p:sp>
        <p:sp>
          <p:nvSpPr>
            <p:cNvPr id="46131" name="Oval 74"/>
            <p:cNvSpPr/>
            <p:nvPr/>
          </p:nvSpPr>
          <p:spPr>
            <a:xfrm>
              <a:off x="2653" y="3929"/>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32" name="Oval 75"/>
            <p:cNvSpPr/>
            <p:nvPr/>
          </p:nvSpPr>
          <p:spPr>
            <a:xfrm>
              <a:off x="3243" y="3929"/>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33" name="Text Box 76"/>
            <p:cNvSpPr txBox="1"/>
            <p:nvPr/>
          </p:nvSpPr>
          <p:spPr>
            <a:xfrm>
              <a:off x="2441" y="386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46134" name="Text Box 77"/>
            <p:cNvSpPr txBox="1"/>
            <p:nvPr/>
          </p:nvSpPr>
          <p:spPr>
            <a:xfrm>
              <a:off x="3061" y="386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3</a:t>
              </a:r>
              <a:endParaRPr lang="en-US" altLang="zh-CN" sz="2400">
                <a:latin typeface="Times New Roman" panose="02020603050405020304" pitchFamily="18" charset="0"/>
                <a:ea typeface="宋体" panose="02010600030101010101" pitchFamily="2" charset="-122"/>
              </a:endParaRPr>
            </a:p>
          </p:txBody>
        </p:sp>
      </p:grpSp>
      <p:grpSp>
        <p:nvGrpSpPr>
          <p:cNvPr id="46135" name="Group 78"/>
          <p:cNvGrpSpPr/>
          <p:nvPr/>
        </p:nvGrpSpPr>
        <p:grpSpPr>
          <a:xfrm>
            <a:off x="4643438" y="2708275"/>
            <a:ext cx="3865562" cy="1825625"/>
            <a:chOff x="2441" y="3006"/>
            <a:chExt cx="2435" cy="1150"/>
          </a:xfrm>
        </p:grpSpPr>
        <p:sp>
          <p:nvSpPr>
            <p:cNvPr id="46136" name="Oval 56"/>
            <p:cNvSpPr/>
            <p:nvPr/>
          </p:nvSpPr>
          <p:spPr>
            <a:xfrm>
              <a:off x="3338" y="3158"/>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37" name="Oval 57"/>
            <p:cNvSpPr/>
            <p:nvPr/>
          </p:nvSpPr>
          <p:spPr>
            <a:xfrm>
              <a:off x="4200" y="3158"/>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38" name="Text Box 58"/>
            <p:cNvSpPr txBox="1"/>
            <p:nvPr/>
          </p:nvSpPr>
          <p:spPr>
            <a:xfrm>
              <a:off x="3066" y="3022"/>
              <a:ext cx="308"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10</a:t>
              </a:r>
              <a:endParaRPr lang="en-US" altLang="zh-CN" sz="2400">
                <a:latin typeface="Times New Roman" panose="02020603050405020304" pitchFamily="18" charset="0"/>
                <a:ea typeface="宋体" panose="02010600030101010101" pitchFamily="2" charset="-122"/>
              </a:endParaRPr>
            </a:p>
          </p:txBody>
        </p:sp>
        <p:sp>
          <p:nvSpPr>
            <p:cNvPr id="46139" name="Text Box 59"/>
            <p:cNvSpPr txBox="1"/>
            <p:nvPr/>
          </p:nvSpPr>
          <p:spPr>
            <a:xfrm>
              <a:off x="4346" y="3006"/>
              <a:ext cx="308"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15</a:t>
              </a:r>
              <a:endParaRPr lang="en-US" altLang="zh-CN" sz="2400">
                <a:latin typeface="Times New Roman" panose="02020603050405020304" pitchFamily="18" charset="0"/>
                <a:ea typeface="宋体" panose="02010600030101010101" pitchFamily="2" charset="-122"/>
              </a:endParaRPr>
            </a:p>
          </p:txBody>
        </p:sp>
        <p:sp>
          <p:nvSpPr>
            <p:cNvPr id="46140" name="Line 60"/>
            <p:cNvSpPr/>
            <p:nvPr/>
          </p:nvSpPr>
          <p:spPr>
            <a:xfrm flipH="1">
              <a:off x="3984" y="3278"/>
              <a:ext cx="272" cy="318"/>
            </a:xfrm>
            <a:prstGeom prst="line">
              <a:avLst/>
            </a:prstGeom>
            <a:ln w="9525" cap="flat" cmpd="sng">
              <a:solidFill>
                <a:schemeClr val="tx1"/>
              </a:solidFill>
              <a:prstDash val="solid"/>
              <a:round/>
              <a:headEnd type="none" w="med" len="med"/>
              <a:tailEnd type="none" w="med" len="med"/>
            </a:ln>
          </p:spPr>
        </p:sp>
        <p:sp>
          <p:nvSpPr>
            <p:cNvPr id="46141" name="Line 61"/>
            <p:cNvSpPr/>
            <p:nvPr/>
          </p:nvSpPr>
          <p:spPr>
            <a:xfrm>
              <a:off x="4301" y="3278"/>
              <a:ext cx="318" cy="318"/>
            </a:xfrm>
            <a:prstGeom prst="line">
              <a:avLst/>
            </a:prstGeom>
            <a:ln w="9525" cap="flat" cmpd="sng">
              <a:solidFill>
                <a:schemeClr val="tx1"/>
              </a:solidFill>
              <a:prstDash val="solid"/>
              <a:round/>
              <a:headEnd type="none" w="med" len="med"/>
              <a:tailEnd type="none" w="med" len="med"/>
            </a:ln>
          </p:spPr>
        </p:sp>
        <p:sp>
          <p:nvSpPr>
            <p:cNvPr id="46142" name="Oval 62"/>
            <p:cNvSpPr/>
            <p:nvPr/>
          </p:nvSpPr>
          <p:spPr>
            <a:xfrm>
              <a:off x="3893"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43" name="Oval 63"/>
            <p:cNvSpPr/>
            <p:nvPr/>
          </p:nvSpPr>
          <p:spPr>
            <a:xfrm>
              <a:off x="4573"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44" name="Text Box 64"/>
            <p:cNvSpPr txBox="1"/>
            <p:nvPr/>
          </p:nvSpPr>
          <p:spPr>
            <a:xfrm>
              <a:off x="3771" y="3324"/>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7</a:t>
              </a:r>
              <a:endParaRPr lang="en-US" altLang="zh-CN" sz="2400">
                <a:latin typeface="Times New Roman" panose="02020603050405020304" pitchFamily="18" charset="0"/>
                <a:ea typeface="宋体" panose="02010600030101010101" pitchFamily="2" charset="-122"/>
              </a:endParaRPr>
            </a:p>
          </p:txBody>
        </p:sp>
        <p:sp>
          <p:nvSpPr>
            <p:cNvPr id="46145" name="Text Box 65"/>
            <p:cNvSpPr txBox="1"/>
            <p:nvPr/>
          </p:nvSpPr>
          <p:spPr>
            <a:xfrm>
              <a:off x="4664" y="3415"/>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8</a:t>
              </a:r>
              <a:endParaRPr lang="en-US" altLang="zh-CN" sz="2400">
                <a:latin typeface="Times New Roman" panose="02020603050405020304" pitchFamily="18" charset="0"/>
                <a:ea typeface="宋体" panose="02010600030101010101" pitchFamily="2" charset="-122"/>
              </a:endParaRPr>
            </a:p>
          </p:txBody>
        </p:sp>
        <p:sp>
          <p:nvSpPr>
            <p:cNvPr id="46146" name="Line 66"/>
            <p:cNvSpPr/>
            <p:nvPr/>
          </p:nvSpPr>
          <p:spPr>
            <a:xfrm flipH="1">
              <a:off x="3046" y="3279"/>
              <a:ext cx="317" cy="317"/>
            </a:xfrm>
            <a:prstGeom prst="line">
              <a:avLst/>
            </a:prstGeom>
            <a:ln w="9525" cap="flat" cmpd="sng">
              <a:solidFill>
                <a:schemeClr val="tx1"/>
              </a:solidFill>
              <a:prstDash val="solid"/>
              <a:round/>
              <a:headEnd type="none" w="med" len="med"/>
              <a:tailEnd type="none" w="med" len="med"/>
            </a:ln>
          </p:spPr>
        </p:sp>
        <p:sp>
          <p:nvSpPr>
            <p:cNvPr id="46147" name="Line 67"/>
            <p:cNvSpPr/>
            <p:nvPr/>
          </p:nvSpPr>
          <p:spPr>
            <a:xfrm>
              <a:off x="3408" y="3279"/>
              <a:ext cx="227" cy="317"/>
            </a:xfrm>
            <a:prstGeom prst="line">
              <a:avLst/>
            </a:prstGeom>
            <a:ln w="9525" cap="flat" cmpd="sng">
              <a:solidFill>
                <a:schemeClr val="tx1"/>
              </a:solidFill>
              <a:prstDash val="solid"/>
              <a:round/>
              <a:headEnd type="none" w="med" len="med"/>
              <a:tailEnd type="none" w="med" len="med"/>
            </a:ln>
          </p:spPr>
        </p:sp>
        <p:sp>
          <p:nvSpPr>
            <p:cNvPr id="46148" name="Oval 68"/>
            <p:cNvSpPr/>
            <p:nvPr/>
          </p:nvSpPr>
          <p:spPr>
            <a:xfrm>
              <a:off x="2955"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49" name="Oval 69"/>
            <p:cNvSpPr/>
            <p:nvPr/>
          </p:nvSpPr>
          <p:spPr>
            <a:xfrm>
              <a:off x="3590" y="3551"/>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50" name="Text Box 70"/>
            <p:cNvSpPr txBox="1"/>
            <p:nvPr/>
          </p:nvSpPr>
          <p:spPr>
            <a:xfrm>
              <a:off x="2751" y="34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5</a:t>
              </a:r>
              <a:endParaRPr lang="en-US" altLang="zh-CN" sz="2400">
                <a:latin typeface="Times New Roman" panose="02020603050405020304" pitchFamily="18" charset="0"/>
                <a:ea typeface="宋体" panose="02010600030101010101" pitchFamily="2" charset="-122"/>
              </a:endParaRPr>
            </a:p>
          </p:txBody>
        </p:sp>
        <p:sp>
          <p:nvSpPr>
            <p:cNvPr id="46151" name="Text Box 71"/>
            <p:cNvSpPr txBox="1"/>
            <p:nvPr/>
          </p:nvSpPr>
          <p:spPr>
            <a:xfrm>
              <a:off x="3408" y="3460"/>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5</a:t>
              </a:r>
              <a:endParaRPr lang="en-US" altLang="zh-CN" sz="2400">
                <a:latin typeface="Times New Roman" panose="02020603050405020304" pitchFamily="18" charset="0"/>
                <a:ea typeface="宋体" panose="02010600030101010101" pitchFamily="2" charset="-122"/>
              </a:endParaRPr>
            </a:p>
          </p:txBody>
        </p:sp>
        <p:sp>
          <p:nvSpPr>
            <p:cNvPr id="46152" name="Line 72"/>
            <p:cNvSpPr/>
            <p:nvPr/>
          </p:nvSpPr>
          <p:spPr>
            <a:xfrm flipH="1">
              <a:off x="2744" y="3657"/>
              <a:ext cx="227" cy="317"/>
            </a:xfrm>
            <a:prstGeom prst="line">
              <a:avLst/>
            </a:prstGeom>
            <a:ln w="9525" cap="flat" cmpd="sng">
              <a:solidFill>
                <a:schemeClr val="tx1"/>
              </a:solidFill>
              <a:prstDash val="solid"/>
              <a:round/>
              <a:headEnd type="none" w="med" len="med"/>
              <a:tailEnd type="none" w="med" len="med"/>
            </a:ln>
          </p:spPr>
        </p:sp>
        <p:sp>
          <p:nvSpPr>
            <p:cNvPr id="46153" name="Line 73"/>
            <p:cNvSpPr/>
            <p:nvPr/>
          </p:nvSpPr>
          <p:spPr>
            <a:xfrm>
              <a:off x="3061" y="3657"/>
              <a:ext cx="227" cy="272"/>
            </a:xfrm>
            <a:prstGeom prst="line">
              <a:avLst/>
            </a:prstGeom>
            <a:ln w="9525" cap="flat" cmpd="sng">
              <a:solidFill>
                <a:schemeClr val="tx1"/>
              </a:solidFill>
              <a:prstDash val="solid"/>
              <a:round/>
              <a:headEnd type="none" w="med" len="med"/>
              <a:tailEnd type="none" w="med" len="med"/>
            </a:ln>
          </p:spPr>
        </p:sp>
        <p:sp>
          <p:nvSpPr>
            <p:cNvPr id="46154" name="Oval 74"/>
            <p:cNvSpPr/>
            <p:nvPr/>
          </p:nvSpPr>
          <p:spPr>
            <a:xfrm>
              <a:off x="2653" y="3929"/>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55" name="Oval 75"/>
            <p:cNvSpPr/>
            <p:nvPr/>
          </p:nvSpPr>
          <p:spPr>
            <a:xfrm>
              <a:off x="3243" y="3929"/>
              <a:ext cx="136" cy="13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a:buSzTx/>
              </a:pPr>
              <a:endParaRPr lang="zh-CN" altLang="en-US">
                <a:latin typeface="Tahoma" panose="020B0604030504040204" pitchFamily="34" charset="0"/>
                <a:ea typeface="宋体" panose="02010600030101010101" pitchFamily="2" charset="-122"/>
              </a:endParaRPr>
            </a:p>
          </p:txBody>
        </p:sp>
        <p:sp>
          <p:nvSpPr>
            <p:cNvPr id="46156" name="Text Box 76"/>
            <p:cNvSpPr txBox="1"/>
            <p:nvPr/>
          </p:nvSpPr>
          <p:spPr>
            <a:xfrm>
              <a:off x="2441" y="386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46157" name="Text Box 77"/>
            <p:cNvSpPr txBox="1"/>
            <p:nvPr/>
          </p:nvSpPr>
          <p:spPr>
            <a:xfrm>
              <a:off x="3061" y="3868"/>
              <a:ext cx="212" cy="28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3</a:t>
              </a:r>
              <a:endParaRPr lang="en-US" altLang="zh-CN" sz="2400">
                <a:latin typeface="Times New Roman" panose="02020603050405020304" pitchFamily="18" charset="0"/>
                <a:ea typeface="宋体" panose="02010600030101010101" pitchFamily="2" charset="-122"/>
              </a:endParaRPr>
            </a:p>
          </p:txBody>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Grp="1"/>
          </p:cNvSpPr>
          <p:nvPr>
            <p:ph type="title"/>
          </p:nvPr>
        </p:nvSpPr>
        <p:spPr/>
        <p:txBody>
          <a:bodyPr vert="horz" wrap="square" lIns="91440" tIns="45720" rIns="91440" bIns="45720" anchor="b" anchorCtr="0"/>
          <a:p>
            <a:r>
              <a:rPr lang="en-US" altLang="zh-CN" b="0"/>
              <a:t>Huffman</a:t>
            </a:r>
            <a:r>
              <a:rPr lang="zh-CN" altLang="en-US" b="0"/>
              <a:t>算法</a:t>
            </a:r>
            <a:r>
              <a:rPr lang="en-US" altLang="zh-CN" b="0"/>
              <a:t>(</a:t>
            </a:r>
            <a:r>
              <a:rPr lang="zh-CN" altLang="en-US" b="0"/>
              <a:t>正确性</a:t>
            </a:r>
            <a:r>
              <a:rPr lang="en-US" altLang="zh-CN" b="0"/>
              <a:t>)</a:t>
            </a:r>
            <a:endParaRPr lang="en-US" altLang="zh-CN" b="0"/>
          </a:p>
        </p:txBody>
      </p:sp>
      <p:sp>
        <p:nvSpPr>
          <p:cNvPr id="47106" name="Rectangle 3"/>
          <p:cNvSpPr>
            <a:spLocks noGrp="1"/>
          </p:cNvSpPr>
          <p:nvPr>
            <p:ph type="body" sz="half" idx="1"/>
          </p:nvPr>
        </p:nvSpPr>
        <p:spPr>
          <a:xfrm>
            <a:off x="179388" y="1268413"/>
            <a:ext cx="8113712" cy="647700"/>
          </a:xfrm>
        </p:spPr>
        <p:txBody>
          <a:bodyPr vert="horz" wrap="square" lIns="91440" tIns="45720" rIns="91440" bIns="45720" anchor="t" anchorCtr="0"/>
          <a:p>
            <a:pPr>
              <a:spcBef>
                <a:spcPct val="20000"/>
              </a:spcBef>
              <a:buClr>
                <a:schemeClr val="folHlink"/>
              </a:buClr>
              <a:buSzPct val="75000"/>
              <a:buFont typeface="Wingdings" panose="05000000000000000000" pitchFamily="2" charset="2"/>
              <a:buNone/>
            </a:pPr>
            <a:r>
              <a:rPr lang="zh-CN" altLang="en-US">
                <a:solidFill>
                  <a:schemeClr val="hlink"/>
                </a:solidFill>
              </a:rPr>
              <a:t>定理</a:t>
            </a:r>
            <a:r>
              <a:rPr lang="en-US" altLang="zh-CN">
                <a:solidFill>
                  <a:schemeClr val="hlink"/>
                </a:solidFill>
              </a:rPr>
              <a:t>14.11 </a:t>
            </a:r>
            <a:r>
              <a:rPr lang="en-US" altLang="zh-CN"/>
              <a:t> </a:t>
            </a:r>
            <a:r>
              <a:rPr lang="zh-CN" altLang="en-US"/>
              <a:t>设</a:t>
            </a:r>
            <a:r>
              <a:rPr lang="en-US" altLang="zh-CN" i="1"/>
              <a:t>T</a:t>
            </a:r>
            <a:r>
              <a:rPr lang="zh-CN" altLang="en-US"/>
              <a:t>为带权</a:t>
            </a:r>
            <a:r>
              <a:rPr lang="en-US" altLang="zh-CN" i="1"/>
              <a:t>w</a:t>
            </a:r>
            <a:r>
              <a:rPr lang="en-US" altLang="zh-CN" baseline="-25000"/>
              <a:t>1</a:t>
            </a:r>
            <a:r>
              <a:rPr lang="en-US" altLang="zh-CN"/>
              <a:t>≤</a:t>
            </a:r>
            <a:r>
              <a:rPr lang="en-US" altLang="zh-CN" i="1"/>
              <a:t>w</a:t>
            </a:r>
            <a:r>
              <a:rPr lang="en-US" altLang="zh-CN" baseline="-25000"/>
              <a:t>2</a:t>
            </a:r>
            <a:r>
              <a:rPr lang="en-US" altLang="zh-CN"/>
              <a:t>≤…≤ </a:t>
            </a:r>
            <a:r>
              <a:rPr lang="en-US" altLang="zh-CN" i="1"/>
              <a:t>w</a:t>
            </a:r>
            <a:r>
              <a:rPr lang="en-US" altLang="zh-CN" i="1" baseline="-25000"/>
              <a:t>t</a:t>
            </a:r>
            <a:r>
              <a:rPr lang="en-US" altLang="zh-CN"/>
              <a:t> </a:t>
            </a:r>
            <a:r>
              <a:rPr lang="zh-CN" altLang="en-US"/>
              <a:t>的最优树</a:t>
            </a:r>
            <a:r>
              <a:rPr lang="en-US" altLang="zh-CN"/>
              <a:t>,</a:t>
            </a:r>
            <a:r>
              <a:rPr lang="zh-CN" altLang="en-US"/>
              <a:t>则</a:t>
            </a:r>
            <a:endParaRPr lang="zh-CN" altLang="en-US"/>
          </a:p>
        </p:txBody>
      </p:sp>
      <p:grpSp>
        <p:nvGrpSpPr>
          <p:cNvPr id="2" name="Group 4"/>
          <p:cNvGrpSpPr/>
          <p:nvPr/>
        </p:nvGrpSpPr>
        <p:grpSpPr>
          <a:xfrm>
            <a:off x="1023938" y="1844675"/>
            <a:ext cx="5691187" cy="615950"/>
            <a:chOff x="645" y="1207"/>
            <a:chExt cx="3585" cy="388"/>
          </a:xfrm>
        </p:grpSpPr>
        <p:sp>
          <p:nvSpPr>
            <p:cNvPr id="47108" name="Text Box 5"/>
            <p:cNvSpPr txBox="1"/>
            <p:nvPr/>
          </p:nvSpPr>
          <p:spPr>
            <a:xfrm>
              <a:off x="645" y="1243"/>
              <a:ext cx="3585" cy="330"/>
            </a:xfrm>
            <a:prstGeom prst="rect">
              <a:avLst/>
            </a:prstGeom>
            <a:noFill/>
            <a:ln w="9525">
              <a:noFill/>
            </a:ln>
          </p:spPr>
          <p:txBody>
            <a:bodyPr wrap="none" anchor="t" anchorCtr="0">
              <a:spAutoFit/>
            </a:bodyPr>
            <a:p>
              <a:pPr>
                <a:buSzTx/>
              </a:pPr>
              <a:r>
                <a:rPr lang="en-US" altLang="zh-CN" sz="2800" i="1">
                  <a:latin typeface="Times New Roman" panose="02020603050405020304" pitchFamily="18" charset="0"/>
                  <a:ea typeface="黑体" panose="02010609060101010101" pitchFamily="49" charset="-122"/>
                </a:rPr>
                <a:t>a</a:t>
              </a:r>
              <a:r>
                <a:rPr lang="en-US" altLang="zh-CN" sz="2800">
                  <a:latin typeface="Times New Roman" panose="02020603050405020304" pitchFamily="18" charset="0"/>
                  <a:ea typeface="黑体" panose="02010609060101010101" pitchFamily="49" charset="-122"/>
                </a:rPr>
                <a:t>)</a:t>
              </a:r>
              <a:r>
                <a:rPr lang="zh-CN" altLang="en-US" sz="2800">
                  <a:latin typeface="Times New Roman" panose="02020603050405020304" pitchFamily="18" charset="0"/>
                  <a:ea typeface="黑体" panose="02010609060101010101" pitchFamily="49" charset="-122"/>
                </a:rPr>
                <a:t>带权</a:t>
              </a:r>
              <a:r>
                <a:rPr lang="en-US" altLang="zh-CN" sz="2800" i="1">
                  <a:latin typeface="Times New Roman" panose="02020603050405020304" pitchFamily="18" charset="0"/>
                  <a:ea typeface="黑体" panose="02010609060101010101" pitchFamily="49" charset="-122"/>
                </a:rPr>
                <a:t>w</a:t>
              </a:r>
              <a:r>
                <a:rPr lang="en-US" altLang="zh-CN" sz="2800" baseline="-25000">
                  <a:latin typeface="Times New Roman" panose="02020603050405020304" pitchFamily="18" charset="0"/>
                  <a:ea typeface="黑体" panose="02010609060101010101" pitchFamily="49" charset="-122"/>
                </a:rPr>
                <a:t>1</a:t>
              </a:r>
              <a:r>
                <a:rPr lang="en-US" altLang="zh-CN" sz="2800">
                  <a:latin typeface="Times New Roman" panose="02020603050405020304" pitchFamily="18" charset="0"/>
                  <a:ea typeface="黑体" panose="02010609060101010101" pitchFamily="49" charset="-122"/>
                </a:rPr>
                <a:t>, </a:t>
              </a:r>
              <a:r>
                <a:rPr lang="en-US" altLang="zh-CN" sz="2800" i="1">
                  <a:latin typeface="Times New Roman" panose="02020603050405020304" pitchFamily="18" charset="0"/>
                  <a:ea typeface="黑体" panose="02010609060101010101" pitchFamily="49" charset="-122"/>
                </a:rPr>
                <a:t>w</a:t>
              </a:r>
              <a:r>
                <a:rPr lang="en-US" altLang="zh-CN" sz="2800" baseline="-25000">
                  <a:latin typeface="Times New Roman" panose="02020603050405020304" pitchFamily="18" charset="0"/>
                  <a:ea typeface="黑体" panose="02010609060101010101" pitchFamily="49" charset="-122"/>
                </a:rPr>
                <a:t>2</a:t>
              </a:r>
              <a:r>
                <a:rPr lang="zh-CN" altLang="en-US" sz="2800">
                  <a:latin typeface="Times New Roman" panose="02020603050405020304" pitchFamily="18" charset="0"/>
                  <a:ea typeface="黑体" panose="02010609060101010101" pitchFamily="49" charset="-122"/>
                </a:rPr>
                <a:t>的树叶       </a:t>
              </a:r>
              <a:r>
                <a:rPr lang="en-US" altLang="zh-CN" sz="2800">
                  <a:latin typeface="Times New Roman" panose="02020603050405020304" pitchFamily="18" charset="0"/>
                  <a:ea typeface="黑体" panose="02010609060101010101" pitchFamily="49" charset="-122"/>
                </a:rPr>
                <a:t>       </a:t>
              </a:r>
              <a:r>
                <a:rPr lang="zh-CN" altLang="en-US" sz="2800">
                  <a:latin typeface="Times New Roman" panose="02020603050405020304" pitchFamily="18" charset="0"/>
                  <a:ea typeface="黑体" panose="02010609060101010101" pitchFamily="49" charset="-122"/>
                </a:rPr>
                <a:t>是兄弟</a:t>
              </a:r>
              <a:r>
                <a:rPr lang="en-US" altLang="zh-CN" sz="2800">
                  <a:latin typeface="Times New Roman" panose="02020603050405020304" pitchFamily="18" charset="0"/>
                  <a:ea typeface="黑体" panose="02010609060101010101" pitchFamily="49" charset="-122"/>
                </a:rPr>
                <a:t>. </a:t>
              </a:r>
              <a:endParaRPr lang="en-US" altLang="zh-CN" sz="2800">
                <a:latin typeface="Times New Roman" panose="02020603050405020304" pitchFamily="18" charset="0"/>
                <a:ea typeface="黑体" panose="02010609060101010101" pitchFamily="49" charset="-122"/>
              </a:endParaRPr>
            </a:p>
          </p:txBody>
        </p:sp>
        <p:graphicFrame>
          <p:nvGraphicFramePr>
            <p:cNvPr id="47109" name="Object 6"/>
            <p:cNvGraphicFramePr>
              <a:graphicFrameLocks noChangeAspect="1"/>
            </p:cNvGraphicFramePr>
            <p:nvPr/>
          </p:nvGraphicFramePr>
          <p:xfrm>
            <a:off x="2608" y="1207"/>
            <a:ext cx="723" cy="388"/>
          </p:xfrm>
          <a:graphic>
            <a:graphicData uri="http://schemas.openxmlformats.org/presentationml/2006/ole">
              <mc:AlternateContent xmlns:mc="http://schemas.openxmlformats.org/markup-compatibility/2006">
                <mc:Choice xmlns:v="urn:schemas-microsoft-com:vml" Requires="v">
                  <p:oleObj spid="_x0000_s3077" name="" r:id="rId1" imgW="482600" imgH="241300" progId="Equation.3">
                    <p:embed/>
                  </p:oleObj>
                </mc:Choice>
                <mc:Fallback>
                  <p:oleObj name="" r:id="rId1" imgW="482600" imgH="241300" progId="Equation.3">
                    <p:embed/>
                    <p:pic>
                      <p:nvPicPr>
                        <p:cNvPr id="0" name="图片 3076"/>
                        <p:cNvPicPr/>
                        <p:nvPr/>
                      </p:nvPicPr>
                      <p:blipFill>
                        <a:blip r:embed="rId2"/>
                        <a:stretch>
                          <a:fillRect/>
                        </a:stretch>
                      </p:blipFill>
                      <p:spPr>
                        <a:xfrm>
                          <a:off x="2608" y="1207"/>
                          <a:ext cx="723" cy="388"/>
                        </a:xfrm>
                        <a:prstGeom prst="rect">
                          <a:avLst/>
                        </a:prstGeom>
                        <a:noFill/>
                        <a:ln w="38100">
                          <a:noFill/>
                          <a:miter/>
                        </a:ln>
                      </p:spPr>
                    </p:pic>
                  </p:oleObj>
                </mc:Fallback>
              </mc:AlternateContent>
            </a:graphicData>
          </a:graphic>
        </p:graphicFrame>
      </p:grpSp>
      <p:sp>
        <p:nvSpPr>
          <p:cNvPr id="269319" name="Rectangle 7"/>
          <p:cNvSpPr/>
          <p:nvPr/>
        </p:nvSpPr>
        <p:spPr>
          <a:xfrm>
            <a:off x="203200" y="3068638"/>
            <a:ext cx="8940800" cy="2881312"/>
          </a:xfrm>
          <a:prstGeom prst="rect">
            <a:avLst/>
          </a:prstGeom>
          <a:noFill/>
          <a:ln w="9525">
            <a:noFill/>
          </a:ln>
        </p:spPr>
        <p:txBody>
          <a:bodyPr anchor="t" anchorCtr="0"/>
          <a:p>
            <a:pPr marL="342900" indent="-342900" eaLnBrk="0" hangingPunct="0">
              <a:lnSpc>
                <a:spcPct val="120000"/>
              </a:lnSpc>
              <a:spcBef>
                <a:spcPct val="20000"/>
              </a:spcBef>
              <a:buClr>
                <a:schemeClr val="folHlink"/>
              </a:buClr>
              <a:buSzPct val="75000"/>
            </a:pPr>
            <a:r>
              <a:rPr lang="zh-CN" altLang="en-US" sz="2800">
                <a:solidFill>
                  <a:schemeClr val="hlink"/>
                </a:solidFill>
                <a:latin typeface="Times New Roman" panose="02020603050405020304" pitchFamily="18" charset="0"/>
                <a:ea typeface="黑体" panose="02010609060101010101" pitchFamily="49" charset="-122"/>
              </a:rPr>
              <a:t>证明</a:t>
            </a:r>
            <a:r>
              <a:rPr lang="zh-CN" altLang="en-US" sz="2800">
                <a:latin typeface="Times New Roman" panose="02020603050405020304" pitchFamily="18" charset="0"/>
                <a:ea typeface="黑体" panose="02010609060101010101" pitchFamily="49" charset="-122"/>
              </a:rPr>
              <a:t>  </a:t>
            </a:r>
            <a:r>
              <a:rPr lang="zh-CN" altLang="en-US" sz="2800">
                <a:solidFill>
                  <a:schemeClr val="folHlink"/>
                </a:solidFill>
                <a:latin typeface="Times New Roman" panose="02020603050405020304" pitchFamily="18" charset="0"/>
                <a:ea typeface="黑体" panose="02010609060101010101" pitchFamily="49" charset="-122"/>
              </a:rPr>
              <a:t>设在带权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30000">
                <a:solidFill>
                  <a:schemeClr val="folHlink"/>
                </a:solidFill>
                <a:latin typeface="Times New Roman" panose="02020603050405020304" pitchFamily="18" charset="0"/>
                <a:ea typeface="黑体" panose="02010609060101010101" pitchFamily="49" charset="-122"/>
              </a:rPr>
              <a:t>1</a:t>
            </a:r>
            <a:r>
              <a:rPr lang="en-US" altLang="zh-CN" sz="2800">
                <a:solidFill>
                  <a:schemeClr val="folHlink"/>
                </a:solidFill>
                <a:latin typeface="Times New Roman" panose="02020603050405020304" pitchFamily="18" charset="0"/>
                <a:ea typeface="黑体" panose="02010609060101010101" pitchFamily="49" charset="-122"/>
              </a:rPr>
              <a:t>,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30000">
                <a:solidFill>
                  <a:schemeClr val="folHlink"/>
                </a:solidFill>
                <a:latin typeface="Times New Roman" panose="02020603050405020304" pitchFamily="18" charset="0"/>
                <a:ea typeface="黑体" panose="02010609060101010101" pitchFamily="49" charset="-122"/>
              </a:rPr>
              <a:t>2</a:t>
            </a:r>
            <a:r>
              <a:rPr lang="en-US" altLang="zh-CN" sz="2800">
                <a:solidFill>
                  <a:schemeClr val="folHlink"/>
                </a:solidFill>
                <a:latin typeface="Times New Roman" panose="02020603050405020304" pitchFamily="18" charset="0"/>
                <a:ea typeface="黑体" panose="02010609060101010101" pitchFamily="49" charset="-122"/>
              </a:rPr>
              <a:t>, …,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i="1" baseline="-30000">
                <a:solidFill>
                  <a:schemeClr val="folHlink"/>
                </a:solidFill>
                <a:latin typeface="Times New Roman" panose="02020603050405020304" pitchFamily="18" charset="0"/>
                <a:ea typeface="黑体" panose="02010609060101010101" pitchFamily="49" charset="-122"/>
              </a:rPr>
              <a:t>t</a:t>
            </a:r>
            <a:r>
              <a:rPr lang="zh-CN" altLang="en-US" sz="2800">
                <a:solidFill>
                  <a:schemeClr val="folHlink"/>
                </a:solidFill>
                <a:latin typeface="Times New Roman" panose="02020603050405020304" pitchFamily="18" charset="0"/>
                <a:ea typeface="黑体" panose="02010609060101010101" pitchFamily="49" charset="-122"/>
              </a:rPr>
              <a:t>的最优树中</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v</a:t>
            </a:r>
            <a:r>
              <a:rPr lang="zh-CN" altLang="en-US" sz="2800">
                <a:solidFill>
                  <a:schemeClr val="folHlink"/>
                </a:solidFill>
                <a:latin typeface="Times New Roman" panose="02020603050405020304" pitchFamily="18" charset="0"/>
                <a:ea typeface="黑体" panose="02010609060101010101" pitchFamily="49" charset="-122"/>
              </a:rPr>
              <a:t>是通路长度最长的分枝点</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v</a:t>
            </a:r>
            <a:r>
              <a:rPr lang="zh-CN" altLang="en-US" sz="2800">
                <a:solidFill>
                  <a:schemeClr val="folHlink"/>
                </a:solidFill>
                <a:latin typeface="Times New Roman" panose="02020603050405020304" pitchFamily="18" charset="0"/>
                <a:ea typeface="黑体" panose="02010609060101010101" pitchFamily="49" charset="-122"/>
              </a:rPr>
              <a:t>的儿子分别带权</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i="1" baseline="-25000">
                <a:solidFill>
                  <a:schemeClr val="folHlink"/>
                </a:solidFill>
                <a:latin typeface="Times New Roman" panose="02020603050405020304" pitchFamily="18" charset="0"/>
                <a:ea typeface="黑体" panose="02010609060101010101" pitchFamily="49" charset="-122"/>
              </a:rPr>
              <a:t>x</a:t>
            </a:r>
            <a:r>
              <a:rPr lang="zh-CN" altLang="en-US" sz="2800">
                <a:solidFill>
                  <a:schemeClr val="folHlink"/>
                </a:solidFill>
                <a:latin typeface="Times New Roman" panose="02020603050405020304" pitchFamily="18" charset="0"/>
                <a:ea typeface="黑体" panose="02010609060101010101" pitchFamily="49" charset="-122"/>
              </a:rPr>
              <a:t>和</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i="1" baseline="-25000">
                <a:solidFill>
                  <a:schemeClr val="folHlink"/>
                </a:solidFill>
                <a:latin typeface="Times New Roman" panose="02020603050405020304" pitchFamily="18" charset="0"/>
                <a:ea typeface="黑体" panose="02010609060101010101" pitchFamily="49" charset="-122"/>
              </a:rPr>
              <a:t>y</a:t>
            </a:r>
            <a:r>
              <a:rPr lang="en-US" altLang="zh-CN" sz="2800">
                <a:solidFill>
                  <a:schemeClr val="folHlink"/>
                </a:solidFill>
                <a:latin typeface="Times New Roman" panose="02020603050405020304" pitchFamily="18" charset="0"/>
                <a:ea typeface="黑体" panose="02010609060101010101" pitchFamily="49" charset="-122"/>
              </a:rPr>
              <a:t>,</a:t>
            </a:r>
            <a:r>
              <a:rPr lang="zh-CN" altLang="en-US" sz="2800">
                <a:solidFill>
                  <a:schemeClr val="folHlink"/>
                </a:solidFill>
                <a:latin typeface="Times New Roman" panose="02020603050405020304" pitchFamily="18" charset="0"/>
                <a:ea typeface="黑体" panose="02010609060101010101" pitchFamily="49" charset="-122"/>
              </a:rPr>
              <a:t>有</a:t>
            </a:r>
            <a:endParaRPr lang="zh-CN" altLang="en-US"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2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            </a:t>
            </a:r>
            <a:r>
              <a:rPr lang="en-US" altLang="zh-CN" sz="2800">
                <a:solidFill>
                  <a:schemeClr val="folHlink"/>
                </a:solidFill>
                <a:latin typeface="Times New Roman" panose="02020603050405020304" pitchFamily="18" charset="0"/>
                <a:ea typeface="黑体" panose="02010609060101010101" pitchFamily="49" charset="-122"/>
              </a:rPr>
              <a:t>L(</a:t>
            </a:r>
            <a:r>
              <a:rPr lang="en-US" altLang="zh-CN" sz="2800" i="1">
                <a:solidFill>
                  <a:schemeClr val="folHlink"/>
                </a:solidFill>
                <a:latin typeface="Times New Roman" panose="02020603050405020304" pitchFamily="18" charset="0"/>
                <a:ea typeface="黑体" panose="02010609060101010101" pitchFamily="49" charset="-122"/>
              </a:rPr>
              <a:t>v</a:t>
            </a:r>
            <a:r>
              <a:rPr lang="en-US" altLang="zh-CN" sz="2800" i="1" baseline="-15000">
                <a:solidFill>
                  <a:schemeClr val="folHlink"/>
                </a:solidFill>
                <a:latin typeface="Times New Roman" panose="02020603050405020304" pitchFamily="18" charset="0"/>
                <a:ea typeface="黑体" panose="02010609060101010101" pitchFamily="49" charset="-122"/>
              </a:rPr>
              <a:t>w</a:t>
            </a:r>
            <a:r>
              <a:rPr lang="en-US" altLang="zh-CN" sz="2800" i="1" baseline="-30000">
                <a:solidFill>
                  <a:schemeClr val="folHlink"/>
                </a:solidFill>
                <a:latin typeface="Times New Roman" panose="02020603050405020304" pitchFamily="18" charset="0"/>
                <a:ea typeface="黑体" panose="02010609060101010101" pitchFamily="49" charset="-122"/>
              </a:rPr>
              <a:t>x</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a:solidFill>
                  <a:srgbClr val="FF0000"/>
                </a:solidFill>
                <a:latin typeface="Times New Roman" panose="02020603050405020304" pitchFamily="18"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L(</a:t>
            </a:r>
            <a:r>
              <a:rPr lang="en-US" altLang="zh-CN" sz="2800" i="1">
                <a:solidFill>
                  <a:schemeClr val="folHlink"/>
                </a:solidFill>
                <a:latin typeface="Times New Roman" panose="02020603050405020304" pitchFamily="18" charset="0"/>
                <a:ea typeface="黑体" panose="02010609060101010101" pitchFamily="49" charset="-122"/>
              </a:rPr>
              <a:t>v</a:t>
            </a:r>
            <a:r>
              <a:rPr lang="en-US" altLang="zh-CN" sz="2800" i="1" baseline="-15000">
                <a:solidFill>
                  <a:schemeClr val="folHlink"/>
                </a:solidFill>
                <a:latin typeface="Times New Roman" panose="02020603050405020304" pitchFamily="18" charset="0"/>
                <a:ea typeface="黑体" panose="02010609060101010101" pitchFamily="49" charset="-122"/>
              </a:rPr>
              <a:t>w</a:t>
            </a:r>
            <a:r>
              <a:rPr lang="en-US" altLang="zh-CN" sz="2000" baseline="-50000">
                <a:solidFill>
                  <a:schemeClr val="folHlink"/>
                </a:solidFill>
                <a:latin typeface="Times New Roman" panose="02020603050405020304" pitchFamily="18" charset="0"/>
                <a:ea typeface="黑体" panose="02010609060101010101" pitchFamily="49" charset="-122"/>
              </a:rPr>
              <a:t>1</a:t>
            </a:r>
            <a:r>
              <a:rPr lang="en-US" altLang="zh-CN" sz="2800">
                <a:solidFill>
                  <a:schemeClr val="folHlink"/>
                </a:solidFill>
                <a:latin typeface="Times New Roman" panose="02020603050405020304" pitchFamily="18" charset="0"/>
                <a:ea typeface="黑体" panose="02010609060101010101" pitchFamily="49" charset="-122"/>
              </a:rPr>
              <a:t>)                 L(</a:t>
            </a:r>
            <a:r>
              <a:rPr lang="en-US" altLang="zh-CN" sz="2800" i="1">
                <a:solidFill>
                  <a:schemeClr val="folHlink"/>
                </a:solidFill>
                <a:latin typeface="Times New Roman" panose="02020603050405020304" pitchFamily="18" charset="0"/>
                <a:ea typeface="黑体" panose="02010609060101010101" pitchFamily="49" charset="-122"/>
              </a:rPr>
              <a:t>v</a:t>
            </a:r>
            <a:r>
              <a:rPr lang="en-US" altLang="zh-CN" sz="2800" i="1" baseline="-15000">
                <a:solidFill>
                  <a:schemeClr val="folHlink"/>
                </a:solidFill>
                <a:latin typeface="Times New Roman" panose="02020603050405020304" pitchFamily="18" charset="0"/>
                <a:ea typeface="黑体" panose="02010609060101010101" pitchFamily="49" charset="-122"/>
              </a:rPr>
              <a:t>w</a:t>
            </a:r>
            <a:r>
              <a:rPr lang="en-US" altLang="zh-CN" sz="2800" i="1" baseline="-30000">
                <a:solidFill>
                  <a:schemeClr val="folHlink"/>
                </a:solidFill>
                <a:latin typeface="Times New Roman" panose="02020603050405020304" pitchFamily="18" charset="0"/>
                <a:ea typeface="黑体" panose="02010609060101010101" pitchFamily="49" charset="-122"/>
              </a:rPr>
              <a:t>y</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a:solidFill>
                  <a:srgbClr val="FF0000"/>
                </a:solidFill>
                <a:latin typeface="Times New Roman" panose="02020603050405020304" pitchFamily="18"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L(</a:t>
            </a:r>
            <a:r>
              <a:rPr lang="en-US" altLang="zh-CN" sz="2800" i="1">
                <a:solidFill>
                  <a:schemeClr val="folHlink"/>
                </a:solidFill>
                <a:latin typeface="Times New Roman" panose="02020603050405020304" pitchFamily="18" charset="0"/>
                <a:ea typeface="黑体" panose="02010609060101010101" pitchFamily="49" charset="-122"/>
              </a:rPr>
              <a:t>v</a:t>
            </a:r>
            <a:r>
              <a:rPr lang="en-US" altLang="zh-CN" sz="2800" i="1" baseline="-15000">
                <a:solidFill>
                  <a:schemeClr val="folHlink"/>
                </a:solidFill>
                <a:latin typeface="Times New Roman" panose="02020603050405020304" pitchFamily="18" charset="0"/>
                <a:ea typeface="黑体" panose="02010609060101010101" pitchFamily="49" charset="-122"/>
              </a:rPr>
              <a:t>w</a:t>
            </a:r>
            <a:r>
              <a:rPr lang="en-US" altLang="zh-CN" sz="2000" i="1" baseline="-30000">
                <a:solidFill>
                  <a:schemeClr val="folHlink"/>
                </a:solidFill>
                <a:latin typeface="Times New Roman" panose="02020603050405020304" pitchFamily="18" charset="0"/>
                <a:ea typeface="黑体" panose="02010609060101010101" pitchFamily="49" charset="-122"/>
              </a:rPr>
              <a:t>2</a:t>
            </a:r>
            <a:r>
              <a:rPr lang="en-US" altLang="zh-CN" sz="2800">
                <a:solidFill>
                  <a:schemeClr val="folHlink"/>
                </a:solidFill>
                <a:latin typeface="Times New Roman" panose="02020603050405020304" pitchFamily="18" charset="0"/>
                <a:ea typeface="黑体" panose="02010609060101010101" pitchFamily="49" charset="-122"/>
              </a:rPr>
              <a:t>) </a:t>
            </a:r>
            <a:endParaRPr lang="en-US" altLang="zh-CN"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2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若</a:t>
            </a:r>
            <a:r>
              <a:rPr lang="en-US" altLang="zh-CN" sz="2800">
                <a:solidFill>
                  <a:schemeClr val="folHlink"/>
                </a:solidFill>
                <a:latin typeface="Times New Roman" panose="02020603050405020304" pitchFamily="18" charset="0"/>
                <a:ea typeface="黑体" panose="02010609060101010101" pitchFamily="49" charset="-122"/>
              </a:rPr>
              <a:t>L(</a:t>
            </a:r>
            <a:r>
              <a:rPr lang="en-US" altLang="zh-CN" sz="2800" i="1">
                <a:solidFill>
                  <a:schemeClr val="folHlink"/>
                </a:solidFill>
                <a:latin typeface="Times New Roman" panose="02020603050405020304" pitchFamily="18" charset="0"/>
                <a:ea typeface="黑体" panose="02010609060101010101" pitchFamily="49" charset="-122"/>
              </a:rPr>
              <a:t>v</a:t>
            </a:r>
            <a:r>
              <a:rPr lang="en-US" altLang="zh-CN" sz="2800" i="1" baseline="-15000">
                <a:solidFill>
                  <a:schemeClr val="folHlink"/>
                </a:solidFill>
                <a:latin typeface="Times New Roman" panose="02020603050405020304" pitchFamily="18" charset="0"/>
                <a:ea typeface="黑体" panose="02010609060101010101" pitchFamily="49" charset="-122"/>
              </a:rPr>
              <a:t>w</a:t>
            </a:r>
            <a:r>
              <a:rPr lang="en-US" altLang="zh-CN" sz="2800" i="1" baseline="-30000">
                <a:solidFill>
                  <a:schemeClr val="folHlink"/>
                </a:solidFill>
                <a:latin typeface="Times New Roman" panose="02020603050405020304" pitchFamily="18" charset="0"/>
                <a:ea typeface="黑体" panose="02010609060101010101" pitchFamily="49" charset="-122"/>
              </a:rPr>
              <a:t>x</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a:solidFill>
                  <a:srgbClr val="FF0000"/>
                </a:solidFill>
                <a:latin typeface="Times New Roman" panose="02020603050405020304" pitchFamily="18" charset="0"/>
                <a:ea typeface="黑体" panose="02010609060101010101" pitchFamily="49" charset="-122"/>
              </a:rPr>
              <a:t>&gt;</a:t>
            </a:r>
            <a:r>
              <a:rPr lang="en-US" altLang="zh-CN" sz="2800">
                <a:solidFill>
                  <a:schemeClr val="folHlink"/>
                </a:solidFill>
                <a:latin typeface="Times New Roman" panose="02020603050405020304" pitchFamily="18" charset="0"/>
                <a:ea typeface="黑体" panose="02010609060101010101" pitchFamily="49" charset="-122"/>
              </a:rPr>
              <a:t>L(</a:t>
            </a:r>
            <a:r>
              <a:rPr lang="en-US" altLang="zh-CN" sz="2800" i="1">
                <a:solidFill>
                  <a:schemeClr val="folHlink"/>
                </a:solidFill>
                <a:latin typeface="Times New Roman" panose="02020603050405020304" pitchFamily="18" charset="0"/>
                <a:ea typeface="黑体" panose="02010609060101010101" pitchFamily="49" charset="-122"/>
              </a:rPr>
              <a:t>v</a:t>
            </a:r>
            <a:r>
              <a:rPr lang="en-US" altLang="zh-CN" sz="2800" i="1" baseline="-15000">
                <a:solidFill>
                  <a:schemeClr val="folHlink"/>
                </a:solidFill>
                <a:latin typeface="Times New Roman" panose="02020603050405020304" pitchFamily="18" charset="0"/>
                <a:ea typeface="黑体" panose="02010609060101010101" pitchFamily="49" charset="-122"/>
              </a:rPr>
              <a:t>w</a:t>
            </a:r>
            <a:r>
              <a:rPr lang="en-US" altLang="zh-CN" sz="2000" baseline="-30000">
                <a:solidFill>
                  <a:schemeClr val="folHlink"/>
                </a:solidFill>
                <a:latin typeface="Times New Roman" panose="02020603050405020304" pitchFamily="18" charset="0"/>
                <a:ea typeface="黑体" panose="02010609060101010101" pitchFamily="49" charset="-122"/>
              </a:rPr>
              <a:t>1</a:t>
            </a:r>
            <a:r>
              <a:rPr lang="en-US" altLang="zh-CN" sz="2800">
                <a:solidFill>
                  <a:schemeClr val="folHlink"/>
                </a:solidFill>
                <a:latin typeface="Times New Roman" panose="02020603050405020304" pitchFamily="18" charset="0"/>
                <a:ea typeface="黑体" panose="02010609060101010101" pitchFamily="49" charset="-122"/>
              </a:rPr>
              <a:t>) ,</a:t>
            </a:r>
            <a:r>
              <a:rPr lang="zh-CN" altLang="en-US" sz="2800">
                <a:solidFill>
                  <a:schemeClr val="folHlink"/>
                </a:solidFill>
                <a:latin typeface="Times New Roman" panose="02020603050405020304" pitchFamily="18" charset="0"/>
                <a:ea typeface="黑体" panose="02010609060101010101" pitchFamily="49" charset="-122"/>
              </a:rPr>
              <a:t>将</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i="1" baseline="-25000">
                <a:solidFill>
                  <a:schemeClr val="folHlink"/>
                </a:solidFill>
                <a:latin typeface="Times New Roman" panose="02020603050405020304" pitchFamily="18" charset="0"/>
                <a:ea typeface="黑体" panose="02010609060101010101" pitchFamily="49" charset="-122"/>
              </a:rPr>
              <a:t>x</a:t>
            </a:r>
            <a:r>
              <a:rPr lang="zh-CN" altLang="en-US" sz="2800">
                <a:solidFill>
                  <a:schemeClr val="folHlink"/>
                </a:solidFill>
                <a:latin typeface="Times New Roman" panose="02020603050405020304" pitchFamily="18" charset="0"/>
                <a:ea typeface="黑体" panose="02010609060101010101" pitchFamily="49" charset="-122"/>
              </a:rPr>
              <a:t>与</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30000">
                <a:solidFill>
                  <a:schemeClr val="folHlink"/>
                </a:solidFill>
                <a:latin typeface="Times New Roman" panose="02020603050405020304" pitchFamily="18" charset="0"/>
                <a:ea typeface="黑体" panose="02010609060101010101" pitchFamily="49" charset="-122"/>
              </a:rPr>
              <a:t>1</a:t>
            </a:r>
            <a:r>
              <a:rPr lang="zh-CN" altLang="en-US" sz="2800">
                <a:solidFill>
                  <a:schemeClr val="folHlink"/>
                </a:solidFill>
                <a:latin typeface="Times New Roman" panose="02020603050405020304" pitchFamily="18" charset="0"/>
                <a:ea typeface="黑体" panose="02010609060101010101" pitchFamily="49" charset="-122"/>
              </a:rPr>
              <a:t>对调</a:t>
            </a:r>
            <a:r>
              <a:rPr lang="en-US" altLang="zh-CN" sz="2800">
                <a:solidFill>
                  <a:schemeClr val="folHlink"/>
                </a:solidFill>
                <a:latin typeface="Times New Roman" panose="02020603050405020304" pitchFamily="18" charset="0"/>
                <a:ea typeface="黑体" panose="02010609060101010101" pitchFamily="49" charset="-122"/>
              </a:rPr>
              <a:t>,</a:t>
            </a:r>
            <a:r>
              <a:rPr lang="zh-CN" altLang="en-US" sz="2800">
                <a:solidFill>
                  <a:schemeClr val="folHlink"/>
                </a:solidFill>
                <a:latin typeface="Times New Roman" panose="02020603050405020304" pitchFamily="18" charset="0"/>
                <a:ea typeface="黑体" panose="02010609060101010101" pitchFamily="49" charset="-122"/>
              </a:rPr>
              <a:t>得到新树</a:t>
            </a: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ahoma" panose="020B0604030504040204" pitchFamily="34"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a:t>
            </a:r>
            <a:r>
              <a:rPr lang="zh-CN" altLang="en-US" sz="2800">
                <a:solidFill>
                  <a:schemeClr val="folHlink"/>
                </a:solidFill>
                <a:latin typeface="Times New Roman" panose="02020603050405020304" pitchFamily="18" charset="0"/>
                <a:ea typeface="黑体" panose="02010609060101010101" pitchFamily="49" charset="-122"/>
              </a:rPr>
              <a:t>则</a:t>
            </a:r>
            <a:endParaRPr lang="zh-CN" altLang="en-US" sz="2800">
              <a:solidFill>
                <a:schemeClr val="folHlink"/>
              </a:solidFill>
              <a:latin typeface="Times New Roman" panose="02020603050405020304" pitchFamily="18" charset="0"/>
              <a:ea typeface="黑体" panose="02010609060101010101" pitchFamily="49" charset="-122"/>
            </a:endParaRPr>
          </a:p>
        </p:txBody>
      </p:sp>
      <p:grpSp>
        <p:nvGrpSpPr>
          <p:cNvPr id="3" name="Group 8"/>
          <p:cNvGrpSpPr/>
          <p:nvPr/>
        </p:nvGrpSpPr>
        <p:grpSpPr>
          <a:xfrm>
            <a:off x="1023938" y="2420938"/>
            <a:ext cx="8115300" cy="615950"/>
            <a:chOff x="645" y="1525"/>
            <a:chExt cx="5112" cy="388"/>
          </a:xfrm>
        </p:grpSpPr>
        <p:sp>
          <p:nvSpPr>
            <p:cNvPr id="47112" name="Text Box 9"/>
            <p:cNvSpPr txBox="1"/>
            <p:nvPr/>
          </p:nvSpPr>
          <p:spPr>
            <a:xfrm>
              <a:off x="645" y="1561"/>
              <a:ext cx="5112" cy="330"/>
            </a:xfrm>
            <a:prstGeom prst="rect">
              <a:avLst/>
            </a:prstGeom>
            <a:noFill/>
            <a:ln w="9525">
              <a:noFill/>
            </a:ln>
          </p:spPr>
          <p:txBody>
            <a:bodyPr wrap="none" anchor="t" anchorCtr="0">
              <a:spAutoFit/>
            </a:bodyPr>
            <a:p>
              <a:pPr>
                <a:buSzTx/>
              </a:pPr>
              <a:r>
                <a:rPr lang="en-US" altLang="zh-CN" sz="2800" i="1">
                  <a:latin typeface="Times New Roman" panose="02020603050405020304" pitchFamily="18" charset="0"/>
                  <a:ea typeface="黑体" panose="02010609060101010101" pitchFamily="49" charset="-122"/>
                </a:rPr>
                <a:t>b</a:t>
              </a:r>
              <a:r>
                <a:rPr lang="en-US" altLang="zh-CN" sz="2800">
                  <a:latin typeface="Times New Roman" panose="02020603050405020304" pitchFamily="18" charset="0"/>
                  <a:ea typeface="黑体" panose="02010609060101010101" pitchFamily="49" charset="-122"/>
                </a:rPr>
                <a:t>)</a:t>
              </a:r>
              <a:r>
                <a:rPr lang="zh-CN" altLang="en-US" sz="2800">
                  <a:latin typeface="Times New Roman" panose="02020603050405020304" pitchFamily="18" charset="0"/>
                  <a:ea typeface="黑体" panose="02010609060101010101" pitchFamily="49" charset="-122"/>
                </a:rPr>
                <a:t>以树叶     </a:t>
              </a:r>
              <a:r>
                <a:rPr lang="zh-CN" altLang="en-US" sz="2800" i="1">
                  <a:latin typeface="Times New Roman" panose="02020603050405020304" pitchFamily="18" charset="0"/>
                  <a:ea typeface="黑体" panose="02010609060101010101" pitchFamily="49" charset="-122"/>
                </a:rPr>
                <a:t>  </a:t>
              </a:r>
              <a:r>
                <a:rPr lang="en-US" altLang="zh-CN" sz="2800" i="1">
                  <a:latin typeface="Times New Roman" panose="02020603050405020304" pitchFamily="18" charset="0"/>
                  <a:ea typeface="黑体" panose="02010609060101010101" pitchFamily="49" charset="-122"/>
                </a:rPr>
                <a:t>       </a:t>
              </a:r>
              <a:r>
                <a:rPr lang="zh-CN" altLang="en-US" sz="2800">
                  <a:latin typeface="Times New Roman" panose="02020603050405020304" pitchFamily="18" charset="0"/>
                  <a:ea typeface="黑体" panose="02010609060101010101" pitchFamily="49" charset="-122"/>
                </a:rPr>
                <a:t>为儿子的分枝点</a:t>
              </a:r>
              <a:r>
                <a:rPr lang="en-US" altLang="zh-CN" sz="2800">
                  <a:latin typeface="Times New Roman" panose="02020603050405020304" pitchFamily="18" charset="0"/>
                  <a:ea typeface="黑体" panose="02010609060101010101" pitchFamily="49" charset="-122"/>
                </a:rPr>
                <a:t>,</a:t>
              </a:r>
              <a:r>
                <a:rPr lang="zh-CN" altLang="en-US" sz="2800">
                  <a:latin typeface="Times New Roman" panose="02020603050405020304" pitchFamily="18" charset="0"/>
                  <a:ea typeface="黑体" panose="02010609060101010101" pitchFamily="49" charset="-122"/>
                </a:rPr>
                <a:t>其通路长度最长</a:t>
              </a:r>
              <a:r>
                <a:rPr lang="en-US" altLang="zh-CN" sz="2800">
                  <a:latin typeface="Times New Roman" panose="02020603050405020304" pitchFamily="18" charset="0"/>
                  <a:ea typeface="黑体" panose="02010609060101010101" pitchFamily="49" charset="-122"/>
                </a:rPr>
                <a:t>. </a:t>
              </a:r>
              <a:endParaRPr lang="en-US" altLang="zh-CN" sz="2800">
                <a:latin typeface="Times New Roman" panose="02020603050405020304" pitchFamily="18" charset="0"/>
                <a:ea typeface="黑体" panose="02010609060101010101" pitchFamily="49" charset="-122"/>
              </a:endParaRPr>
            </a:p>
          </p:txBody>
        </p:sp>
        <p:graphicFrame>
          <p:nvGraphicFramePr>
            <p:cNvPr id="47113" name="Object 10"/>
            <p:cNvGraphicFramePr>
              <a:graphicFrameLocks noChangeAspect="1"/>
            </p:cNvGraphicFramePr>
            <p:nvPr/>
          </p:nvGraphicFramePr>
          <p:xfrm>
            <a:off x="1610" y="1525"/>
            <a:ext cx="723" cy="388"/>
          </p:xfrm>
          <a:graphic>
            <a:graphicData uri="http://schemas.openxmlformats.org/presentationml/2006/ole">
              <mc:AlternateContent xmlns:mc="http://schemas.openxmlformats.org/markup-compatibility/2006">
                <mc:Choice xmlns:v="urn:schemas-microsoft-com:vml" Requires="v">
                  <p:oleObj spid="_x0000_s3078" name="" r:id="rId3" imgW="482600" imgH="241300" progId="Equation.3">
                    <p:embed/>
                  </p:oleObj>
                </mc:Choice>
                <mc:Fallback>
                  <p:oleObj name="" r:id="rId3" imgW="482600" imgH="241300" progId="Equation.3">
                    <p:embed/>
                    <p:pic>
                      <p:nvPicPr>
                        <p:cNvPr id="0" name="图片 3077"/>
                        <p:cNvPicPr/>
                        <p:nvPr/>
                      </p:nvPicPr>
                      <p:blipFill>
                        <a:blip r:embed="rId2"/>
                        <a:stretch>
                          <a:fillRect/>
                        </a:stretch>
                      </p:blipFill>
                      <p:spPr>
                        <a:xfrm>
                          <a:off x="1610" y="1525"/>
                          <a:ext cx="723" cy="388"/>
                        </a:xfrm>
                        <a:prstGeom prst="rect">
                          <a:avLst/>
                        </a:prstGeom>
                        <a:noFill/>
                        <a:ln w="38100">
                          <a:noFill/>
                          <a:miter/>
                        </a:ln>
                      </p:spPr>
                    </p:pic>
                  </p:oleObj>
                </mc:Fallback>
              </mc:AlternateContent>
            </a:graphicData>
          </a:graphic>
        </p:graphicFrame>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9319">
                                            <p:txEl>
                                              <p:charRg st="0" end="57"/>
                                            </p:txEl>
                                          </p:spTgt>
                                        </p:tgtEl>
                                        <p:attrNameLst>
                                          <p:attrName>style.visibility</p:attrName>
                                        </p:attrNameLst>
                                      </p:cBhvr>
                                      <p:to>
                                        <p:strVal val="visible"/>
                                      </p:to>
                                    </p:set>
                                    <p:animEffect transition="in" filter="wipe(left)">
                                      <p:cBhvr>
                                        <p:cTn id="17" dur="500"/>
                                        <p:tgtEl>
                                          <p:spTgt spid="269319">
                                            <p:txEl>
                                              <p:charRg st="0"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9319">
                                            <p:txEl>
                                              <p:charRg st="57" end="114"/>
                                            </p:txEl>
                                          </p:spTgt>
                                        </p:tgtEl>
                                        <p:attrNameLst>
                                          <p:attrName>style.visibility</p:attrName>
                                        </p:attrNameLst>
                                      </p:cBhvr>
                                      <p:to>
                                        <p:strVal val="visible"/>
                                      </p:to>
                                    </p:set>
                                    <p:animEffect transition="in" filter="wipe(left)">
                                      <p:cBhvr>
                                        <p:cTn id="22" dur="500"/>
                                        <p:tgtEl>
                                          <p:spTgt spid="269319">
                                            <p:txEl>
                                              <p:charRg st="57" end="11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9319">
                                            <p:txEl>
                                              <p:charRg st="114" end="148"/>
                                            </p:txEl>
                                          </p:spTgt>
                                        </p:tgtEl>
                                        <p:attrNameLst>
                                          <p:attrName>style.visibility</p:attrName>
                                        </p:attrNameLst>
                                      </p:cBhvr>
                                      <p:to>
                                        <p:strVal val="visible"/>
                                      </p:to>
                                    </p:set>
                                    <p:animEffect transition="in" filter="wipe(left)">
                                      <p:cBhvr>
                                        <p:cTn id="27" dur="500"/>
                                        <p:tgtEl>
                                          <p:spTgt spid="269319">
                                            <p:txEl>
                                              <p:charRg st="114" end="1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p:txBody>
          <a:bodyPr vert="horz" wrap="square" lIns="91440" tIns="45720" rIns="91440" bIns="45720" anchor="b" anchorCtr="0"/>
          <a:p>
            <a:r>
              <a:rPr lang="zh-CN" altLang="en-US"/>
              <a:t>定理</a:t>
            </a:r>
            <a:r>
              <a:rPr lang="en-US" altLang="zh-CN"/>
              <a:t>14.11</a:t>
            </a:r>
            <a:r>
              <a:rPr lang="zh-CN" altLang="en-US"/>
              <a:t>的证明</a:t>
            </a:r>
            <a:endParaRPr lang="zh-CN" altLang="en-US"/>
          </a:p>
        </p:txBody>
      </p:sp>
      <p:sp>
        <p:nvSpPr>
          <p:cNvPr id="49154" name="Rectangle 3"/>
          <p:cNvSpPr>
            <a:spLocks noGrp="1"/>
          </p:cNvSpPr>
          <p:nvPr>
            <p:ph idx="1"/>
          </p:nvPr>
        </p:nvSpPr>
        <p:spPr>
          <a:xfrm>
            <a:off x="323850" y="1412875"/>
            <a:ext cx="8496300" cy="2730500"/>
          </a:xfrm>
        </p:spPr>
        <p:txBody>
          <a:bodyPr vert="horz" wrap="square" lIns="91440" tIns="45720" rIns="91440" bIns="45720" anchor="t" anchorCtr="0"/>
          <a:p>
            <a:pPr>
              <a:buNone/>
            </a:pPr>
            <a:r>
              <a:rPr lang="en-US" altLang="zh-CN" sz="2400" i="1">
                <a:solidFill>
                  <a:schemeClr val="folHlink"/>
                </a:solidFill>
              </a:rPr>
              <a:t>w</a:t>
            </a:r>
            <a:r>
              <a:rPr lang="en-US" altLang="zh-CN" sz="2400">
                <a:solidFill>
                  <a:schemeClr val="folHlink"/>
                </a:solidFill>
              </a:rPr>
              <a:t>(</a:t>
            </a:r>
            <a:r>
              <a:rPr lang="en-US" altLang="zh-CN" sz="2400" i="1">
                <a:solidFill>
                  <a:schemeClr val="folHlink"/>
                </a:solidFill>
              </a:rPr>
              <a:t>T</a:t>
            </a:r>
            <a:r>
              <a:rPr lang="en-US" altLang="zh-CN" sz="2400">
                <a:solidFill>
                  <a:schemeClr val="folHlink"/>
                </a:solidFill>
                <a:latin typeface="Tahoma" panose="020B0604030504040204" pitchFamily="34" charset="0"/>
              </a:rPr>
              <a:t>’</a:t>
            </a:r>
            <a:r>
              <a:rPr lang="en-US" altLang="zh-CN" sz="2400">
                <a:solidFill>
                  <a:schemeClr val="folHlink"/>
                </a:solidFill>
              </a:rPr>
              <a:t>)-</a:t>
            </a:r>
            <a:r>
              <a:rPr lang="en-US" altLang="zh-CN" sz="2400" i="1">
                <a:solidFill>
                  <a:schemeClr val="folHlink"/>
                </a:solidFill>
              </a:rPr>
              <a:t>w</a:t>
            </a:r>
            <a:r>
              <a:rPr lang="en-US" altLang="zh-CN" sz="2400">
                <a:solidFill>
                  <a:schemeClr val="folHlink"/>
                </a:solidFill>
              </a:rPr>
              <a:t>(</a:t>
            </a:r>
            <a:r>
              <a:rPr lang="en-US" altLang="zh-CN" sz="2400" i="1">
                <a:solidFill>
                  <a:schemeClr val="folHlink"/>
                </a:solidFill>
              </a:rPr>
              <a:t>T</a:t>
            </a:r>
            <a:r>
              <a:rPr lang="en-US" altLang="zh-CN" sz="2400">
                <a:solidFill>
                  <a:schemeClr val="folHlink"/>
                </a:solidFill>
              </a:rPr>
              <a:t>)=(L(</a:t>
            </a:r>
            <a:r>
              <a:rPr lang="en-US" altLang="zh-CN" sz="2400" i="1">
                <a:solidFill>
                  <a:schemeClr val="folHlink"/>
                </a:solidFill>
              </a:rPr>
              <a:t>v</a:t>
            </a:r>
            <a:r>
              <a:rPr lang="en-US" altLang="zh-CN" sz="2400" i="1" baseline="-15000">
                <a:solidFill>
                  <a:schemeClr val="folHlink"/>
                </a:solidFill>
              </a:rPr>
              <a:t>w</a:t>
            </a:r>
            <a:r>
              <a:rPr lang="en-US" altLang="zh-CN" sz="2400" i="1" baseline="-30000">
                <a:solidFill>
                  <a:schemeClr val="folHlink"/>
                </a:solidFill>
              </a:rPr>
              <a:t>x</a:t>
            </a:r>
            <a:r>
              <a:rPr lang="en-US" altLang="zh-CN" sz="2400">
                <a:solidFill>
                  <a:schemeClr val="folHlink"/>
                </a:solidFill>
              </a:rPr>
              <a:t>) </a:t>
            </a:r>
            <a:r>
              <a:rPr lang="en-US" altLang="zh-CN" sz="2400" i="1">
                <a:solidFill>
                  <a:schemeClr val="folHlink"/>
                </a:solidFill>
              </a:rPr>
              <a:t>w</a:t>
            </a:r>
            <a:r>
              <a:rPr lang="en-US" altLang="zh-CN" sz="2400" baseline="-30000">
                <a:solidFill>
                  <a:schemeClr val="folHlink"/>
                </a:solidFill>
              </a:rPr>
              <a:t>1</a:t>
            </a:r>
            <a:r>
              <a:rPr lang="en-US" altLang="zh-CN" sz="2400">
                <a:solidFill>
                  <a:schemeClr val="folHlink"/>
                </a:solidFill>
              </a:rPr>
              <a:t>+ L(</a:t>
            </a:r>
            <a:r>
              <a:rPr lang="en-US" altLang="zh-CN" sz="2400" i="1">
                <a:solidFill>
                  <a:schemeClr val="folHlink"/>
                </a:solidFill>
              </a:rPr>
              <a:t>v</a:t>
            </a:r>
            <a:r>
              <a:rPr lang="en-US" altLang="zh-CN" sz="2400" i="1" baseline="-15000">
                <a:solidFill>
                  <a:schemeClr val="folHlink"/>
                </a:solidFill>
              </a:rPr>
              <a:t>w</a:t>
            </a:r>
            <a:r>
              <a:rPr lang="en-US" altLang="zh-CN" sz="1800" baseline="-50000">
                <a:solidFill>
                  <a:schemeClr val="folHlink"/>
                </a:solidFill>
              </a:rPr>
              <a:t>1</a:t>
            </a:r>
            <a:r>
              <a:rPr lang="en-US" altLang="zh-CN" sz="2400">
                <a:solidFill>
                  <a:schemeClr val="folHlink"/>
                </a:solidFill>
              </a:rPr>
              <a:t>) </a:t>
            </a:r>
            <a:r>
              <a:rPr lang="en-US" altLang="zh-CN" sz="2400" i="1">
                <a:solidFill>
                  <a:schemeClr val="folHlink"/>
                </a:solidFill>
              </a:rPr>
              <a:t>w</a:t>
            </a:r>
            <a:r>
              <a:rPr lang="en-US" altLang="zh-CN" sz="2400" i="1" baseline="-25000">
                <a:solidFill>
                  <a:schemeClr val="folHlink"/>
                </a:solidFill>
              </a:rPr>
              <a:t>x</a:t>
            </a:r>
            <a:r>
              <a:rPr lang="en-US" altLang="zh-CN" sz="2400">
                <a:solidFill>
                  <a:schemeClr val="folHlink"/>
                </a:solidFill>
              </a:rPr>
              <a:t>)- (L(</a:t>
            </a:r>
            <a:r>
              <a:rPr lang="en-US" altLang="zh-CN" sz="2400" i="1">
                <a:solidFill>
                  <a:schemeClr val="folHlink"/>
                </a:solidFill>
              </a:rPr>
              <a:t>v</a:t>
            </a:r>
            <a:r>
              <a:rPr lang="en-US" altLang="zh-CN" sz="2400" i="1" baseline="-15000">
                <a:solidFill>
                  <a:schemeClr val="folHlink"/>
                </a:solidFill>
              </a:rPr>
              <a:t>w</a:t>
            </a:r>
            <a:r>
              <a:rPr lang="en-US" altLang="zh-CN" sz="2400" i="1" baseline="-30000">
                <a:solidFill>
                  <a:schemeClr val="folHlink"/>
                </a:solidFill>
              </a:rPr>
              <a:t>x</a:t>
            </a:r>
            <a:r>
              <a:rPr lang="en-US" altLang="zh-CN" sz="2400">
                <a:solidFill>
                  <a:schemeClr val="folHlink"/>
                </a:solidFill>
              </a:rPr>
              <a:t>)</a:t>
            </a:r>
            <a:r>
              <a:rPr lang="en-US" altLang="zh-CN" sz="2400" i="1">
                <a:solidFill>
                  <a:schemeClr val="folHlink"/>
                </a:solidFill>
              </a:rPr>
              <a:t>w</a:t>
            </a:r>
            <a:r>
              <a:rPr lang="en-US" altLang="zh-CN" sz="2400" i="1" baseline="-30000">
                <a:solidFill>
                  <a:schemeClr val="folHlink"/>
                </a:solidFill>
              </a:rPr>
              <a:t>x</a:t>
            </a:r>
            <a:r>
              <a:rPr lang="en-US" altLang="zh-CN" sz="2400">
                <a:solidFill>
                  <a:schemeClr val="folHlink"/>
                </a:solidFill>
              </a:rPr>
              <a:t>+ L(</a:t>
            </a:r>
            <a:r>
              <a:rPr lang="en-US" altLang="zh-CN" sz="2400" i="1">
                <a:solidFill>
                  <a:schemeClr val="folHlink"/>
                </a:solidFill>
              </a:rPr>
              <a:t>v</a:t>
            </a:r>
            <a:r>
              <a:rPr lang="en-US" altLang="zh-CN" sz="2400" i="1" baseline="-15000">
                <a:solidFill>
                  <a:schemeClr val="folHlink"/>
                </a:solidFill>
              </a:rPr>
              <a:t>w</a:t>
            </a:r>
            <a:r>
              <a:rPr lang="en-US" altLang="zh-CN" sz="1800" baseline="-50000">
                <a:solidFill>
                  <a:schemeClr val="folHlink"/>
                </a:solidFill>
              </a:rPr>
              <a:t>1</a:t>
            </a:r>
            <a:r>
              <a:rPr lang="en-US" altLang="zh-CN" sz="2400">
                <a:solidFill>
                  <a:schemeClr val="folHlink"/>
                </a:solidFill>
              </a:rPr>
              <a:t>)</a:t>
            </a:r>
            <a:r>
              <a:rPr lang="en-US" altLang="zh-CN" sz="2400" i="1">
                <a:solidFill>
                  <a:schemeClr val="folHlink"/>
                </a:solidFill>
              </a:rPr>
              <a:t>w</a:t>
            </a:r>
            <a:r>
              <a:rPr lang="en-US" altLang="zh-CN" sz="2400" baseline="-25000">
                <a:solidFill>
                  <a:schemeClr val="folHlink"/>
                </a:solidFill>
              </a:rPr>
              <a:t>1</a:t>
            </a:r>
            <a:r>
              <a:rPr lang="en-US" altLang="zh-CN" sz="2400">
                <a:solidFill>
                  <a:schemeClr val="folHlink"/>
                </a:solidFill>
              </a:rPr>
              <a:t>)</a:t>
            </a:r>
            <a:endParaRPr lang="en-US" altLang="zh-CN" sz="2400">
              <a:solidFill>
                <a:schemeClr val="folHlink"/>
              </a:solidFill>
            </a:endParaRPr>
          </a:p>
          <a:p>
            <a:pPr>
              <a:buNone/>
            </a:pPr>
            <a:r>
              <a:rPr lang="en-US" altLang="zh-CN" sz="2400">
                <a:solidFill>
                  <a:schemeClr val="folHlink"/>
                </a:solidFill>
              </a:rPr>
              <a:t>= L(</a:t>
            </a:r>
            <a:r>
              <a:rPr lang="en-US" altLang="zh-CN" sz="2400" i="1">
                <a:solidFill>
                  <a:schemeClr val="folHlink"/>
                </a:solidFill>
              </a:rPr>
              <a:t>v</a:t>
            </a:r>
            <a:r>
              <a:rPr lang="en-US" altLang="zh-CN" sz="2400" i="1" baseline="-15000">
                <a:solidFill>
                  <a:schemeClr val="folHlink"/>
                </a:solidFill>
              </a:rPr>
              <a:t>w</a:t>
            </a:r>
            <a:r>
              <a:rPr lang="en-US" altLang="zh-CN" sz="2400" i="1" baseline="-30000">
                <a:solidFill>
                  <a:schemeClr val="folHlink"/>
                </a:solidFill>
              </a:rPr>
              <a:t>x</a:t>
            </a:r>
            <a:r>
              <a:rPr lang="en-US" altLang="zh-CN" sz="2400">
                <a:solidFill>
                  <a:schemeClr val="folHlink"/>
                </a:solidFill>
              </a:rPr>
              <a:t>)(</a:t>
            </a:r>
            <a:r>
              <a:rPr lang="en-US" altLang="zh-CN" sz="2400" i="1">
                <a:solidFill>
                  <a:schemeClr val="folHlink"/>
                </a:solidFill>
              </a:rPr>
              <a:t>w</a:t>
            </a:r>
            <a:r>
              <a:rPr lang="en-US" altLang="zh-CN" sz="2400" baseline="-30000">
                <a:solidFill>
                  <a:schemeClr val="folHlink"/>
                </a:solidFill>
              </a:rPr>
              <a:t>1</a:t>
            </a:r>
            <a:r>
              <a:rPr lang="en-US" altLang="zh-CN" sz="2400">
                <a:solidFill>
                  <a:schemeClr val="folHlink"/>
                </a:solidFill>
              </a:rPr>
              <a:t>- </a:t>
            </a:r>
            <a:r>
              <a:rPr lang="en-US" altLang="zh-CN" sz="2400" i="1">
                <a:solidFill>
                  <a:schemeClr val="folHlink"/>
                </a:solidFill>
              </a:rPr>
              <a:t>w</a:t>
            </a:r>
            <a:r>
              <a:rPr lang="en-US" altLang="zh-CN" sz="2400" i="1" baseline="-30000">
                <a:solidFill>
                  <a:schemeClr val="folHlink"/>
                </a:solidFill>
              </a:rPr>
              <a:t>x</a:t>
            </a:r>
            <a:r>
              <a:rPr lang="en-US" altLang="zh-CN" sz="2400">
                <a:solidFill>
                  <a:schemeClr val="folHlink"/>
                </a:solidFill>
              </a:rPr>
              <a:t>)- L(</a:t>
            </a:r>
            <a:r>
              <a:rPr lang="en-US" altLang="zh-CN" sz="2400" i="1">
                <a:solidFill>
                  <a:schemeClr val="folHlink"/>
                </a:solidFill>
              </a:rPr>
              <a:t>v</a:t>
            </a:r>
            <a:r>
              <a:rPr lang="en-US" altLang="zh-CN" sz="2400" i="1" baseline="-15000">
                <a:solidFill>
                  <a:schemeClr val="folHlink"/>
                </a:solidFill>
              </a:rPr>
              <a:t>w</a:t>
            </a:r>
            <a:r>
              <a:rPr lang="en-US" altLang="zh-CN" sz="1800" baseline="-50000">
                <a:solidFill>
                  <a:schemeClr val="folHlink"/>
                </a:solidFill>
              </a:rPr>
              <a:t>1</a:t>
            </a:r>
            <a:r>
              <a:rPr lang="en-US" altLang="zh-CN" sz="2400">
                <a:solidFill>
                  <a:schemeClr val="folHlink"/>
                </a:solidFill>
              </a:rPr>
              <a:t>)(</a:t>
            </a:r>
            <a:r>
              <a:rPr lang="en-US" altLang="zh-CN" sz="2400" i="1">
                <a:solidFill>
                  <a:schemeClr val="folHlink"/>
                </a:solidFill>
              </a:rPr>
              <a:t>w</a:t>
            </a:r>
            <a:r>
              <a:rPr lang="en-US" altLang="zh-CN" sz="2400" baseline="-25000">
                <a:solidFill>
                  <a:schemeClr val="folHlink"/>
                </a:solidFill>
              </a:rPr>
              <a:t>1</a:t>
            </a:r>
            <a:r>
              <a:rPr lang="en-US" altLang="zh-CN" sz="2400" i="1" baseline="-25000">
                <a:solidFill>
                  <a:schemeClr val="folHlink"/>
                </a:solidFill>
              </a:rPr>
              <a:t> </a:t>
            </a:r>
            <a:r>
              <a:rPr lang="en-US" altLang="zh-CN" sz="2400">
                <a:solidFill>
                  <a:schemeClr val="folHlink"/>
                </a:solidFill>
              </a:rPr>
              <a:t>-</a:t>
            </a:r>
            <a:r>
              <a:rPr lang="en-US" altLang="zh-CN" sz="2400" i="1">
                <a:solidFill>
                  <a:schemeClr val="folHlink"/>
                </a:solidFill>
              </a:rPr>
              <a:t>w</a:t>
            </a:r>
            <a:r>
              <a:rPr lang="en-US" altLang="zh-CN" sz="2400" i="1" baseline="-25000">
                <a:solidFill>
                  <a:schemeClr val="folHlink"/>
                </a:solidFill>
              </a:rPr>
              <a:t>x</a:t>
            </a:r>
            <a:r>
              <a:rPr lang="en-US" altLang="zh-CN" sz="2400">
                <a:solidFill>
                  <a:schemeClr val="folHlink"/>
                </a:solidFill>
              </a:rPr>
              <a:t>)</a:t>
            </a:r>
            <a:endParaRPr lang="en-US" altLang="zh-CN" sz="2600">
              <a:solidFill>
                <a:schemeClr val="folHlink"/>
              </a:solidFill>
            </a:endParaRPr>
          </a:p>
          <a:p>
            <a:pPr>
              <a:buNone/>
            </a:pPr>
            <a:r>
              <a:rPr lang="en-US" altLang="zh-CN" sz="2400">
                <a:solidFill>
                  <a:schemeClr val="folHlink"/>
                </a:solidFill>
              </a:rPr>
              <a:t>=(L(</a:t>
            </a:r>
            <a:r>
              <a:rPr lang="en-US" altLang="zh-CN" sz="2400" i="1">
                <a:solidFill>
                  <a:schemeClr val="folHlink"/>
                </a:solidFill>
              </a:rPr>
              <a:t>v</a:t>
            </a:r>
            <a:r>
              <a:rPr lang="en-US" altLang="zh-CN" sz="2400" i="1" baseline="-15000">
                <a:solidFill>
                  <a:schemeClr val="folHlink"/>
                </a:solidFill>
              </a:rPr>
              <a:t>w</a:t>
            </a:r>
            <a:r>
              <a:rPr lang="en-US" altLang="zh-CN" sz="2400" i="1" baseline="-30000">
                <a:solidFill>
                  <a:schemeClr val="folHlink"/>
                </a:solidFill>
              </a:rPr>
              <a:t>x</a:t>
            </a:r>
            <a:r>
              <a:rPr lang="en-US" altLang="zh-CN" sz="2400">
                <a:solidFill>
                  <a:schemeClr val="folHlink"/>
                </a:solidFill>
              </a:rPr>
              <a:t>)-L(</a:t>
            </a:r>
            <a:r>
              <a:rPr lang="en-US" altLang="zh-CN" sz="2400" i="1">
                <a:solidFill>
                  <a:schemeClr val="folHlink"/>
                </a:solidFill>
              </a:rPr>
              <a:t>v</a:t>
            </a:r>
            <a:r>
              <a:rPr lang="en-US" altLang="zh-CN" sz="2400" i="1" baseline="-15000">
                <a:solidFill>
                  <a:schemeClr val="folHlink"/>
                </a:solidFill>
              </a:rPr>
              <a:t>w</a:t>
            </a:r>
            <a:r>
              <a:rPr lang="en-US" altLang="zh-CN" sz="1800" baseline="-50000">
                <a:solidFill>
                  <a:schemeClr val="folHlink"/>
                </a:solidFill>
              </a:rPr>
              <a:t>1</a:t>
            </a:r>
            <a:r>
              <a:rPr lang="en-US" altLang="zh-CN" sz="2400">
                <a:solidFill>
                  <a:schemeClr val="folHlink"/>
                </a:solidFill>
              </a:rPr>
              <a:t>)) (</a:t>
            </a:r>
            <a:r>
              <a:rPr lang="en-US" altLang="zh-CN" sz="2400" i="1">
                <a:solidFill>
                  <a:schemeClr val="folHlink"/>
                </a:solidFill>
              </a:rPr>
              <a:t>w</a:t>
            </a:r>
            <a:r>
              <a:rPr lang="en-US" altLang="zh-CN" sz="2400" baseline="-30000">
                <a:solidFill>
                  <a:schemeClr val="folHlink"/>
                </a:solidFill>
              </a:rPr>
              <a:t>1</a:t>
            </a:r>
            <a:r>
              <a:rPr lang="en-US" altLang="zh-CN" sz="2400">
                <a:solidFill>
                  <a:schemeClr val="folHlink"/>
                </a:solidFill>
              </a:rPr>
              <a:t>- </a:t>
            </a:r>
            <a:r>
              <a:rPr lang="en-US" altLang="zh-CN" sz="2400" i="1">
                <a:solidFill>
                  <a:schemeClr val="folHlink"/>
                </a:solidFill>
              </a:rPr>
              <a:t>w</a:t>
            </a:r>
            <a:r>
              <a:rPr lang="en-US" altLang="zh-CN" sz="2400" i="1" baseline="-30000">
                <a:solidFill>
                  <a:schemeClr val="folHlink"/>
                </a:solidFill>
              </a:rPr>
              <a:t>x</a:t>
            </a:r>
            <a:r>
              <a:rPr lang="en-US" altLang="zh-CN" sz="2400">
                <a:solidFill>
                  <a:schemeClr val="folHlink"/>
                </a:solidFill>
              </a:rPr>
              <a:t>)&lt;0</a:t>
            </a:r>
            <a:endParaRPr lang="en-US" altLang="zh-CN" sz="2600">
              <a:solidFill>
                <a:schemeClr val="folHlink"/>
              </a:solidFill>
            </a:endParaRPr>
          </a:p>
          <a:p>
            <a:pPr>
              <a:buNone/>
            </a:pPr>
            <a:r>
              <a:rPr lang="zh-CN" altLang="en-US" sz="2600">
                <a:solidFill>
                  <a:schemeClr val="folHlink"/>
                </a:solidFill>
              </a:rPr>
              <a:t>那么</a:t>
            </a:r>
            <a:r>
              <a:rPr lang="en-US" altLang="zh-CN" sz="2600" i="1">
                <a:solidFill>
                  <a:schemeClr val="folHlink"/>
                </a:solidFill>
              </a:rPr>
              <a:t>w</a:t>
            </a:r>
            <a:r>
              <a:rPr lang="en-US" altLang="zh-CN" sz="2600">
                <a:solidFill>
                  <a:schemeClr val="folHlink"/>
                </a:solidFill>
              </a:rPr>
              <a:t>(</a:t>
            </a:r>
            <a:r>
              <a:rPr lang="en-US" altLang="zh-CN" sz="2600" i="1">
                <a:solidFill>
                  <a:schemeClr val="folHlink"/>
                </a:solidFill>
              </a:rPr>
              <a:t>T</a:t>
            </a:r>
            <a:r>
              <a:rPr lang="en-US" altLang="zh-CN" sz="2600">
                <a:solidFill>
                  <a:schemeClr val="folHlink"/>
                </a:solidFill>
                <a:latin typeface="Tahoma" panose="020B0604030504040204" pitchFamily="34" charset="0"/>
              </a:rPr>
              <a:t>’</a:t>
            </a:r>
            <a:r>
              <a:rPr lang="en-US" altLang="zh-CN" sz="2600">
                <a:solidFill>
                  <a:schemeClr val="folHlink"/>
                </a:solidFill>
              </a:rPr>
              <a:t>)&lt;</a:t>
            </a:r>
            <a:r>
              <a:rPr lang="en-US" altLang="zh-CN" sz="2600" i="1">
                <a:solidFill>
                  <a:schemeClr val="folHlink"/>
                </a:solidFill>
              </a:rPr>
              <a:t>w</a:t>
            </a:r>
            <a:r>
              <a:rPr lang="en-US" altLang="zh-CN" sz="2600">
                <a:solidFill>
                  <a:schemeClr val="folHlink"/>
                </a:solidFill>
              </a:rPr>
              <a:t>(</a:t>
            </a:r>
            <a:r>
              <a:rPr lang="en-US" altLang="zh-CN" sz="2600" i="1">
                <a:solidFill>
                  <a:schemeClr val="folHlink"/>
                </a:solidFill>
              </a:rPr>
              <a:t>T</a:t>
            </a:r>
            <a:r>
              <a:rPr lang="en-US" altLang="zh-CN" sz="2600">
                <a:solidFill>
                  <a:schemeClr val="folHlink"/>
                </a:solidFill>
              </a:rPr>
              <a:t>)</a:t>
            </a:r>
            <a:r>
              <a:rPr lang="zh-CN" altLang="en-US" sz="2600">
                <a:solidFill>
                  <a:schemeClr val="folHlink"/>
                </a:solidFill>
              </a:rPr>
              <a:t>，这与</a:t>
            </a:r>
            <a:r>
              <a:rPr lang="en-US" altLang="zh-CN" sz="2600" i="1">
                <a:solidFill>
                  <a:schemeClr val="folHlink"/>
                </a:solidFill>
              </a:rPr>
              <a:t>T</a:t>
            </a:r>
            <a:r>
              <a:rPr lang="zh-CN" altLang="en-US" sz="2600">
                <a:solidFill>
                  <a:schemeClr val="folHlink"/>
                </a:solidFill>
              </a:rPr>
              <a:t>是最优树矛盾</a:t>
            </a:r>
            <a:r>
              <a:rPr lang="en-US" altLang="zh-CN" sz="2600">
                <a:solidFill>
                  <a:schemeClr val="folHlink"/>
                </a:solidFill>
              </a:rPr>
              <a:t>.</a:t>
            </a:r>
            <a:endParaRPr lang="zh-CN" altLang="en-US" sz="2600">
              <a:solidFill>
                <a:schemeClr val="folHlink"/>
              </a:solidFill>
            </a:endParaRPr>
          </a:p>
          <a:p>
            <a:pPr>
              <a:buNone/>
            </a:pPr>
            <a:r>
              <a:rPr lang="zh-CN" altLang="en-US" sz="2600">
                <a:solidFill>
                  <a:schemeClr val="folHlink"/>
                </a:solidFill>
              </a:rPr>
              <a:t>故</a:t>
            </a:r>
            <a:r>
              <a:rPr lang="en-US" altLang="zh-CN" sz="2600" i="1">
                <a:solidFill>
                  <a:schemeClr val="folHlink"/>
                </a:solidFill>
              </a:rPr>
              <a:t>L</a:t>
            </a:r>
            <a:r>
              <a:rPr lang="en-US" altLang="zh-CN" sz="2600">
                <a:solidFill>
                  <a:schemeClr val="folHlink"/>
                </a:solidFill>
              </a:rPr>
              <a:t>(</a:t>
            </a:r>
            <a:r>
              <a:rPr lang="en-US" altLang="zh-CN" sz="2600" i="1">
                <a:solidFill>
                  <a:schemeClr val="folHlink"/>
                </a:solidFill>
              </a:rPr>
              <a:t>w</a:t>
            </a:r>
            <a:r>
              <a:rPr lang="en-US" altLang="zh-CN" sz="2600" i="1" baseline="-25000">
                <a:solidFill>
                  <a:schemeClr val="folHlink"/>
                </a:solidFill>
              </a:rPr>
              <a:t>x</a:t>
            </a:r>
            <a:r>
              <a:rPr lang="en-US" altLang="zh-CN" sz="2600">
                <a:solidFill>
                  <a:schemeClr val="folHlink"/>
                </a:solidFill>
              </a:rPr>
              <a:t>) =</a:t>
            </a:r>
            <a:r>
              <a:rPr lang="en-US" altLang="zh-CN" sz="2600" i="1">
                <a:solidFill>
                  <a:schemeClr val="folHlink"/>
                </a:solidFill>
              </a:rPr>
              <a:t>L</a:t>
            </a:r>
            <a:r>
              <a:rPr lang="en-US" altLang="zh-CN" sz="2600">
                <a:solidFill>
                  <a:schemeClr val="folHlink"/>
                </a:solidFill>
              </a:rPr>
              <a:t>(</a:t>
            </a:r>
            <a:r>
              <a:rPr lang="en-US" altLang="zh-CN" sz="2600" i="1">
                <a:solidFill>
                  <a:schemeClr val="folHlink"/>
                </a:solidFill>
              </a:rPr>
              <a:t>w</a:t>
            </a:r>
            <a:r>
              <a:rPr lang="en-US" altLang="zh-CN" sz="2600" baseline="-30000">
                <a:solidFill>
                  <a:schemeClr val="folHlink"/>
                </a:solidFill>
              </a:rPr>
              <a:t>1</a:t>
            </a:r>
            <a:r>
              <a:rPr lang="en-US" altLang="zh-CN" sz="2600">
                <a:solidFill>
                  <a:schemeClr val="folHlink"/>
                </a:solidFill>
              </a:rPr>
              <a:t>).</a:t>
            </a:r>
            <a:endParaRPr lang="en-US" altLang="zh-CN" sz="2600">
              <a:solidFill>
                <a:schemeClr val="folHlink"/>
              </a:solidFill>
            </a:endParaRPr>
          </a:p>
        </p:txBody>
      </p:sp>
      <p:grpSp>
        <p:nvGrpSpPr>
          <p:cNvPr id="49155" name="组合 53"/>
          <p:cNvGrpSpPr/>
          <p:nvPr/>
        </p:nvGrpSpPr>
        <p:grpSpPr>
          <a:xfrm>
            <a:off x="5000625" y="4000500"/>
            <a:ext cx="3000375" cy="2428875"/>
            <a:chOff x="5786446" y="4000504"/>
            <a:chExt cx="3000396" cy="2428892"/>
          </a:xfrm>
        </p:grpSpPr>
        <p:grpSp>
          <p:nvGrpSpPr>
            <p:cNvPr id="49156" name="组合 35"/>
            <p:cNvGrpSpPr/>
            <p:nvPr/>
          </p:nvGrpSpPr>
          <p:grpSpPr>
            <a:xfrm>
              <a:off x="5786446" y="4000504"/>
              <a:ext cx="3000396" cy="2428892"/>
              <a:chOff x="5857884" y="1142984"/>
              <a:chExt cx="3000396" cy="2428892"/>
            </a:xfrm>
          </p:grpSpPr>
          <p:grpSp>
            <p:nvGrpSpPr>
              <p:cNvPr id="49157" name="组合 16"/>
              <p:cNvGrpSpPr/>
              <p:nvPr/>
            </p:nvGrpSpPr>
            <p:grpSpPr>
              <a:xfrm>
                <a:off x="6143636" y="1357298"/>
                <a:ext cx="2357454" cy="1571636"/>
                <a:chOff x="6143636" y="1357298"/>
                <a:chExt cx="2357454" cy="1571636"/>
              </a:xfrm>
            </p:grpSpPr>
            <p:grpSp>
              <p:nvGrpSpPr>
                <p:cNvPr id="49158" name="组合 13"/>
                <p:cNvGrpSpPr/>
                <p:nvPr/>
              </p:nvGrpSpPr>
              <p:grpSpPr>
                <a:xfrm>
                  <a:off x="6902509" y="1357298"/>
                  <a:ext cx="1598581" cy="1571636"/>
                  <a:chOff x="6176908" y="1500174"/>
                  <a:chExt cx="1598581" cy="1571636"/>
                </a:xfrm>
              </p:grpSpPr>
              <p:sp>
                <p:nvSpPr>
                  <p:cNvPr id="49159" name="椭圆 42"/>
                  <p:cNvSpPr/>
                  <p:nvPr/>
                </p:nvSpPr>
                <p:spPr>
                  <a:xfrm>
                    <a:off x="6357950" y="257174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9160" name="椭圆 43"/>
                  <p:cNvSpPr/>
                  <p:nvPr/>
                </p:nvSpPr>
                <p:spPr>
                  <a:xfrm>
                    <a:off x="7358082" y="257174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9161" name="椭圆 5"/>
                  <p:cNvSpPr/>
                  <p:nvPr/>
                </p:nvSpPr>
                <p:spPr>
                  <a:xfrm>
                    <a:off x="6786578" y="185736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49162" name="直接连接符 45"/>
                  <p:cNvCxnSpPr>
                    <a:stCxn id="49159" idx="1"/>
                  </p:cNvCxnSpPr>
                  <p:nvPr/>
                </p:nvCxnSpPr>
                <p:spPr>
                  <a:xfrm rot="5400000" flipH="1" flipV="1">
                    <a:off x="6322231" y="2056883"/>
                    <a:ext cx="592428" cy="479142"/>
                  </a:xfrm>
                  <a:prstGeom prst="line">
                    <a:avLst/>
                  </a:prstGeom>
                  <a:ln w="9525" cap="flat" cmpd="sng">
                    <a:solidFill>
                      <a:schemeClr val="tx1"/>
                    </a:solidFill>
                    <a:prstDash val="solid"/>
                    <a:round/>
                    <a:headEnd type="none" w="med" len="med"/>
                    <a:tailEnd type="none" w="med" len="med"/>
                  </a:ln>
                </p:spPr>
              </p:cxnSp>
              <p:cxnSp>
                <p:nvCxnSpPr>
                  <p:cNvPr id="49163" name="直接连接符 46"/>
                  <p:cNvCxnSpPr>
                    <a:stCxn id="49159" idx="1"/>
                    <a:endCxn id="49160" idx="1"/>
                  </p:cNvCxnSpPr>
                  <p:nvPr/>
                </p:nvCxnSpPr>
                <p:spPr>
                  <a:xfrm rot="-5400000" flipH="1">
                    <a:off x="6837092" y="2050754"/>
                    <a:ext cx="613352" cy="470476"/>
                  </a:xfrm>
                  <a:prstGeom prst="line">
                    <a:avLst/>
                  </a:prstGeom>
                  <a:ln w="9525" cap="flat" cmpd="sng">
                    <a:solidFill>
                      <a:schemeClr val="tx1"/>
                    </a:solidFill>
                    <a:prstDash val="solid"/>
                    <a:round/>
                    <a:headEnd type="none" w="med" len="med"/>
                    <a:tailEnd type="none" w="med" len="med"/>
                  </a:ln>
                </p:spPr>
              </p:cxnSp>
              <p:sp>
                <p:nvSpPr>
                  <p:cNvPr id="49164" name="矩形 47"/>
                  <p:cNvSpPr/>
                  <p:nvPr/>
                </p:nvSpPr>
                <p:spPr>
                  <a:xfrm>
                    <a:off x="6176908" y="2571744"/>
                    <a:ext cx="590226"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i="1" baseline="-30000">
                        <a:solidFill>
                          <a:schemeClr val="folHlink"/>
                        </a:solidFill>
                        <a:latin typeface="Times New Roman" panose="02020603050405020304" pitchFamily="18" charset="0"/>
                        <a:ea typeface="黑体" panose="02010609060101010101" pitchFamily="49" charset="-122"/>
                      </a:rPr>
                      <a:t>x</a:t>
                    </a:r>
                    <a:endParaRPr lang="zh-CN" altLang="en-US" sz="2600">
                      <a:latin typeface="Tahoma" panose="020B0604030504040204" pitchFamily="34" charset="0"/>
                      <a:ea typeface="宋体" panose="02010600030101010101" pitchFamily="2" charset="-122"/>
                    </a:endParaRPr>
                  </a:p>
                </p:txBody>
              </p:sp>
              <p:sp>
                <p:nvSpPr>
                  <p:cNvPr id="49165" name="矩形 48"/>
                  <p:cNvSpPr/>
                  <p:nvPr/>
                </p:nvSpPr>
                <p:spPr>
                  <a:xfrm>
                    <a:off x="7196484" y="2579367"/>
                    <a:ext cx="579005"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i="1" baseline="-35000">
                        <a:solidFill>
                          <a:schemeClr val="folHlink"/>
                        </a:solidFill>
                        <a:latin typeface="Times New Roman" panose="02020603050405020304" pitchFamily="18" charset="0"/>
                        <a:ea typeface="黑体" panose="02010609060101010101" pitchFamily="49" charset="-122"/>
                      </a:rPr>
                      <a:t>y</a:t>
                    </a:r>
                    <a:endParaRPr lang="zh-CN" altLang="en-US" sz="2600" baseline="-35000">
                      <a:latin typeface="Tahoma" panose="020B0604030504040204" pitchFamily="34" charset="0"/>
                      <a:ea typeface="宋体" panose="02010600030101010101" pitchFamily="2" charset="-122"/>
                    </a:endParaRPr>
                  </a:p>
                </p:txBody>
              </p:sp>
              <p:sp>
                <p:nvSpPr>
                  <p:cNvPr id="49166" name="矩形 49"/>
                  <p:cNvSpPr/>
                  <p:nvPr/>
                </p:nvSpPr>
                <p:spPr>
                  <a:xfrm>
                    <a:off x="6929454" y="1500174"/>
                    <a:ext cx="332142"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endParaRPr lang="zh-CN" altLang="en-US" sz="2600">
                      <a:latin typeface="Tahoma" panose="020B0604030504040204" pitchFamily="34" charset="0"/>
                      <a:ea typeface="宋体" panose="02010600030101010101" pitchFamily="2" charset="-122"/>
                    </a:endParaRPr>
                  </a:p>
                </p:txBody>
              </p:sp>
            </p:grpSp>
            <p:sp>
              <p:nvSpPr>
                <p:cNvPr id="49167" name="椭圆 40"/>
                <p:cNvSpPr/>
                <p:nvPr/>
              </p:nvSpPr>
              <p:spPr>
                <a:xfrm>
                  <a:off x="6143636" y="2143116"/>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9168" name="矩形 41"/>
                <p:cNvSpPr/>
                <p:nvPr/>
              </p:nvSpPr>
              <p:spPr>
                <a:xfrm>
                  <a:off x="6196352" y="2071678"/>
                  <a:ext cx="590226"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baseline="-35000">
                      <a:solidFill>
                        <a:schemeClr val="folHlink"/>
                      </a:solidFill>
                      <a:latin typeface="Times New Roman" panose="02020603050405020304" pitchFamily="18" charset="0"/>
                      <a:ea typeface="黑体" panose="02010609060101010101" pitchFamily="49" charset="-122"/>
                    </a:rPr>
                    <a:t>1</a:t>
                  </a:r>
                  <a:endParaRPr lang="zh-CN" altLang="en-US" sz="2600" baseline="-35000">
                    <a:latin typeface="Tahoma" panose="020B0604030504040204" pitchFamily="34" charset="0"/>
                    <a:ea typeface="宋体" panose="02010600030101010101" pitchFamily="2" charset="-122"/>
                  </a:endParaRPr>
                </a:p>
              </p:txBody>
            </p:sp>
          </p:grpSp>
          <p:sp>
            <p:nvSpPr>
              <p:cNvPr id="49169" name="椭圆 37"/>
              <p:cNvSpPr/>
              <p:nvPr/>
            </p:nvSpPr>
            <p:spPr>
              <a:xfrm>
                <a:off x="5857884" y="1142984"/>
                <a:ext cx="3000396" cy="2428892"/>
              </a:xfrm>
              <a:prstGeom prst="ellipse">
                <a:avLst/>
              </a:prstGeom>
              <a:no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9170" name="TextBox 38"/>
              <p:cNvSpPr txBox="1"/>
              <p:nvPr/>
            </p:nvSpPr>
            <p:spPr>
              <a:xfrm>
                <a:off x="6715140" y="1428736"/>
                <a:ext cx="517529" cy="492128"/>
              </a:xfrm>
              <a:prstGeom prst="rect">
                <a:avLst/>
              </a:prstGeom>
              <a:noFill/>
              <a:ln w="9525">
                <a:noFill/>
              </a:ln>
            </p:spPr>
            <p:txBody>
              <a:bodyPr wrap="none" anchor="t" anchorCtr="0">
                <a:spAutoFit/>
              </a:bodyPr>
              <a:p>
                <a:pPr>
                  <a:buSzTx/>
                </a:pPr>
                <a:r>
                  <a:rPr lang="en-US" altLang="zh-CN" sz="2600">
                    <a:latin typeface="Times New Roman" panose="02020603050405020304" pitchFamily="18" charset="0"/>
                    <a:ea typeface="宋体" panose="02010600030101010101" pitchFamily="2" charset="-122"/>
                  </a:rPr>
                  <a:t>T</a:t>
                </a:r>
                <a:r>
                  <a:rPr lang="en-US" altLang="zh-CN" sz="2600">
                    <a:latin typeface="Tahoma" panose="020B0604030504040204" pitchFamily="34" charset="0"/>
                    <a:ea typeface="宋体" panose="02010600030101010101" pitchFamily="2" charset="-122"/>
                  </a:rPr>
                  <a:t>’</a:t>
                </a:r>
                <a:endParaRPr lang="zh-CN" altLang="en-US" sz="2600">
                  <a:latin typeface="Tahoma" panose="020B0604030504040204" pitchFamily="34" charset="0"/>
                  <a:ea typeface="宋体" panose="02010600030101010101" pitchFamily="2" charset="-122"/>
                </a:endParaRPr>
              </a:p>
            </p:txBody>
          </p:sp>
        </p:grpSp>
        <p:sp>
          <p:nvSpPr>
            <p:cNvPr id="49171" name="TextBox 50"/>
            <p:cNvSpPr txBox="1"/>
            <p:nvPr/>
          </p:nvSpPr>
          <p:spPr>
            <a:xfrm>
              <a:off x="5857884" y="5214950"/>
              <a:ext cx="518091" cy="492443"/>
            </a:xfrm>
            <a:prstGeom prst="rect">
              <a:avLst/>
            </a:prstGeom>
            <a:noFill/>
            <a:ln w="9525">
              <a:noFill/>
            </a:ln>
          </p:spPr>
          <p:txBody>
            <a:bodyPr wrap="none" anchor="t" anchorCtr="0">
              <a:spAutoFit/>
            </a:bodyPr>
            <a:p>
              <a:pPr>
                <a:buSzTx/>
              </a:pPr>
              <a:r>
                <a:rPr lang="en-US" altLang="zh-CN" sz="2600" i="1">
                  <a:solidFill>
                    <a:srgbClr val="FF00FF"/>
                  </a:solidFill>
                  <a:latin typeface="Times New Roman" panose="02020603050405020304" pitchFamily="18" charset="0"/>
                  <a:ea typeface="宋体" panose="02010600030101010101" pitchFamily="2" charset="-122"/>
                </a:rPr>
                <a:t>w</a:t>
              </a:r>
              <a:r>
                <a:rPr lang="en-US" altLang="zh-CN" sz="2600" i="1" baseline="-25000">
                  <a:solidFill>
                    <a:srgbClr val="FF00FF"/>
                  </a:solidFill>
                  <a:latin typeface="Times New Roman" panose="02020603050405020304" pitchFamily="18" charset="0"/>
                  <a:ea typeface="宋体" panose="02010600030101010101" pitchFamily="2" charset="-122"/>
                </a:rPr>
                <a:t>x</a:t>
              </a:r>
              <a:endParaRPr lang="zh-CN" altLang="en-US" sz="2600" i="1" baseline="-25000">
                <a:solidFill>
                  <a:srgbClr val="FF00FF"/>
                </a:solidFill>
                <a:latin typeface="Times New Roman" panose="02020603050405020304" pitchFamily="18" charset="0"/>
                <a:ea typeface="宋体" panose="02010600030101010101" pitchFamily="2" charset="-122"/>
              </a:endParaRPr>
            </a:p>
          </p:txBody>
        </p:sp>
        <p:sp>
          <p:nvSpPr>
            <p:cNvPr id="49172" name="TextBox 51"/>
            <p:cNvSpPr txBox="1"/>
            <p:nvPr/>
          </p:nvSpPr>
          <p:spPr>
            <a:xfrm>
              <a:off x="6786578" y="5579763"/>
              <a:ext cx="518091" cy="492443"/>
            </a:xfrm>
            <a:prstGeom prst="rect">
              <a:avLst/>
            </a:prstGeom>
            <a:noFill/>
            <a:ln w="9525">
              <a:noFill/>
            </a:ln>
          </p:spPr>
          <p:txBody>
            <a:bodyPr wrap="none" anchor="t" anchorCtr="0">
              <a:spAutoFit/>
            </a:bodyPr>
            <a:p>
              <a:pPr>
                <a:buSzTx/>
              </a:pPr>
              <a:r>
                <a:rPr lang="en-US" altLang="zh-CN" sz="2600" i="1">
                  <a:solidFill>
                    <a:srgbClr val="FF00FF"/>
                  </a:solidFill>
                  <a:latin typeface="Times New Roman" panose="02020603050405020304" pitchFamily="18" charset="0"/>
                  <a:ea typeface="宋体" panose="02010600030101010101" pitchFamily="2" charset="-122"/>
                </a:rPr>
                <a:t>w</a:t>
              </a:r>
              <a:r>
                <a:rPr lang="en-US" altLang="zh-CN" sz="2600" baseline="-25000">
                  <a:solidFill>
                    <a:srgbClr val="FF00FF"/>
                  </a:solidFill>
                  <a:latin typeface="Times New Roman" panose="02020603050405020304" pitchFamily="18" charset="0"/>
                  <a:ea typeface="宋体" panose="02010600030101010101" pitchFamily="2" charset="-122"/>
                </a:rPr>
                <a:t>1</a:t>
              </a:r>
              <a:endParaRPr lang="zh-CN" altLang="en-US" sz="2600" baseline="-25000">
                <a:solidFill>
                  <a:srgbClr val="FF00FF"/>
                </a:solidFill>
                <a:latin typeface="Times New Roman" panose="02020603050405020304" pitchFamily="18" charset="0"/>
                <a:ea typeface="宋体" panose="02010600030101010101" pitchFamily="2" charset="-122"/>
              </a:endParaRPr>
            </a:p>
          </p:txBody>
        </p:sp>
      </p:grpSp>
      <p:grpSp>
        <p:nvGrpSpPr>
          <p:cNvPr id="49173" name="组合 38"/>
          <p:cNvGrpSpPr/>
          <p:nvPr/>
        </p:nvGrpSpPr>
        <p:grpSpPr>
          <a:xfrm>
            <a:off x="785813" y="4143375"/>
            <a:ext cx="3000375" cy="2428875"/>
            <a:chOff x="785813" y="4143375"/>
            <a:chExt cx="3000375" cy="2428875"/>
          </a:xfrm>
        </p:grpSpPr>
        <p:grpSp>
          <p:nvGrpSpPr>
            <p:cNvPr id="49174" name="组合 34"/>
            <p:cNvGrpSpPr/>
            <p:nvPr/>
          </p:nvGrpSpPr>
          <p:grpSpPr>
            <a:xfrm>
              <a:off x="785813" y="4143375"/>
              <a:ext cx="3000375" cy="2428875"/>
              <a:chOff x="5857884" y="1142984"/>
              <a:chExt cx="3000396" cy="2428892"/>
            </a:xfrm>
          </p:grpSpPr>
          <p:grpSp>
            <p:nvGrpSpPr>
              <p:cNvPr id="49175" name="组合 16"/>
              <p:cNvGrpSpPr/>
              <p:nvPr/>
            </p:nvGrpSpPr>
            <p:grpSpPr>
              <a:xfrm>
                <a:off x="6143636" y="1357298"/>
                <a:ext cx="2357454" cy="1571636"/>
                <a:chOff x="6143636" y="1357298"/>
                <a:chExt cx="2357454" cy="1571636"/>
              </a:xfrm>
            </p:grpSpPr>
            <p:grpSp>
              <p:nvGrpSpPr>
                <p:cNvPr id="49176" name="组合 13"/>
                <p:cNvGrpSpPr/>
                <p:nvPr/>
              </p:nvGrpSpPr>
              <p:grpSpPr>
                <a:xfrm>
                  <a:off x="7083551" y="1357298"/>
                  <a:ext cx="1417539" cy="1571636"/>
                  <a:chOff x="6357950" y="1500174"/>
                  <a:chExt cx="1417539" cy="1571636"/>
                </a:xfrm>
              </p:grpSpPr>
              <p:sp>
                <p:nvSpPr>
                  <p:cNvPr id="49177" name="椭圆 3"/>
                  <p:cNvSpPr/>
                  <p:nvPr/>
                </p:nvSpPr>
                <p:spPr>
                  <a:xfrm>
                    <a:off x="6357950" y="257174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9178" name="椭圆 4"/>
                  <p:cNvSpPr/>
                  <p:nvPr/>
                </p:nvSpPr>
                <p:spPr>
                  <a:xfrm>
                    <a:off x="7358082" y="257174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9179" name="椭圆 5"/>
                  <p:cNvSpPr/>
                  <p:nvPr/>
                </p:nvSpPr>
                <p:spPr>
                  <a:xfrm>
                    <a:off x="6786578" y="185736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49180" name="直接连接符 7"/>
                  <p:cNvCxnSpPr>
                    <a:stCxn id="49177" idx="1"/>
                    <a:endCxn id="49179" idx="4"/>
                  </p:cNvCxnSpPr>
                  <p:nvPr/>
                </p:nvCxnSpPr>
                <p:spPr>
                  <a:xfrm rot="5400000" flipH="1" flipV="1">
                    <a:off x="6322231" y="2056883"/>
                    <a:ext cx="592428" cy="479142"/>
                  </a:xfrm>
                  <a:prstGeom prst="line">
                    <a:avLst/>
                  </a:prstGeom>
                  <a:ln w="9525" cap="flat" cmpd="sng">
                    <a:solidFill>
                      <a:schemeClr val="tx1"/>
                    </a:solidFill>
                    <a:prstDash val="solid"/>
                    <a:round/>
                    <a:headEnd type="none" w="med" len="med"/>
                    <a:tailEnd type="none" w="med" len="med"/>
                  </a:ln>
                </p:spPr>
              </p:cxnSp>
              <p:cxnSp>
                <p:nvCxnSpPr>
                  <p:cNvPr id="49181" name="直接连接符 9"/>
                  <p:cNvCxnSpPr>
                    <a:stCxn id="49179" idx="5"/>
                    <a:endCxn id="49178" idx="1"/>
                  </p:cNvCxnSpPr>
                  <p:nvPr/>
                </p:nvCxnSpPr>
                <p:spPr>
                  <a:xfrm rot="-5400000" flipH="1">
                    <a:off x="6837092" y="2050754"/>
                    <a:ext cx="613352" cy="470476"/>
                  </a:xfrm>
                  <a:prstGeom prst="line">
                    <a:avLst/>
                  </a:prstGeom>
                  <a:ln w="9525" cap="flat" cmpd="sng">
                    <a:solidFill>
                      <a:schemeClr val="tx1"/>
                    </a:solidFill>
                    <a:prstDash val="solid"/>
                    <a:round/>
                    <a:headEnd type="none" w="med" len="med"/>
                    <a:tailEnd type="none" w="med" len="med"/>
                  </a:ln>
                </p:spPr>
              </p:cxnSp>
              <p:sp>
                <p:nvSpPr>
                  <p:cNvPr id="49182" name="矩形 10"/>
                  <p:cNvSpPr/>
                  <p:nvPr/>
                </p:nvSpPr>
                <p:spPr>
                  <a:xfrm>
                    <a:off x="6418149" y="2500319"/>
                    <a:ext cx="590226"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i="1" baseline="-30000">
                        <a:solidFill>
                          <a:schemeClr val="folHlink"/>
                        </a:solidFill>
                        <a:latin typeface="Times New Roman" panose="02020603050405020304" pitchFamily="18" charset="0"/>
                        <a:ea typeface="黑体" panose="02010609060101010101" pitchFamily="49" charset="-122"/>
                      </a:rPr>
                      <a:t>x</a:t>
                    </a:r>
                    <a:endParaRPr lang="zh-CN" altLang="en-US" sz="2600">
                      <a:latin typeface="Tahoma" panose="020B0604030504040204" pitchFamily="34" charset="0"/>
                      <a:ea typeface="宋体" panose="02010600030101010101" pitchFamily="2" charset="-122"/>
                    </a:endParaRPr>
                  </a:p>
                </p:txBody>
              </p:sp>
              <p:sp>
                <p:nvSpPr>
                  <p:cNvPr id="49183" name="矩形 11"/>
                  <p:cNvSpPr/>
                  <p:nvPr/>
                </p:nvSpPr>
                <p:spPr>
                  <a:xfrm>
                    <a:off x="7196484" y="2579367"/>
                    <a:ext cx="579005"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i="1" baseline="-35000">
                        <a:solidFill>
                          <a:schemeClr val="folHlink"/>
                        </a:solidFill>
                        <a:latin typeface="Times New Roman" panose="02020603050405020304" pitchFamily="18" charset="0"/>
                        <a:ea typeface="黑体" panose="02010609060101010101" pitchFamily="49" charset="-122"/>
                      </a:rPr>
                      <a:t>y</a:t>
                    </a:r>
                    <a:endParaRPr lang="zh-CN" altLang="en-US" sz="2600" baseline="-35000">
                      <a:latin typeface="Tahoma" panose="020B0604030504040204" pitchFamily="34" charset="0"/>
                      <a:ea typeface="宋体" panose="02010600030101010101" pitchFamily="2" charset="-122"/>
                    </a:endParaRPr>
                  </a:p>
                </p:txBody>
              </p:sp>
              <p:sp>
                <p:nvSpPr>
                  <p:cNvPr id="49184" name="矩形 12"/>
                  <p:cNvSpPr/>
                  <p:nvPr/>
                </p:nvSpPr>
                <p:spPr>
                  <a:xfrm>
                    <a:off x="6929454" y="1500174"/>
                    <a:ext cx="332142"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endParaRPr lang="zh-CN" altLang="en-US" sz="2600">
                      <a:latin typeface="Tahoma" panose="020B0604030504040204" pitchFamily="34" charset="0"/>
                      <a:ea typeface="宋体" panose="02010600030101010101" pitchFamily="2" charset="-122"/>
                    </a:endParaRPr>
                  </a:p>
                </p:txBody>
              </p:sp>
            </p:grpSp>
            <p:sp>
              <p:nvSpPr>
                <p:cNvPr id="49185" name="椭圆 14"/>
                <p:cNvSpPr/>
                <p:nvPr/>
              </p:nvSpPr>
              <p:spPr>
                <a:xfrm>
                  <a:off x="6143636" y="2143116"/>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9186" name="矩形 15"/>
                <p:cNvSpPr/>
                <p:nvPr/>
              </p:nvSpPr>
              <p:spPr>
                <a:xfrm>
                  <a:off x="6196352" y="2071678"/>
                  <a:ext cx="590226"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baseline="-35000">
                      <a:solidFill>
                        <a:schemeClr val="folHlink"/>
                      </a:solidFill>
                      <a:latin typeface="Times New Roman" panose="02020603050405020304" pitchFamily="18" charset="0"/>
                      <a:ea typeface="黑体" panose="02010609060101010101" pitchFamily="49" charset="-122"/>
                    </a:rPr>
                    <a:t>1</a:t>
                  </a:r>
                  <a:endParaRPr lang="zh-CN" altLang="en-US" sz="2600" baseline="-35000">
                    <a:latin typeface="Tahoma" panose="020B0604030504040204" pitchFamily="34" charset="0"/>
                    <a:ea typeface="宋体" panose="02010600030101010101" pitchFamily="2" charset="-122"/>
                  </a:endParaRPr>
                </a:p>
              </p:txBody>
            </p:sp>
          </p:grpSp>
          <p:sp>
            <p:nvSpPr>
              <p:cNvPr id="49187" name="椭圆 29"/>
              <p:cNvSpPr/>
              <p:nvPr/>
            </p:nvSpPr>
            <p:spPr>
              <a:xfrm>
                <a:off x="5857884" y="1142984"/>
                <a:ext cx="3000396" cy="2428892"/>
              </a:xfrm>
              <a:prstGeom prst="ellipse">
                <a:avLst/>
              </a:prstGeom>
              <a:no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49188" name="TextBox 31"/>
              <p:cNvSpPr txBox="1"/>
              <p:nvPr/>
            </p:nvSpPr>
            <p:spPr>
              <a:xfrm>
                <a:off x="6715140" y="1428736"/>
                <a:ext cx="407484" cy="492443"/>
              </a:xfrm>
              <a:prstGeom prst="rect">
                <a:avLst/>
              </a:prstGeom>
              <a:noFill/>
              <a:ln w="9525">
                <a:noFill/>
              </a:ln>
            </p:spPr>
            <p:txBody>
              <a:bodyPr wrap="none" anchor="t" anchorCtr="0">
                <a:spAutoFit/>
              </a:bodyPr>
              <a:p>
                <a:pPr>
                  <a:buSzTx/>
                </a:pPr>
                <a:r>
                  <a:rPr lang="en-US" altLang="zh-CN" sz="2600">
                    <a:latin typeface="Times New Roman" panose="02020603050405020304" pitchFamily="18" charset="0"/>
                    <a:ea typeface="宋体" panose="02010600030101010101" pitchFamily="2" charset="-122"/>
                  </a:rPr>
                  <a:t>T</a:t>
                </a:r>
                <a:endParaRPr lang="zh-CN" altLang="en-US" sz="2600">
                  <a:latin typeface="Times New Roman" panose="02020603050405020304" pitchFamily="18" charset="0"/>
                  <a:ea typeface="宋体" panose="02010600030101010101" pitchFamily="2" charset="-122"/>
                </a:endParaRPr>
              </a:p>
            </p:txBody>
          </p:sp>
        </p:grpSp>
        <p:sp>
          <p:nvSpPr>
            <p:cNvPr id="49189" name="TextBox 50"/>
            <p:cNvSpPr txBox="1"/>
            <p:nvPr/>
          </p:nvSpPr>
          <p:spPr>
            <a:xfrm>
              <a:off x="857224" y="5214950"/>
              <a:ext cx="518087" cy="492440"/>
            </a:xfrm>
            <a:prstGeom prst="rect">
              <a:avLst/>
            </a:prstGeom>
            <a:noFill/>
            <a:ln w="9525">
              <a:noFill/>
            </a:ln>
          </p:spPr>
          <p:txBody>
            <a:bodyPr wrap="none" anchor="t" anchorCtr="0">
              <a:spAutoFit/>
            </a:bodyPr>
            <a:p>
              <a:pPr>
                <a:buSzTx/>
              </a:pPr>
              <a:r>
                <a:rPr lang="en-US" altLang="zh-CN" sz="2600" i="1">
                  <a:solidFill>
                    <a:srgbClr val="FF00FF"/>
                  </a:solidFill>
                  <a:latin typeface="Times New Roman" panose="02020603050405020304" pitchFamily="18" charset="0"/>
                  <a:ea typeface="宋体" panose="02010600030101010101" pitchFamily="2" charset="-122"/>
                </a:rPr>
                <a:t>w</a:t>
              </a:r>
              <a:r>
                <a:rPr lang="en-US" altLang="zh-CN" sz="2600" baseline="-25000">
                  <a:solidFill>
                    <a:srgbClr val="FF00FF"/>
                  </a:solidFill>
                  <a:latin typeface="Times New Roman" panose="02020603050405020304" pitchFamily="18" charset="0"/>
                  <a:ea typeface="宋体" panose="02010600030101010101" pitchFamily="2" charset="-122"/>
                </a:rPr>
                <a:t>1</a:t>
              </a:r>
              <a:endParaRPr lang="zh-CN" altLang="en-US" sz="2600" baseline="-25000">
                <a:solidFill>
                  <a:srgbClr val="FF00FF"/>
                </a:solidFill>
                <a:latin typeface="Times New Roman" panose="02020603050405020304" pitchFamily="18" charset="0"/>
                <a:ea typeface="宋体" panose="02010600030101010101" pitchFamily="2" charset="-122"/>
              </a:endParaRPr>
            </a:p>
          </p:txBody>
        </p:sp>
        <p:sp>
          <p:nvSpPr>
            <p:cNvPr id="49190" name="TextBox 50"/>
            <p:cNvSpPr txBox="1"/>
            <p:nvPr/>
          </p:nvSpPr>
          <p:spPr>
            <a:xfrm>
              <a:off x="1714480" y="5500702"/>
              <a:ext cx="518087" cy="492440"/>
            </a:xfrm>
            <a:prstGeom prst="rect">
              <a:avLst/>
            </a:prstGeom>
            <a:noFill/>
            <a:ln w="9525">
              <a:noFill/>
            </a:ln>
          </p:spPr>
          <p:txBody>
            <a:bodyPr wrap="none" anchor="t" anchorCtr="0">
              <a:spAutoFit/>
            </a:bodyPr>
            <a:p>
              <a:pPr>
                <a:buSzTx/>
              </a:pPr>
              <a:r>
                <a:rPr lang="en-US" altLang="zh-CN" sz="2600" i="1">
                  <a:solidFill>
                    <a:srgbClr val="FF00FF"/>
                  </a:solidFill>
                  <a:latin typeface="Times New Roman" panose="02020603050405020304" pitchFamily="18" charset="0"/>
                  <a:ea typeface="宋体" panose="02010600030101010101" pitchFamily="2" charset="-122"/>
                </a:rPr>
                <a:t>w</a:t>
              </a:r>
              <a:r>
                <a:rPr lang="en-US" altLang="zh-CN" sz="2600" i="1" baseline="-25000">
                  <a:solidFill>
                    <a:srgbClr val="FF00FF"/>
                  </a:solidFill>
                  <a:latin typeface="Times New Roman" panose="02020603050405020304" pitchFamily="18" charset="0"/>
                  <a:ea typeface="宋体" panose="02010600030101010101" pitchFamily="2" charset="-122"/>
                </a:rPr>
                <a:t>x</a:t>
              </a:r>
              <a:endParaRPr lang="zh-CN" altLang="en-US" sz="2600" i="1" baseline="-25000">
                <a:solidFill>
                  <a:srgbClr val="FF00FF"/>
                </a:solidFill>
                <a:latin typeface="Times New Roman" panose="02020603050405020304" pitchFamily="18" charset="0"/>
                <a:ea typeface="宋体" panose="02010600030101010101" pitchFamily="2" charset="-122"/>
              </a:endParaRPr>
            </a:p>
          </p:txBody>
        </p:sp>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p:nvPr>
        </p:nvSpPr>
        <p:spPr/>
        <p:txBody>
          <a:bodyPr vert="horz" wrap="square" lIns="91440" tIns="45720" rIns="91440" bIns="45720" anchor="b" anchorCtr="0"/>
          <a:p>
            <a:r>
              <a:rPr lang="zh-CN" altLang="en-US"/>
              <a:t>定理</a:t>
            </a:r>
            <a:r>
              <a:rPr lang="en-US" altLang="zh-CN"/>
              <a:t>14.11</a:t>
            </a:r>
            <a:r>
              <a:rPr lang="zh-CN" altLang="en-US"/>
              <a:t>的证明</a:t>
            </a:r>
            <a:endParaRPr lang="zh-CN" altLang="en-US"/>
          </a:p>
        </p:txBody>
      </p:sp>
      <p:sp>
        <p:nvSpPr>
          <p:cNvPr id="51202" name="Rectangle 3"/>
          <p:cNvSpPr>
            <a:spLocks noGrp="1"/>
          </p:cNvSpPr>
          <p:nvPr>
            <p:ph idx="1"/>
          </p:nvPr>
        </p:nvSpPr>
        <p:spPr/>
        <p:txBody>
          <a:bodyPr vert="horz" wrap="square" lIns="91440" tIns="45720" rIns="91440" bIns="45720" anchor="t" anchorCtr="0"/>
          <a:p>
            <a:pPr>
              <a:buNone/>
            </a:pPr>
            <a:r>
              <a:rPr lang="zh-CN" altLang="en-US" sz="2600">
                <a:solidFill>
                  <a:schemeClr val="folHlink"/>
                </a:solidFill>
              </a:rPr>
              <a:t>同理可证 </a:t>
            </a:r>
            <a:r>
              <a:rPr lang="en-US" altLang="zh-CN" sz="2600" i="1">
                <a:solidFill>
                  <a:schemeClr val="folHlink"/>
                </a:solidFill>
              </a:rPr>
              <a:t>L</a:t>
            </a:r>
            <a:r>
              <a:rPr lang="en-US" altLang="zh-CN" sz="2600">
                <a:solidFill>
                  <a:schemeClr val="folHlink"/>
                </a:solidFill>
              </a:rPr>
              <a:t>(</a:t>
            </a:r>
            <a:r>
              <a:rPr lang="en-US" altLang="zh-CN" sz="2600" i="1">
                <a:solidFill>
                  <a:schemeClr val="folHlink"/>
                </a:solidFill>
              </a:rPr>
              <a:t>w</a:t>
            </a:r>
            <a:r>
              <a:rPr lang="en-US" altLang="zh-CN" sz="2600" i="1" baseline="-25000">
                <a:solidFill>
                  <a:schemeClr val="folHlink"/>
                </a:solidFill>
              </a:rPr>
              <a:t>x</a:t>
            </a:r>
            <a:r>
              <a:rPr lang="en-US" altLang="zh-CN" sz="2600">
                <a:solidFill>
                  <a:schemeClr val="folHlink"/>
                </a:solidFill>
              </a:rPr>
              <a:t>) =</a:t>
            </a:r>
            <a:r>
              <a:rPr lang="en-US" altLang="zh-CN" sz="2600" i="1">
                <a:solidFill>
                  <a:schemeClr val="folHlink"/>
                </a:solidFill>
              </a:rPr>
              <a:t>L</a:t>
            </a:r>
            <a:r>
              <a:rPr lang="en-US" altLang="zh-CN" sz="2600">
                <a:solidFill>
                  <a:schemeClr val="folHlink"/>
                </a:solidFill>
              </a:rPr>
              <a:t>(</a:t>
            </a:r>
            <a:r>
              <a:rPr lang="en-US" altLang="zh-CN" sz="2600" i="1">
                <a:solidFill>
                  <a:schemeClr val="folHlink"/>
                </a:solidFill>
              </a:rPr>
              <a:t>w</a:t>
            </a:r>
            <a:r>
              <a:rPr lang="en-US" altLang="zh-CN" sz="2600" baseline="-30000">
                <a:solidFill>
                  <a:schemeClr val="folHlink"/>
                </a:solidFill>
              </a:rPr>
              <a:t>2</a:t>
            </a:r>
            <a:r>
              <a:rPr lang="en-US" altLang="zh-CN" sz="2600">
                <a:solidFill>
                  <a:schemeClr val="folHlink"/>
                </a:solidFill>
              </a:rPr>
              <a:t>).</a:t>
            </a:r>
            <a:endParaRPr lang="en-US" altLang="zh-CN" sz="2600">
              <a:solidFill>
                <a:schemeClr val="folHlink"/>
              </a:solidFill>
            </a:endParaRPr>
          </a:p>
          <a:p>
            <a:pPr>
              <a:buNone/>
            </a:pPr>
            <a:r>
              <a:rPr lang="zh-CN" altLang="en-US" sz="2600">
                <a:solidFill>
                  <a:schemeClr val="folHlink"/>
                </a:solidFill>
              </a:rPr>
              <a:t>因此</a:t>
            </a:r>
            <a:r>
              <a:rPr lang="en-US" altLang="zh-CN" sz="2600" i="1">
                <a:solidFill>
                  <a:schemeClr val="folHlink"/>
                </a:solidFill>
              </a:rPr>
              <a:t>L</a:t>
            </a:r>
            <a:r>
              <a:rPr lang="en-US" altLang="zh-CN" sz="2600">
                <a:solidFill>
                  <a:schemeClr val="folHlink"/>
                </a:solidFill>
              </a:rPr>
              <a:t>(</a:t>
            </a:r>
            <a:r>
              <a:rPr lang="en-US" altLang="zh-CN" sz="2600" i="1">
                <a:solidFill>
                  <a:schemeClr val="folHlink"/>
                </a:solidFill>
              </a:rPr>
              <a:t>w</a:t>
            </a:r>
            <a:r>
              <a:rPr lang="en-US" altLang="zh-CN" sz="2600" i="1" baseline="-25000">
                <a:solidFill>
                  <a:schemeClr val="folHlink"/>
                </a:solidFill>
              </a:rPr>
              <a:t>x</a:t>
            </a:r>
            <a:r>
              <a:rPr lang="en-US" altLang="zh-CN" sz="2600">
                <a:solidFill>
                  <a:schemeClr val="folHlink"/>
                </a:solidFill>
              </a:rPr>
              <a:t>) = </a:t>
            </a:r>
            <a:r>
              <a:rPr lang="en-US" altLang="zh-CN" sz="2600" i="1">
                <a:solidFill>
                  <a:schemeClr val="folHlink"/>
                </a:solidFill>
              </a:rPr>
              <a:t>L</a:t>
            </a:r>
            <a:r>
              <a:rPr lang="en-US" altLang="zh-CN" sz="2600">
                <a:solidFill>
                  <a:schemeClr val="folHlink"/>
                </a:solidFill>
              </a:rPr>
              <a:t>(</a:t>
            </a:r>
            <a:r>
              <a:rPr lang="en-US" altLang="zh-CN" sz="2600" i="1">
                <a:solidFill>
                  <a:schemeClr val="folHlink"/>
                </a:solidFill>
              </a:rPr>
              <a:t>w</a:t>
            </a:r>
            <a:r>
              <a:rPr lang="en-US" altLang="zh-CN" sz="2600" baseline="-25000">
                <a:solidFill>
                  <a:schemeClr val="folHlink"/>
                </a:solidFill>
              </a:rPr>
              <a:t>1</a:t>
            </a:r>
            <a:r>
              <a:rPr lang="en-US" altLang="zh-CN" sz="2600">
                <a:solidFill>
                  <a:schemeClr val="folHlink"/>
                </a:solidFill>
              </a:rPr>
              <a:t>) =</a:t>
            </a:r>
            <a:r>
              <a:rPr lang="en-US" altLang="zh-CN" sz="2600" i="1">
                <a:solidFill>
                  <a:schemeClr val="folHlink"/>
                </a:solidFill>
              </a:rPr>
              <a:t>L</a:t>
            </a:r>
            <a:r>
              <a:rPr lang="en-US" altLang="zh-CN" sz="2600">
                <a:solidFill>
                  <a:schemeClr val="folHlink"/>
                </a:solidFill>
              </a:rPr>
              <a:t>(</a:t>
            </a:r>
            <a:r>
              <a:rPr lang="en-US" altLang="zh-CN" sz="2600" i="1">
                <a:solidFill>
                  <a:schemeClr val="folHlink"/>
                </a:solidFill>
              </a:rPr>
              <a:t>w</a:t>
            </a:r>
            <a:r>
              <a:rPr lang="en-US" altLang="zh-CN" sz="2600" i="1" baseline="-30000">
                <a:solidFill>
                  <a:schemeClr val="folHlink"/>
                </a:solidFill>
              </a:rPr>
              <a:t>y</a:t>
            </a:r>
            <a:r>
              <a:rPr lang="en-US" altLang="zh-CN" sz="2600">
                <a:solidFill>
                  <a:schemeClr val="folHlink"/>
                </a:solidFill>
              </a:rPr>
              <a:t>)=</a:t>
            </a:r>
            <a:r>
              <a:rPr lang="en-US" altLang="zh-CN" sz="2600" i="1">
                <a:solidFill>
                  <a:schemeClr val="folHlink"/>
                </a:solidFill>
              </a:rPr>
              <a:t>L</a:t>
            </a:r>
            <a:r>
              <a:rPr lang="en-US" altLang="zh-CN" sz="2600">
                <a:solidFill>
                  <a:schemeClr val="folHlink"/>
                </a:solidFill>
              </a:rPr>
              <a:t>(</a:t>
            </a:r>
            <a:r>
              <a:rPr lang="en-US" altLang="zh-CN" sz="2600" i="1">
                <a:solidFill>
                  <a:schemeClr val="folHlink"/>
                </a:solidFill>
              </a:rPr>
              <a:t>w</a:t>
            </a:r>
            <a:r>
              <a:rPr lang="en-US" altLang="zh-CN" sz="2600" baseline="-30000">
                <a:solidFill>
                  <a:schemeClr val="folHlink"/>
                </a:solidFill>
              </a:rPr>
              <a:t>2</a:t>
            </a:r>
            <a:r>
              <a:rPr lang="en-US" altLang="zh-CN" sz="2600">
                <a:solidFill>
                  <a:schemeClr val="folHlink"/>
                </a:solidFill>
              </a:rPr>
              <a:t>)</a:t>
            </a:r>
            <a:endParaRPr lang="en-US" altLang="zh-CN" sz="2600">
              <a:solidFill>
                <a:schemeClr val="folHlink"/>
              </a:solidFill>
            </a:endParaRPr>
          </a:p>
          <a:p>
            <a:pPr>
              <a:buNone/>
            </a:pPr>
            <a:r>
              <a:rPr lang="zh-CN" altLang="en-US" sz="2600">
                <a:solidFill>
                  <a:schemeClr val="folHlink"/>
                </a:solidFill>
              </a:rPr>
              <a:t>分别将</a:t>
            </a:r>
            <a:r>
              <a:rPr lang="en-US" altLang="zh-CN" sz="2600" i="1">
                <a:solidFill>
                  <a:schemeClr val="folHlink"/>
                </a:solidFill>
              </a:rPr>
              <a:t>w</a:t>
            </a:r>
            <a:r>
              <a:rPr lang="en-US" altLang="zh-CN" sz="2600" baseline="-25000">
                <a:solidFill>
                  <a:schemeClr val="folHlink"/>
                </a:solidFill>
              </a:rPr>
              <a:t>1</a:t>
            </a:r>
            <a:r>
              <a:rPr lang="en-US" altLang="zh-CN" sz="2600">
                <a:solidFill>
                  <a:schemeClr val="folHlink"/>
                </a:solidFill>
              </a:rPr>
              <a:t>,</a:t>
            </a:r>
            <a:r>
              <a:rPr lang="en-US" altLang="zh-CN" sz="2600" i="1">
                <a:solidFill>
                  <a:schemeClr val="folHlink"/>
                </a:solidFill>
              </a:rPr>
              <a:t>w</a:t>
            </a:r>
            <a:r>
              <a:rPr lang="en-US" altLang="zh-CN" sz="2600" baseline="-30000">
                <a:solidFill>
                  <a:schemeClr val="folHlink"/>
                </a:solidFill>
              </a:rPr>
              <a:t>2</a:t>
            </a:r>
            <a:r>
              <a:rPr lang="zh-CN" altLang="en-US" sz="2600">
                <a:solidFill>
                  <a:schemeClr val="folHlink"/>
                </a:solidFill>
              </a:rPr>
              <a:t>与</a:t>
            </a:r>
            <a:r>
              <a:rPr lang="en-US" altLang="zh-CN" sz="2600" i="1">
                <a:solidFill>
                  <a:schemeClr val="folHlink"/>
                </a:solidFill>
              </a:rPr>
              <a:t>w</a:t>
            </a:r>
            <a:r>
              <a:rPr lang="en-US" altLang="zh-CN" sz="2600" i="1" baseline="-25000">
                <a:solidFill>
                  <a:schemeClr val="folHlink"/>
                </a:solidFill>
              </a:rPr>
              <a:t>x</a:t>
            </a:r>
            <a:r>
              <a:rPr lang="en-US" altLang="zh-CN" sz="2600">
                <a:solidFill>
                  <a:schemeClr val="folHlink"/>
                </a:solidFill>
              </a:rPr>
              <a:t>,</a:t>
            </a:r>
            <a:r>
              <a:rPr lang="en-US" altLang="zh-CN" sz="2600" i="1">
                <a:solidFill>
                  <a:schemeClr val="folHlink"/>
                </a:solidFill>
              </a:rPr>
              <a:t>w</a:t>
            </a:r>
            <a:r>
              <a:rPr lang="en-US" altLang="zh-CN" sz="2600" i="1" baseline="-30000">
                <a:solidFill>
                  <a:schemeClr val="folHlink"/>
                </a:solidFill>
              </a:rPr>
              <a:t>y</a:t>
            </a:r>
            <a:r>
              <a:rPr lang="zh-CN" altLang="en-US" sz="2600">
                <a:solidFill>
                  <a:schemeClr val="folHlink"/>
                </a:solidFill>
              </a:rPr>
              <a:t>对调得到一棵最优树，</a:t>
            </a:r>
            <a:endParaRPr lang="zh-CN" altLang="en-US" sz="2600">
              <a:solidFill>
                <a:schemeClr val="folHlink"/>
              </a:solidFill>
            </a:endParaRPr>
          </a:p>
          <a:p>
            <a:pPr>
              <a:buNone/>
            </a:pPr>
            <a:r>
              <a:rPr lang="zh-CN" altLang="en-US" sz="2600">
                <a:solidFill>
                  <a:schemeClr val="folHlink"/>
                </a:solidFill>
              </a:rPr>
              <a:t>其中带权</a:t>
            </a:r>
            <a:r>
              <a:rPr lang="en-US" altLang="zh-CN" sz="2600" i="1">
                <a:solidFill>
                  <a:schemeClr val="folHlink"/>
                </a:solidFill>
              </a:rPr>
              <a:t>w</a:t>
            </a:r>
            <a:r>
              <a:rPr lang="en-US" altLang="zh-CN" sz="2600" baseline="-30000">
                <a:solidFill>
                  <a:schemeClr val="folHlink"/>
                </a:solidFill>
              </a:rPr>
              <a:t>1</a:t>
            </a:r>
            <a:r>
              <a:rPr lang="en-US" altLang="zh-CN" sz="2600">
                <a:solidFill>
                  <a:schemeClr val="folHlink"/>
                </a:solidFill>
              </a:rPr>
              <a:t>, </a:t>
            </a:r>
            <a:r>
              <a:rPr lang="en-US" altLang="zh-CN" sz="2600" i="1">
                <a:solidFill>
                  <a:schemeClr val="folHlink"/>
                </a:solidFill>
              </a:rPr>
              <a:t>w</a:t>
            </a:r>
            <a:r>
              <a:rPr lang="en-US" altLang="zh-CN" sz="2600" baseline="-30000">
                <a:solidFill>
                  <a:schemeClr val="folHlink"/>
                </a:solidFill>
              </a:rPr>
              <a:t>2</a:t>
            </a:r>
            <a:r>
              <a:rPr lang="zh-CN" altLang="en-US" sz="2600">
                <a:solidFill>
                  <a:schemeClr val="folHlink"/>
                </a:solidFill>
              </a:rPr>
              <a:t>的树叶是兄弟。</a:t>
            </a:r>
            <a:endParaRPr lang="zh-CN" altLang="en-US" sz="2600">
              <a:solidFill>
                <a:schemeClr val="folHlink"/>
              </a:solidFill>
            </a:endParaRPr>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Rectangle 2"/>
          <p:cNvSpPr>
            <a:spLocks noGrp="1" noChangeArrowheads="1"/>
          </p:cNvSpPr>
          <p:nvPr>
            <p:ph type="title"/>
          </p:nvPr>
        </p:nvSpPr>
        <p:spPr>
          <a:xfrm>
            <a:off x="1150938" y="69850"/>
            <a:ext cx="7793038" cy="98266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chemeClr val="tx2"/>
                </a:solidFill>
                <a:effectLst/>
                <a:uLnTx/>
                <a:uFillTx/>
                <a:latin typeface="+mj-lt"/>
                <a:ea typeface="+mj-ea"/>
                <a:cs typeface="+mj-cs"/>
              </a:rPr>
              <a:t>定理</a:t>
            </a:r>
            <a:r>
              <a:rPr kumimoji="0" lang="en-US" altLang="zh-CN" sz="4400" b="1" i="0" u="none" strike="noStrike" kern="0" cap="none" spc="0" normalizeH="0" baseline="0" noProof="0" smtClean="0">
                <a:ln>
                  <a:noFill/>
                </a:ln>
                <a:solidFill>
                  <a:schemeClr val="tx2"/>
                </a:solidFill>
                <a:effectLst/>
                <a:uLnTx/>
                <a:uFillTx/>
                <a:latin typeface="+mj-lt"/>
                <a:ea typeface="+mj-ea"/>
                <a:cs typeface="+mj-cs"/>
              </a:rPr>
              <a:t>14.12</a:t>
            </a:r>
            <a:endParaRPr kumimoji="0" lang="en-US" altLang="zh-CN" sz="4400" b="1" i="0" u="none" strike="noStrike" kern="0" cap="none" spc="0" normalizeH="0" baseline="0" noProof="0" smtClean="0">
              <a:ln>
                <a:noFill/>
              </a:ln>
              <a:solidFill>
                <a:schemeClr val="tx2"/>
              </a:solidFill>
              <a:effectLst/>
              <a:uLnTx/>
              <a:uFillTx/>
              <a:latin typeface="+mj-lt"/>
              <a:ea typeface="+mj-ea"/>
              <a:cs typeface="+mj-cs"/>
            </a:endParaRPr>
          </a:p>
        </p:txBody>
      </p:sp>
      <p:sp>
        <p:nvSpPr>
          <p:cNvPr id="52226" name="Rectangle 3"/>
          <p:cNvSpPr>
            <a:spLocks noGrp="1"/>
          </p:cNvSpPr>
          <p:nvPr>
            <p:ph type="body" sz="half" idx="1"/>
          </p:nvPr>
        </p:nvSpPr>
        <p:spPr>
          <a:xfrm>
            <a:off x="300038" y="1335088"/>
            <a:ext cx="8843962" cy="4902200"/>
          </a:xfrm>
        </p:spPr>
        <p:txBody>
          <a:bodyPr vert="horz" wrap="square" lIns="91440" tIns="45720" rIns="91440" bIns="45720" anchor="t" anchorCtr="0"/>
          <a:p>
            <a:pPr>
              <a:spcBef>
                <a:spcPct val="20000"/>
              </a:spcBef>
              <a:buClr>
                <a:schemeClr val="folHlink"/>
              </a:buClr>
              <a:buSzPct val="75000"/>
              <a:buFont typeface="Wingdings" panose="05000000000000000000" pitchFamily="2" charset="2"/>
              <a:buNone/>
            </a:pPr>
            <a:r>
              <a:rPr lang="zh-CN" altLang="en-US">
                <a:solidFill>
                  <a:schemeClr val="hlink"/>
                </a:solidFill>
              </a:rPr>
              <a:t>定理</a:t>
            </a:r>
            <a:r>
              <a:rPr lang="en-US" altLang="zh-CN">
                <a:solidFill>
                  <a:schemeClr val="hlink"/>
                </a:solidFill>
              </a:rPr>
              <a:t>14.12 </a:t>
            </a:r>
            <a:r>
              <a:rPr lang="en-US" altLang="zh-CN"/>
              <a:t> </a:t>
            </a:r>
            <a:r>
              <a:rPr lang="zh-CN" altLang="en-US"/>
              <a:t>设</a:t>
            </a:r>
            <a:r>
              <a:rPr lang="en-US" altLang="zh-CN" i="1"/>
              <a:t>T</a:t>
            </a:r>
            <a:r>
              <a:rPr lang="zh-CN" altLang="en-US"/>
              <a:t>为带权</a:t>
            </a:r>
            <a:r>
              <a:rPr lang="en-US" altLang="zh-CN" i="1"/>
              <a:t>w</a:t>
            </a:r>
            <a:r>
              <a:rPr lang="en-US" altLang="zh-CN" baseline="-25000"/>
              <a:t>1</a:t>
            </a:r>
            <a:r>
              <a:rPr lang="en-US" altLang="zh-CN"/>
              <a:t>≤</a:t>
            </a:r>
            <a:r>
              <a:rPr lang="en-US" altLang="zh-CN" i="1"/>
              <a:t>w</a:t>
            </a:r>
            <a:r>
              <a:rPr lang="en-US" altLang="zh-CN" baseline="-25000"/>
              <a:t>2</a:t>
            </a:r>
            <a:r>
              <a:rPr lang="en-US" altLang="zh-CN"/>
              <a:t>≤…≤ </a:t>
            </a:r>
            <a:r>
              <a:rPr lang="en-US" altLang="zh-CN" i="1"/>
              <a:t>w</a:t>
            </a:r>
            <a:r>
              <a:rPr lang="en-US" altLang="zh-CN" i="1" baseline="-25000"/>
              <a:t>t</a:t>
            </a:r>
            <a:r>
              <a:rPr lang="en-US" altLang="zh-CN"/>
              <a:t> </a:t>
            </a:r>
            <a:r>
              <a:rPr lang="zh-CN" altLang="en-US"/>
              <a:t>的最优树</a:t>
            </a:r>
            <a:r>
              <a:rPr lang="en-US" altLang="zh-CN"/>
              <a:t>,</a:t>
            </a:r>
            <a:r>
              <a:rPr lang="zh-CN" altLang="en-US"/>
              <a:t>若将以带权</a:t>
            </a:r>
            <a:r>
              <a:rPr lang="en-US" altLang="zh-CN" i="1"/>
              <a:t>w</a:t>
            </a:r>
            <a:r>
              <a:rPr lang="en-US" altLang="zh-CN" baseline="-30000"/>
              <a:t>1</a:t>
            </a:r>
            <a:r>
              <a:rPr lang="en-US" altLang="zh-CN"/>
              <a:t>, </a:t>
            </a:r>
            <a:r>
              <a:rPr lang="en-US" altLang="zh-CN" i="1"/>
              <a:t>w</a:t>
            </a:r>
            <a:r>
              <a:rPr lang="en-US" altLang="zh-CN" baseline="-30000"/>
              <a:t>2</a:t>
            </a:r>
            <a:r>
              <a:rPr lang="zh-CN" altLang="en-US"/>
              <a:t>的树叶为儿子的分枝点改为带权</a:t>
            </a:r>
            <a:r>
              <a:rPr lang="en-US" altLang="zh-CN" i="1"/>
              <a:t>w</a:t>
            </a:r>
            <a:r>
              <a:rPr lang="en-US" altLang="zh-CN" baseline="-30000"/>
              <a:t>1</a:t>
            </a:r>
            <a:r>
              <a:rPr lang="en-US" altLang="zh-CN"/>
              <a:t>+</a:t>
            </a:r>
            <a:r>
              <a:rPr lang="en-US" altLang="zh-CN" i="1"/>
              <a:t>w</a:t>
            </a:r>
            <a:r>
              <a:rPr lang="en-US" altLang="zh-CN" baseline="-30000"/>
              <a:t>2</a:t>
            </a:r>
            <a:r>
              <a:rPr lang="zh-CN" altLang="en-US"/>
              <a:t>的树叶</a:t>
            </a:r>
            <a:r>
              <a:rPr lang="en-US" altLang="zh-CN"/>
              <a:t>,</a:t>
            </a:r>
            <a:r>
              <a:rPr lang="zh-CN" altLang="en-US"/>
              <a:t>得到一棵新树</a:t>
            </a:r>
            <a:r>
              <a:rPr lang="en-US" altLang="zh-CN" i="1"/>
              <a:t>T</a:t>
            </a:r>
            <a:r>
              <a:rPr lang="en-US" altLang="zh-CN" i="1">
                <a:latin typeface="Tahoma" panose="020B0604030504040204" pitchFamily="34" charset="0"/>
              </a:rPr>
              <a:t>’ </a:t>
            </a:r>
            <a:r>
              <a:rPr lang="en-US" altLang="zh-CN"/>
              <a:t>,</a:t>
            </a:r>
            <a:r>
              <a:rPr lang="zh-CN" altLang="en-US"/>
              <a:t>则</a:t>
            </a:r>
            <a:r>
              <a:rPr lang="en-US" altLang="zh-CN" i="1"/>
              <a:t>T</a:t>
            </a:r>
            <a:r>
              <a:rPr lang="en-US" altLang="zh-CN" i="1">
                <a:latin typeface="Tahoma" panose="020B0604030504040204" pitchFamily="34" charset="0"/>
              </a:rPr>
              <a:t>’ </a:t>
            </a:r>
            <a:r>
              <a:rPr lang="zh-CN" altLang="en-US"/>
              <a:t>也是最优树</a:t>
            </a:r>
            <a:r>
              <a:rPr lang="en-US" altLang="zh-CN"/>
              <a:t>.</a:t>
            </a:r>
            <a:endParaRPr lang="en-US" altLang="zh-CN"/>
          </a:p>
          <a:p>
            <a:pPr>
              <a:spcBef>
                <a:spcPct val="20000"/>
              </a:spcBef>
              <a:buClr>
                <a:schemeClr val="folHlink"/>
              </a:buClr>
              <a:buSzPct val="75000"/>
              <a:buFont typeface="Wingdings" panose="05000000000000000000" pitchFamily="2" charset="2"/>
              <a:buNone/>
            </a:pPr>
            <a:r>
              <a:rPr lang="zh-CN" altLang="en-US">
                <a:solidFill>
                  <a:schemeClr val="hlink"/>
                </a:solidFill>
              </a:rPr>
              <a:t>证明  </a:t>
            </a:r>
            <a:r>
              <a:rPr lang="en-US" altLang="zh-CN">
                <a:solidFill>
                  <a:schemeClr val="hlink"/>
                </a:solidFill>
              </a:rPr>
              <a:t>(</a:t>
            </a:r>
            <a:r>
              <a:rPr lang="zh-CN" altLang="en-US">
                <a:solidFill>
                  <a:schemeClr val="hlink"/>
                </a:solidFill>
              </a:rPr>
              <a:t>反证法</a:t>
            </a:r>
            <a:r>
              <a:rPr lang="en-US" altLang="zh-CN">
                <a:solidFill>
                  <a:schemeClr val="hlink"/>
                </a:solidFill>
              </a:rPr>
              <a:t>)</a:t>
            </a:r>
            <a:r>
              <a:rPr lang="zh-CN" altLang="en-US">
                <a:solidFill>
                  <a:schemeClr val="folHlink"/>
                </a:solidFill>
              </a:rPr>
              <a:t>根据题设有</a:t>
            </a:r>
            <a:endParaRPr lang="zh-CN" altLang="en-US">
              <a:solidFill>
                <a:schemeClr val="folHlink"/>
              </a:solidFill>
            </a:endParaRPr>
          </a:p>
          <a:p>
            <a:pPr>
              <a:spcBef>
                <a:spcPct val="20000"/>
              </a:spcBef>
              <a:buClr>
                <a:schemeClr val="folHlink"/>
              </a:buClr>
              <a:buSzPct val="75000"/>
              <a:buFont typeface="Wingdings" panose="05000000000000000000" pitchFamily="2" charset="2"/>
              <a:buNone/>
            </a:pPr>
            <a:r>
              <a:rPr lang="en-US" altLang="zh-CN" i="1">
                <a:solidFill>
                  <a:schemeClr val="folHlink"/>
                </a:solidFill>
              </a:rPr>
              <a:t>w</a:t>
            </a:r>
            <a:r>
              <a:rPr lang="en-US" altLang="zh-CN">
                <a:solidFill>
                  <a:schemeClr val="folHlink"/>
                </a:solidFill>
              </a:rPr>
              <a:t>(</a:t>
            </a:r>
            <a:r>
              <a:rPr lang="en-US" altLang="zh-CN" i="1">
                <a:solidFill>
                  <a:schemeClr val="folHlink"/>
                </a:solidFill>
              </a:rPr>
              <a:t>T</a:t>
            </a:r>
            <a:r>
              <a:rPr lang="en-US" altLang="zh-CN">
                <a:solidFill>
                  <a:schemeClr val="folHlink"/>
                </a:solidFill>
              </a:rPr>
              <a:t>)-</a:t>
            </a:r>
            <a:r>
              <a:rPr lang="en-US" altLang="zh-CN" i="1">
                <a:solidFill>
                  <a:schemeClr val="folHlink"/>
                </a:solidFill>
              </a:rPr>
              <a:t>w</a:t>
            </a:r>
            <a:r>
              <a:rPr lang="en-US" altLang="zh-CN">
                <a:solidFill>
                  <a:schemeClr val="folHlink"/>
                </a:solidFill>
              </a:rPr>
              <a:t>(</a:t>
            </a:r>
            <a:r>
              <a:rPr lang="en-US" altLang="zh-CN" i="1">
                <a:solidFill>
                  <a:schemeClr val="folHlink"/>
                </a:solidFill>
              </a:rPr>
              <a:t>T</a:t>
            </a:r>
            <a:r>
              <a:rPr lang="en-US" altLang="zh-CN">
                <a:solidFill>
                  <a:schemeClr val="folHlink"/>
                </a:solidFill>
                <a:latin typeface="Tahoma" panose="020B0604030504040204" pitchFamily="34" charset="0"/>
              </a:rPr>
              <a:t>’</a:t>
            </a:r>
            <a:r>
              <a:rPr lang="en-US" altLang="zh-CN">
                <a:solidFill>
                  <a:schemeClr val="folHlink"/>
                </a:solidFill>
              </a:rPr>
              <a:t>)= L(</a:t>
            </a:r>
            <a:r>
              <a:rPr lang="en-US" altLang="zh-CN" i="1">
                <a:solidFill>
                  <a:schemeClr val="folHlink"/>
                </a:solidFill>
              </a:rPr>
              <a:t>w</a:t>
            </a:r>
            <a:r>
              <a:rPr lang="en-US" altLang="zh-CN" baseline="-30000">
                <a:solidFill>
                  <a:schemeClr val="folHlink"/>
                </a:solidFill>
              </a:rPr>
              <a:t>1</a:t>
            </a:r>
            <a:r>
              <a:rPr lang="en-US" altLang="zh-CN">
                <a:solidFill>
                  <a:schemeClr val="folHlink"/>
                </a:solidFill>
              </a:rPr>
              <a:t>) </a:t>
            </a:r>
            <a:r>
              <a:rPr lang="en-US" altLang="zh-CN" i="1">
                <a:solidFill>
                  <a:schemeClr val="folHlink"/>
                </a:solidFill>
              </a:rPr>
              <a:t>w</a:t>
            </a:r>
            <a:r>
              <a:rPr lang="en-US" altLang="zh-CN" baseline="-25000">
                <a:solidFill>
                  <a:schemeClr val="folHlink"/>
                </a:solidFill>
              </a:rPr>
              <a:t>1</a:t>
            </a:r>
            <a:r>
              <a:rPr lang="en-US" altLang="zh-CN">
                <a:solidFill>
                  <a:schemeClr val="folHlink"/>
                </a:solidFill>
              </a:rPr>
              <a:t>+ L(</a:t>
            </a:r>
            <a:r>
              <a:rPr lang="en-US" altLang="zh-CN" i="1">
                <a:solidFill>
                  <a:schemeClr val="folHlink"/>
                </a:solidFill>
              </a:rPr>
              <a:t>w</a:t>
            </a:r>
            <a:r>
              <a:rPr lang="en-US" altLang="zh-CN" baseline="-30000">
                <a:solidFill>
                  <a:schemeClr val="folHlink"/>
                </a:solidFill>
              </a:rPr>
              <a:t>2</a:t>
            </a:r>
            <a:r>
              <a:rPr lang="en-US" altLang="zh-CN">
                <a:solidFill>
                  <a:schemeClr val="folHlink"/>
                </a:solidFill>
              </a:rPr>
              <a:t>) </a:t>
            </a:r>
            <a:r>
              <a:rPr lang="en-US" altLang="zh-CN" i="1">
                <a:solidFill>
                  <a:schemeClr val="folHlink"/>
                </a:solidFill>
              </a:rPr>
              <a:t>w</a:t>
            </a:r>
            <a:r>
              <a:rPr lang="en-US" altLang="zh-CN" baseline="-25000">
                <a:solidFill>
                  <a:schemeClr val="folHlink"/>
                </a:solidFill>
              </a:rPr>
              <a:t>2</a:t>
            </a:r>
            <a:r>
              <a:rPr lang="en-US" altLang="zh-CN">
                <a:solidFill>
                  <a:schemeClr val="folHlink"/>
                </a:solidFill>
              </a:rPr>
              <a:t>- (L(</a:t>
            </a:r>
            <a:r>
              <a:rPr lang="en-US" altLang="zh-CN" i="1">
                <a:solidFill>
                  <a:schemeClr val="folHlink"/>
                </a:solidFill>
              </a:rPr>
              <a:t>w</a:t>
            </a:r>
            <a:r>
              <a:rPr lang="en-US" altLang="zh-CN" baseline="-30000">
                <a:solidFill>
                  <a:schemeClr val="folHlink"/>
                </a:solidFill>
              </a:rPr>
              <a:t>1</a:t>
            </a:r>
            <a:r>
              <a:rPr lang="en-US" altLang="zh-CN">
                <a:solidFill>
                  <a:schemeClr val="folHlink"/>
                </a:solidFill>
              </a:rPr>
              <a:t>)-1) ( </a:t>
            </a:r>
            <a:r>
              <a:rPr lang="en-US" altLang="zh-CN" i="1">
                <a:solidFill>
                  <a:schemeClr val="folHlink"/>
                </a:solidFill>
              </a:rPr>
              <a:t>w</a:t>
            </a:r>
            <a:r>
              <a:rPr lang="en-US" altLang="zh-CN" baseline="-25000">
                <a:solidFill>
                  <a:schemeClr val="folHlink"/>
                </a:solidFill>
              </a:rPr>
              <a:t>1</a:t>
            </a:r>
            <a:r>
              <a:rPr lang="en-US" altLang="zh-CN">
                <a:solidFill>
                  <a:schemeClr val="folHlink"/>
                </a:solidFill>
              </a:rPr>
              <a:t>+</a:t>
            </a:r>
            <a:r>
              <a:rPr lang="en-US" altLang="zh-CN" i="1">
                <a:solidFill>
                  <a:schemeClr val="folHlink"/>
                </a:solidFill>
              </a:rPr>
              <a:t>w</a:t>
            </a:r>
            <a:r>
              <a:rPr lang="en-US" altLang="zh-CN" baseline="-25000">
                <a:solidFill>
                  <a:schemeClr val="folHlink"/>
                </a:solidFill>
              </a:rPr>
              <a:t>2</a:t>
            </a:r>
            <a:r>
              <a:rPr lang="en-US" altLang="zh-CN">
                <a:solidFill>
                  <a:schemeClr val="folHlink"/>
                </a:solidFill>
              </a:rPr>
              <a:t>) </a:t>
            </a:r>
            <a:endParaRPr lang="en-US" altLang="zh-CN">
              <a:solidFill>
                <a:schemeClr val="folHlink"/>
              </a:solidFill>
            </a:endParaRPr>
          </a:p>
          <a:p>
            <a:pPr>
              <a:spcBef>
                <a:spcPct val="20000"/>
              </a:spcBef>
              <a:buClr>
                <a:schemeClr val="folHlink"/>
              </a:buClr>
              <a:buSzPct val="75000"/>
              <a:buFont typeface="Wingdings" panose="05000000000000000000" pitchFamily="2" charset="2"/>
              <a:buNone/>
            </a:pPr>
            <a:r>
              <a:rPr lang="zh-CN" altLang="en-US">
                <a:solidFill>
                  <a:schemeClr val="folHlink"/>
                </a:solidFill>
              </a:rPr>
              <a:t>因为</a:t>
            </a:r>
            <a:r>
              <a:rPr lang="en-US" altLang="zh-CN">
                <a:solidFill>
                  <a:schemeClr val="folHlink"/>
                </a:solidFill>
              </a:rPr>
              <a:t>L(</a:t>
            </a:r>
            <a:r>
              <a:rPr lang="en-US" altLang="zh-CN" i="1">
                <a:solidFill>
                  <a:schemeClr val="folHlink"/>
                </a:solidFill>
              </a:rPr>
              <a:t>w</a:t>
            </a:r>
            <a:r>
              <a:rPr lang="en-US" altLang="zh-CN" baseline="-30000">
                <a:solidFill>
                  <a:schemeClr val="folHlink"/>
                </a:solidFill>
              </a:rPr>
              <a:t>1</a:t>
            </a:r>
            <a:r>
              <a:rPr lang="en-US" altLang="zh-CN">
                <a:solidFill>
                  <a:schemeClr val="folHlink"/>
                </a:solidFill>
              </a:rPr>
              <a:t>) = L(</a:t>
            </a:r>
            <a:r>
              <a:rPr lang="en-US" altLang="zh-CN" i="1">
                <a:solidFill>
                  <a:schemeClr val="folHlink"/>
                </a:solidFill>
              </a:rPr>
              <a:t>w</a:t>
            </a:r>
            <a:r>
              <a:rPr lang="en-US" altLang="zh-CN" baseline="-30000">
                <a:solidFill>
                  <a:schemeClr val="folHlink"/>
                </a:solidFill>
              </a:rPr>
              <a:t>2</a:t>
            </a:r>
            <a:r>
              <a:rPr lang="en-US" altLang="zh-CN">
                <a:solidFill>
                  <a:schemeClr val="folHlink"/>
                </a:solidFill>
              </a:rPr>
              <a:t>) ,</a:t>
            </a:r>
            <a:r>
              <a:rPr lang="zh-CN" altLang="en-US">
                <a:solidFill>
                  <a:schemeClr val="folHlink"/>
                </a:solidFill>
              </a:rPr>
              <a:t>所以</a:t>
            </a:r>
            <a:r>
              <a:rPr lang="zh-CN" altLang="en-US" sz="2400">
                <a:solidFill>
                  <a:schemeClr val="folHlink"/>
                </a:solidFill>
              </a:rPr>
              <a:t> </a:t>
            </a:r>
            <a:r>
              <a:rPr lang="en-US" altLang="zh-CN" i="1">
                <a:solidFill>
                  <a:schemeClr val="folHlink"/>
                </a:solidFill>
              </a:rPr>
              <a:t>w</a:t>
            </a:r>
            <a:r>
              <a:rPr lang="en-US" altLang="zh-CN">
                <a:solidFill>
                  <a:schemeClr val="folHlink"/>
                </a:solidFill>
              </a:rPr>
              <a:t>(</a:t>
            </a:r>
            <a:r>
              <a:rPr lang="en-US" altLang="zh-CN" i="1">
                <a:solidFill>
                  <a:schemeClr val="folHlink"/>
                </a:solidFill>
              </a:rPr>
              <a:t>T</a:t>
            </a:r>
            <a:r>
              <a:rPr lang="en-US" altLang="zh-CN">
                <a:solidFill>
                  <a:schemeClr val="folHlink"/>
                </a:solidFill>
              </a:rPr>
              <a:t>)-</a:t>
            </a:r>
            <a:r>
              <a:rPr lang="en-US" altLang="zh-CN" i="1">
                <a:solidFill>
                  <a:schemeClr val="folHlink"/>
                </a:solidFill>
              </a:rPr>
              <a:t>w</a:t>
            </a:r>
            <a:r>
              <a:rPr lang="en-US" altLang="zh-CN">
                <a:solidFill>
                  <a:schemeClr val="folHlink"/>
                </a:solidFill>
              </a:rPr>
              <a:t>(</a:t>
            </a:r>
            <a:r>
              <a:rPr lang="en-US" altLang="zh-CN" i="1">
                <a:solidFill>
                  <a:schemeClr val="folHlink"/>
                </a:solidFill>
              </a:rPr>
              <a:t>T</a:t>
            </a:r>
            <a:r>
              <a:rPr lang="en-US" altLang="zh-CN">
                <a:solidFill>
                  <a:schemeClr val="folHlink"/>
                </a:solidFill>
                <a:latin typeface="Tahoma" panose="020B0604030504040204" pitchFamily="34" charset="0"/>
              </a:rPr>
              <a:t>’</a:t>
            </a:r>
            <a:r>
              <a:rPr lang="en-US" altLang="zh-CN">
                <a:solidFill>
                  <a:schemeClr val="folHlink"/>
                </a:solidFill>
              </a:rPr>
              <a:t>)= </a:t>
            </a:r>
            <a:r>
              <a:rPr lang="en-US" altLang="zh-CN" i="1">
                <a:solidFill>
                  <a:schemeClr val="folHlink"/>
                </a:solidFill>
              </a:rPr>
              <a:t>w</a:t>
            </a:r>
            <a:r>
              <a:rPr lang="en-US" altLang="zh-CN" baseline="-25000">
                <a:solidFill>
                  <a:schemeClr val="folHlink"/>
                </a:solidFill>
              </a:rPr>
              <a:t>1</a:t>
            </a:r>
            <a:r>
              <a:rPr lang="en-US" altLang="zh-CN">
                <a:solidFill>
                  <a:schemeClr val="folHlink"/>
                </a:solidFill>
              </a:rPr>
              <a:t>+</a:t>
            </a:r>
            <a:r>
              <a:rPr lang="en-US" altLang="zh-CN" i="1">
                <a:solidFill>
                  <a:schemeClr val="folHlink"/>
                </a:solidFill>
              </a:rPr>
              <a:t>w</a:t>
            </a:r>
            <a:r>
              <a:rPr lang="en-US" altLang="zh-CN" baseline="-25000">
                <a:solidFill>
                  <a:schemeClr val="folHlink"/>
                </a:solidFill>
              </a:rPr>
              <a:t>2         </a:t>
            </a:r>
            <a:r>
              <a:rPr lang="en-US" altLang="zh-CN">
                <a:solidFill>
                  <a:schemeClr val="folHlink"/>
                </a:solidFill>
              </a:rPr>
              <a:t>(1)</a:t>
            </a:r>
            <a:endParaRPr lang="en-US" altLang="zh-CN">
              <a:solidFill>
                <a:schemeClr val="folHlink"/>
              </a:solidFill>
            </a:endParaRPr>
          </a:p>
          <a:p>
            <a:pPr>
              <a:spcBef>
                <a:spcPct val="20000"/>
              </a:spcBef>
              <a:buClr>
                <a:schemeClr val="folHlink"/>
              </a:buClr>
              <a:buSzPct val="75000"/>
              <a:buFont typeface="Wingdings" panose="05000000000000000000" pitchFamily="2" charset="2"/>
              <a:buNone/>
            </a:pPr>
            <a:r>
              <a:rPr lang="zh-CN" altLang="en-US">
                <a:solidFill>
                  <a:schemeClr val="folHlink"/>
                </a:solidFill>
              </a:rPr>
              <a:t>若</a:t>
            </a:r>
            <a:r>
              <a:rPr lang="en-US" altLang="zh-CN" i="1">
                <a:solidFill>
                  <a:schemeClr val="folHlink"/>
                </a:solidFill>
              </a:rPr>
              <a:t>T</a:t>
            </a:r>
            <a:r>
              <a:rPr lang="en-US" altLang="zh-CN">
                <a:solidFill>
                  <a:schemeClr val="folHlink"/>
                </a:solidFill>
                <a:latin typeface="Tahoma" panose="020B0604030504040204" pitchFamily="34" charset="0"/>
              </a:rPr>
              <a:t>’</a:t>
            </a:r>
            <a:r>
              <a:rPr lang="zh-CN" altLang="en-US">
                <a:solidFill>
                  <a:schemeClr val="folHlink"/>
                </a:solidFill>
              </a:rPr>
              <a:t>不是最优树</a:t>
            </a:r>
            <a:r>
              <a:rPr lang="en-US" altLang="zh-CN">
                <a:solidFill>
                  <a:schemeClr val="folHlink"/>
                </a:solidFill>
              </a:rPr>
              <a:t>,</a:t>
            </a:r>
            <a:r>
              <a:rPr lang="zh-CN" altLang="en-US">
                <a:solidFill>
                  <a:schemeClr val="folHlink"/>
                </a:solidFill>
              </a:rPr>
              <a:t>则必有另一棵带权</a:t>
            </a:r>
            <a:r>
              <a:rPr lang="en-US" altLang="zh-CN" i="1">
                <a:solidFill>
                  <a:schemeClr val="folHlink"/>
                </a:solidFill>
              </a:rPr>
              <a:t>w</a:t>
            </a:r>
            <a:r>
              <a:rPr lang="en-US" altLang="zh-CN" baseline="-30000">
                <a:solidFill>
                  <a:schemeClr val="folHlink"/>
                </a:solidFill>
              </a:rPr>
              <a:t>1</a:t>
            </a:r>
            <a:r>
              <a:rPr lang="en-US" altLang="zh-CN">
                <a:solidFill>
                  <a:schemeClr val="folHlink"/>
                </a:solidFill>
              </a:rPr>
              <a:t>+</a:t>
            </a:r>
            <a:r>
              <a:rPr lang="en-US" altLang="zh-CN" i="1">
                <a:solidFill>
                  <a:schemeClr val="folHlink"/>
                </a:solidFill>
              </a:rPr>
              <a:t>w</a:t>
            </a:r>
            <a:r>
              <a:rPr lang="en-US" altLang="zh-CN" baseline="-30000">
                <a:solidFill>
                  <a:schemeClr val="folHlink"/>
                </a:solidFill>
              </a:rPr>
              <a:t>2</a:t>
            </a:r>
            <a:r>
              <a:rPr lang="en-US" altLang="zh-CN">
                <a:solidFill>
                  <a:schemeClr val="folHlink"/>
                </a:solidFill>
              </a:rPr>
              <a:t>, </a:t>
            </a:r>
            <a:r>
              <a:rPr lang="en-US" altLang="zh-CN" i="1">
                <a:solidFill>
                  <a:schemeClr val="folHlink"/>
                </a:solidFill>
              </a:rPr>
              <a:t>w</a:t>
            </a:r>
            <a:r>
              <a:rPr lang="en-US" altLang="zh-CN" baseline="-30000">
                <a:solidFill>
                  <a:schemeClr val="folHlink"/>
                </a:solidFill>
              </a:rPr>
              <a:t>3</a:t>
            </a:r>
            <a:r>
              <a:rPr lang="en-US" altLang="zh-CN">
                <a:solidFill>
                  <a:schemeClr val="folHlink"/>
                </a:solidFill>
              </a:rPr>
              <a:t>, …, </a:t>
            </a:r>
            <a:r>
              <a:rPr lang="en-US" altLang="zh-CN" i="1">
                <a:solidFill>
                  <a:schemeClr val="folHlink"/>
                </a:solidFill>
              </a:rPr>
              <a:t>w</a:t>
            </a:r>
            <a:r>
              <a:rPr lang="en-US" altLang="zh-CN" i="1" baseline="-30000">
                <a:solidFill>
                  <a:schemeClr val="folHlink"/>
                </a:solidFill>
              </a:rPr>
              <a:t>t</a:t>
            </a:r>
            <a:endParaRPr lang="en-US" altLang="zh-CN" i="1" baseline="-30000">
              <a:solidFill>
                <a:schemeClr val="folHlink"/>
              </a:solidFill>
            </a:endParaRPr>
          </a:p>
          <a:p>
            <a:pPr>
              <a:spcBef>
                <a:spcPct val="20000"/>
              </a:spcBef>
              <a:buClr>
                <a:schemeClr val="folHlink"/>
              </a:buClr>
              <a:buSzPct val="75000"/>
              <a:buFont typeface="Wingdings" panose="05000000000000000000" pitchFamily="2" charset="2"/>
              <a:buNone/>
            </a:pPr>
            <a:r>
              <a:rPr lang="zh-CN" altLang="en-US">
                <a:solidFill>
                  <a:schemeClr val="folHlink"/>
                </a:solidFill>
              </a:rPr>
              <a:t>的最优树</a:t>
            </a:r>
            <a:r>
              <a:rPr lang="en-US" altLang="zh-CN" i="1">
                <a:solidFill>
                  <a:schemeClr val="folHlink"/>
                </a:solidFill>
              </a:rPr>
              <a:t>T</a:t>
            </a:r>
            <a:r>
              <a:rPr lang="en-US" altLang="zh-CN">
                <a:solidFill>
                  <a:schemeClr val="folHlink"/>
                </a:solidFill>
                <a:latin typeface="Tahoma" panose="020B0604030504040204" pitchFamily="34" charset="0"/>
              </a:rPr>
              <a:t>’’</a:t>
            </a:r>
            <a:r>
              <a:rPr lang="en-US" altLang="zh-CN">
                <a:solidFill>
                  <a:schemeClr val="folHlink"/>
                </a:solidFill>
              </a:rPr>
              <a:t>. </a:t>
            </a:r>
            <a:r>
              <a:rPr lang="zh-CN" altLang="en-US">
                <a:solidFill>
                  <a:schemeClr val="folHlink"/>
                </a:solidFill>
              </a:rPr>
              <a:t>对于</a:t>
            </a:r>
            <a:r>
              <a:rPr lang="en-US" altLang="zh-CN" i="1">
                <a:solidFill>
                  <a:schemeClr val="folHlink"/>
                </a:solidFill>
              </a:rPr>
              <a:t>T</a:t>
            </a:r>
            <a:r>
              <a:rPr lang="en-US" altLang="zh-CN">
                <a:solidFill>
                  <a:schemeClr val="folHlink"/>
                </a:solidFill>
                <a:latin typeface="Tahoma" panose="020B0604030504040204" pitchFamily="34" charset="0"/>
              </a:rPr>
              <a:t>’’</a:t>
            </a:r>
            <a:r>
              <a:rPr lang="zh-CN" altLang="en-US">
                <a:solidFill>
                  <a:schemeClr val="folHlink"/>
                </a:solidFill>
              </a:rPr>
              <a:t>中带权 </a:t>
            </a:r>
            <a:r>
              <a:rPr lang="en-US" altLang="zh-CN" i="1">
                <a:solidFill>
                  <a:schemeClr val="folHlink"/>
                </a:solidFill>
              </a:rPr>
              <a:t>w</a:t>
            </a:r>
            <a:r>
              <a:rPr lang="en-US" altLang="zh-CN" baseline="-30000">
                <a:solidFill>
                  <a:schemeClr val="folHlink"/>
                </a:solidFill>
              </a:rPr>
              <a:t>1</a:t>
            </a:r>
            <a:r>
              <a:rPr lang="en-US" altLang="zh-CN">
                <a:solidFill>
                  <a:schemeClr val="folHlink"/>
                </a:solidFill>
              </a:rPr>
              <a:t>+</a:t>
            </a:r>
            <a:r>
              <a:rPr lang="en-US" altLang="zh-CN" i="1">
                <a:solidFill>
                  <a:schemeClr val="folHlink"/>
                </a:solidFill>
              </a:rPr>
              <a:t>w</a:t>
            </a:r>
            <a:r>
              <a:rPr lang="en-US" altLang="zh-CN" baseline="-30000">
                <a:solidFill>
                  <a:schemeClr val="folHlink"/>
                </a:solidFill>
              </a:rPr>
              <a:t>2</a:t>
            </a:r>
            <a:r>
              <a:rPr lang="zh-CN" altLang="en-US">
                <a:solidFill>
                  <a:schemeClr val="folHlink"/>
                </a:solidFill>
              </a:rPr>
              <a:t>的树叶生成两个儿子</a:t>
            </a:r>
            <a:r>
              <a:rPr lang="en-US" altLang="zh-CN">
                <a:solidFill>
                  <a:schemeClr val="folHlink"/>
                </a:solidFill>
              </a:rPr>
              <a:t>,</a:t>
            </a:r>
            <a:endParaRPr lang="en-US" altLang="zh-CN">
              <a:solidFill>
                <a:schemeClr val="folHlink"/>
              </a:solidFill>
            </a:endParaRPr>
          </a:p>
          <a:p>
            <a:pPr>
              <a:spcBef>
                <a:spcPct val="20000"/>
              </a:spcBef>
              <a:buClr>
                <a:schemeClr val="folHlink"/>
              </a:buClr>
              <a:buSzPct val="75000"/>
              <a:buFont typeface="Wingdings" panose="05000000000000000000" pitchFamily="2" charset="2"/>
              <a:buNone/>
            </a:pPr>
            <a:r>
              <a:rPr lang="zh-CN" altLang="en-US">
                <a:solidFill>
                  <a:schemeClr val="folHlink"/>
                </a:solidFill>
              </a:rPr>
              <a:t>得到新树     </a:t>
            </a:r>
            <a:r>
              <a:rPr lang="en-US" altLang="zh-CN">
                <a:solidFill>
                  <a:schemeClr val="folHlink"/>
                </a:solidFill>
              </a:rPr>
              <a:t>,</a:t>
            </a:r>
            <a:endParaRPr lang="en-US" altLang="zh-CN">
              <a:solidFill>
                <a:schemeClr val="folHlink"/>
              </a:solidFill>
            </a:endParaRPr>
          </a:p>
        </p:txBody>
      </p:sp>
      <p:graphicFrame>
        <p:nvGraphicFramePr>
          <p:cNvPr id="53251" name="Object 4"/>
          <p:cNvGraphicFramePr>
            <a:graphicFrameLocks noGrp="1" noChangeAspect="1"/>
          </p:cNvGraphicFramePr>
          <p:nvPr>
            <p:ph sz="quarter" idx="2"/>
          </p:nvPr>
        </p:nvGraphicFramePr>
        <p:xfrm>
          <a:off x="1908175" y="5661025"/>
          <a:ext cx="342900" cy="457200"/>
        </p:xfrm>
        <a:graphic>
          <a:graphicData uri="http://schemas.openxmlformats.org/presentationml/2006/ole">
            <mc:AlternateContent xmlns:mc="http://schemas.openxmlformats.org/markup-compatibility/2006">
              <mc:Choice xmlns:v="urn:schemas-microsoft-com:vml" Requires="v">
                <p:oleObj spid="_x0000_s3081" name="" r:id="rId1" imgW="152400" imgH="203200" progId="Equation.3">
                  <p:embed/>
                </p:oleObj>
              </mc:Choice>
              <mc:Fallback>
                <p:oleObj name="" r:id="rId1" imgW="152400" imgH="203200" progId="Equation.3">
                  <p:embed/>
                  <p:pic>
                    <p:nvPicPr>
                      <p:cNvPr id="0" name="图片 3080"/>
                      <p:cNvPicPr/>
                      <p:nvPr/>
                    </p:nvPicPr>
                    <p:blipFill>
                      <a:blip r:embed="rId2">
                        <a:clrChange>
                          <a:clrFrom>
                            <a:srgbClr val="000000"/>
                          </a:clrFrom>
                          <a:clrTo>
                            <a:srgbClr val="3333CC"/>
                          </a:clrTo>
                        </a:clrChange>
                      </a:blip>
                      <a:stretch>
                        <a:fillRect/>
                      </a:stretch>
                    </p:blipFill>
                    <p:spPr>
                      <a:xfrm>
                        <a:off x="1908175" y="5661025"/>
                        <a:ext cx="342900" cy="457200"/>
                      </a:xfrm>
                      <a:prstGeom prst="rect">
                        <a:avLst/>
                      </a:prstGeom>
                      <a:noFill/>
                      <a:ln w="38100">
                        <a:miter/>
                      </a:ln>
                    </p:spPr>
                  </p:pic>
                </p:oleObj>
              </mc:Fallback>
            </mc:AlternateContent>
          </a:graphicData>
        </a:graphic>
      </p:graphicFrame>
      <p:grpSp>
        <p:nvGrpSpPr>
          <p:cNvPr id="2" name="Group 5"/>
          <p:cNvGrpSpPr/>
          <p:nvPr/>
        </p:nvGrpSpPr>
        <p:grpSpPr>
          <a:xfrm>
            <a:off x="2339975" y="5629275"/>
            <a:ext cx="7885113" cy="608013"/>
            <a:chOff x="793" y="4000"/>
            <a:chExt cx="4967" cy="383"/>
          </a:xfrm>
        </p:grpSpPr>
        <p:sp>
          <p:nvSpPr>
            <p:cNvPr id="53253" name="Rectangle 6"/>
            <p:cNvSpPr/>
            <p:nvPr/>
          </p:nvSpPr>
          <p:spPr>
            <a:xfrm>
              <a:off x="793" y="4000"/>
              <a:ext cx="4967" cy="383"/>
            </a:xfrm>
            <a:prstGeom prst="rect">
              <a:avLst/>
            </a:prstGeom>
            <a:noFill/>
            <a:ln w="9525">
              <a:noFill/>
            </a:ln>
          </p:spPr>
          <p:txBody>
            <a:bodyPr anchor="t" anchorCtr="0"/>
            <a:p>
              <a:pPr marL="342900" indent="-342900" eaLnBrk="0" hangingPunct="0">
                <a:lnSpc>
                  <a:spcPct val="11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则</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ahoma" panose="020B0604030504040204" pitchFamily="34"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25000">
                  <a:solidFill>
                    <a:schemeClr val="folHlink"/>
                  </a:solidFill>
                  <a:latin typeface="Times New Roman" panose="02020603050405020304" pitchFamily="18" charset="0"/>
                  <a:ea typeface="黑体" panose="02010609060101010101" pitchFamily="49" charset="-122"/>
                </a:rPr>
                <a:t>1</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25000">
                  <a:solidFill>
                    <a:schemeClr val="folHlink"/>
                  </a:solidFill>
                  <a:latin typeface="Times New Roman" panose="02020603050405020304" pitchFamily="18" charset="0"/>
                  <a:ea typeface="黑体" panose="02010609060101010101" pitchFamily="49" charset="-122"/>
                </a:rPr>
                <a:t>2                           </a:t>
              </a:r>
              <a:r>
                <a:rPr lang="en-US" altLang="zh-CN" sz="2800">
                  <a:solidFill>
                    <a:schemeClr val="folHlink"/>
                  </a:solidFill>
                  <a:latin typeface="Times New Roman" panose="02020603050405020304" pitchFamily="18" charset="0"/>
                  <a:ea typeface="黑体" panose="02010609060101010101" pitchFamily="49" charset="-122"/>
                </a:rPr>
                <a:t>(2)</a:t>
              </a:r>
              <a:endParaRPr lang="en-US" altLang="zh-CN" sz="2800">
                <a:solidFill>
                  <a:schemeClr val="folHlink"/>
                </a:solidFill>
                <a:latin typeface="Times New Roman" panose="02020603050405020304" pitchFamily="18" charset="0"/>
                <a:ea typeface="黑体" panose="02010609060101010101" pitchFamily="49" charset="-122"/>
              </a:endParaRPr>
            </a:p>
          </p:txBody>
        </p:sp>
        <p:graphicFrame>
          <p:nvGraphicFramePr>
            <p:cNvPr id="53254" name="Object 7"/>
            <p:cNvGraphicFramePr>
              <a:graphicFrameLocks noChangeAspect="1"/>
            </p:cNvGraphicFramePr>
            <p:nvPr/>
          </p:nvGraphicFramePr>
          <p:xfrm>
            <a:off x="1292" y="4032"/>
            <a:ext cx="216" cy="288"/>
          </p:xfrm>
          <a:graphic>
            <a:graphicData uri="http://schemas.openxmlformats.org/presentationml/2006/ole">
              <mc:AlternateContent xmlns:mc="http://schemas.openxmlformats.org/markup-compatibility/2006">
                <mc:Choice xmlns:v="urn:schemas-microsoft-com:vml" Requires="v">
                  <p:oleObj spid="_x0000_s3080" name="" r:id="rId3" imgW="152400" imgH="203200" progId="Equation.3">
                    <p:embed/>
                  </p:oleObj>
                </mc:Choice>
                <mc:Fallback>
                  <p:oleObj name="" r:id="rId3" imgW="152400" imgH="203200" progId="Equation.3">
                    <p:embed/>
                    <p:pic>
                      <p:nvPicPr>
                        <p:cNvPr id="0" name="图片 3079"/>
                        <p:cNvPicPr/>
                        <p:nvPr/>
                      </p:nvPicPr>
                      <p:blipFill>
                        <a:blip r:embed="rId2">
                          <a:clrChange>
                            <a:clrFrom>
                              <a:srgbClr val="000000"/>
                            </a:clrFrom>
                            <a:clrTo>
                              <a:srgbClr val="3333CC"/>
                            </a:clrTo>
                          </a:clrChange>
                        </a:blip>
                        <a:stretch>
                          <a:fillRect/>
                        </a:stretch>
                      </p:blipFill>
                      <p:spPr>
                        <a:xfrm>
                          <a:off x="1292" y="4032"/>
                          <a:ext cx="216" cy="288"/>
                        </a:xfrm>
                        <a:prstGeom prst="rect">
                          <a:avLst/>
                        </a:prstGeom>
                        <a:noFill/>
                        <a:ln w="38100">
                          <a:noFill/>
                          <a:miter/>
                        </a:ln>
                      </p:spPr>
                    </p:pic>
                  </p:oleObj>
                </mc:Fallback>
              </mc:AlternateContent>
            </a:graphicData>
          </a:graphic>
        </p:graphicFrame>
      </p:gr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2226">
                                            <p:txEl>
                                              <p:charRg st="86" end="10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2226">
                                            <p:txEl>
                                              <p:charRg st="101" end="153"/>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2226">
                                            <p:txEl>
                                              <p:charRg st="153" end="20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2226">
                                            <p:txEl>
                                              <p:charRg st="203" end="237"/>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2226">
                                            <p:txEl>
                                              <p:charRg st="237" end="271"/>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2226">
                                            <p:txEl>
                                              <p:charRg st="271" end="28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p:cNvSpPr>
          <p:nvPr>
            <p:ph type="title"/>
          </p:nvPr>
        </p:nvSpPr>
        <p:spPr/>
        <p:txBody>
          <a:bodyPr vert="horz" wrap="square" lIns="91440" tIns="45720" rIns="91440" bIns="45720" anchor="b" anchorCtr="0"/>
          <a:p>
            <a:r>
              <a:rPr lang="zh-CN" altLang="en-US"/>
              <a:t>定理</a:t>
            </a:r>
            <a:r>
              <a:rPr lang="en-US" altLang="zh-CN"/>
              <a:t>14.12</a:t>
            </a:r>
            <a:r>
              <a:rPr lang="zh-CN" altLang="en-US"/>
              <a:t>的证明</a:t>
            </a:r>
            <a:endParaRPr lang="zh-CN" altLang="en-US"/>
          </a:p>
        </p:txBody>
      </p:sp>
      <p:sp>
        <p:nvSpPr>
          <p:cNvPr id="55298" name="Rectangle 3"/>
          <p:cNvSpPr>
            <a:spLocks noGrp="1"/>
          </p:cNvSpPr>
          <p:nvPr>
            <p:ph type="body" sz="half" idx="1"/>
          </p:nvPr>
        </p:nvSpPr>
        <p:spPr>
          <a:xfrm>
            <a:off x="323850" y="1412875"/>
            <a:ext cx="8266113" cy="1295400"/>
          </a:xfrm>
        </p:spPr>
        <p:txBody>
          <a:bodyPr vert="horz" wrap="square" lIns="91440" tIns="45720" rIns="91440" bIns="45720" anchor="t" anchorCtr="0"/>
          <a:p>
            <a:pPr>
              <a:buClr>
                <a:schemeClr val="folHlink"/>
              </a:buClr>
              <a:buSzPct val="75000"/>
              <a:buFont typeface="Wingdings" panose="05000000000000000000" pitchFamily="2" charset="2"/>
              <a:buNone/>
            </a:pPr>
            <a:r>
              <a:rPr lang="zh-CN" altLang="en-US">
                <a:solidFill>
                  <a:schemeClr val="folHlink"/>
                </a:solidFill>
              </a:rPr>
              <a:t>因为</a:t>
            </a:r>
            <a:r>
              <a:rPr lang="en-US" altLang="zh-CN" i="1">
                <a:solidFill>
                  <a:schemeClr val="folHlink"/>
                </a:solidFill>
              </a:rPr>
              <a:t>T</a:t>
            </a:r>
            <a:r>
              <a:rPr lang="en-US" altLang="zh-CN">
                <a:solidFill>
                  <a:schemeClr val="folHlink"/>
                </a:solidFill>
                <a:latin typeface="Tahoma" panose="020B0604030504040204" pitchFamily="34" charset="0"/>
              </a:rPr>
              <a:t>’’</a:t>
            </a:r>
            <a:r>
              <a:rPr lang="zh-CN" altLang="en-US">
                <a:solidFill>
                  <a:schemeClr val="folHlink"/>
                </a:solidFill>
              </a:rPr>
              <a:t>是带权</a:t>
            </a:r>
            <a:r>
              <a:rPr lang="en-US" altLang="zh-CN" i="1">
                <a:solidFill>
                  <a:schemeClr val="folHlink"/>
                </a:solidFill>
              </a:rPr>
              <a:t>w</a:t>
            </a:r>
            <a:r>
              <a:rPr lang="en-US" altLang="zh-CN" baseline="-30000">
                <a:solidFill>
                  <a:schemeClr val="folHlink"/>
                </a:solidFill>
              </a:rPr>
              <a:t>1</a:t>
            </a:r>
            <a:r>
              <a:rPr lang="en-US" altLang="zh-CN">
                <a:solidFill>
                  <a:schemeClr val="folHlink"/>
                </a:solidFill>
              </a:rPr>
              <a:t>+</a:t>
            </a:r>
            <a:r>
              <a:rPr lang="en-US" altLang="zh-CN" i="1">
                <a:solidFill>
                  <a:schemeClr val="folHlink"/>
                </a:solidFill>
              </a:rPr>
              <a:t>w</a:t>
            </a:r>
            <a:r>
              <a:rPr lang="en-US" altLang="zh-CN" baseline="-30000">
                <a:solidFill>
                  <a:schemeClr val="folHlink"/>
                </a:solidFill>
              </a:rPr>
              <a:t>2</a:t>
            </a:r>
            <a:r>
              <a:rPr lang="en-US" altLang="zh-CN">
                <a:solidFill>
                  <a:schemeClr val="folHlink"/>
                </a:solidFill>
              </a:rPr>
              <a:t>, </a:t>
            </a:r>
            <a:r>
              <a:rPr lang="en-US" altLang="zh-CN" i="1">
                <a:solidFill>
                  <a:schemeClr val="folHlink"/>
                </a:solidFill>
              </a:rPr>
              <a:t>w</a:t>
            </a:r>
            <a:r>
              <a:rPr lang="en-US" altLang="zh-CN" baseline="-30000">
                <a:solidFill>
                  <a:schemeClr val="folHlink"/>
                </a:solidFill>
              </a:rPr>
              <a:t>3</a:t>
            </a:r>
            <a:r>
              <a:rPr lang="en-US" altLang="zh-CN">
                <a:solidFill>
                  <a:schemeClr val="folHlink"/>
                </a:solidFill>
              </a:rPr>
              <a:t>, …, </a:t>
            </a:r>
            <a:r>
              <a:rPr lang="en-US" altLang="zh-CN" i="1">
                <a:solidFill>
                  <a:schemeClr val="folHlink"/>
                </a:solidFill>
              </a:rPr>
              <a:t>w</a:t>
            </a:r>
            <a:r>
              <a:rPr lang="en-US" altLang="zh-CN" i="1" baseline="-30000">
                <a:solidFill>
                  <a:schemeClr val="folHlink"/>
                </a:solidFill>
              </a:rPr>
              <a:t>t</a:t>
            </a:r>
            <a:r>
              <a:rPr lang="zh-CN" altLang="en-US">
                <a:solidFill>
                  <a:schemeClr val="folHlink"/>
                </a:solidFill>
              </a:rPr>
              <a:t>的最优树，</a:t>
            </a:r>
            <a:endParaRPr lang="zh-CN" altLang="en-US">
              <a:solidFill>
                <a:schemeClr val="folHlink"/>
              </a:solidFill>
            </a:endParaRPr>
          </a:p>
          <a:p>
            <a:pPr>
              <a:buClr>
                <a:schemeClr val="folHlink"/>
              </a:buClr>
              <a:buSzPct val="75000"/>
              <a:buFont typeface="Wingdings" panose="05000000000000000000" pitchFamily="2" charset="2"/>
              <a:buNone/>
            </a:pPr>
            <a:r>
              <a:rPr lang="zh-CN" altLang="en-US">
                <a:solidFill>
                  <a:schemeClr val="folHlink"/>
                </a:solidFill>
              </a:rPr>
              <a:t>故</a:t>
            </a:r>
            <a:r>
              <a:rPr lang="en-US" altLang="zh-CN" i="1">
                <a:solidFill>
                  <a:schemeClr val="folHlink"/>
                </a:solidFill>
              </a:rPr>
              <a:t>w</a:t>
            </a:r>
            <a:r>
              <a:rPr lang="en-US" altLang="zh-CN">
                <a:solidFill>
                  <a:schemeClr val="folHlink"/>
                </a:solidFill>
              </a:rPr>
              <a:t>(</a:t>
            </a:r>
            <a:r>
              <a:rPr lang="en-US" altLang="zh-CN" i="1">
                <a:solidFill>
                  <a:schemeClr val="folHlink"/>
                </a:solidFill>
              </a:rPr>
              <a:t>T</a:t>
            </a:r>
            <a:r>
              <a:rPr lang="en-US" altLang="zh-CN">
                <a:solidFill>
                  <a:schemeClr val="folHlink"/>
                </a:solidFill>
                <a:latin typeface="Tahoma" panose="020B0604030504040204" pitchFamily="34" charset="0"/>
              </a:rPr>
              <a:t>’’</a:t>
            </a:r>
            <a:r>
              <a:rPr lang="en-US" altLang="zh-CN">
                <a:solidFill>
                  <a:schemeClr val="folHlink"/>
                </a:solidFill>
              </a:rPr>
              <a:t>) </a:t>
            </a:r>
            <a:r>
              <a:rPr lang="en-US" altLang="ja-JP">
                <a:solidFill>
                  <a:schemeClr val="folHlink"/>
                </a:solidFill>
              </a:rPr>
              <a:t>≤</a:t>
            </a:r>
            <a:r>
              <a:rPr lang="en-US" altLang="zh-CN" i="1">
                <a:solidFill>
                  <a:schemeClr val="folHlink"/>
                </a:solidFill>
              </a:rPr>
              <a:t>w</a:t>
            </a:r>
            <a:r>
              <a:rPr lang="en-US" altLang="zh-CN">
                <a:solidFill>
                  <a:schemeClr val="folHlink"/>
                </a:solidFill>
              </a:rPr>
              <a:t>(</a:t>
            </a:r>
            <a:r>
              <a:rPr lang="en-US" altLang="zh-CN" i="1">
                <a:solidFill>
                  <a:schemeClr val="folHlink"/>
                </a:solidFill>
              </a:rPr>
              <a:t>T</a:t>
            </a:r>
            <a:r>
              <a:rPr lang="en-US" altLang="zh-CN">
                <a:solidFill>
                  <a:schemeClr val="folHlink"/>
                </a:solidFill>
                <a:latin typeface="Tahoma" panose="020B0604030504040204" pitchFamily="34" charset="0"/>
              </a:rPr>
              <a:t>’</a:t>
            </a:r>
            <a:r>
              <a:rPr lang="en-US" altLang="zh-CN">
                <a:solidFill>
                  <a:schemeClr val="folHlink"/>
                </a:solidFill>
              </a:rPr>
              <a:t>).</a:t>
            </a:r>
            <a:endParaRPr lang="en-US" altLang="zh-CN">
              <a:solidFill>
                <a:schemeClr val="folHlink"/>
              </a:solidFill>
            </a:endParaRPr>
          </a:p>
        </p:txBody>
      </p:sp>
      <p:grpSp>
        <p:nvGrpSpPr>
          <p:cNvPr id="2" name="Group 4"/>
          <p:cNvGrpSpPr/>
          <p:nvPr/>
        </p:nvGrpSpPr>
        <p:grpSpPr>
          <a:xfrm>
            <a:off x="5364163" y="2565400"/>
            <a:ext cx="2016125" cy="647700"/>
            <a:chOff x="204" y="2024"/>
            <a:chExt cx="1270" cy="408"/>
          </a:xfrm>
        </p:grpSpPr>
        <p:sp>
          <p:nvSpPr>
            <p:cNvPr id="55300" name="Rectangle 5"/>
            <p:cNvSpPr/>
            <p:nvPr/>
          </p:nvSpPr>
          <p:spPr>
            <a:xfrm>
              <a:off x="204" y="2024"/>
              <a:ext cx="1270" cy="408"/>
            </a:xfrm>
            <a:prstGeom prst="rect">
              <a:avLst/>
            </a:prstGeom>
            <a:noFill/>
            <a:ln w="9525">
              <a:noFill/>
            </a:ln>
          </p:spPr>
          <p:txBody>
            <a:bodyPr anchor="t" anchorCtr="0"/>
            <a:p>
              <a:pPr marL="342900" indent="-342900" eaLnBrk="0" hangingPunct="0">
                <a:lnSpc>
                  <a:spcPct val="110000"/>
                </a:lnSpc>
                <a:spcBef>
                  <a:spcPct val="30000"/>
                </a:spcBef>
                <a:buClr>
                  <a:schemeClr val="folHlink"/>
                </a:buClr>
                <a:buSzPct val="75000"/>
              </a:pP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  )&lt;</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imes New Roman" panose="02020603050405020304" pitchFamily="18" charset="0"/>
                  <a:ea typeface="黑体" panose="02010609060101010101" pitchFamily="49" charset="-122"/>
                </a:rPr>
                <a:t>)</a:t>
              </a:r>
              <a:endParaRPr lang="en-US" altLang="zh-CN" sz="2800">
                <a:solidFill>
                  <a:schemeClr val="folHlink"/>
                </a:solidFill>
                <a:latin typeface="Times New Roman" panose="02020603050405020304" pitchFamily="18" charset="0"/>
                <a:ea typeface="黑体" panose="02010609060101010101" pitchFamily="49" charset="-122"/>
              </a:endParaRPr>
            </a:p>
          </p:txBody>
        </p:sp>
        <p:graphicFrame>
          <p:nvGraphicFramePr>
            <p:cNvPr id="55301" name="Object 6"/>
            <p:cNvGraphicFramePr>
              <a:graphicFrameLocks noChangeAspect="1"/>
            </p:cNvGraphicFramePr>
            <p:nvPr/>
          </p:nvGraphicFramePr>
          <p:xfrm>
            <a:off x="467" y="2069"/>
            <a:ext cx="181" cy="259"/>
          </p:xfrm>
          <a:graphic>
            <a:graphicData uri="http://schemas.openxmlformats.org/presentationml/2006/ole">
              <mc:AlternateContent xmlns:mc="http://schemas.openxmlformats.org/markup-compatibility/2006">
                <mc:Choice xmlns:v="urn:schemas-microsoft-com:vml" Requires="v">
                  <p:oleObj spid="_x0000_s3079" name="" r:id="rId1" imgW="152400" imgH="203200" progId="Equation.3">
                    <p:embed/>
                  </p:oleObj>
                </mc:Choice>
                <mc:Fallback>
                  <p:oleObj name="" r:id="rId1" imgW="152400" imgH="203200" progId="Equation.3">
                    <p:embed/>
                    <p:pic>
                      <p:nvPicPr>
                        <p:cNvPr id="0" name="图片 3078"/>
                        <p:cNvPicPr/>
                        <p:nvPr/>
                      </p:nvPicPr>
                      <p:blipFill>
                        <a:blip r:embed="rId2">
                          <a:clrChange>
                            <a:clrFrom>
                              <a:srgbClr val="000000"/>
                            </a:clrFrom>
                            <a:clrTo>
                              <a:srgbClr val="3333CC"/>
                            </a:clrTo>
                          </a:clrChange>
                        </a:blip>
                        <a:stretch>
                          <a:fillRect/>
                        </a:stretch>
                      </p:blipFill>
                      <p:spPr>
                        <a:xfrm>
                          <a:off x="467" y="2069"/>
                          <a:ext cx="181" cy="259"/>
                        </a:xfrm>
                        <a:prstGeom prst="rect">
                          <a:avLst/>
                        </a:prstGeom>
                        <a:noFill/>
                        <a:ln w="38100">
                          <a:noFill/>
                          <a:miter/>
                        </a:ln>
                      </p:spPr>
                    </p:pic>
                  </p:oleObj>
                </mc:Fallback>
              </mc:AlternateContent>
            </a:graphicData>
          </a:graphic>
        </p:graphicFrame>
      </p:grpSp>
      <p:sp>
        <p:nvSpPr>
          <p:cNvPr id="275463" name="Rectangle 7"/>
          <p:cNvSpPr/>
          <p:nvPr/>
        </p:nvSpPr>
        <p:spPr>
          <a:xfrm>
            <a:off x="323850" y="2565400"/>
            <a:ext cx="6480175" cy="647700"/>
          </a:xfrm>
          <a:prstGeom prst="rect">
            <a:avLst/>
          </a:prstGeom>
          <a:noFill/>
          <a:ln w="9525">
            <a:noFill/>
          </a:ln>
        </p:spPr>
        <p:txBody>
          <a:bodyPr anchor="t" anchorCtr="0"/>
          <a:p>
            <a:pPr marL="342900" indent="-342900" eaLnBrk="0" hangingPunct="0">
              <a:lnSpc>
                <a:spcPct val="110000"/>
              </a:lnSpc>
              <a:spcBef>
                <a:spcPct val="3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如果</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ahoma" panose="020B0604030504040204" pitchFamily="34"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 &lt;</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ahoma" panose="020B0604030504040204" pitchFamily="34"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a:t>
            </a:r>
            <a:r>
              <a:rPr lang="zh-CN" altLang="en-US" sz="2800">
                <a:solidFill>
                  <a:schemeClr val="folHlink"/>
                </a:solidFill>
                <a:latin typeface="Times New Roman" panose="02020603050405020304" pitchFamily="18" charset="0"/>
                <a:ea typeface="黑体" panose="02010609060101010101" pitchFamily="49" charset="-122"/>
              </a:rPr>
              <a:t>，由</a:t>
            </a:r>
            <a:r>
              <a:rPr lang="en-US" altLang="zh-CN" sz="2800">
                <a:solidFill>
                  <a:schemeClr val="folHlink"/>
                </a:solidFill>
                <a:latin typeface="Times New Roman" panose="02020603050405020304" pitchFamily="18" charset="0"/>
                <a:ea typeface="黑体" panose="02010609060101010101" pitchFamily="49" charset="-122"/>
              </a:rPr>
              <a:t>(1)(2)</a:t>
            </a:r>
            <a:r>
              <a:rPr lang="zh-CN" altLang="en-US" sz="2800">
                <a:solidFill>
                  <a:schemeClr val="folHlink"/>
                </a:solidFill>
                <a:latin typeface="Times New Roman" panose="02020603050405020304" pitchFamily="18" charset="0"/>
                <a:ea typeface="黑体" panose="02010609060101010101" pitchFamily="49" charset="-122"/>
              </a:rPr>
              <a:t>式得</a:t>
            </a:r>
            <a:endParaRPr lang="zh-CN" altLang="en-US" sz="2800">
              <a:solidFill>
                <a:schemeClr val="folHlink"/>
              </a:solidFill>
              <a:latin typeface="Times New Roman" panose="02020603050405020304" pitchFamily="18" charset="0"/>
              <a:ea typeface="黑体" panose="02010609060101010101" pitchFamily="49" charset="-122"/>
            </a:endParaRPr>
          </a:p>
        </p:txBody>
      </p:sp>
      <p:sp>
        <p:nvSpPr>
          <p:cNvPr id="275464" name="Rectangle 8"/>
          <p:cNvSpPr/>
          <p:nvPr/>
        </p:nvSpPr>
        <p:spPr>
          <a:xfrm>
            <a:off x="323850" y="3160713"/>
            <a:ext cx="7488238" cy="1781175"/>
          </a:xfrm>
          <a:prstGeom prst="rect">
            <a:avLst/>
          </a:prstGeom>
          <a:noFill/>
          <a:ln w="9525">
            <a:noFill/>
          </a:ln>
        </p:spPr>
        <p:txBody>
          <a:bodyPr anchor="t" anchorCtr="0"/>
          <a:p>
            <a:pPr marL="342900" indent="-342900" eaLnBrk="0" hangingPunct="0">
              <a:lnSpc>
                <a:spcPct val="110000"/>
              </a:lnSpc>
              <a:spcBef>
                <a:spcPct val="3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这与</a:t>
            </a:r>
            <a:r>
              <a:rPr lang="en-US" altLang="zh-CN" sz="2800" i="1">
                <a:solidFill>
                  <a:schemeClr val="folHlink"/>
                </a:solidFill>
                <a:latin typeface="Times New Roman" panose="02020603050405020304" pitchFamily="18" charset="0"/>
                <a:ea typeface="黑体" panose="02010609060101010101" pitchFamily="49" charset="-122"/>
              </a:rPr>
              <a:t>T</a:t>
            </a:r>
            <a:r>
              <a:rPr lang="zh-CN" altLang="en-US" sz="2800">
                <a:solidFill>
                  <a:schemeClr val="folHlink"/>
                </a:solidFill>
                <a:latin typeface="Times New Roman" panose="02020603050405020304" pitchFamily="18" charset="0"/>
                <a:ea typeface="黑体" panose="02010609060101010101" pitchFamily="49" charset="-122"/>
              </a:rPr>
              <a:t>是带权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30000">
                <a:solidFill>
                  <a:schemeClr val="folHlink"/>
                </a:solidFill>
                <a:latin typeface="Times New Roman" panose="02020603050405020304" pitchFamily="18" charset="0"/>
                <a:ea typeface="黑体" panose="02010609060101010101" pitchFamily="49" charset="-122"/>
              </a:rPr>
              <a:t>1</a:t>
            </a:r>
            <a:r>
              <a:rPr lang="en-US" altLang="zh-CN" sz="2800">
                <a:solidFill>
                  <a:schemeClr val="folHlink"/>
                </a:solidFill>
                <a:latin typeface="Times New Roman" panose="02020603050405020304" pitchFamily="18" charset="0"/>
                <a:ea typeface="黑体" panose="02010609060101010101" pitchFamily="49" charset="-122"/>
              </a:rPr>
              <a:t>,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30000">
                <a:solidFill>
                  <a:schemeClr val="folHlink"/>
                </a:solidFill>
                <a:latin typeface="Times New Roman" panose="02020603050405020304" pitchFamily="18" charset="0"/>
                <a:ea typeface="黑体" panose="02010609060101010101" pitchFamily="49" charset="-122"/>
              </a:rPr>
              <a:t>2</a:t>
            </a:r>
            <a:r>
              <a:rPr lang="en-US" altLang="zh-CN" sz="2800">
                <a:solidFill>
                  <a:schemeClr val="folHlink"/>
                </a:solidFill>
                <a:latin typeface="Times New Roman" panose="02020603050405020304" pitchFamily="18" charset="0"/>
                <a:ea typeface="黑体" panose="02010609060101010101" pitchFamily="49" charset="-122"/>
              </a:rPr>
              <a:t>, …,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i="1" baseline="-30000">
                <a:solidFill>
                  <a:schemeClr val="folHlink"/>
                </a:solidFill>
                <a:latin typeface="Times New Roman" panose="02020603050405020304" pitchFamily="18" charset="0"/>
                <a:ea typeface="黑体" panose="02010609060101010101" pitchFamily="49" charset="-122"/>
              </a:rPr>
              <a:t>t</a:t>
            </a:r>
            <a:r>
              <a:rPr lang="zh-CN" altLang="en-US" sz="2800">
                <a:solidFill>
                  <a:schemeClr val="folHlink"/>
                </a:solidFill>
                <a:latin typeface="Times New Roman" panose="02020603050405020304" pitchFamily="18" charset="0"/>
                <a:ea typeface="黑体" panose="02010609060101010101" pitchFamily="49" charset="-122"/>
              </a:rPr>
              <a:t>的最优树相矛盾，</a:t>
            </a:r>
            <a:endParaRPr lang="zh-CN" altLang="en-US"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10000"/>
              </a:lnSpc>
              <a:spcBef>
                <a:spcPct val="3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所以</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ahoma" panose="020B0604030504040204" pitchFamily="34"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ahoma" panose="020B0604030504040204" pitchFamily="34"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a:t>
            </a:r>
            <a:r>
              <a:rPr lang="zh-CN" altLang="en-US" sz="2800">
                <a:solidFill>
                  <a:schemeClr val="folHlink"/>
                </a:solidFill>
                <a:latin typeface="Times New Roman" panose="02020603050405020304" pitchFamily="18" charset="0"/>
                <a:ea typeface="黑体" panose="02010609060101010101" pitchFamily="49" charset="-122"/>
              </a:rPr>
              <a:t>，</a:t>
            </a:r>
            <a:endParaRPr lang="zh-CN" altLang="en-US"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10000"/>
              </a:lnSpc>
              <a:spcBef>
                <a:spcPct val="30000"/>
              </a:spcBef>
              <a:buClr>
                <a:schemeClr val="folHlink"/>
              </a:buClr>
              <a:buSzPct val="75000"/>
            </a:pP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ahoma" panose="020B0604030504040204" pitchFamily="34" charset="0"/>
                <a:ea typeface="黑体" panose="02010609060101010101" pitchFamily="49" charset="-122"/>
              </a:rPr>
              <a:t>’</a:t>
            </a:r>
            <a:r>
              <a:rPr lang="zh-CN" altLang="en-US" sz="2800">
                <a:solidFill>
                  <a:schemeClr val="folHlink"/>
                </a:solidFill>
                <a:latin typeface="Times New Roman" panose="02020603050405020304" pitchFamily="18" charset="0"/>
                <a:ea typeface="黑体" panose="02010609060101010101" pitchFamily="49" charset="-122"/>
              </a:rPr>
              <a:t>是带权</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30000">
                <a:solidFill>
                  <a:schemeClr val="folHlink"/>
                </a:solidFill>
                <a:latin typeface="Times New Roman" panose="02020603050405020304" pitchFamily="18" charset="0"/>
                <a:ea typeface="黑体" panose="02010609060101010101" pitchFamily="49" charset="-122"/>
              </a:rPr>
              <a:t>1</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30000">
                <a:solidFill>
                  <a:schemeClr val="folHlink"/>
                </a:solidFill>
                <a:latin typeface="Times New Roman" panose="02020603050405020304" pitchFamily="18" charset="0"/>
                <a:ea typeface="黑体" panose="02010609060101010101" pitchFamily="49" charset="-122"/>
              </a:rPr>
              <a:t>2</a:t>
            </a:r>
            <a:r>
              <a:rPr lang="en-US" altLang="zh-CN" sz="2800">
                <a:solidFill>
                  <a:schemeClr val="folHlink"/>
                </a:solidFill>
                <a:latin typeface="Times New Roman" panose="02020603050405020304" pitchFamily="18" charset="0"/>
                <a:ea typeface="黑体" panose="02010609060101010101" pitchFamily="49" charset="-122"/>
              </a:rPr>
              <a:t>,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baseline="-30000">
                <a:solidFill>
                  <a:schemeClr val="folHlink"/>
                </a:solidFill>
                <a:latin typeface="Times New Roman" panose="02020603050405020304" pitchFamily="18" charset="0"/>
                <a:ea typeface="黑体" panose="02010609060101010101" pitchFamily="49" charset="-122"/>
              </a:rPr>
              <a:t>3</a:t>
            </a:r>
            <a:r>
              <a:rPr lang="en-US" altLang="zh-CN" sz="2800">
                <a:solidFill>
                  <a:schemeClr val="folHlink"/>
                </a:solidFill>
                <a:latin typeface="Times New Roman" panose="02020603050405020304" pitchFamily="18" charset="0"/>
                <a:ea typeface="黑体" panose="02010609060101010101" pitchFamily="49" charset="-122"/>
              </a:rPr>
              <a:t>, …,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i="1" baseline="-30000">
                <a:solidFill>
                  <a:schemeClr val="folHlink"/>
                </a:solidFill>
                <a:latin typeface="Times New Roman" panose="02020603050405020304" pitchFamily="18" charset="0"/>
                <a:ea typeface="黑体" panose="02010609060101010101" pitchFamily="49" charset="-122"/>
              </a:rPr>
              <a:t>t</a:t>
            </a:r>
            <a:r>
              <a:rPr lang="zh-CN" altLang="en-US" sz="2800">
                <a:solidFill>
                  <a:schemeClr val="folHlink"/>
                </a:solidFill>
                <a:latin typeface="Times New Roman" panose="02020603050405020304" pitchFamily="18" charset="0"/>
                <a:ea typeface="黑体" panose="02010609060101010101" pitchFamily="49" charset="-122"/>
              </a:rPr>
              <a:t>的最优树。</a:t>
            </a:r>
            <a:endParaRPr lang="zh-CN" altLang="en-US" sz="2800">
              <a:solidFill>
                <a:schemeClr val="folHlink"/>
              </a:solidFill>
              <a:latin typeface="Times New Roman" panose="02020603050405020304" pitchFamily="18" charset="0"/>
              <a:ea typeface="黑体" panose="02010609060101010101" pitchFamily="49" charset="-122"/>
            </a:endParaRPr>
          </a:p>
        </p:txBody>
      </p:sp>
      <p:sp>
        <p:nvSpPr>
          <p:cNvPr id="4099" name="灯片编号占位符 3"/>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5463"/>
                                        </p:tgtEl>
                                        <p:attrNameLst>
                                          <p:attrName>style.visibility</p:attrName>
                                        </p:attrNameLst>
                                      </p:cBhvr>
                                      <p:to>
                                        <p:strVal val="visible"/>
                                      </p:to>
                                    </p:set>
                                    <p:animEffect transition="in" filter="wipe(left)">
                                      <p:cBhvr>
                                        <p:cTn id="7" dur="500"/>
                                        <p:tgtEl>
                                          <p:spTgt spid="2754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5464">
                                            <p:txEl>
                                              <p:charRg st="0" end="29"/>
                                            </p:txEl>
                                          </p:spTgt>
                                        </p:tgtEl>
                                        <p:attrNameLst>
                                          <p:attrName>style.visibility</p:attrName>
                                        </p:attrNameLst>
                                      </p:cBhvr>
                                      <p:to>
                                        <p:strVal val="visible"/>
                                      </p:to>
                                    </p:set>
                                    <p:animEffect transition="in" filter="wipe(left)">
                                      <p:cBhvr>
                                        <p:cTn id="17" dur="500"/>
                                        <p:tgtEl>
                                          <p:spTgt spid="275464">
                                            <p:txEl>
                                              <p:charRg st="0" end="2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5464">
                                            <p:txEl>
                                              <p:charRg st="29" end="46"/>
                                            </p:txEl>
                                          </p:spTgt>
                                        </p:tgtEl>
                                        <p:attrNameLst>
                                          <p:attrName>style.visibility</p:attrName>
                                        </p:attrNameLst>
                                      </p:cBhvr>
                                      <p:to>
                                        <p:strVal val="visible"/>
                                      </p:to>
                                    </p:set>
                                    <p:animEffect transition="in" filter="wipe(left)">
                                      <p:cBhvr>
                                        <p:cTn id="22" dur="500"/>
                                        <p:tgtEl>
                                          <p:spTgt spid="275464">
                                            <p:txEl>
                                              <p:charRg st="29" end="4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5464">
                                            <p:txEl>
                                              <p:charRg st="46" end="73"/>
                                            </p:txEl>
                                          </p:spTgt>
                                        </p:tgtEl>
                                        <p:attrNameLst>
                                          <p:attrName>style.visibility</p:attrName>
                                        </p:attrNameLst>
                                      </p:cBhvr>
                                      <p:to>
                                        <p:strVal val="visible"/>
                                      </p:to>
                                    </p:set>
                                    <p:animEffect transition="in" filter="wipe(left)">
                                      <p:cBhvr>
                                        <p:cTn id="27" dur="500"/>
                                        <p:tgtEl>
                                          <p:spTgt spid="275464">
                                            <p:txEl>
                                              <p:charRg st="46" end="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63" grpId="0"/>
      <p:bldP spid="27546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标题 1"/>
          <p:cNvSpPr>
            <a:spLocks noGrp="1"/>
          </p:cNvSpPr>
          <p:nvPr>
            <p:ph type="title"/>
          </p:nvPr>
        </p:nvSpPr>
        <p:spPr>
          <a:xfrm>
            <a:off x="928688" y="214313"/>
            <a:ext cx="7793037" cy="982662"/>
          </a:xfrm>
        </p:spPr>
        <p:txBody>
          <a:bodyPr vert="horz" wrap="square" lIns="91440" tIns="45720" rIns="91440" bIns="45720" anchor="b" anchorCtr="0"/>
          <a:p>
            <a:r>
              <a:rPr lang="zh-CN" altLang="en-US"/>
              <a:t>证明的图例</a:t>
            </a:r>
            <a:endParaRPr lang="zh-CN" altLang="en-US"/>
          </a:p>
        </p:txBody>
      </p:sp>
      <p:sp>
        <p:nvSpPr>
          <p:cNvPr id="57346" name="灯片编号占位符 6"/>
          <p:cNvSpPr>
            <a:spLocks noGrp="1"/>
          </p:cNvSpPr>
          <p:nvPr>
            <p:ph type="sldNum"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fld>
            <a:endParaRPr lang="en-US" altLang="zh-CN" sz="1400" b="0"/>
          </a:p>
        </p:txBody>
      </p:sp>
      <p:grpSp>
        <p:nvGrpSpPr>
          <p:cNvPr id="57347" name="组合 62"/>
          <p:cNvGrpSpPr/>
          <p:nvPr/>
        </p:nvGrpSpPr>
        <p:grpSpPr>
          <a:xfrm>
            <a:off x="0" y="1428750"/>
            <a:ext cx="2071688" cy="3357563"/>
            <a:chOff x="214241" y="2571744"/>
            <a:chExt cx="3000416" cy="3357585"/>
          </a:xfrm>
        </p:grpSpPr>
        <p:grpSp>
          <p:nvGrpSpPr>
            <p:cNvPr id="57348" name="组合 16"/>
            <p:cNvGrpSpPr/>
            <p:nvPr/>
          </p:nvGrpSpPr>
          <p:grpSpPr>
            <a:xfrm>
              <a:off x="1071515" y="3929084"/>
              <a:ext cx="1368526" cy="1564011"/>
              <a:chOff x="6858023" y="1357298"/>
              <a:chExt cx="1368536" cy="1564022"/>
            </a:xfrm>
          </p:grpSpPr>
          <p:grpSp>
            <p:nvGrpSpPr>
              <p:cNvPr id="57349" name="组合 13"/>
              <p:cNvGrpSpPr/>
              <p:nvPr/>
            </p:nvGrpSpPr>
            <p:grpSpPr>
              <a:xfrm>
                <a:off x="7083551" y="1357298"/>
                <a:ext cx="1143008" cy="1214446"/>
                <a:chOff x="6357950" y="1500174"/>
                <a:chExt cx="1143008" cy="1214446"/>
              </a:xfrm>
            </p:grpSpPr>
            <p:sp>
              <p:nvSpPr>
                <p:cNvPr id="57350" name="椭圆 3"/>
                <p:cNvSpPr/>
                <p:nvPr/>
              </p:nvSpPr>
              <p:spPr>
                <a:xfrm>
                  <a:off x="6357950" y="257174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351" name="椭圆 4"/>
                <p:cNvSpPr/>
                <p:nvPr/>
              </p:nvSpPr>
              <p:spPr>
                <a:xfrm>
                  <a:off x="7358082" y="257174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352" name="椭圆 5"/>
                <p:cNvSpPr/>
                <p:nvPr/>
              </p:nvSpPr>
              <p:spPr>
                <a:xfrm>
                  <a:off x="6786578" y="185736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57353" name="直接连接符 7"/>
                <p:cNvCxnSpPr>
                  <a:stCxn id="57350" idx="1"/>
                  <a:endCxn id="57352" idx="4"/>
                </p:cNvCxnSpPr>
                <p:nvPr/>
              </p:nvCxnSpPr>
              <p:spPr>
                <a:xfrm rot="5400000" flipH="1" flipV="1">
                  <a:off x="6322231" y="2056883"/>
                  <a:ext cx="592428" cy="479142"/>
                </a:xfrm>
                <a:prstGeom prst="line">
                  <a:avLst/>
                </a:prstGeom>
                <a:ln w="9525" cap="flat" cmpd="sng">
                  <a:solidFill>
                    <a:schemeClr val="tx1"/>
                  </a:solidFill>
                  <a:prstDash val="solid"/>
                  <a:round/>
                  <a:headEnd type="none" w="med" len="med"/>
                  <a:tailEnd type="none" w="med" len="med"/>
                </a:ln>
              </p:spPr>
            </p:cxnSp>
            <p:cxnSp>
              <p:nvCxnSpPr>
                <p:cNvPr id="57354" name="直接连接符 9"/>
                <p:cNvCxnSpPr>
                  <a:stCxn id="57352" idx="5"/>
                  <a:endCxn id="57351" idx="1"/>
                </p:cNvCxnSpPr>
                <p:nvPr/>
              </p:nvCxnSpPr>
              <p:spPr>
                <a:xfrm rot="-5400000" flipH="1">
                  <a:off x="6837092" y="2050754"/>
                  <a:ext cx="613352" cy="470476"/>
                </a:xfrm>
                <a:prstGeom prst="line">
                  <a:avLst/>
                </a:prstGeom>
                <a:ln w="9525" cap="flat" cmpd="sng">
                  <a:solidFill>
                    <a:schemeClr val="tx1"/>
                  </a:solidFill>
                  <a:prstDash val="solid"/>
                  <a:round/>
                  <a:headEnd type="none" w="med" len="med"/>
                  <a:tailEnd type="none" w="med" len="med"/>
                </a:ln>
              </p:spPr>
            </p:cxnSp>
            <p:sp>
              <p:nvSpPr>
                <p:cNvPr id="57355" name="矩形 12"/>
                <p:cNvSpPr/>
                <p:nvPr/>
              </p:nvSpPr>
              <p:spPr>
                <a:xfrm>
                  <a:off x="6929454" y="1500174"/>
                  <a:ext cx="332142"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endParaRPr lang="zh-CN" altLang="en-US" sz="2600">
                    <a:latin typeface="Tahoma" panose="020B0604030504040204" pitchFamily="34" charset="0"/>
                    <a:ea typeface="宋体" panose="02010600030101010101" pitchFamily="2" charset="-122"/>
                  </a:endParaRPr>
                </a:p>
              </p:txBody>
            </p:sp>
          </p:grpSp>
          <p:sp>
            <p:nvSpPr>
              <p:cNvPr id="57356" name="矩形 15"/>
              <p:cNvSpPr/>
              <p:nvPr/>
            </p:nvSpPr>
            <p:spPr>
              <a:xfrm>
                <a:off x="6858023" y="2428877"/>
                <a:ext cx="590226"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baseline="-35000">
                    <a:solidFill>
                      <a:schemeClr val="folHlink"/>
                    </a:solidFill>
                    <a:latin typeface="Times New Roman" panose="02020603050405020304" pitchFamily="18" charset="0"/>
                    <a:ea typeface="黑体" panose="02010609060101010101" pitchFamily="49" charset="-122"/>
                  </a:rPr>
                  <a:t>1</a:t>
                </a:r>
                <a:endParaRPr lang="zh-CN" altLang="en-US" sz="2600" baseline="-35000">
                  <a:latin typeface="Tahoma" panose="020B0604030504040204" pitchFamily="34" charset="0"/>
                  <a:ea typeface="宋体" panose="02010600030101010101" pitchFamily="2" charset="-122"/>
                </a:endParaRPr>
              </a:p>
            </p:txBody>
          </p:sp>
        </p:grpSp>
        <p:sp>
          <p:nvSpPr>
            <p:cNvPr id="57357" name="椭圆 29"/>
            <p:cNvSpPr/>
            <p:nvPr/>
          </p:nvSpPr>
          <p:spPr>
            <a:xfrm>
              <a:off x="214282" y="2571744"/>
              <a:ext cx="3000375" cy="3357585"/>
            </a:xfrm>
            <a:prstGeom prst="ellipse">
              <a:avLst/>
            </a:prstGeom>
            <a:no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358" name="TextBox 31"/>
            <p:cNvSpPr txBox="1"/>
            <p:nvPr/>
          </p:nvSpPr>
          <p:spPr>
            <a:xfrm>
              <a:off x="2000232" y="2857496"/>
              <a:ext cx="407481" cy="492440"/>
            </a:xfrm>
            <a:prstGeom prst="rect">
              <a:avLst/>
            </a:prstGeom>
            <a:noFill/>
            <a:ln w="9525">
              <a:noFill/>
            </a:ln>
          </p:spPr>
          <p:txBody>
            <a:bodyPr wrap="none" anchor="t" anchorCtr="0">
              <a:spAutoFit/>
            </a:bodyPr>
            <a:p>
              <a:pPr>
                <a:buSzTx/>
              </a:pPr>
              <a:r>
                <a:rPr lang="en-US" altLang="zh-CN" sz="2600">
                  <a:latin typeface="Times New Roman" panose="02020603050405020304" pitchFamily="18" charset="0"/>
                  <a:ea typeface="宋体" panose="02010600030101010101" pitchFamily="2" charset="-122"/>
                </a:rPr>
                <a:t>T</a:t>
              </a:r>
              <a:endParaRPr lang="zh-CN" altLang="en-US" sz="2600">
                <a:latin typeface="Times New Roman" panose="02020603050405020304" pitchFamily="18" charset="0"/>
                <a:ea typeface="宋体" panose="02010600030101010101" pitchFamily="2" charset="-122"/>
              </a:endParaRPr>
            </a:p>
          </p:txBody>
        </p:sp>
        <p:sp>
          <p:nvSpPr>
            <p:cNvPr id="57359" name="矩形 15"/>
            <p:cNvSpPr/>
            <p:nvPr/>
          </p:nvSpPr>
          <p:spPr>
            <a:xfrm>
              <a:off x="2124369" y="5000653"/>
              <a:ext cx="590222" cy="492440"/>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baseline="-35000">
                  <a:solidFill>
                    <a:schemeClr val="folHlink"/>
                  </a:solidFill>
                  <a:latin typeface="Times New Roman" panose="02020603050405020304" pitchFamily="18" charset="0"/>
                  <a:ea typeface="黑体" panose="02010609060101010101" pitchFamily="49" charset="-122"/>
                </a:rPr>
                <a:t>2</a:t>
              </a:r>
              <a:endParaRPr lang="zh-CN" altLang="en-US" sz="2600" baseline="-35000">
                <a:latin typeface="Tahoma" panose="020B0604030504040204" pitchFamily="34" charset="0"/>
                <a:ea typeface="宋体" panose="02010600030101010101" pitchFamily="2" charset="-122"/>
              </a:endParaRPr>
            </a:p>
          </p:txBody>
        </p:sp>
        <p:sp>
          <p:nvSpPr>
            <p:cNvPr id="57360" name="椭圆 5"/>
            <p:cNvSpPr/>
            <p:nvPr/>
          </p:nvSpPr>
          <p:spPr>
            <a:xfrm>
              <a:off x="1785918" y="2928935"/>
              <a:ext cx="142875" cy="142875"/>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57361" name="直接连接符 23"/>
            <p:cNvCxnSpPr>
              <a:stCxn id="57352" idx="5"/>
              <a:endCxn id="57351" idx="1"/>
            </p:cNvCxnSpPr>
            <p:nvPr/>
          </p:nvCxnSpPr>
          <p:spPr>
            <a:xfrm rot="5400000">
              <a:off x="1219997" y="3648910"/>
              <a:ext cx="1214461" cy="60252"/>
            </a:xfrm>
            <a:prstGeom prst="line">
              <a:avLst/>
            </a:prstGeom>
            <a:ln w="9525" cap="flat" cmpd="sng">
              <a:solidFill>
                <a:schemeClr val="tx1"/>
              </a:solidFill>
              <a:prstDash val="dash"/>
              <a:round/>
              <a:headEnd type="none" w="med" len="med"/>
              <a:tailEnd type="none" w="med" len="med"/>
            </a:ln>
          </p:spPr>
        </p:cxnSp>
        <p:cxnSp>
          <p:nvCxnSpPr>
            <p:cNvPr id="57362" name="直接连接符 25"/>
            <p:cNvCxnSpPr>
              <a:stCxn id="57352" idx="5"/>
              <a:endCxn id="57351" idx="1"/>
            </p:cNvCxnSpPr>
            <p:nvPr/>
          </p:nvCxnSpPr>
          <p:spPr>
            <a:xfrm>
              <a:off x="1071538" y="3000372"/>
              <a:ext cx="571504" cy="1588"/>
            </a:xfrm>
            <a:prstGeom prst="line">
              <a:avLst/>
            </a:prstGeom>
            <a:ln w="9525" cap="flat" cmpd="sng">
              <a:solidFill>
                <a:schemeClr val="tx1"/>
              </a:solidFill>
              <a:prstDash val="solid"/>
              <a:round/>
              <a:headEnd type="none" w="med" len="med"/>
              <a:tailEnd type="none" w="med" len="med"/>
            </a:ln>
          </p:spPr>
        </p:cxnSp>
        <p:cxnSp>
          <p:nvCxnSpPr>
            <p:cNvPr id="57363" name="直接连接符 29"/>
            <p:cNvCxnSpPr>
              <a:stCxn id="57352" idx="5"/>
              <a:endCxn id="57351" idx="1"/>
            </p:cNvCxnSpPr>
            <p:nvPr/>
          </p:nvCxnSpPr>
          <p:spPr>
            <a:xfrm>
              <a:off x="857224" y="5000636"/>
              <a:ext cx="509402" cy="19"/>
            </a:xfrm>
            <a:prstGeom prst="line">
              <a:avLst/>
            </a:prstGeom>
            <a:ln w="9525" cap="flat" cmpd="sng">
              <a:solidFill>
                <a:schemeClr val="tx1"/>
              </a:solidFill>
              <a:prstDash val="solid"/>
              <a:round/>
              <a:headEnd type="none" w="med" len="med"/>
              <a:tailEnd type="none" w="med" len="med"/>
            </a:ln>
          </p:spPr>
        </p:cxnSp>
        <p:cxnSp>
          <p:nvCxnSpPr>
            <p:cNvPr id="57364" name="直接连接符 32"/>
            <p:cNvCxnSpPr>
              <a:stCxn id="57352" idx="5"/>
              <a:endCxn id="57351" idx="1"/>
            </p:cNvCxnSpPr>
            <p:nvPr/>
          </p:nvCxnSpPr>
          <p:spPr>
            <a:xfrm rot="5400000">
              <a:off x="213488" y="4000504"/>
              <a:ext cx="2001058" cy="794"/>
            </a:xfrm>
            <a:prstGeom prst="line">
              <a:avLst/>
            </a:prstGeom>
            <a:ln w="9525" cap="flat" cmpd="sng">
              <a:solidFill>
                <a:schemeClr val="tx1"/>
              </a:solidFill>
              <a:prstDash val="solid"/>
              <a:round/>
              <a:headEnd type="none" w="med" len="med"/>
              <a:tailEnd type="none" w="med" len="med"/>
            </a:ln>
          </p:spPr>
        </p:cxnSp>
        <p:sp>
          <p:nvSpPr>
            <p:cNvPr id="57365" name="TextBox 34"/>
            <p:cNvSpPr txBox="1"/>
            <p:nvPr/>
          </p:nvSpPr>
          <p:spPr>
            <a:xfrm>
              <a:off x="214241" y="3681725"/>
              <a:ext cx="920445" cy="461665"/>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L(</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endParaRPr lang="zh-CN" altLang="en-US" sz="2400">
                <a:latin typeface="Times New Roman" panose="02020603050405020304" pitchFamily="18" charset="0"/>
                <a:ea typeface="宋体" panose="02010600030101010101" pitchFamily="2" charset="-122"/>
              </a:endParaRPr>
            </a:p>
          </p:txBody>
        </p:sp>
      </p:grpSp>
      <p:grpSp>
        <p:nvGrpSpPr>
          <p:cNvPr id="57366" name="组合 59"/>
          <p:cNvGrpSpPr/>
          <p:nvPr/>
        </p:nvGrpSpPr>
        <p:grpSpPr>
          <a:xfrm>
            <a:off x="2143125" y="1357313"/>
            <a:ext cx="2357438" cy="3000375"/>
            <a:chOff x="3807613" y="2214555"/>
            <a:chExt cx="2907527" cy="3000395"/>
          </a:xfrm>
        </p:grpSpPr>
        <p:grpSp>
          <p:nvGrpSpPr>
            <p:cNvPr id="57367" name="组合 13"/>
            <p:cNvGrpSpPr/>
            <p:nvPr/>
          </p:nvGrpSpPr>
          <p:grpSpPr>
            <a:xfrm>
              <a:off x="5668621" y="4071960"/>
              <a:ext cx="475015" cy="500062"/>
              <a:chOff x="6786578" y="1500174"/>
              <a:chExt cx="475018" cy="500066"/>
            </a:xfrm>
          </p:grpSpPr>
          <p:sp>
            <p:nvSpPr>
              <p:cNvPr id="57368" name="椭圆 5"/>
              <p:cNvSpPr/>
              <p:nvPr/>
            </p:nvSpPr>
            <p:spPr>
              <a:xfrm>
                <a:off x="6786578" y="185736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369" name="矩形 12"/>
              <p:cNvSpPr/>
              <p:nvPr/>
            </p:nvSpPr>
            <p:spPr>
              <a:xfrm>
                <a:off x="6929454" y="1500174"/>
                <a:ext cx="332142"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endParaRPr lang="zh-CN" altLang="en-US" sz="2600">
                  <a:latin typeface="Tahoma" panose="020B0604030504040204" pitchFamily="34" charset="0"/>
                  <a:ea typeface="宋体" panose="02010600030101010101" pitchFamily="2" charset="-122"/>
                </a:endParaRPr>
              </a:p>
            </p:txBody>
          </p:sp>
        </p:grpSp>
        <p:sp>
          <p:nvSpPr>
            <p:cNvPr id="57370" name="椭圆 29"/>
            <p:cNvSpPr/>
            <p:nvPr/>
          </p:nvSpPr>
          <p:spPr>
            <a:xfrm>
              <a:off x="4143393" y="2214555"/>
              <a:ext cx="2571747" cy="3000395"/>
            </a:xfrm>
            <a:prstGeom prst="ellipse">
              <a:avLst/>
            </a:prstGeom>
            <a:no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371" name="TextBox 31"/>
            <p:cNvSpPr txBox="1"/>
            <p:nvPr/>
          </p:nvSpPr>
          <p:spPr>
            <a:xfrm>
              <a:off x="5857567" y="2500307"/>
              <a:ext cx="516894" cy="492128"/>
            </a:xfrm>
            <a:prstGeom prst="rect">
              <a:avLst/>
            </a:prstGeom>
            <a:noFill/>
            <a:ln w="9525">
              <a:noFill/>
            </a:ln>
          </p:spPr>
          <p:txBody>
            <a:bodyPr wrap="none" anchor="t" anchorCtr="0">
              <a:spAutoFit/>
            </a:bodyPr>
            <a:p>
              <a:pPr>
                <a:buSzTx/>
              </a:pPr>
              <a:r>
                <a:rPr lang="en-US" altLang="zh-CN" sz="2600">
                  <a:latin typeface="Times New Roman" panose="02020603050405020304" pitchFamily="18" charset="0"/>
                  <a:ea typeface="宋体" panose="02010600030101010101" pitchFamily="2" charset="-122"/>
                </a:rPr>
                <a:t>T</a:t>
              </a:r>
              <a:r>
                <a:rPr lang="en-US" altLang="zh-CN" sz="2600">
                  <a:latin typeface="Tahoma" panose="020B0604030504040204" pitchFamily="34" charset="0"/>
                  <a:ea typeface="宋体" panose="02010600030101010101" pitchFamily="2" charset="-122"/>
                </a:rPr>
                <a:t>’</a:t>
              </a:r>
              <a:endParaRPr lang="zh-CN" altLang="en-US" sz="2600">
                <a:latin typeface="Tahoma" panose="020B0604030504040204" pitchFamily="34" charset="0"/>
                <a:ea typeface="宋体" panose="02010600030101010101" pitchFamily="2" charset="-122"/>
              </a:endParaRPr>
            </a:p>
          </p:txBody>
        </p:sp>
        <p:sp>
          <p:nvSpPr>
            <p:cNvPr id="57372" name="椭圆 5"/>
            <p:cNvSpPr/>
            <p:nvPr/>
          </p:nvSpPr>
          <p:spPr>
            <a:xfrm>
              <a:off x="5728868" y="2643183"/>
              <a:ext cx="142875" cy="142875"/>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57373" name="直接连接符 49"/>
            <p:cNvCxnSpPr>
              <a:stCxn id="57352" idx="5"/>
              <a:endCxn id="57351" idx="1"/>
            </p:cNvCxnSpPr>
            <p:nvPr/>
          </p:nvCxnSpPr>
          <p:spPr>
            <a:xfrm rot="5400000">
              <a:off x="4938171" y="3580873"/>
              <a:ext cx="1650158" cy="46392"/>
            </a:xfrm>
            <a:prstGeom prst="line">
              <a:avLst/>
            </a:prstGeom>
            <a:ln w="9525" cap="flat" cmpd="sng">
              <a:solidFill>
                <a:schemeClr val="tx1"/>
              </a:solidFill>
              <a:prstDash val="dash"/>
              <a:round/>
              <a:headEnd type="none" w="med" len="med"/>
              <a:tailEnd type="none" w="med" len="med"/>
            </a:ln>
          </p:spPr>
        </p:cxnSp>
        <p:cxnSp>
          <p:nvCxnSpPr>
            <p:cNvPr id="57374" name="直接连接符 50"/>
            <p:cNvCxnSpPr>
              <a:stCxn id="57352" idx="5"/>
              <a:endCxn id="57351" idx="1"/>
            </p:cNvCxnSpPr>
            <p:nvPr/>
          </p:nvCxnSpPr>
          <p:spPr>
            <a:xfrm>
              <a:off x="5014488" y="2714620"/>
              <a:ext cx="571504" cy="1588"/>
            </a:xfrm>
            <a:prstGeom prst="line">
              <a:avLst/>
            </a:prstGeom>
            <a:ln w="9525" cap="flat" cmpd="sng">
              <a:solidFill>
                <a:schemeClr val="tx1"/>
              </a:solidFill>
              <a:prstDash val="solid"/>
              <a:round/>
              <a:headEnd type="none" w="med" len="med"/>
              <a:tailEnd type="none" w="med" len="med"/>
            </a:ln>
          </p:spPr>
        </p:cxnSp>
        <p:cxnSp>
          <p:nvCxnSpPr>
            <p:cNvPr id="57375" name="直接连接符 51"/>
            <p:cNvCxnSpPr>
              <a:stCxn id="57352" idx="5"/>
              <a:endCxn id="57351" idx="1"/>
            </p:cNvCxnSpPr>
            <p:nvPr/>
          </p:nvCxnSpPr>
          <p:spPr>
            <a:xfrm>
              <a:off x="5076590" y="4500570"/>
              <a:ext cx="509402" cy="19"/>
            </a:xfrm>
            <a:prstGeom prst="line">
              <a:avLst/>
            </a:prstGeom>
            <a:ln w="9525" cap="flat" cmpd="sng">
              <a:solidFill>
                <a:schemeClr val="tx1"/>
              </a:solidFill>
              <a:prstDash val="solid"/>
              <a:round/>
              <a:headEnd type="none" w="med" len="med"/>
              <a:tailEnd type="none" w="med" len="med"/>
            </a:ln>
          </p:spPr>
        </p:cxnSp>
        <p:cxnSp>
          <p:nvCxnSpPr>
            <p:cNvPr id="57376" name="直接连接符 52"/>
            <p:cNvCxnSpPr>
              <a:stCxn id="57352" idx="5"/>
              <a:endCxn id="57351" idx="1"/>
            </p:cNvCxnSpPr>
            <p:nvPr/>
          </p:nvCxnSpPr>
          <p:spPr>
            <a:xfrm rot="-5400000" flipH="1">
              <a:off x="4257254" y="3600865"/>
              <a:ext cx="1785949" cy="13454"/>
            </a:xfrm>
            <a:prstGeom prst="line">
              <a:avLst/>
            </a:prstGeom>
            <a:ln w="9525" cap="flat" cmpd="sng">
              <a:solidFill>
                <a:schemeClr val="tx1"/>
              </a:solidFill>
              <a:prstDash val="solid"/>
              <a:round/>
              <a:headEnd type="none" w="med" len="med"/>
              <a:tailEnd type="none" w="med" len="med"/>
            </a:ln>
          </p:spPr>
        </p:cxnSp>
        <p:sp>
          <p:nvSpPr>
            <p:cNvPr id="57377" name="TextBox 53"/>
            <p:cNvSpPr txBox="1"/>
            <p:nvPr/>
          </p:nvSpPr>
          <p:spPr>
            <a:xfrm>
              <a:off x="3807613" y="3571877"/>
              <a:ext cx="1159292" cy="461665"/>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L(</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)-1</a:t>
              </a:r>
              <a:endParaRPr lang="zh-CN" altLang="en-US" sz="2400">
                <a:latin typeface="Times New Roman" panose="02020603050405020304" pitchFamily="18" charset="0"/>
                <a:ea typeface="宋体" panose="02010600030101010101" pitchFamily="2" charset="-122"/>
              </a:endParaRPr>
            </a:p>
          </p:txBody>
        </p:sp>
        <p:sp>
          <p:nvSpPr>
            <p:cNvPr id="57378" name="TextBox 55"/>
            <p:cNvSpPr txBox="1"/>
            <p:nvPr/>
          </p:nvSpPr>
          <p:spPr>
            <a:xfrm>
              <a:off x="5198658" y="4467533"/>
              <a:ext cx="1051891"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 w</a:t>
              </a:r>
              <a:r>
                <a:rPr lang="en-US" altLang="zh-CN" sz="2400" baseline="-25000">
                  <a:latin typeface="Times New Roman" panose="02020603050405020304" pitchFamily="18" charset="0"/>
                  <a:ea typeface="宋体" panose="02010600030101010101" pitchFamily="2" charset="-122"/>
                </a:rPr>
                <a:t>2</a:t>
              </a:r>
              <a:endParaRPr lang="zh-CN" altLang="en-US" sz="2400">
                <a:latin typeface="Times New Roman" panose="02020603050405020304" pitchFamily="18" charset="0"/>
                <a:ea typeface="宋体" panose="02010600030101010101" pitchFamily="2" charset="-122"/>
              </a:endParaRPr>
            </a:p>
          </p:txBody>
        </p:sp>
      </p:grpSp>
      <p:sp>
        <p:nvSpPr>
          <p:cNvPr id="57379" name="TextBox 35"/>
          <p:cNvSpPr txBox="1"/>
          <p:nvPr/>
        </p:nvSpPr>
        <p:spPr>
          <a:xfrm>
            <a:off x="571500" y="5286375"/>
            <a:ext cx="3857625" cy="461963"/>
          </a:xfrm>
          <a:prstGeom prst="rect">
            <a:avLst/>
          </a:prstGeom>
          <a:noFill/>
          <a:ln w="9525">
            <a:noFill/>
          </a:ln>
        </p:spPr>
        <p:txBody>
          <a:bodyPr anchor="t" anchorCtr="0">
            <a:spAutoFit/>
          </a:bodyPr>
          <a:p>
            <a:pPr>
              <a:buSzTx/>
            </a:pPr>
            <a:r>
              <a:rPr lang="en-US" altLang="zh-CN" sz="2400" i="1">
                <a:latin typeface="Times New Roman" panose="02020603050405020304" pitchFamily="18" charset="0"/>
                <a:ea typeface="宋体" panose="02010600030101010101" pitchFamily="2" charset="-122"/>
              </a:rPr>
              <a:t>W</a:t>
            </a:r>
            <a:r>
              <a:rPr lang="en-US" altLang="zh-CN" sz="2400">
                <a:latin typeface="Times New Roman" panose="02020603050405020304" pitchFamily="18" charset="0"/>
                <a:ea typeface="宋体" panose="02010600030101010101" pitchFamily="2" charset="-122"/>
              </a:rPr>
              <a:t>(T)=</a:t>
            </a:r>
            <a:r>
              <a:rPr lang="en-US" altLang="zh-CN" sz="2400" i="1">
                <a:latin typeface="Times New Roman" panose="02020603050405020304" pitchFamily="18" charset="0"/>
                <a:ea typeface="宋体" panose="02010600030101010101" pitchFamily="2" charset="-122"/>
              </a:rPr>
              <a:t>W</a:t>
            </a:r>
            <a:r>
              <a:rPr lang="en-US" altLang="zh-CN" sz="2400">
                <a:latin typeface="Times New Roman" panose="02020603050405020304" pitchFamily="18" charset="0"/>
                <a:ea typeface="宋体" panose="02010600030101010101" pitchFamily="2" charset="-122"/>
              </a:rPr>
              <a:t>(T</a:t>
            </a:r>
            <a:r>
              <a:rPr lang="en-US" altLang="zh-CN" sz="2400">
                <a:latin typeface="Tahoma" panose="020B0604030504040204" pitchFamily="34"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2</a:t>
            </a:r>
            <a:endParaRPr lang="en-US" altLang="zh-CN" sz="2400" baseline="-25000">
              <a:latin typeface="Times New Roman" panose="02020603050405020304" pitchFamily="18" charset="0"/>
              <a:ea typeface="宋体" panose="02010600030101010101" pitchFamily="2" charset="-122"/>
            </a:endParaRPr>
          </a:p>
        </p:txBody>
      </p:sp>
      <p:sp>
        <p:nvSpPr>
          <p:cNvPr id="57380" name="矩形 36"/>
          <p:cNvSpPr/>
          <p:nvPr/>
        </p:nvSpPr>
        <p:spPr>
          <a:xfrm>
            <a:off x="0" y="4681538"/>
            <a:ext cx="4090988" cy="461962"/>
          </a:xfrm>
          <a:prstGeom prst="rect">
            <a:avLst/>
          </a:prstGeom>
          <a:noFill/>
          <a:ln w="9525">
            <a:noFill/>
          </a:ln>
        </p:spPr>
        <p:txBody>
          <a:bodyPr wrap="none" anchor="t" anchorCtr="0">
            <a:spAutoFit/>
          </a:bodyPr>
          <a:p>
            <a:pPr>
              <a:buSzTx/>
            </a:pPr>
            <a:r>
              <a:rPr lang="zh-CN" altLang="en-US" sz="2400">
                <a:latin typeface="Times New Roman" panose="02020603050405020304" pitchFamily="18" charset="0"/>
                <a:ea typeface="宋体" panose="02010600030101010101" pitchFamily="2" charset="-122"/>
              </a:rPr>
              <a:t>带权</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2</a:t>
            </a:r>
            <a:r>
              <a:rPr lang="en-US" altLang="zh-CN" sz="2400">
                <a:latin typeface="Times New Roman" panose="02020603050405020304" pitchFamily="18" charset="0"/>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w</a:t>
            </a:r>
            <a:r>
              <a:rPr lang="en-US" altLang="zh-CN" sz="2400" i="1" baseline="-25000">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 </a:t>
            </a:r>
            <a:r>
              <a:rPr lang="zh-CN" altLang="en-US" sz="2400">
                <a:latin typeface="Times New Roman" panose="02020603050405020304" pitchFamily="18" charset="0"/>
                <a:ea typeface="宋体" panose="02010600030101010101" pitchFamily="2" charset="-122"/>
              </a:rPr>
              <a:t>的最优树</a:t>
            </a:r>
            <a:r>
              <a:rPr lang="en-US" altLang="zh-CN" sz="2400">
                <a:latin typeface="Times New Roman" panose="02020603050405020304" pitchFamily="18" charset="0"/>
                <a:ea typeface="宋体" panose="02010600030101010101" pitchFamily="2" charset="-122"/>
              </a:rPr>
              <a:t>T</a:t>
            </a:r>
            <a:endParaRPr lang="zh-CN" altLang="en-US" sz="2400">
              <a:latin typeface="Times New Roman" panose="02020603050405020304" pitchFamily="18" charset="0"/>
              <a:ea typeface="宋体" panose="02010600030101010101" pitchFamily="2" charset="-122"/>
            </a:endParaRPr>
          </a:p>
        </p:txBody>
      </p:sp>
      <p:sp>
        <p:nvSpPr>
          <p:cNvPr id="57381" name="矩形 37"/>
          <p:cNvSpPr/>
          <p:nvPr/>
        </p:nvSpPr>
        <p:spPr>
          <a:xfrm>
            <a:off x="5000625" y="4500563"/>
            <a:ext cx="4025900" cy="461962"/>
          </a:xfrm>
          <a:prstGeom prst="rect">
            <a:avLst/>
          </a:prstGeom>
          <a:noFill/>
          <a:ln w="9525">
            <a:noFill/>
          </a:ln>
        </p:spPr>
        <p:txBody>
          <a:bodyPr wrap="none" anchor="t" anchorCtr="0">
            <a:spAutoFit/>
          </a:bodyPr>
          <a:p>
            <a:pPr>
              <a:buSzTx/>
            </a:pPr>
            <a:r>
              <a:rPr lang="zh-CN" altLang="en-US" sz="2400">
                <a:latin typeface="Times New Roman" panose="02020603050405020304" pitchFamily="18" charset="0"/>
                <a:ea typeface="宋体" panose="02010600030101010101" pitchFamily="2" charset="-122"/>
              </a:rPr>
              <a:t>带权</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2</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i="1" baseline="-25000">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 </a:t>
            </a:r>
            <a:r>
              <a:rPr lang="zh-CN" altLang="en-US" sz="2400">
                <a:latin typeface="Times New Roman" panose="02020603050405020304" pitchFamily="18" charset="0"/>
                <a:ea typeface="宋体" panose="02010600030101010101" pitchFamily="2" charset="-122"/>
              </a:rPr>
              <a:t>的最优树</a:t>
            </a:r>
            <a:r>
              <a:rPr lang="en-US" altLang="zh-CN" sz="2400">
                <a:latin typeface="Times New Roman" panose="02020603050405020304" pitchFamily="18" charset="0"/>
                <a:ea typeface="宋体" panose="02010600030101010101" pitchFamily="2" charset="-122"/>
              </a:rPr>
              <a:t>T</a:t>
            </a:r>
            <a:r>
              <a:rPr lang="en-US" altLang="zh-CN" sz="2400">
                <a:latin typeface="Tahoma" panose="020B0604030504040204" pitchFamily="34" charset="0"/>
                <a:ea typeface="宋体" panose="02010600030101010101" pitchFamily="2" charset="-122"/>
              </a:rPr>
              <a:t>’’</a:t>
            </a:r>
            <a:endParaRPr lang="zh-CN" altLang="en-US" sz="2400">
              <a:latin typeface="Tahoma" panose="020B0604030504040204" pitchFamily="34" charset="0"/>
              <a:ea typeface="宋体" panose="02010600030101010101" pitchFamily="2" charset="-122"/>
            </a:endParaRPr>
          </a:p>
        </p:txBody>
      </p:sp>
      <p:grpSp>
        <p:nvGrpSpPr>
          <p:cNvPr id="57382" name="组合 96"/>
          <p:cNvGrpSpPr/>
          <p:nvPr/>
        </p:nvGrpSpPr>
        <p:grpSpPr>
          <a:xfrm>
            <a:off x="4572000" y="1357313"/>
            <a:ext cx="2214563" cy="3000375"/>
            <a:chOff x="4572000" y="1357298"/>
            <a:chExt cx="2214577" cy="3000375"/>
          </a:xfrm>
        </p:grpSpPr>
        <p:grpSp>
          <p:nvGrpSpPr>
            <p:cNvPr id="57383" name="组合 92"/>
            <p:cNvGrpSpPr/>
            <p:nvPr/>
          </p:nvGrpSpPr>
          <p:grpSpPr>
            <a:xfrm>
              <a:off x="4572000" y="1357298"/>
              <a:ext cx="2214577" cy="3000375"/>
              <a:chOff x="5214942" y="1357298"/>
              <a:chExt cx="2214577" cy="3000375"/>
            </a:xfrm>
          </p:grpSpPr>
          <p:sp>
            <p:nvSpPr>
              <p:cNvPr id="57384" name="TextBox 31"/>
              <p:cNvSpPr txBox="1"/>
              <p:nvPr/>
            </p:nvSpPr>
            <p:spPr>
              <a:xfrm>
                <a:off x="6786577" y="1928798"/>
                <a:ext cx="422278" cy="492125"/>
              </a:xfrm>
              <a:prstGeom prst="rect">
                <a:avLst/>
              </a:prstGeom>
              <a:noFill/>
              <a:ln w="9525">
                <a:noFill/>
              </a:ln>
            </p:spPr>
            <p:txBody>
              <a:bodyPr wrap="none" anchor="t" anchorCtr="0">
                <a:spAutoFit/>
              </a:bodyPr>
              <a:p>
                <a:pPr>
                  <a:buSzTx/>
                </a:pPr>
                <a:r>
                  <a:rPr lang="en-US" altLang="zh-CN" sz="2600">
                    <a:latin typeface="Times New Roman" panose="02020603050405020304" pitchFamily="18" charset="0"/>
                    <a:ea typeface="宋体" panose="02010600030101010101" pitchFamily="2" charset="-122"/>
                  </a:rPr>
                  <a:t>T</a:t>
                </a:r>
                <a:r>
                  <a:rPr lang="en-US" altLang="zh-CN" sz="2600">
                    <a:latin typeface="Tahoma" panose="020B0604030504040204" pitchFamily="34" charset="0"/>
                    <a:ea typeface="宋体" panose="02010600030101010101" pitchFamily="2" charset="-122"/>
                  </a:rPr>
                  <a:t>’’</a:t>
                </a:r>
                <a:endParaRPr lang="zh-CN" altLang="en-US" sz="2600">
                  <a:latin typeface="Tahoma" panose="020B0604030504040204" pitchFamily="34" charset="0"/>
                  <a:ea typeface="宋体" panose="02010600030101010101" pitchFamily="2" charset="-122"/>
                </a:endParaRPr>
              </a:p>
            </p:txBody>
          </p:sp>
          <p:grpSp>
            <p:nvGrpSpPr>
              <p:cNvPr id="57385" name="组合 59"/>
              <p:cNvGrpSpPr/>
              <p:nvPr/>
            </p:nvGrpSpPr>
            <p:grpSpPr>
              <a:xfrm>
                <a:off x="5214942" y="1357298"/>
                <a:ext cx="2214577" cy="3000375"/>
                <a:chOff x="3788755" y="2214555"/>
                <a:chExt cx="2926385" cy="3000395"/>
              </a:xfrm>
            </p:grpSpPr>
            <p:sp>
              <p:nvSpPr>
                <p:cNvPr id="57386" name="椭圆 5"/>
                <p:cNvSpPr/>
                <p:nvPr/>
              </p:nvSpPr>
              <p:spPr>
                <a:xfrm>
                  <a:off x="5668621" y="4429152"/>
                  <a:ext cx="142875" cy="142875"/>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387" name="椭圆 29"/>
                <p:cNvSpPr/>
                <p:nvPr/>
              </p:nvSpPr>
              <p:spPr>
                <a:xfrm>
                  <a:off x="4143393" y="2214555"/>
                  <a:ext cx="2571747" cy="3000395"/>
                </a:xfrm>
                <a:prstGeom prst="ellipse">
                  <a:avLst/>
                </a:prstGeom>
                <a:no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388" name="椭圆 5"/>
                <p:cNvSpPr/>
                <p:nvPr/>
              </p:nvSpPr>
              <p:spPr>
                <a:xfrm>
                  <a:off x="5728868" y="2643183"/>
                  <a:ext cx="142875" cy="142875"/>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57389" name="直接连接符 49"/>
                <p:cNvCxnSpPr>
                  <a:stCxn id="57352" idx="5"/>
                  <a:endCxn id="57351" idx="1"/>
                </p:cNvCxnSpPr>
                <p:nvPr/>
              </p:nvCxnSpPr>
              <p:spPr>
                <a:xfrm rot="5400000">
                  <a:off x="4938171" y="3580873"/>
                  <a:ext cx="1650158" cy="46392"/>
                </a:xfrm>
                <a:prstGeom prst="line">
                  <a:avLst/>
                </a:prstGeom>
                <a:ln w="9525" cap="flat" cmpd="sng">
                  <a:solidFill>
                    <a:schemeClr val="tx1"/>
                  </a:solidFill>
                  <a:prstDash val="dash"/>
                  <a:round/>
                  <a:headEnd type="none" w="med" len="med"/>
                  <a:tailEnd type="none" w="med" len="med"/>
                </a:ln>
              </p:spPr>
            </p:cxnSp>
            <p:cxnSp>
              <p:nvCxnSpPr>
                <p:cNvPr id="57390" name="直接连接符 50"/>
                <p:cNvCxnSpPr>
                  <a:stCxn id="57352" idx="5"/>
                  <a:endCxn id="57351" idx="1"/>
                </p:cNvCxnSpPr>
                <p:nvPr/>
              </p:nvCxnSpPr>
              <p:spPr>
                <a:xfrm>
                  <a:off x="5014488" y="2714620"/>
                  <a:ext cx="571504" cy="1588"/>
                </a:xfrm>
                <a:prstGeom prst="line">
                  <a:avLst/>
                </a:prstGeom>
                <a:ln w="9525" cap="flat" cmpd="sng">
                  <a:solidFill>
                    <a:schemeClr val="tx1"/>
                  </a:solidFill>
                  <a:prstDash val="solid"/>
                  <a:round/>
                  <a:headEnd type="none" w="med" len="med"/>
                  <a:tailEnd type="none" w="med" len="med"/>
                </a:ln>
              </p:spPr>
            </p:cxnSp>
            <p:cxnSp>
              <p:nvCxnSpPr>
                <p:cNvPr id="57391" name="直接连接符 51"/>
                <p:cNvCxnSpPr>
                  <a:stCxn id="57352" idx="5"/>
                  <a:endCxn id="57351" idx="1"/>
                </p:cNvCxnSpPr>
                <p:nvPr/>
              </p:nvCxnSpPr>
              <p:spPr>
                <a:xfrm>
                  <a:off x="5076590" y="4500570"/>
                  <a:ext cx="509402" cy="19"/>
                </a:xfrm>
                <a:prstGeom prst="line">
                  <a:avLst/>
                </a:prstGeom>
                <a:ln w="9525" cap="flat" cmpd="sng">
                  <a:solidFill>
                    <a:schemeClr val="tx1"/>
                  </a:solidFill>
                  <a:prstDash val="solid"/>
                  <a:round/>
                  <a:headEnd type="none" w="med" len="med"/>
                  <a:tailEnd type="none" w="med" len="med"/>
                </a:ln>
              </p:spPr>
            </p:cxnSp>
            <p:cxnSp>
              <p:nvCxnSpPr>
                <p:cNvPr id="57392" name="直接连接符 52"/>
                <p:cNvCxnSpPr>
                  <a:stCxn id="57352" idx="5"/>
                  <a:endCxn id="57351" idx="1"/>
                </p:cNvCxnSpPr>
                <p:nvPr/>
              </p:nvCxnSpPr>
              <p:spPr>
                <a:xfrm rot="-5400000" flipH="1">
                  <a:off x="4257254" y="3600865"/>
                  <a:ext cx="1785949" cy="13454"/>
                </a:xfrm>
                <a:prstGeom prst="line">
                  <a:avLst/>
                </a:prstGeom>
                <a:ln w="9525" cap="flat" cmpd="sng">
                  <a:solidFill>
                    <a:schemeClr val="tx1"/>
                  </a:solidFill>
                  <a:prstDash val="solid"/>
                  <a:round/>
                  <a:headEnd type="none" w="med" len="med"/>
                  <a:tailEnd type="none" w="med" len="med"/>
                </a:ln>
              </p:spPr>
            </p:cxnSp>
            <p:sp>
              <p:nvSpPr>
                <p:cNvPr id="57393" name="TextBox 53"/>
                <p:cNvSpPr txBox="1"/>
                <p:nvPr/>
              </p:nvSpPr>
              <p:spPr>
                <a:xfrm>
                  <a:off x="3788755" y="3571877"/>
                  <a:ext cx="1830583" cy="461668"/>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L(</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endParaRPr lang="zh-CN" altLang="en-US" sz="2400">
                    <a:latin typeface="Times New Roman" panose="02020603050405020304" pitchFamily="18" charset="0"/>
                    <a:ea typeface="宋体" panose="02010600030101010101" pitchFamily="2" charset="-122"/>
                  </a:endParaRPr>
                </a:p>
              </p:txBody>
            </p:sp>
            <p:sp>
              <p:nvSpPr>
                <p:cNvPr id="57394" name="TextBox 55"/>
                <p:cNvSpPr txBox="1"/>
                <p:nvPr/>
              </p:nvSpPr>
              <p:spPr>
                <a:xfrm>
                  <a:off x="5198658" y="4467533"/>
                  <a:ext cx="1051891" cy="461665"/>
                </a:xfrm>
                <a:prstGeom prst="rect">
                  <a:avLst/>
                </a:prstGeom>
                <a:noFill/>
                <a:ln w="9525">
                  <a:noFill/>
                </a:ln>
              </p:spPr>
              <p:txBody>
                <a:bodyPr wrap="none" anchor="t" anchorCtr="0">
                  <a:spAutoFit/>
                </a:bodyPr>
                <a:p>
                  <a:pPr>
                    <a:buSzTx/>
                  </a:pP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 w</a:t>
                  </a:r>
                  <a:r>
                    <a:rPr lang="en-US" altLang="zh-CN" sz="2400" baseline="-25000">
                      <a:latin typeface="Times New Roman" panose="02020603050405020304" pitchFamily="18" charset="0"/>
                      <a:ea typeface="宋体" panose="02010600030101010101" pitchFamily="2" charset="-122"/>
                    </a:rPr>
                    <a:t>2</a:t>
                  </a:r>
                  <a:endParaRPr lang="zh-CN" altLang="en-US" sz="2400">
                    <a:latin typeface="Times New Roman" panose="02020603050405020304" pitchFamily="18" charset="0"/>
                    <a:ea typeface="宋体" panose="02010600030101010101" pitchFamily="2" charset="-122"/>
                  </a:endParaRPr>
                </a:p>
              </p:txBody>
            </p:sp>
          </p:grpSp>
        </p:grpSp>
        <p:sp>
          <p:nvSpPr>
            <p:cNvPr id="57395" name="矩形 12"/>
            <p:cNvSpPr/>
            <p:nvPr/>
          </p:nvSpPr>
          <p:spPr>
            <a:xfrm>
              <a:off x="6072198" y="3286124"/>
              <a:ext cx="429347" cy="492443"/>
            </a:xfrm>
            <a:prstGeom prst="rect">
              <a:avLst/>
            </a:prstGeom>
            <a:noFill/>
            <a:ln w="9525">
              <a:noFill/>
            </a:ln>
          </p:spPr>
          <p:txBody>
            <a:bodyPr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u</a:t>
              </a:r>
              <a:endParaRPr lang="zh-CN" altLang="en-US" sz="2600">
                <a:latin typeface="Tahoma" panose="020B0604030504040204" pitchFamily="34" charset="0"/>
                <a:ea typeface="宋体" panose="02010600030101010101" pitchFamily="2" charset="-122"/>
              </a:endParaRPr>
            </a:p>
          </p:txBody>
        </p:sp>
      </p:grpSp>
      <p:grpSp>
        <p:nvGrpSpPr>
          <p:cNvPr id="57396" name="组合 93"/>
          <p:cNvGrpSpPr/>
          <p:nvPr/>
        </p:nvGrpSpPr>
        <p:grpSpPr>
          <a:xfrm>
            <a:off x="6929438" y="1143000"/>
            <a:ext cx="2071687" cy="3357563"/>
            <a:chOff x="7572396" y="1142984"/>
            <a:chExt cx="2071734" cy="3357563"/>
          </a:xfrm>
        </p:grpSpPr>
        <p:grpSp>
          <p:nvGrpSpPr>
            <p:cNvPr id="57397" name="组合 16"/>
            <p:cNvGrpSpPr/>
            <p:nvPr/>
          </p:nvGrpSpPr>
          <p:grpSpPr>
            <a:xfrm>
              <a:off x="8164313" y="2500314"/>
              <a:ext cx="979686" cy="1564000"/>
              <a:chOff x="6858023" y="1357297"/>
              <a:chExt cx="1418833" cy="1564023"/>
            </a:xfrm>
          </p:grpSpPr>
          <p:grpSp>
            <p:nvGrpSpPr>
              <p:cNvPr id="57398" name="组合 13"/>
              <p:cNvGrpSpPr/>
              <p:nvPr/>
            </p:nvGrpSpPr>
            <p:grpSpPr>
              <a:xfrm>
                <a:off x="7083551" y="1357297"/>
                <a:ext cx="1193305" cy="1214447"/>
                <a:chOff x="6357950" y="1500173"/>
                <a:chExt cx="1193305" cy="1214447"/>
              </a:xfrm>
            </p:grpSpPr>
            <p:sp>
              <p:nvSpPr>
                <p:cNvPr id="57399" name="椭圆 3"/>
                <p:cNvSpPr/>
                <p:nvPr/>
              </p:nvSpPr>
              <p:spPr>
                <a:xfrm>
                  <a:off x="6357950" y="257174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400" name="椭圆 4"/>
                <p:cNvSpPr/>
                <p:nvPr/>
              </p:nvSpPr>
              <p:spPr>
                <a:xfrm>
                  <a:off x="7358082" y="257174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401" name="椭圆 5"/>
                <p:cNvSpPr/>
                <p:nvPr/>
              </p:nvSpPr>
              <p:spPr>
                <a:xfrm>
                  <a:off x="6786578" y="1857364"/>
                  <a:ext cx="142876" cy="142876"/>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57402" name="直接连接符 7"/>
                <p:cNvCxnSpPr>
                  <a:stCxn id="57399" idx="1"/>
                  <a:endCxn id="57401" idx="4"/>
                </p:cNvCxnSpPr>
                <p:nvPr/>
              </p:nvCxnSpPr>
              <p:spPr>
                <a:xfrm rot="5400000" flipH="1" flipV="1">
                  <a:off x="6322231" y="2056883"/>
                  <a:ext cx="592428" cy="479142"/>
                </a:xfrm>
                <a:prstGeom prst="line">
                  <a:avLst/>
                </a:prstGeom>
                <a:ln w="9525" cap="flat" cmpd="sng">
                  <a:solidFill>
                    <a:schemeClr val="tx1"/>
                  </a:solidFill>
                  <a:prstDash val="solid"/>
                  <a:round/>
                  <a:headEnd type="none" w="med" len="med"/>
                  <a:tailEnd type="none" w="med" len="med"/>
                </a:ln>
              </p:spPr>
            </p:cxnSp>
            <p:cxnSp>
              <p:nvCxnSpPr>
                <p:cNvPr id="57403" name="直接连接符 9"/>
                <p:cNvCxnSpPr>
                  <a:stCxn id="57401" idx="5"/>
                  <a:endCxn id="57400" idx="1"/>
                </p:cNvCxnSpPr>
                <p:nvPr/>
              </p:nvCxnSpPr>
              <p:spPr>
                <a:xfrm rot="-5400000" flipH="1">
                  <a:off x="6837092" y="2050754"/>
                  <a:ext cx="613352" cy="470476"/>
                </a:xfrm>
                <a:prstGeom prst="line">
                  <a:avLst/>
                </a:prstGeom>
                <a:ln w="9525" cap="flat" cmpd="sng">
                  <a:solidFill>
                    <a:schemeClr val="tx1"/>
                  </a:solidFill>
                  <a:prstDash val="solid"/>
                  <a:round/>
                  <a:headEnd type="none" w="med" len="med"/>
                  <a:tailEnd type="none" w="med" len="med"/>
                </a:ln>
              </p:spPr>
            </p:cxnSp>
            <p:sp>
              <p:nvSpPr>
                <p:cNvPr id="57404" name="矩形 12"/>
                <p:cNvSpPr/>
                <p:nvPr/>
              </p:nvSpPr>
              <p:spPr>
                <a:xfrm>
                  <a:off x="6929452" y="1500173"/>
                  <a:ext cx="621803" cy="492450"/>
                </a:xfrm>
                <a:prstGeom prst="rect">
                  <a:avLst/>
                </a:prstGeom>
                <a:noFill/>
                <a:ln w="9525">
                  <a:noFill/>
                </a:ln>
              </p:spPr>
              <p:txBody>
                <a:bodyPr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u</a:t>
                  </a:r>
                  <a:endParaRPr lang="zh-CN" altLang="en-US" sz="2600">
                    <a:latin typeface="Tahoma" panose="020B0604030504040204" pitchFamily="34" charset="0"/>
                    <a:ea typeface="宋体" panose="02010600030101010101" pitchFamily="2" charset="-122"/>
                  </a:endParaRPr>
                </a:p>
              </p:txBody>
            </p:sp>
          </p:grpSp>
          <p:sp>
            <p:nvSpPr>
              <p:cNvPr id="57405" name="矩形 15"/>
              <p:cNvSpPr/>
              <p:nvPr/>
            </p:nvSpPr>
            <p:spPr>
              <a:xfrm>
                <a:off x="6858023" y="2428877"/>
                <a:ext cx="590226" cy="492443"/>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baseline="-35000">
                    <a:solidFill>
                      <a:schemeClr val="folHlink"/>
                    </a:solidFill>
                    <a:latin typeface="Times New Roman" panose="02020603050405020304" pitchFamily="18" charset="0"/>
                    <a:ea typeface="黑体" panose="02010609060101010101" pitchFamily="49" charset="-122"/>
                  </a:rPr>
                  <a:t>1</a:t>
                </a:r>
                <a:endParaRPr lang="zh-CN" altLang="en-US" sz="2600" baseline="-35000">
                  <a:latin typeface="Tahoma" panose="020B0604030504040204" pitchFamily="34" charset="0"/>
                  <a:ea typeface="宋体" panose="02010600030101010101" pitchFamily="2" charset="-122"/>
                </a:endParaRPr>
              </a:p>
            </p:txBody>
          </p:sp>
        </p:grpSp>
        <p:sp>
          <p:nvSpPr>
            <p:cNvPr id="57406" name="椭圆 29"/>
            <p:cNvSpPr/>
            <p:nvPr/>
          </p:nvSpPr>
          <p:spPr>
            <a:xfrm>
              <a:off x="7572396" y="1142984"/>
              <a:ext cx="2071734" cy="3357563"/>
            </a:xfrm>
            <a:prstGeom prst="ellipse">
              <a:avLst/>
            </a:prstGeom>
            <a:no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sp>
          <p:nvSpPr>
            <p:cNvPr id="57407" name="矩形 15"/>
            <p:cNvSpPr/>
            <p:nvPr/>
          </p:nvSpPr>
          <p:spPr>
            <a:xfrm>
              <a:off x="8891295" y="3571877"/>
              <a:ext cx="407543" cy="492437"/>
            </a:xfrm>
            <a:prstGeom prst="rect">
              <a:avLst/>
            </a:prstGeom>
            <a:noFill/>
            <a:ln w="9525">
              <a:noFill/>
            </a:ln>
          </p:spPr>
          <p:txBody>
            <a:bodyPr wrap="none" anchor="t" anchorCtr="0">
              <a:spAutoFit/>
            </a:bodyPr>
            <a:p>
              <a:pPr>
                <a:buSzTx/>
              </a:pPr>
              <a:r>
                <a:rPr lang="en-US" altLang="zh-CN" sz="2600" i="1">
                  <a:solidFill>
                    <a:schemeClr val="folHlink"/>
                  </a:solidFill>
                  <a:latin typeface="Times New Roman" panose="02020603050405020304" pitchFamily="18" charset="0"/>
                  <a:ea typeface="黑体" panose="02010609060101010101" pitchFamily="49" charset="-122"/>
                </a:rPr>
                <a:t>v</a:t>
              </a:r>
              <a:r>
                <a:rPr lang="en-US" altLang="zh-CN" sz="2600" i="1" baseline="-15000">
                  <a:solidFill>
                    <a:schemeClr val="folHlink"/>
                  </a:solidFill>
                  <a:latin typeface="Times New Roman" panose="02020603050405020304" pitchFamily="18" charset="0"/>
                  <a:ea typeface="黑体" panose="02010609060101010101" pitchFamily="49" charset="-122"/>
                </a:rPr>
                <a:t>w</a:t>
              </a:r>
              <a:r>
                <a:rPr lang="en-US" altLang="zh-CN" sz="2600" baseline="-35000">
                  <a:solidFill>
                    <a:schemeClr val="folHlink"/>
                  </a:solidFill>
                  <a:latin typeface="Times New Roman" panose="02020603050405020304" pitchFamily="18" charset="0"/>
                  <a:ea typeface="黑体" panose="02010609060101010101" pitchFamily="49" charset="-122"/>
                </a:rPr>
                <a:t>2</a:t>
              </a:r>
              <a:endParaRPr lang="zh-CN" altLang="en-US" sz="2600" baseline="-35000">
                <a:latin typeface="Tahoma" panose="020B0604030504040204" pitchFamily="34" charset="0"/>
                <a:ea typeface="宋体" panose="02010600030101010101" pitchFamily="2" charset="-122"/>
              </a:endParaRPr>
            </a:p>
          </p:txBody>
        </p:sp>
        <p:sp>
          <p:nvSpPr>
            <p:cNvPr id="57408" name="椭圆 5"/>
            <p:cNvSpPr/>
            <p:nvPr/>
          </p:nvSpPr>
          <p:spPr>
            <a:xfrm>
              <a:off x="8657598" y="1500173"/>
              <a:ext cx="98654" cy="142874"/>
            </a:xfrm>
            <a:prstGeom prst="ellipse">
              <a:avLst/>
            </a:prstGeom>
            <a:solidFill>
              <a:schemeClr val="accent1"/>
            </a:solidFill>
            <a:ln w="9525" cap="flat" cmpd="sng">
              <a:solidFill>
                <a:schemeClr val="tx1"/>
              </a:solidFill>
              <a:prstDash val="solid"/>
              <a:round/>
              <a:headEnd type="none" w="med" len="med"/>
              <a:tailEnd type="none" w="med" len="med"/>
            </a:ln>
          </p:spPr>
          <p:txBody>
            <a:bodyPr anchor="t" anchorCtr="0"/>
            <a:p>
              <a:pPr>
                <a:buSzTx/>
              </a:pPr>
              <a:endParaRPr lang="zh-CN" altLang="en-US">
                <a:latin typeface="Tahoma" panose="020B0604030504040204" pitchFamily="34" charset="0"/>
                <a:ea typeface="宋体" panose="02010600030101010101" pitchFamily="2" charset="-122"/>
              </a:endParaRPr>
            </a:p>
          </p:txBody>
        </p:sp>
        <p:cxnSp>
          <p:nvCxnSpPr>
            <p:cNvPr id="57409" name="直接连接符 23"/>
            <p:cNvCxnSpPr>
              <a:stCxn id="57401" idx="5"/>
              <a:endCxn id="57400" idx="1"/>
            </p:cNvCxnSpPr>
            <p:nvPr/>
          </p:nvCxnSpPr>
          <p:spPr>
            <a:xfrm rot="5400000">
              <a:off x="8078894" y="2229467"/>
              <a:ext cx="1214453" cy="41604"/>
            </a:xfrm>
            <a:prstGeom prst="line">
              <a:avLst/>
            </a:prstGeom>
            <a:ln w="9525" cap="flat" cmpd="sng">
              <a:solidFill>
                <a:schemeClr val="tx1"/>
              </a:solidFill>
              <a:prstDash val="dash"/>
              <a:round/>
              <a:headEnd type="none" w="med" len="med"/>
              <a:tailEnd type="none" w="med" len="med"/>
            </a:ln>
          </p:spPr>
        </p:cxnSp>
        <p:cxnSp>
          <p:nvCxnSpPr>
            <p:cNvPr id="57410" name="直接连接符 25"/>
            <p:cNvCxnSpPr>
              <a:stCxn id="57401" idx="5"/>
              <a:endCxn id="57400" idx="1"/>
            </p:cNvCxnSpPr>
            <p:nvPr/>
          </p:nvCxnSpPr>
          <p:spPr>
            <a:xfrm>
              <a:off x="8164324" y="1571609"/>
              <a:ext cx="394619" cy="1588"/>
            </a:xfrm>
            <a:prstGeom prst="line">
              <a:avLst/>
            </a:prstGeom>
            <a:ln w="9525" cap="flat" cmpd="sng">
              <a:solidFill>
                <a:schemeClr val="tx1"/>
              </a:solidFill>
              <a:prstDash val="solid"/>
              <a:round/>
              <a:headEnd type="none" w="med" len="med"/>
              <a:tailEnd type="none" w="med" len="med"/>
            </a:ln>
          </p:spPr>
        </p:cxnSp>
        <p:cxnSp>
          <p:nvCxnSpPr>
            <p:cNvPr id="57411" name="直接连接符 29"/>
            <p:cNvCxnSpPr>
              <a:stCxn id="57401" idx="5"/>
              <a:endCxn id="57400" idx="1"/>
            </p:cNvCxnSpPr>
            <p:nvPr/>
          </p:nvCxnSpPr>
          <p:spPr>
            <a:xfrm>
              <a:off x="8016342" y="3571860"/>
              <a:ext cx="351738" cy="19"/>
            </a:xfrm>
            <a:prstGeom prst="line">
              <a:avLst/>
            </a:prstGeom>
            <a:ln w="9525" cap="flat" cmpd="sng">
              <a:solidFill>
                <a:schemeClr val="tx1"/>
              </a:solidFill>
              <a:prstDash val="solid"/>
              <a:round/>
              <a:headEnd type="none" w="med" len="med"/>
              <a:tailEnd type="none" w="med" len="med"/>
            </a:ln>
          </p:spPr>
        </p:cxnSp>
        <p:cxnSp>
          <p:nvCxnSpPr>
            <p:cNvPr id="57412" name="直接连接符 32"/>
            <p:cNvCxnSpPr>
              <a:stCxn id="57401" idx="5"/>
              <a:endCxn id="57400" idx="1"/>
            </p:cNvCxnSpPr>
            <p:nvPr/>
          </p:nvCxnSpPr>
          <p:spPr>
            <a:xfrm rot="5400000">
              <a:off x="7262179" y="2571854"/>
              <a:ext cx="2001045" cy="548"/>
            </a:xfrm>
            <a:prstGeom prst="line">
              <a:avLst/>
            </a:prstGeom>
            <a:ln w="9525" cap="flat" cmpd="sng">
              <a:solidFill>
                <a:schemeClr val="tx1"/>
              </a:solidFill>
              <a:prstDash val="solid"/>
              <a:round/>
              <a:headEnd type="none" w="med" len="med"/>
              <a:tailEnd type="none" w="med" len="med"/>
            </a:ln>
          </p:spPr>
        </p:cxnSp>
        <p:graphicFrame>
          <p:nvGraphicFramePr>
            <p:cNvPr id="57413" name="Object 2"/>
            <p:cNvGraphicFramePr>
              <a:graphicFrameLocks noChangeAspect="1"/>
            </p:cNvGraphicFramePr>
            <p:nvPr/>
          </p:nvGraphicFramePr>
          <p:xfrm>
            <a:off x="8891586" y="1571612"/>
            <a:ext cx="504828" cy="488952"/>
          </p:xfrm>
          <a:graphic>
            <a:graphicData uri="http://schemas.openxmlformats.org/presentationml/2006/ole">
              <mc:AlternateContent xmlns:mc="http://schemas.openxmlformats.org/markup-compatibility/2006">
                <mc:Choice xmlns:v="urn:schemas-microsoft-com:vml" Requires="v">
                  <p:oleObj spid="_x0000_s3082" name="" r:id="rId1" imgW="152400" imgH="203200" progId="Equation.3">
                    <p:embed/>
                  </p:oleObj>
                </mc:Choice>
                <mc:Fallback>
                  <p:oleObj name="" r:id="rId1" imgW="152400" imgH="203200" progId="Equation.3">
                    <p:embed/>
                    <p:pic>
                      <p:nvPicPr>
                        <p:cNvPr id="0" name="图片 3081"/>
                        <p:cNvPicPr/>
                        <p:nvPr/>
                      </p:nvPicPr>
                      <p:blipFill>
                        <a:blip r:embed="rId2"/>
                        <a:stretch>
                          <a:fillRect/>
                        </a:stretch>
                      </p:blipFill>
                      <p:spPr>
                        <a:xfrm>
                          <a:off x="8891586" y="1571612"/>
                          <a:ext cx="504828" cy="488952"/>
                        </a:xfrm>
                        <a:prstGeom prst="rect">
                          <a:avLst/>
                        </a:prstGeom>
                        <a:noFill/>
                        <a:ln w="38100">
                          <a:noFill/>
                          <a:miter/>
                        </a:ln>
                      </p:spPr>
                    </p:pic>
                  </p:oleObj>
                </mc:Fallback>
              </mc:AlternateContent>
            </a:graphicData>
          </a:graphic>
        </p:graphicFrame>
        <p:sp>
          <p:nvSpPr>
            <p:cNvPr id="57414" name="TextBox 53"/>
            <p:cNvSpPr txBox="1"/>
            <p:nvPr/>
          </p:nvSpPr>
          <p:spPr>
            <a:xfrm>
              <a:off x="7572396" y="2214554"/>
              <a:ext cx="1715372" cy="461665"/>
            </a:xfrm>
            <a:prstGeom prst="rect">
              <a:avLst/>
            </a:prstGeom>
            <a:noFill/>
            <a:ln w="9525">
              <a:noFill/>
            </a:ln>
          </p:spPr>
          <p:txBody>
            <a:bodyPr wrap="none" anchor="t" anchorCtr="0">
              <a:spAutoFit/>
            </a:bodyPr>
            <a:p>
              <a:pPr>
                <a:buSzTx/>
              </a:pPr>
              <a:r>
                <a:rPr lang="en-US" altLang="zh-CN" sz="2400">
                  <a:latin typeface="Times New Roman" panose="02020603050405020304" pitchFamily="18" charset="0"/>
                  <a:ea typeface="宋体" panose="02010600030101010101" pitchFamily="2" charset="-122"/>
                </a:rPr>
                <a:t>L(</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)+1</a:t>
              </a:r>
              <a:endParaRPr lang="zh-CN" altLang="en-US" sz="2400">
                <a:latin typeface="Times New Roman" panose="02020603050405020304" pitchFamily="18" charset="0"/>
                <a:ea typeface="宋体" panose="02010600030101010101" pitchFamily="2" charset="-122"/>
              </a:endParaRPr>
            </a:p>
          </p:txBody>
        </p:sp>
      </p:grpSp>
      <p:grpSp>
        <p:nvGrpSpPr>
          <p:cNvPr id="57415" name="组合 90"/>
          <p:cNvGrpSpPr/>
          <p:nvPr/>
        </p:nvGrpSpPr>
        <p:grpSpPr>
          <a:xfrm>
            <a:off x="4143375" y="5286375"/>
            <a:ext cx="3857625" cy="461963"/>
            <a:chOff x="4143372" y="5286387"/>
            <a:chExt cx="3857652" cy="461666"/>
          </a:xfrm>
        </p:grpSpPr>
        <p:sp>
          <p:nvSpPr>
            <p:cNvPr id="57416" name="TextBox 88"/>
            <p:cNvSpPr txBox="1"/>
            <p:nvPr/>
          </p:nvSpPr>
          <p:spPr>
            <a:xfrm>
              <a:off x="4143372" y="5286387"/>
              <a:ext cx="3857652" cy="461666"/>
            </a:xfrm>
            <a:prstGeom prst="rect">
              <a:avLst/>
            </a:prstGeom>
            <a:noFill/>
            <a:ln w="9525">
              <a:noFill/>
            </a:ln>
          </p:spPr>
          <p:txBody>
            <a:bodyPr anchor="t" anchorCtr="0">
              <a:spAutoFit/>
            </a:bodyPr>
            <a:p>
              <a:pPr>
                <a:buSzTx/>
              </a:pPr>
              <a:r>
                <a:rPr lang="en-US" altLang="zh-CN" sz="2400" i="1">
                  <a:latin typeface="Times New Roman" panose="02020603050405020304" pitchFamily="18" charset="0"/>
                  <a:ea typeface="宋体" panose="02010600030101010101" pitchFamily="2" charset="-122"/>
                </a:rPr>
                <a:t>W</a:t>
              </a:r>
              <a:r>
                <a:rPr lang="en-US" altLang="zh-CN" sz="2400">
                  <a:latin typeface="Times New Roman" panose="02020603050405020304" pitchFamily="18" charset="0"/>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W</a:t>
              </a:r>
              <a:r>
                <a:rPr lang="en-US" altLang="zh-CN" sz="2400">
                  <a:latin typeface="Times New Roman" panose="02020603050405020304" pitchFamily="18" charset="0"/>
                  <a:ea typeface="宋体" panose="02010600030101010101" pitchFamily="2" charset="-122"/>
                </a:rPr>
                <a:t>(T</a:t>
              </a:r>
              <a:r>
                <a:rPr lang="en-US" altLang="zh-CN" sz="2400">
                  <a:latin typeface="Tahoma" panose="020B0604030504040204" pitchFamily="34"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2</a:t>
              </a:r>
              <a:endParaRPr lang="en-US" altLang="zh-CN" sz="2400" baseline="-25000">
                <a:latin typeface="Times New Roman" panose="02020603050405020304" pitchFamily="18" charset="0"/>
                <a:ea typeface="宋体" panose="02010600030101010101" pitchFamily="2" charset="-122"/>
              </a:endParaRPr>
            </a:p>
          </p:txBody>
        </p:sp>
        <p:graphicFrame>
          <p:nvGraphicFramePr>
            <p:cNvPr id="57417" name="Object 3"/>
            <p:cNvGraphicFramePr>
              <a:graphicFrameLocks noChangeAspect="1"/>
            </p:cNvGraphicFramePr>
            <p:nvPr/>
          </p:nvGraphicFramePr>
          <p:xfrm>
            <a:off x="4629520" y="5286387"/>
            <a:ext cx="442546" cy="428629"/>
          </p:xfrm>
          <a:graphic>
            <a:graphicData uri="http://schemas.openxmlformats.org/presentationml/2006/ole">
              <mc:AlternateContent xmlns:mc="http://schemas.openxmlformats.org/markup-compatibility/2006">
                <mc:Choice xmlns:v="urn:schemas-microsoft-com:vml" Requires="v">
                  <p:oleObj spid="_x0000_s3083" name="" r:id="rId3" imgW="152400" imgH="203200" progId="Equation.3">
                    <p:embed/>
                  </p:oleObj>
                </mc:Choice>
                <mc:Fallback>
                  <p:oleObj name="" r:id="rId3" imgW="152400" imgH="203200" progId="Equation.3">
                    <p:embed/>
                    <p:pic>
                      <p:nvPicPr>
                        <p:cNvPr id="0" name="图片 3082"/>
                        <p:cNvPicPr/>
                        <p:nvPr/>
                      </p:nvPicPr>
                      <p:blipFill>
                        <a:blip r:embed="rId2"/>
                        <a:stretch>
                          <a:fillRect/>
                        </a:stretch>
                      </p:blipFill>
                      <p:spPr>
                        <a:xfrm>
                          <a:off x="4629520" y="5286387"/>
                          <a:ext cx="442546" cy="428629"/>
                        </a:xfrm>
                        <a:prstGeom prst="rect">
                          <a:avLst/>
                        </a:prstGeom>
                        <a:noFill/>
                        <a:ln w="38100">
                          <a:noFill/>
                          <a:miter/>
                        </a:ln>
                      </p:spPr>
                    </p:pic>
                  </p:oleObj>
                </mc:Fallback>
              </mc:AlternateContent>
            </a:graphicData>
          </a:graphic>
        </p:graphicFrame>
      </p:grpSp>
      <p:grpSp>
        <p:nvGrpSpPr>
          <p:cNvPr id="57418" name="组合 95"/>
          <p:cNvGrpSpPr/>
          <p:nvPr/>
        </p:nvGrpSpPr>
        <p:grpSpPr>
          <a:xfrm>
            <a:off x="571500" y="6000750"/>
            <a:ext cx="7858125" cy="461963"/>
            <a:chOff x="571472" y="6000768"/>
            <a:chExt cx="7858180" cy="461665"/>
          </a:xfrm>
        </p:grpSpPr>
        <p:sp>
          <p:nvSpPr>
            <p:cNvPr id="57419" name="TextBox 91"/>
            <p:cNvSpPr txBox="1"/>
            <p:nvPr/>
          </p:nvSpPr>
          <p:spPr>
            <a:xfrm>
              <a:off x="571472" y="6000768"/>
              <a:ext cx="7858180" cy="461665"/>
            </a:xfrm>
            <a:prstGeom prst="rect">
              <a:avLst/>
            </a:prstGeom>
            <a:noFill/>
            <a:ln w="9525">
              <a:noFill/>
            </a:ln>
          </p:spPr>
          <p:txBody>
            <a:bodyPr anchor="t" anchorCtr="0">
              <a:spAutoFit/>
            </a:bodyPr>
            <a:p>
              <a:pPr>
                <a:buSzTx/>
              </a:pPr>
              <a:r>
                <a:rPr lang="en-US" altLang="zh-CN" sz="2400" i="1">
                  <a:latin typeface="Times New Roman" panose="02020603050405020304" pitchFamily="18" charset="0"/>
                  <a:ea typeface="宋体" panose="02010600030101010101" pitchFamily="2" charset="-122"/>
                </a:rPr>
                <a:t>W</a:t>
              </a:r>
              <a:r>
                <a:rPr lang="en-US" altLang="zh-CN" sz="2400">
                  <a:latin typeface="Times New Roman" panose="02020603050405020304" pitchFamily="18" charset="0"/>
                  <a:ea typeface="宋体" panose="02010600030101010101" pitchFamily="2" charset="-122"/>
                </a:rPr>
                <a:t>(T</a:t>
              </a:r>
              <a:r>
                <a:rPr lang="en-US" altLang="zh-CN" sz="2400">
                  <a:latin typeface="Tahoma" panose="020B0604030504040204" pitchFamily="34"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)&lt;</a:t>
              </a:r>
              <a:r>
                <a:rPr lang="en-US" altLang="zh-CN" sz="2400" i="1">
                  <a:latin typeface="Times New Roman" panose="02020603050405020304" pitchFamily="18" charset="0"/>
                  <a:ea typeface="宋体" panose="02010600030101010101" pitchFamily="2" charset="-122"/>
                </a:rPr>
                <a:t>W</a:t>
              </a:r>
              <a:r>
                <a:rPr lang="en-US" altLang="zh-CN" sz="2400">
                  <a:latin typeface="Times New Roman" panose="02020603050405020304" pitchFamily="18" charset="0"/>
                  <a:ea typeface="宋体" panose="02010600030101010101" pitchFamily="2" charset="-122"/>
                </a:rPr>
                <a:t>(T</a:t>
              </a:r>
              <a:r>
                <a:rPr lang="en-US" altLang="zh-CN" sz="2400">
                  <a:latin typeface="Tahoma" panose="020B0604030504040204" pitchFamily="34"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a:t>
              </a:r>
              <a:r>
                <a:rPr lang="zh-CN" altLang="en-US" sz="2400">
                  <a:latin typeface="Times New Roman" panose="02020603050405020304" pitchFamily="18" charset="0"/>
                  <a:ea typeface="宋体" panose="02010600030101010101" pitchFamily="2" charset="-122"/>
                </a:rPr>
                <a:t>所以</a:t>
              </a:r>
              <a:r>
                <a:rPr lang="en-US" altLang="zh-CN" sz="2400">
                  <a:latin typeface="Times New Roman" panose="02020603050405020304" pitchFamily="18" charset="0"/>
                  <a:ea typeface="宋体" panose="02010600030101010101" pitchFamily="2" charset="-122"/>
                </a:rPr>
                <a:t>W(    )&lt;W(T),</a:t>
              </a:r>
              <a:r>
                <a:rPr lang="zh-CN" altLang="en-US" sz="2400">
                  <a:latin typeface="Times New Roman" panose="02020603050405020304" pitchFamily="18" charset="0"/>
                  <a:ea typeface="宋体" panose="02010600030101010101" pitchFamily="2" charset="-122"/>
                </a:rPr>
                <a:t>这与</a:t>
              </a:r>
              <a:r>
                <a:rPr lang="en-US" altLang="zh-CN" sz="2400">
                  <a:latin typeface="Times New Roman" panose="02020603050405020304" pitchFamily="18" charset="0"/>
                  <a:ea typeface="宋体" panose="02010600030101010101" pitchFamily="2" charset="-122"/>
                </a:rPr>
                <a:t>T</a:t>
              </a:r>
              <a:r>
                <a:rPr lang="zh-CN" altLang="en-US" sz="2400">
                  <a:latin typeface="Times New Roman" panose="02020603050405020304" pitchFamily="18" charset="0"/>
                  <a:ea typeface="宋体" panose="02010600030101010101" pitchFamily="2" charset="-122"/>
                </a:rPr>
                <a:t>是最优树矛盾。</a:t>
              </a:r>
              <a:endParaRPr lang="en-US" altLang="zh-CN" sz="2400">
                <a:latin typeface="Times New Roman" panose="02020603050405020304" pitchFamily="18" charset="0"/>
                <a:ea typeface="宋体" panose="02010600030101010101" pitchFamily="2" charset="-122"/>
              </a:endParaRPr>
            </a:p>
          </p:txBody>
        </p:sp>
        <p:graphicFrame>
          <p:nvGraphicFramePr>
            <p:cNvPr id="57420" name="Object 4"/>
            <p:cNvGraphicFramePr>
              <a:graphicFrameLocks noChangeAspect="1"/>
            </p:cNvGraphicFramePr>
            <p:nvPr/>
          </p:nvGraphicFramePr>
          <p:xfrm>
            <a:off x="3557950" y="6000768"/>
            <a:ext cx="442546" cy="428629"/>
          </p:xfrm>
          <a:graphic>
            <a:graphicData uri="http://schemas.openxmlformats.org/presentationml/2006/ole">
              <mc:AlternateContent xmlns:mc="http://schemas.openxmlformats.org/markup-compatibility/2006">
                <mc:Choice xmlns:v="urn:schemas-microsoft-com:vml" Requires="v">
                  <p:oleObj spid="_x0000_s3084" name="" r:id="rId4" imgW="152400" imgH="203200" progId="Equation.3">
                    <p:embed/>
                  </p:oleObj>
                </mc:Choice>
                <mc:Fallback>
                  <p:oleObj name="" r:id="rId4" imgW="152400" imgH="203200" progId="Equation.3">
                    <p:embed/>
                    <p:pic>
                      <p:nvPicPr>
                        <p:cNvPr id="0" name="图片 3083"/>
                        <p:cNvPicPr/>
                        <p:nvPr/>
                      </p:nvPicPr>
                      <p:blipFill>
                        <a:blip r:embed="rId2"/>
                        <a:stretch>
                          <a:fillRect/>
                        </a:stretch>
                      </p:blipFill>
                      <p:spPr>
                        <a:xfrm>
                          <a:off x="3557950" y="6000768"/>
                          <a:ext cx="442546" cy="428629"/>
                        </a:xfrm>
                        <a:prstGeom prst="rect">
                          <a:avLst/>
                        </a:prstGeom>
                        <a:noFill/>
                        <a:ln w="38100">
                          <a:noFill/>
                          <a:miter/>
                        </a:ln>
                      </p:spPr>
                    </p:pic>
                  </p:oleObj>
                </mc:Fallback>
              </mc:AlternateContent>
            </a:graphicData>
          </a:graphic>
        </p:graphicFrame>
      </p:gr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p:nvPr>
        </p:nvSpPr>
        <p:spPr/>
        <p:txBody>
          <a:bodyPr vert="horz" wrap="square" lIns="91440" tIns="45720" rIns="91440" bIns="45720" anchor="b" anchorCtr="0"/>
          <a:p>
            <a:r>
              <a:rPr lang="zh-CN" altLang="en-US"/>
              <a:t>实例</a:t>
            </a:r>
            <a:endParaRPr lang="zh-CN" altLang="en-US"/>
          </a:p>
        </p:txBody>
      </p:sp>
      <p:sp>
        <p:nvSpPr>
          <p:cNvPr id="58370" name="Rectangle 3"/>
          <p:cNvSpPr>
            <a:spLocks noGrp="1"/>
          </p:cNvSpPr>
          <p:nvPr>
            <p:ph idx="1"/>
          </p:nvPr>
        </p:nvSpPr>
        <p:spPr>
          <a:xfrm>
            <a:off x="381000" y="1390650"/>
            <a:ext cx="8534400" cy="5278438"/>
          </a:xfrm>
        </p:spPr>
        <p:txBody>
          <a:bodyPr vert="horz" wrap="square" lIns="91440" tIns="45720" rIns="91440" bIns="45720" anchor="t" anchorCtr="0"/>
          <a:p>
            <a:pPr algn="just">
              <a:spcBef>
                <a:spcPct val="20000"/>
              </a:spcBef>
              <a:buNone/>
            </a:pPr>
            <a:r>
              <a:rPr lang="zh-CN" altLang="en-US">
                <a:solidFill>
                  <a:schemeClr val="hlink"/>
                </a:solidFill>
              </a:rPr>
              <a:t>例</a:t>
            </a:r>
            <a:r>
              <a:rPr lang="zh-CN" altLang="en-US">
                <a:solidFill>
                  <a:schemeClr val="folHlink"/>
                </a:solidFill>
              </a:rPr>
              <a:t>  在通信中，设八进制数字出现的频率如下：</a:t>
            </a:r>
            <a:endParaRPr lang="zh-CN" altLang="en-US">
              <a:solidFill>
                <a:schemeClr val="folHlink"/>
              </a:solidFill>
            </a:endParaRPr>
          </a:p>
          <a:p>
            <a:pPr algn="just">
              <a:spcBef>
                <a:spcPct val="20000"/>
              </a:spcBef>
              <a:buNone/>
            </a:pPr>
            <a:r>
              <a:rPr lang="zh-CN" altLang="en-US">
                <a:solidFill>
                  <a:schemeClr val="folHlink"/>
                </a:solidFill>
              </a:rPr>
              <a:t>      </a:t>
            </a:r>
            <a:r>
              <a:rPr lang="en-US" altLang="zh-CN">
                <a:solidFill>
                  <a:schemeClr val="folHlink"/>
                </a:solidFill>
              </a:rPr>
              <a:t>0</a:t>
            </a:r>
            <a:r>
              <a:rPr lang="zh-CN" altLang="en-US">
                <a:solidFill>
                  <a:schemeClr val="folHlink"/>
                </a:solidFill>
              </a:rPr>
              <a:t>：</a:t>
            </a:r>
            <a:r>
              <a:rPr lang="en-US" altLang="zh-CN">
                <a:solidFill>
                  <a:schemeClr val="folHlink"/>
                </a:solidFill>
              </a:rPr>
              <a:t>25%       1</a:t>
            </a:r>
            <a:r>
              <a:rPr lang="zh-CN" altLang="en-US">
                <a:solidFill>
                  <a:schemeClr val="folHlink"/>
                </a:solidFill>
              </a:rPr>
              <a:t>：</a:t>
            </a:r>
            <a:r>
              <a:rPr lang="en-US" altLang="zh-CN">
                <a:solidFill>
                  <a:schemeClr val="folHlink"/>
                </a:solidFill>
              </a:rPr>
              <a:t>20%      2</a:t>
            </a:r>
            <a:r>
              <a:rPr lang="zh-CN" altLang="en-US">
                <a:solidFill>
                  <a:schemeClr val="folHlink"/>
                </a:solidFill>
              </a:rPr>
              <a:t>：</a:t>
            </a:r>
            <a:r>
              <a:rPr lang="en-US" altLang="zh-CN">
                <a:solidFill>
                  <a:schemeClr val="folHlink"/>
                </a:solidFill>
              </a:rPr>
              <a:t>15%        3</a:t>
            </a:r>
            <a:r>
              <a:rPr lang="zh-CN" altLang="en-US">
                <a:solidFill>
                  <a:schemeClr val="folHlink"/>
                </a:solidFill>
              </a:rPr>
              <a:t>：</a:t>
            </a:r>
            <a:r>
              <a:rPr lang="en-US" altLang="zh-CN">
                <a:solidFill>
                  <a:schemeClr val="folHlink"/>
                </a:solidFill>
              </a:rPr>
              <a:t>10%</a:t>
            </a:r>
            <a:endParaRPr lang="en-US" altLang="zh-CN">
              <a:solidFill>
                <a:schemeClr val="folHlink"/>
              </a:solidFill>
            </a:endParaRPr>
          </a:p>
          <a:p>
            <a:pPr algn="just">
              <a:spcBef>
                <a:spcPct val="20000"/>
              </a:spcBef>
              <a:buNone/>
            </a:pPr>
            <a:r>
              <a:rPr lang="en-US" altLang="zh-CN">
                <a:solidFill>
                  <a:schemeClr val="folHlink"/>
                </a:solidFill>
              </a:rPr>
              <a:t>      4</a:t>
            </a:r>
            <a:r>
              <a:rPr lang="zh-CN" altLang="en-US">
                <a:solidFill>
                  <a:schemeClr val="folHlink"/>
                </a:solidFill>
              </a:rPr>
              <a:t>：</a:t>
            </a:r>
            <a:r>
              <a:rPr lang="en-US" altLang="zh-CN">
                <a:solidFill>
                  <a:schemeClr val="folHlink"/>
                </a:solidFill>
              </a:rPr>
              <a:t>10%       5</a:t>
            </a:r>
            <a:r>
              <a:rPr lang="zh-CN" altLang="en-US">
                <a:solidFill>
                  <a:schemeClr val="folHlink"/>
                </a:solidFill>
              </a:rPr>
              <a:t>：</a:t>
            </a:r>
            <a:r>
              <a:rPr lang="en-US" altLang="zh-CN">
                <a:solidFill>
                  <a:schemeClr val="folHlink"/>
                </a:solidFill>
              </a:rPr>
              <a:t>10%      6</a:t>
            </a:r>
            <a:r>
              <a:rPr lang="zh-CN" altLang="en-US">
                <a:solidFill>
                  <a:schemeClr val="folHlink"/>
                </a:solidFill>
              </a:rPr>
              <a:t>：</a:t>
            </a:r>
            <a:r>
              <a:rPr lang="en-US" altLang="zh-CN">
                <a:solidFill>
                  <a:schemeClr val="folHlink"/>
                </a:solidFill>
              </a:rPr>
              <a:t>5%          7</a:t>
            </a:r>
            <a:r>
              <a:rPr lang="zh-CN" altLang="en-US">
                <a:solidFill>
                  <a:schemeClr val="folHlink"/>
                </a:solidFill>
              </a:rPr>
              <a:t>：</a:t>
            </a:r>
            <a:r>
              <a:rPr lang="en-US" altLang="zh-CN">
                <a:solidFill>
                  <a:schemeClr val="folHlink"/>
                </a:solidFill>
              </a:rPr>
              <a:t>5%</a:t>
            </a:r>
            <a:endParaRPr lang="en-US" altLang="zh-CN">
              <a:solidFill>
                <a:schemeClr val="folHlink"/>
              </a:solidFill>
            </a:endParaRPr>
          </a:p>
          <a:p>
            <a:pPr>
              <a:spcBef>
                <a:spcPct val="20000"/>
              </a:spcBef>
              <a:buNone/>
            </a:pPr>
            <a:r>
              <a:rPr lang="zh-CN" altLang="en-US">
                <a:solidFill>
                  <a:schemeClr val="folHlink"/>
                </a:solidFill>
              </a:rPr>
              <a:t>采用二元前缀码</a:t>
            </a:r>
            <a:r>
              <a:rPr lang="en-US" altLang="zh-CN">
                <a:solidFill>
                  <a:schemeClr val="folHlink"/>
                </a:solidFill>
              </a:rPr>
              <a:t>, </a:t>
            </a:r>
            <a:r>
              <a:rPr lang="zh-CN" altLang="en-US">
                <a:solidFill>
                  <a:schemeClr val="folHlink"/>
                </a:solidFill>
              </a:rPr>
              <a:t>求传输数字最少的二元前缀码</a:t>
            </a:r>
            <a:r>
              <a:rPr lang="en-US" altLang="zh-CN">
                <a:solidFill>
                  <a:schemeClr val="folHlink"/>
                </a:solidFill>
              </a:rPr>
              <a:t>, </a:t>
            </a:r>
            <a:endParaRPr lang="en-US" altLang="zh-CN">
              <a:solidFill>
                <a:schemeClr val="folHlink"/>
              </a:solidFill>
            </a:endParaRPr>
          </a:p>
          <a:p>
            <a:pPr>
              <a:spcBef>
                <a:spcPct val="20000"/>
              </a:spcBef>
              <a:buNone/>
            </a:pPr>
            <a:r>
              <a:rPr lang="zh-CN" altLang="en-US">
                <a:solidFill>
                  <a:schemeClr val="folHlink"/>
                </a:solidFill>
              </a:rPr>
              <a:t>并求传输</a:t>
            </a:r>
            <a:r>
              <a:rPr lang="en-US" altLang="zh-CN">
                <a:solidFill>
                  <a:schemeClr val="folHlink"/>
                </a:solidFill>
              </a:rPr>
              <a:t>10</a:t>
            </a:r>
            <a:r>
              <a:rPr lang="en-US" altLang="zh-CN" i="1" baseline="30000">
                <a:solidFill>
                  <a:schemeClr val="folHlink"/>
                </a:solidFill>
              </a:rPr>
              <a:t>n</a:t>
            </a:r>
            <a:r>
              <a:rPr lang="en-US" altLang="zh-CN">
                <a:solidFill>
                  <a:schemeClr val="folHlink"/>
                </a:solidFill>
              </a:rPr>
              <a:t>(</a:t>
            </a:r>
            <a:r>
              <a:rPr lang="en-US" altLang="zh-CN" i="1">
                <a:solidFill>
                  <a:schemeClr val="folHlink"/>
                </a:solidFill>
              </a:rPr>
              <a:t>n</a:t>
            </a:r>
            <a:r>
              <a:rPr lang="en-US" altLang="zh-CN">
                <a:solidFill>
                  <a:schemeClr val="folHlink"/>
                </a:solidFill>
                <a:sym typeface="Symbol" panose="05050102010706020507" pitchFamily="18" charset="2"/>
              </a:rPr>
              <a:t></a:t>
            </a:r>
            <a:r>
              <a:rPr lang="en-US" altLang="zh-CN">
                <a:solidFill>
                  <a:schemeClr val="folHlink"/>
                </a:solidFill>
              </a:rPr>
              <a:t>2)</a:t>
            </a:r>
            <a:r>
              <a:rPr lang="zh-CN" altLang="en-US">
                <a:solidFill>
                  <a:schemeClr val="folHlink"/>
                </a:solidFill>
              </a:rPr>
              <a:t>个按上述比例出现的八进制数字需要多少个二进制数字？若用等长的 </a:t>
            </a:r>
            <a:r>
              <a:rPr lang="en-US" altLang="zh-CN">
                <a:solidFill>
                  <a:schemeClr val="folHlink"/>
                </a:solidFill>
              </a:rPr>
              <a:t>(</a:t>
            </a:r>
            <a:r>
              <a:rPr lang="zh-CN" altLang="en-US">
                <a:solidFill>
                  <a:schemeClr val="folHlink"/>
                </a:solidFill>
              </a:rPr>
              <a:t>长为</a:t>
            </a:r>
            <a:r>
              <a:rPr lang="en-US" altLang="zh-CN">
                <a:solidFill>
                  <a:schemeClr val="folHlink"/>
                </a:solidFill>
              </a:rPr>
              <a:t>3) </a:t>
            </a:r>
            <a:r>
              <a:rPr lang="zh-CN" altLang="en-US">
                <a:solidFill>
                  <a:schemeClr val="folHlink"/>
                </a:solidFill>
              </a:rPr>
              <a:t>的码字传输需要多少个二进制数字</a:t>
            </a:r>
            <a:r>
              <a:rPr lang="en-US" altLang="zh-CN">
                <a:solidFill>
                  <a:schemeClr val="folHlink"/>
                </a:solidFill>
              </a:rPr>
              <a:t>?</a:t>
            </a:r>
            <a:endParaRPr lang="en-US" altLang="zh-CN">
              <a:solidFill>
                <a:schemeClr val="folHlink"/>
              </a:solidFill>
            </a:endParaRPr>
          </a:p>
          <a:p>
            <a:pPr>
              <a:spcBef>
                <a:spcPct val="20000"/>
              </a:spcBef>
              <a:buNone/>
            </a:pPr>
            <a:r>
              <a:rPr lang="zh-CN" altLang="en-US">
                <a:solidFill>
                  <a:schemeClr val="hlink"/>
                </a:solidFill>
              </a:rPr>
              <a:t>解</a:t>
            </a:r>
            <a:r>
              <a:rPr lang="zh-CN" altLang="en-US">
                <a:solidFill>
                  <a:schemeClr val="folHlink"/>
                </a:solidFill>
              </a:rPr>
              <a:t>  用</a:t>
            </a:r>
            <a:r>
              <a:rPr lang="en-US" altLang="zh-CN">
                <a:solidFill>
                  <a:schemeClr val="folHlink"/>
                </a:solidFill>
              </a:rPr>
              <a:t>Huffman</a:t>
            </a:r>
            <a:r>
              <a:rPr lang="zh-CN" altLang="en-US">
                <a:solidFill>
                  <a:schemeClr val="folHlink"/>
                </a:solidFill>
              </a:rPr>
              <a:t>算法求以频率</a:t>
            </a:r>
            <a:r>
              <a:rPr lang="en-US" altLang="zh-CN">
                <a:solidFill>
                  <a:schemeClr val="folHlink"/>
                </a:solidFill>
              </a:rPr>
              <a:t>(</a:t>
            </a:r>
            <a:r>
              <a:rPr lang="zh-CN" altLang="en-US">
                <a:solidFill>
                  <a:schemeClr val="folHlink"/>
                </a:solidFill>
              </a:rPr>
              <a:t>乘以</a:t>
            </a:r>
            <a:r>
              <a:rPr lang="en-US" altLang="zh-CN">
                <a:solidFill>
                  <a:schemeClr val="folHlink"/>
                </a:solidFill>
              </a:rPr>
              <a:t>100)</a:t>
            </a:r>
            <a:r>
              <a:rPr lang="zh-CN" altLang="en-US">
                <a:solidFill>
                  <a:schemeClr val="folHlink"/>
                </a:solidFill>
              </a:rPr>
              <a:t>为权的最优</a:t>
            </a:r>
            <a:r>
              <a:rPr lang="en-US" altLang="zh-CN">
                <a:solidFill>
                  <a:schemeClr val="folHlink"/>
                </a:solidFill>
              </a:rPr>
              <a:t>2</a:t>
            </a:r>
            <a:r>
              <a:rPr lang="zh-CN" altLang="en-US">
                <a:solidFill>
                  <a:schemeClr val="folHlink"/>
                </a:solidFill>
              </a:rPr>
              <a:t>叉树</a:t>
            </a:r>
            <a:r>
              <a:rPr lang="en-US" altLang="zh-CN">
                <a:solidFill>
                  <a:schemeClr val="folHlink"/>
                </a:solidFill>
              </a:rPr>
              <a:t>. </a:t>
            </a:r>
            <a:r>
              <a:rPr lang="zh-CN" altLang="en-US">
                <a:solidFill>
                  <a:schemeClr val="folHlink"/>
                </a:solidFill>
              </a:rPr>
              <a:t>这里 </a:t>
            </a:r>
            <a:r>
              <a:rPr lang="en-US" altLang="zh-CN" i="1">
                <a:solidFill>
                  <a:schemeClr val="folHlink"/>
                </a:solidFill>
              </a:rPr>
              <a:t>w</a:t>
            </a:r>
            <a:r>
              <a:rPr lang="en-US" altLang="zh-CN" baseline="-30000">
                <a:solidFill>
                  <a:schemeClr val="folHlink"/>
                </a:solidFill>
              </a:rPr>
              <a:t>1</a:t>
            </a:r>
            <a:r>
              <a:rPr lang="en-US" altLang="zh-CN">
                <a:solidFill>
                  <a:schemeClr val="folHlink"/>
                </a:solidFill>
              </a:rPr>
              <a:t>=5, </a:t>
            </a:r>
            <a:r>
              <a:rPr lang="en-US" altLang="zh-CN" i="1">
                <a:solidFill>
                  <a:schemeClr val="folHlink"/>
                </a:solidFill>
              </a:rPr>
              <a:t>w</a:t>
            </a:r>
            <a:r>
              <a:rPr lang="en-US" altLang="zh-CN" baseline="-30000">
                <a:solidFill>
                  <a:schemeClr val="folHlink"/>
                </a:solidFill>
              </a:rPr>
              <a:t>2</a:t>
            </a:r>
            <a:r>
              <a:rPr lang="en-US" altLang="zh-CN">
                <a:solidFill>
                  <a:schemeClr val="folHlink"/>
                </a:solidFill>
              </a:rPr>
              <a:t>=5, </a:t>
            </a:r>
            <a:r>
              <a:rPr lang="en-US" altLang="zh-CN" i="1">
                <a:solidFill>
                  <a:schemeClr val="folHlink"/>
                </a:solidFill>
              </a:rPr>
              <a:t>w</a:t>
            </a:r>
            <a:r>
              <a:rPr lang="en-US" altLang="zh-CN" baseline="-30000">
                <a:solidFill>
                  <a:schemeClr val="folHlink"/>
                </a:solidFill>
              </a:rPr>
              <a:t>3</a:t>
            </a:r>
            <a:r>
              <a:rPr lang="en-US" altLang="zh-CN">
                <a:solidFill>
                  <a:schemeClr val="folHlink"/>
                </a:solidFill>
              </a:rPr>
              <a:t>=10, </a:t>
            </a:r>
            <a:r>
              <a:rPr lang="en-US" altLang="zh-CN" i="1">
                <a:solidFill>
                  <a:schemeClr val="folHlink"/>
                </a:solidFill>
              </a:rPr>
              <a:t>w</a:t>
            </a:r>
            <a:r>
              <a:rPr lang="en-US" altLang="zh-CN" baseline="-30000">
                <a:solidFill>
                  <a:schemeClr val="folHlink"/>
                </a:solidFill>
              </a:rPr>
              <a:t>4</a:t>
            </a:r>
            <a:r>
              <a:rPr lang="en-US" altLang="zh-CN">
                <a:solidFill>
                  <a:schemeClr val="folHlink"/>
                </a:solidFill>
              </a:rPr>
              <a:t>=10, </a:t>
            </a:r>
            <a:r>
              <a:rPr lang="en-US" altLang="zh-CN" i="1">
                <a:solidFill>
                  <a:schemeClr val="folHlink"/>
                </a:solidFill>
              </a:rPr>
              <a:t>w</a:t>
            </a:r>
            <a:r>
              <a:rPr lang="en-US" altLang="zh-CN" baseline="-30000">
                <a:solidFill>
                  <a:schemeClr val="folHlink"/>
                </a:solidFill>
              </a:rPr>
              <a:t>5</a:t>
            </a:r>
            <a:r>
              <a:rPr lang="en-US" altLang="zh-CN">
                <a:solidFill>
                  <a:schemeClr val="folHlink"/>
                </a:solidFill>
              </a:rPr>
              <a:t>=10, </a:t>
            </a:r>
            <a:r>
              <a:rPr lang="en-US" altLang="zh-CN" i="1">
                <a:solidFill>
                  <a:schemeClr val="folHlink"/>
                </a:solidFill>
              </a:rPr>
              <a:t>w</a:t>
            </a:r>
            <a:r>
              <a:rPr lang="en-US" altLang="zh-CN" baseline="-30000">
                <a:solidFill>
                  <a:schemeClr val="folHlink"/>
                </a:solidFill>
              </a:rPr>
              <a:t>6</a:t>
            </a:r>
            <a:r>
              <a:rPr lang="en-US" altLang="zh-CN">
                <a:solidFill>
                  <a:schemeClr val="folHlink"/>
                </a:solidFill>
              </a:rPr>
              <a:t>=15, </a:t>
            </a:r>
            <a:r>
              <a:rPr lang="en-US" altLang="zh-CN" i="1">
                <a:solidFill>
                  <a:schemeClr val="folHlink"/>
                </a:solidFill>
              </a:rPr>
              <a:t>w</a:t>
            </a:r>
            <a:r>
              <a:rPr lang="en-US" altLang="zh-CN" baseline="-30000">
                <a:solidFill>
                  <a:schemeClr val="folHlink"/>
                </a:solidFill>
              </a:rPr>
              <a:t>7</a:t>
            </a:r>
            <a:r>
              <a:rPr lang="en-US" altLang="zh-CN">
                <a:solidFill>
                  <a:schemeClr val="folHlink"/>
                </a:solidFill>
              </a:rPr>
              <a:t>=20, </a:t>
            </a:r>
            <a:r>
              <a:rPr lang="en-US" altLang="zh-CN" i="1">
                <a:solidFill>
                  <a:schemeClr val="folHlink"/>
                </a:solidFill>
              </a:rPr>
              <a:t>w</a:t>
            </a:r>
            <a:r>
              <a:rPr lang="en-US" altLang="zh-CN" baseline="-30000">
                <a:solidFill>
                  <a:schemeClr val="folHlink"/>
                </a:solidFill>
              </a:rPr>
              <a:t>8</a:t>
            </a:r>
            <a:r>
              <a:rPr lang="en-US" altLang="zh-CN">
                <a:solidFill>
                  <a:schemeClr val="folHlink"/>
                </a:solidFill>
              </a:rPr>
              <a:t>=25. </a:t>
            </a:r>
            <a:r>
              <a:rPr lang="zh-CN" altLang="en-US">
                <a:solidFill>
                  <a:schemeClr val="folHlink"/>
                </a:solidFill>
              </a:rPr>
              <a:t>最优</a:t>
            </a:r>
            <a:r>
              <a:rPr lang="en-US" altLang="zh-CN">
                <a:solidFill>
                  <a:schemeClr val="folHlink"/>
                </a:solidFill>
              </a:rPr>
              <a:t>2</a:t>
            </a:r>
            <a:r>
              <a:rPr lang="zh-CN" altLang="en-US">
                <a:solidFill>
                  <a:schemeClr val="folHlink"/>
                </a:solidFill>
              </a:rPr>
              <a:t>叉树如图所示</a:t>
            </a:r>
            <a:r>
              <a:rPr lang="en-US" altLang="zh-CN">
                <a:solidFill>
                  <a:schemeClr val="folHlink"/>
                </a:solidFill>
              </a:rPr>
              <a:t>. </a:t>
            </a:r>
            <a:endParaRPr lang="en-US" altLang="zh-CN">
              <a:solidFill>
                <a:schemeClr val="folHlink"/>
              </a:solidFill>
            </a:endParaRPr>
          </a:p>
        </p:txBody>
      </p:sp>
      <p:sp>
        <p:nvSpPr>
          <p:cNvPr id="4099" name="灯片编号占位符 3"/>
          <p:cNvSpPr>
            <a:spLocks noGrp="1"/>
          </p:cNvSpPr>
          <p:nvPr/>
        </p:nvSpPr>
        <p:spPr>
          <a:xfrm>
            <a:off x="7169150" y="6370638"/>
            <a:ext cx="1905000" cy="457200"/>
          </a:xfrm>
          <a:prstGeom prst="rect">
            <a:avLst/>
          </a:prstGeom>
          <a:noFill/>
          <a:ln w="9525">
            <a:noFill/>
            <a:miter lim="800000"/>
          </a:ln>
          <a:effectLst/>
        </p:spPr>
        <p:txBody>
          <a:bodyPr vert="horz" wrap="square" lIns="91440" tIns="45720" rIns="91440" bIns="45720" numCol="1" anchor="b" anchorCtr="0" compatLnSpc="1"/>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Grp="1"/>
          </p:cNvSpPr>
          <p:nvPr>
            <p:ph type="title"/>
          </p:nvPr>
        </p:nvSpPr>
        <p:spPr/>
        <p:txBody>
          <a:bodyPr vert="horz" wrap="square" lIns="91440" tIns="45720" rIns="91440" bIns="45720" anchor="b" anchorCtr="0"/>
          <a:p>
            <a:r>
              <a:rPr lang="zh-CN" altLang="en-US"/>
              <a:t>实例（续）</a:t>
            </a:r>
            <a:endParaRPr lang="zh-CN" altLang="en-US"/>
          </a:p>
        </p:txBody>
      </p:sp>
      <p:pic>
        <p:nvPicPr>
          <p:cNvPr id="60418" name="Picture 3"/>
          <p:cNvPicPr>
            <a:picLocks noChangeAspect="1"/>
          </p:cNvPicPr>
          <p:nvPr/>
        </p:nvPicPr>
        <p:blipFill>
          <a:blip r:embed="rId1">
            <a:clrChange>
              <a:clrFrom>
                <a:srgbClr val="D9FCFF"/>
              </a:clrFrom>
              <a:clrTo>
                <a:srgbClr val="D9FCFF">
                  <a:alpha val="0"/>
                </a:srgbClr>
              </a:clrTo>
            </a:clrChange>
          </a:blip>
          <a:srcRect l="3485" t="2063" r="4990"/>
          <a:stretch>
            <a:fillRect/>
          </a:stretch>
        </p:blipFill>
        <p:spPr>
          <a:xfrm>
            <a:off x="4159250" y="1800225"/>
            <a:ext cx="5021263" cy="3716338"/>
          </a:xfrm>
          <a:prstGeom prst="rect">
            <a:avLst/>
          </a:prstGeom>
          <a:noFill/>
          <a:ln w="9525">
            <a:noFill/>
          </a:ln>
        </p:spPr>
      </p:pic>
      <p:sp>
        <p:nvSpPr>
          <p:cNvPr id="60419" name="Rectangle 4"/>
          <p:cNvSpPr/>
          <p:nvPr/>
        </p:nvSpPr>
        <p:spPr>
          <a:xfrm>
            <a:off x="250825" y="1484313"/>
            <a:ext cx="6445250" cy="5040312"/>
          </a:xfrm>
          <a:prstGeom prst="rect">
            <a:avLst/>
          </a:prstGeom>
          <a:noFill/>
          <a:ln w="9525">
            <a:noFill/>
          </a:ln>
        </p:spPr>
        <p:txBody>
          <a:bodyPr anchor="t" anchorCtr="0"/>
          <a:p>
            <a:pPr marL="342900" indent="-342900" algn="just" eaLnBrk="0" hangingPunct="0">
              <a:lnSpc>
                <a:spcPct val="11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编码</a:t>
            </a:r>
            <a:r>
              <a:rPr lang="en-US" altLang="zh-CN" sz="2800">
                <a:solidFill>
                  <a:schemeClr val="folHlink"/>
                </a:solidFill>
                <a:latin typeface="Times New Roman" panose="02020603050405020304" pitchFamily="18" charset="0"/>
                <a:ea typeface="黑体" panose="02010609060101010101" pitchFamily="49" charset="-122"/>
              </a:rPr>
              <a:t>:   0---01</a:t>
            </a:r>
            <a:r>
              <a:rPr lang="zh-CN" altLang="en-US" sz="2800">
                <a:solidFill>
                  <a:schemeClr val="folHlink"/>
                </a:solidFill>
                <a:latin typeface="Times New Roman" panose="02020603050405020304" pitchFamily="18"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1---11</a:t>
            </a:r>
            <a:r>
              <a:rPr lang="zh-CN" altLang="en-US" sz="2800">
                <a:solidFill>
                  <a:schemeClr val="folHlink"/>
                </a:solidFill>
                <a:latin typeface="Times New Roman" panose="02020603050405020304" pitchFamily="18"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2---001</a:t>
            </a:r>
            <a:r>
              <a:rPr lang="zh-CN" altLang="en-US" sz="2800">
                <a:solidFill>
                  <a:schemeClr val="folHlink"/>
                </a:solidFill>
                <a:latin typeface="Times New Roman" panose="02020603050405020304" pitchFamily="18"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3---100</a:t>
            </a:r>
            <a:endParaRPr lang="en-US" altLang="zh-CN" sz="2800">
              <a:solidFill>
                <a:schemeClr val="folHlink"/>
              </a:solidFill>
              <a:latin typeface="Times New Roman" panose="02020603050405020304" pitchFamily="18" charset="0"/>
              <a:ea typeface="黑体" panose="02010609060101010101" pitchFamily="49" charset="-122"/>
            </a:endParaRPr>
          </a:p>
          <a:p>
            <a:pPr marL="342900" indent="-342900" algn="just" eaLnBrk="0" hangingPunct="0">
              <a:lnSpc>
                <a:spcPct val="110000"/>
              </a:lnSpc>
              <a:spcBef>
                <a:spcPct val="20000"/>
              </a:spcBef>
              <a:buClr>
                <a:schemeClr val="folHlink"/>
              </a:buClr>
              <a:buSzPct val="75000"/>
            </a:pPr>
            <a:r>
              <a:rPr lang="en-US" altLang="zh-CN" sz="2800">
                <a:solidFill>
                  <a:schemeClr val="folHlink"/>
                </a:solidFill>
                <a:latin typeface="Times New Roman" panose="02020603050405020304" pitchFamily="18" charset="0"/>
                <a:ea typeface="黑体" panose="02010609060101010101" pitchFamily="49" charset="-122"/>
              </a:rPr>
              <a:t>   4---101</a:t>
            </a:r>
            <a:r>
              <a:rPr lang="zh-CN" altLang="en-US" sz="2800">
                <a:solidFill>
                  <a:schemeClr val="folHlink"/>
                </a:solidFill>
                <a:latin typeface="Times New Roman" panose="02020603050405020304" pitchFamily="18"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5---0001</a:t>
            </a:r>
            <a:r>
              <a:rPr lang="zh-CN" altLang="en-US" sz="2800">
                <a:solidFill>
                  <a:schemeClr val="folHlink"/>
                </a:solidFill>
                <a:latin typeface="Times New Roman" panose="02020603050405020304" pitchFamily="18" charset="0"/>
                <a:ea typeface="黑体" panose="02010609060101010101" pitchFamily="49" charset="-122"/>
              </a:rPr>
              <a:t>，</a:t>
            </a:r>
            <a:r>
              <a:rPr lang="en-US" altLang="zh-CN" sz="2800">
                <a:solidFill>
                  <a:schemeClr val="folHlink"/>
                </a:solidFill>
                <a:latin typeface="Times New Roman" panose="02020603050405020304" pitchFamily="18" charset="0"/>
                <a:ea typeface="黑体" panose="02010609060101010101" pitchFamily="49" charset="-122"/>
              </a:rPr>
              <a:t>6---00000</a:t>
            </a:r>
            <a:endParaRPr lang="en-US" altLang="zh-CN" sz="2800">
              <a:solidFill>
                <a:schemeClr val="folHlink"/>
              </a:solidFill>
              <a:latin typeface="Times New Roman" panose="02020603050405020304" pitchFamily="18" charset="0"/>
              <a:ea typeface="黑体" panose="02010609060101010101" pitchFamily="49" charset="-122"/>
            </a:endParaRPr>
          </a:p>
          <a:p>
            <a:pPr marL="342900" indent="-342900" algn="just" eaLnBrk="0" hangingPunct="0">
              <a:lnSpc>
                <a:spcPct val="110000"/>
              </a:lnSpc>
              <a:spcBef>
                <a:spcPct val="20000"/>
              </a:spcBef>
              <a:buClr>
                <a:schemeClr val="folHlink"/>
              </a:buClr>
              <a:buSzPct val="75000"/>
            </a:pPr>
            <a:r>
              <a:rPr lang="en-US" altLang="zh-CN" sz="2800">
                <a:solidFill>
                  <a:schemeClr val="folHlink"/>
                </a:solidFill>
                <a:latin typeface="Times New Roman" panose="02020603050405020304" pitchFamily="18" charset="0"/>
                <a:ea typeface="黑体" panose="02010609060101010101" pitchFamily="49" charset="-122"/>
              </a:rPr>
              <a:t>   7---00001</a:t>
            </a:r>
            <a:endParaRPr lang="en-US" altLang="zh-CN"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1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传</a:t>
            </a:r>
            <a:r>
              <a:rPr lang="en-US" altLang="zh-CN" sz="2800">
                <a:solidFill>
                  <a:schemeClr val="folHlink"/>
                </a:solidFill>
                <a:latin typeface="Times New Roman" panose="02020603050405020304" pitchFamily="18" charset="0"/>
                <a:ea typeface="黑体" panose="02010609060101010101" pitchFamily="49" charset="-122"/>
              </a:rPr>
              <a:t>100</a:t>
            </a:r>
            <a:r>
              <a:rPr lang="zh-CN" altLang="en-US" sz="2800">
                <a:solidFill>
                  <a:schemeClr val="folHlink"/>
                </a:solidFill>
                <a:latin typeface="Times New Roman" panose="02020603050405020304" pitchFamily="18" charset="0"/>
                <a:ea typeface="黑体" panose="02010609060101010101" pitchFamily="49" charset="-122"/>
              </a:rPr>
              <a:t>个按比例出现的八进制数</a:t>
            </a:r>
            <a:endParaRPr lang="zh-CN" altLang="en-US"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1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字所需二进制数</a:t>
            </a:r>
            <a:endParaRPr lang="zh-CN" altLang="en-US"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1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字的个数为 </a:t>
            </a:r>
            <a:r>
              <a:rPr lang="en-US" altLang="zh-CN" sz="2800" i="1">
                <a:solidFill>
                  <a:schemeClr val="folHlink"/>
                </a:solidFill>
                <a:latin typeface="Times New Roman" panose="02020603050405020304" pitchFamily="18" charset="0"/>
                <a:ea typeface="黑体" panose="02010609060101010101" pitchFamily="49" charset="-122"/>
              </a:rPr>
              <a:t>w</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T</a:t>
            </a:r>
            <a:r>
              <a:rPr lang="en-US" altLang="zh-CN" sz="2800">
                <a:solidFill>
                  <a:schemeClr val="folHlink"/>
                </a:solidFill>
                <a:latin typeface="Times New Roman" panose="02020603050405020304" pitchFamily="18" charset="0"/>
                <a:ea typeface="黑体" panose="02010609060101010101" pitchFamily="49" charset="-122"/>
              </a:rPr>
              <a:t>)=285.</a:t>
            </a:r>
            <a:endParaRPr lang="en-US" altLang="zh-CN"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1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传</a:t>
            </a:r>
            <a:r>
              <a:rPr lang="en-US" altLang="zh-CN" sz="2800">
                <a:solidFill>
                  <a:schemeClr val="folHlink"/>
                </a:solidFill>
                <a:latin typeface="Times New Roman" panose="02020603050405020304" pitchFamily="18" charset="0"/>
                <a:ea typeface="黑体" panose="02010609060101010101" pitchFamily="49" charset="-122"/>
              </a:rPr>
              <a:t>10</a:t>
            </a:r>
            <a:r>
              <a:rPr lang="en-US" altLang="zh-CN" sz="2800" i="1" baseline="30000">
                <a:solidFill>
                  <a:schemeClr val="folHlink"/>
                </a:solidFill>
                <a:latin typeface="Times New Roman" panose="02020603050405020304" pitchFamily="18" charset="0"/>
                <a:ea typeface="黑体" panose="02010609060101010101" pitchFamily="49" charset="-122"/>
              </a:rPr>
              <a:t>n</a:t>
            </a:r>
            <a:r>
              <a:rPr lang="en-US" altLang="zh-CN" sz="2800">
                <a:solidFill>
                  <a:schemeClr val="folHlink"/>
                </a:solidFill>
                <a:latin typeface="Times New Roman" panose="02020603050405020304" pitchFamily="18" charset="0"/>
                <a:ea typeface="黑体" panose="02010609060101010101" pitchFamily="49" charset="-122"/>
              </a:rPr>
              <a:t>(</a:t>
            </a:r>
            <a:r>
              <a:rPr lang="en-US" altLang="zh-CN" sz="2800" i="1">
                <a:solidFill>
                  <a:schemeClr val="folHlink"/>
                </a:solidFill>
                <a:latin typeface="Times New Roman" panose="02020603050405020304" pitchFamily="18" charset="0"/>
                <a:ea typeface="黑体" panose="02010609060101010101" pitchFamily="49" charset="-122"/>
              </a:rPr>
              <a:t>n</a:t>
            </a:r>
            <a:r>
              <a:rPr lang="en-US" altLang="zh-CN" sz="2800">
                <a:solidFill>
                  <a:schemeClr val="folHlink"/>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a:solidFill>
                  <a:schemeClr val="folHlink"/>
                </a:solidFill>
                <a:latin typeface="Times New Roman" panose="02020603050405020304" pitchFamily="18" charset="0"/>
                <a:ea typeface="黑体" panose="02010609060101010101" pitchFamily="49" charset="-122"/>
              </a:rPr>
              <a:t>2)</a:t>
            </a:r>
            <a:r>
              <a:rPr lang="zh-CN" altLang="en-US" sz="2800">
                <a:solidFill>
                  <a:schemeClr val="folHlink"/>
                </a:solidFill>
                <a:latin typeface="Times New Roman" panose="02020603050405020304" pitchFamily="18" charset="0"/>
                <a:ea typeface="黑体" panose="02010609060101010101" pitchFamily="49" charset="-122"/>
              </a:rPr>
              <a:t>个所用二进制</a:t>
            </a:r>
            <a:endParaRPr lang="zh-CN" altLang="en-US"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1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数字的个数为</a:t>
            </a:r>
            <a:r>
              <a:rPr lang="en-US" altLang="zh-CN" sz="2800">
                <a:solidFill>
                  <a:schemeClr val="folHlink"/>
                </a:solidFill>
                <a:latin typeface="Times New Roman" panose="02020603050405020304" pitchFamily="18" charset="0"/>
                <a:ea typeface="黑体" panose="02010609060101010101" pitchFamily="49" charset="-122"/>
              </a:rPr>
              <a:t>2.85</a:t>
            </a:r>
            <a:r>
              <a:rPr lang="en-US" altLang="zh-CN" sz="2800">
                <a:solidFill>
                  <a:schemeClr val="folHlink"/>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a:solidFill>
                  <a:schemeClr val="folHlink"/>
                </a:solidFill>
                <a:latin typeface="Times New Roman" panose="02020603050405020304" pitchFamily="18" charset="0"/>
                <a:ea typeface="黑体" panose="02010609060101010101" pitchFamily="49" charset="-122"/>
              </a:rPr>
              <a:t>10</a:t>
            </a:r>
            <a:r>
              <a:rPr lang="en-US" altLang="zh-CN" sz="2800" i="1" baseline="30000">
                <a:solidFill>
                  <a:schemeClr val="folHlink"/>
                </a:solidFill>
                <a:latin typeface="Times New Roman" panose="02020603050405020304" pitchFamily="18" charset="0"/>
                <a:ea typeface="黑体" panose="02010609060101010101" pitchFamily="49" charset="-122"/>
              </a:rPr>
              <a:t>n</a:t>
            </a:r>
            <a:r>
              <a:rPr lang="en-US" altLang="zh-CN" sz="2800">
                <a:solidFill>
                  <a:schemeClr val="folHlink"/>
                </a:solidFill>
                <a:latin typeface="Times New Roman" panose="02020603050405020304" pitchFamily="18" charset="0"/>
                <a:ea typeface="黑体" panose="02010609060101010101" pitchFamily="49" charset="-122"/>
              </a:rPr>
              <a:t>, </a:t>
            </a:r>
            <a:endParaRPr lang="en-US" altLang="zh-CN" sz="2800">
              <a:solidFill>
                <a:schemeClr val="folHlink"/>
              </a:solidFill>
              <a:latin typeface="Times New Roman" panose="02020603050405020304" pitchFamily="18" charset="0"/>
              <a:ea typeface="黑体" panose="02010609060101010101" pitchFamily="49" charset="-122"/>
            </a:endParaRPr>
          </a:p>
          <a:p>
            <a:pPr marL="342900" indent="-342900" eaLnBrk="0" hangingPunct="0">
              <a:lnSpc>
                <a:spcPct val="110000"/>
              </a:lnSpc>
              <a:spcBef>
                <a:spcPct val="20000"/>
              </a:spcBef>
              <a:buClr>
                <a:schemeClr val="folHlink"/>
              </a:buClr>
              <a:buSzPct val="75000"/>
            </a:pPr>
            <a:r>
              <a:rPr lang="zh-CN" altLang="en-US" sz="2800">
                <a:solidFill>
                  <a:schemeClr val="folHlink"/>
                </a:solidFill>
                <a:latin typeface="Times New Roman" panose="02020603050405020304" pitchFamily="18" charset="0"/>
                <a:ea typeface="黑体" panose="02010609060101010101" pitchFamily="49" charset="-122"/>
              </a:rPr>
              <a:t>而用等长码</a:t>
            </a:r>
            <a:r>
              <a:rPr lang="en-US" altLang="zh-CN" sz="2800">
                <a:solidFill>
                  <a:schemeClr val="folHlink"/>
                </a:solidFill>
                <a:latin typeface="Times New Roman" panose="02020603050405020304" pitchFamily="18" charset="0"/>
                <a:ea typeface="黑体" panose="02010609060101010101" pitchFamily="49" charset="-122"/>
              </a:rPr>
              <a:t>(</a:t>
            </a:r>
            <a:r>
              <a:rPr lang="zh-CN" altLang="en-US" sz="2800">
                <a:solidFill>
                  <a:schemeClr val="folHlink"/>
                </a:solidFill>
                <a:latin typeface="Times New Roman" panose="02020603050405020304" pitchFamily="18" charset="0"/>
                <a:ea typeface="黑体" panose="02010609060101010101" pitchFamily="49" charset="-122"/>
              </a:rPr>
              <a:t>长为</a:t>
            </a:r>
            <a:r>
              <a:rPr lang="en-US" altLang="zh-CN" sz="2800">
                <a:solidFill>
                  <a:schemeClr val="folHlink"/>
                </a:solidFill>
                <a:latin typeface="Times New Roman" panose="02020603050405020304" pitchFamily="18" charset="0"/>
                <a:ea typeface="黑体" panose="02010609060101010101" pitchFamily="49" charset="-122"/>
              </a:rPr>
              <a:t>3)</a:t>
            </a:r>
            <a:r>
              <a:rPr lang="zh-CN" altLang="en-US" sz="2800">
                <a:solidFill>
                  <a:schemeClr val="folHlink"/>
                </a:solidFill>
                <a:latin typeface="Times New Roman" panose="02020603050405020304" pitchFamily="18" charset="0"/>
                <a:ea typeface="黑体" panose="02010609060101010101" pitchFamily="49" charset="-122"/>
              </a:rPr>
              <a:t>需要用 </a:t>
            </a:r>
            <a:r>
              <a:rPr lang="en-US" altLang="zh-CN" sz="2800">
                <a:solidFill>
                  <a:schemeClr val="folHlink"/>
                </a:solidFill>
                <a:latin typeface="Times New Roman" panose="02020603050405020304" pitchFamily="18" charset="0"/>
                <a:ea typeface="黑体" panose="02010609060101010101" pitchFamily="49" charset="-122"/>
              </a:rPr>
              <a:t>3</a:t>
            </a:r>
            <a:r>
              <a:rPr lang="en-US" altLang="zh-CN" sz="2800">
                <a:solidFill>
                  <a:schemeClr val="folHlink"/>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a:solidFill>
                  <a:schemeClr val="folHlink"/>
                </a:solidFill>
                <a:latin typeface="Times New Roman" panose="02020603050405020304" pitchFamily="18" charset="0"/>
                <a:ea typeface="黑体" panose="02010609060101010101" pitchFamily="49" charset="-122"/>
              </a:rPr>
              <a:t>10</a:t>
            </a:r>
            <a:r>
              <a:rPr lang="en-US" altLang="zh-CN" sz="2800" i="1" baseline="30000">
                <a:solidFill>
                  <a:schemeClr val="folHlink"/>
                </a:solidFill>
                <a:latin typeface="Times New Roman" panose="02020603050405020304" pitchFamily="18" charset="0"/>
                <a:ea typeface="黑体" panose="02010609060101010101" pitchFamily="49" charset="-122"/>
              </a:rPr>
              <a:t>n</a:t>
            </a:r>
            <a:r>
              <a:rPr lang="zh-CN" altLang="en-US" sz="2800">
                <a:solidFill>
                  <a:schemeClr val="folHlink"/>
                </a:solidFill>
                <a:latin typeface="Times New Roman" panose="02020603050405020304" pitchFamily="18" charset="0"/>
                <a:ea typeface="黑体" panose="02010609060101010101" pitchFamily="49" charset="-122"/>
              </a:rPr>
              <a:t>个数字</a:t>
            </a:r>
            <a:r>
              <a:rPr lang="en-US" altLang="zh-CN" sz="2800">
                <a:solidFill>
                  <a:schemeClr val="folHlink"/>
                </a:solidFill>
                <a:latin typeface="Times New Roman" panose="02020603050405020304" pitchFamily="18" charset="0"/>
                <a:ea typeface="黑体" panose="02010609060101010101" pitchFamily="49" charset="-122"/>
              </a:rPr>
              <a:t>. </a:t>
            </a:r>
            <a:endParaRPr lang="en-US" altLang="zh-CN" sz="2800">
              <a:solidFill>
                <a:schemeClr val="folHlink"/>
              </a:solidFill>
              <a:latin typeface="Times New Roman" panose="02020603050405020304" pitchFamily="18" charset="0"/>
              <a:ea typeface="黑体" panose="02010609060101010101" pitchFamily="49" charset="-122"/>
            </a:endParaRPr>
          </a:p>
        </p:txBody>
      </p:sp>
      <p:sp>
        <p:nvSpPr>
          <p:cNvPr id="4099" name="灯片编号占位符 3"/>
          <p:cNvSpPr>
            <a:spLocks noGrp="1"/>
          </p:cNvSpPr>
          <p:nvPr/>
        </p:nvSpPr>
        <p:spPr>
          <a:xfrm>
            <a:off x="7169150" y="6370638"/>
            <a:ext cx="1905000" cy="457200"/>
          </a:xfrm>
          <a:prstGeom prst="rect">
            <a:avLst/>
          </a:prstGeom>
          <a:noFill/>
          <a:ln w="9525">
            <a:noFill/>
            <a:miter lim="800000"/>
          </a:ln>
          <a:effectLst/>
        </p:spPr>
        <p:txBody>
          <a:bodyPr vert="horz" wrap="square" lIns="91440" tIns="45720" rIns="91440" bIns="45720" numCol="1" anchor="b" anchorCtr="0" compatLnSpc="1"/>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Rectangle 2"/>
          <p:cNvSpPr>
            <a:spLocks noGrp="1" noChangeArrowheads="1"/>
          </p:cNvSpPr>
          <p:nvPr>
            <p:ph type="title"/>
          </p:nvPr>
        </p:nvSpPr>
        <p:spPr>
          <a:xfrm>
            <a:off x="1150938" y="69850"/>
            <a:ext cx="7793038" cy="98266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chemeClr val="tx2"/>
                </a:solidFill>
                <a:effectLst/>
                <a:uLnTx/>
                <a:uFillTx/>
                <a:latin typeface="+mj-lt"/>
                <a:ea typeface="+mj-ea"/>
                <a:cs typeface="+mj-cs"/>
              </a:rPr>
              <a:t>总结</a:t>
            </a:r>
            <a:endParaRPr kumimoji="0" lang="zh-CN" altLang="en-US" sz="4400" b="1" i="0" u="none" strike="noStrike" kern="0" cap="none" spc="0" normalizeH="0" baseline="0" noProof="0" smtClean="0">
              <a:ln>
                <a:noFill/>
              </a:ln>
              <a:solidFill>
                <a:schemeClr val="tx2"/>
              </a:solidFill>
              <a:effectLst/>
              <a:uLnTx/>
              <a:uFillTx/>
              <a:latin typeface="+mj-lt"/>
              <a:ea typeface="+mj-ea"/>
              <a:cs typeface="+mj-cs"/>
            </a:endParaRPr>
          </a:p>
        </p:txBody>
      </p:sp>
      <p:sp>
        <p:nvSpPr>
          <p:cNvPr id="62466" name="Rectangle 3"/>
          <p:cNvSpPr>
            <a:spLocks noGrp="1"/>
          </p:cNvSpPr>
          <p:nvPr>
            <p:ph idx="1"/>
          </p:nvPr>
        </p:nvSpPr>
        <p:spPr/>
        <p:txBody>
          <a:bodyPr vert="horz" wrap="square" lIns="91440" tIns="45720" rIns="91440" bIns="45720" anchor="t" anchorCtr="0"/>
          <a:p>
            <a:r>
              <a:rPr lang="zh-CN" altLang="en-US"/>
              <a:t>根树</a:t>
            </a:r>
            <a:endParaRPr lang="zh-CN" altLang="en-US"/>
          </a:p>
          <a:p>
            <a:r>
              <a:rPr lang="zh-CN" altLang="en-US"/>
              <a:t>根树的周游</a:t>
            </a:r>
            <a:endParaRPr lang="zh-CN" altLang="en-US"/>
          </a:p>
          <a:p>
            <a:r>
              <a:rPr lang="zh-CN" altLang="en-US">
                <a:sym typeface="+mn-ea"/>
              </a:rPr>
              <a:t>最佳前缀码</a:t>
            </a:r>
            <a:endParaRPr lang="zh-CN" altLang="en-US"/>
          </a:p>
          <a:p>
            <a:r>
              <a:rPr lang="zh-CN" altLang="en-US"/>
              <a:t>最优树</a:t>
            </a:r>
            <a:r>
              <a:rPr lang="en-US" altLang="zh-CN"/>
              <a:t>, Huffman</a:t>
            </a:r>
            <a:r>
              <a:rPr lang="zh-CN" altLang="en-US"/>
              <a:t>算法</a:t>
            </a:r>
            <a:endParaRPr lang="zh-CN" altLang="en-US"/>
          </a:p>
          <a:p>
            <a:r>
              <a:rPr lang="zh-CN" altLang="en-US" sz="3200">
                <a:solidFill>
                  <a:srgbClr val="FF0000"/>
                </a:solidFill>
              </a:rPr>
              <a:t>课后作业四</a:t>
            </a:r>
            <a:r>
              <a:rPr lang="zh-CN" altLang="en-US">
                <a:solidFill>
                  <a:srgbClr val="FF0000"/>
                </a:solidFill>
              </a:rPr>
              <a:t>：</a:t>
            </a:r>
            <a:r>
              <a:rPr lang="en-US" altLang="zh-CN">
                <a:solidFill>
                  <a:srgbClr val="FF0000"/>
                </a:solidFill>
              </a:rPr>
              <a:t>p220, </a:t>
            </a:r>
            <a:r>
              <a:rPr lang="zh-CN" altLang="en-US">
                <a:solidFill>
                  <a:srgbClr val="FF0000"/>
                </a:solidFill>
              </a:rPr>
              <a:t>习题十四</a:t>
            </a:r>
            <a:r>
              <a:rPr lang="en-US" altLang="zh-CN">
                <a:solidFill>
                  <a:srgbClr val="FF0000"/>
                </a:solidFill>
              </a:rPr>
              <a:t>, 12</a:t>
            </a:r>
            <a:endParaRPr lang="en-US" altLang="zh-CN"/>
          </a:p>
        </p:txBody>
      </p:sp>
      <p:sp>
        <p:nvSpPr>
          <p:cNvPr id="4099" name="灯片编号占位符 3"/>
          <p:cNvSpPr>
            <a:spLocks noGrp="1"/>
          </p:cNvSpPr>
          <p:nvPr/>
        </p:nvSpPr>
        <p:spPr>
          <a:xfrm>
            <a:off x="7169150" y="6370638"/>
            <a:ext cx="1905000" cy="457200"/>
          </a:xfrm>
          <a:prstGeom prst="rect">
            <a:avLst/>
          </a:prstGeom>
          <a:noFill/>
          <a:ln w="9525">
            <a:noFill/>
            <a:miter lim="800000"/>
          </a:ln>
          <a:effectLst/>
        </p:spPr>
        <p:txBody>
          <a:bodyPr vert="horz" wrap="square" lIns="91440" tIns="45720" rIns="91440" bIns="45720" numCol="1" anchor="b" anchorCtr="0" compatLnSpc="1"/>
          <a:lstStyle>
            <a:lvl1pPr marL="0" lvl="0" indent="0" algn="l" defTabSz="914400" rtl="0" eaLnBrk="1" fontAlgn="base" latinLnBrk="0" hangingPunct="1">
              <a:lnSpc>
                <a:spcPct val="100000"/>
              </a:lnSpc>
              <a:spcBef>
                <a:spcPct val="0"/>
              </a:spcBef>
              <a:spcAft>
                <a:spcPct val="0"/>
              </a:spcAft>
              <a:buNone/>
              <a:defRPr sz="18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stStyle>
          <a:p>
            <a:pPr lvl="0" algn="r">
              <a:buSzTx/>
            </a:pPr>
            <a:fld id="{9A0DB2DC-4C9A-4742-B13C-FB6460FD3503}" type="slidenum">
              <a:rPr lang="en-US" altLang="zh-CN" sz="1400" b="0">
                <a:solidFill>
                  <a:srgbClr val="002060"/>
                </a:solidFill>
              </a:rPr>
            </a:fld>
            <a:endParaRPr lang="en-US" altLang="zh-CN" sz="1400" b="0">
              <a:solidFill>
                <a:srgbClr val="002060"/>
              </a:solidFill>
            </a:endParaRPr>
          </a:p>
        </p:txBody>
      </p:sp>
    </p:spTree>
  </p:cSld>
  <p:clrMapOvr>
    <a:masterClrMapping/>
  </p:clrMapOvr>
  <p:transition>
    <p:wipe dir="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PP_MARK_KEY" val="e2431068-b3b8-4e1e-bae5-f1259e66a3cd"/>
  <p:tag name="COMMONDATA" val="eyJoZGlkIjoiY2FjYjUwYzFhN2VkM2YwN2YyYmE3ZGUyNDQzZTVlNzEifQ=="/>
  <p:tag name="commondata" val="eyJoZGlkIjoiY2JiMjJjNjEwZGVmNWM5ZTE4YjkzYzY1NDY4YzMyMmM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solidFill>
          <a:schemeClr val="accent1"/>
        </a:solidFill>
        <a:ln w="9525" cap="flat" cmpd="sng" algn="ctr">
          <a:solidFill>
            <a:schemeClr val="tx1"/>
          </a:solidFill>
          <a:prstDash val="solid"/>
          <a:round/>
          <a:headEnd type="none" w="med" len="med"/>
          <a:tailEnd type="none" w="med" len="med"/>
        </a:ln>
      </a:spPr>
      <a:body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0</TotalTime>
  <Words>5471</Words>
  <Application>WPS 演示</Application>
  <PresentationFormat>全屏显示(4:3)</PresentationFormat>
  <Paragraphs>775</Paragraphs>
  <Slides>39</Slides>
  <Notes>19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10</vt:i4>
      </vt:variant>
      <vt:variant>
        <vt:lpstr>幻灯片标题</vt:lpstr>
      </vt:variant>
      <vt:variant>
        <vt:i4>39</vt:i4>
      </vt:variant>
    </vt:vector>
  </HeadingPairs>
  <TitlesOfParts>
    <vt:vector size="59" baseType="lpstr">
      <vt:lpstr>Arial</vt:lpstr>
      <vt:lpstr>宋体</vt:lpstr>
      <vt:lpstr>Wingdings</vt:lpstr>
      <vt:lpstr>Tahoma</vt:lpstr>
      <vt:lpstr>黑体</vt:lpstr>
      <vt:lpstr>Times New Roman</vt:lpstr>
      <vt:lpstr>Symbol</vt:lpstr>
      <vt:lpstr>微软雅黑</vt:lpstr>
      <vt:lpstr>Arial Unicode MS</vt:lpstr>
      <vt:lpstr>Blends</vt:lpstr>
      <vt:lpstr>Visio.Drawing.11</vt:lpstr>
      <vt:lpstr>Equation.3</vt:lpstr>
      <vt:lpstr>Visio.Drawing.11</vt:lpstr>
      <vt:lpstr>Equation.3</vt:lpstr>
      <vt:lpstr>Equation.3</vt:lpstr>
      <vt:lpstr>Equation.3</vt:lpstr>
      <vt:lpstr>Equation.3</vt:lpstr>
      <vt:lpstr>Equation.3</vt:lpstr>
      <vt:lpstr>Equation.3</vt:lpstr>
      <vt:lpstr>Equation.3</vt:lpstr>
      <vt:lpstr>  根树</vt:lpstr>
      <vt:lpstr>根树(rooted tree)</vt:lpstr>
      <vt:lpstr>举例</vt:lpstr>
      <vt:lpstr>层数与树高</vt:lpstr>
      <vt:lpstr>家族树</vt:lpstr>
      <vt:lpstr>有序树(ordered tree)</vt:lpstr>
      <vt:lpstr>r叉树(t-ary tree)</vt:lpstr>
      <vt:lpstr>定理14.13</vt:lpstr>
      <vt:lpstr>树作为模型—表示组织机构</vt:lpstr>
      <vt:lpstr>树作为模型—计算机文件系统</vt:lpstr>
      <vt:lpstr>树作为模型—并行处理系统</vt:lpstr>
      <vt:lpstr>应用实例</vt:lpstr>
      <vt:lpstr>课后作业二</vt:lpstr>
      <vt:lpstr>根子树</vt:lpstr>
      <vt:lpstr>根树的周游(travesal)</vt:lpstr>
      <vt:lpstr>四则运算式与二叉正侧有序树</vt:lpstr>
      <vt:lpstr>中缀法,前缀法,后缀法</vt:lpstr>
      <vt:lpstr>举例</vt:lpstr>
      <vt:lpstr>课后作业三</vt:lpstr>
      <vt:lpstr>通讯编码</vt:lpstr>
      <vt:lpstr>不等长编码</vt:lpstr>
      <vt:lpstr>前缀码(prefix code)</vt:lpstr>
      <vt:lpstr>前缀码的得到</vt:lpstr>
      <vt:lpstr>实例</vt:lpstr>
      <vt:lpstr>前缀码对应二叉树</vt:lpstr>
      <vt:lpstr>实例</vt:lpstr>
      <vt:lpstr>最佳前缀码</vt:lpstr>
      <vt:lpstr>最优二叉树</vt:lpstr>
      <vt:lpstr>Huffman算法</vt:lpstr>
      <vt:lpstr>Huffman算法(举例)</vt:lpstr>
      <vt:lpstr>Huffman算法(正确性)</vt:lpstr>
      <vt:lpstr>定理14.11的证明</vt:lpstr>
      <vt:lpstr>定理14.11的证明</vt:lpstr>
      <vt:lpstr>定理14.12</vt:lpstr>
      <vt:lpstr>定理14.12的证明</vt:lpstr>
      <vt:lpstr>证明的图例</vt:lpstr>
      <vt:lpstr>实例</vt:lpstr>
      <vt:lpstr>实例（续）</vt:lpstr>
      <vt:lpstr>总结</vt:lpstr>
    </vt:vector>
  </TitlesOfParts>
  <Company>ouc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sheng</dc:creator>
  <cp:lastModifiedBy>WPS_1709687041</cp:lastModifiedBy>
  <cp:revision>885</cp:revision>
  <dcterms:created xsi:type="dcterms:W3CDTF">2008-01-04T07:39:00Z</dcterms:created>
  <dcterms:modified xsi:type="dcterms:W3CDTF">2025-11-03T10:09:20Z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A7FAD8E5C67945189FC23DD65BF34B0C</vt:lpwstr>
  </property>
</Properties>
</file>