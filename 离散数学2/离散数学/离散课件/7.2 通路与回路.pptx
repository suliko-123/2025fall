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6"/>
  </p:handoutMasterIdLst>
  <p:sldIdLst>
    <p:sldId id="258" r:id="rId3"/>
    <p:sldId id="259" r:id="rId4"/>
    <p:sldId id="260" r:id="rId6"/>
    <p:sldId id="262" r:id="rId7"/>
    <p:sldId id="304" r:id="rId8"/>
    <p:sldId id="263" r:id="rId9"/>
    <p:sldId id="313" r:id="rId10"/>
    <p:sldId id="265" r:id="rId11"/>
    <p:sldId id="306" r:id="rId12"/>
    <p:sldId id="307" r:id="rId13"/>
    <p:sldId id="308" r:id="rId14"/>
    <p:sldId id="310" r:id="rId15"/>
  </p:sldIdLst>
  <p:sldSz cx="9144000" cy="6858000" type="screen4x3"/>
  <p:notesSz cx="6858000" cy="9144000"/>
  <p:custDataLst>
    <p:tags r:id="rId2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oyu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808080"/>
    <a:srgbClr val="996633"/>
    <a:srgbClr val="FF0000"/>
    <a:srgbClr val="C7F9F1"/>
    <a:srgbClr val="BBF7FD"/>
    <a:srgbClr val="5F5F5F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-2248" y="-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9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9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eaLnBrk="1" hangingPunct="1"/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p>
            <a:pPr lvl="0"/>
            <a:r>
              <a:rPr lang="zh-CN" altLang="en-US" dirty="0"/>
              <a:t>读定义，根据图回答问题：</a:t>
            </a:r>
            <a:endParaRPr lang="en-US" altLang="zh-CN" dirty="0"/>
          </a:p>
          <a:p>
            <a:pPr lvl="0"/>
            <a:r>
              <a:rPr lang="zh-CN" altLang="en-US" dirty="0"/>
              <a:t>给出：</a:t>
            </a:r>
            <a:r>
              <a:rPr lang="en-US" altLang="zh-CN" dirty="0"/>
              <a:t>1</a:t>
            </a:r>
            <a:r>
              <a:rPr lang="zh-CN" altLang="en-US" dirty="0"/>
              <a:t>）通路且不是简单通路；</a:t>
            </a:r>
            <a:endParaRPr lang="en-US" altLang="zh-CN" dirty="0"/>
          </a:p>
          <a:p>
            <a:pPr lvl="0"/>
            <a:r>
              <a:rPr lang="en-US" altLang="zh-CN" dirty="0"/>
              <a:t>      2</a:t>
            </a:r>
            <a:r>
              <a:rPr lang="zh-CN" altLang="en-US" dirty="0"/>
              <a:t>）简单通路但不是路径</a:t>
            </a:r>
            <a:endParaRPr lang="en-US" altLang="zh-CN" dirty="0"/>
          </a:p>
          <a:p>
            <a:pPr lvl="0"/>
            <a:r>
              <a:rPr lang="en-US" altLang="zh-CN" dirty="0"/>
              <a:t>      3</a:t>
            </a:r>
            <a:r>
              <a:rPr lang="zh-CN" altLang="en-US" dirty="0"/>
              <a:t>）路径</a:t>
            </a:r>
            <a:endParaRPr lang="en-US" altLang="zh-CN" dirty="0"/>
          </a:p>
          <a:p>
            <a:pPr lvl="0"/>
            <a:r>
              <a:rPr lang="en-US" altLang="zh-CN" dirty="0"/>
              <a:t>      4</a:t>
            </a:r>
            <a:r>
              <a:rPr lang="zh-CN" altLang="en-US" dirty="0"/>
              <a:t>）圈</a:t>
            </a:r>
            <a:endParaRPr lang="zh-CN" altLang="en-US" dirty="0"/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2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p>
            <a:pPr lvl="0"/>
            <a:r>
              <a:rPr lang="zh-CN" altLang="en-US" dirty="0"/>
              <a:t>让学生先学习概念，给出一个图并其中的一个路径，要求</a:t>
            </a:r>
            <a:r>
              <a:rPr lang="en-US" altLang="zh-CN" dirty="0"/>
              <a:t>2</a:t>
            </a:r>
            <a:r>
              <a:rPr lang="zh-CN" altLang="en-US" dirty="0"/>
              <a:t>个学生找出不同的极大路径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en-US" dirty="0"/>
              <a:t>归纳出极大路径的特性：</a:t>
            </a:r>
            <a:r>
              <a:rPr lang="en-US" altLang="zh-CN" dirty="0"/>
              <a:t>1</a:t>
            </a:r>
            <a:r>
              <a:rPr lang="zh-CN" altLang="en-US" dirty="0"/>
              <a:t>）路径的两个端点的所有邻接点全部在该路径上；</a:t>
            </a:r>
            <a:r>
              <a:rPr lang="en-US" altLang="zh-CN" dirty="0"/>
              <a:t>2</a:t>
            </a:r>
            <a:r>
              <a:rPr lang="zh-CN" altLang="en-US" dirty="0"/>
              <a:t>）极大路径不唯一；</a:t>
            </a:r>
            <a:r>
              <a:rPr lang="en-US" altLang="zh-CN" dirty="0"/>
              <a:t>3</a:t>
            </a:r>
            <a:r>
              <a:rPr lang="zh-CN" altLang="en-US" dirty="0"/>
              <a:t>）极大路径不一定是最长路径</a:t>
            </a:r>
            <a:endParaRPr lang="zh-CN" altLang="en-US" dirty="0"/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charset="0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/>
          <p:nvPr/>
        </p:nvSpPr>
        <p:spPr>
          <a:xfrm>
            <a:off x="417513" y="404813"/>
            <a:ext cx="438150" cy="47466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27" name="Rectangle 3"/>
          <p:cNvSpPr/>
          <p:nvPr/>
        </p:nvSpPr>
        <p:spPr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28" name="Rectangle 4"/>
          <p:cNvSpPr/>
          <p:nvPr/>
        </p:nvSpPr>
        <p:spPr>
          <a:xfrm>
            <a:off x="541338" y="836613"/>
            <a:ext cx="422275" cy="474662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29" name="Rectangle 5"/>
          <p:cNvSpPr/>
          <p:nvPr/>
        </p:nvSpPr>
        <p:spPr>
          <a:xfrm>
            <a:off x="911225" y="836613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30" name="Rectangle 6"/>
          <p:cNvSpPr/>
          <p:nvPr/>
        </p:nvSpPr>
        <p:spPr>
          <a:xfrm>
            <a:off x="127000" y="7651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31" name="Rectangle 7"/>
          <p:cNvSpPr/>
          <p:nvPr/>
        </p:nvSpPr>
        <p:spPr>
          <a:xfrm>
            <a:off x="762000" y="26035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32" name="Rectangle 8"/>
          <p:cNvSpPr/>
          <p:nvPr/>
        </p:nvSpPr>
        <p:spPr>
          <a:xfrm>
            <a:off x="442913" y="10525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p>
            <a:pPr lvl="0" algn="ctr" eaLnBrk="1" hangingPunct="1"/>
            <a:endParaRPr lang="en-US" altLang="x-none" sz="2400" dirty="0">
              <a:latin typeface="Tahoma" panose="020B0604030504040204" charset="0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>
                <a:alpha val="100000"/>
              </a:schemeClr>
            </a:outerShdw>
          </a:effectLst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30" name="Rectangle 10"/>
          <p:cNvSpPr>
            <a:spLocks noGrp="1"/>
          </p:cNvSpPr>
          <p:nvPr>
            <p:ph type="body" idx="1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 lvl="0" eaLnBrk="1" hangingPunct="1"/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charset="0"/>
              </a:rPr>
            </a:fld>
            <a:endParaRPr lang="en-US" altLang="zh-CN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 bldLvl="2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charset="0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charset="0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charset="0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charset="0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charset="0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/>
            <a:r>
              <a:rPr lang="zh-CN" altLang="en-US" dirty="0"/>
              <a:t>通路</a:t>
            </a:r>
            <a:r>
              <a:rPr lang="en-US" altLang="zh-CN" dirty="0"/>
              <a:t>,</a:t>
            </a:r>
            <a:r>
              <a:rPr lang="zh-CN" altLang="en-US" dirty="0"/>
              <a:t>回路</a:t>
            </a:r>
            <a:r>
              <a:rPr lang="en-US" altLang="zh-CN" dirty="0"/>
              <a:t>,</a:t>
            </a:r>
            <a:r>
              <a:rPr lang="zh-CN" altLang="en-US" dirty="0"/>
              <a:t>路径</a:t>
            </a:r>
            <a:r>
              <a:rPr lang="en-US" altLang="zh-CN" dirty="0"/>
              <a:t>,</a:t>
            </a:r>
            <a:r>
              <a:rPr lang="zh-CN" altLang="en-US" dirty="0"/>
              <a:t>圈</a:t>
            </a:r>
            <a:r>
              <a:rPr lang="en-US" altLang="zh-CN" dirty="0"/>
              <a:t>,</a:t>
            </a:r>
            <a:r>
              <a:rPr lang="zh-CN" altLang="en-US" dirty="0"/>
              <a:t>周长</a:t>
            </a:r>
            <a:r>
              <a:rPr lang="en-US" altLang="zh-CN" dirty="0"/>
              <a:t>,</a:t>
            </a:r>
            <a:r>
              <a:rPr lang="zh-CN" altLang="en-US" dirty="0"/>
              <a:t>围长</a:t>
            </a:r>
            <a:endParaRPr lang="zh-CN" altLang="en-US" dirty="0"/>
          </a:p>
          <a:p>
            <a:pPr eaLnBrk="1" hangingPunct="1"/>
            <a:r>
              <a:rPr lang="zh-CN" altLang="en-US" dirty="0"/>
              <a:t>极大通路法</a:t>
            </a:r>
            <a:endParaRPr lang="zh-CN" altLang="en-US" dirty="0"/>
          </a:p>
          <a:p>
            <a:pPr eaLnBrk="1" hangingPunct="1"/>
            <a:r>
              <a:rPr lang="zh-CN" altLang="en-US" dirty="0"/>
              <a:t>无向图的连通度性</a:t>
            </a:r>
            <a:endParaRPr lang="zh-CN" altLang="en-US" dirty="0"/>
          </a:p>
          <a:p>
            <a:pPr eaLnBrk="1" hangingPunct="1"/>
            <a:r>
              <a:rPr lang="zh-CN" altLang="en-US" dirty="0"/>
              <a:t>二部图</a:t>
            </a:r>
            <a:endParaRPr lang="zh-CN" altLang="en-US" dirty="0"/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7.2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通路与回路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6" name="Rectangle 3"/>
          <p:cNvSpPr>
            <a:spLocks noGrp="1"/>
          </p:cNvSpPr>
          <p:nvPr>
            <p:ph idx="1"/>
          </p:nvPr>
        </p:nvSpPr>
        <p:spPr>
          <a:xfrm>
            <a:off x="217488" y="1412875"/>
            <a:ext cx="8602662" cy="5040313"/>
          </a:xfrm>
        </p:spPr>
        <p:txBody>
          <a:bodyPr vert="horz" wrap="square" lIns="91440" tIns="45720" rIns="91440" bIns="45720" anchor="t"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hlink"/>
                </a:solidFill>
              </a:rPr>
              <a:t>定义</a:t>
            </a:r>
            <a:r>
              <a:rPr lang="en-US" altLang="zh-CN" sz="2400" dirty="0">
                <a:solidFill>
                  <a:schemeClr val="hlink"/>
                </a:solidFill>
              </a:rPr>
              <a:t>7.18</a:t>
            </a:r>
            <a:r>
              <a:rPr lang="en-US" altLang="zh-CN" sz="2400" dirty="0">
                <a:solidFill>
                  <a:schemeClr val="folHlink"/>
                </a:solidFill>
              </a:rPr>
              <a:t>  </a:t>
            </a:r>
            <a:r>
              <a:rPr lang="zh-CN" altLang="en-US" sz="2400" dirty="0"/>
              <a:t>设</a:t>
            </a:r>
            <a:r>
              <a:rPr lang="en-US" altLang="zh-CN" sz="2400" i="1" dirty="0"/>
              <a:t>G</a:t>
            </a:r>
            <a:r>
              <a:rPr lang="zh-CN" altLang="en-US" sz="2400" dirty="0"/>
              <a:t>为无向标定图，顶点和边的交替序列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dirty="0"/>
              <a:t>     </a:t>
            </a:r>
            <a:r>
              <a:rPr lang="el-GR" altLang="zh-CN" sz="2400" dirty="0">
                <a:latin typeface="Garamond" panose="02020404030301010803" charset="0"/>
              </a:rPr>
              <a:t>Γ</a:t>
            </a:r>
            <a:r>
              <a:rPr lang="en-US" altLang="zh-CN" sz="2400" dirty="0"/>
              <a:t>= </a:t>
            </a:r>
            <a:r>
              <a:rPr lang="en-US" altLang="zh-CN" sz="2400" i="1" dirty="0">
                <a:solidFill>
                  <a:srgbClr val="FF00FF"/>
                </a:solidFill>
              </a:rPr>
              <a:t>v</a:t>
            </a:r>
            <a:r>
              <a:rPr lang="en-US" altLang="zh-CN" sz="2400" i="1" baseline="-15000" dirty="0">
                <a:solidFill>
                  <a:srgbClr val="FF00FF"/>
                </a:solidFill>
              </a:rPr>
              <a:t>i</a:t>
            </a:r>
            <a:r>
              <a:rPr lang="en-US" altLang="zh-CN" sz="2400" baseline="-30000" dirty="0">
                <a:solidFill>
                  <a:srgbClr val="FF00FF"/>
                </a:solidFill>
              </a:rPr>
              <a:t>0</a:t>
            </a:r>
            <a:r>
              <a:rPr lang="en-US" altLang="zh-CN" sz="2400" i="1" baseline="-15000" dirty="0">
                <a:solidFill>
                  <a:srgbClr val="FF00FF"/>
                </a:solidFill>
              </a:rPr>
              <a:t> </a:t>
            </a:r>
            <a:r>
              <a:rPr lang="en-US" altLang="zh-CN" sz="2400" i="1" dirty="0">
                <a:solidFill>
                  <a:srgbClr val="FF00FF"/>
                </a:solidFill>
              </a:rPr>
              <a:t>e</a:t>
            </a:r>
            <a:r>
              <a:rPr lang="en-US" altLang="zh-CN" sz="2400" i="1" baseline="-15000" dirty="0">
                <a:solidFill>
                  <a:srgbClr val="FF00FF"/>
                </a:solidFill>
              </a:rPr>
              <a:t>j</a:t>
            </a:r>
            <a:r>
              <a:rPr lang="en-US" altLang="zh-CN" sz="2400" baseline="-30000" dirty="0">
                <a:solidFill>
                  <a:srgbClr val="FF00FF"/>
                </a:solidFill>
              </a:rPr>
              <a:t>1</a:t>
            </a:r>
            <a:r>
              <a:rPr lang="en-US" altLang="zh-CN" sz="2400" i="1" dirty="0">
                <a:solidFill>
                  <a:srgbClr val="FF00FF"/>
                </a:solidFill>
              </a:rPr>
              <a:t>v</a:t>
            </a:r>
            <a:r>
              <a:rPr lang="en-US" altLang="zh-CN" sz="2400" i="1" baseline="-15000" dirty="0">
                <a:solidFill>
                  <a:srgbClr val="FF00FF"/>
                </a:solidFill>
              </a:rPr>
              <a:t>i</a:t>
            </a:r>
            <a:r>
              <a:rPr lang="en-US" altLang="zh-CN" sz="2400" baseline="-15000" dirty="0">
                <a:solidFill>
                  <a:srgbClr val="FF00FF"/>
                </a:solidFill>
              </a:rPr>
              <a:t>1</a:t>
            </a:r>
            <a:r>
              <a:rPr lang="en-US" altLang="zh-CN" sz="2400" i="1" dirty="0">
                <a:solidFill>
                  <a:srgbClr val="FF00FF"/>
                </a:solidFill>
              </a:rPr>
              <a:t>e</a:t>
            </a:r>
            <a:r>
              <a:rPr lang="en-US" altLang="zh-CN" sz="2400" i="1" baseline="-15000" dirty="0">
                <a:solidFill>
                  <a:srgbClr val="FF00FF"/>
                </a:solidFill>
              </a:rPr>
              <a:t>j</a:t>
            </a:r>
            <a:r>
              <a:rPr lang="en-US" altLang="zh-CN" sz="2400" baseline="-30000" dirty="0">
                <a:solidFill>
                  <a:srgbClr val="FF00FF"/>
                </a:solidFill>
              </a:rPr>
              <a:t>2</a:t>
            </a:r>
            <a:r>
              <a:rPr lang="en-US" altLang="zh-CN" sz="2400" dirty="0">
                <a:solidFill>
                  <a:srgbClr val="FF00FF"/>
                </a:solidFill>
              </a:rPr>
              <a:t>… </a:t>
            </a:r>
            <a:r>
              <a:rPr lang="en-US" altLang="zh-CN" sz="2400" i="1" dirty="0">
                <a:solidFill>
                  <a:srgbClr val="FF00FF"/>
                </a:solidFill>
              </a:rPr>
              <a:t>e</a:t>
            </a:r>
            <a:r>
              <a:rPr lang="en-US" altLang="zh-CN" sz="2400" i="1" baseline="-15000" dirty="0">
                <a:solidFill>
                  <a:srgbClr val="FF00FF"/>
                </a:solidFill>
              </a:rPr>
              <a:t>j</a:t>
            </a:r>
            <a:r>
              <a:rPr lang="en-US" altLang="zh-CN" sz="2400" i="1" baseline="-30000" dirty="0">
                <a:solidFill>
                  <a:srgbClr val="FF00FF"/>
                </a:solidFill>
              </a:rPr>
              <a:t>l</a:t>
            </a:r>
            <a:r>
              <a:rPr lang="en-US" altLang="zh-CN" sz="2400" i="1" baseline="-15000" dirty="0">
                <a:solidFill>
                  <a:srgbClr val="FF00FF"/>
                </a:solidFill>
              </a:rPr>
              <a:t> </a:t>
            </a:r>
            <a:r>
              <a:rPr lang="en-US" altLang="zh-CN" sz="2400" i="1" dirty="0">
                <a:solidFill>
                  <a:srgbClr val="FF00FF"/>
                </a:solidFill>
              </a:rPr>
              <a:t>v</a:t>
            </a:r>
            <a:r>
              <a:rPr lang="en-US" altLang="zh-CN" sz="2400" i="1" baseline="-15000" dirty="0">
                <a:solidFill>
                  <a:srgbClr val="FF00FF"/>
                </a:solidFill>
              </a:rPr>
              <a:t>i</a:t>
            </a:r>
            <a:r>
              <a:rPr lang="en-US" altLang="zh-CN" sz="2400" i="1" baseline="-30000" dirty="0">
                <a:solidFill>
                  <a:srgbClr val="FF00FF"/>
                </a:solidFill>
              </a:rPr>
              <a:t>l </a:t>
            </a:r>
            <a:r>
              <a:rPr lang="zh-CN" altLang="en-US" sz="2400" dirty="0"/>
              <a:t>称为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baseline="-50000" dirty="0"/>
              <a:t>0</a:t>
            </a:r>
            <a:r>
              <a:rPr lang="zh-CN" altLang="en-US" sz="2400" dirty="0"/>
              <a:t>到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i="1" baseline="-50000" dirty="0"/>
              <a:t>l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chemeClr val="hlink"/>
                </a:solidFill>
              </a:rPr>
              <a:t>通路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zh-CN" altLang="en-US" sz="2400" dirty="0"/>
              <a:t>其中</a:t>
            </a:r>
            <a:r>
              <a:rPr lang="en-US" altLang="zh-CN" sz="2400" i="1" dirty="0"/>
              <a:t>e</a:t>
            </a:r>
            <a:r>
              <a:rPr lang="en-US" altLang="zh-CN" sz="2400" i="1" baseline="-15000" dirty="0"/>
              <a:t>j</a:t>
            </a:r>
            <a:r>
              <a:rPr lang="en-US" altLang="zh-CN" sz="2400" i="1" baseline="-30000" dirty="0"/>
              <a:t>r</a:t>
            </a:r>
            <a:r>
              <a:rPr lang="en-US" altLang="zh-CN" sz="2400" i="1" baseline="-15000" dirty="0"/>
              <a:t> </a:t>
            </a:r>
            <a:r>
              <a:rPr lang="zh-CN" altLang="en-US" sz="2400" dirty="0"/>
              <a:t>的端点是</a:t>
            </a:r>
            <a:r>
              <a:rPr lang="en-US" altLang="zh-CN" sz="2400" i="1" dirty="0"/>
              <a:t>v</a:t>
            </a:r>
            <a:r>
              <a:rPr lang="en-US" altLang="zh-CN" sz="2400" i="1" baseline="-15000" dirty="0"/>
              <a:t>i</a:t>
            </a:r>
            <a:r>
              <a:rPr lang="en-US" altLang="zh-CN" sz="2400" i="1" baseline="-25000" dirty="0"/>
              <a:t>r</a:t>
            </a:r>
            <a:r>
              <a:rPr lang="en-US" altLang="zh-CN" sz="2400" baseline="-25000" dirty="0"/>
              <a:t>-1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v</a:t>
            </a:r>
            <a:r>
              <a:rPr lang="en-US" altLang="zh-CN" sz="2400" i="1" baseline="-15000" dirty="0"/>
              <a:t>i</a:t>
            </a:r>
            <a:r>
              <a:rPr lang="en-US" altLang="zh-CN" sz="2400" i="1" baseline="-25000" dirty="0"/>
              <a:t>r </a:t>
            </a:r>
            <a:r>
              <a:rPr lang="zh-CN" altLang="en-US" sz="2400" dirty="0">
                <a:solidFill>
                  <a:schemeClr val="folHlink"/>
                </a:solidFill>
              </a:rPr>
              <a:t>，</a:t>
            </a:r>
            <a:r>
              <a:rPr lang="en-US" altLang="zh-CN" sz="2400" i="1" dirty="0">
                <a:solidFill>
                  <a:schemeClr val="folHlink"/>
                </a:solidFill>
              </a:rPr>
              <a:t>r</a:t>
            </a:r>
            <a:r>
              <a:rPr lang="en-US" altLang="zh-CN" sz="2400" dirty="0">
                <a:solidFill>
                  <a:schemeClr val="folHlink"/>
                </a:solidFill>
              </a:rPr>
              <a:t>=1,2, </a:t>
            </a:r>
            <a:r>
              <a:rPr lang="en-US" altLang="zh-CN" sz="2400" dirty="0">
                <a:solidFill>
                  <a:schemeClr val="folHlink"/>
                </a:solidFill>
                <a:sym typeface="Symbol" panose="05050102010706020507" charset="2"/>
              </a:rPr>
              <a:t>, </a:t>
            </a:r>
            <a:r>
              <a:rPr lang="en-US" altLang="zh-CN" sz="2400" i="1" dirty="0">
                <a:solidFill>
                  <a:schemeClr val="folHlink"/>
                </a:solidFill>
                <a:sym typeface="Symbol" panose="05050102010706020507" charset="2"/>
              </a:rPr>
              <a:t>l</a:t>
            </a:r>
            <a:r>
              <a:rPr lang="en-US" altLang="zh-CN" sz="2400" dirty="0"/>
              <a:t>.</a:t>
            </a:r>
            <a:endParaRPr lang="en-US" altLang="zh-CN" sz="2400" dirty="0">
              <a:sym typeface="Symbol" panose="05050102010706020507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hlink"/>
                </a:solidFill>
              </a:rPr>
              <a:t>始点</a:t>
            </a:r>
            <a:r>
              <a:rPr lang="en-US" altLang="zh-CN" sz="2400" dirty="0">
                <a:solidFill>
                  <a:schemeClr val="hlink"/>
                </a:solidFill>
              </a:rPr>
              <a:t>: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baseline="-50000" dirty="0"/>
              <a:t>0</a:t>
            </a:r>
            <a:r>
              <a:rPr lang="en-US" altLang="zh-CN" sz="2400" dirty="0">
                <a:solidFill>
                  <a:schemeClr val="folHlink"/>
                </a:solidFill>
              </a:rPr>
              <a:t>, </a:t>
            </a:r>
            <a:r>
              <a:rPr lang="zh-CN" altLang="en-US" sz="2400" dirty="0">
                <a:solidFill>
                  <a:schemeClr val="hlink"/>
                </a:solidFill>
              </a:rPr>
              <a:t>终点</a:t>
            </a:r>
            <a:r>
              <a:rPr lang="en-US" altLang="zh-CN" sz="2400" dirty="0">
                <a:solidFill>
                  <a:schemeClr val="folHlink"/>
                </a:solidFill>
              </a:rPr>
              <a:t>: ,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i="1" baseline="-50000" dirty="0"/>
              <a:t>l </a:t>
            </a:r>
            <a:r>
              <a:rPr lang="en-US" altLang="zh-CN" sz="2400" dirty="0">
                <a:solidFill>
                  <a:schemeClr val="folHlink"/>
                </a:solidFill>
              </a:rPr>
              <a:t>, </a:t>
            </a:r>
            <a:r>
              <a:rPr lang="zh-CN" altLang="en-US" sz="2400" dirty="0">
                <a:solidFill>
                  <a:schemeClr val="hlink"/>
                </a:solidFill>
              </a:rPr>
              <a:t>长度</a:t>
            </a:r>
            <a:r>
              <a:rPr lang="en-US" altLang="zh-CN" sz="2400" dirty="0">
                <a:solidFill>
                  <a:schemeClr val="hlink"/>
                </a:solidFill>
              </a:rPr>
              <a:t>:</a:t>
            </a:r>
            <a:r>
              <a:rPr lang="zh-CN" altLang="en-US" sz="2400" dirty="0"/>
              <a:t>边数</a:t>
            </a:r>
            <a:endParaRPr lang="zh-CN" altLang="en-US" sz="240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hlink"/>
                </a:solidFill>
              </a:rPr>
              <a:t>回路</a:t>
            </a:r>
            <a:r>
              <a:rPr lang="en-US" altLang="zh-CN" sz="2400" dirty="0">
                <a:solidFill>
                  <a:schemeClr val="hlink"/>
                </a:solidFill>
              </a:rPr>
              <a:t>: 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baseline="-50000" dirty="0"/>
              <a:t>0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= 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i="1" baseline="-50000" dirty="0"/>
              <a:t>l</a:t>
            </a:r>
            <a:r>
              <a:rPr lang="zh-CN" altLang="en-US" sz="2400" dirty="0"/>
              <a:t>时</a:t>
            </a:r>
            <a:r>
              <a:rPr lang="en-US" altLang="zh-CN" sz="2400" dirty="0"/>
              <a:t>, </a:t>
            </a:r>
            <a:r>
              <a:rPr lang="zh-CN" altLang="en-US" sz="2400" dirty="0"/>
              <a:t>称</a:t>
            </a:r>
            <a:r>
              <a:rPr lang="el-GR" altLang="zh-CN" sz="2400" dirty="0">
                <a:latin typeface="Garamond" panose="02020404030301010803" charset="0"/>
              </a:rPr>
              <a:t>Γ</a:t>
            </a:r>
            <a:r>
              <a:rPr lang="zh-CN" altLang="en-US" sz="2400" dirty="0">
                <a:latin typeface="Garamond" panose="02020404030301010803" charset="0"/>
              </a:rPr>
              <a:t>为回路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hlink"/>
                </a:solidFill>
              </a:rPr>
              <a:t>简单通路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  <a:r>
              <a:rPr lang="zh-CN" altLang="en-US" sz="2400" dirty="0"/>
              <a:t>若</a:t>
            </a:r>
            <a:r>
              <a:rPr lang="el-GR" altLang="zh-CN" sz="2400" dirty="0">
                <a:latin typeface="Garamond" panose="02020404030301010803" charset="0"/>
              </a:rPr>
              <a:t>Γ</a:t>
            </a:r>
            <a:r>
              <a:rPr lang="zh-CN" altLang="en-US" sz="2400" dirty="0"/>
              <a:t>中所有的</a:t>
            </a:r>
            <a:r>
              <a:rPr lang="zh-CN" altLang="en-US" sz="2400" dirty="0">
                <a:solidFill>
                  <a:srgbClr val="FF00FF"/>
                </a:solidFill>
              </a:rPr>
              <a:t>边互异</a:t>
            </a:r>
            <a:r>
              <a:rPr lang="en-US" altLang="zh-CN" sz="2400" dirty="0">
                <a:solidFill>
                  <a:srgbClr val="FF00FF"/>
                </a:solidFill>
              </a:rPr>
              <a:t>.</a:t>
            </a:r>
            <a:endParaRPr lang="en-US" altLang="zh-CN" sz="2400" dirty="0">
              <a:solidFill>
                <a:srgbClr val="FF00FF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l-GR" sz="2400" dirty="0">
                <a:solidFill>
                  <a:schemeClr val="hlink"/>
                </a:solidFill>
                <a:latin typeface="Garamond" panose="02020404030301010803" charset="0"/>
              </a:rPr>
              <a:t>简单回路</a:t>
            </a:r>
            <a:r>
              <a:rPr lang="zh-CN" altLang="en-US" sz="2400" dirty="0">
                <a:latin typeface="Garamond" panose="02020404030301010803" charset="0"/>
              </a:rPr>
              <a:t>：</a:t>
            </a:r>
            <a:r>
              <a:rPr lang="zh-CN" altLang="en-US" sz="2400" dirty="0"/>
              <a:t>若</a:t>
            </a:r>
            <a:r>
              <a:rPr lang="el-GR" altLang="zh-CN" sz="2400" dirty="0">
                <a:latin typeface="Garamond" panose="02020404030301010803" charset="0"/>
              </a:rPr>
              <a:t>Γ</a:t>
            </a:r>
            <a:r>
              <a:rPr lang="zh-CN" altLang="en-US" sz="2400" dirty="0"/>
              <a:t>中所有的</a:t>
            </a:r>
            <a:r>
              <a:rPr lang="zh-CN" altLang="en-US" sz="2400" dirty="0">
                <a:solidFill>
                  <a:srgbClr val="FF00FF"/>
                </a:solidFill>
              </a:rPr>
              <a:t>边互异</a:t>
            </a:r>
            <a:r>
              <a:rPr lang="zh-CN" altLang="en-US" sz="2400" dirty="0">
                <a:latin typeface="Garamond" panose="02020404030301010803" charset="0"/>
              </a:rPr>
              <a:t>且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baseline="-50000" dirty="0"/>
              <a:t>0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= 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i="1" baseline="-50000" dirty="0"/>
              <a:t>l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hlink"/>
                </a:solidFill>
              </a:rPr>
              <a:t>初级通路</a:t>
            </a:r>
            <a:r>
              <a:rPr lang="en-US" altLang="zh-CN" sz="2400" dirty="0">
                <a:solidFill>
                  <a:schemeClr val="hlink"/>
                </a:solidFill>
              </a:rPr>
              <a:t>(</a:t>
            </a:r>
            <a:r>
              <a:rPr lang="zh-CN" altLang="en-US" sz="2400" dirty="0">
                <a:solidFill>
                  <a:schemeClr val="hlink"/>
                </a:solidFill>
              </a:rPr>
              <a:t>路径</a:t>
            </a:r>
            <a:r>
              <a:rPr lang="en-US" altLang="zh-CN" sz="2400" dirty="0">
                <a:solidFill>
                  <a:schemeClr val="hlink"/>
                </a:solidFill>
              </a:rPr>
              <a:t>)</a:t>
            </a:r>
            <a:r>
              <a:rPr lang="zh-CN" altLang="en-US" sz="2400" dirty="0">
                <a:solidFill>
                  <a:schemeClr val="folHlink"/>
                </a:solidFill>
              </a:rPr>
              <a:t>：</a:t>
            </a:r>
            <a:r>
              <a:rPr lang="zh-CN" altLang="en-US" sz="2400" dirty="0"/>
              <a:t>若</a:t>
            </a:r>
            <a:r>
              <a:rPr lang="el-GR" altLang="zh-CN" sz="2400" dirty="0">
                <a:latin typeface="Garamond" panose="02020404030301010803" charset="0"/>
              </a:rPr>
              <a:t>Γ</a:t>
            </a:r>
            <a:r>
              <a:rPr lang="zh-CN" altLang="en-US" sz="2400" dirty="0"/>
              <a:t>中所有</a:t>
            </a:r>
            <a:r>
              <a:rPr lang="zh-CN" altLang="en-US" sz="2400" dirty="0">
                <a:solidFill>
                  <a:srgbClr val="FF00FF"/>
                </a:solidFill>
              </a:rPr>
              <a:t>边互异</a:t>
            </a:r>
            <a:r>
              <a:rPr lang="zh-CN" altLang="en-US" sz="2400" dirty="0"/>
              <a:t>，所有的顶点</a:t>
            </a:r>
            <a:r>
              <a:rPr lang="zh-CN" altLang="en-US" sz="2400" dirty="0">
                <a:solidFill>
                  <a:srgbClr val="FF00FF"/>
                </a:solidFill>
              </a:rPr>
              <a:t>互异</a:t>
            </a:r>
            <a:r>
              <a:rPr lang="en-US" altLang="zh-CN" sz="2400" dirty="0">
                <a:solidFill>
                  <a:srgbClr val="FF00FF"/>
                </a:solidFill>
              </a:rPr>
              <a:t>.</a:t>
            </a:r>
            <a:endParaRPr lang="en-US" altLang="zh-CN" sz="2400" dirty="0">
              <a:solidFill>
                <a:srgbClr val="FF00FF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l-GR" sz="2400" dirty="0">
                <a:solidFill>
                  <a:schemeClr val="hlink"/>
                </a:solidFill>
                <a:latin typeface="Garamond" panose="02020404030301010803" charset="0"/>
              </a:rPr>
              <a:t>初级回路</a:t>
            </a:r>
            <a:r>
              <a:rPr lang="en-US" altLang="zh-CN" sz="2400" dirty="0">
                <a:solidFill>
                  <a:schemeClr val="hlink"/>
                </a:solidFill>
                <a:latin typeface="Garamond" panose="02020404030301010803" charset="0"/>
              </a:rPr>
              <a:t>(</a:t>
            </a:r>
            <a:r>
              <a:rPr lang="zh-CN" altLang="el-GR" sz="2400" dirty="0">
                <a:solidFill>
                  <a:schemeClr val="hlink"/>
                </a:solidFill>
                <a:latin typeface="Garamond" panose="02020404030301010803" charset="0"/>
              </a:rPr>
              <a:t>圈</a:t>
            </a:r>
            <a:r>
              <a:rPr lang="en-US" altLang="zh-CN" sz="2400" dirty="0">
                <a:solidFill>
                  <a:schemeClr val="hlink"/>
                </a:solidFill>
                <a:latin typeface="Garamond" panose="02020404030301010803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charset="0"/>
              </a:rPr>
              <a:t>：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baseline="-50000" dirty="0"/>
              <a:t>0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= 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i="1" baseline="-50000" dirty="0"/>
              <a:t>l</a:t>
            </a:r>
            <a:r>
              <a:rPr lang="zh-CN" altLang="en-US" sz="2400" dirty="0">
                <a:solidFill>
                  <a:srgbClr val="FF00FF"/>
                </a:solidFill>
              </a:rPr>
              <a:t>的初级通路</a:t>
            </a:r>
            <a:r>
              <a:rPr lang="en-US" altLang="zh-CN" sz="2400" dirty="0">
                <a:solidFill>
                  <a:srgbClr val="FF00FF"/>
                </a:solidFill>
              </a:rPr>
              <a:t>.</a:t>
            </a:r>
            <a:r>
              <a:rPr lang="zh-CN" altLang="el-GR" sz="2400" dirty="0">
                <a:latin typeface="Garamond" panose="02020404030301010803" charset="0"/>
              </a:rPr>
              <a:t>长度为奇数的圈称为奇圈，长度为偶数的圈为偶圈。</a:t>
            </a:r>
            <a:endParaRPr lang="zh-CN" altLang="en-US" sz="240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l-GR" sz="2400" dirty="0">
                <a:solidFill>
                  <a:schemeClr val="hlink"/>
                </a:solidFill>
                <a:latin typeface="Garamond" panose="02020404030301010803" charset="0"/>
              </a:rPr>
              <a:t>复杂通路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charset="0"/>
              </a:rPr>
              <a:t>：</a:t>
            </a:r>
            <a:r>
              <a:rPr lang="zh-CN" altLang="en-US" sz="2400" dirty="0"/>
              <a:t>若</a:t>
            </a:r>
            <a:r>
              <a:rPr lang="el-GR" altLang="zh-CN" sz="2400" dirty="0">
                <a:latin typeface="Garamond" panose="02020404030301010803" charset="0"/>
              </a:rPr>
              <a:t>Γ</a:t>
            </a:r>
            <a:r>
              <a:rPr lang="zh-CN" altLang="en-US" sz="2400" dirty="0"/>
              <a:t>中有边重复</a:t>
            </a:r>
            <a:r>
              <a:rPr lang="en-US" altLang="zh-CN" sz="2400" dirty="0"/>
              <a:t>,</a:t>
            </a:r>
            <a:r>
              <a:rPr lang="zh-CN" altLang="el-GR" sz="2400" dirty="0">
                <a:latin typeface="Garamond" panose="02020404030301010803" charset="0"/>
              </a:rPr>
              <a:t>若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=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</a:t>
            </a:r>
            <a:r>
              <a:rPr lang="en-US" altLang="zh-CN" sz="2400" baseline="-25000" dirty="0"/>
              <a:t>l</a:t>
            </a:r>
            <a:r>
              <a:rPr lang="en-US" altLang="zh-CN" sz="2400" dirty="0">
                <a:solidFill>
                  <a:srgbClr val="FF00FF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zh-CN" altLang="en-US" sz="2400" dirty="0"/>
              <a:t>称</a:t>
            </a:r>
            <a:r>
              <a:rPr lang="el-GR" altLang="zh-CN" sz="2400" dirty="0">
                <a:latin typeface="Garamond" panose="02020404030301010803" charset="0"/>
              </a:rPr>
              <a:t>Γ</a:t>
            </a:r>
            <a:r>
              <a:rPr lang="zh-CN" altLang="el-GR" sz="2400" dirty="0">
                <a:latin typeface="Garamond" panose="02020404030301010803" charset="0"/>
              </a:rPr>
              <a:t>为复杂回路。</a:t>
            </a:r>
            <a:endParaRPr lang="zh-CN" altLang="en-US" sz="2400" dirty="0">
              <a:latin typeface="Garamond" panose="02020404030301010803" charset="0"/>
            </a:endParaRPr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通路和回路的简单表示法</a:t>
            </a:r>
            <a:endParaRPr lang="zh-CN" altLang="en-US" dirty="0"/>
          </a:p>
        </p:txBody>
      </p:sp>
      <p:sp>
        <p:nvSpPr>
          <p:cNvPr id="18434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5111750"/>
          </a:xfrm>
        </p:spPr>
        <p:txBody>
          <a:bodyPr vert="horz" wrap="square" lIns="91440" tIns="45720" rIns="91440" bIns="45720" anchor="t"/>
          <a:p>
            <a:pPr marL="457200" indent="-457200"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只用边的序列表示通路</a:t>
            </a:r>
            <a:r>
              <a:rPr lang="en-US" altLang="zh-CN" sz="2800" dirty="0">
                <a:solidFill>
                  <a:schemeClr val="hlink"/>
                </a:solidFill>
              </a:rPr>
              <a:t>(</a:t>
            </a:r>
            <a:r>
              <a:rPr lang="zh-CN" altLang="en-US" sz="2800" dirty="0">
                <a:solidFill>
                  <a:schemeClr val="hlink"/>
                </a:solidFill>
              </a:rPr>
              <a:t>回路</a:t>
            </a:r>
            <a:r>
              <a:rPr lang="en-US" altLang="zh-CN" sz="2800" dirty="0">
                <a:solidFill>
                  <a:schemeClr val="hlink"/>
                </a:solidFill>
              </a:rPr>
              <a:t>)</a:t>
            </a:r>
            <a:r>
              <a:rPr lang="zh-CN" altLang="en-US" sz="2800" dirty="0"/>
              <a:t>：</a:t>
            </a:r>
            <a:r>
              <a:rPr lang="el-GR" altLang="zh-CN" sz="2800" dirty="0">
                <a:latin typeface="Garamond" panose="02020404030301010803" charset="0"/>
              </a:rPr>
              <a:t>Γ</a:t>
            </a:r>
            <a:r>
              <a:rPr lang="en-US" altLang="zh-CN" sz="2800" dirty="0"/>
              <a:t>= </a:t>
            </a:r>
            <a:r>
              <a:rPr lang="en-US" altLang="zh-CN" sz="2800" i="1" dirty="0">
                <a:solidFill>
                  <a:srgbClr val="FF00FF"/>
                </a:solidFill>
              </a:rPr>
              <a:t>v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i</a:t>
            </a:r>
            <a:r>
              <a:rPr lang="en-US" altLang="zh-CN" sz="2800" baseline="-50000" dirty="0">
                <a:solidFill>
                  <a:srgbClr val="FF00FF"/>
                </a:solidFill>
              </a:rPr>
              <a:t>0</a:t>
            </a:r>
            <a:r>
              <a:rPr lang="en-US" altLang="zh-CN" sz="2800" i="1" baseline="-15000" dirty="0">
                <a:solidFill>
                  <a:srgbClr val="FF00FF"/>
                </a:solidFill>
              </a:rPr>
              <a:t> </a:t>
            </a:r>
            <a:r>
              <a:rPr lang="en-US" altLang="zh-CN" sz="2800" i="1" dirty="0">
                <a:solidFill>
                  <a:srgbClr val="FF00FF"/>
                </a:solidFill>
              </a:rPr>
              <a:t>e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j</a:t>
            </a:r>
            <a:r>
              <a:rPr lang="en-US" altLang="zh-CN" sz="2800" baseline="-50000" dirty="0">
                <a:solidFill>
                  <a:srgbClr val="FF00FF"/>
                </a:solidFill>
              </a:rPr>
              <a:t>1</a:t>
            </a:r>
            <a:r>
              <a:rPr lang="en-US" altLang="zh-CN" sz="2800" i="1" baseline="-15000" dirty="0">
                <a:solidFill>
                  <a:srgbClr val="FF00FF"/>
                </a:solidFill>
              </a:rPr>
              <a:t> </a:t>
            </a:r>
            <a:r>
              <a:rPr lang="en-US" altLang="zh-CN" sz="2800" i="1" dirty="0">
                <a:solidFill>
                  <a:srgbClr val="FF00FF"/>
                </a:solidFill>
              </a:rPr>
              <a:t>v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i</a:t>
            </a:r>
            <a:r>
              <a:rPr lang="en-US" altLang="zh-CN" sz="2800" baseline="-50000" dirty="0">
                <a:solidFill>
                  <a:srgbClr val="FF00FF"/>
                </a:solidFill>
              </a:rPr>
              <a:t>1</a:t>
            </a:r>
            <a:r>
              <a:rPr lang="en-US" altLang="zh-CN" sz="2800" i="1" dirty="0">
                <a:solidFill>
                  <a:srgbClr val="FF00FF"/>
                </a:solidFill>
              </a:rPr>
              <a:t>e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j</a:t>
            </a:r>
            <a:r>
              <a:rPr lang="en-US" altLang="zh-CN" sz="2800" i="1" baseline="-50000" dirty="0">
                <a:solidFill>
                  <a:srgbClr val="FF00FF"/>
                </a:solidFill>
              </a:rPr>
              <a:t>2</a:t>
            </a:r>
            <a:r>
              <a:rPr lang="en-US" altLang="zh-CN" sz="2800" dirty="0">
                <a:solidFill>
                  <a:srgbClr val="FF00FF"/>
                </a:solidFill>
              </a:rPr>
              <a:t>… </a:t>
            </a:r>
            <a:r>
              <a:rPr lang="en-US" altLang="zh-CN" sz="2800" i="1" dirty="0">
                <a:solidFill>
                  <a:srgbClr val="FF00FF"/>
                </a:solidFill>
              </a:rPr>
              <a:t>e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j</a:t>
            </a:r>
            <a:r>
              <a:rPr lang="en-US" altLang="zh-CN" sz="2800" i="1" baseline="-50000" dirty="0">
                <a:solidFill>
                  <a:srgbClr val="FF00FF"/>
                </a:solidFill>
              </a:rPr>
              <a:t>l</a:t>
            </a:r>
            <a:r>
              <a:rPr lang="en-US" altLang="zh-CN" sz="2800" i="1" baseline="-15000" dirty="0">
                <a:solidFill>
                  <a:srgbClr val="FF00FF"/>
                </a:solidFill>
              </a:rPr>
              <a:t> </a:t>
            </a:r>
            <a:r>
              <a:rPr lang="en-US" altLang="zh-CN" sz="2800" i="1" dirty="0">
                <a:solidFill>
                  <a:srgbClr val="FF00FF"/>
                </a:solidFill>
              </a:rPr>
              <a:t>v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i</a:t>
            </a:r>
            <a:r>
              <a:rPr lang="en-US" altLang="zh-CN" sz="2800" i="1" baseline="-50000" dirty="0">
                <a:solidFill>
                  <a:srgbClr val="FF00FF"/>
                </a:solidFill>
              </a:rPr>
              <a:t>l</a:t>
            </a:r>
            <a:r>
              <a:rPr lang="zh-CN" altLang="en-US" sz="2800" dirty="0"/>
              <a:t>可以表示成</a:t>
            </a:r>
            <a:r>
              <a:rPr lang="zh-CN" altLang="en-US" sz="2800" i="1" baseline="-15000" dirty="0">
                <a:solidFill>
                  <a:srgbClr val="FF00FF"/>
                </a:solidFill>
              </a:rPr>
              <a:t> </a:t>
            </a:r>
            <a:r>
              <a:rPr lang="en-US" altLang="zh-CN" sz="2800" i="1" dirty="0">
                <a:solidFill>
                  <a:srgbClr val="FF00FF"/>
                </a:solidFill>
              </a:rPr>
              <a:t>e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j</a:t>
            </a:r>
            <a:r>
              <a:rPr lang="en-US" altLang="zh-CN" sz="2800" baseline="-50000" dirty="0">
                <a:solidFill>
                  <a:srgbClr val="FF00FF"/>
                </a:solidFill>
              </a:rPr>
              <a:t>1</a:t>
            </a:r>
            <a:r>
              <a:rPr lang="en-US" altLang="zh-CN" sz="2800" i="1" dirty="0">
                <a:solidFill>
                  <a:srgbClr val="FF00FF"/>
                </a:solidFill>
              </a:rPr>
              <a:t>e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j</a:t>
            </a:r>
            <a:r>
              <a:rPr lang="en-US" altLang="zh-CN" sz="2800" i="1" baseline="-50000" dirty="0">
                <a:solidFill>
                  <a:srgbClr val="FF00FF"/>
                </a:solidFill>
              </a:rPr>
              <a:t>2</a:t>
            </a:r>
            <a:r>
              <a:rPr lang="en-US" altLang="zh-CN" sz="2800" dirty="0">
                <a:solidFill>
                  <a:srgbClr val="FF00FF"/>
                </a:solidFill>
              </a:rPr>
              <a:t>… </a:t>
            </a:r>
            <a:r>
              <a:rPr lang="en-US" altLang="zh-CN" sz="2800" i="1" dirty="0">
                <a:solidFill>
                  <a:srgbClr val="FF00FF"/>
                </a:solidFill>
              </a:rPr>
              <a:t>e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j</a:t>
            </a:r>
            <a:r>
              <a:rPr lang="en-US" altLang="zh-CN" sz="2800" i="1" baseline="-50000" dirty="0">
                <a:solidFill>
                  <a:srgbClr val="FF00FF"/>
                </a:solidFill>
              </a:rPr>
              <a:t>l </a:t>
            </a:r>
            <a:r>
              <a:rPr lang="en-US" altLang="zh-CN" sz="2800" dirty="0"/>
              <a:t>.</a:t>
            </a:r>
            <a:endParaRPr lang="en-US" altLang="zh-CN" sz="2800" dirty="0">
              <a:solidFill>
                <a:schemeClr val="hlink"/>
              </a:solidFill>
            </a:endParaRPr>
          </a:p>
          <a:p>
            <a:pPr marL="457200" indent="-457200"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简单图中可只用顶点序列表示通路</a:t>
            </a:r>
            <a:r>
              <a:rPr lang="en-US" altLang="zh-CN" sz="2800" dirty="0">
                <a:solidFill>
                  <a:schemeClr val="hlink"/>
                </a:solidFill>
              </a:rPr>
              <a:t>(</a:t>
            </a:r>
            <a:r>
              <a:rPr lang="zh-CN" altLang="en-US" sz="2800" dirty="0">
                <a:solidFill>
                  <a:schemeClr val="hlink"/>
                </a:solidFill>
              </a:rPr>
              <a:t>回路</a:t>
            </a:r>
            <a:r>
              <a:rPr lang="en-US" altLang="zh-CN" sz="2800" dirty="0">
                <a:solidFill>
                  <a:schemeClr val="hlink"/>
                </a:solidFill>
              </a:rPr>
              <a:t>)</a:t>
            </a:r>
            <a:r>
              <a:rPr lang="zh-CN" altLang="en-US" sz="2800" dirty="0"/>
              <a:t>：</a:t>
            </a:r>
            <a:r>
              <a:rPr lang="el-GR" altLang="zh-CN" sz="2800" dirty="0">
                <a:latin typeface="Garamond" panose="02020404030301010803" charset="0"/>
              </a:rPr>
              <a:t>Γ</a:t>
            </a:r>
            <a:r>
              <a:rPr lang="en-US" altLang="zh-CN" sz="2800" dirty="0"/>
              <a:t>= </a:t>
            </a:r>
            <a:r>
              <a:rPr lang="en-US" altLang="zh-CN" sz="2800" i="1" dirty="0">
                <a:solidFill>
                  <a:srgbClr val="FF00FF"/>
                </a:solidFill>
              </a:rPr>
              <a:t>v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i</a:t>
            </a:r>
            <a:r>
              <a:rPr lang="en-US" altLang="zh-CN" sz="2800" baseline="-50000" dirty="0">
                <a:solidFill>
                  <a:srgbClr val="FF00FF"/>
                </a:solidFill>
              </a:rPr>
              <a:t>0</a:t>
            </a:r>
            <a:r>
              <a:rPr lang="en-US" altLang="zh-CN" sz="2800" i="1" baseline="-15000" dirty="0">
                <a:solidFill>
                  <a:srgbClr val="FF00FF"/>
                </a:solidFill>
              </a:rPr>
              <a:t> </a:t>
            </a:r>
            <a:r>
              <a:rPr lang="en-US" altLang="zh-CN" sz="2800" i="1" dirty="0">
                <a:solidFill>
                  <a:srgbClr val="FF00FF"/>
                </a:solidFill>
              </a:rPr>
              <a:t>v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i</a:t>
            </a:r>
            <a:r>
              <a:rPr lang="en-US" altLang="zh-CN" sz="2800" baseline="-50000" dirty="0">
                <a:solidFill>
                  <a:srgbClr val="FF00FF"/>
                </a:solidFill>
              </a:rPr>
              <a:t>1</a:t>
            </a:r>
            <a:r>
              <a:rPr lang="en-US" altLang="zh-CN" sz="2800" dirty="0">
                <a:solidFill>
                  <a:srgbClr val="FF00FF"/>
                </a:solidFill>
              </a:rPr>
              <a:t>… </a:t>
            </a:r>
            <a:r>
              <a:rPr lang="en-US" altLang="zh-CN" sz="2800" i="1" dirty="0">
                <a:solidFill>
                  <a:srgbClr val="FF00FF"/>
                </a:solidFill>
              </a:rPr>
              <a:t>v</a:t>
            </a:r>
            <a:r>
              <a:rPr lang="en-US" altLang="zh-CN" sz="2800" i="1" baseline="-25000" dirty="0">
                <a:solidFill>
                  <a:srgbClr val="FF00FF"/>
                </a:solidFill>
              </a:rPr>
              <a:t>i</a:t>
            </a:r>
            <a:r>
              <a:rPr lang="en-US" altLang="zh-CN" sz="2800" i="1" baseline="-50000" dirty="0">
                <a:solidFill>
                  <a:srgbClr val="FF00FF"/>
                </a:solidFill>
              </a:rPr>
              <a:t>l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marL="457200" indent="-457200" eaLnBrk="1" hangingPunct="1">
              <a:lnSpc>
                <a:spcPct val="100000"/>
              </a:lnSpc>
            </a:pPr>
            <a:r>
              <a:rPr lang="zh-CN" altLang="en-US" sz="2800" dirty="0"/>
              <a:t>为了写出非标定图中的通路</a:t>
            </a:r>
            <a:r>
              <a:rPr lang="en-US" altLang="zh-CN" sz="2800" dirty="0"/>
              <a:t>(</a:t>
            </a:r>
            <a:r>
              <a:rPr lang="zh-CN" altLang="en-US" sz="2800" dirty="0"/>
              <a:t>回路</a:t>
            </a:r>
            <a:r>
              <a:rPr lang="en-US" altLang="zh-CN" sz="2800" dirty="0"/>
              <a:t>)</a:t>
            </a:r>
            <a:r>
              <a:rPr lang="zh-CN" altLang="en-US" sz="2800" dirty="0"/>
              <a:t>，可以先将非标定图标成标定图，再写出通</a:t>
            </a:r>
            <a:r>
              <a:rPr lang="zh-CN" altLang="en-US" sz="2800" dirty="0"/>
              <a:t>路与回路。</a:t>
            </a:r>
            <a:endParaRPr lang="zh-CN" altLang="en-US" sz="2800" dirty="0"/>
          </a:p>
          <a:p>
            <a:pPr marL="457200" indent="-457200" eaLnBrk="1" hangingPunct="1">
              <a:lnSpc>
                <a:spcPct val="100000"/>
              </a:lnSpc>
            </a:pPr>
            <a:r>
              <a:rPr lang="zh-CN" altLang="en-US" sz="2800" dirty="0"/>
              <a:t>在非简单图中，当只用顶点序列表示不出某些通路</a:t>
            </a:r>
            <a:r>
              <a:rPr lang="en-US" altLang="zh-CN" sz="2800" dirty="0"/>
              <a:t>(</a:t>
            </a:r>
            <a:r>
              <a:rPr lang="zh-CN" altLang="en-US" sz="2800" dirty="0"/>
              <a:t>回路</a:t>
            </a:r>
            <a:r>
              <a:rPr lang="en-US" altLang="zh-CN" sz="2800" dirty="0"/>
              <a:t>)</a:t>
            </a:r>
            <a:r>
              <a:rPr lang="zh-CN" altLang="en-US" sz="2800" dirty="0"/>
              <a:t>时，可在顶点序列中加入一些边</a:t>
            </a:r>
            <a:r>
              <a:rPr lang="en-US" altLang="zh-CN" sz="2800" dirty="0"/>
              <a:t>(</a:t>
            </a:r>
            <a:r>
              <a:rPr lang="zh-CN" altLang="en-US" sz="2800" dirty="0"/>
              <a:t>这些边是平行边或环</a:t>
            </a:r>
            <a:r>
              <a:rPr lang="en-US" altLang="zh-CN" sz="2800" dirty="0"/>
              <a:t>)</a:t>
            </a:r>
            <a:r>
              <a:rPr lang="zh-CN" altLang="en-US" sz="2800" dirty="0"/>
              <a:t>，可称这种表示法为</a:t>
            </a:r>
            <a:r>
              <a:rPr lang="zh-CN" altLang="en-US" sz="2800" dirty="0">
                <a:solidFill>
                  <a:schemeClr val="hlink"/>
                </a:solidFill>
              </a:rPr>
              <a:t>混合表示法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marL="457200" indent="-457200" eaLnBrk="1" hangingPunct="1">
              <a:lnSpc>
                <a:spcPct val="100000"/>
              </a:lnSpc>
            </a:pPr>
            <a:r>
              <a:rPr lang="zh-CN" altLang="en-US" sz="2800" dirty="0"/>
              <a:t>将图中的通路（回路）在图外重新画出。</a:t>
            </a:r>
            <a:endParaRPr lang="zh-CN" altLang="en-US" sz="2800" dirty="0"/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xfrm>
            <a:off x="361950" y="1412875"/>
            <a:ext cx="8458200" cy="1079500"/>
          </a:xfrm>
        </p:spPr>
        <p:txBody>
          <a:bodyPr vert="horz" wrap="square" lIns="91440" tIns="45720" rIns="91440" bIns="45720" anchor="t"/>
          <a:p>
            <a:pPr eaLnBrk="1" hangingPunct="1">
              <a:spcBef>
                <a:spcPct val="20000"/>
              </a:spcBef>
              <a:buNone/>
            </a:pPr>
            <a:r>
              <a:rPr lang="zh-CN" altLang="en-US" sz="2400" dirty="0">
                <a:solidFill>
                  <a:schemeClr val="hlink"/>
                </a:solidFill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</a:rPr>
              <a:t>1</a:t>
            </a:r>
            <a:r>
              <a:rPr lang="en-US" altLang="zh-CN" sz="2400" dirty="0">
                <a:solidFill>
                  <a:schemeClr val="folHlink"/>
                </a:solidFill>
              </a:rPr>
              <a:t> </a:t>
            </a:r>
            <a:r>
              <a:rPr lang="zh-CN" altLang="en-US" sz="2400" dirty="0">
                <a:solidFill>
                  <a:schemeClr val="folHlink"/>
                </a:solidFill>
              </a:rPr>
              <a:t>在下图所示的图中分别找出一条通路、简单通路、初级通路、回路和圈。</a:t>
            </a:r>
            <a:endParaRPr lang="zh-CN" altLang="en-US" sz="2400" dirty="0">
              <a:solidFill>
                <a:schemeClr val="folHlink"/>
              </a:solidFill>
            </a:endParaRPr>
          </a:p>
        </p:txBody>
      </p:sp>
      <p:sp>
        <p:nvSpPr>
          <p:cNvPr id="645124" name="Rectangle 4"/>
          <p:cNvSpPr/>
          <p:nvPr/>
        </p:nvSpPr>
        <p:spPr>
          <a:xfrm>
            <a:off x="688975" y="2422843"/>
            <a:ext cx="4857750" cy="5762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通路：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4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3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6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5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7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pic>
        <p:nvPicPr>
          <p:cNvPr id="645125" name="Picture 5" descr="图7-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84888" y="1773238"/>
            <a:ext cx="2371725" cy="3371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26" name="Rectangle 6"/>
          <p:cNvSpPr/>
          <p:nvPr/>
        </p:nvSpPr>
        <p:spPr>
          <a:xfrm>
            <a:off x="250825" y="5229225"/>
            <a:ext cx="8642350" cy="15128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说明：初级通路</a:t>
            </a:r>
            <a:r>
              <a:rPr lang="zh-CN" altLang="en-US" sz="2400" b="1" dirty="0">
                <a:latin typeface="Times New Roman" panose="02020603050405020304" charset="0"/>
                <a:ea typeface="黑体" panose="02010609060101010101" charset="-122"/>
              </a:rPr>
              <a:t>一定是简单通路</a:t>
            </a:r>
            <a:r>
              <a:rPr lang="en-US" altLang="zh-CN" sz="24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400" b="1" dirty="0">
                <a:latin typeface="Times New Roman" panose="02020603050405020304" charset="0"/>
                <a:ea typeface="黑体" panose="02010609060101010101" charset="-122"/>
              </a:rPr>
              <a:t>简单通路一定是通路</a:t>
            </a:r>
            <a:r>
              <a:rPr lang="en-US" altLang="zh-CN" sz="24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endParaRPr lang="en-US" altLang="zh-CN" sz="24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en-US" altLang="zh-CN" sz="2400" b="1" dirty="0">
                <a:latin typeface="Times New Roman" panose="02020603050405020304" charset="0"/>
                <a:ea typeface="黑体" panose="02010609060101010101" charset="-122"/>
              </a:rPr>
              <a:t>                 </a:t>
            </a:r>
            <a:r>
              <a:rPr lang="zh-CN" altLang="en-US" sz="2400" b="1" dirty="0">
                <a:latin typeface="Times New Roman" panose="02020603050405020304" charset="0"/>
                <a:ea typeface="黑体" panose="02010609060101010101" charset="-122"/>
              </a:rPr>
              <a:t>反之不成立</a:t>
            </a:r>
            <a:r>
              <a:rPr lang="en-US" altLang="zh-CN" sz="24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4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en-US" altLang="zh-CN" sz="2400" b="1" dirty="0">
                <a:latin typeface="Times New Roman" panose="02020603050405020304" charset="0"/>
                <a:ea typeface="黑体" panose="02010609060101010101" charset="-122"/>
              </a:rPr>
              <a:t>                 </a:t>
            </a:r>
            <a:r>
              <a:rPr lang="zh-CN" altLang="en-US" sz="2400" b="1" dirty="0">
                <a:latin typeface="Times New Roman" panose="02020603050405020304" charset="0"/>
                <a:ea typeface="黑体" panose="02010609060101010101" charset="-122"/>
              </a:rPr>
              <a:t>圈一定是回路，反之不然。</a:t>
            </a:r>
            <a:endParaRPr lang="zh-CN" altLang="en-US" sz="24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45136" name="Rectangle 16"/>
          <p:cNvSpPr/>
          <p:nvPr/>
        </p:nvSpPr>
        <p:spPr>
          <a:xfrm>
            <a:off x="650875" y="2926080"/>
            <a:ext cx="5434013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简单通路：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5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8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4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5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6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5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7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4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45137" name="Rectangle 17"/>
          <p:cNvSpPr/>
          <p:nvPr/>
        </p:nvSpPr>
        <p:spPr>
          <a:xfrm>
            <a:off x="650875" y="3429318"/>
            <a:ext cx="5434013" cy="6492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初级通路：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4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8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5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6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endParaRPr lang="en-US" altLang="zh-CN" sz="2400" b="1" baseline="-25000" dirty="0">
              <a:solidFill>
                <a:schemeClr val="folHlink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45138" name="Rectangle 18"/>
          <p:cNvSpPr/>
          <p:nvPr/>
        </p:nvSpPr>
        <p:spPr>
          <a:xfrm>
            <a:off x="650875" y="3934143"/>
            <a:ext cx="5434013" cy="6492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回路：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4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4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45139" name="Rectangle 19"/>
          <p:cNvSpPr/>
          <p:nvPr/>
        </p:nvSpPr>
        <p:spPr>
          <a:xfrm>
            <a:off x="650875" y="4437380"/>
            <a:ext cx="5434013" cy="6492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圈：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7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5</a:t>
            </a:r>
            <a:r>
              <a:rPr lang="en-US" altLang="zh-CN" sz="2400" b="1" i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6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charset="-122"/>
              </a:rPr>
              <a:t>2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4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45124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6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45136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7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45137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4513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4513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6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45126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6">
                                            <p:txEl>
                                              <p:charRg st="2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45126">
                                            <p:txEl>
                                              <p:charRg st="26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6">
                                            <p:txEl>
                                              <p:charRg st="4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45126">
                                            <p:txEl>
                                              <p:charRg st="49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4" grpId="0" build="p"/>
      <p:bldP spid="645126" grpId="0" build="p"/>
      <p:bldP spid="645136" grpId="0" build="p"/>
      <p:bldP spid="645137" grpId="0" build="p"/>
      <p:bldP spid="645138" grpId="0" build="p"/>
      <p:bldP spid="64513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周长与围长</a:t>
            </a:r>
            <a:endParaRPr lang="zh-CN" altLang="en-US" dirty="0"/>
          </a:p>
        </p:txBody>
      </p:sp>
      <p:sp>
        <p:nvSpPr>
          <p:cNvPr id="2048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zh-CN" altLang="en-US">
                <a:solidFill>
                  <a:schemeClr val="hlink"/>
                </a:solidFill>
              </a:rPr>
              <a:t>定义 </a:t>
            </a:r>
            <a:r>
              <a:rPr lang="en-US" altLang="zh-CN">
                <a:solidFill>
                  <a:schemeClr val="hlink"/>
                </a:solidFill>
              </a:rPr>
              <a:t>7.19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在含圈的无向图</a:t>
            </a:r>
            <a:r>
              <a:rPr lang="en-US" altLang="zh-CN"/>
              <a:t>G</a:t>
            </a:r>
            <a:r>
              <a:rPr lang="zh-CN" altLang="en-US"/>
              <a:t>中，称</a:t>
            </a:r>
            <a:r>
              <a:rPr lang="en-US" altLang="zh-CN"/>
              <a:t>G</a:t>
            </a:r>
            <a:r>
              <a:rPr lang="zh-CN" altLang="en-US"/>
              <a:t>中最长圈的长度为</a:t>
            </a:r>
            <a:r>
              <a:rPr lang="en-US" altLang="zh-CN"/>
              <a:t>G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周长</a:t>
            </a:r>
            <a:r>
              <a:rPr lang="zh-CN" altLang="en-US"/>
              <a:t>，记作</a:t>
            </a:r>
            <a:r>
              <a:rPr lang="en-US" altLang="zh-CN">
                <a:solidFill>
                  <a:srgbClr val="FF0000"/>
                </a:solidFill>
              </a:rPr>
              <a:t>c(G)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zh-CN" altLang="en-US"/>
              <a:t>称</a:t>
            </a:r>
            <a:r>
              <a:rPr lang="en-US" altLang="zh-CN"/>
              <a:t>G</a:t>
            </a:r>
            <a:r>
              <a:rPr lang="zh-CN" altLang="en-US"/>
              <a:t>中最短圈</a:t>
            </a:r>
            <a:r>
              <a:rPr lang="zh-CN" altLang="en-US">
                <a:solidFill>
                  <a:srgbClr val="000000"/>
                </a:solidFill>
              </a:rPr>
              <a:t>的长度为</a:t>
            </a:r>
            <a:r>
              <a:rPr lang="en-US" altLang="zh-CN"/>
              <a:t>G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围长</a:t>
            </a:r>
            <a:r>
              <a:rPr lang="zh-CN" altLang="en-US"/>
              <a:t>，记为 </a:t>
            </a:r>
            <a:r>
              <a:rPr lang="en-US" altLang="zh-CN">
                <a:solidFill>
                  <a:srgbClr val="FF0000"/>
                </a:solidFill>
              </a:rPr>
              <a:t>g(G)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zh-CN" altLang="en-US"/>
              <a:t>  无向完全图 </a:t>
            </a:r>
            <a:r>
              <a:rPr lang="en-US" altLang="zh-CN" i="1" err="1"/>
              <a:t>K</a:t>
            </a:r>
            <a:r>
              <a:rPr lang="en-US" altLang="zh-CN" i="1" baseline="-15000" err="1"/>
              <a:t>n</a:t>
            </a:r>
            <a:r>
              <a:rPr lang="en-US" altLang="zh-CN" baseline="-15000"/>
              <a:t>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≥3)</a:t>
            </a:r>
            <a:r>
              <a:rPr lang="zh-CN" altLang="en-US"/>
              <a:t>的周长是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zh-CN" altLang="en-US"/>
              <a:t>围长是</a:t>
            </a:r>
            <a:r>
              <a:rPr lang="en-US" altLang="zh-CN"/>
              <a:t>3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None/>
            </a:pPr>
            <a:r>
              <a:rPr lang="zh-CN" altLang="en-US"/>
              <a:t>    完全二部图 </a:t>
            </a:r>
            <a:r>
              <a:rPr lang="en-US" altLang="zh-CN" i="1" err="1"/>
              <a:t>K</a:t>
            </a:r>
            <a:r>
              <a:rPr lang="en-US" altLang="zh-CN" i="1" baseline="-15000" err="1"/>
              <a:t>n</a:t>
            </a:r>
            <a:r>
              <a:rPr lang="en-US" altLang="zh-CN" baseline="-15000" err="1"/>
              <a:t>,</a:t>
            </a:r>
            <a:r>
              <a:rPr lang="en-US" altLang="zh-CN" i="1" baseline="-15000" err="1"/>
              <a:t>n</a:t>
            </a:r>
            <a:r>
              <a:rPr lang="en-US" altLang="zh-CN" baseline="-15000">
                <a:sym typeface="+mn-ea"/>
              </a:rPr>
              <a:t> </a:t>
            </a:r>
            <a:r>
              <a:rPr lang="en-US" altLang="zh-CN">
                <a:sym typeface="+mn-ea"/>
              </a:rPr>
              <a:t>(</a:t>
            </a:r>
            <a:r>
              <a:rPr lang="en-US" altLang="zh-CN" i="1">
                <a:sym typeface="+mn-ea"/>
              </a:rPr>
              <a:t>n</a:t>
            </a:r>
            <a:r>
              <a:rPr lang="en-US" altLang="zh-CN">
                <a:sym typeface="+mn-ea"/>
              </a:rPr>
              <a:t>≥2)</a:t>
            </a:r>
            <a:r>
              <a:rPr lang="zh-CN" altLang="en-US">
                <a:sym typeface="+mn-ea"/>
              </a:rPr>
              <a:t>的</a:t>
            </a:r>
            <a:r>
              <a:rPr lang="zh-CN" altLang="en-US"/>
              <a:t>周长是</a:t>
            </a:r>
            <a:r>
              <a:rPr lang="en-US" altLang="zh-CN"/>
              <a:t>2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zh-CN" altLang="en-US"/>
              <a:t>围长是</a:t>
            </a:r>
            <a:r>
              <a:rPr lang="en-US" altLang="zh-CN"/>
              <a:t>4</a:t>
            </a:r>
            <a:r>
              <a:rPr lang="zh-CN" altLang="en-US"/>
              <a:t>。</a:t>
            </a:r>
            <a:endParaRPr lang="zh-CN" altLang="en-US"/>
          </a:p>
        </p:txBody>
      </p:sp>
      <p:grpSp>
        <p:nvGrpSpPr>
          <p:cNvPr id="20483" name="Group 33"/>
          <p:cNvGrpSpPr/>
          <p:nvPr/>
        </p:nvGrpSpPr>
        <p:grpSpPr>
          <a:xfrm>
            <a:off x="827088" y="4292600"/>
            <a:ext cx="1873250" cy="1512888"/>
            <a:chOff x="521" y="2931"/>
            <a:chExt cx="1180" cy="953"/>
          </a:xfrm>
        </p:grpSpPr>
        <p:sp>
          <p:nvSpPr>
            <p:cNvPr id="20518" name="Oval 9"/>
            <p:cNvSpPr/>
            <p:nvPr/>
          </p:nvSpPr>
          <p:spPr>
            <a:xfrm>
              <a:off x="1020" y="3748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19" name="Oval 10"/>
            <p:cNvSpPr/>
            <p:nvPr/>
          </p:nvSpPr>
          <p:spPr>
            <a:xfrm>
              <a:off x="1338" y="293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20" name="Oval 11"/>
            <p:cNvSpPr/>
            <p:nvPr/>
          </p:nvSpPr>
          <p:spPr>
            <a:xfrm>
              <a:off x="748" y="293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21" name="Oval 18"/>
            <p:cNvSpPr/>
            <p:nvPr/>
          </p:nvSpPr>
          <p:spPr>
            <a:xfrm>
              <a:off x="1565" y="338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22" name="Oval 19"/>
            <p:cNvSpPr/>
            <p:nvPr/>
          </p:nvSpPr>
          <p:spPr>
            <a:xfrm>
              <a:off x="521" y="338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23" name="Line 23"/>
            <p:cNvSpPr/>
            <p:nvPr/>
          </p:nvSpPr>
          <p:spPr>
            <a:xfrm>
              <a:off x="884" y="2976"/>
              <a:ext cx="49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24" name="Line 24"/>
            <p:cNvSpPr/>
            <p:nvPr/>
          </p:nvSpPr>
          <p:spPr>
            <a:xfrm flipH="1">
              <a:off x="612" y="3067"/>
              <a:ext cx="181" cy="3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25" name="Line 25"/>
            <p:cNvSpPr/>
            <p:nvPr/>
          </p:nvSpPr>
          <p:spPr>
            <a:xfrm>
              <a:off x="657" y="3475"/>
              <a:ext cx="409" cy="3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26" name="Line 26"/>
            <p:cNvSpPr/>
            <p:nvPr/>
          </p:nvSpPr>
          <p:spPr>
            <a:xfrm flipV="1">
              <a:off x="1156" y="3475"/>
              <a:ext cx="454" cy="3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27" name="Line 27"/>
            <p:cNvSpPr/>
            <p:nvPr/>
          </p:nvSpPr>
          <p:spPr>
            <a:xfrm>
              <a:off x="1429" y="3022"/>
              <a:ext cx="181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28" name="Line 28"/>
            <p:cNvSpPr/>
            <p:nvPr/>
          </p:nvSpPr>
          <p:spPr>
            <a:xfrm>
              <a:off x="839" y="3022"/>
              <a:ext cx="726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29" name="Line 29"/>
            <p:cNvSpPr/>
            <p:nvPr/>
          </p:nvSpPr>
          <p:spPr>
            <a:xfrm flipV="1">
              <a:off x="657" y="3022"/>
              <a:ext cx="726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30" name="Line 30"/>
            <p:cNvSpPr/>
            <p:nvPr/>
          </p:nvSpPr>
          <p:spPr>
            <a:xfrm>
              <a:off x="839" y="3022"/>
              <a:ext cx="227" cy="7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31" name="Line 31"/>
            <p:cNvSpPr/>
            <p:nvPr/>
          </p:nvSpPr>
          <p:spPr>
            <a:xfrm>
              <a:off x="657" y="3475"/>
              <a:ext cx="9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32" name="Line 32"/>
            <p:cNvSpPr/>
            <p:nvPr/>
          </p:nvSpPr>
          <p:spPr>
            <a:xfrm flipV="1">
              <a:off x="1111" y="3067"/>
              <a:ext cx="272" cy="6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grpSp>
        <p:nvGrpSpPr>
          <p:cNvPr id="20484" name="Group 60"/>
          <p:cNvGrpSpPr/>
          <p:nvPr/>
        </p:nvGrpSpPr>
        <p:grpSpPr>
          <a:xfrm>
            <a:off x="3275013" y="4508500"/>
            <a:ext cx="2089150" cy="1152525"/>
            <a:chOff x="2562" y="2886"/>
            <a:chExt cx="1316" cy="726"/>
          </a:xfrm>
        </p:grpSpPr>
        <p:sp>
          <p:nvSpPr>
            <p:cNvPr id="20503" name="Oval 35"/>
            <p:cNvSpPr/>
            <p:nvPr/>
          </p:nvSpPr>
          <p:spPr>
            <a:xfrm>
              <a:off x="2562" y="34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04" name="Oval 36"/>
            <p:cNvSpPr/>
            <p:nvPr/>
          </p:nvSpPr>
          <p:spPr>
            <a:xfrm>
              <a:off x="3153" y="288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05" name="Oval 37"/>
            <p:cNvSpPr/>
            <p:nvPr/>
          </p:nvSpPr>
          <p:spPr>
            <a:xfrm>
              <a:off x="2563" y="288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06" name="Oval 38"/>
            <p:cNvSpPr/>
            <p:nvPr/>
          </p:nvSpPr>
          <p:spPr>
            <a:xfrm>
              <a:off x="3152" y="347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07" name="Oval 39"/>
            <p:cNvSpPr/>
            <p:nvPr/>
          </p:nvSpPr>
          <p:spPr>
            <a:xfrm>
              <a:off x="3742" y="288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08" name="Oval 50"/>
            <p:cNvSpPr/>
            <p:nvPr/>
          </p:nvSpPr>
          <p:spPr>
            <a:xfrm>
              <a:off x="3742" y="34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0509" name="Line 51"/>
            <p:cNvSpPr/>
            <p:nvPr/>
          </p:nvSpPr>
          <p:spPr>
            <a:xfrm>
              <a:off x="2653" y="3022"/>
              <a:ext cx="0" cy="45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10" name="Line 52"/>
            <p:cNvSpPr/>
            <p:nvPr/>
          </p:nvSpPr>
          <p:spPr>
            <a:xfrm>
              <a:off x="2653" y="3022"/>
              <a:ext cx="545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11" name="Line 53"/>
            <p:cNvSpPr/>
            <p:nvPr/>
          </p:nvSpPr>
          <p:spPr>
            <a:xfrm>
              <a:off x="2699" y="2976"/>
              <a:ext cx="1088" cy="54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12" name="Line 54"/>
            <p:cNvSpPr/>
            <p:nvPr/>
          </p:nvSpPr>
          <p:spPr>
            <a:xfrm flipV="1">
              <a:off x="2653" y="2976"/>
              <a:ext cx="545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13" name="Line 55"/>
            <p:cNvSpPr/>
            <p:nvPr/>
          </p:nvSpPr>
          <p:spPr>
            <a:xfrm>
              <a:off x="3243" y="3022"/>
              <a:ext cx="0" cy="45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14" name="Line 56"/>
            <p:cNvSpPr/>
            <p:nvPr/>
          </p:nvSpPr>
          <p:spPr>
            <a:xfrm flipV="1">
              <a:off x="3243" y="2976"/>
              <a:ext cx="544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15" name="Line 57"/>
            <p:cNvSpPr/>
            <p:nvPr/>
          </p:nvSpPr>
          <p:spPr>
            <a:xfrm>
              <a:off x="3243" y="3022"/>
              <a:ext cx="544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16" name="Line 58"/>
            <p:cNvSpPr/>
            <p:nvPr/>
          </p:nvSpPr>
          <p:spPr>
            <a:xfrm>
              <a:off x="3833" y="3022"/>
              <a:ext cx="0" cy="45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0517" name="Line 59"/>
            <p:cNvSpPr/>
            <p:nvPr/>
          </p:nvSpPr>
          <p:spPr>
            <a:xfrm flipV="1">
              <a:off x="2653" y="2976"/>
              <a:ext cx="1134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grpSp>
        <p:nvGrpSpPr>
          <p:cNvPr id="20485" name="Group 1"/>
          <p:cNvGrpSpPr/>
          <p:nvPr/>
        </p:nvGrpSpPr>
        <p:grpSpPr>
          <a:xfrm>
            <a:off x="6226175" y="4508500"/>
            <a:ext cx="2089150" cy="1152525"/>
            <a:chOff x="5867226" y="4293096"/>
            <a:chExt cx="2089150" cy="1152525"/>
          </a:xfrm>
        </p:grpSpPr>
        <p:grpSp>
          <p:nvGrpSpPr>
            <p:cNvPr id="20486" name="Group 60"/>
            <p:cNvGrpSpPr/>
            <p:nvPr/>
          </p:nvGrpSpPr>
          <p:grpSpPr>
            <a:xfrm>
              <a:off x="5867226" y="4293096"/>
              <a:ext cx="2089150" cy="1152525"/>
              <a:chOff x="2562" y="2886"/>
              <a:chExt cx="1316" cy="726"/>
            </a:xfrm>
          </p:grpSpPr>
          <p:sp>
            <p:nvSpPr>
              <p:cNvPr id="20488" name="Oval 35"/>
              <p:cNvSpPr/>
              <p:nvPr/>
            </p:nvSpPr>
            <p:spPr>
              <a:xfrm>
                <a:off x="2562" y="3475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0489" name="Oval 36"/>
              <p:cNvSpPr/>
              <p:nvPr/>
            </p:nvSpPr>
            <p:spPr>
              <a:xfrm>
                <a:off x="3153" y="288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0490" name="Oval 37"/>
              <p:cNvSpPr/>
              <p:nvPr/>
            </p:nvSpPr>
            <p:spPr>
              <a:xfrm>
                <a:off x="2563" y="288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0491" name="Oval 38"/>
              <p:cNvSpPr/>
              <p:nvPr/>
            </p:nvSpPr>
            <p:spPr>
              <a:xfrm>
                <a:off x="3152" y="347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0492" name="Oval 39"/>
              <p:cNvSpPr/>
              <p:nvPr/>
            </p:nvSpPr>
            <p:spPr>
              <a:xfrm>
                <a:off x="3742" y="288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0493" name="Oval 50"/>
              <p:cNvSpPr/>
              <p:nvPr/>
            </p:nvSpPr>
            <p:spPr>
              <a:xfrm>
                <a:off x="3742" y="3475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0494" name="Line 51"/>
              <p:cNvSpPr/>
              <p:nvPr/>
            </p:nvSpPr>
            <p:spPr>
              <a:xfrm>
                <a:off x="2653" y="3022"/>
                <a:ext cx="0" cy="453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0495" name="Line 52"/>
              <p:cNvSpPr/>
              <p:nvPr/>
            </p:nvSpPr>
            <p:spPr>
              <a:xfrm>
                <a:off x="2653" y="3022"/>
                <a:ext cx="545" cy="499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0496" name="Line 53"/>
              <p:cNvSpPr/>
              <p:nvPr/>
            </p:nvSpPr>
            <p:spPr>
              <a:xfrm>
                <a:off x="2699" y="2976"/>
                <a:ext cx="453" cy="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0497" name="Line 54"/>
              <p:cNvSpPr/>
              <p:nvPr/>
            </p:nvSpPr>
            <p:spPr>
              <a:xfrm flipV="1">
                <a:off x="2653" y="2977"/>
                <a:ext cx="1134" cy="499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0498" name="Line 55"/>
              <p:cNvSpPr/>
              <p:nvPr/>
            </p:nvSpPr>
            <p:spPr>
              <a:xfrm>
                <a:off x="3243" y="3022"/>
                <a:ext cx="0" cy="453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0499" name="Line 56"/>
              <p:cNvSpPr/>
              <p:nvPr/>
            </p:nvSpPr>
            <p:spPr>
              <a:xfrm>
                <a:off x="3243" y="3539"/>
                <a:ext cx="544" cy="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0500" name="Line 57"/>
              <p:cNvSpPr/>
              <p:nvPr/>
            </p:nvSpPr>
            <p:spPr>
              <a:xfrm>
                <a:off x="3243" y="2982"/>
                <a:ext cx="544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0501" name="Line 58"/>
              <p:cNvSpPr/>
              <p:nvPr/>
            </p:nvSpPr>
            <p:spPr>
              <a:xfrm>
                <a:off x="3833" y="3022"/>
                <a:ext cx="0" cy="453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0502" name="Line 59"/>
              <p:cNvSpPr/>
              <p:nvPr/>
            </p:nvSpPr>
            <p:spPr>
              <a:xfrm>
                <a:off x="2653" y="3531"/>
                <a:ext cx="545" cy="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</p:grpSp>
        <p:sp>
          <p:nvSpPr>
            <p:cNvPr id="20487" name="Line 52"/>
            <p:cNvSpPr/>
            <p:nvPr/>
          </p:nvSpPr>
          <p:spPr>
            <a:xfrm>
              <a:off x="6948264" y="4437112"/>
              <a:ext cx="865188" cy="7921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sp>
        <p:nvSpPr>
          <p:cNvPr id="9269" name="文本框 1"/>
          <p:cNvSpPr txBox="1"/>
          <p:nvPr/>
        </p:nvSpPr>
        <p:spPr>
          <a:xfrm>
            <a:off x="6067108" y="3801428"/>
            <a:ext cx="248031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ctr"/>
            <a:r>
              <a:rPr lang="zh-CN" altLang="en-US" sz="2000" b="1">
                <a:solidFill>
                  <a:srgbClr val="FF0000"/>
                </a:solidFill>
                <a:latin typeface="Tahoma" panose="020B0604030504040204" charset="0"/>
                <a:ea typeface="宋体" panose="02010600030101010101" pitchFamily="2" charset="-122"/>
              </a:rPr>
              <a:t>课堂测试二</a:t>
            </a:r>
            <a:r>
              <a:rPr lang="zh-CN" altLang="en-US" sz="2000" b="1">
                <a:solidFill>
                  <a:srgbClr val="FF0000"/>
                </a:solidFill>
                <a:latin typeface="Tahoma" panose="020B0604030504040204" charset="0"/>
                <a:ea typeface="宋体" panose="02010600030101010101" pitchFamily="2" charset="-122"/>
              </a:rPr>
              <a:t>：</a:t>
            </a:r>
            <a:endParaRPr lang="zh-CN" altLang="en-US" sz="2000" b="1">
              <a:solidFill>
                <a:srgbClr val="FF0000"/>
              </a:solidFill>
              <a:latin typeface="Tahoma" panose="020B0604030504040204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000" b="1">
                <a:solidFill>
                  <a:srgbClr val="FF0000"/>
                </a:solidFill>
                <a:latin typeface="Tahoma" panose="020B0604030504040204" charset="0"/>
                <a:ea typeface="宋体" panose="02010600030101010101" pitchFamily="2" charset="-122"/>
              </a:rPr>
              <a:t>求该图的周长和围长</a:t>
            </a:r>
            <a:endParaRPr lang="zh-CN" altLang="en-US" sz="2000" b="1">
              <a:solidFill>
                <a:srgbClr val="FF0000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通路，回路的存在性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179388" y="1341438"/>
            <a:ext cx="8686800" cy="5105400"/>
          </a:xfrm>
        </p:spPr>
        <p:txBody>
          <a:bodyPr vert="horz" wrap="square" lIns="91440" tIns="45720" rIns="91440" bIns="45720" anchor="t"/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7.6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在</a:t>
            </a:r>
            <a:r>
              <a:rPr lang="en-US" altLang="zh-CN" i="1" dirty="0"/>
              <a:t>n</a:t>
            </a:r>
            <a:r>
              <a:rPr lang="zh-CN" altLang="en-US" dirty="0"/>
              <a:t>阶图</a:t>
            </a:r>
            <a:r>
              <a:rPr lang="en-US" altLang="zh-CN" i="1" dirty="0"/>
              <a:t>G</a:t>
            </a:r>
            <a:r>
              <a:rPr lang="zh-CN" altLang="en-US" dirty="0"/>
              <a:t>中</a:t>
            </a:r>
            <a:r>
              <a:rPr lang="en-US" altLang="zh-CN" dirty="0"/>
              <a:t>,</a:t>
            </a:r>
            <a:r>
              <a:rPr lang="zh-CN" altLang="en-US" dirty="0"/>
              <a:t>如果从顶点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 </a:t>
            </a:r>
            <a:r>
              <a:rPr lang="zh-CN" altLang="en-US" dirty="0"/>
              <a:t>到顶点</a:t>
            </a:r>
            <a:r>
              <a:rPr lang="en-US" altLang="zh-CN" i="1" dirty="0"/>
              <a:t>v</a:t>
            </a:r>
            <a:r>
              <a:rPr lang="en-US" altLang="zh-CN" i="1" baseline="-15000" dirty="0"/>
              <a:t>j 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 </a:t>
            </a:r>
            <a:r>
              <a:rPr lang="en-US" altLang="ja-JP" sz="2000" i="1" dirty="0"/>
              <a:t>≠</a:t>
            </a:r>
            <a:r>
              <a:rPr lang="en-US" altLang="zh-CN" i="1" dirty="0"/>
              <a:t> v</a:t>
            </a:r>
            <a:r>
              <a:rPr lang="en-US" altLang="zh-CN" i="1" baseline="-15000" dirty="0"/>
              <a:t>j</a:t>
            </a:r>
            <a:r>
              <a:rPr lang="en-US" altLang="zh-CN" dirty="0"/>
              <a:t>)</a:t>
            </a:r>
            <a:r>
              <a:rPr lang="zh-CN" altLang="en-US" dirty="0"/>
              <a:t>存在通路</a:t>
            </a:r>
            <a:r>
              <a:rPr lang="en-US" altLang="zh-CN" dirty="0"/>
              <a:t>,</a:t>
            </a:r>
            <a:r>
              <a:rPr lang="zh-CN" altLang="en-US" dirty="0"/>
              <a:t>则从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 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i="1" baseline="-15000" dirty="0"/>
              <a:t>j </a:t>
            </a:r>
            <a:r>
              <a:rPr lang="zh-CN" altLang="en-US" dirty="0"/>
              <a:t>存在长度</a:t>
            </a:r>
            <a:r>
              <a:rPr lang="zh-CN" altLang="en-US" dirty="0">
                <a:solidFill>
                  <a:srgbClr val="FF00FF"/>
                </a:solidFill>
              </a:rPr>
              <a:t>小于等于</a:t>
            </a:r>
            <a:r>
              <a:rPr lang="en-US" altLang="zh-CN" i="1" dirty="0">
                <a:solidFill>
                  <a:srgbClr val="FF00FF"/>
                </a:solidFill>
              </a:rPr>
              <a:t>n</a:t>
            </a:r>
            <a:r>
              <a:rPr lang="en-US" altLang="zh-CN" dirty="0">
                <a:solidFill>
                  <a:srgbClr val="FF00FF"/>
                </a:solidFill>
              </a:rPr>
              <a:t>-1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FF"/>
                </a:solidFill>
              </a:rPr>
              <a:t>通路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推论：</a:t>
            </a:r>
            <a:r>
              <a:rPr lang="zh-CN" altLang="en-US" dirty="0"/>
              <a:t>在</a:t>
            </a:r>
            <a:r>
              <a:rPr lang="en-US" altLang="zh-CN" i="1" dirty="0"/>
              <a:t>n</a:t>
            </a:r>
            <a:r>
              <a:rPr lang="zh-CN" altLang="en-US" dirty="0"/>
              <a:t>阶图</a:t>
            </a:r>
            <a:r>
              <a:rPr lang="en-US" altLang="zh-CN" i="1" dirty="0"/>
              <a:t>G</a:t>
            </a:r>
            <a:r>
              <a:rPr lang="zh-CN" altLang="en-US" dirty="0"/>
              <a:t>中</a:t>
            </a:r>
            <a:r>
              <a:rPr lang="en-US" altLang="zh-CN" dirty="0"/>
              <a:t>,</a:t>
            </a:r>
            <a:r>
              <a:rPr lang="zh-CN" altLang="en-US" dirty="0"/>
              <a:t>若从顶点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 </a:t>
            </a:r>
            <a:r>
              <a:rPr lang="zh-CN" altLang="en-US" dirty="0"/>
              <a:t>到 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j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</a:t>
            </a:r>
            <a:r>
              <a:rPr lang="en-US" altLang="zh-CN" dirty="0">
                <a:sym typeface="Symbol" panose="05050102010706020507" charset="2"/>
              </a:rPr>
              <a:t>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j</a:t>
            </a:r>
            <a:r>
              <a:rPr lang="en-US" altLang="zh-CN" dirty="0"/>
              <a:t>)</a:t>
            </a:r>
            <a:r>
              <a:rPr lang="zh-CN" altLang="en-US" dirty="0"/>
              <a:t>存在通路</a:t>
            </a:r>
            <a:r>
              <a:rPr lang="en-US" altLang="zh-CN" dirty="0"/>
              <a:t>,</a:t>
            </a:r>
            <a:r>
              <a:rPr lang="zh-CN" altLang="en-US" dirty="0"/>
              <a:t>则从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 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j </a:t>
            </a:r>
            <a:r>
              <a:rPr lang="zh-CN" altLang="en-US" dirty="0"/>
              <a:t>存在长度</a:t>
            </a:r>
            <a:r>
              <a:rPr lang="zh-CN" altLang="en-US" dirty="0">
                <a:solidFill>
                  <a:srgbClr val="FF00FF"/>
                </a:solidFill>
              </a:rPr>
              <a:t>小于等于</a:t>
            </a:r>
            <a:r>
              <a:rPr lang="en-US" altLang="zh-CN" i="1" dirty="0">
                <a:solidFill>
                  <a:srgbClr val="FF00FF"/>
                </a:solidFill>
              </a:rPr>
              <a:t>n</a:t>
            </a:r>
            <a:r>
              <a:rPr lang="en-US" altLang="zh-CN" dirty="0">
                <a:solidFill>
                  <a:srgbClr val="FF00FF"/>
                </a:solidFill>
                <a:sym typeface="Symbol" panose="05050102010706020507" charset="2"/>
              </a:rPr>
              <a:t>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FF"/>
                </a:solidFill>
              </a:rPr>
              <a:t>路径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7.7</a:t>
            </a:r>
            <a:r>
              <a:rPr lang="zh-CN" altLang="en-US" dirty="0"/>
              <a:t>：在一个</a:t>
            </a:r>
            <a:r>
              <a:rPr lang="en-US" altLang="zh-CN" i="1" dirty="0"/>
              <a:t>n</a:t>
            </a:r>
            <a:r>
              <a:rPr lang="zh-CN" altLang="en-US" dirty="0"/>
              <a:t>阶图</a:t>
            </a:r>
            <a:r>
              <a:rPr lang="en-US" altLang="zh-CN" i="1" dirty="0"/>
              <a:t>G</a:t>
            </a:r>
            <a:r>
              <a:rPr lang="zh-CN" altLang="en-US" dirty="0"/>
              <a:t>中</a:t>
            </a:r>
            <a:r>
              <a:rPr lang="en-US" altLang="zh-CN" dirty="0"/>
              <a:t>,</a:t>
            </a:r>
            <a:r>
              <a:rPr lang="zh-CN" altLang="en-US" dirty="0"/>
              <a:t>若存在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 </a:t>
            </a:r>
            <a:r>
              <a:rPr lang="zh-CN" altLang="en-US" dirty="0"/>
              <a:t>到自身的</a:t>
            </a:r>
            <a:r>
              <a:rPr lang="zh-CN" altLang="en-US" dirty="0">
                <a:solidFill>
                  <a:srgbClr val="FF00FF"/>
                </a:solidFill>
              </a:rPr>
              <a:t>回路</a:t>
            </a:r>
            <a:r>
              <a:rPr lang="en-US" altLang="zh-CN" dirty="0"/>
              <a:t>,</a:t>
            </a:r>
            <a:r>
              <a:rPr lang="zh-CN" altLang="en-US" dirty="0"/>
              <a:t>则一定存在长度小于等于</a:t>
            </a:r>
            <a:r>
              <a:rPr lang="en-US" altLang="zh-CN" i="1" dirty="0">
                <a:solidFill>
                  <a:srgbClr val="FF00FF"/>
                </a:solidFill>
              </a:rPr>
              <a:t>n</a:t>
            </a:r>
            <a:r>
              <a:rPr lang="zh-CN" altLang="en-US" dirty="0">
                <a:solidFill>
                  <a:srgbClr val="FF00FF"/>
                </a:solidFill>
              </a:rPr>
              <a:t>的回路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推论</a:t>
            </a:r>
            <a:r>
              <a:rPr lang="zh-CN" altLang="en-US" dirty="0"/>
              <a:t>：在一个</a:t>
            </a:r>
            <a:r>
              <a:rPr lang="en-US" altLang="zh-CN" i="1" dirty="0"/>
              <a:t>n</a:t>
            </a:r>
            <a:r>
              <a:rPr lang="zh-CN" altLang="en-US" dirty="0"/>
              <a:t>阶图</a:t>
            </a:r>
            <a:r>
              <a:rPr lang="en-US" altLang="zh-CN" i="1" dirty="0"/>
              <a:t>G</a:t>
            </a:r>
            <a:r>
              <a:rPr lang="zh-CN" altLang="en-US" dirty="0"/>
              <a:t>中</a:t>
            </a:r>
            <a:r>
              <a:rPr lang="en-US" altLang="zh-CN" dirty="0"/>
              <a:t>,</a:t>
            </a:r>
            <a:r>
              <a:rPr lang="zh-CN" altLang="en-US" dirty="0"/>
              <a:t>若存在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 </a:t>
            </a:r>
            <a:r>
              <a:rPr lang="zh-CN" altLang="en-US" dirty="0"/>
              <a:t>到自身的简单回路</a:t>
            </a:r>
            <a:r>
              <a:rPr lang="en-US" altLang="zh-CN" dirty="0"/>
              <a:t>,</a:t>
            </a:r>
            <a:r>
              <a:rPr lang="zh-CN" altLang="en-US" dirty="0"/>
              <a:t>则一定存在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 </a:t>
            </a:r>
            <a:r>
              <a:rPr lang="zh-CN" altLang="en-US" dirty="0"/>
              <a:t>到自身的长度</a:t>
            </a:r>
            <a:r>
              <a:rPr lang="zh-CN" altLang="en-US" dirty="0">
                <a:solidFill>
                  <a:srgbClr val="FF00FF"/>
                </a:solidFill>
              </a:rPr>
              <a:t>小于等于</a:t>
            </a:r>
            <a:r>
              <a:rPr lang="en-US" altLang="zh-CN" i="1" dirty="0">
                <a:solidFill>
                  <a:srgbClr val="FF00FF"/>
                </a:solidFill>
              </a:rPr>
              <a:t>n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FF"/>
                </a:solidFill>
              </a:rPr>
              <a:t>初级回路</a:t>
            </a:r>
            <a:r>
              <a:rPr lang="en-US" altLang="zh-CN" dirty="0"/>
              <a:t>(</a:t>
            </a:r>
            <a:r>
              <a:rPr lang="zh-CN" altLang="en-US" dirty="0"/>
              <a:t>圈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注：</a:t>
            </a: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en-US" altLang="zh-CN" dirty="0"/>
              <a:t> </a:t>
            </a:r>
            <a:r>
              <a:rPr lang="zh-CN" altLang="en-US" dirty="0"/>
              <a:t>为无向图</a:t>
            </a:r>
            <a:r>
              <a:rPr lang="en-US" altLang="zh-CN" dirty="0"/>
              <a:t>,</a:t>
            </a:r>
            <a:r>
              <a:rPr lang="zh-CN" altLang="en-US" dirty="0"/>
              <a:t>且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 </a:t>
            </a:r>
            <a:r>
              <a:rPr lang="zh-CN" altLang="en-US" dirty="0"/>
              <a:t>到自身存在回路</a:t>
            </a:r>
            <a:r>
              <a:rPr lang="en-US" altLang="zh-CN" dirty="0"/>
              <a:t>,</a:t>
            </a:r>
            <a:r>
              <a:rPr lang="zh-CN" altLang="en-US" dirty="0"/>
              <a:t>则不一定存在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 </a:t>
            </a:r>
            <a:r>
              <a:rPr lang="zh-CN" altLang="en-US" dirty="0"/>
              <a:t>到自身的长度小于等于</a:t>
            </a:r>
            <a:r>
              <a:rPr lang="en-US" altLang="zh-CN" i="1" dirty="0"/>
              <a:t>n</a:t>
            </a:r>
            <a:r>
              <a:rPr lang="zh-CN" altLang="en-US" dirty="0"/>
              <a:t>的圈。</a:t>
            </a:r>
            <a:endParaRPr lang="zh-CN" altLang="en-US" dirty="0"/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定理</a:t>
            </a:r>
            <a:r>
              <a:rPr lang="en-US" altLang="zh-CN" dirty="0"/>
              <a:t>7.6(</a:t>
            </a:r>
            <a:r>
              <a:rPr lang="zh-CN" altLang="en-US" dirty="0"/>
              <a:t>证明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179388" y="1341438"/>
            <a:ext cx="8686800" cy="5105400"/>
          </a:xfrm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7.6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在</a:t>
            </a:r>
            <a:r>
              <a:rPr lang="en-US" altLang="zh-CN" i="1" dirty="0"/>
              <a:t>n</a:t>
            </a:r>
            <a:r>
              <a:rPr lang="zh-CN" altLang="en-US" dirty="0"/>
              <a:t>阶图</a:t>
            </a:r>
            <a:r>
              <a:rPr lang="en-US" altLang="zh-CN" dirty="0"/>
              <a:t>G</a:t>
            </a:r>
            <a:r>
              <a:rPr lang="zh-CN" altLang="en-US" dirty="0"/>
              <a:t>中，如果从顶点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 </a:t>
            </a:r>
            <a:r>
              <a:rPr lang="zh-CN" altLang="en-US" dirty="0"/>
              <a:t>到顶点</a:t>
            </a:r>
            <a:r>
              <a:rPr lang="en-US" altLang="zh-CN" i="1" dirty="0"/>
              <a:t>v</a:t>
            </a:r>
            <a:r>
              <a:rPr lang="en-US" altLang="zh-CN" i="1" baseline="-15000" dirty="0"/>
              <a:t>j </a:t>
            </a:r>
            <a:r>
              <a:rPr lang="zh-CN" altLang="en-US" dirty="0"/>
              <a:t>（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 </a:t>
            </a:r>
            <a:r>
              <a:rPr lang="en-US" altLang="ja-JP" sz="2000" i="1" dirty="0"/>
              <a:t>≠</a:t>
            </a:r>
            <a:r>
              <a:rPr lang="en-US" altLang="zh-CN" i="1" dirty="0"/>
              <a:t> v</a:t>
            </a:r>
            <a:r>
              <a:rPr lang="en-US" altLang="zh-CN" i="1" baseline="-15000" dirty="0"/>
              <a:t>j</a:t>
            </a:r>
            <a:r>
              <a:rPr lang="zh-CN" altLang="en-US" dirty="0"/>
              <a:t>）存在通路，则从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 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i="1" baseline="-15000" dirty="0"/>
              <a:t>j </a:t>
            </a:r>
            <a:r>
              <a:rPr lang="zh-CN" altLang="en-US" dirty="0"/>
              <a:t>存在长度小于等于</a:t>
            </a:r>
            <a:r>
              <a:rPr lang="en-US" altLang="zh-CN" i="1" dirty="0"/>
              <a:t>n</a:t>
            </a:r>
            <a:r>
              <a:rPr lang="en-US" altLang="zh-CN" dirty="0"/>
              <a:t>-1</a:t>
            </a:r>
            <a:r>
              <a:rPr lang="zh-CN" altLang="en-US" dirty="0"/>
              <a:t>的通路。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>
                <a:solidFill>
                  <a:schemeClr val="hlink"/>
                </a:solidFill>
              </a:rPr>
              <a:t>证明：</a:t>
            </a:r>
            <a:r>
              <a:rPr lang="zh-CN" altLang="en-US" dirty="0">
                <a:solidFill>
                  <a:schemeClr val="folHlink"/>
                </a:solidFill>
              </a:rPr>
              <a:t>如果从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 </a:t>
            </a:r>
            <a:r>
              <a:rPr lang="zh-CN" altLang="en-US" dirty="0">
                <a:solidFill>
                  <a:schemeClr val="folHlink"/>
                </a:solidFill>
              </a:rPr>
              <a:t>到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15000" dirty="0">
                <a:solidFill>
                  <a:schemeClr val="folHlink"/>
                </a:solidFill>
              </a:rPr>
              <a:t>j</a:t>
            </a:r>
            <a:r>
              <a:rPr lang="zh-CN" altLang="en-US" dirty="0">
                <a:solidFill>
                  <a:schemeClr val="folHlink"/>
                </a:solidFill>
              </a:rPr>
              <a:t>存在通路，设通路中有</a:t>
            </a:r>
            <a:r>
              <a:rPr lang="en-US" altLang="zh-CN" i="1" dirty="0">
                <a:solidFill>
                  <a:schemeClr val="folHlink"/>
                </a:solidFill>
                <a:ea typeface="MingLiU" pitchFamily="49" charset="-120"/>
              </a:rPr>
              <a:t>l</a:t>
            </a:r>
            <a:r>
              <a:rPr lang="en-US" altLang="zh-CN" dirty="0">
                <a:solidFill>
                  <a:schemeClr val="folHlink"/>
                </a:solidFill>
              </a:rPr>
              <a:t> </a:t>
            </a:r>
            <a:r>
              <a:rPr lang="zh-CN" altLang="en-US" dirty="0">
                <a:solidFill>
                  <a:schemeClr val="folHlink"/>
                </a:solidFill>
              </a:rPr>
              <a:t>条边，则序列中必有</a:t>
            </a:r>
            <a:r>
              <a:rPr lang="en-US" altLang="zh-CN" i="1" dirty="0">
                <a:solidFill>
                  <a:schemeClr val="folHlink"/>
                </a:solidFill>
              </a:rPr>
              <a:t>l</a:t>
            </a:r>
            <a:r>
              <a:rPr lang="en-US" altLang="zh-CN" dirty="0">
                <a:solidFill>
                  <a:schemeClr val="folHlink"/>
                </a:solidFill>
              </a:rPr>
              <a:t>+1</a:t>
            </a:r>
            <a:r>
              <a:rPr lang="zh-CN" altLang="en-US" dirty="0">
                <a:solidFill>
                  <a:schemeClr val="folHlink"/>
                </a:solidFill>
              </a:rPr>
              <a:t>个结点。假设</a:t>
            </a:r>
            <a:r>
              <a:rPr lang="en-US" altLang="zh-CN" i="1" dirty="0">
                <a:solidFill>
                  <a:schemeClr val="folHlink"/>
                </a:solidFill>
              </a:rPr>
              <a:t>l </a:t>
            </a:r>
            <a:r>
              <a:rPr lang="en-US" altLang="zh-CN" dirty="0">
                <a:solidFill>
                  <a:schemeClr val="folHlink"/>
                </a:solidFill>
              </a:rPr>
              <a:t>&gt;</a:t>
            </a:r>
            <a:r>
              <a:rPr lang="en-US" altLang="zh-CN" i="1" dirty="0">
                <a:solidFill>
                  <a:schemeClr val="folHlink"/>
                </a:solidFill>
              </a:rPr>
              <a:t>n</a:t>
            </a:r>
            <a:r>
              <a:rPr lang="en-US" altLang="zh-CN" dirty="0">
                <a:solidFill>
                  <a:schemeClr val="folHlink"/>
                </a:solidFill>
              </a:rPr>
              <a:t>-1</a:t>
            </a:r>
            <a:r>
              <a:rPr lang="zh-CN" altLang="en-US" dirty="0">
                <a:solidFill>
                  <a:schemeClr val="folHlink"/>
                </a:solidFill>
              </a:rPr>
              <a:t>，则通路上的顶点数大于</a:t>
            </a:r>
            <a:r>
              <a:rPr lang="en-US" altLang="zh-CN" i="1" dirty="0">
                <a:solidFill>
                  <a:schemeClr val="folHlink"/>
                </a:solidFill>
              </a:rPr>
              <a:t>n</a:t>
            </a:r>
            <a:r>
              <a:rPr lang="en-US" altLang="zh-CN" dirty="0">
                <a:solidFill>
                  <a:schemeClr val="folHlink"/>
                </a:solidFill>
              </a:rPr>
              <a:t>, </a:t>
            </a:r>
            <a:r>
              <a:rPr lang="zh-CN" altLang="en-US" dirty="0">
                <a:solidFill>
                  <a:schemeClr val="folHlink"/>
                </a:solidFill>
              </a:rPr>
              <a:t>必有结点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s</a:t>
            </a:r>
            <a:r>
              <a:rPr lang="zh-CN" altLang="en-US" dirty="0">
                <a:solidFill>
                  <a:schemeClr val="folHlink"/>
                </a:solidFill>
              </a:rPr>
              <a:t>，它在序列中不止出现一次，即必有结点序列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dirty="0">
                <a:solidFill>
                  <a:schemeClr val="folHlink"/>
                </a:solidFill>
              </a:rPr>
              <a:t>…, 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s</a:t>
            </a:r>
            <a:r>
              <a:rPr lang="en-US" altLang="zh-CN" dirty="0">
                <a:solidFill>
                  <a:schemeClr val="folHlink"/>
                </a:solidFill>
              </a:rPr>
              <a:t>…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s</a:t>
            </a:r>
            <a:r>
              <a:rPr lang="en-US" altLang="zh-CN" dirty="0">
                <a:solidFill>
                  <a:schemeClr val="folHlink"/>
                </a:solidFill>
              </a:rPr>
              <a:t>… 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15000" dirty="0">
                <a:solidFill>
                  <a:schemeClr val="folHlink"/>
                </a:solidFill>
              </a:rPr>
              <a:t>j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 </a:t>
            </a:r>
            <a:r>
              <a:rPr lang="zh-CN" altLang="en-US" dirty="0">
                <a:solidFill>
                  <a:schemeClr val="folHlink"/>
                </a:solidFill>
              </a:rPr>
              <a:t>，在通路中删掉从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s</a:t>
            </a:r>
            <a:r>
              <a:rPr lang="zh-CN" altLang="en-US" dirty="0">
                <a:solidFill>
                  <a:schemeClr val="folHlink"/>
                </a:solidFill>
              </a:rPr>
              <a:t>到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s</a:t>
            </a:r>
            <a:r>
              <a:rPr lang="zh-CN" altLang="en-US" dirty="0">
                <a:solidFill>
                  <a:schemeClr val="folHlink"/>
                </a:solidFill>
              </a:rPr>
              <a:t>的这些边，仍是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j</a:t>
            </a:r>
            <a:r>
              <a:rPr lang="zh-CN" altLang="en-US" dirty="0">
                <a:solidFill>
                  <a:schemeClr val="folHlink"/>
                </a:solidFill>
              </a:rPr>
              <a:t>到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k</a:t>
            </a:r>
            <a:r>
              <a:rPr lang="zh-CN" altLang="en-US" dirty="0">
                <a:solidFill>
                  <a:schemeClr val="folHlink"/>
                </a:solidFill>
              </a:rPr>
              <a:t>的一条路，且比原来的通路边数少。如此重复进行下去，必可得到从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 </a:t>
            </a:r>
            <a:r>
              <a:rPr lang="zh-CN" altLang="en-US" dirty="0">
                <a:solidFill>
                  <a:schemeClr val="folHlink"/>
                </a:solidFill>
              </a:rPr>
              <a:t>到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15000" dirty="0">
                <a:solidFill>
                  <a:schemeClr val="folHlink"/>
                </a:solidFill>
              </a:rPr>
              <a:t>j</a:t>
            </a:r>
            <a:r>
              <a:rPr lang="zh-CN" altLang="en-US" dirty="0">
                <a:solidFill>
                  <a:schemeClr val="folHlink"/>
                </a:solidFill>
              </a:rPr>
              <a:t>长度小于等于</a:t>
            </a:r>
            <a:r>
              <a:rPr lang="en-US" altLang="zh-CN" i="1" dirty="0">
                <a:solidFill>
                  <a:schemeClr val="folHlink"/>
                </a:solidFill>
              </a:rPr>
              <a:t>n</a:t>
            </a:r>
            <a:r>
              <a:rPr lang="en-US" altLang="zh-CN" dirty="0">
                <a:solidFill>
                  <a:schemeClr val="folHlink"/>
                </a:solidFill>
              </a:rPr>
              <a:t>-1</a:t>
            </a:r>
            <a:r>
              <a:rPr lang="zh-CN" altLang="en-US" dirty="0">
                <a:solidFill>
                  <a:schemeClr val="folHlink"/>
                </a:solidFill>
              </a:rPr>
              <a:t>的通路。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grpSp>
        <p:nvGrpSpPr>
          <p:cNvPr id="22531" name="Group 31"/>
          <p:cNvGrpSpPr/>
          <p:nvPr/>
        </p:nvGrpSpPr>
        <p:grpSpPr>
          <a:xfrm>
            <a:off x="879475" y="4797425"/>
            <a:ext cx="3908425" cy="1536700"/>
            <a:chOff x="554" y="3022"/>
            <a:chExt cx="2462" cy="968"/>
          </a:xfrm>
        </p:grpSpPr>
        <p:sp>
          <p:nvSpPr>
            <p:cNvPr id="22532" name="Oval 4"/>
            <p:cNvSpPr/>
            <p:nvPr/>
          </p:nvSpPr>
          <p:spPr>
            <a:xfrm>
              <a:off x="657" y="3612"/>
              <a:ext cx="136" cy="136"/>
            </a:xfrm>
            <a:prstGeom prst="ellipse">
              <a:avLst/>
            </a:prstGeom>
            <a:gradFill rotWithShape="0">
              <a:gsLst>
                <a:gs pos="0">
                  <a:srgbClr val="C0C0C0"/>
                </a:gs>
                <a:gs pos="100000">
                  <a:srgbClr val="595959"/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2533" name="Oval 5"/>
            <p:cNvSpPr/>
            <p:nvPr/>
          </p:nvSpPr>
          <p:spPr>
            <a:xfrm>
              <a:off x="1020" y="3612"/>
              <a:ext cx="136" cy="136"/>
            </a:xfrm>
            <a:prstGeom prst="ellipse">
              <a:avLst/>
            </a:prstGeom>
            <a:gradFill rotWithShape="0">
              <a:gsLst>
                <a:gs pos="0">
                  <a:srgbClr val="C0C0C0"/>
                </a:gs>
                <a:gs pos="100000">
                  <a:srgbClr val="595959"/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2534" name="Oval 6"/>
            <p:cNvSpPr/>
            <p:nvPr/>
          </p:nvSpPr>
          <p:spPr>
            <a:xfrm>
              <a:off x="1701" y="3612"/>
              <a:ext cx="136" cy="136"/>
            </a:xfrm>
            <a:prstGeom prst="ellipse">
              <a:avLst/>
            </a:prstGeom>
            <a:gradFill rotWithShape="0">
              <a:gsLst>
                <a:gs pos="0">
                  <a:srgbClr val="C0C0C0"/>
                </a:gs>
                <a:gs pos="100000">
                  <a:srgbClr val="595959"/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2535" name="Oval 7"/>
            <p:cNvSpPr/>
            <p:nvPr/>
          </p:nvSpPr>
          <p:spPr>
            <a:xfrm>
              <a:off x="1610" y="3203"/>
              <a:ext cx="136" cy="136"/>
            </a:xfrm>
            <a:prstGeom prst="ellipse">
              <a:avLst/>
            </a:prstGeom>
            <a:gradFill rotWithShape="0">
              <a:gsLst>
                <a:gs pos="0">
                  <a:srgbClr val="C0C0C0"/>
                </a:gs>
                <a:gs pos="100000">
                  <a:srgbClr val="595959"/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2536" name="Oval 8"/>
            <p:cNvSpPr/>
            <p:nvPr/>
          </p:nvSpPr>
          <p:spPr>
            <a:xfrm>
              <a:off x="2835" y="3612"/>
              <a:ext cx="136" cy="136"/>
            </a:xfrm>
            <a:prstGeom prst="ellipse">
              <a:avLst/>
            </a:prstGeom>
            <a:gradFill rotWithShape="0">
              <a:gsLst>
                <a:gs pos="0">
                  <a:srgbClr val="C0C0C0"/>
                </a:gs>
                <a:gs pos="100000">
                  <a:srgbClr val="595959"/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2537" name="Line 9"/>
            <p:cNvSpPr/>
            <p:nvPr/>
          </p:nvSpPr>
          <p:spPr>
            <a:xfrm>
              <a:off x="793" y="3657"/>
              <a:ext cx="22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2538" name="Text Box 10"/>
            <p:cNvSpPr txBox="1"/>
            <p:nvPr/>
          </p:nvSpPr>
          <p:spPr>
            <a:xfrm>
              <a:off x="1257" y="3443"/>
              <a:ext cx="340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Arial" panose="020B0604020202020204" pitchFamily="34" charset="0"/>
                </a:rPr>
                <a:t>…</a:t>
              </a:r>
              <a:endParaRPr lang="en-US" altLang="zh-CN" sz="2800" b="1" dirty="0">
                <a:latin typeface="Tahoma" panose="020B0604030504040204" charset="0"/>
              </a:endParaRPr>
            </a:p>
          </p:txBody>
        </p:sp>
        <p:sp>
          <p:nvSpPr>
            <p:cNvPr id="22539" name="Text Box 11"/>
            <p:cNvSpPr txBox="1"/>
            <p:nvPr/>
          </p:nvSpPr>
          <p:spPr>
            <a:xfrm>
              <a:off x="1791" y="3022"/>
              <a:ext cx="340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Arial" panose="020B0604020202020204" pitchFamily="34" charset="0"/>
                </a:rPr>
                <a:t>…</a:t>
              </a:r>
              <a:endParaRPr lang="en-US" altLang="zh-CN" sz="2800" b="1" dirty="0">
                <a:latin typeface="Tahoma" panose="020B0604030504040204" charset="0"/>
              </a:endParaRPr>
            </a:p>
          </p:txBody>
        </p:sp>
        <p:sp>
          <p:nvSpPr>
            <p:cNvPr id="22540" name="Text Box 15"/>
            <p:cNvSpPr txBox="1"/>
            <p:nvPr/>
          </p:nvSpPr>
          <p:spPr>
            <a:xfrm>
              <a:off x="2290" y="3421"/>
              <a:ext cx="340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Arial" panose="020B0604020202020204" pitchFamily="34" charset="0"/>
                </a:rPr>
                <a:t>…</a:t>
              </a:r>
              <a:endParaRPr lang="en-US" altLang="zh-CN" sz="2800" b="1" dirty="0">
                <a:latin typeface="Tahoma" panose="020B0604030504040204" charset="0"/>
              </a:endParaRPr>
            </a:p>
          </p:txBody>
        </p:sp>
        <p:sp>
          <p:nvSpPr>
            <p:cNvPr id="22541" name="Line 16"/>
            <p:cNvSpPr/>
            <p:nvPr/>
          </p:nvSpPr>
          <p:spPr>
            <a:xfrm>
              <a:off x="2653" y="3657"/>
              <a:ext cx="22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2542" name="Text Box 19"/>
            <p:cNvSpPr txBox="1"/>
            <p:nvPr/>
          </p:nvSpPr>
          <p:spPr>
            <a:xfrm>
              <a:off x="554" y="3641"/>
              <a:ext cx="23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charset="0"/>
                </a:rPr>
                <a:t>i</a:t>
              </a:r>
              <a:endParaRPr lang="en-US" altLang="zh-CN" sz="2400" b="1" i="1" baseline="-25000" dirty="0">
                <a:latin typeface="Times New Roman" panose="02020603050405020304" charset="0"/>
              </a:endParaRPr>
            </a:p>
          </p:txBody>
        </p:sp>
        <p:sp>
          <p:nvSpPr>
            <p:cNvPr id="22543" name="Text Box 20"/>
            <p:cNvSpPr txBox="1"/>
            <p:nvPr/>
          </p:nvSpPr>
          <p:spPr>
            <a:xfrm>
              <a:off x="965" y="3657"/>
              <a:ext cx="37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charset="0"/>
                </a:rPr>
                <a:t>i+</a:t>
              </a:r>
              <a:r>
                <a:rPr lang="en-US" altLang="zh-CN" sz="2400" b="1" baseline="-25000" dirty="0">
                  <a:latin typeface="Times New Roman" panose="02020603050405020304" charset="0"/>
                </a:rPr>
                <a:t>1</a:t>
              </a:r>
              <a:endParaRPr lang="en-US" altLang="zh-CN" sz="2400" b="1" baseline="-25000" dirty="0">
                <a:latin typeface="Times New Roman" panose="02020603050405020304" charset="0"/>
              </a:endParaRPr>
            </a:p>
          </p:txBody>
        </p:sp>
        <p:sp>
          <p:nvSpPr>
            <p:cNvPr id="22544" name="Text Box 21"/>
            <p:cNvSpPr txBox="1"/>
            <p:nvPr/>
          </p:nvSpPr>
          <p:spPr>
            <a:xfrm>
              <a:off x="1610" y="3702"/>
              <a:ext cx="25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charset="0"/>
                </a:rPr>
                <a:t>s</a:t>
              </a:r>
              <a:endParaRPr lang="en-US" altLang="zh-CN" sz="2400" b="1" i="1" baseline="-25000" dirty="0">
                <a:latin typeface="Times New Roman" panose="02020603050405020304" charset="0"/>
              </a:endParaRPr>
            </a:p>
          </p:txBody>
        </p:sp>
        <p:sp>
          <p:nvSpPr>
            <p:cNvPr id="22545" name="Text Box 23"/>
            <p:cNvSpPr txBox="1"/>
            <p:nvPr/>
          </p:nvSpPr>
          <p:spPr>
            <a:xfrm>
              <a:off x="2779" y="3657"/>
              <a:ext cx="23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charset="0"/>
                </a:rPr>
                <a:t>j</a:t>
              </a:r>
              <a:endParaRPr lang="en-US" altLang="zh-CN" sz="2400" b="1" i="1" baseline="-25000" dirty="0">
                <a:latin typeface="Times New Roman" panose="02020603050405020304" charset="0"/>
              </a:endParaRPr>
            </a:p>
          </p:txBody>
        </p:sp>
        <p:sp>
          <p:nvSpPr>
            <p:cNvPr id="22546" name="Oval 24"/>
            <p:cNvSpPr/>
            <p:nvPr/>
          </p:nvSpPr>
          <p:spPr>
            <a:xfrm>
              <a:off x="2109" y="3339"/>
              <a:ext cx="136" cy="136"/>
            </a:xfrm>
            <a:prstGeom prst="ellipse">
              <a:avLst/>
            </a:prstGeom>
            <a:gradFill rotWithShape="0">
              <a:gsLst>
                <a:gs pos="0">
                  <a:srgbClr val="C0C0C0"/>
                </a:gs>
                <a:gs pos="100000">
                  <a:srgbClr val="595959"/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/>
            <a:p>
              <a:endParaRPr lang="zh-CN" altLang="en-US" i="1" dirty="0">
                <a:latin typeface="Tahoma" panose="020B0604030504040204" charset="0"/>
              </a:endParaRPr>
            </a:p>
          </p:txBody>
        </p:sp>
        <p:sp>
          <p:nvSpPr>
            <p:cNvPr id="22547" name="Line 26"/>
            <p:cNvSpPr/>
            <p:nvPr/>
          </p:nvSpPr>
          <p:spPr>
            <a:xfrm>
              <a:off x="1701" y="3339"/>
              <a:ext cx="45" cy="27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2548" name="Line 27"/>
            <p:cNvSpPr/>
            <p:nvPr/>
          </p:nvSpPr>
          <p:spPr>
            <a:xfrm flipV="1">
              <a:off x="1791" y="3430"/>
              <a:ext cx="363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2549" name="Line 28"/>
            <p:cNvSpPr/>
            <p:nvPr/>
          </p:nvSpPr>
          <p:spPr>
            <a:xfrm>
              <a:off x="2064" y="3294"/>
              <a:ext cx="90" cy="4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2550" name="Line 29"/>
            <p:cNvSpPr/>
            <p:nvPr/>
          </p:nvSpPr>
          <p:spPr>
            <a:xfrm>
              <a:off x="1746" y="3249"/>
              <a:ext cx="4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2551" name="Line 30"/>
            <p:cNvSpPr/>
            <p:nvPr/>
          </p:nvSpPr>
          <p:spPr>
            <a:xfrm>
              <a:off x="1837" y="3657"/>
              <a:ext cx="45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sp>
        <p:nvSpPr>
          <p:cNvPr id="3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chemeClr val="folHlink"/>
                </a:solidFill>
              </a:rPr>
              <a:t>无向完全图</a:t>
            </a:r>
            <a:r>
              <a:rPr lang="en-US" altLang="zh-CN" i="1" dirty="0">
                <a:solidFill>
                  <a:schemeClr val="folHlink"/>
                </a:solidFill>
              </a:rPr>
              <a:t>K</a:t>
            </a:r>
            <a:r>
              <a:rPr lang="en-US" altLang="zh-CN" i="1" baseline="-30000" dirty="0">
                <a:solidFill>
                  <a:schemeClr val="folHlink"/>
                </a:solidFill>
              </a:rPr>
              <a:t>n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n</a:t>
            </a:r>
            <a:r>
              <a:rPr lang="en-US" altLang="zh-CN" dirty="0">
                <a:solidFill>
                  <a:schemeClr val="folHlink"/>
                </a:solidFill>
              </a:rPr>
              <a:t>≥3)</a:t>
            </a:r>
            <a:r>
              <a:rPr lang="zh-CN" altLang="en-US" dirty="0">
                <a:solidFill>
                  <a:schemeClr val="folHlink"/>
                </a:solidFill>
              </a:rPr>
              <a:t>中有几种非同构的圈？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hlink"/>
                </a:solidFill>
              </a:rPr>
              <a:t>解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	</a:t>
            </a:r>
            <a:r>
              <a:rPr lang="zh-CN" altLang="en-US" dirty="0">
                <a:solidFill>
                  <a:schemeClr val="folHlink"/>
                </a:solidFill>
              </a:rPr>
              <a:t>长度相同的圈都是同构的，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	因而只有长度不同的圈才是非同构的，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hlink"/>
                </a:solidFill>
              </a:rPr>
              <a:t>		易知</a:t>
            </a:r>
            <a:r>
              <a:rPr lang="en-US" altLang="zh-CN" i="1" dirty="0">
                <a:solidFill>
                  <a:schemeClr val="hlink"/>
                </a:solidFill>
              </a:rPr>
              <a:t>K</a:t>
            </a:r>
            <a:r>
              <a:rPr lang="en-US" altLang="zh-CN" i="1" baseline="-30000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≥3)</a:t>
            </a:r>
            <a:r>
              <a:rPr lang="zh-CN" altLang="en-US" dirty="0">
                <a:solidFill>
                  <a:schemeClr val="hlink"/>
                </a:solidFill>
              </a:rPr>
              <a:t>中含长度为</a:t>
            </a:r>
            <a:r>
              <a:rPr lang="en-US" altLang="zh-CN" dirty="0">
                <a:solidFill>
                  <a:schemeClr val="hlink"/>
                </a:solidFill>
              </a:rPr>
              <a:t>3</a:t>
            </a:r>
            <a:r>
              <a:rPr lang="zh-CN" altLang="en-US" dirty="0">
                <a:solidFill>
                  <a:schemeClr val="hlink"/>
                </a:solidFill>
              </a:rPr>
              <a:t>，</a:t>
            </a:r>
            <a:r>
              <a:rPr lang="en-US" altLang="zh-CN" dirty="0">
                <a:solidFill>
                  <a:schemeClr val="hlink"/>
                </a:solidFill>
              </a:rPr>
              <a:t>4</a:t>
            </a:r>
            <a:r>
              <a:rPr lang="zh-CN" altLang="en-US" dirty="0">
                <a:solidFill>
                  <a:schemeClr val="hlink"/>
                </a:solidFill>
              </a:rPr>
              <a:t>，</a:t>
            </a:r>
            <a:r>
              <a:rPr lang="en-US" altLang="zh-CN" dirty="0">
                <a:solidFill>
                  <a:schemeClr val="hlink"/>
                </a:solidFill>
              </a:rPr>
              <a:t>…</a:t>
            </a:r>
            <a:r>
              <a:rPr lang="zh-CN" altLang="en-US" dirty="0">
                <a:solidFill>
                  <a:schemeClr val="hlink"/>
                </a:solidFill>
              </a:rPr>
              <a:t>，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zh-CN" altLang="en-US" dirty="0">
                <a:solidFill>
                  <a:schemeClr val="hlink"/>
                </a:solidFill>
              </a:rPr>
              <a:t>的圈，</a:t>
            </a:r>
            <a:endParaRPr lang="zh-CN" altLang="en-US" dirty="0">
              <a:solidFill>
                <a:schemeClr val="hlink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hlink"/>
                </a:solidFill>
              </a:rPr>
              <a:t>		所以</a:t>
            </a:r>
            <a:r>
              <a:rPr lang="en-US" altLang="zh-CN" i="1" dirty="0">
                <a:solidFill>
                  <a:schemeClr val="hlink"/>
                </a:solidFill>
              </a:rPr>
              <a:t>K</a:t>
            </a:r>
            <a:r>
              <a:rPr lang="en-US" altLang="zh-CN" i="1" baseline="-30000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≥3)</a:t>
            </a:r>
            <a:r>
              <a:rPr lang="zh-CN" altLang="en-US" dirty="0">
                <a:solidFill>
                  <a:schemeClr val="hlink"/>
                </a:solidFill>
              </a:rPr>
              <a:t>中有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-2</a:t>
            </a:r>
            <a:r>
              <a:rPr lang="zh-CN" altLang="en-US" dirty="0">
                <a:solidFill>
                  <a:schemeClr val="hlink"/>
                </a:solidFill>
              </a:rPr>
              <a:t>种非同构的圈。</a:t>
            </a:r>
            <a:r>
              <a:rPr lang="zh-CN" altLang="en-US" dirty="0"/>
              <a:t>  </a:t>
            </a:r>
            <a:endParaRPr lang="zh-CN" altLang="en-US" dirty="0"/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扩大路径法 </a:t>
            </a:r>
            <a:endParaRPr lang="zh-CN" altLang="en-US" dirty="0"/>
          </a:p>
        </p:txBody>
      </p:sp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228600" y="1427163"/>
            <a:ext cx="8610600" cy="5097462"/>
          </a:xfrm>
        </p:spPr>
        <p:txBody>
          <a:bodyPr vert="horz" wrap="square" lIns="91440" tIns="45720" rIns="91440" bIns="45720" anchor="t"/>
          <a:p>
            <a:pPr marL="533400" indent="-533400" eaLnBrk="1" hangingPunct="1">
              <a:spcBef>
                <a:spcPct val="20000"/>
              </a:spcBef>
            </a:pP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＝</a:t>
            </a:r>
            <a:r>
              <a:rPr lang="en-US" altLang="zh-CN" dirty="0"/>
              <a:t>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</a:t>
            </a:r>
            <a:r>
              <a:rPr lang="zh-CN" altLang="en-US" dirty="0"/>
              <a:t>为</a:t>
            </a:r>
            <a:r>
              <a:rPr lang="en-US" altLang="zh-CN" i="1" dirty="0"/>
              <a:t>n</a:t>
            </a:r>
            <a:r>
              <a:rPr lang="zh-CN" altLang="en-US" dirty="0"/>
              <a:t>阶无向图，</a:t>
            </a:r>
            <a:r>
              <a:rPr lang="en-US" altLang="zh-CN" i="1" dirty="0"/>
              <a:t>E</a:t>
            </a:r>
            <a:r>
              <a:rPr lang="en-US" altLang="zh-CN" dirty="0"/>
              <a:t>≠</a:t>
            </a:r>
            <a:r>
              <a:rPr lang="en-US" altLang="zh-CN" dirty="0">
                <a:sym typeface="Symbol" panose="05050102010706020507" charset="2"/>
              </a:rPr>
              <a:t></a:t>
            </a:r>
            <a:r>
              <a:rPr lang="zh-CN" altLang="en-US" dirty="0"/>
              <a:t>，设</a:t>
            </a:r>
            <a:r>
              <a:rPr lang="en-US" altLang="zh-CN" i="1" dirty="0"/>
              <a:t>Г</a:t>
            </a:r>
            <a:r>
              <a:rPr lang="en-US" altLang="zh-CN" i="1" baseline="-30000" dirty="0"/>
              <a:t>l </a:t>
            </a:r>
            <a:r>
              <a:rPr lang="zh-CN" altLang="en-US" dirty="0"/>
              <a:t>为</a:t>
            </a:r>
            <a:r>
              <a:rPr lang="en-US" altLang="zh-CN" dirty="0"/>
              <a:t>G</a:t>
            </a:r>
            <a:r>
              <a:rPr lang="zh-CN" altLang="en-US" dirty="0"/>
              <a:t>中一条长度为</a:t>
            </a:r>
            <a:r>
              <a:rPr lang="en-US" altLang="zh-CN" i="1" dirty="0"/>
              <a:t>l</a:t>
            </a:r>
            <a:r>
              <a:rPr lang="zh-CN" altLang="en-US" dirty="0"/>
              <a:t>的路径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chemeClr val="hlink"/>
                </a:solidFill>
              </a:rPr>
              <a:t>若此通路的始点或终点与通路外的顶点相邻，就将该顶点及关联的边扩到</a:t>
            </a:r>
            <a:r>
              <a:rPr lang="en-US" altLang="zh-CN" i="1" dirty="0"/>
              <a:t>Г</a:t>
            </a:r>
            <a:r>
              <a:rPr lang="en-US" altLang="zh-CN" i="1" baseline="-30000" dirty="0"/>
              <a:t>l</a:t>
            </a:r>
            <a:r>
              <a:rPr lang="zh-CN" altLang="en-US" dirty="0">
                <a:solidFill>
                  <a:schemeClr val="hlink"/>
                </a:solidFill>
              </a:rPr>
              <a:t>中来</a:t>
            </a:r>
            <a:r>
              <a:rPr lang="zh-CN" altLang="en-US" dirty="0"/>
              <a:t>。继续这一过程，直到最后得到的通路的两个端点不与通路外的顶点相邻为止。设最后得到的通路为</a:t>
            </a:r>
            <a:r>
              <a:rPr lang="en-US" altLang="zh-CN" i="1" dirty="0"/>
              <a:t>Г</a:t>
            </a:r>
            <a:r>
              <a:rPr lang="en-US" altLang="zh-CN" i="1" baseline="-30000" dirty="0"/>
              <a:t>l</a:t>
            </a:r>
            <a:r>
              <a:rPr lang="en-US" altLang="zh-CN" baseline="-30000" dirty="0"/>
              <a:t>+</a:t>
            </a:r>
            <a:r>
              <a:rPr lang="en-US" altLang="zh-CN" i="1" baseline="-30000" dirty="0"/>
              <a:t>k 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chemeClr val="hlink"/>
                </a:solidFill>
              </a:rPr>
              <a:t>长度为</a:t>
            </a:r>
            <a:r>
              <a:rPr lang="en-US" altLang="zh-CN" i="1" dirty="0">
                <a:solidFill>
                  <a:schemeClr val="hlink"/>
                </a:solidFill>
              </a:rPr>
              <a:t>l</a:t>
            </a:r>
            <a:r>
              <a:rPr lang="zh-CN" altLang="en-US" dirty="0">
                <a:solidFill>
                  <a:schemeClr val="hlink"/>
                </a:solidFill>
              </a:rPr>
              <a:t>的路径扩大成了长度为</a:t>
            </a:r>
            <a:r>
              <a:rPr lang="en-US" altLang="zh-CN" i="1" dirty="0">
                <a:solidFill>
                  <a:schemeClr val="hlink"/>
                </a:solidFill>
              </a:rPr>
              <a:t>l</a:t>
            </a:r>
            <a:r>
              <a:rPr lang="en-US" altLang="zh-CN" dirty="0">
                <a:solidFill>
                  <a:schemeClr val="hlink"/>
                </a:solidFill>
              </a:rPr>
              <a:t>+</a:t>
            </a:r>
            <a:r>
              <a:rPr lang="en-US" altLang="zh-CN" i="1" dirty="0">
                <a:solidFill>
                  <a:schemeClr val="hlink"/>
                </a:solidFill>
              </a:rPr>
              <a:t>k</a:t>
            </a:r>
            <a:r>
              <a:rPr lang="zh-CN" altLang="en-US" dirty="0">
                <a:solidFill>
                  <a:schemeClr val="hlink"/>
                </a:solidFill>
              </a:rPr>
              <a:t>的路径</a:t>
            </a:r>
            <a:r>
              <a:rPr lang="en-US" altLang="zh-CN" dirty="0"/>
              <a:t>)</a:t>
            </a:r>
            <a:r>
              <a:rPr lang="zh-CN" altLang="en-US" dirty="0"/>
              <a:t>，称</a:t>
            </a:r>
            <a:r>
              <a:rPr lang="en-US" altLang="zh-CN" i="1" dirty="0">
                <a:solidFill>
                  <a:schemeClr val="hlink"/>
                </a:solidFill>
              </a:rPr>
              <a:t>Г</a:t>
            </a:r>
            <a:r>
              <a:rPr lang="en-US" altLang="zh-CN" i="1" baseline="-25000" dirty="0">
                <a:solidFill>
                  <a:schemeClr val="hlink"/>
                </a:solidFill>
              </a:rPr>
              <a:t>l</a:t>
            </a:r>
            <a:r>
              <a:rPr lang="en-US" altLang="zh-CN" baseline="-30000" dirty="0">
                <a:solidFill>
                  <a:schemeClr val="hlink"/>
                </a:solidFill>
              </a:rPr>
              <a:t>+</a:t>
            </a:r>
            <a:r>
              <a:rPr lang="en-US" altLang="zh-CN" i="1" baseline="-25000" dirty="0">
                <a:solidFill>
                  <a:schemeClr val="hlink"/>
                </a:solidFill>
              </a:rPr>
              <a:t>k </a:t>
            </a:r>
            <a:r>
              <a:rPr lang="zh-CN" altLang="en-US" dirty="0"/>
              <a:t>为“</a:t>
            </a:r>
            <a:r>
              <a:rPr lang="zh-CN" altLang="en-US" dirty="0">
                <a:solidFill>
                  <a:srgbClr val="FF00FF"/>
                </a:solidFill>
              </a:rPr>
              <a:t>极大路径</a:t>
            </a:r>
            <a:r>
              <a:rPr lang="zh-CN" altLang="en-US" dirty="0"/>
              <a:t>”。</a:t>
            </a:r>
            <a:endParaRPr lang="zh-CN" altLang="en-US" dirty="0"/>
          </a:p>
          <a:p>
            <a:pPr marL="533400" indent="-533400" eaLnBrk="1" hangingPunct="1">
              <a:spcBef>
                <a:spcPct val="20000"/>
              </a:spcBef>
            </a:pPr>
            <a:r>
              <a:rPr lang="zh-CN" altLang="en-US" dirty="0"/>
              <a:t>称构造“极大路径”证明问题的方法为“</a:t>
            </a:r>
            <a:r>
              <a:rPr lang="zh-CN" altLang="en-US" dirty="0">
                <a:solidFill>
                  <a:srgbClr val="FF00FF"/>
                </a:solidFill>
              </a:rPr>
              <a:t>扩大路径法</a:t>
            </a:r>
            <a:r>
              <a:rPr lang="zh-CN" altLang="en-US" dirty="0"/>
              <a:t>”。</a:t>
            </a:r>
            <a:endParaRPr lang="zh-CN" altLang="en-US" dirty="0"/>
          </a:p>
          <a:p>
            <a:pPr marL="533400" indent="-533400" eaLnBrk="1" hangingPunct="1">
              <a:spcBef>
                <a:spcPct val="20000"/>
              </a:spcBef>
            </a:pPr>
            <a:r>
              <a:rPr lang="zh-CN" altLang="en-US" dirty="0"/>
              <a:t>有向图中可以类似地讨论，只须注意，在每步扩大中</a:t>
            </a:r>
            <a:endParaRPr lang="zh-CN" altLang="en-US" dirty="0"/>
          </a:p>
          <a:p>
            <a:pPr marL="533400" indent="-533400" eaLnBrk="1" hangingPunct="1">
              <a:spcBef>
                <a:spcPct val="20000"/>
              </a:spcBef>
              <a:buNone/>
            </a:pPr>
            <a:r>
              <a:rPr lang="zh-CN" altLang="en-US" dirty="0"/>
              <a:t>   保持有向边方向的一致性。</a:t>
            </a:r>
            <a:endParaRPr lang="zh-CN" altLang="en-US" dirty="0"/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关于极大路径的说明</a:t>
            </a:r>
            <a:endParaRPr lang="zh-CN" altLang="en-US" dirty="0"/>
          </a:p>
        </p:txBody>
      </p:sp>
      <p:sp>
        <p:nvSpPr>
          <p:cNvPr id="26626" name="Rectangle 3"/>
          <p:cNvSpPr>
            <a:spLocks noGrp="1"/>
          </p:cNvSpPr>
          <p:nvPr>
            <p:ph idx="1"/>
          </p:nvPr>
        </p:nvSpPr>
        <p:spPr>
          <a:xfrm>
            <a:off x="323850" y="1271588"/>
            <a:ext cx="8496300" cy="1293812"/>
          </a:xfrm>
        </p:spPr>
        <p:txBody>
          <a:bodyPr vert="horz" wrap="square" lIns="91440" tIns="45720" rIns="91440" bIns="45720" anchor="t"/>
          <a:p>
            <a:pPr eaLnBrk="1" hangingPunct="1">
              <a:spcBef>
                <a:spcPct val="20000"/>
              </a:spcBef>
            </a:pPr>
            <a:r>
              <a:rPr lang="zh-CN" altLang="en-US" dirty="0"/>
              <a:t>由某条路径扩大出的极大路径不唯一。</a:t>
            </a:r>
            <a:endParaRPr lang="zh-CN" altLang="en-US" dirty="0"/>
          </a:p>
          <a:p>
            <a:pPr eaLnBrk="1" hangingPunct="1">
              <a:spcBef>
                <a:spcPct val="20000"/>
              </a:spcBef>
            </a:pPr>
            <a:r>
              <a:rPr lang="zh-CN" altLang="en-US" dirty="0"/>
              <a:t>极大路径不一定是图中最长的路径。</a:t>
            </a:r>
            <a:endParaRPr lang="zh-CN" altLang="en-US" dirty="0"/>
          </a:p>
        </p:txBody>
      </p:sp>
      <p:pic>
        <p:nvPicPr>
          <p:cNvPr id="695301" name="Picture 5" descr="14-8"/>
          <p:cNvPicPr>
            <a:picLocks noChangeAspect="1"/>
          </p:cNvPicPr>
          <p:nvPr/>
        </p:nvPicPr>
        <p:blipFill>
          <a:blip r:embed="rId1">
            <a:lum bright="-54001" contrast="-12000"/>
          </a:blip>
          <a:srcRect r="76813" b="23112"/>
          <a:stretch>
            <a:fillRect/>
          </a:stretch>
        </p:blipFill>
        <p:spPr>
          <a:xfrm>
            <a:off x="539750" y="2565400"/>
            <a:ext cx="4191000" cy="1676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5302" name="Picture 6" descr="14-8"/>
          <p:cNvPicPr>
            <a:picLocks noChangeAspect="1"/>
          </p:cNvPicPr>
          <p:nvPr/>
        </p:nvPicPr>
        <p:blipFill>
          <a:blip r:embed="rId1">
            <a:lum bright="-95999" contrast="-3999"/>
          </a:blip>
          <a:srcRect l="77403" b="23637"/>
          <a:stretch>
            <a:fillRect/>
          </a:stretch>
        </p:blipFill>
        <p:spPr>
          <a:xfrm>
            <a:off x="4800600" y="4581525"/>
            <a:ext cx="4267200" cy="18161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6629" name="Group 6"/>
          <p:cNvGrpSpPr/>
          <p:nvPr/>
        </p:nvGrpSpPr>
        <p:grpSpPr>
          <a:xfrm>
            <a:off x="4787900" y="2492375"/>
            <a:ext cx="4114800" cy="1676400"/>
            <a:chOff x="4787900" y="2492375"/>
            <a:chExt cx="4114800" cy="1676400"/>
          </a:xfrm>
        </p:grpSpPr>
        <p:pic>
          <p:nvPicPr>
            <p:cNvPr id="26644" name="Picture 7" descr="14-8"/>
            <p:cNvPicPr>
              <a:picLocks noChangeAspect="1"/>
            </p:cNvPicPr>
            <p:nvPr/>
          </p:nvPicPr>
          <p:blipFill>
            <a:blip r:embed="rId1">
              <a:lum bright="-72000"/>
            </a:blip>
            <a:srcRect l="25739" r="51097" b="23112"/>
            <a:stretch>
              <a:fillRect/>
            </a:stretch>
          </p:blipFill>
          <p:spPr>
            <a:xfrm>
              <a:off x="4787900" y="2492375"/>
              <a:ext cx="4114800" cy="167640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26645" name="Straight Connector 2"/>
            <p:cNvCxnSpPr/>
            <p:nvPr/>
          </p:nvCxnSpPr>
          <p:spPr>
            <a:xfrm>
              <a:off x="6444208" y="2780928"/>
              <a:ext cx="0" cy="1008112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46" name="Straight Connector 9"/>
            <p:cNvCxnSpPr/>
            <p:nvPr/>
          </p:nvCxnSpPr>
          <p:spPr>
            <a:xfrm>
              <a:off x="5203139" y="2780928"/>
              <a:ext cx="0" cy="1008112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47" name="Straight Connector 10"/>
            <p:cNvCxnSpPr/>
            <p:nvPr/>
          </p:nvCxnSpPr>
          <p:spPr>
            <a:xfrm>
              <a:off x="5220072" y="2658121"/>
              <a:ext cx="1224136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</p:grpSp>
      <p:grpSp>
        <p:nvGrpSpPr>
          <p:cNvPr id="26630" name="Group 16"/>
          <p:cNvGrpSpPr/>
          <p:nvPr/>
        </p:nvGrpSpPr>
        <p:grpSpPr>
          <a:xfrm>
            <a:off x="304800" y="4708525"/>
            <a:ext cx="4411663" cy="1816100"/>
            <a:chOff x="304800" y="4694238"/>
            <a:chExt cx="4411663" cy="1816100"/>
          </a:xfrm>
        </p:grpSpPr>
        <p:pic>
          <p:nvPicPr>
            <p:cNvPr id="26638" name="Picture 4" descr="14-8"/>
            <p:cNvPicPr>
              <a:picLocks noChangeAspect="1"/>
            </p:cNvPicPr>
            <p:nvPr/>
          </p:nvPicPr>
          <p:blipFill>
            <a:blip r:embed="rId1">
              <a:lum bright="-72000"/>
            </a:blip>
            <a:srcRect l="52832" r="24208" b="23637"/>
            <a:stretch>
              <a:fillRect/>
            </a:stretch>
          </p:blipFill>
          <p:spPr>
            <a:xfrm>
              <a:off x="304800" y="4694238"/>
              <a:ext cx="4411663" cy="181610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26639" name="Straight Connector 15"/>
            <p:cNvCxnSpPr/>
            <p:nvPr/>
          </p:nvCxnSpPr>
          <p:spPr>
            <a:xfrm>
              <a:off x="577694" y="4941168"/>
              <a:ext cx="0" cy="122413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40" name="Straight Connector 17"/>
            <p:cNvCxnSpPr/>
            <p:nvPr/>
          </p:nvCxnSpPr>
          <p:spPr>
            <a:xfrm>
              <a:off x="611560" y="4907302"/>
              <a:ext cx="129614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41" name="Straight Connector 20"/>
            <p:cNvCxnSpPr/>
            <p:nvPr/>
          </p:nvCxnSpPr>
          <p:spPr>
            <a:xfrm>
              <a:off x="3203848" y="4941168"/>
              <a:ext cx="0" cy="12241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42" name="Straight Connector 21"/>
            <p:cNvCxnSpPr/>
            <p:nvPr/>
          </p:nvCxnSpPr>
          <p:spPr>
            <a:xfrm>
              <a:off x="611560" y="6199170"/>
              <a:ext cx="129614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43" name="Straight Connector 22"/>
            <p:cNvCxnSpPr/>
            <p:nvPr/>
          </p:nvCxnSpPr>
          <p:spPr>
            <a:xfrm>
              <a:off x="1945846" y="4886093"/>
              <a:ext cx="1185994" cy="3814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</p:grpSp>
      <p:grpSp>
        <p:nvGrpSpPr>
          <p:cNvPr id="26631" name="Group 24"/>
          <p:cNvGrpSpPr/>
          <p:nvPr/>
        </p:nvGrpSpPr>
        <p:grpSpPr>
          <a:xfrm>
            <a:off x="5203825" y="4873625"/>
            <a:ext cx="3760788" cy="1292225"/>
            <a:chOff x="5203139" y="4873436"/>
            <a:chExt cx="3761349" cy="1291868"/>
          </a:xfrm>
        </p:grpSpPr>
        <p:cxnSp>
          <p:nvCxnSpPr>
            <p:cNvPr id="26632" name="Straight Connector 27"/>
            <p:cNvCxnSpPr/>
            <p:nvPr/>
          </p:nvCxnSpPr>
          <p:spPr>
            <a:xfrm>
              <a:off x="5203139" y="4907302"/>
              <a:ext cx="0" cy="12241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33" name="Straight Connector 28"/>
            <p:cNvCxnSpPr/>
            <p:nvPr/>
          </p:nvCxnSpPr>
          <p:spPr>
            <a:xfrm>
              <a:off x="5237005" y="4873436"/>
              <a:ext cx="129614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34" name="Straight Connector 29"/>
            <p:cNvCxnSpPr/>
            <p:nvPr/>
          </p:nvCxnSpPr>
          <p:spPr>
            <a:xfrm>
              <a:off x="7757285" y="4907302"/>
              <a:ext cx="0" cy="12241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35" name="Straight Connector 30"/>
            <p:cNvCxnSpPr/>
            <p:nvPr/>
          </p:nvCxnSpPr>
          <p:spPr>
            <a:xfrm>
              <a:off x="5237005" y="6165304"/>
              <a:ext cx="129614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36" name="Straight Connector 31"/>
            <p:cNvCxnSpPr/>
            <p:nvPr/>
          </p:nvCxnSpPr>
          <p:spPr>
            <a:xfrm>
              <a:off x="6588224" y="4941168"/>
              <a:ext cx="1152128" cy="12241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  <p:cxnSp>
          <p:nvCxnSpPr>
            <p:cNvPr id="26637" name="Straight Connector 35"/>
            <p:cNvCxnSpPr/>
            <p:nvPr/>
          </p:nvCxnSpPr>
          <p:spPr>
            <a:xfrm>
              <a:off x="7812360" y="4941168"/>
              <a:ext cx="1152128" cy="12241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cxnSp>
      </p:grp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5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5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95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95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7.6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228600" y="1341438"/>
            <a:ext cx="8763000" cy="4913312"/>
          </a:xfrm>
        </p:spPr>
        <p:txBody>
          <a:bodyPr vert="horz" wrap="square" lIns="91440" tIns="45720" rIns="91440" bIns="45720" anchor="t"/>
          <a:p>
            <a:pPr eaLnBrk="1" hangingPunct="1">
              <a:spcBef>
                <a:spcPct val="10000"/>
              </a:spcBef>
              <a:buNone/>
            </a:pPr>
            <a:r>
              <a:rPr lang="zh-CN" altLang="en-US" dirty="0"/>
              <a:t>例</a:t>
            </a:r>
            <a:r>
              <a:rPr lang="en-US" altLang="zh-CN" dirty="0"/>
              <a:t>7.6</a:t>
            </a:r>
            <a:r>
              <a:rPr lang="zh-CN" altLang="en-US" dirty="0"/>
              <a:t>：设</a:t>
            </a:r>
            <a:r>
              <a:rPr lang="en-US" altLang="zh-CN" i="1" dirty="0"/>
              <a:t>G</a:t>
            </a:r>
            <a:r>
              <a:rPr lang="zh-CN" altLang="en-US" dirty="0"/>
              <a:t>为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≥3)</a:t>
            </a:r>
            <a:r>
              <a:rPr lang="zh-CN" altLang="en-US" dirty="0"/>
              <a:t>阶无向简单图</a:t>
            </a:r>
            <a:r>
              <a:rPr lang="en-US" altLang="zh-CN" dirty="0"/>
              <a:t>, δ(</a:t>
            </a:r>
            <a:r>
              <a:rPr lang="en-US" altLang="zh-CN" i="1" dirty="0"/>
              <a:t>G</a:t>
            </a:r>
            <a:r>
              <a:rPr lang="en-US" altLang="zh-CN" dirty="0"/>
              <a:t>)≥2</a:t>
            </a:r>
            <a:r>
              <a:rPr lang="zh-CN" altLang="en-US" dirty="0"/>
              <a:t>。证明</a:t>
            </a:r>
            <a:r>
              <a:rPr lang="en-US" altLang="zh-CN" i="1" dirty="0"/>
              <a:t>G</a:t>
            </a:r>
            <a:r>
              <a:rPr lang="zh-CN" altLang="en-US" dirty="0"/>
              <a:t>中存在长度大于等于</a:t>
            </a:r>
            <a:r>
              <a:rPr lang="en-US" altLang="zh-CN" dirty="0"/>
              <a:t>3</a:t>
            </a:r>
            <a:r>
              <a:rPr lang="zh-CN" altLang="en-US" dirty="0"/>
              <a:t>的圈。 </a:t>
            </a:r>
            <a:endParaRPr lang="zh-CN" altLang="en-US" dirty="0"/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dirty="0">
                <a:solidFill>
                  <a:srgbClr val="000090"/>
                </a:solidFill>
              </a:rPr>
              <a:t>证明 </a:t>
            </a:r>
            <a:r>
              <a:rPr lang="zh-CN" altLang="en-US" dirty="0">
                <a:solidFill>
                  <a:srgbClr val="333399"/>
                </a:solidFill>
              </a:rPr>
              <a:t>设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25000" dirty="0">
                <a:solidFill>
                  <a:srgbClr val="333399"/>
                </a:solidFill>
              </a:rPr>
              <a:t>i</a:t>
            </a:r>
            <a:r>
              <a:rPr lang="zh-CN" altLang="en-US" dirty="0">
                <a:solidFill>
                  <a:srgbClr val="333399"/>
                </a:solidFill>
              </a:rPr>
              <a:t>为</a:t>
            </a:r>
            <a:r>
              <a:rPr lang="en-US" altLang="zh-CN" i="1" dirty="0">
                <a:solidFill>
                  <a:srgbClr val="333399"/>
                </a:solidFill>
              </a:rPr>
              <a:t>G</a:t>
            </a:r>
            <a:r>
              <a:rPr lang="zh-CN" altLang="en-US" dirty="0">
                <a:solidFill>
                  <a:srgbClr val="333399"/>
                </a:solidFill>
              </a:rPr>
              <a:t>中任意顶点</a:t>
            </a:r>
            <a:r>
              <a:rPr lang="en-US" altLang="zh-CN" dirty="0">
                <a:solidFill>
                  <a:srgbClr val="333399"/>
                </a:solidFill>
              </a:rPr>
              <a:t>, </a:t>
            </a:r>
            <a:r>
              <a:rPr lang="zh-CN" altLang="en-US" dirty="0">
                <a:solidFill>
                  <a:srgbClr val="333399"/>
                </a:solidFill>
              </a:rPr>
              <a:t>由于</a:t>
            </a:r>
            <a:r>
              <a:rPr lang="en-US" altLang="zh-CN" dirty="0">
                <a:solidFill>
                  <a:srgbClr val="333399"/>
                </a:solidFill>
              </a:rPr>
              <a:t>δ(</a:t>
            </a:r>
            <a:r>
              <a:rPr lang="en-US" altLang="zh-CN" i="1" dirty="0">
                <a:solidFill>
                  <a:srgbClr val="333399"/>
                </a:solidFill>
              </a:rPr>
              <a:t>G</a:t>
            </a:r>
            <a:r>
              <a:rPr lang="en-US" altLang="zh-CN" dirty="0">
                <a:solidFill>
                  <a:srgbClr val="333399"/>
                </a:solidFill>
              </a:rPr>
              <a:t>)≥2, </a:t>
            </a:r>
            <a:r>
              <a:rPr lang="zh-CN" altLang="en-US" dirty="0">
                <a:solidFill>
                  <a:srgbClr val="333399"/>
                </a:solidFill>
              </a:rPr>
              <a:t>故存在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15000" dirty="0">
                <a:solidFill>
                  <a:srgbClr val="333399"/>
                </a:solidFill>
              </a:rPr>
              <a:t>j</a:t>
            </a:r>
            <a:r>
              <a:rPr lang="en-US" altLang="zh-CN" dirty="0">
                <a:solidFill>
                  <a:srgbClr val="333399"/>
                </a:solidFill>
              </a:rPr>
              <a:t>∈V(G), </a:t>
            </a:r>
            <a:endParaRPr lang="en-US" altLang="zh-CN" dirty="0">
              <a:solidFill>
                <a:srgbClr val="333399"/>
              </a:solidFill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333399"/>
                </a:solidFill>
              </a:rPr>
              <a:t> (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25000" dirty="0">
                <a:solidFill>
                  <a:srgbClr val="333399"/>
                </a:solidFill>
              </a:rPr>
              <a:t>i</a:t>
            </a:r>
            <a:r>
              <a:rPr lang="en-US" altLang="zh-CN" dirty="0">
                <a:solidFill>
                  <a:srgbClr val="333399"/>
                </a:solidFill>
              </a:rPr>
              <a:t>,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15000" dirty="0">
                <a:solidFill>
                  <a:srgbClr val="333399"/>
                </a:solidFill>
              </a:rPr>
              <a:t>j</a:t>
            </a:r>
            <a:r>
              <a:rPr lang="en-US" altLang="zh-CN" dirty="0">
                <a:solidFill>
                  <a:srgbClr val="333399"/>
                </a:solidFill>
              </a:rPr>
              <a:t>) ∈E(G), (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25000" dirty="0">
                <a:solidFill>
                  <a:srgbClr val="333399"/>
                </a:solidFill>
              </a:rPr>
              <a:t>i</a:t>
            </a:r>
            <a:r>
              <a:rPr lang="en-US" altLang="zh-CN" dirty="0">
                <a:solidFill>
                  <a:srgbClr val="333399"/>
                </a:solidFill>
              </a:rPr>
              <a:t> ≠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15000" dirty="0">
                <a:solidFill>
                  <a:srgbClr val="333399"/>
                </a:solidFill>
              </a:rPr>
              <a:t>j</a:t>
            </a:r>
            <a:r>
              <a:rPr lang="en-US" altLang="zh-CN" dirty="0">
                <a:solidFill>
                  <a:srgbClr val="333399"/>
                </a:solidFill>
              </a:rPr>
              <a:t>). </a:t>
            </a:r>
            <a:r>
              <a:rPr lang="zh-CN" altLang="en-US" dirty="0">
                <a:solidFill>
                  <a:srgbClr val="333399"/>
                </a:solidFill>
              </a:rPr>
              <a:t>设</a:t>
            </a:r>
            <a:r>
              <a:rPr lang="el-GR" altLang="zh-CN" dirty="0">
                <a:solidFill>
                  <a:srgbClr val="333399"/>
                </a:solidFill>
                <a:latin typeface="Garamond" panose="02020404030301010803" charset="0"/>
              </a:rPr>
              <a:t>Γ</a:t>
            </a:r>
            <a:r>
              <a:rPr lang="en-US" altLang="zh-CN" dirty="0">
                <a:solidFill>
                  <a:srgbClr val="333399"/>
                </a:solidFill>
                <a:latin typeface="Garamond" panose="02020404030301010803" charset="0"/>
              </a:rPr>
              <a:t>=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25000" dirty="0">
                <a:solidFill>
                  <a:srgbClr val="333399"/>
                </a:solidFill>
              </a:rPr>
              <a:t>i</a:t>
            </a:r>
            <a:r>
              <a:rPr lang="en-US" altLang="zh-CN" dirty="0">
                <a:solidFill>
                  <a:srgbClr val="333399"/>
                </a:solidFill>
                <a:latin typeface="Garamond" panose="02020404030301010803" charset="0"/>
              </a:rPr>
              <a:t>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15000" dirty="0">
                <a:solidFill>
                  <a:srgbClr val="333399"/>
                </a:solidFill>
              </a:rPr>
              <a:t>j</a:t>
            </a:r>
            <a:r>
              <a:rPr lang="en-US" altLang="zh-CN" dirty="0">
                <a:solidFill>
                  <a:srgbClr val="333399"/>
                </a:solidFill>
                <a:latin typeface="Garamond" panose="02020404030301010803" charset="0"/>
              </a:rPr>
              <a:t>, </a:t>
            </a:r>
            <a:r>
              <a:rPr lang="zh-CN" altLang="en-US" dirty="0">
                <a:solidFill>
                  <a:srgbClr val="333399"/>
                </a:solidFill>
                <a:latin typeface="Garamond" panose="02020404030301010803" charset="0"/>
              </a:rPr>
              <a:t>对</a:t>
            </a:r>
            <a:r>
              <a:rPr lang="el-GR" altLang="zh-CN" dirty="0">
                <a:solidFill>
                  <a:srgbClr val="333399"/>
                </a:solidFill>
                <a:latin typeface="Garamond" panose="02020404030301010803" charset="0"/>
              </a:rPr>
              <a:t>Γ</a:t>
            </a:r>
            <a:r>
              <a:rPr lang="zh-CN" altLang="el-GR" dirty="0">
                <a:solidFill>
                  <a:srgbClr val="333399"/>
                </a:solidFill>
                <a:latin typeface="Garamond" panose="02020404030301010803" charset="0"/>
              </a:rPr>
              <a:t>采用“扩大路径法”，</a:t>
            </a:r>
            <a:endParaRPr lang="en-US" altLang="zh-CN" dirty="0">
              <a:solidFill>
                <a:srgbClr val="333399"/>
              </a:solidFill>
              <a:latin typeface="Garamond" panose="02020404030301010803" charset="0"/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l-GR" dirty="0">
                <a:solidFill>
                  <a:srgbClr val="333399"/>
                </a:solidFill>
                <a:latin typeface="Garamond" panose="02020404030301010803" charset="0"/>
              </a:rPr>
              <a:t>得极大路径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0</a:t>
            </a:r>
            <a:r>
              <a:rPr lang="en-US" altLang="zh-CN" dirty="0">
                <a:solidFill>
                  <a:srgbClr val="333399"/>
                </a:solidFill>
                <a:latin typeface="Garamond" panose="02020404030301010803" charset="0"/>
              </a:rPr>
              <a:t>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1</a:t>
            </a:r>
            <a:r>
              <a:rPr lang="en-US" altLang="zh-CN" i="1" baseline="-15000" dirty="0">
                <a:solidFill>
                  <a:srgbClr val="333399"/>
                </a:solidFill>
                <a:sym typeface="Symbol" panose="05050102010706020507" charset="2"/>
              </a:rPr>
              <a:t>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s</a:t>
            </a:r>
            <a:r>
              <a:rPr lang="en-US" altLang="zh-CN" dirty="0">
                <a:solidFill>
                  <a:srgbClr val="333399"/>
                </a:solidFill>
                <a:latin typeface="Garamond" panose="02020404030301010803" charset="0"/>
              </a:rPr>
              <a:t>. s</a:t>
            </a:r>
            <a:r>
              <a:rPr lang="en-US" altLang="zh-CN" dirty="0">
                <a:solidFill>
                  <a:srgbClr val="333399"/>
                </a:solidFill>
                <a:latin typeface="Garamond" panose="02020404030301010803" charset="0"/>
                <a:sym typeface="Symbol" panose="05050102010706020507" charset="2"/>
              </a:rPr>
              <a:t>2</a:t>
            </a:r>
            <a:endParaRPr lang="zh-CN" altLang="el-GR" dirty="0">
              <a:solidFill>
                <a:srgbClr val="333399"/>
              </a:solidFill>
              <a:latin typeface="Garamond" panose="02020404030301010803" charset="0"/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333399"/>
                </a:solidFill>
              </a:rPr>
              <a:t>     (1) </a:t>
            </a:r>
            <a:r>
              <a:rPr lang="zh-CN" altLang="en-US" dirty="0">
                <a:solidFill>
                  <a:srgbClr val="333399"/>
                </a:solidFill>
              </a:rPr>
              <a:t>若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0</a:t>
            </a:r>
            <a:r>
              <a:rPr lang="zh-CN" altLang="en-US" dirty="0">
                <a:solidFill>
                  <a:srgbClr val="333399"/>
                </a:solidFill>
                <a:latin typeface="Garamond" panose="02020404030301010803" charset="0"/>
              </a:rPr>
              <a:t>与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15000" dirty="0">
                <a:solidFill>
                  <a:srgbClr val="333399"/>
                </a:solidFill>
              </a:rPr>
              <a:t>s </a:t>
            </a:r>
            <a:r>
              <a:rPr lang="zh-CN" altLang="en-US" dirty="0">
                <a:solidFill>
                  <a:srgbClr val="333399"/>
                </a:solidFill>
              </a:rPr>
              <a:t>相邻</a:t>
            </a:r>
            <a:r>
              <a:rPr lang="zh-CN" altLang="en-US" i="1" baseline="-15000" dirty="0">
                <a:solidFill>
                  <a:srgbClr val="333399"/>
                </a:solidFill>
              </a:rPr>
              <a:t>，</a:t>
            </a:r>
            <a:r>
              <a:rPr lang="zh-CN" altLang="en-US" dirty="0">
                <a:solidFill>
                  <a:srgbClr val="333399"/>
                </a:solidFill>
              </a:rPr>
              <a:t>则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0</a:t>
            </a:r>
            <a:r>
              <a:rPr lang="en-US" altLang="zh-CN" dirty="0">
                <a:solidFill>
                  <a:srgbClr val="333399"/>
                </a:solidFill>
                <a:latin typeface="Garamond" panose="02020404030301010803" charset="0"/>
              </a:rPr>
              <a:t>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1</a:t>
            </a:r>
            <a:r>
              <a:rPr lang="en-US" altLang="zh-CN" i="1" baseline="-15000" dirty="0">
                <a:solidFill>
                  <a:srgbClr val="333399"/>
                </a:solidFill>
                <a:sym typeface="Symbol" panose="05050102010706020507" charset="2"/>
              </a:rPr>
              <a:t>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s</a:t>
            </a:r>
            <a:r>
              <a:rPr lang="en-US" altLang="zh-CN" i="1" baseline="-15000" dirty="0">
                <a:solidFill>
                  <a:srgbClr val="333399"/>
                </a:solidFill>
              </a:rPr>
              <a:t> </a:t>
            </a:r>
            <a:r>
              <a:rPr lang="zh-CN" altLang="en-US" dirty="0">
                <a:solidFill>
                  <a:srgbClr val="333399"/>
                </a:solidFill>
              </a:rPr>
              <a:t>为长度大于或等于</a:t>
            </a:r>
            <a:r>
              <a:rPr lang="en-US" altLang="zh-CN" dirty="0">
                <a:solidFill>
                  <a:srgbClr val="333399"/>
                </a:solidFill>
              </a:rPr>
              <a:t>3</a:t>
            </a:r>
            <a:r>
              <a:rPr lang="zh-CN" altLang="en-US" dirty="0">
                <a:solidFill>
                  <a:srgbClr val="333399"/>
                </a:solidFill>
              </a:rPr>
              <a:t>的圈</a:t>
            </a:r>
            <a:r>
              <a:rPr lang="en-US" altLang="zh-CN" dirty="0">
                <a:solidFill>
                  <a:srgbClr val="333399"/>
                </a:solidFill>
              </a:rPr>
              <a:t>. </a:t>
            </a:r>
            <a:endParaRPr lang="en-US" altLang="zh-CN" dirty="0">
              <a:solidFill>
                <a:srgbClr val="333399"/>
              </a:solidFill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dirty="0">
                <a:solidFill>
                  <a:srgbClr val="333399"/>
                </a:solidFill>
              </a:rPr>
              <a:t>     </a:t>
            </a:r>
            <a:r>
              <a:rPr lang="en-US" altLang="zh-CN" dirty="0">
                <a:solidFill>
                  <a:srgbClr val="333399"/>
                </a:solidFill>
              </a:rPr>
              <a:t>(2) </a:t>
            </a:r>
            <a:r>
              <a:rPr lang="zh-CN" altLang="en-US" dirty="0">
                <a:solidFill>
                  <a:srgbClr val="333399"/>
                </a:solidFill>
              </a:rPr>
              <a:t>若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0</a:t>
            </a:r>
            <a:r>
              <a:rPr lang="zh-CN" altLang="en-US" dirty="0">
                <a:solidFill>
                  <a:srgbClr val="333399"/>
                </a:solidFill>
                <a:latin typeface="Garamond" panose="02020404030301010803" charset="0"/>
              </a:rPr>
              <a:t>与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15000" dirty="0">
                <a:solidFill>
                  <a:srgbClr val="333399"/>
                </a:solidFill>
              </a:rPr>
              <a:t>s</a:t>
            </a:r>
            <a:r>
              <a:rPr lang="zh-CN" altLang="en-US" dirty="0">
                <a:solidFill>
                  <a:srgbClr val="333399"/>
                </a:solidFill>
              </a:rPr>
              <a:t>不相邻</a:t>
            </a:r>
            <a:r>
              <a:rPr lang="en-US" altLang="zh-CN" dirty="0">
                <a:solidFill>
                  <a:srgbClr val="333399"/>
                </a:solidFill>
              </a:rPr>
              <a:t>,  </a:t>
            </a:r>
            <a:r>
              <a:rPr lang="en-US" altLang="zh-CN" i="1" dirty="0">
                <a:solidFill>
                  <a:srgbClr val="333399"/>
                </a:solidFill>
              </a:rPr>
              <a:t>d</a:t>
            </a:r>
            <a:r>
              <a:rPr lang="en-US" altLang="zh-CN" dirty="0">
                <a:solidFill>
                  <a:srgbClr val="333399"/>
                </a:solidFill>
              </a:rPr>
              <a:t>(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25000" dirty="0">
                <a:solidFill>
                  <a:srgbClr val="333399"/>
                </a:solidFill>
              </a:rPr>
              <a:t>0</a:t>
            </a:r>
            <a:r>
              <a:rPr lang="en-US" altLang="zh-CN" dirty="0">
                <a:solidFill>
                  <a:srgbClr val="333399"/>
                </a:solidFill>
              </a:rPr>
              <a:t>)≥δ(G)≥2, </a:t>
            </a:r>
            <a:r>
              <a:rPr lang="zh-CN" altLang="en-US" dirty="0">
                <a:solidFill>
                  <a:srgbClr val="333399"/>
                </a:solidFill>
              </a:rPr>
              <a:t>则必存在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15000" dirty="0">
                <a:solidFill>
                  <a:srgbClr val="333399"/>
                </a:solidFill>
              </a:rPr>
              <a:t>k </a:t>
            </a:r>
            <a:r>
              <a:rPr lang="en-US" altLang="zh-CN" dirty="0">
                <a:solidFill>
                  <a:srgbClr val="333399"/>
                </a:solidFill>
              </a:rPr>
              <a:t>(2</a:t>
            </a:r>
            <a:r>
              <a:rPr lang="en-US" altLang="ja-JP" dirty="0">
                <a:solidFill>
                  <a:srgbClr val="333399"/>
                </a:solidFill>
              </a:rPr>
              <a:t>≤</a:t>
            </a:r>
            <a:r>
              <a:rPr lang="en-US" altLang="zh-CN" dirty="0">
                <a:solidFill>
                  <a:srgbClr val="333399"/>
                </a:solidFill>
              </a:rPr>
              <a:t>k</a:t>
            </a:r>
            <a:r>
              <a:rPr lang="en-US" altLang="ja-JP" dirty="0">
                <a:solidFill>
                  <a:srgbClr val="333399"/>
                </a:solidFill>
              </a:rPr>
              <a:t>≤</a:t>
            </a:r>
            <a:r>
              <a:rPr lang="en-US" altLang="zh-CN" i="1" dirty="0">
                <a:solidFill>
                  <a:srgbClr val="333399"/>
                </a:solidFill>
              </a:rPr>
              <a:t>s</a:t>
            </a:r>
            <a:r>
              <a:rPr lang="en-US" altLang="zh-CN" dirty="0">
                <a:solidFill>
                  <a:srgbClr val="333399"/>
                </a:solidFill>
              </a:rPr>
              <a:t>-1)</a:t>
            </a:r>
            <a:r>
              <a:rPr lang="zh-CN" altLang="el-GR" dirty="0">
                <a:solidFill>
                  <a:srgbClr val="333399"/>
                </a:solidFill>
                <a:latin typeface="Garamond" panose="02020404030301010803" charset="0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Garamond" panose="02020404030301010803" charset="0"/>
              </a:rPr>
              <a:t>,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0</a:t>
            </a:r>
            <a:r>
              <a:rPr lang="zh-CN" altLang="en-US" dirty="0">
                <a:solidFill>
                  <a:srgbClr val="333399"/>
                </a:solidFill>
                <a:latin typeface="Garamond" panose="02020404030301010803" charset="0"/>
              </a:rPr>
              <a:t>与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15000" dirty="0">
                <a:solidFill>
                  <a:srgbClr val="333399"/>
                </a:solidFill>
              </a:rPr>
              <a:t>k </a:t>
            </a:r>
            <a:r>
              <a:rPr lang="zh-CN" altLang="en-US" dirty="0">
                <a:solidFill>
                  <a:srgbClr val="333399"/>
                </a:solidFill>
              </a:rPr>
              <a:t>相邻</a:t>
            </a:r>
            <a:r>
              <a:rPr lang="en-US" altLang="zh-CN" dirty="0">
                <a:solidFill>
                  <a:srgbClr val="333399"/>
                </a:solidFill>
              </a:rPr>
              <a:t>,</a:t>
            </a:r>
            <a:r>
              <a:rPr lang="zh-CN" altLang="en-US" dirty="0">
                <a:solidFill>
                  <a:srgbClr val="333399"/>
                </a:solidFill>
              </a:rPr>
              <a:t>则初级回路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0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1</a:t>
            </a:r>
            <a:r>
              <a:rPr lang="en-US" altLang="zh-CN" i="1" baseline="-15000" dirty="0">
                <a:solidFill>
                  <a:srgbClr val="333399"/>
                </a:solidFill>
                <a:sym typeface="Symbol" panose="05050102010706020507" charset="2"/>
              </a:rPr>
              <a:t>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15000" dirty="0">
                <a:solidFill>
                  <a:srgbClr val="333399"/>
                </a:solidFill>
              </a:rPr>
              <a:t>k</a:t>
            </a:r>
            <a:r>
              <a:rPr lang="en-US" altLang="zh-CN" baseline="-15000" dirty="0">
                <a:solidFill>
                  <a:srgbClr val="333399"/>
                </a:solidFill>
              </a:rPr>
              <a:t>-1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i="1" baseline="-15000" dirty="0">
                <a:solidFill>
                  <a:srgbClr val="333399"/>
                </a:solidFill>
              </a:rPr>
              <a:t>k </a:t>
            </a:r>
            <a:r>
              <a:rPr lang="en-US" altLang="zh-CN" i="1" dirty="0">
                <a:solidFill>
                  <a:srgbClr val="333399"/>
                </a:solidFill>
              </a:rPr>
              <a:t>v</a:t>
            </a:r>
            <a:r>
              <a:rPr lang="en-US" altLang="zh-CN" baseline="-15000" dirty="0">
                <a:solidFill>
                  <a:srgbClr val="333399"/>
                </a:solidFill>
              </a:rPr>
              <a:t>0</a:t>
            </a:r>
            <a:r>
              <a:rPr lang="zh-CN" altLang="en-US" dirty="0">
                <a:solidFill>
                  <a:srgbClr val="333399"/>
                </a:solidFill>
              </a:rPr>
              <a:t>为长度大于或等于</a:t>
            </a:r>
            <a:r>
              <a:rPr lang="en-US" altLang="zh-CN" dirty="0">
                <a:solidFill>
                  <a:srgbClr val="333399"/>
                </a:solidFill>
              </a:rPr>
              <a:t>3</a:t>
            </a:r>
            <a:r>
              <a:rPr lang="zh-CN" altLang="en-US" dirty="0">
                <a:solidFill>
                  <a:srgbClr val="333399"/>
                </a:solidFill>
              </a:rPr>
              <a:t>的圈。</a:t>
            </a:r>
            <a:endParaRPr lang="zh-CN" altLang="en-US" dirty="0">
              <a:solidFill>
                <a:srgbClr val="333399"/>
              </a:solidFill>
            </a:endParaRPr>
          </a:p>
        </p:txBody>
      </p:sp>
      <p:grpSp>
        <p:nvGrpSpPr>
          <p:cNvPr id="27651" name="Group 2"/>
          <p:cNvGrpSpPr/>
          <p:nvPr/>
        </p:nvGrpSpPr>
        <p:grpSpPr>
          <a:xfrm>
            <a:off x="1671638" y="5300663"/>
            <a:ext cx="2684462" cy="1325562"/>
            <a:chOff x="1671910" y="5301208"/>
            <a:chExt cx="2684463" cy="1325761"/>
          </a:xfrm>
        </p:grpSpPr>
        <p:grpSp>
          <p:nvGrpSpPr>
            <p:cNvPr id="27668" name="Group 44"/>
            <p:cNvGrpSpPr/>
            <p:nvPr/>
          </p:nvGrpSpPr>
          <p:grpSpPr>
            <a:xfrm>
              <a:off x="1671910" y="5301208"/>
              <a:ext cx="2684463" cy="901700"/>
              <a:chOff x="554" y="3679"/>
              <a:chExt cx="1691" cy="568"/>
            </a:xfrm>
          </p:grpSpPr>
          <p:sp>
            <p:nvSpPr>
              <p:cNvPr id="27670" name="Oval 5"/>
              <p:cNvSpPr/>
              <p:nvPr/>
            </p:nvSpPr>
            <p:spPr>
              <a:xfrm>
                <a:off x="657" y="3869"/>
                <a:ext cx="136" cy="136"/>
              </a:xfrm>
              <a:prstGeom prst="ellipse">
                <a:avLst/>
              </a:prstGeom>
              <a:gradFill rotWithShape="0">
                <a:gsLst>
                  <a:gs pos="0">
                    <a:srgbClr val="C0C0C0"/>
                  </a:gs>
                  <a:gs pos="100000">
                    <a:srgbClr val="595959"/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7671" name="Oval 6"/>
              <p:cNvSpPr/>
              <p:nvPr/>
            </p:nvSpPr>
            <p:spPr>
              <a:xfrm>
                <a:off x="1020" y="3869"/>
                <a:ext cx="136" cy="136"/>
              </a:xfrm>
              <a:prstGeom prst="ellipse">
                <a:avLst/>
              </a:prstGeom>
              <a:gradFill rotWithShape="0">
                <a:gsLst>
                  <a:gs pos="0">
                    <a:srgbClr val="C0C0C0"/>
                  </a:gs>
                  <a:gs pos="100000">
                    <a:srgbClr val="595959"/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7672" name="Oval 7"/>
              <p:cNvSpPr/>
              <p:nvPr/>
            </p:nvSpPr>
            <p:spPr>
              <a:xfrm>
                <a:off x="2085" y="3869"/>
                <a:ext cx="136" cy="136"/>
              </a:xfrm>
              <a:prstGeom prst="ellipse">
                <a:avLst/>
              </a:prstGeom>
              <a:gradFill rotWithShape="0">
                <a:gsLst>
                  <a:gs pos="0">
                    <a:srgbClr val="C0C0C0"/>
                  </a:gs>
                  <a:gs pos="100000">
                    <a:srgbClr val="595959"/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7673" name="Line 10"/>
              <p:cNvSpPr/>
              <p:nvPr/>
            </p:nvSpPr>
            <p:spPr>
              <a:xfrm>
                <a:off x="793" y="3914"/>
                <a:ext cx="227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7674" name="Text Box 11"/>
              <p:cNvSpPr txBox="1"/>
              <p:nvPr/>
            </p:nvSpPr>
            <p:spPr>
              <a:xfrm>
                <a:off x="1383" y="3700"/>
                <a:ext cx="340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Arial" panose="020B0604020202020204" pitchFamily="34" charset="0"/>
                  </a:rPr>
                  <a:t>…</a:t>
                </a:r>
                <a:endParaRPr lang="en-US" altLang="zh-CN" sz="2800" b="1" dirty="0">
                  <a:latin typeface="Tahoma" panose="020B0604030504040204" charset="0"/>
                </a:endParaRPr>
              </a:p>
            </p:txBody>
          </p:sp>
          <p:sp>
            <p:nvSpPr>
              <p:cNvPr id="27675" name="Line 14"/>
              <p:cNvSpPr/>
              <p:nvPr/>
            </p:nvSpPr>
            <p:spPr>
              <a:xfrm>
                <a:off x="1858" y="3929"/>
                <a:ext cx="227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7676" name="Text Box 15"/>
              <p:cNvSpPr txBox="1"/>
              <p:nvPr/>
            </p:nvSpPr>
            <p:spPr>
              <a:xfrm>
                <a:off x="554" y="3898"/>
                <a:ext cx="265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charset="0"/>
                  </a:rPr>
                  <a:t>v</a:t>
                </a:r>
                <a:r>
                  <a:rPr lang="en-US" altLang="zh-CN" sz="2400" b="1" baseline="-25000" dirty="0">
                    <a:latin typeface="Times New Roman" panose="02020603050405020304" charset="0"/>
                  </a:rPr>
                  <a:t>0</a:t>
                </a:r>
                <a:endParaRPr lang="en-US" altLang="zh-CN" sz="2400" b="1" baseline="-25000" dirty="0">
                  <a:latin typeface="Times New Roman" panose="02020603050405020304" charset="0"/>
                </a:endParaRPr>
              </a:p>
            </p:txBody>
          </p:sp>
          <p:sp>
            <p:nvSpPr>
              <p:cNvPr id="27677" name="Text Box 16"/>
              <p:cNvSpPr txBox="1"/>
              <p:nvPr/>
            </p:nvSpPr>
            <p:spPr>
              <a:xfrm>
                <a:off x="965" y="3914"/>
                <a:ext cx="265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charset="0"/>
                  </a:rPr>
                  <a:t>v</a:t>
                </a:r>
                <a:r>
                  <a:rPr lang="en-US" altLang="zh-CN" sz="2400" b="1" baseline="-25000" dirty="0">
                    <a:latin typeface="Times New Roman" panose="02020603050405020304" charset="0"/>
                  </a:rPr>
                  <a:t>1</a:t>
                </a:r>
                <a:endParaRPr lang="en-US" altLang="zh-CN" sz="2400" b="1" baseline="-25000" dirty="0">
                  <a:latin typeface="Times New Roman" panose="02020603050405020304" charset="0"/>
                </a:endParaRPr>
              </a:p>
            </p:txBody>
          </p:sp>
          <p:sp>
            <p:nvSpPr>
              <p:cNvPr id="27678" name="Text Box 17"/>
              <p:cNvSpPr txBox="1"/>
              <p:nvPr/>
            </p:nvSpPr>
            <p:spPr>
              <a:xfrm>
                <a:off x="1994" y="3959"/>
                <a:ext cx="251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charset="0"/>
                  </a:rPr>
                  <a:t>v</a:t>
                </a:r>
                <a:r>
                  <a:rPr lang="en-US" altLang="zh-CN" sz="2400" b="1" i="1" baseline="-25000" dirty="0">
                    <a:latin typeface="Times New Roman" panose="02020603050405020304" charset="0"/>
                  </a:rPr>
                  <a:t>s</a:t>
                </a:r>
                <a:endParaRPr lang="en-US" altLang="zh-CN" sz="2400" b="1" i="1" baseline="-25000" dirty="0">
                  <a:latin typeface="Times New Roman" panose="02020603050405020304" charset="0"/>
                </a:endParaRPr>
              </a:p>
            </p:txBody>
          </p:sp>
          <p:sp>
            <p:nvSpPr>
              <p:cNvPr id="27679" name="Freeform 25"/>
              <p:cNvSpPr/>
              <p:nvPr/>
            </p:nvSpPr>
            <p:spPr>
              <a:xfrm>
                <a:off x="748" y="3679"/>
                <a:ext cx="1406" cy="205"/>
              </a:xfrm>
              <a:custGeom>
                <a:avLst/>
                <a:gdLst>
                  <a:gd name="txL" fmla="*/ 0 w 1406"/>
                  <a:gd name="txT" fmla="*/ 0 h 205"/>
                  <a:gd name="txR" fmla="*/ 1406 w 1406"/>
                  <a:gd name="txB" fmla="*/ 205 h 205"/>
                </a:gdLst>
                <a:ahLst/>
                <a:cxnLst>
                  <a:cxn ang="0">
                    <a:pos x="0" y="205"/>
                  </a:cxn>
                  <a:cxn ang="0">
                    <a:pos x="408" y="23"/>
                  </a:cxn>
                  <a:cxn ang="0">
                    <a:pos x="1089" y="69"/>
                  </a:cxn>
                  <a:cxn ang="0">
                    <a:pos x="1406" y="205"/>
                  </a:cxn>
                </a:cxnLst>
                <a:rect l="txL" t="txT" r="txR" b="txB"/>
                <a:pathLst>
                  <a:path w="1406" h="205">
                    <a:moveTo>
                      <a:pt x="0" y="205"/>
                    </a:moveTo>
                    <a:cubicBezTo>
                      <a:pt x="113" y="125"/>
                      <a:pt x="227" y="46"/>
                      <a:pt x="408" y="23"/>
                    </a:cubicBezTo>
                    <a:cubicBezTo>
                      <a:pt x="589" y="0"/>
                      <a:pt x="923" y="39"/>
                      <a:pt x="1089" y="69"/>
                    </a:cubicBezTo>
                    <a:cubicBezTo>
                      <a:pt x="1255" y="99"/>
                      <a:pt x="1330" y="152"/>
                      <a:pt x="1406" y="205"/>
                    </a:cubicBezTo>
                  </a:path>
                </a:pathLst>
              </a:custGeom>
              <a:noFill/>
              <a:ln w="25400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lg" len="lg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7669" name="TextBox 1"/>
            <p:cNvSpPr txBox="1"/>
            <p:nvPr/>
          </p:nvSpPr>
          <p:spPr>
            <a:xfrm>
              <a:off x="2699792" y="6165304"/>
              <a:ext cx="58832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dirty="0">
                  <a:latin typeface="Tahoma" panose="020B0604030504040204" charset="0"/>
                </a:rPr>
                <a:t>(1)</a:t>
              </a:r>
              <a:endParaRPr lang="en-US" altLang="zh-CN" sz="2400" dirty="0">
                <a:latin typeface="Tahoma" panose="020B0604030504040204" charset="0"/>
              </a:endParaRPr>
            </a:p>
          </p:txBody>
        </p:sp>
      </p:grpSp>
      <p:grpSp>
        <p:nvGrpSpPr>
          <p:cNvPr id="27652" name="Group 3"/>
          <p:cNvGrpSpPr/>
          <p:nvPr/>
        </p:nvGrpSpPr>
        <p:grpSpPr>
          <a:xfrm>
            <a:off x="5127625" y="5386388"/>
            <a:ext cx="2684463" cy="1282700"/>
            <a:chOff x="5127898" y="5344071"/>
            <a:chExt cx="2684462" cy="1282898"/>
          </a:xfrm>
        </p:grpSpPr>
        <p:grpSp>
          <p:nvGrpSpPr>
            <p:cNvPr id="27653" name="Group 43"/>
            <p:cNvGrpSpPr/>
            <p:nvPr/>
          </p:nvGrpSpPr>
          <p:grpSpPr>
            <a:xfrm>
              <a:off x="5127898" y="5344071"/>
              <a:ext cx="2684462" cy="820737"/>
              <a:chOff x="2731" y="3700"/>
              <a:chExt cx="1691" cy="517"/>
            </a:xfrm>
          </p:grpSpPr>
          <p:sp>
            <p:nvSpPr>
              <p:cNvPr id="27655" name="Oval 28"/>
              <p:cNvSpPr/>
              <p:nvPr/>
            </p:nvSpPr>
            <p:spPr>
              <a:xfrm>
                <a:off x="2834" y="3869"/>
                <a:ext cx="136" cy="136"/>
              </a:xfrm>
              <a:prstGeom prst="ellipse">
                <a:avLst/>
              </a:prstGeom>
              <a:gradFill rotWithShape="0">
                <a:gsLst>
                  <a:gs pos="0">
                    <a:srgbClr val="C0C0C0"/>
                  </a:gs>
                  <a:gs pos="100000">
                    <a:srgbClr val="595959"/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7656" name="Oval 29"/>
              <p:cNvSpPr/>
              <p:nvPr/>
            </p:nvSpPr>
            <p:spPr>
              <a:xfrm>
                <a:off x="3197" y="3869"/>
                <a:ext cx="136" cy="136"/>
              </a:xfrm>
              <a:prstGeom prst="ellipse">
                <a:avLst/>
              </a:prstGeom>
              <a:gradFill rotWithShape="0">
                <a:gsLst>
                  <a:gs pos="0">
                    <a:srgbClr val="C0C0C0"/>
                  </a:gs>
                  <a:gs pos="100000">
                    <a:srgbClr val="595959"/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7657" name="Oval 30"/>
              <p:cNvSpPr/>
              <p:nvPr/>
            </p:nvSpPr>
            <p:spPr>
              <a:xfrm>
                <a:off x="4262" y="3869"/>
                <a:ext cx="136" cy="136"/>
              </a:xfrm>
              <a:prstGeom prst="ellipse">
                <a:avLst/>
              </a:prstGeom>
              <a:gradFill rotWithShape="0">
                <a:gsLst>
                  <a:gs pos="0">
                    <a:srgbClr val="C0C0C0"/>
                  </a:gs>
                  <a:gs pos="100000">
                    <a:srgbClr val="595959"/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7658" name="Line 31"/>
              <p:cNvSpPr/>
              <p:nvPr/>
            </p:nvSpPr>
            <p:spPr>
              <a:xfrm>
                <a:off x="2970" y="3914"/>
                <a:ext cx="227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7659" name="Text Box 32"/>
              <p:cNvSpPr txBox="1"/>
              <p:nvPr/>
            </p:nvSpPr>
            <p:spPr>
              <a:xfrm>
                <a:off x="3742" y="3700"/>
                <a:ext cx="340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Arial" panose="020B0604020202020204" pitchFamily="34" charset="0"/>
                  </a:rPr>
                  <a:t>…</a:t>
                </a:r>
                <a:endParaRPr lang="en-US" altLang="zh-CN" sz="2800" b="1" dirty="0">
                  <a:latin typeface="Tahoma" panose="020B0604030504040204" charset="0"/>
                </a:endParaRPr>
              </a:p>
            </p:txBody>
          </p:sp>
          <p:sp>
            <p:nvSpPr>
              <p:cNvPr id="27660" name="Line 33"/>
              <p:cNvSpPr/>
              <p:nvPr/>
            </p:nvSpPr>
            <p:spPr>
              <a:xfrm>
                <a:off x="4035" y="3929"/>
                <a:ext cx="227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27661" name="Text Box 34"/>
              <p:cNvSpPr txBox="1"/>
              <p:nvPr/>
            </p:nvSpPr>
            <p:spPr>
              <a:xfrm>
                <a:off x="2731" y="3898"/>
                <a:ext cx="265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charset="0"/>
                  </a:rPr>
                  <a:t>v</a:t>
                </a:r>
                <a:r>
                  <a:rPr lang="en-US" altLang="zh-CN" sz="2400" b="1" baseline="-25000" dirty="0">
                    <a:latin typeface="Times New Roman" panose="02020603050405020304" charset="0"/>
                  </a:rPr>
                  <a:t>0</a:t>
                </a:r>
                <a:endParaRPr lang="en-US" altLang="zh-CN" sz="2400" b="1" baseline="-25000" dirty="0">
                  <a:latin typeface="Times New Roman" panose="02020603050405020304" charset="0"/>
                </a:endParaRPr>
              </a:p>
            </p:txBody>
          </p:sp>
          <p:sp>
            <p:nvSpPr>
              <p:cNvPr id="27662" name="Text Box 35"/>
              <p:cNvSpPr txBox="1"/>
              <p:nvPr/>
            </p:nvSpPr>
            <p:spPr>
              <a:xfrm>
                <a:off x="3142" y="3914"/>
                <a:ext cx="265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charset="0"/>
                  </a:rPr>
                  <a:t>v</a:t>
                </a:r>
                <a:r>
                  <a:rPr lang="en-US" altLang="zh-CN" sz="2400" b="1" baseline="-25000" dirty="0">
                    <a:latin typeface="Times New Roman" panose="02020603050405020304" charset="0"/>
                  </a:rPr>
                  <a:t>1</a:t>
                </a:r>
                <a:endParaRPr lang="en-US" altLang="zh-CN" sz="2400" b="1" baseline="-25000" dirty="0">
                  <a:latin typeface="Times New Roman" panose="02020603050405020304" charset="0"/>
                </a:endParaRPr>
              </a:p>
            </p:txBody>
          </p:sp>
          <p:sp>
            <p:nvSpPr>
              <p:cNvPr id="27663" name="Text Box 36"/>
              <p:cNvSpPr txBox="1"/>
              <p:nvPr/>
            </p:nvSpPr>
            <p:spPr>
              <a:xfrm>
                <a:off x="4171" y="3929"/>
                <a:ext cx="251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charset="0"/>
                  </a:rPr>
                  <a:t>v</a:t>
                </a:r>
                <a:r>
                  <a:rPr lang="en-US" altLang="zh-CN" sz="2400" b="1" i="1" baseline="-25000" dirty="0">
                    <a:latin typeface="Times New Roman" panose="02020603050405020304" charset="0"/>
                  </a:rPr>
                  <a:t>s</a:t>
                </a:r>
                <a:endParaRPr lang="en-US" altLang="zh-CN" sz="2400" b="1" i="1" baseline="-25000" dirty="0">
                  <a:latin typeface="Times New Roman" panose="02020603050405020304" charset="0"/>
                </a:endParaRPr>
              </a:p>
            </p:txBody>
          </p:sp>
          <p:sp>
            <p:nvSpPr>
              <p:cNvPr id="27664" name="Oval 38"/>
              <p:cNvSpPr/>
              <p:nvPr/>
            </p:nvSpPr>
            <p:spPr>
              <a:xfrm>
                <a:off x="3606" y="3884"/>
                <a:ext cx="136" cy="136"/>
              </a:xfrm>
              <a:prstGeom prst="ellipse">
                <a:avLst/>
              </a:prstGeom>
              <a:gradFill rotWithShape="0">
                <a:gsLst>
                  <a:gs pos="0">
                    <a:srgbClr val="C0C0C0"/>
                  </a:gs>
                  <a:gs pos="100000">
                    <a:srgbClr val="595959"/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  <p:txBody>
              <a:bodyPr wrap="none" anchor="ctr"/>
              <a:p>
                <a:endParaRPr lang="zh-CN" altLang="en-US" i="1" dirty="0">
                  <a:latin typeface="Tahoma" panose="020B0604030504040204" charset="0"/>
                </a:endParaRPr>
              </a:p>
            </p:txBody>
          </p:sp>
          <p:sp>
            <p:nvSpPr>
              <p:cNvPr id="27665" name="Text Box 39"/>
              <p:cNvSpPr txBox="1"/>
              <p:nvPr/>
            </p:nvSpPr>
            <p:spPr>
              <a:xfrm>
                <a:off x="3288" y="3702"/>
                <a:ext cx="340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Arial" panose="020B0604020202020204" pitchFamily="34" charset="0"/>
                  </a:rPr>
                  <a:t>…</a:t>
                </a:r>
                <a:endParaRPr lang="en-US" altLang="zh-CN" sz="2800" b="1" dirty="0">
                  <a:latin typeface="Tahoma" panose="020B0604030504040204" charset="0"/>
                </a:endParaRPr>
              </a:p>
            </p:txBody>
          </p:sp>
          <p:sp>
            <p:nvSpPr>
              <p:cNvPr id="27666" name="Text Box 40"/>
              <p:cNvSpPr txBox="1"/>
              <p:nvPr/>
            </p:nvSpPr>
            <p:spPr>
              <a:xfrm>
                <a:off x="3560" y="3929"/>
                <a:ext cx="265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charset="0"/>
                  </a:rPr>
                  <a:t>v</a:t>
                </a:r>
                <a:r>
                  <a:rPr lang="en-US" altLang="zh-CN" sz="2400" b="1" i="1" baseline="-25000" dirty="0">
                    <a:latin typeface="Times New Roman" panose="02020603050405020304" charset="0"/>
                  </a:rPr>
                  <a:t>k</a:t>
                </a:r>
                <a:endParaRPr lang="en-US" altLang="zh-CN" sz="2400" b="1" i="1" baseline="-25000" dirty="0">
                  <a:latin typeface="Times New Roman" panose="02020603050405020304" charset="0"/>
                </a:endParaRPr>
              </a:p>
            </p:txBody>
          </p:sp>
          <p:sp>
            <p:nvSpPr>
              <p:cNvPr id="27667" name="Freeform 42"/>
              <p:cNvSpPr/>
              <p:nvPr/>
            </p:nvSpPr>
            <p:spPr>
              <a:xfrm>
                <a:off x="2925" y="3733"/>
                <a:ext cx="771" cy="151"/>
              </a:xfrm>
              <a:custGeom>
                <a:avLst/>
                <a:gdLst>
                  <a:gd name="txL" fmla="*/ 0 w 771"/>
                  <a:gd name="txT" fmla="*/ 0 h 151"/>
                  <a:gd name="txR" fmla="*/ 771 w 771"/>
                  <a:gd name="txB" fmla="*/ 151 h 151"/>
                </a:gdLst>
                <a:ahLst/>
                <a:cxnLst>
                  <a:cxn ang="0">
                    <a:pos x="0" y="151"/>
                  </a:cxn>
                  <a:cxn ang="0">
                    <a:pos x="273" y="15"/>
                  </a:cxn>
                  <a:cxn ang="0">
                    <a:pos x="590" y="60"/>
                  </a:cxn>
                  <a:cxn ang="0">
                    <a:pos x="771" y="151"/>
                  </a:cxn>
                </a:cxnLst>
                <a:rect l="txL" t="txT" r="txR" b="txB"/>
                <a:pathLst>
                  <a:path w="771" h="151">
                    <a:moveTo>
                      <a:pt x="0" y="151"/>
                    </a:moveTo>
                    <a:cubicBezTo>
                      <a:pt x="87" y="90"/>
                      <a:pt x="175" y="30"/>
                      <a:pt x="273" y="15"/>
                    </a:cubicBezTo>
                    <a:cubicBezTo>
                      <a:pt x="371" y="0"/>
                      <a:pt x="507" y="37"/>
                      <a:pt x="590" y="60"/>
                    </a:cubicBezTo>
                    <a:cubicBezTo>
                      <a:pt x="673" y="83"/>
                      <a:pt x="722" y="117"/>
                      <a:pt x="771" y="151"/>
                    </a:cubicBezTo>
                  </a:path>
                </a:pathLst>
              </a:custGeom>
              <a:noFill/>
              <a:ln w="25400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lg" len="lg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7654" name="TextBox 29"/>
            <p:cNvSpPr txBox="1"/>
            <p:nvPr/>
          </p:nvSpPr>
          <p:spPr>
            <a:xfrm>
              <a:off x="6071910" y="6165304"/>
              <a:ext cx="58832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dirty="0">
                  <a:latin typeface="Tahoma" panose="020B0604030504040204" charset="0"/>
                </a:rPr>
                <a:t>(2)</a:t>
              </a:r>
              <a:endParaRPr lang="en-US" altLang="zh-CN" sz="2400" dirty="0">
                <a:latin typeface="Tahoma" panose="020B0604030504040204" charset="0"/>
              </a:endParaRPr>
            </a:p>
          </p:txBody>
        </p:sp>
      </p:grp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640763" cy="5256213"/>
          </a:xfrm>
        </p:spPr>
        <p:txBody>
          <a:bodyPr vert="horz" wrap="square" lIns="91440" tIns="45720" rIns="91440" bIns="45720" anchor="t"/>
          <a:p>
            <a:pPr marL="495300" indent="-495300" eaLnBrk="1" hangingPunct="1">
              <a:spcBef>
                <a:spcPct val="10000"/>
              </a:spcBef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7.7  D=&lt;V,E&gt;</a:t>
            </a:r>
            <a:r>
              <a:rPr lang="zh-CN" altLang="en-US" sz="2800" dirty="0"/>
              <a:t>为有向简单图</a:t>
            </a:r>
            <a:r>
              <a:rPr lang="en-US" altLang="zh-CN" sz="2800" dirty="0"/>
              <a:t>,δ(</a:t>
            </a:r>
            <a:r>
              <a:rPr lang="en-US" altLang="zh-CN" sz="2800" i="1" dirty="0"/>
              <a:t>D</a:t>
            </a:r>
            <a:r>
              <a:rPr lang="en-US" altLang="zh-CN" sz="2800" dirty="0"/>
              <a:t>)≥2, </a:t>
            </a:r>
            <a:r>
              <a:rPr lang="zh-CN" altLang="en-US" sz="2800" dirty="0"/>
              <a:t>且</a:t>
            </a:r>
            <a:endParaRPr lang="zh-CN" altLang="en-US" sz="2800" dirty="0"/>
          </a:p>
          <a:p>
            <a:pPr marL="495300" indent="-495300" eaLnBrk="1" hangingPunct="1">
              <a:spcBef>
                <a:spcPct val="10000"/>
              </a:spcBef>
              <a:buNone/>
            </a:pPr>
            <a:r>
              <a:rPr lang="en-US" altLang="zh-CN" sz="2800" dirty="0"/>
              <a:t>δ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(</a:t>
            </a:r>
            <a:r>
              <a:rPr lang="en-US" altLang="zh-CN" sz="2800" i="1" dirty="0"/>
              <a:t>D</a:t>
            </a:r>
            <a:r>
              <a:rPr lang="en-US" altLang="zh-CN" sz="2800" dirty="0"/>
              <a:t>)</a:t>
            </a:r>
            <a:r>
              <a:rPr lang="en-US" altLang="en-US" sz="2800" dirty="0"/>
              <a:t>＞</a:t>
            </a:r>
            <a:r>
              <a:rPr lang="en-US" altLang="zh-CN" sz="2800" dirty="0"/>
              <a:t>0,δ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(</a:t>
            </a:r>
            <a:r>
              <a:rPr lang="en-US" altLang="zh-CN" sz="2800" i="1" dirty="0"/>
              <a:t>D</a:t>
            </a:r>
            <a:r>
              <a:rPr lang="en-US" altLang="zh-CN" sz="2800" dirty="0"/>
              <a:t>)</a:t>
            </a:r>
            <a:r>
              <a:rPr lang="en-US" altLang="en-US" sz="2800" dirty="0"/>
              <a:t>＞</a:t>
            </a:r>
            <a:r>
              <a:rPr lang="en-US" altLang="zh-CN" sz="2800" dirty="0"/>
              <a:t>0,  </a:t>
            </a:r>
            <a:r>
              <a:rPr lang="zh-CN" altLang="en-US" sz="2800" dirty="0"/>
              <a:t>证明</a:t>
            </a:r>
            <a:r>
              <a:rPr lang="en-US" altLang="zh-CN" sz="2800" i="1" dirty="0"/>
              <a:t>D</a:t>
            </a:r>
            <a:r>
              <a:rPr lang="zh-CN" altLang="en-US" sz="2800" dirty="0"/>
              <a:t>中有长度大于等于</a:t>
            </a:r>
            <a:endParaRPr lang="en-US" altLang="zh-CN" sz="2800" dirty="0"/>
          </a:p>
          <a:p>
            <a:pPr marL="495300" indent="-495300" eaLnBrk="1" hangingPunct="1">
              <a:spcBef>
                <a:spcPct val="10000"/>
              </a:spcBef>
              <a:buNone/>
            </a:pPr>
            <a:r>
              <a:rPr lang="en-US" altLang="zh-CN" sz="2800" i="1" dirty="0"/>
              <a:t>max</a:t>
            </a:r>
            <a:r>
              <a:rPr lang="en-US" altLang="zh-CN" sz="2800" dirty="0"/>
              <a:t>{δ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(</a:t>
            </a:r>
            <a:r>
              <a:rPr lang="en-US" altLang="zh-CN" sz="2800" i="1" dirty="0"/>
              <a:t>D</a:t>
            </a:r>
            <a:r>
              <a:rPr lang="en-US" altLang="zh-CN" sz="2800" dirty="0"/>
              <a:t>),δ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(</a:t>
            </a:r>
            <a:r>
              <a:rPr lang="en-US" altLang="zh-CN" sz="2800" i="1" dirty="0"/>
              <a:t>D</a:t>
            </a:r>
            <a:r>
              <a:rPr lang="en-US" altLang="zh-CN" sz="2800" dirty="0"/>
              <a:t>)}+1 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00"/>
                </a:solidFill>
              </a:rPr>
              <a:t>圈</a:t>
            </a:r>
            <a:r>
              <a:rPr lang="en-US" altLang="zh-CN" sz="2800" dirty="0">
                <a:solidFill>
                  <a:srgbClr val="000000"/>
                </a:solidFill>
              </a:rPr>
              <a:t>.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 marL="495300" indent="-495300" eaLnBrk="1" hangingPunct="1">
              <a:spcBef>
                <a:spcPct val="10000"/>
              </a:spcBef>
              <a:buNone/>
            </a:pPr>
            <a:endParaRPr lang="en-US" altLang="zh-CN" sz="2800" dirty="0">
              <a:solidFill>
                <a:schemeClr val="folHlink"/>
              </a:solidFill>
            </a:endParaRPr>
          </a:p>
        </p:txBody>
      </p:sp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rgbClr val="FF0000"/>
                </a:solidFill>
              </a:rPr>
              <a:t>课后作业一</a:t>
            </a:r>
            <a:r>
              <a:rPr lang="en-US" altLang="zh-CN" sz="4000" dirty="0">
                <a:solidFill>
                  <a:srgbClr val="FF0000"/>
                </a:solidFill>
              </a:rPr>
              <a:t>:</a:t>
            </a:r>
            <a:endParaRPr lang="en-US" altLang="zh-CN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C0C0C0"/>
            </a:gs>
            <a:gs pos="100000">
              <a:srgbClr val="C0C0C0">
                <a:gamma/>
                <a:shade val="46275"/>
                <a:invGamma/>
              </a:srgbClr>
            </a:gs>
          </a:gsLst>
          <a:path path="rect">
            <a:fillToRect l="50000" t="50000" r="50000" b="50000"/>
          </a:path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C0C0C0"/>
            </a:gs>
            <a:gs pos="100000">
              <a:srgbClr val="C0C0C0">
                <a:gamma/>
                <a:shade val="46275"/>
                <a:invGamma/>
              </a:srgbClr>
            </a:gs>
          </a:gsLst>
          <a:path path="rect">
            <a:fillToRect l="50000" t="50000" r="50000" b="50000"/>
          </a:path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2290</Words>
  <Application>WPS 演示</Application>
  <PresentationFormat/>
  <Paragraphs>165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Tahoma</vt:lpstr>
      <vt:lpstr>黑体</vt:lpstr>
      <vt:lpstr>Wingdings</vt:lpstr>
      <vt:lpstr>Times New Roman</vt:lpstr>
      <vt:lpstr>Garamond</vt:lpstr>
      <vt:lpstr>Symbol</vt:lpstr>
      <vt:lpstr>MingLiU</vt:lpstr>
      <vt:lpstr>MingLiU-ExtB</vt:lpstr>
      <vt:lpstr>微软雅黑</vt:lpstr>
      <vt:lpstr>Arial Unicode MS</vt:lpstr>
      <vt:lpstr>Blends</vt:lpstr>
      <vt:lpstr>主要内容</vt:lpstr>
      <vt:lpstr>7.2 通路与回路</vt:lpstr>
      <vt:lpstr>通路和回路的简单表示法</vt:lpstr>
      <vt:lpstr>例1</vt:lpstr>
      <vt:lpstr>周长与围长</vt:lpstr>
      <vt:lpstr>通路，回路的存在性</vt:lpstr>
      <vt:lpstr>定理7.6(证明)</vt:lpstr>
      <vt:lpstr>例2</vt:lpstr>
      <vt:lpstr>扩大路径法 </vt:lpstr>
      <vt:lpstr>关于极大路径的说明</vt:lpstr>
      <vt:lpstr>例7.6</vt:lpstr>
      <vt:lpstr>课后作业一: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小天鹅</cp:lastModifiedBy>
  <cp:revision>18</cp:revision>
  <dcterms:created xsi:type="dcterms:W3CDTF">2008-01-04T07:39:00Z</dcterms:created>
  <dcterms:modified xsi:type="dcterms:W3CDTF">2023-09-27T15:21:25Z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E19809EB691C4C9EBF5EA97034643AB9</vt:lpwstr>
  </property>
</Properties>
</file>