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7"/>
  </p:handoutMasterIdLst>
  <p:sldIdLst>
    <p:sldId id="520" r:id="rId3"/>
    <p:sldId id="425" r:id="rId4"/>
    <p:sldId id="426" r:id="rId6"/>
    <p:sldId id="457" r:id="rId7"/>
    <p:sldId id="427" r:id="rId8"/>
    <p:sldId id="471" r:id="rId9"/>
    <p:sldId id="428" r:id="rId10"/>
    <p:sldId id="429" r:id="rId11"/>
    <p:sldId id="430" r:id="rId12"/>
    <p:sldId id="516" r:id="rId13"/>
    <p:sldId id="459" r:id="rId14"/>
    <p:sldId id="431" r:id="rId15"/>
    <p:sldId id="407" r:id="rId16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B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708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D83D5D-296A-4344-8E21-6DE5168D9D43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6D2C5-CF5A-534D-A5DD-3B828914B59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C50839-9AE6-9746-AFBF-628C8242A10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举例：</a:t>
            </a:r>
            <a:endParaRPr lang="en-US" altLang="zh-CN"/>
          </a:p>
          <a:p>
            <a:pPr lvl="0"/>
            <a:r>
              <a:rPr lang="en-US" altLang="zh-CN"/>
              <a:t>6</a:t>
            </a:r>
            <a:r>
              <a:rPr lang="zh-CN" altLang="en-US"/>
              <a:t>阶</a:t>
            </a:r>
            <a:r>
              <a:rPr lang="en-US" altLang="zh-CN"/>
              <a:t>11</a:t>
            </a:r>
            <a:r>
              <a:rPr lang="zh-CN" altLang="en-US"/>
              <a:t>条边的连通平面图，有几个面？</a:t>
            </a:r>
            <a:endParaRPr lang="en-US" altLang="zh-CN"/>
          </a:p>
          <a:p>
            <a:pPr lvl="0"/>
            <a:r>
              <a:rPr lang="zh-CN" altLang="en-US"/>
              <a:t>证明方法：归纳法</a:t>
            </a:r>
            <a:r>
              <a:rPr lang="en-US" altLang="zh-CN"/>
              <a:t>  </a:t>
            </a:r>
            <a:r>
              <a:rPr lang="zh-CN" altLang="en-US"/>
              <a:t>对边数</a:t>
            </a:r>
            <a:r>
              <a:rPr lang="en-US" altLang="zh-CN"/>
              <a:t>m</a:t>
            </a:r>
            <a:r>
              <a:rPr lang="zh-CN" altLang="en-US"/>
              <a:t>进行归纳，</a:t>
            </a:r>
            <a:r>
              <a:rPr lang="en-US" altLang="zh-CN"/>
              <a:t>m=0,m=1</a:t>
            </a:r>
            <a:r>
              <a:rPr lang="zh-CN" altLang="en-US"/>
              <a:t>和</a:t>
            </a:r>
            <a:r>
              <a:rPr lang="en-US" altLang="zh-CN"/>
              <a:t>m=k</a:t>
            </a:r>
            <a:endParaRPr lang="en-US" altLang="zh-CN"/>
          </a:p>
        </p:txBody>
      </p:sp>
      <p:sp>
        <p:nvSpPr>
          <p:cNvPr id="5120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注意外部面</a:t>
            </a:r>
            <a:endParaRPr lang="en-US" altLang="zh-CN"/>
          </a:p>
        </p:txBody>
      </p:sp>
      <p:sp>
        <p:nvSpPr>
          <p:cNvPr id="5529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注意外部面</a:t>
            </a:r>
            <a:endParaRPr lang="en-US" altLang="zh-CN"/>
          </a:p>
        </p:txBody>
      </p:sp>
      <p:sp>
        <p:nvSpPr>
          <p:cNvPr id="5734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n-US" altLang="x-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44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44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ctr" eaLnBrk="1" hangingPunct="1"/>
            <a:r>
              <a:rPr lang="zh-CN" altLang="en-US">
                <a:solidFill>
                  <a:schemeClr val="bg2"/>
                </a:solidFill>
                <a:ea typeface="宋体" panose="02010600030101010101" pitchFamily="2" charset="-122"/>
              </a:rPr>
              <a:t>图论之平面图</a:t>
            </a:r>
            <a:endParaRPr lang="en-US" altLang="zh-CN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FB9FC8-AFCA-F245-BA29-04CB1360428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>
                <a:alpha val="100000"/>
              </a:schemeClr>
            </a:outerShdw>
          </a:effectLst>
        </p:spPr>
        <p:txBody>
          <a:bodyPr anchor="b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/>
        </p:nvSpPr>
        <p:spPr>
          <a:xfrm>
            <a:off x="319405" y="2243455"/>
            <a:ext cx="7772400" cy="1462088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/>
            <a:r>
              <a:rPr lang="en-US" altLang="zh-CN" sz="4400" b="0"/>
              <a:t>11.2   </a:t>
            </a:r>
            <a:r>
              <a:rPr lang="zh-CN" altLang="en-US" sz="4400" b="0"/>
              <a:t>欧拉公式</a:t>
            </a:r>
            <a:endParaRPr lang="zh-CN" altLang="en-US" sz="4400" b="0"/>
          </a:p>
        </p:txBody>
      </p:sp>
      <p:sp>
        <p:nvSpPr>
          <p:cNvPr id="6042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欧拉公式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8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rgbClr val="FF0000"/>
                </a:solidFill>
              </a:rPr>
              <a:t>欧拉公式</a:t>
            </a:r>
            <a:r>
              <a:rPr lang="en-US" altLang="zh-CN">
                <a:solidFill>
                  <a:srgbClr val="FF0000"/>
                </a:solidFill>
              </a:rPr>
              <a:t>: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连通</a:t>
            </a:r>
            <a:r>
              <a:rPr lang="zh-CN" altLang="en-US"/>
              <a:t>平面图</a:t>
            </a:r>
            <a:r>
              <a:rPr lang="en-US" altLang="zh-CN"/>
              <a:t>, </a:t>
            </a:r>
            <a:r>
              <a:rPr lang="zh-CN" altLang="en-US"/>
              <a:t>则 </a:t>
            </a:r>
            <a:r>
              <a:rPr lang="en-US" altLang="zh-CN" i="1"/>
              <a:t>n</a:t>
            </a:r>
            <a:r>
              <a:rPr lang="en-US" altLang="zh-CN"/>
              <a:t>-</a:t>
            </a:r>
            <a:r>
              <a:rPr lang="en-US" altLang="zh-CN" i="1"/>
              <a:t>m</a:t>
            </a:r>
            <a:r>
              <a:rPr lang="en-US" altLang="zh-CN"/>
              <a:t>+</a:t>
            </a:r>
            <a:r>
              <a:rPr lang="en-US" altLang="zh-CN" i="1"/>
              <a:t>r</a:t>
            </a:r>
            <a:r>
              <a:rPr lang="en-US" altLang="zh-CN"/>
              <a:t>=2</a:t>
            </a:r>
            <a:endParaRPr lang="en-US" altLang="zh-CN"/>
          </a:p>
          <a:p>
            <a:pPr>
              <a:buNone/>
            </a:pPr>
            <a:r>
              <a:rPr lang="zh-CN" altLang="en-US"/>
              <a:t>    其中</a:t>
            </a:r>
            <a:r>
              <a:rPr lang="en-US" altLang="zh-CN" i="1"/>
              <a:t>r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的面数</a:t>
            </a:r>
            <a:r>
              <a:rPr lang="en-US" altLang="zh-CN"/>
              <a:t>,</a:t>
            </a:r>
            <a:r>
              <a:rPr lang="en-US" altLang="zh-CN" i="1"/>
              <a:t>n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的阶</a:t>
            </a:r>
            <a:r>
              <a:rPr lang="en-US" altLang="zh-CN"/>
              <a:t>,</a:t>
            </a:r>
            <a:r>
              <a:rPr lang="en-US" altLang="zh-CN" i="1"/>
              <a:t>m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的边数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: </a:t>
            </a:r>
            <a:r>
              <a:rPr lang="en-US" altLang="zh-CN" i="1"/>
              <a:t>n</a:t>
            </a:r>
            <a:r>
              <a:rPr lang="en-US" altLang="zh-CN"/>
              <a:t>=7,</a:t>
            </a:r>
            <a:r>
              <a:rPr lang="en-US" altLang="zh-CN" i="1"/>
              <a:t>m</a:t>
            </a:r>
            <a:r>
              <a:rPr lang="en-US" altLang="zh-CN"/>
              <a:t>=11,</a:t>
            </a:r>
            <a:r>
              <a:rPr lang="en-US" altLang="zh-CN" i="1"/>
              <a:t>r</a:t>
            </a:r>
            <a:r>
              <a:rPr lang="en-US" altLang="zh-CN"/>
              <a:t>=6</a:t>
            </a:r>
            <a:r>
              <a:rPr lang="zh-CN" altLang="en-US"/>
              <a:t>，则</a:t>
            </a:r>
            <a:r>
              <a:rPr lang="en-US" altLang="zh-CN"/>
              <a:t>7-11+6=2. </a:t>
            </a:r>
            <a:endParaRPr lang="en-US" altLang="zh-CN"/>
          </a:p>
        </p:txBody>
      </p:sp>
      <p:sp>
        <p:nvSpPr>
          <p:cNvPr id="5018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0181" name="组合 37"/>
          <p:cNvGrpSpPr/>
          <p:nvPr/>
        </p:nvGrpSpPr>
        <p:grpSpPr>
          <a:xfrm>
            <a:off x="2875598" y="3388995"/>
            <a:ext cx="2592387" cy="2376488"/>
            <a:chOff x="1979712" y="3501008"/>
            <a:chExt cx="2592288" cy="2376264"/>
          </a:xfrm>
        </p:grpSpPr>
        <p:sp>
          <p:nvSpPr>
            <p:cNvPr id="50182" name="椭圆 35"/>
            <p:cNvSpPr/>
            <p:nvPr/>
          </p:nvSpPr>
          <p:spPr>
            <a:xfrm>
              <a:off x="1979712" y="3501008"/>
              <a:ext cx="504056" cy="50405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2987824" y="458112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2843808" y="566124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123728" y="4797152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923928" y="4725144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4355976" y="5517232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419872" y="386104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2339752" y="3789040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0204" name="直接连接符 13"/>
            <p:cNvCxnSpPr/>
            <p:nvPr/>
          </p:nvCxnSpPr>
          <p:spPr>
            <a:xfrm rot="5400000">
              <a:off x="1925706" y="4311098"/>
              <a:ext cx="792088" cy="1800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05" name="直接连接符 15"/>
            <p:cNvCxnSpPr/>
            <p:nvPr/>
          </p:nvCxnSpPr>
          <p:spPr>
            <a:xfrm>
              <a:off x="2555776" y="3897052"/>
              <a:ext cx="864096" cy="72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06" name="直接连接符 17"/>
            <p:cNvCxnSpPr/>
            <p:nvPr/>
          </p:nvCxnSpPr>
          <p:spPr>
            <a:xfrm rot="-5400000" flipH="1">
              <a:off x="3424240" y="4225456"/>
              <a:ext cx="711344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07" name="直接连接符 19"/>
            <p:cNvCxnSpPr/>
            <p:nvPr/>
          </p:nvCxnSpPr>
          <p:spPr>
            <a:xfrm rot="-5400000" flipH="1">
              <a:off x="3905926" y="5067182"/>
              <a:ext cx="607700" cy="355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08" name="直接连接符 21"/>
            <p:cNvCxnSpPr/>
            <p:nvPr/>
          </p:nvCxnSpPr>
          <p:spPr>
            <a:xfrm rot="-5400000" flipH="1">
              <a:off x="2429762" y="4023066"/>
              <a:ext cx="607700" cy="571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09" name="直接连接符 23"/>
            <p:cNvCxnSpPr/>
            <p:nvPr/>
          </p:nvCxnSpPr>
          <p:spPr>
            <a:xfrm rot="5400000" flipH="1" flipV="1">
              <a:off x="3005826" y="4135446"/>
              <a:ext cx="535692" cy="355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10" name="直接连接符 25"/>
            <p:cNvCxnSpPr/>
            <p:nvPr/>
          </p:nvCxnSpPr>
          <p:spPr>
            <a:xfrm rot="5400000" flipH="1" flipV="1">
              <a:off x="2596148" y="4437112"/>
              <a:ext cx="103644" cy="6797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11" name="直接连接符 27"/>
            <p:cNvCxnSpPr/>
            <p:nvPr/>
          </p:nvCxnSpPr>
          <p:spPr>
            <a:xfrm>
              <a:off x="3203848" y="4689140"/>
              <a:ext cx="720080" cy="144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212" name="直接连接符 30"/>
            <p:cNvCxnSpPr/>
            <p:nvPr/>
          </p:nvCxnSpPr>
          <p:spPr>
            <a:xfrm rot="5400000">
              <a:off x="2573778" y="5175194"/>
              <a:ext cx="864096" cy="1080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50213" name="任意多边形 36"/>
            <p:cNvSpPr/>
            <p:nvPr/>
          </p:nvSpPr>
          <p:spPr>
            <a:xfrm>
              <a:off x="3048000" y="4760686"/>
              <a:ext cx="324152" cy="957943"/>
            </a:xfrm>
            <a:custGeom>
              <a:avLst/>
              <a:gdLst>
                <a:gd name="txL" fmla="*/ 0 w 324152"/>
                <a:gd name="txT" fmla="*/ 0 h 957943"/>
                <a:gd name="txR" fmla="*/ 324152 w 324152"/>
                <a:gd name="txB" fmla="*/ 957943 h 957943"/>
              </a:gdLst>
              <a:ahLst/>
              <a:cxnLst>
                <a:cxn ang="0">
                  <a:pos x="116114" y="0"/>
                </a:cxn>
                <a:cxn ang="0">
                  <a:pos x="304800" y="566057"/>
                </a:cxn>
                <a:cxn ang="0">
                  <a:pos x="0" y="957943"/>
                </a:cxn>
              </a:cxnLst>
              <a:rect l="txL" t="txT" r="txR" b="txB"/>
              <a:pathLst>
                <a:path w="324152" h="957943">
                  <a:moveTo>
                    <a:pt x="116114" y="0"/>
                  </a:moveTo>
                  <a:cubicBezTo>
                    <a:pt x="220133" y="203200"/>
                    <a:pt x="324152" y="406400"/>
                    <a:pt x="304800" y="566057"/>
                  </a:cubicBezTo>
                  <a:cubicBezTo>
                    <a:pt x="285448" y="725714"/>
                    <a:pt x="142724" y="841828"/>
                    <a:pt x="0" y="957943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欧拉公式的证明</a:t>
            </a:r>
            <a:endParaRPr lang="zh-CN" altLang="en-US"/>
          </a:p>
        </p:txBody>
      </p:sp>
      <p:sp>
        <p:nvSpPr>
          <p:cNvPr id="52226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 </a:t>
            </a:r>
            <a:r>
              <a:rPr lang="en-US" altLang="zh-CN">
                <a:solidFill>
                  <a:schemeClr val="folHlink"/>
                </a:solidFill>
              </a:rPr>
              <a:t>(1) </a:t>
            </a:r>
            <a:r>
              <a:rPr lang="zh-CN" altLang="en-US">
                <a:solidFill>
                  <a:schemeClr val="folHlink"/>
                </a:solidFill>
              </a:rPr>
              <a:t>若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是一个孤立点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则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=1,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=0,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=1</a:t>
            </a:r>
            <a:r>
              <a:rPr lang="zh-CN" altLang="en-US">
                <a:solidFill>
                  <a:schemeClr val="folHlink"/>
                </a:solidFill>
              </a:rPr>
              <a:t>，</a:t>
            </a:r>
            <a:endParaRPr lang="zh-CN" altLang="en-US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               故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=2</a:t>
            </a:r>
            <a:r>
              <a:rPr lang="zh-CN" altLang="en-US">
                <a:solidFill>
                  <a:schemeClr val="folHlink"/>
                </a:solidFill>
              </a:rPr>
              <a:t>成立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zh-CN" altLang="en-US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folHlink"/>
                </a:solidFill>
              </a:rPr>
              <a:t>(2) </a:t>
            </a:r>
            <a:r>
              <a:rPr lang="zh-CN" altLang="en-US">
                <a:solidFill>
                  <a:schemeClr val="folHlink"/>
                </a:solidFill>
              </a:rPr>
              <a:t>若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是一条边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当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=2,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=1,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=1</a:t>
            </a:r>
            <a:r>
              <a:rPr lang="zh-CN" altLang="en-US">
                <a:solidFill>
                  <a:schemeClr val="folHlink"/>
                </a:solidFill>
              </a:rPr>
              <a:t>时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故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=2</a:t>
            </a:r>
            <a:r>
              <a:rPr lang="zh-CN" altLang="en-US">
                <a:solidFill>
                  <a:schemeClr val="folHlink"/>
                </a:solidFill>
              </a:rPr>
              <a:t>成立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en-US" altLang="zh-CN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folHlink"/>
                </a:solidFill>
              </a:rPr>
              <a:t>       </a:t>
            </a:r>
            <a:r>
              <a:rPr lang="zh-CN" altLang="en-US">
                <a:solidFill>
                  <a:schemeClr val="folHlink"/>
                </a:solidFill>
              </a:rPr>
              <a:t>当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=1,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=1,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=2</a:t>
            </a:r>
            <a:r>
              <a:rPr lang="zh-CN" altLang="en-US">
                <a:solidFill>
                  <a:schemeClr val="folHlink"/>
                </a:solidFill>
              </a:rPr>
              <a:t>时，</a:t>
            </a:r>
            <a:r>
              <a:rPr lang="en-US" altLang="zh-CN" i="1">
                <a:solidFill>
                  <a:schemeClr val="folHlink"/>
                </a:solidFill>
              </a:rPr>
              <a:t> n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>
                <a:solidFill>
                  <a:schemeClr val="folHlink"/>
                </a:solidFill>
              </a:rPr>
              <a:t>=2</a:t>
            </a:r>
            <a:r>
              <a:rPr lang="zh-CN" altLang="en-US">
                <a:solidFill>
                  <a:schemeClr val="folHlink"/>
                </a:solidFill>
              </a:rPr>
              <a:t>成立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en-US" altLang="zh-CN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folHlink"/>
                </a:solidFill>
              </a:rPr>
              <a:t>(3) </a:t>
            </a:r>
            <a:r>
              <a:rPr lang="zh-CN" altLang="en-US">
                <a:solidFill>
                  <a:schemeClr val="folHlink"/>
                </a:solidFill>
              </a:rPr>
              <a:t>设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是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条边时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欧拉公式成立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即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=2.</a:t>
            </a:r>
            <a:r>
              <a:rPr lang="zh-CN" altLang="en-US">
                <a:solidFill>
                  <a:schemeClr val="folHlink"/>
                </a:solidFill>
              </a:rPr>
              <a:t>下面考察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为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+1</a:t>
            </a:r>
            <a:r>
              <a:rPr lang="zh-CN" altLang="en-US">
                <a:solidFill>
                  <a:schemeClr val="folHlink"/>
                </a:solidFill>
              </a:rPr>
              <a:t>条边时的情况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en-US" altLang="zh-CN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在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条边的连通图上增加一条边，使它仍为连通图，</a:t>
            </a:r>
            <a:endParaRPr lang="zh-CN" altLang="en-US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只有两种情况：</a:t>
            </a:r>
            <a:endParaRPr lang="zh-CN" altLang="en-US">
              <a:solidFill>
                <a:schemeClr val="folHlink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</a:pPr>
            <a:endParaRPr lang="zh-CN" altLang="en-US"/>
          </a:p>
        </p:txBody>
      </p:sp>
      <p:sp>
        <p:nvSpPr>
          <p:cNvPr id="5222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欧拉公式的证明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3250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folHlink"/>
                </a:solidFill>
              </a:rPr>
              <a:t>(1)</a:t>
            </a:r>
            <a:r>
              <a:rPr lang="zh-CN" altLang="en-US">
                <a:solidFill>
                  <a:schemeClr val="folHlink"/>
                </a:solidFill>
              </a:rPr>
              <a:t>加上一个新结点</a:t>
            </a:r>
            <a:r>
              <a:rPr lang="en-US" altLang="zh-CN" i="1">
                <a:solidFill>
                  <a:schemeClr val="folHlink"/>
                </a:solidFill>
              </a:rPr>
              <a:t>Q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 </a:t>
            </a:r>
            <a:r>
              <a:rPr lang="en-US" altLang="zh-CN" i="1">
                <a:solidFill>
                  <a:schemeClr val="folHlink"/>
                </a:solidFill>
              </a:rPr>
              <a:t>Q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与图上的一结点</a:t>
            </a:r>
            <a:r>
              <a:rPr lang="en-US" altLang="zh-CN" i="1">
                <a:solidFill>
                  <a:schemeClr val="folHlink"/>
                </a:solidFill>
              </a:rPr>
              <a:t>Q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zh-CN" altLang="en-US">
                <a:solidFill>
                  <a:schemeClr val="folHlink"/>
                </a:solidFill>
              </a:rPr>
              <a:t>相连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此时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和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都增加</a:t>
            </a:r>
            <a:r>
              <a:rPr lang="en-US" altLang="zh-CN">
                <a:solidFill>
                  <a:schemeClr val="folHlink"/>
                </a:solidFill>
              </a:rPr>
              <a:t>1,</a:t>
            </a:r>
            <a:r>
              <a:rPr lang="zh-CN" altLang="en-US">
                <a:solidFill>
                  <a:schemeClr val="folHlink"/>
                </a:solidFill>
              </a:rPr>
              <a:t>而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不变，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故</a:t>
            </a:r>
            <a:r>
              <a:rPr lang="en-US" altLang="zh-CN">
                <a:solidFill>
                  <a:schemeClr val="folHlink"/>
                </a:solidFill>
              </a:rPr>
              <a:t>(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 i="1">
                <a:solidFill>
                  <a:schemeClr val="folHlink"/>
                </a:solidFill>
              </a:rPr>
              <a:t>+</a:t>
            </a:r>
            <a:r>
              <a:rPr lang="en-US" altLang="zh-CN">
                <a:solidFill>
                  <a:schemeClr val="folHlink"/>
                </a:solidFill>
              </a:rPr>
              <a:t>1)-(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+1)+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=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=2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folHlink"/>
                </a:solidFill>
              </a:rPr>
              <a:t>(2)</a:t>
            </a:r>
            <a:r>
              <a:rPr lang="zh-CN" altLang="en-US">
                <a:solidFill>
                  <a:schemeClr val="folHlink"/>
                </a:solidFill>
              </a:rPr>
              <a:t>用一条边连接图上的两已知点</a:t>
            </a:r>
            <a:r>
              <a:rPr lang="en-US" altLang="zh-CN" i="1">
                <a:solidFill>
                  <a:schemeClr val="folHlink"/>
                </a:solidFill>
              </a:rPr>
              <a:t>Q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zh-CN" altLang="en-US">
                <a:solidFill>
                  <a:schemeClr val="folHlink"/>
                </a:solidFill>
              </a:rPr>
              <a:t>和</a:t>
            </a:r>
            <a:r>
              <a:rPr lang="en-US" altLang="zh-CN" i="1">
                <a:solidFill>
                  <a:schemeClr val="folHlink"/>
                </a:solidFill>
              </a:rPr>
              <a:t>Q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此时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和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都增加</a:t>
            </a:r>
            <a:r>
              <a:rPr lang="en-US" altLang="zh-CN">
                <a:solidFill>
                  <a:schemeClr val="folHlink"/>
                </a:solidFill>
              </a:rPr>
              <a:t>1</a:t>
            </a:r>
            <a:r>
              <a:rPr lang="zh-CN" altLang="en-US">
                <a:solidFill>
                  <a:schemeClr val="folHlink"/>
                </a:solidFill>
              </a:rPr>
              <a:t>而结点数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zh-CN" altLang="en-US">
                <a:solidFill>
                  <a:schemeClr val="folHlink"/>
                </a:solidFill>
              </a:rPr>
              <a:t>未变，故 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-(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+1)+(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 i="1">
                <a:solidFill>
                  <a:schemeClr val="folHlink"/>
                </a:solidFill>
              </a:rPr>
              <a:t>+</a:t>
            </a:r>
            <a:r>
              <a:rPr lang="en-US" altLang="zh-CN">
                <a:solidFill>
                  <a:schemeClr val="folHlink"/>
                </a:solidFill>
              </a:rPr>
              <a:t>1)=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+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i="1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=2  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5325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928688" y="4341813"/>
          <a:ext cx="2363787" cy="25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811145" imgH="3081655" progId="Visio.Drawing.11">
                  <p:embed/>
                </p:oleObj>
              </mc:Choice>
              <mc:Fallback>
                <p:oleObj name="" r:id="rId1" imgW="2811145" imgH="308165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8688" y="4341813"/>
                        <a:ext cx="2363787" cy="258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5643563" y="4500563"/>
          <a:ext cx="2568575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3059430" imgH="2867660" progId="Visio.Drawing.11">
                  <p:embed/>
                </p:oleObj>
              </mc:Choice>
              <mc:Fallback>
                <p:oleObj name="" r:id="rId3" imgW="3059430" imgH="286766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43563" y="4500563"/>
                        <a:ext cx="2568575" cy="240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欧拉公式的推广形式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4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2400" dirty="0">
                <a:solidFill>
                  <a:srgbClr val="FF0000"/>
                </a:solidFill>
              </a:rPr>
              <a:t>欧拉公式（定理</a:t>
            </a:r>
            <a:r>
              <a:rPr lang="en-US" altLang="zh-CN" sz="2400" dirty="0">
                <a:solidFill>
                  <a:srgbClr val="FF0000"/>
                </a:solidFill>
              </a:rPr>
              <a:t>11.7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/>
              <a:t>: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设</a:t>
            </a:r>
            <a:r>
              <a:rPr lang="en-US" altLang="zh-CN" sz="2400" dirty="0"/>
              <a:t>G</a:t>
            </a:r>
            <a:r>
              <a:rPr lang="zh-CN" altLang="en-US" sz="2400" dirty="0"/>
              <a:t>是平面图</a:t>
            </a:r>
            <a:r>
              <a:rPr lang="en-US" altLang="zh-CN" sz="2400" dirty="0"/>
              <a:t>, </a:t>
            </a:r>
            <a:r>
              <a:rPr lang="zh-CN" altLang="en-US" sz="2400" dirty="0"/>
              <a:t>则</a:t>
            </a:r>
            <a:r>
              <a:rPr lang="en-US" altLang="zh-CN" sz="2400" i="1" dirty="0" err="1"/>
              <a:t>n</a:t>
            </a:r>
            <a:r>
              <a:rPr lang="en-US" altLang="zh-CN" sz="2400" dirty="0" err="1"/>
              <a:t>-</a:t>
            </a:r>
            <a:r>
              <a:rPr lang="en-US" altLang="zh-CN" sz="2400" i="1" dirty="0" err="1"/>
              <a:t>m</a:t>
            </a:r>
            <a:r>
              <a:rPr lang="en-US" altLang="zh-CN" sz="2400" dirty="0" err="1"/>
              <a:t>+</a:t>
            </a:r>
            <a:r>
              <a:rPr lang="en-US" altLang="zh-CN" sz="2400" i="1" dirty="0" err="1"/>
              <a:t>r</a:t>
            </a:r>
            <a:r>
              <a:rPr lang="en-US" altLang="zh-CN" sz="2400" dirty="0"/>
              <a:t>=</a:t>
            </a:r>
            <a:r>
              <a:rPr lang="en-US" altLang="zh-CN" sz="2400" i="1" dirty="0"/>
              <a:t>p+1</a:t>
            </a:r>
            <a:endParaRPr lang="en-US" altLang="zh-CN" sz="2400" i="1" dirty="0"/>
          </a:p>
          <a:p>
            <a:pPr>
              <a:buNone/>
            </a:pPr>
            <a:r>
              <a:rPr lang="zh-CN" altLang="en-US" sz="2400" dirty="0"/>
              <a:t>   其中</a:t>
            </a:r>
            <a:r>
              <a:rPr lang="en-US" altLang="zh-CN" sz="2400" i="1" dirty="0"/>
              <a:t>r</a:t>
            </a:r>
            <a:r>
              <a:rPr lang="zh-CN" altLang="en-US" sz="2400" dirty="0"/>
              <a:t>是</a:t>
            </a:r>
            <a:r>
              <a:rPr lang="en-US" altLang="zh-CN" sz="2400" dirty="0"/>
              <a:t>G</a:t>
            </a:r>
            <a:r>
              <a:rPr lang="zh-CN" altLang="en-US" sz="2400" dirty="0"/>
              <a:t>的面数</a:t>
            </a:r>
            <a:r>
              <a:rPr lang="en-US" altLang="zh-CN" sz="2400" dirty="0"/>
              <a:t>, </a:t>
            </a:r>
            <a:r>
              <a:rPr lang="en-US" altLang="zh-CN" sz="2400" i="1" dirty="0"/>
              <a:t>p</a:t>
            </a:r>
            <a:r>
              <a:rPr lang="zh-CN" altLang="en-US" sz="2400" dirty="0"/>
              <a:t>是</a:t>
            </a:r>
            <a:r>
              <a:rPr lang="en-US" altLang="zh-CN" sz="2400" dirty="0"/>
              <a:t>G</a:t>
            </a:r>
            <a:r>
              <a:rPr lang="zh-CN" altLang="en-US" sz="2400" dirty="0"/>
              <a:t>的连通分支数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证</a:t>
            </a:r>
            <a:r>
              <a:rPr lang="zh-CN" altLang="en-US" sz="2400" dirty="0"/>
              <a:t>  设</a:t>
            </a:r>
            <a:r>
              <a:rPr lang="en-US" altLang="zh-CN" sz="2400" dirty="0"/>
              <a:t>G</a:t>
            </a:r>
            <a:r>
              <a:rPr lang="zh-CN" altLang="en-US" sz="2400" dirty="0"/>
              <a:t>的连通分支为</a:t>
            </a:r>
            <a:r>
              <a:rPr lang="en-US" altLang="zh-CN" sz="2400" dirty="0"/>
              <a:t>G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</a:t>
            </a:r>
            <a:r>
              <a:rPr lang="en-US" altLang="zh-CN" sz="2400" dirty="0" err="1"/>
              <a:t>G</a:t>
            </a:r>
            <a:r>
              <a:rPr lang="en-US" altLang="zh-CN" sz="2400" i="1" baseline="-25000" dirty="0" err="1"/>
              <a:t>p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n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m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i</a:t>
            </a:r>
            <a:r>
              <a:rPr lang="zh-CN" altLang="en-US" sz="2400" dirty="0"/>
              <a:t>为</a:t>
            </a:r>
            <a:r>
              <a:rPr lang="en-US" altLang="zh-CN" sz="2400" i="1" dirty="0" err="1"/>
              <a:t>G</a:t>
            </a:r>
            <a:r>
              <a:rPr lang="en-US" altLang="zh-CN" sz="2400" i="1" baseline="-25000" dirty="0" err="1"/>
              <a:t>i</a:t>
            </a:r>
            <a:r>
              <a:rPr lang="zh-CN" altLang="en-US" sz="2400" dirty="0"/>
              <a:t>的顶点数、边数和面数</a:t>
            </a:r>
            <a:r>
              <a:rPr lang="en-US" altLang="zh-CN" sz="2400" dirty="0"/>
              <a:t>,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=1,2, …,</a:t>
            </a:r>
            <a:r>
              <a:rPr lang="en-US" altLang="zh-CN" sz="2400" i="1" dirty="0"/>
              <a:t>p</a:t>
            </a:r>
            <a:r>
              <a:rPr lang="en-US" altLang="zh-CN" sz="2400" dirty="0"/>
              <a:t>.</a:t>
            </a:r>
            <a:r>
              <a:rPr lang="zh-CN" altLang="en-US" sz="2400" dirty="0"/>
              <a:t>由欧拉公式得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      </a:t>
            </a:r>
            <a:r>
              <a:rPr lang="en-US" altLang="zh-CN" sz="2400" i="1" dirty="0" err="1"/>
              <a:t>n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-</a:t>
            </a:r>
            <a:r>
              <a:rPr lang="en-US" altLang="zh-CN" sz="2400" i="1" dirty="0" err="1"/>
              <a:t>m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+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=2,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=1,2, …,</a:t>
            </a:r>
            <a:r>
              <a:rPr lang="en-US" altLang="zh-CN" sz="2400" i="1" dirty="0"/>
              <a:t>p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又</a:t>
            </a:r>
            <a:endParaRPr lang="zh-CN" altLang="en-US" sz="2400" dirty="0"/>
          </a:p>
        </p:txBody>
      </p:sp>
      <p:sp>
        <p:nvSpPr>
          <p:cNvPr id="5427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1254125" y="4203700"/>
          <a:ext cx="50942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1" imgW="2413000" imgH="444500" progId="Equation.3">
                  <p:embed/>
                </p:oleObj>
              </mc:Choice>
              <mc:Fallback>
                <p:oleObj name="" r:id="rId1" imgW="24130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4125" y="4203700"/>
                        <a:ext cx="5094288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TextBox 6"/>
          <p:cNvSpPr txBox="1"/>
          <p:nvPr/>
        </p:nvSpPr>
        <p:spPr>
          <a:xfrm>
            <a:off x="6084888" y="4437063"/>
            <a:ext cx="283273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因为外部面重复加了</a:t>
            </a:r>
            <a:r>
              <a:rPr lang="en-US" altLang="zh-CN" sz="180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zh-CN" altLang="en-US" sz="180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次</a:t>
            </a:r>
            <a:r>
              <a:rPr lang="en-US" altLang="zh-CN" sz="180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zh-CN" altLang="en-US" sz="1800">
              <a:solidFill>
                <a:srgbClr val="FF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6898" y="5219446"/>
            <a:ext cx="8786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buClrTx/>
              <a:buSzTx/>
              <a:buFontTx/>
              <a:defRPr/>
            </a:pPr>
            <a:r>
              <a:rPr kumimoji="0" lang="zh-CN" altLang="en-US" sz="2400" kern="1200" cap="none" spc="0" normalizeH="0" baseline="0" noProof="0" dirty="0">
                <a:latin typeface="+mn-ea"/>
                <a:ea typeface="+mn-ea"/>
                <a:cs typeface="+mn-cs"/>
              </a:rPr>
              <a:t>于是</a:t>
            </a:r>
            <a:endParaRPr kumimoji="0" lang="zh-CN" altLang="en-US" sz="2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54280" name="Object 3"/>
          <p:cNvGraphicFramePr>
            <a:graphicFrameLocks noChangeAspect="1"/>
          </p:cNvGraphicFramePr>
          <p:nvPr/>
        </p:nvGraphicFramePr>
        <p:xfrm>
          <a:off x="1701800" y="5000625"/>
          <a:ext cx="598011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" r:id="rId3" imgW="2832100" imgH="673100" progId="Equation.3">
                  <p:embed/>
                </p:oleObj>
              </mc:Choice>
              <mc:Fallback>
                <p:oleObj name="" r:id="rId3" imgW="2832100" imgH="673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1800" y="5000625"/>
                        <a:ext cx="5980113" cy="142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78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sz="4000">
                <a:solidFill>
                  <a:srgbClr val="FF0000"/>
                </a:solidFill>
              </a:rPr>
              <a:t>课堂测试一：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56322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/>
              <a:t>例  一个连通平面图有</a:t>
            </a:r>
            <a:r>
              <a:rPr lang="en-US" altLang="zh-CN"/>
              <a:t>30</a:t>
            </a:r>
            <a:r>
              <a:rPr lang="zh-CN" altLang="en-US"/>
              <a:t>条边，其平面嵌入把平面分成</a:t>
            </a:r>
            <a:r>
              <a:rPr lang="en-US" altLang="zh-CN"/>
              <a:t>20</a:t>
            </a:r>
            <a:r>
              <a:rPr lang="zh-CN" altLang="en-US"/>
              <a:t>个面，则这个图有多少个顶点？如果只是平面图的话，结论又如何？</a:t>
            </a:r>
            <a:endParaRPr lang="zh-CN" altLang="en-US"/>
          </a:p>
        </p:txBody>
      </p:sp>
      <p:sp>
        <p:nvSpPr>
          <p:cNvPr id="56323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11.8</a:t>
            </a:r>
            <a:endParaRPr lang="zh-CN" altLang="en-US"/>
          </a:p>
        </p:txBody>
      </p:sp>
      <p:sp>
        <p:nvSpPr>
          <p:cNvPr id="58370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11.8: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是连通平面图</a:t>
            </a:r>
            <a:r>
              <a:rPr lang="en-US" altLang="zh-CN"/>
              <a:t>, G</a:t>
            </a:r>
            <a:r>
              <a:rPr lang="zh-CN" altLang="en-US"/>
              <a:t>的各面的次数至少是</a:t>
            </a:r>
            <a:r>
              <a:rPr lang="en-US" altLang="zh-CN" i="1"/>
              <a:t>l(</a:t>
            </a:r>
            <a:r>
              <a:rPr lang="zh-CN" altLang="en-US" i="1"/>
              <a:t>≥</a:t>
            </a:r>
            <a:r>
              <a:rPr lang="en-US" altLang="zh-CN" i="1"/>
              <a:t>3), </a:t>
            </a:r>
            <a:r>
              <a:rPr lang="zh-CN" altLang="en-US"/>
              <a:t>则</a:t>
            </a:r>
            <a:r>
              <a:rPr lang="en-US" altLang="zh-CN" i="1"/>
              <a:t>m</a:t>
            </a:r>
            <a:r>
              <a:rPr lang="en-US" altLang="zh-CN"/>
              <a:t>≤</a:t>
            </a:r>
            <a:r>
              <a:rPr lang="en-US" altLang="zh-CN">
                <a:sym typeface="+mn-ea"/>
              </a:rPr>
              <a:t>(</a:t>
            </a:r>
            <a:r>
              <a:rPr lang="en-US" altLang="zh-CN" i="1">
                <a:sym typeface="+mn-ea"/>
              </a:rPr>
              <a:t>n</a:t>
            </a:r>
            <a:r>
              <a:rPr lang="en-US" altLang="zh-CN">
                <a:sym typeface="+mn-ea"/>
              </a:rPr>
              <a:t>-2)</a:t>
            </a:r>
            <a:r>
              <a:rPr lang="en-US" altLang="zh-CN" i="1"/>
              <a:t>l/(l-2)</a:t>
            </a:r>
            <a:endParaRPr lang="en-US" altLang="zh-CN" i="1"/>
          </a:p>
          <a:p>
            <a:pPr>
              <a:buNone/>
            </a:pPr>
            <a:r>
              <a:rPr lang="en-US" altLang="zh-CN" i="1"/>
              <a:t> </a:t>
            </a:r>
            <a:r>
              <a:rPr lang="zh-CN" altLang="en-US">
                <a:solidFill>
                  <a:srgbClr val="FF0000"/>
                </a:solidFill>
              </a:rPr>
              <a:t>证</a:t>
            </a:r>
            <a:r>
              <a:rPr lang="zh-CN" altLang="en-US"/>
              <a:t>  </a:t>
            </a:r>
            <a:r>
              <a:rPr lang="en-US" altLang="zh-CN" i="1"/>
              <a:t>r</a:t>
            </a:r>
            <a:r>
              <a:rPr lang="en-US" altLang="zh-CN"/>
              <a:t>=2+</a:t>
            </a:r>
            <a:r>
              <a:rPr lang="en-US" altLang="zh-CN" i="1"/>
              <a:t>m</a:t>
            </a:r>
            <a:r>
              <a:rPr lang="en-US" altLang="zh-CN"/>
              <a:t>-</a:t>
            </a:r>
            <a:r>
              <a:rPr lang="en-US" altLang="zh-CN" i="1"/>
              <a:t>n</a:t>
            </a:r>
            <a:endParaRPr lang="en-US" altLang="zh-CN" i="1"/>
          </a:p>
          <a:p>
            <a:endParaRPr lang="zh-CN" altLang="en-US"/>
          </a:p>
        </p:txBody>
      </p:sp>
      <p:sp>
        <p:nvSpPr>
          <p:cNvPr id="5837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8373" name="Object 2"/>
          <p:cNvGraphicFramePr>
            <a:graphicFrameLocks noChangeAspect="1"/>
          </p:cNvGraphicFramePr>
          <p:nvPr/>
        </p:nvGraphicFramePr>
        <p:xfrm>
          <a:off x="850900" y="3043238"/>
          <a:ext cx="5524500" cy="182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" r:id="rId1" imgW="2616200" imgH="863600" progId="Equation.3">
                  <p:embed/>
                </p:oleObj>
              </mc:Choice>
              <mc:Fallback>
                <p:oleObj name="" r:id="rId1" imgW="2616200" imgH="863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0900" y="3043238"/>
                        <a:ext cx="5524500" cy="182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TextBox 7"/>
          <p:cNvSpPr txBox="1"/>
          <p:nvPr/>
        </p:nvSpPr>
        <p:spPr>
          <a:xfrm>
            <a:off x="468313" y="4797425"/>
            <a:ext cx="8351837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11.9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设平面图</a:t>
            </a:r>
            <a:r>
              <a:rPr lang="en-US" altLang="zh-CN"/>
              <a:t>G</a:t>
            </a:r>
            <a:r>
              <a:rPr lang="zh-CN" altLang="en-US"/>
              <a:t>有</a:t>
            </a:r>
            <a:r>
              <a:rPr lang="en-US" altLang="zh-CN" i="1"/>
              <a:t>p</a:t>
            </a:r>
            <a:r>
              <a:rPr lang="zh-CN" altLang="en-US"/>
              <a:t>个连通分支</a:t>
            </a:r>
            <a:r>
              <a:rPr lang="en-US" altLang="zh-CN"/>
              <a:t>, G</a:t>
            </a:r>
            <a:r>
              <a:rPr lang="zh-CN" altLang="en-US"/>
              <a:t>的各面的次数至少是</a:t>
            </a:r>
            <a:r>
              <a:rPr lang="en-US" altLang="zh-CN" i="1"/>
              <a:t>l(</a:t>
            </a:r>
            <a:r>
              <a:rPr lang="zh-CN" altLang="en-US" i="1"/>
              <a:t>≥</a:t>
            </a:r>
            <a:r>
              <a:rPr lang="en-US" altLang="zh-CN" i="1"/>
              <a:t>3), </a:t>
            </a:r>
            <a:r>
              <a:rPr lang="zh-CN" altLang="en-US"/>
              <a:t>则</a:t>
            </a:r>
            <a:endParaRPr lang="zh-CN" altLang="en-US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58375" name="Object 3"/>
          <p:cNvGraphicFramePr>
            <a:graphicFrameLocks noChangeAspect="1"/>
          </p:cNvGraphicFramePr>
          <p:nvPr/>
        </p:nvGraphicFramePr>
        <p:xfrm>
          <a:off x="2286000" y="5648325"/>
          <a:ext cx="265588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" r:id="rId3" imgW="1256665" imgH="406400" progId="Equation.3">
                  <p:embed/>
                </p:oleObj>
              </mc:Choice>
              <mc:Fallback>
                <p:oleObj name="" r:id="rId3" imgW="1256665" imgH="406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5648325"/>
                        <a:ext cx="2655888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4" grpId="0"/>
      <p:bldP spid="5837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11.8</a:t>
            </a:r>
            <a:r>
              <a:rPr lang="zh-CN" altLang="en-US"/>
              <a:t>的应用举例</a:t>
            </a:r>
            <a:endParaRPr lang="zh-CN" altLang="en-US"/>
          </a:p>
        </p:txBody>
      </p:sp>
      <p:sp>
        <p:nvSpPr>
          <p:cNvPr id="59394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lang="zh-CN" altLang="en-US"/>
              <a:t> 例 证明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en-US" altLang="zh-CN" baseline="-25000"/>
              <a:t>3,3</a:t>
            </a:r>
            <a:r>
              <a:rPr lang="zh-CN" altLang="en-US"/>
              <a:t>都不是平面图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（用定理</a:t>
            </a:r>
            <a:r>
              <a:rPr lang="en-US" altLang="zh-CN">
                <a:solidFill>
                  <a:srgbClr val="FF0000"/>
                </a:solidFill>
              </a:rPr>
              <a:t>11.8</a:t>
            </a:r>
            <a:r>
              <a:rPr lang="zh-CN" altLang="en-US">
                <a:solidFill>
                  <a:srgbClr val="FF0000"/>
                </a:solidFill>
              </a:rPr>
              <a:t>来证明）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证</a:t>
            </a:r>
            <a:r>
              <a:rPr lang="zh-CN" altLang="en-US">
                <a:solidFill>
                  <a:schemeClr val="tx2"/>
                </a:solidFill>
              </a:rPr>
              <a:t>  假设</a:t>
            </a:r>
            <a:r>
              <a:rPr lang="en-US" altLang="zh-CN">
                <a:solidFill>
                  <a:schemeClr val="tx2"/>
                </a:solidFill>
              </a:rPr>
              <a:t>K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en-US" altLang="zh-CN">
                <a:solidFill>
                  <a:schemeClr val="tx2"/>
                </a:solidFill>
              </a:rPr>
              <a:t>K</a:t>
            </a:r>
            <a:r>
              <a:rPr lang="en-US" altLang="zh-CN" baseline="-25000">
                <a:solidFill>
                  <a:schemeClr val="tx2"/>
                </a:solidFill>
              </a:rPr>
              <a:t>3,3</a:t>
            </a:r>
            <a:r>
              <a:rPr lang="zh-CN" altLang="en-US">
                <a:solidFill>
                  <a:schemeClr val="tx2"/>
                </a:solidFill>
              </a:rPr>
              <a:t>都是平面图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2"/>
                </a:solidFill>
              </a:rPr>
              <a:t>(1) K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zh-CN" altLang="en-US">
                <a:solidFill>
                  <a:schemeClr val="tx2"/>
                </a:solidFill>
              </a:rPr>
              <a:t>是简单图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所以</a:t>
            </a:r>
            <a:r>
              <a:rPr lang="en-US" altLang="zh-CN" i="1">
                <a:solidFill>
                  <a:schemeClr val="tx2"/>
                </a:solidFill>
              </a:rPr>
              <a:t>l =</a:t>
            </a:r>
            <a:r>
              <a:rPr lang="en-US" altLang="zh-CN">
                <a:solidFill>
                  <a:schemeClr val="tx2"/>
                </a:solidFill>
              </a:rPr>
              <a:t>3</a:t>
            </a:r>
            <a:r>
              <a:rPr lang="en-US" altLang="zh-CN" i="1">
                <a:solidFill>
                  <a:schemeClr val="tx2"/>
                </a:solidFill>
              </a:rPr>
              <a:t>,m</a:t>
            </a:r>
            <a:r>
              <a:rPr lang="en-US" altLang="zh-CN">
                <a:solidFill>
                  <a:schemeClr val="tx2"/>
                </a:solidFill>
              </a:rPr>
              <a:t>=10,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=5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altLang="zh-CN" i="1">
                <a:solidFill>
                  <a:schemeClr val="tx2"/>
                </a:solidFill>
              </a:rPr>
              <a:t>   m</a:t>
            </a:r>
            <a:r>
              <a:rPr lang="pt-BR" altLang="zh-CN">
                <a:solidFill>
                  <a:schemeClr val="tx2"/>
                </a:solidFill>
              </a:rPr>
              <a:t>=10≤(</a:t>
            </a:r>
            <a:r>
              <a:rPr lang="pt-BR" altLang="zh-CN" i="1">
                <a:solidFill>
                  <a:schemeClr val="tx2"/>
                </a:solidFill>
              </a:rPr>
              <a:t>n</a:t>
            </a:r>
            <a:r>
              <a:rPr lang="pt-BR" altLang="zh-CN">
                <a:solidFill>
                  <a:schemeClr val="tx2"/>
                </a:solidFill>
              </a:rPr>
              <a:t>-2)</a:t>
            </a:r>
            <a:r>
              <a:rPr lang="pt-BR" altLang="zh-CN" i="1">
                <a:solidFill>
                  <a:schemeClr val="tx2"/>
                </a:solidFill>
              </a:rPr>
              <a:t>l/(l-2)</a:t>
            </a:r>
            <a:r>
              <a:rPr lang="pt-BR" altLang="zh-CN">
                <a:solidFill>
                  <a:schemeClr val="tx2"/>
                </a:solidFill>
              </a:rPr>
              <a:t>=9,</a:t>
            </a:r>
            <a:r>
              <a:rPr lang="pt-BR" altLang="zh-CN" i="1">
                <a:solidFill>
                  <a:schemeClr val="tx2"/>
                </a:solidFill>
              </a:rPr>
              <a:t> </a:t>
            </a:r>
            <a:r>
              <a:rPr lang="zh-CN" altLang="pt-BR">
                <a:solidFill>
                  <a:schemeClr val="tx2"/>
                </a:solidFill>
              </a:rPr>
              <a:t>矛盾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  <a:endParaRPr lang="pt-BR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2"/>
                </a:solidFill>
              </a:rPr>
              <a:t>(2) K</a:t>
            </a:r>
            <a:r>
              <a:rPr lang="en-US" altLang="zh-CN" baseline="-25000">
                <a:solidFill>
                  <a:schemeClr val="tx2"/>
                </a:solidFill>
              </a:rPr>
              <a:t>3,3</a:t>
            </a:r>
            <a:r>
              <a:rPr lang="zh-CN" altLang="en-US">
                <a:solidFill>
                  <a:schemeClr val="tx2"/>
                </a:solidFill>
              </a:rPr>
              <a:t>是二部图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无奇圈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所以</a:t>
            </a:r>
            <a:r>
              <a:rPr lang="en-US" altLang="zh-CN" i="1">
                <a:solidFill>
                  <a:srgbClr val="FF00FF"/>
                </a:solidFill>
              </a:rPr>
              <a:t>l=</a:t>
            </a:r>
            <a:r>
              <a:rPr lang="en-US" altLang="zh-CN">
                <a:solidFill>
                  <a:srgbClr val="FF00FF"/>
                </a:solidFill>
              </a:rPr>
              <a:t>4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 m</a:t>
            </a:r>
            <a:r>
              <a:rPr lang="en-US" altLang="zh-CN">
                <a:solidFill>
                  <a:schemeClr val="tx2"/>
                </a:solidFill>
              </a:rPr>
              <a:t>=9,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=6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altLang="zh-CN">
                <a:solidFill>
                  <a:schemeClr val="tx2"/>
                </a:solidFill>
              </a:rPr>
              <a:t>     </a:t>
            </a:r>
            <a:r>
              <a:rPr lang="pt-BR" altLang="zh-CN" i="1">
                <a:solidFill>
                  <a:schemeClr val="tx2"/>
                </a:solidFill>
              </a:rPr>
              <a:t>m</a:t>
            </a:r>
            <a:r>
              <a:rPr lang="pt-BR" altLang="zh-CN">
                <a:solidFill>
                  <a:schemeClr val="tx2"/>
                </a:solidFill>
              </a:rPr>
              <a:t>=</a:t>
            </a:r>
            <a:r>
              <a:rPr lang="en-US" altLang="zh-CN">
                <a:solidFill>
                  <a:schemeClr val="tx2"/>
                </a:solidFill>
              </a:rPr>
              <a:t>9</a:t>
            </a:r>
            <a:r>
              <a:rPr lang="pt-BR" altLang="zh-CN">
                <a:solidFill>
                  <a:schemeClr val="tx2"/>
                </a:solidFill>
              </a:rPr>
              <a:t>≤(</a:t>
            </a:r>
            <a:r>
              <a:rPr lang="pt-BR" altLang="zh-CN" i="1">
                <a:solidFill>
                  <a:schemeClr val="tx2"/>
                </a:solidFill>
              </a:rPr>
              <a:t>n</a:t>
            </a:r>
            <a:r>
              <a:rPr lang="pt-BR" altLang="zh-CN">
                <a:solidFill>
                  <a:schemeClr val="tx2"/>
                </a:solidFill>
              </a:rPr>
              <a:t>-2)</a:t>
            </a:r>
            <a:r>
              <a:rPr lang="pt-BR" altLang="zh-CN" i="1">
                <a:solidFill>
                  <a:schemeClr val="tx2"/>
                </a:solidFill>
              </a:rPr>
              <a:t>l/(l-2</a:t>
            </a:r>
            <a:r>
              <a:rPr lang="pt-BR" altLang="zh-CN">
                <a:solidFill>
                  <a:schemeClr val="tx2"/>
                </a:solidFill>
              </a:rPr>
              <a:t>)=(6-2)4/(4-2)=8</a:t>
            </a:r>
            <a:r>
              <a:rPr lang="pt-BR" altLang="zh-CN" i="1">
                <a:solidFill>
                  <a:schemeClr val="tx2"/>
                </a:solidFill>
              </a:rPr>
              <a:t>, </a:t>
            </a:r>
            <a:r>
              <a:rPr lang="zh-CN" altLang="pt-BR">
                <a:solidFill>
                  <a:schemeClr val="tx2"/>
                </a:solidFill>
              </a:rPr>
              <a:t>矛盾</a:t>
            </a:r>
            <a:r>
              <a:rPr lang="pt-BR" altLang="zh-CN">
                <a:solidFill>
                  <a:schemeClr val="tx2"/>
                </a:solidFill>
              </a:rPr>
              <a:t>.</a:t>
            </a:r>
            <a:endParaRPr lang="pt-BR" altLang="zh-CN" i="1">
              <a:solidFill>
                <a:schemeClr val="tx2"/>
              </a:solidFill>
            </a:endParaRPr>
          </a:p>
        </p:txBody>
      </p:sp>
      <p:sp>
        <p:nvSpPr>
          <p:cNvPr id="5939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11.10</a:t>
            </a:r>
            <a:endParaRPr lang="zh-CN" altLang="en-US"/>
          </a:p>
        </p:txBody>
      </p:sp>
      <p:sp>
        <p:nvSpPr>
          <p:cNvPr id="60418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11.10</a:t>
            </a:r>
            <a:r>
              <a:rPr lang="en-US" altLang="zh-CN"/>
              <a:t>: </a:t>
            </a:r>
            <a:r>
              <a:rPr lang="zh-CN" altLang="en-US"/>
              <a:t>设</a:t>
            </a:r>
            <a:r>
              <a:rPr lang="en-US" altLang="zh-CN" i="1"/>
              <a:t>n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3)</a:t>
            </a:r>
            <a:r>
              <a:rPr lang="zh-CN" altLang="en-US"/>
              <a:t>阶简单平面图</a:t>
            </a:r>
            <a:r>
              <a:rPr lang="en-US" altLang="zh-CN"/>
              <a:t>G</a:t>
            </a:r>
            <a:r>
              <a:rPr lang="zh-CN" altLang="en-US"/>
              <a:t>有</a:t>
            </a:r>
            <a:r>
              <a:rPr lang="en-US" altLang="zh-CN" i="1"/>
              <a:t>m</a:t>
            </a:r>
            <a:r>
              <a:rPr lang="zh-CN" altLang="en-US"/>
              <a:t>条边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m</a:t>
            </a:r>
            <a:r>
              <a:rPr lang="en-US" altLang="zh-CN"/>
              <a:t>≤3</a:t>
            </a:r>
            <a:r>
              <a:rPr lang="en-US" altLang="zh-CN" i="1"/>
              <a:t>n</a:t>
            </a:r>
            <a:r>
              <a:rPr lang="en-US" altLang="zh-CN"/>
              <a:t>-6. </a:t>
            </a:r>
            <a:endParaRPr lang="en-US" altLang="zh-CN"/>
          </a:p>
          <a:p>
            <a:pPr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>
                <a:solidFill>
                  <a:schemeClr val="tx2"/>
                </a:solidFill>
              </a:rPr>
              <a:t>: G</a:t>
            </a:r>
            <a:r>
              <a:rPr lang="zh-CN" altLang="en-US">
                <a:solidFill>
                  <a:schemeClr val="tx2"/>
                </a:solidFill>
              </a:rPr>
              <a:t>是简单图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所以</a:t>
            </a:r>
            <a:r>
              <a:rPr lang="en-US" altLang="zh-CN" i="1">
                <a:solidFill>
                  <a:schemeClr val="tx2"/>
                </a:solidFill>
              </a:rPr>
              <a:t>l </a:t>
            </a:r>
            <a:r>
              <a:rPr lang="zh-CN" altLang="en-US">
                <a:solidFill>
                  <a:schemeClr val="tx2"/>
                </a:solidFill>
              </a:rPr>
              <a:t>≥</a:t>
            </a:r>
            <a:r>
              <a:rPr lang="en-US" altLang="zh-CN">
                <a:solidFill>
                  <a:schemeClr val="tx2"/>
                </a:solidFill>
              </a:rPr>
              <a:t>3,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 i="1">
                <a:solidFill>
                  <a:schemeClr val="tx2"/>
                </a:solidFill>
              </a:rPr>
              <a:t>p</a:t>
            </a:r>
            <a:r>
              <a:rPr lang="zh-CN" altLang="en-US">
                <a:solidFill>
                  <a:schemeClr val="tx2"/>
                </a:solidFill>
              </a:rPr>
              <a:t>是</a:t>
            </a:r>
            <a:r>
              <a:rPr lang="en-US" altLang="zh-CN">
                <a:solidFill>
                  <a:schemeClr val="tx2"/>
                </a:solidFill>
              </a:rPr>
              <a:t>G</a:t>
            </a:r>
            <a:r>
              <a:rPr lang="zh-CN" altLang="en-US">
                <a:solidFill>
                  <a:schemeClr val="tx2"/>
                </a:solidFill>
              </a:rPr>
              <a:t>的连通分支数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i="1">
                <a:solidFill>
                  <a:schemeClr val="tx2"/>
                </a:solidFill>
              </a:rPr>
              <a:t>p</a:t>
            </a:r>
            <a:r>
              <a:rPr lang="zh-CN" altLang="en-US">
                <a:solidFill>
                  <a:schemeClr val="tx2"/>
                </a:solidFill>
              </a:rPr>
              <a:t>≥</a:t>
            </a:r>
            <a:r>
              <a:rPr lang="en-US" altLang="zh-CN">
                <a:solidFill>
                  <a:schemeClr val="tx2"/>
                </a:solidFill>
              </a:rPr>
              <a:t>1, 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en-US" altLang="zh-CN">
                <a:solidFill>
                  <a:schemeClr val="tx2"/>
                </a:solidFill>
              </a:rPr>
              <a:t>≤(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</a:t>
            </a:r>
            <a:r>
              <a:rPr lang="en-US" altLang="zh-CN" i="1">
                <a:solidFill>
                  <a:schemeClr val="tx2"/>
                </a:solidFill>
              </a:rPr>
              <a:t>p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r>
              <a:rPr lang="en-US" altLang="zh-CN" i="1">
                <a:solidFill>
                  <a:schemeClr val="tx2"/>
                </a:solidFill>
              </a:rPr>
              <a:t>l/(l-2)</a:t>
            </a:r>
            <a:r>
              <a:rPr lang="en-US" altLang="zh-CN">
                <a:solidFill>
                  <a:schemeClr val="tx2"/>
                </a:solidFill>
              </a:rPr>
              <a:t>≤3(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-2)</a:t>
            </a:r>
            <a:r>
              <a:rPr lang="en-US" altLang="zh-CN" i="1">
                <a:solidFill>
                  <a:schemeClr val="tx2"/>
                </a:solidFill>
              </a:rPr>
              <a:t>=</a:t>
            </a:r>
            <a:r>
              <a:rPr lang="en-US" altLang="zh-CN">
                <a:solidFill>
                  <a:schemeClr val="tx2"/>
                </a:solidFill>
              </a:rPr>
              <a:t>3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-6</a:t>
            </a:r>
            <a:r>
              <a:rPr lang="en-US" altLang="zh-CN" i="1">
                <a:solidFill>
                  <a:schemeClr val="tx2"/>
                </a:solidFill>
              </a:rPr>
              <a:t>,</a:t>
            </a:r>
            <a:endParaRPr lang="en-US" altLang="zh-CN" i="1">
              <a:solidFill>
                <a:schemeClr val="tx2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tx2"/>
                </a:solidFill>
              </a:rPr>
              <a:t>其中</a:t>
            </a:r>
            <a:r>
              <a:rPr lang="en-US" altLang="zh-CN" i="1">
                <a:solidFill>
                  <a:schemeClr val="tx2"/>
                </a:solidFill>
              </a:rPr>
              <a:t>l/(l-2)</a:t>
            </a:r>
            <a:r>
              <a:rPr lang="zh-CN" altLang="en-US">
                <a:solidFill>
                  <a:schemeClr val="tx2"/>
                </a:solidFill>
              </a:rPr>
              <a:t>在</a:t>
            </a:r>
            <a:r>
              <a:rPr lang="en-US" altLang="zh-CN" i="1">
                <a:solidFill>
                  <a:schemeClr val="tx2"/>
                </a:solidFill>
              </a:rPr>
              <a:t>l</a:t>
            </a:r>
            <a:r>
              <a:rPr lang="en-US" altLang="zh-CN">
                <a:solidFill>
                  <a:schemeClr val="tx2"/>
                </a:solidFill>
              </a:rPr>
              <a:t> =3</a:t>
            </a:r>
            <a:r>
              <a:rPr lang="zh-CN" altLang="en-US">
                <a:solidFill>
                  <a:schemeClr val="tx2"/>
                </a:solidFill>
              </a:rPr>
              <a:t>时达到最大值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endParaRPr lang="zh-CN" altLang="en-US"/>
          </a:p>
        </p:txBody>
      </p:sp>
      <p:sp>
        <p:nvSpPr>
          <p:cNvPr id="6042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7855" y="1549400"/>
            <a:ext cx="7759065" cy="3709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课后作业二：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设n(≥3)阶简单平面图G是二部图，有m条边，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m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与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n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的不等式是什么？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课后作业三：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五座房屋能否不带交叉地与3种设施相连接？为什么？</a:t>
            </a:r>
            <a:endParaRPr lang="zh-CN" altLang="en-US" sz="2400">
              <a:solidFill>
                <a:srgbClr val="FF0000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042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11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42" name="Rectangle 3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11.11</a:t>
            </a:r>
            <a:r>
              <a:rPr lang="en-US" altLang="zh-CN"/>
              <a:t>: </a:t>
            </a:r>
            <a:r>
              <a:rPr lang="zh-CN" altLang="en-US"/>
              <a:t>设</a:t>
            </a:r>
            <a:r>
              <a:rPr lang="en-US" altLang="zh-CN" i="1"/>
              <a:t>n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3)</a:t>
            </a:r>
            <a:r>
              <a:rPr lang="zh-CN" altLang="en-US"/>
              <a:t>阶简单极大平面图</a:t>
            </a:r>
            <a:r>
              <a:rPr lang="en-US" altLang="zh-CN"/>
              <a:t>G</a:t>
            </a:r>
            <a:r>
              <a:rPr lang="zh-CN" altLang="en-US"/>
              <a:t>有</a:t>
            </a:r>
            <a:r>
              <a:rPr lang="en-US" altLang="zh-CN" i="1"/>
              <a:t>m</a:t>
            </a:r>
            <a:r>
              <a:rPr lang="zh-CN" altLang="en-US"/>
              <a:t>条边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=3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-6</a:t>
            </a:r>
            <a:r>
              <a:rPr lang="en-US" altLang="zh-CN"/>
              <a:t>.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>
                <a:solidFill>
                  <a:schemeClr val="tx2"/>
                </a:solidFill>
              </a:rPr>
              <a:t>: G</a:t>
            </a:r>
            <a:r>
              <a:rPr lang="zh-CN" altLang="en-US">
                <a:solidFill>
                  <a:schemeClr val="tx2"/>
                </a:solidFill>
              </a:rPr>
              <a:t>是极大平面图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所以</a:t>
            </a:r>
            <a:endParaRPr lang="zh-CN" altLang="en-US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tx2"/>
                </a:solidFill>
              </a:rPr>
              <a:t>                  2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en-US" altLang="zh-CN">
                <a:solidFill>
                  <a:schemeClr val="tx2"/>
                </a:solidFill>
              </a:rPr>
              <a:t>=3</a:t>
            </a:r>
            <a:r>
              <a:rPr lang="en-US" altLang="zh-CN" i="1">
                <a:solidFill>
                  <a:schemeClr val="tx2"/>
                </a:solidFill>
              </a:rPr>
              <a:t>r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tx2"/>
                </a:solidFill>
              </a:rPr>
              <a:t>                  </a:t>
            </a:r>
            <a:r>
              <a:rPr lang="en-US" altLang="zh-CN" i="1">
                <a:solidFill>
                  <a:schemeClr val="tx2"/>
                </a:solidFill>
              </a:rPr>
              <a:t>r</a:t>
            </a:r>
            <a:r>
              <a:rPr lang="en-US" altLang="zh-CN">
                <a:solidFill>
                  <a:schemeClr val="tx2"/>
                </a:solidFill>
              </a:rPr>
              <a:t>=2+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en-US" altLang="zh-CN">
                <a:solidFill>
                  <a:schemeClr val="tx2"/>
                </a:solidFill>
              </a:rPr>
              <a:t>-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olidFill>
                  <a:schemeClr val="tx2"/>
                </a:solidFill>
              </a:rPr>
              <a:t>          </a:t>
            </a:r>
            <a:r>
              <a:rPr lang="zh-CN" altLang="en-US">
                <a:solidFill>
                  <a:schemeClr val="tx2"/>
                </a:solidFill>
              </a:rPr>
              <a:t>解得 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en-US" altLang="zh-CN">
                <a:solidFill>
                  <a:schemeClr val="tx2"/>
                </a:solidFill>
              </a:rPr>
              <a:t>=3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-6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C00000"/>
                </a:solidFill>
              </a:rPr>
              <a:t>注意：</a:t>
            </a:r>
            <a:r>
              <a:rPr lang="en-US" altLang="zh-CN" i="1"/>
              <a:t>m</a:t>
            </a:r>
            <a:r>
              <a:rPr lang="en-US" altLang="zh-CN"/>
              <a:t>=3</a:t>
            </a:r>
            <a:r>
              <a:rPr lang="en-US" altLang="zh-CN" i="1"/>
              <a:t>n</a:t>
            </a:r>
            <a:r>
              <a:rPr lang="en-US" altLang="zh-CN"/>
              <a:t>-6</a:t>
            </a:r>
            <a:r>
              <a:rPr lang="zh-CN" altLang="en-US"/>
              <a:t>是极大简单平面图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≥3</a:t>
            </a:r>
            <a:r>
              <a:rPr lang="zh-CN" altLang="en-US"/>
              <a:t>时</a:t>
            </a:r>
            <a:r>
              <a:rPr lang="en-US" altLang="zh-CN"/>
              <a:t>)</a:t>
            </a:r>
            <a:r>
              <a:rPr lang="zh-CN" altLang="en-US"/>
              <a:t>的</a:t>
            </a:r>
            <a:r>
              <a:rPr lang="zh-CN" altLang="en-US">
                <a:solidFill>
                  <a:schemeClr val="tx1"/>
                </a:solidFill>
              </a:rPr>
              <a:t>必要而非充分条件。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思考题：但当已知条件加上连通性，则充分性可证！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042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11.2</a:t>
            </a:r>
            <a:endParaRPr lang="zh-CN" altLang="en-US"/>
          </a:p>
        </p:txBody>
      </p:sp>
      <p:sp>
        <p:nvSpPr>
          <p:cNvPr id="62466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11.12</a:t>
            </a:r>
            <a:r>
              <a:rPr lang="en-US" altLang="zh-CN"/>
              <a:t>: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是简单平面图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δ(G)</a:t>
            </a:r>
            <a:r>
              <a:rPr lang="zh-CN" altLang="en-US"/>
              <a:t>≤</a:t>
            </a:r>
            <a:r>
              <a:rPr lang="en-US" altLang="zh-CN"/>
              <a:t>5.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若顶点数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≤6,</a:t>
            </a:r>
            <a:r>
              <a:rPr lang="zh-CN" altLang="en-US">
                <a:solidFill>
                  <a:schemeClr val="tx2"/>
                </a:solidFill>
              </a:rPr>
              <a:t>则结论显然成立。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当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</a:t>
            </a:r>
            <a:r>
              <a:rPr lang="en-US" altLang="zh-CN">
                <a:solidFill>
                  <a:schemeClr val="tx2"/>
                </a:solidFill>
              </a:rPr>
              <a:t>7</a:t>
            </a:r>
            <a:r>
              <a:rPr lang="zh-CN" altLang="en-US">
                <a:solidFill>
                  <a:schemeClr val="tx2"/>
                </a:solidFill>
              </a:rPr>
              <a:t>时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使用</a:t>
            </a:r>
            <a:r>
              <a:rPr lang="zh-CN" altLang="en-US">
                <a:solidFill>
                  <a:srgbClr val="FF00FF"/>
                </a:solidFill>
              </a:rPr>
              <a:t>反证法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>
                <a:solidFill>
                  <a:schemeClr val="tx2"/>
                </a:solidFill>
              </a:rPr>
              <a:t>δ≥6, </a:t>
            </a:r>
            <a:r>
              <a:rPr lang="zh-CN" altLang="en-US">
                <a:solidFill>
                  <a:schemeClr val="tx2"/>
                </a:solidFill>
              </a:rPr>
              <a:t>则</a:t>
            </a:r>
            <a:endParaRPr lang="zh-CN" alt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pt-BR" altLang="zh-CN">
                <a:solidFill>
                  <a:schemeClr val="tx2"/>
                </a:solidFill>
              </a:rPr>
              <a:t>2</a:t>
            </a:r>
            <a:r>
              <a:rPr lang="pt-BR" altLang="zh-CN" i="1">
                <a:solidFill>
                  <a:schemeClr val="tx2"/>
                </a:solidFill>
              </a:rPr>
              <a:t>m</a:t>
            </a:r>
            <a:r>
              <a:rPr lang="pt-BR" altLang="zh-CN">
                <a:solidFill>
                  <a:schemeClr val="tx2"/>
                </a:solidFill>
              </a:rPr>
              <a:t>=Σ</a:t>
            </a:r>
            <a:r>
              <a:rPr lang="pt-BR" altLang="zh-CN" i="1">
                <a:solidFill>
                  <a:schemeClr val="tx2"/>
                </a:solidFill>
              </a:rPr>
              <a:t>d</a:t>
            </a:r>
            <a:r>
              <a:rPr lang="pt-BR" altLang="zh-CN">
                <a:solidFill>
                  <a:schemeClr val="tx2"/>
                </a:solidFill>
              </a:rPr>
              <a:t>(</a:t>
            </a:r>
            <a:r>
              <a:rPr lang="pt-BR" altLang="zh-CN" i="1">
                <a:solidFill>
                  <a:schemeClr val="tx2"/>
                </a:solidFill>
              </a:rPr>
              <a:t>v</a:t>
            </a:r>
            <a:r>
              <a:rPr lang="pt-BR" altLang="zh-CN">
                <a:solidFill>
                  <a:schemeClr val="tx2"/>
                </a:solidFill>
              </a:rPr>
              <a:t>)≥</a:t>
            </a:r>
            <a:r>
              <a:rPr lang="pt-BR" altLang="zh-CN" i="1">
                <a:solidFill>
                  <a:schemeClr val="tx2"/>
                </a:solidFill>
              </a:rPr>
              <a:t>n</a:t>
            </a:r>
            <a:r>
              <a:rPr lang="pt-BR" altLang="zh-CN">
                <a:solidFill>
                  <a:schemeClr val="tx2"/>
                </a:solidFill>
              </a:rPr>
              <a:t>δ≥6</a:t>
            </a:r>
            <a:r>
              <a:rPr lang="pt-BR" altLang="zh-CN" i="1">
                <a:solidFill>
                  <a:schemeClr val="tx2"/>
                </a:solidFill>
              </a:rPr>
              <a:t>n</a:t>
            </a:r>
            <a:r>
              <a:rPr lang="pt-BR" altLang="zh-CN">
                <a:solidFill>
                  <a:schemeClr val="tx2"/>
                </a:solidFill>
              </a:rPr>
              <a:t> ⇒ </a:t>
            </a:r>
            <a:r>
              <a:rPr lang="pt-BR" altLang="zh-CN" i="1">
                <a:solidFill>
                  <a:schemeClr val="tx2"/>
                </a:solidFill>
              </a:rPr>
              <a:t>m</a:t>
            </a:r>
            <a:r>
              <a:rPr lang="pt-BR" altLang="zh-CN">
                <a:solidFill>
                  <a:schemeClr val="tx2"/>
                </a:solidFill>
              </a:rPr>
              <a:t>≥3</a:t>
            </a:r>
            <a:r>
              <a:rPr lang="pt-BR" altLang="zh-CN" i="1">
                <a:solidFill>
                  <a:schemeClr val="tx2"/>
                </a:solidFill>
              </a:rPr>
              <a:t>n</a:t>
            </a:r>
            <a:endParaRPr lang="pt-BR" altLang="zh-CN" i="1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en-US" altLang="zh-CN">
                <a:solidFill>
                  <a:schemeClr val="tx2"/>
                </a:solidFill>
              </a:rPr>
              <a:t>≤3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-6 </a:t>
            </a:r>
            <a:r>
              <a:rPr lang="zh-CN" altLang="en-US">
                <a:solidFill>
                  <a:schemeClr val="tx2"/>
                </a:solidFill>
              </a:rPr>
              <a:t>矛盾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zh-CN" alt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>
                <a:solidFill>
                  <a:srgbClr val="FF0000"/>
                </a:solidFill>
              </a:rPr>
              <a:t>例  </a:t>
            </a:r>
            <a:r>
              <a:rPr lang="zh-CN" altLang="en-US"/>
              <a:t>试证</a:t>
            </a:r>
            <a:r>
              <a:rPr lang="en-US" altLang="zh-CN"/>
              <a:t>K</a:t>
            </a:r>
            <a:r>
              <a:rPr lang="en-US" altLang="zh-CN" i="1" baseline="-25000"/>
              <a:t>n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≥7)</a:t>
            </a:r>
            <a:r>
              <a:rPr lang="zh-CN" altLang="en-US"/>
              <a:t>是非平面图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rgbClr val="FF0000"/>
                </a:solidFill>
              </a:rPr>
              <a:t>证</a:t>
            </a:r>
            <a:r>
              <a:rPr lang="zh-CN" altLang="en-US">
                <a:solidFill>
                  <a:schemeClr val="tx2"/>
                </a:solidFill>
              </a:rPr>
              <a:t> </a:t>
            </a:r>
            <a:r>
              <a:rPr lang="en-US" altLang="zh-CN">
                <a:solidFill>
                  <a:schemeClr val="tx2"/>
                </a:solidFill>
              </a:rPr>
              <a:t>δ(K</a:t>
            </a:r>
            <a:r>
              <a:rPr lang="en-US" altLang="zh-CN" i="1" baseline="-25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)=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-1 ≥6, </a:t>
            </a:r>
            <a:r>
              <a:rPr lang="zh-CN" altLang="en-US">
                <a:solidFill>
                  <a:schemeClr val="tx2"/>
                </a:solidFill>
              </a:rPr>
              <a:t>由定理</a:t>
            </a:r>
            <a:r>
              <a:rPr lang="en-US" altLang="zh-CN">
                <a:solidFill>
                  <a:schemeClr val="tx2"/>
                </a:solidFill>
              </a:rPr>
              <a:t>11.12</a:t>
            </a:r>
            <a:r>
              <a:rPr lang="zh-CN" altLang="en-US">
                <a:solidFill>
                  <a:schemeClr val="tx2"/>
                </a:solidFill>
              </a:rPr>
              <a:t>可知</a:t>
            </a:r>
            <a:r>
              <a:rPr lang="en-US" altLang="zh-CN">
                <a:solidFill>
                  <a:schemeClr val="tx2"/>
                </a:solidFill>
              </a:rPr>
              <a:t>, K</a:t>
            </a:r>
            <a:r>
              <a:rPr lang="en-US" altLang="zh-CN" i="1" baseline="-25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≥7)</a:t>
            </a:r>
            <a:r>
              <a:rPr lang="zh-CN" altLang="en-US">
                <a:solidFill>
                  <a:schemeClr val="tx2"/>
                </a:solidFill>
              </a:rPr>
              <a:t>一定是非平面图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>
                <a:solidFill>
                  <a:schemeClr val="tx1"/>
                </a:solidFill>
              </a:rPr>
              <a:t>定理</a:t>
            </a:r>
            <a:r>
              <a:rPr lang="en-US" altLang="zh-CN">
                <a:solidFill>
                  <a:schemeClr val="tx1"/>
                </a:solidFill>
              </a:rPr>
              <a:t>11.12</a:t>
            </a:r>
            <a:r>
              <a:rPr lang="zh-CN" altLang="en-US">
                <a:solidFill>
                  <a:schemeClr val="tx1"/>
                </a:solidFill>
              </a:rPr>
              <a:t>在图的着色理论中居重要地位。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46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/>
          <a:lstStyle/>
          <a:p>
            <a:pPr eaLnBrk="0" hangingPunct="0"/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p179, </a:t>
            </a:r>
            <a:r>
              <a:rPr lang="zh-CN" altLang="en-US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习题十一: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4(1),5,6,7</a:t>
            </a:r>
            <a:endParaRPr lang="en-US" dirty="0">
              <a:solidFill>
                <a:schemeClr val="hlink"/>
              </a:solidFill>
              <a:latin typeface="Tahom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240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4" name="文本框 2"/>
          <p:cNvSpPr txBox="1"/>
          <p:nvPr/>
        </p:nvSpPr>
        <p:spPr>
          <a:xfrm>
            <a:off x="1184275" y="298450"/>
            <a:ext cx="381889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课后作业四：</a:t>
            </a:r>
            <a:endParaRPr lang="zh-CN" altLang="en-US" sz="4400" b="1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64d1e24f-3ef5-4839-9f14-83a7ec37ca9c"/>
  <p:tag name="COMMONDATA" val="eyJoZGlkIjoiY2FjYjUwYzFhN2VkM2YwN2YyYmE3ZGUyNDQzZTVlNz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1617</Words>
  <Application>WPS 演示</Application>
  <PresentationFormat>全屏显示(4:3)</PresentationFormat>
  <Paragraphs>128</Paragraphs>
  <Slides>13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Tahoma</vt:lpstr>
      <vt:lpstr>黑体</vt:lpstr>
      <vt:lpstr>Symbol</vt:lpstr>
      <vt:lpstr>微软雅黑</vt:lpstr>
      <vt:lpstr>Arial Unicode MS</vt:lpstr>
      <vt:lpstr>Times New Roman</vt:lpstr>
      <vt:lpstr>Blends</vt:lpstr>
      <vt:lpstr>Visio.Drawing.11</vt:lpstr>
      <vt:lpstr>Visio.Drawing.11</vt:lpstr>
      <vt:lpstr>Equation.3</vt:lpstr>
      <vt:lpstr>Equation.3</vt:lpstr>
      <vt:lpstr>Equation.3</vt:lpstr>
      <vt:lpstr>Equation.3</vt:lpstr>
      <vt:lpstr>PowerPoint 演示文稿</vt:lpstr>
      <vt:lpstr>欧拉公式</vt:lpstr>
      <vt:lpstr>欧拉公式的证明</vt:lpstr>
      <vt:lpstr>欧拉公式的证明(续)</vt:lpstr>
      <vt:lpstr>欧拉公式的推广形式</vt:lpstr>
      <vt:lpstr>课堂测试一：</vt:lpstr>
      <vt:lpstr>定理11.8</vt:lpstr>
      <vt:lpstr>定理11.8的应用举例</vt:lpstr>
      <vt:lpstr>定理11.10</vt:lpstr>
      <vt:lpstr>PowerPoint 演示文稿</vt:lpstr>
      <vt:lpstr>定理11</vt:lpstr>
      <vt:lpstr>定理11.2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小天鹅</cp:lastModifiedBy>
  <cp:revision>928</cp:revision>
  <dcterms:created xsi:type="dcterms:W3CDTF">2008-01-04T07:39:00Z</dcterms:created>
  <dcterms:modified xsi:type="dcterms:W3CDTF">2022-11-20T14:36:50Z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B7F9301291E74F818A63E8EF6D826832</vt:lpwstr>
  </property>
</Properties>
</file>