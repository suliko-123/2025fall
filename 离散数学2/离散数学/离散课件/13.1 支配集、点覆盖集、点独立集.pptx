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0"/>
  </p:handoutMasterIdLst>
  <p:sldIdLst>
    <p:sldId id="256" r:id="rId3"/>
    <p:sldId id="257" r:id="rId5"/>
    <p:sldId id="398" r:id="rId6"/>
    <p:sldId id="258" r:id="rId7"/>
    <p:sldId id="259" r:id="rId8"/>
    <p:sldId id="333" r:id="rId9"/>
    <p:sldId id="260" r:id="rId10"/>
    <p:sldId id="261" r:id="rId11"/>
    <p:sldId id="262" r:id="rId12"/>
    <p:sldId id="334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317" r:id="rId21"/>
    <p:sldId id="316" r:id="rId22"/>
    <p:sldId id="315" r:id="rId23"/>
    <p:sldId id="270" r:id="rId24"/>
    <p:sldId id="271" r:id="rId25"/>
    <p:sldId id="332" r:id="rId26"/>
    <p:sldId id="273" r:id="rId27"/>
    <p:sldId id="276" r:id="rId28"/>
    <p:sldId id="274" r:id="rId29"/>
  </p:sldIdLst>
  <p:sldSz cx="9144000" cy="6858000" type="screen4x3"/>
  <p:notesSz cx="6858000" cy="9144000"/>
  <p:custDataLst>
    <p:tags r:id="rId3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0000"/>
    <a:srgbClr val="808080"/>
    <a:srgbClr val="996633"/>
    <a:srgbClr val="C7F9F1"/>
    <a:srgbClr val="BBF7FD"/>
    <a:srgbClr val="5F5F5F"/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50"/>
    <p:restoredTop sz="88321"/>
  </p:normalViewPr>
  <p:slideViewPr>
    <p:cSldViewPr showGuides="1">
      <p:cViewPr>
        <p:scale>
          <a:sx n="80" d="100"/>
          <a:sy n="80" d="100"/>
        </p:scale>
        <p:origin x="2312" y="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309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gs" Target="tags/tag3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BBA5A08-449A-4F4D-8C07-C1B02EBD9998}" type="datetimeFigureOut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A5A2CA-84D3-F348-9A07-9EC96FFD922C}" type="slidenum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48" name="Rectangle 4"/>
          <p:cNvSpPr>
            <a:spLocks noRo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149" name="Rectangle 5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0"/>
            <a:r>
              <a:rPr lang="zh-CN" altLang="en-US"/>
              <a:t>第二级</a:t>
            </a:r>
            <a:endParaRPr lang="zh-CN" altLang="en-US"/>
          </a:p>
          <a:p>
            <a:pPr lvl="2" indent="0"/>
            <a:r>
              <a:rPr lang="zh-CN" altLang="en-US"/>
              <a:t>第三级</a:t>
            </a:r>
            <a:endParaRPr lang="zh-CN" altLang="en-US"/>
          </a:p>
          <a:p>
            <a:pPr lvl="3" indent="0"/>
            <a:r>
              <a:rPr lang="zh-CN" altLang="en-US"/>
              <a:t>第四级</a:t>
            </a:r>
            <a:endParaRPr lang="zh-CN" altLang="en-US"/>
          </a:p>
          <a:p>
            <a:pPr lvl="4" indent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BAE3554-FFC8-2B45-8FAE-5A627DE2EF0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4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19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x-non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290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给定图，提问：</a:t>
            </a:r>
            <a:endParaRPr lang="en-US" altLang="zh-CN"/>
          </a:p>
          <a:p>
            <a:pPr lvl="0"/>
            <a:r>
              <a:rPr lang="zh-CN" altLang="en-US"/>
              <a:t>求支配集和支配数</a:t>
            </a:r>
            <a:endParaRPr lang="en-US" altLang="zh-CN"/>
          </a:p>
          <a:p>
            <a:pPr lvl="0"/>
            <a:r>
              <a:rPr lang="zh-CN" altLang="en-US"/>
              <a:t>二部图的支配集</a:t>
            </a:r>
            <a:endParaRPr lang="en-US" altLang="zh-CN"/>
          </a:p>
        </p:txBody>
      </p:sp>
      <p:sp>
        <p:nvSpPr>
          <p:cNvPr id="12291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36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所有极小支配集为：</a:t>
            </a:r>
            <a:r>
              <a:rPr lang="en-US" altLang="zh-CN"/>
              <a:t>{a,e},{a,d},{a,b},{b,c},{b,f},{c,d},{c,e},{d,f},{e,f}</a:t>
            </a:r>
            <a:endParaRPr lang="zh-CN" altLang="en-US"/>
          </a:p>
        </p:txBody>
      </p:sp>
      <p:sp>
        <p:nvSpPr>
          <p:cNvPr id="15363" name="幻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4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举例：提问，求独立集、最大独立集</a:t>
            </a:r>
            <a:endParaRPr lang="en-US" altLang="zh-CN"/>
          </a:p>
          <a:p>
            <a:pPr lvl="0"/>
            <a:endParaRPr lang="en-US" altLang="zh-CN"/>
          </a:p>
          <a:p>
            <a:pPr lvl="0"/>
            <a:r>
              <a:rPr lang="en-US" altLang="zh-CN"/>
              <a:t>Kn,m</a:t>
            </a:r>
            <a:r>
              <a:rPr lang="zh-CN" altLang="en-US"/>
              <a:t>的独立数是</a:t>
            </a:r>
            <a:r>
              <a:rPr lang="en-US" altLang="zh-CN" u="sng"/>
              <a:t>               </a:t>
            </a:r>
            <a:endParaRPr lang="en-US" altLang="zh-CN"/>
          </a:p>
        </p:txBody>
      </p:sp>
      <p:sp>
        <p:nvSpPr>
          <p:cNvPr id="18435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6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所有极大独立集为：</a:t>
            </a:r>
            <a:r>
              <a:rPr lang="en-US" altLang="zh-CN"/>
              <a:t>{a,e},{a,d},{b,c},{b,f},{c,e},{d,f},</a:t>
            </a:r>
            <a:endParaRPr lang="zh-CN" altLang="en-US"/>
          </a:p>
        </p:txBody>
      </p:sp>
      <p:sp>
        <p:nvSpPr>
          <p:cNvPr id="21507" name="幻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2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举例，提问</a:t>
            </a:r>
            <a:endParaRPr lang="en-US" altLang="zh-CN"/>
          </a:p>
        </p:txBody>
      </p:sp>
      <p:sp>
        <p:nvSpPr>
          <p:cNvPr id="25603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4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点覆盖是支配集</a:t>
            </a:r>
            <a:endParaRPr lang="en-US" altLang="zh-CN"/>
          </a:p>
          <a:p>
            <a:pPr lvl="0"/>
            <a:r>
              <a:rPr lang="zh-CN" altLang="en-US"/>
              <a:t>证</a:t>
            </a:r>
            <a:r>
              <a:rPr lang="en-US" altLang="zh-CN"/>
              <a:t>  </a:t>
            </a:r>
            <a:r>
              <a:rPr lang="zh-CN" altLang="en-US"/>
              <a:t>设</a:t>
            </a:r>
            <a:r>
              <a:rPr lang="en-US" altLang="zh-CN"/>
              <a:t>V*</a:t>
            </a:r>
            <a:r>
              <a:rPr lang="zh-CN" altLang="en-US"/>
              <a:t>是点覆盖，任意</a:t>
            </a:r>
            <a:r>
              <a:rPr lang="en-US" altLang="zh-CN"/>
              <a:t>v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</a:rPr>
              <a:t>∈V-V*, 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</a:rPr>
              <a:t>因为是连通图，所以不存在孤立点，因此总存在与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</a:rPr>
              <a:t>关联的边，设为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</a:rPr>
              <a:t>e=(v,u), 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</a:rPr>
              <a:t>因为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</a:rPr>
              <a:t>V*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</a:rPr>
              <a:t>是点覆盖集，所以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</a:rPr>
              <a:t>u∈V*,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</a:rPr>
              <a:t>由于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</a:rPr>
              <a:t>的任意性，显然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</a:rPr>
              <a:t>V*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</a:rPr>
              <a:t>是支配集。</a:t>
            </a:r>
            <a:endParaRPr lang="en-US" altLang="zh-CN"/>
          </a:p>
        </p:txBody>
      </p:sp>
      <p:sp>
        <p:nvSpPr>
          <p:cNvPr id="28675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6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推论的证明：</a:t>
            </a:r>
            <a:endParaRPr lang="en-US" altLang="zh-CN"/>
          </a:p>
        </p:txBody>
      </p:sp>
      <p:sp>
        <p:nvSpPr>
          <p:cNvPr id="31747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2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推论的证明：</a:t>
            </a:r>
            <a:endParaRPr lang="en-US" altLang="zh-CN"/>
          </a:p>
        </p:txBody>
      </p:sp>
      <p:sp>
        <p:nvSpPr>
          <p:cNvPr id="35843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0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举例，提问</a:t>
            </a:r>
            <a:endParaRPr lang="en-US" altLang="zh-CN"/>
          </a:p>
        </p:txBody>
      </p:sp>
      <p:sp>
        <p:nvSpPr>
          <p:cNvPr id="37891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62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报告题目：求给定图的</a:t>
            </a:r>
            <a:r>
              <a:rPr lang="zh-CN" altLang="en-US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  <a:sym typeface="Symbol" panose="05050102010706020507" charset="2"/>
              </a:rPr>
              <a:t></a:t>
            </a:r>
            <a:r>
              <a:rPr lang="en-US" altLang="zh-CN" baseline="-2500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0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en-US" altLang="zh-CN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  <a:sym typeface="Symbol" panose="05050102010706020507" charset="2"/>
              </a:rPr>
              <a:t></a:t>
            </a:r>
            <a:r>
              <a:rPr lang="en-US" altLang="zh-CN" baseline="-2500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0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en-US" altLang="zh-CN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  <a:sym typeface="Symbol" panose="05050102010706020507" charset="2"/>
              </a:rPr>
              <a:t></a:t>
            </a:r>
            <a:r>
              <a:rPr lang="en-US" altLang="zh-CN" baseline="-2500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0</a:t>
            </a:r>
            <a:r>
              <a:rPr lang="zh-CN" altLang="en-US">
                <a:latin typeface="Times New Roman" panose="02020603050405020304" charset="0"/>
                <a:ea typeface="黑体" panose="02010609060101010101" charset="-122"/>
              </a:rPr>
              <a:t>三者之一。（要求分析比较各种算法的优劣，选择一种算法，编写程序）</a:t>
            </a:r>
            <a:endParaRPr lang="en-US" altLang="zh-CN"/>
          </a:p>
        </p:txBody>
      </p:sp>
      <p:sp>
        <p:nvSpPr>
          <p:cNvPr id="40963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3010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化简为合式公式的形式</a:t>
            </a:r>
            <a:endParaRPr lang="en-US" altLang="zh-CN"/>
          </a:p>
        </p:txBody>
      </p:sp>
      <p:sp>
        <p:nvSpPr>
          <p:cNvPr id="43011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6082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化简：</a:t>
            </a:r>
            <a:endParaRPr lang="en-US" altLang="zh-CN"/>
          </a:p>
          <a:p>
            <a:pPr lvl="0"/>
            <a:r>
              <a:rPr lang="en-US" altLang="zh-CN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i="1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a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+</a:t>
            </a:r>
            <a:r>
              <a:rPr lang="en-US" altLang="zh-CN" i="1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b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)(</a:t>
            </a:r>
            <a:r>
              <a:rPr lang="en-US" altLang="zh-CN" i="1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b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+</a:t>
            </a:r>
            <a:r>
              <a:rPr lang="en-US" altLang="zh-CN" i="1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c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)(</a:t>
            </a:r>
            <a:r>
              <a:rPr lang="en-US" altLang="zh-CN" i="1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b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+</a:t>
            </a:r>
            <a:r>
              <a:rPr lang="en-US" altLang="zh-CN" i="1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d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)(</a:t>
            </a:r>
            <a:r>
              <a:rPr lang="en-US" altLang="zh-CN" i="1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c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+</a:t>
            </a:r>
            <a:r>
              <a:rPr lang="en-US" altLang="zh-CN" i="1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d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)</a:t>
            </a:r>
            <a:r>
              <a:rPr lang="zh-CN" altLang="en-US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＝</a:t>
            </a:r>
            <a:r>
              <a:rPr lang="en-US" altLang="zh-CN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(ab+ac+b+bc)(bc+bd+dc+d)=(ab+ac+b)(bc+bd+d)=(ac+b)(bc+d)=abc+acd+bc+bd=acd+bc+bd   </a:t>
            </a:r>
            <a:r>
              <a:rPr lang="zh-CN" altLang="en-US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注意使用吸收律</a:t>
            </a:r>
            <a:endParaRPr lang="en-US" altLang="zh-CN">
              <a:solidFill>
                <a:schemeClr val="tx2"/>
              </a:solidFill>
              <a:latin typeface="Times New Roman" panose="02020603050405020304" charset="0"/>
              <a:ea typeface="黑体" panose="02010609060101010101" charset="-122"/>
            </a:endParaRPr>
          </a:p>
          <a:p>
            <a:pPr lvl="0"/>
            <a:endParaRPr lang="en-US" altLang="zh-CN"/>
          </a:p>
        </p:txBody>
      </p:sp>
      <p:sp>
        <p:nvSpPr>
          <p:cNvPr id="46083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075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3078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  <a:effectLst/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F9DB1A-2EFB-A84E-8B0D-D43047F4BA9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D76A3E-CEAE-534D-9671-77B791C136D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D76A3E-CEAE-534D-9671-77B791C136D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D76A3E-CEAE-534D-9671-77B791C136D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D76A3E-CEAE-534D-9671-77B791C136D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D76A3E-CEAE-534D-9671-77B791C136D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D76A3E-CEAE-534D-9671-77B791C136D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D76A3E-CEAE-534D-9671-77B791C136D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黑体" panose="02010609060101010101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D76A3E-CEAE-534D-9671-77B791C136D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D76A3E-CEAE-534D-9671-77B791C136D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9738" y="69850"/>
            <a:ext cx="2154237" cy="6599238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69850"/>
            <a:ext cx="6313488" cy="65992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D76A3E-CEAE-534D-9671-77B791C136D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441325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44132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8636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8636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79057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333375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1239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/>
            </a:outerShdw>
          </a:effectLst>
        </p:spPr>
        <p:txBody>
          <a:bodyPr anchor="b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4" name="Rectangle 10"/>
          <p:cNvSpPr>
            <a:spLocks noGrp="1"/>
          </p:cNvSpPr>
          <p:nvPr>
            <p:ph type="body"/>
          </p:nvPr>
        </p:nvSpPr>
        <p:spPr>
          <a:xfrm>
            <a:off x="323850" y="1412875"/>
            <a:ext cx="8496300" cy="52562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 b="0"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400" b="0"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D76A3E-CEAE-534D-9671-77B791C136D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黑体" panose="02010609060101010101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  <a:cs typeface="黑体" panose="02010609060101010101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  <a:cs typeface="黑体" panose="02010609060101010101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  <a:cs typeface="黑体" panose="02010609060101010101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  <a:cs typeface="黑体" panose="02010609060101010101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黑体" panose="02010609060101010101" charset="-122"/>
        </a:defRPr>
      </a:lvl1pPr>
      <a:lvl2pPr marL="742950" indent="-28575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黑体" panose="02010609060101010101" charset="-122"/>
        </a:defRPr>
      </a:lvl2pPr>
      <a:lvl3pPr marL="11430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黑体" panose="02010609060101010101" charset="-122"/>
        </a:defRPr>
      </a:lvl3pPr>
      <a:lvl4pPr marL="16002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黑体" panose="02010609060101010101" charset="-122"/>
        </a:defRPr>
      </a:lvl4pPr>
      <a:lvl5pPr marL="20574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黑体" panose="02010609060101010101" charset="-122"/>
        </a:defRPr>
      </a:lvl5pPr>
      <a:lvl6pPr marL="25146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Rectangle 2"/>
          <p:cNvSpPr>
            <a:spLocks noGrp="1"/>
          </p:cNvSpPr>
          <p:nvPr>
            <p:ph type="ctrTitle"/>
          </p:nvPr>
        </p:nvSpPr>
        <p:spPr>
          <a:effectLst>
            <a:outerShdw dist="17961" dir="2699999" algn="ctr" rotWithShape="0">
              <a:schemeClr val="bg2"/>
            </a:outerShdw>
          </a:effectLst>
        </p:spPr>
        <p:txBody>
          <a:bodyPr vert="horz" wrap="square" lIns="91440" tIns="45720" rIns="91440" bIns="45720" anchor="b" anchorCtr="0"/>
          <a:p>
            <a:pPr algn="ctr" eaLnBrk="1" hangingPunct="1">
              <a:buClrTx/>
              <a:buSzTx/>
              <a:buFontTx/>
            </a:pPr>
            <a:r>
              <a:rPr lang="zh-CN" altLang="en-US">
                <a:latin typeface="+mj-lt"/>
                <a:ea typeface="+mj-ea"/>
                <a:cs typeface="黑体" panose="02010609060101010101" charset="-122"/>
              </a:rPr>
              <a:t>第十三章 支配集、覆盖集、独立集与匹配</a:t>
            </a:r>
            <a:endParaRPr lang="zh-CN" altLang="en-US">
              <a:latin typeface="+mj-lt"/>
              <a:ea typeface="+mj-ea"/>
              <a:cs typeface="黑体" panose="02010609060101010101" charset="-122"/>
            </a:endParaRPr>
          </a:p>
        </p:txBody>
      </p:sp>
      <p:sp>
        <p:nvSpPr>
          <p:cNvPr id="7170" name="Rectangle 3"/>
          <p:cNvSpPr>
            <a:spLocks noGrp="1"/>
          </p:cNvSpPr>
          <p:nvPr>
            <p:ph type="subTitle"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Pct val="75000"/>
            </a:pPr>
            <a:r>
              <a:rPr lang="zh-CN" altLang="en-US">
                <a:latin typeface="+mn-lt"/>
                <a:ea typeface="+mn-ea"/>
                <a:cs typeface="黑体" panose="02010609060101010101" charset="-122"/>
              </a:rPr>
              <a:t>中国海洋大学</a:t>
            </a:r>
            <a:endParaRPr lang="zh-CN" altLang="en-US">
              <a:latin typeface="+mn-lt"/>
              <a:ea typeface="+mn-ea"/>
              <a:cs typeface="黑体" panose="02010609060101010101" charset="-122"/>
            </a:endParaRPr>
          </a:p>
          <a:p>
            <a:pPr eaLnBrk="1" hangingPunct="1">
              <a:buSzPct val="75000"/>
            </a:pPr>
            <a:r>
              <a:rPr lang="zh-CN" altLang="en-US">
                <a:latin typeface="+mn-lt"/>
                <a:ea typeface="+mn-ea"/>
                <a:cs typeface="黑体" panose="02010609060101010101" charset="-122"/>
              </a:rPr>
              <a:t>计算机系</a:t>
            </a:r>
            <a:r>
              <a:rPr lang="en-US" altLang="zh-CN">
                <a:latin typeface="+mn-lt"/>
                <a:ea typeface="+mn-ea"/>
                <a:cs typeface="黑体" panose="02010609060101010101" charset="-122"/>
              </a:rPr>
              <a:t> </a:t>
            </a:r>
            <a:endParaRPr lang="en-US" altLang="zh-CN">
              <a:latin typeface="+mn-lt"/>
              <a:ea typeface="+mn-ea"/>
              <a:cs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主要内容</a:t>
            </a:r>
            <a:endParaRPr kumimoji="0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24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/>
              <a:t>支配集</a:t>
            </a:r>
            <a:r>
              <a:rPr lang="en-US" altLang="zh-CN"/>
              <a:t>,</a:t>
            </a:r>
            <a:r>
              <a:rPr lang="zh-CN" altLang="en-US"/>
              <a:t>独立集</a:t>
            </a:r>
            <a:r>
              <a:rPr lang="en-US" altLang="zh-CN"/>
              <a:t>,</a:t>
            </a:r>
            <a:r>
              <a:rPr lang="zh-CN" altLang="en-US"/>
              <a:t>点覆盖</a:t>
            </a:r>
            <a:r>
              <a:rPr lang="en-US" altLang="zh-CN"/>
              <a:t>,</a:t>
            </a:r>
            <a:r>
              <a:rPr lang="zh-CN" altLang="en-US"/>
              <a:t>团</a:t>
            </a:r>
            <a:endParaRPr lang="zh-CN" altLang="en-US"/>
          </a:p>
          <a:p>
            <a:pPr eaLnBrk="1" hangingPunct="1"/>
            <a:r>
              <a:rPr lang="zh-CN" altLang="en-US"/>
              <a:t>边覆盖</a:t>
            </a:r>
            <a:r>
              <a:rPr lang="en-US" altLang="zh-CN"/>
              <a:t>, </a:t>
            </a:r>
            <a:r>
              <a:rPr lang="zh-CN" altLang="en-US"/>
              <a:t>边独立集</a:t>
            </a:r>
            <a:r>
              <a:rPr lang="en-US" altLang="zh-CN"/>
              <a:t>(</a:t>
            </a:r>
            <a:r>
              <a:rPr lang="zh-CN" altLang="en-US"/>
              <a:t>匹配</a:t>
            </a:r>
            <a:r>
              <a:rPr lang="en-US" altLang="zh-CN"/>
              <a:t>)</a:t>
            </a:r>
            <a:endParaRPr lang="en-US" altLang="zh-CN"/>
          </a:p>
          <a:p>
            <a:pPr eaLnBrk="1" hangingPunct="1"/>
            <a:r>
              <a:rPr lang="zh-CN" altLang="en-US"/>
              <a:t>最大匹配</a:t>
            </a:r>
            <a:r>
              <a:rPr lang="en-US" altLang="zh-CN"/>
              <a:t>, Berge</a:t>
            </a:r>
            <a:r>
              <a:rPr lang="zh-CN" altLang="en-US"/>
              <a:t>定理</a:t>
            </a:r>
            <a:endParaRPr lang="zh-CN" altLang="en-US"/>
          </a:p>
          <a:p>
            <a:pPr eaLnBrk="1" hangingPunct="1"/>
            <a:r>
              <a:rPr lang="zh-CN" altLang="en-US"/>
              <a:t>完美匹配</a:t>
            </a:r>
            <a:r>
              <a:rPr lang="en-US" altLang="zh-CN"/>
              <a:t>, Tutte</a:t>
            </a:r>
            <a:r>
              <a:rPr lang="zh-CN" altLang="en-US"/>
              <a:t>定理</a:t>
            </a:r>
            <a:endParaRPr lang="zh-CN" altLang="en-US"/>
          </a:p>
          <a:p>
            <a:pPr eaLnBrk="1" hangingPunct="1"/>
            <a:r>
              <a:rPr lang="zh-CN" altLang="en-US"/>
              <a:t>完备匹配</a:t>
            </a:r>
            <a:r>
              <a:rPr lang="en-US" altLang="zh-CN"/>
              <a:t>, Hall</a:t>
            </a:r>
            <a:r>
              <a:rPr lang="zh-CN" altLang="en-US"/>
              <a:t>条件</a:t>
            </a:r>
            <a:r>
              <a:rPr lang="en-US" altLang="zh-CN"/>
              <a:t>, t</a:t>
            </a:r>
            <a:r>
              <a:rPr lang="zh-CN" altLang="en-US"/>
              <a:t>条件</a:t>
            </a:r>
            <a:endParaRPr lang="zh-CN" altLang="en-US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Rectangle 2"/>
          <p:cNvSpPr>
            <a:spLocks noGrp="1"/>
          </p:cNvSpPr>
          <p:nvPr>
            <p:ph type="title"/>
          </p:nvPr>
        </p:nvSpPr>
        <p:spPr>
          <a:xfrm>
            <a:off x="674688" y="2692400"/>
            <a:ext cx="7793037" cy="982663"/>
          </a:xfrm>
          <a:effectLst>
            <a:outerShdw dist="17961" dir="2699999" algn="ctr" rotWithShape="0">
              <a:schemeClr val="bg2"/>
            </a:outerShdw>
          </a:effectLst>
        </p:spPr>
        <p:txBody>
          <a:bodyPr vert="horz" wrap="square" lIns="91440" tIns="45720" rIns="91440" bIns="45720" anchor="b" anchorCtr="0"/>
          <a:p>
            <a:pPr algn="ctr" eaLnBrk="1" hangingPunct="1">
              <a:buClrTx/>
              <a:buSzTx/>
              <a:buFontTx/>
            </a:pPr>
            <a:r>
              <a:rPr lang="en-US" altLang="zh-CN" sz="3600" b="0">
                <a:solidFill>
                  <a:schemeClr val="tx1"/>
                </a:solidFill>
              </a:rPr>
              <a:t>13.1 </a:t>
            </a:r>
            <a:r>
              <a:rPr lang="zh-CN" altLang="en-US" sz="3600" b="0">
                <a:solidFill>
                  <a:schemeClr val="tx1"/>
                </a:solidFill>
              </a:rPr>
              <a:t>支配集、独立集、点覆盖集</a:t>
            </a:r>
            <a:endParaRPr lang="zh-CN" altLang="en-US" sz="36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支配集</a:t>
            </a:r>
            <a:r>
              <a:rPr kumimoji="0" lang="en-US" altLang="zh-CN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(dominating set)</a:t>
            </a:r>
            <a:endParaRPr kumimoji="0" lang="en-US" altLang="zh-CN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6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/>
              <a:t>无向图</a:t>
            </a:r>
            <a:r>
              <a:rPr lang="en-US" altLang="zh-CN"/>
              <a:t>G=&lt;V,E&gt;, </a:t>
            </a:r>
            <a:r>
              <a:rPr lang="en-US" altLang="zh-CN">
                <a:solidFill>
                  <a:schemeClr val="hlink"/>
                </a:solidFill>
              </a:rPr>
              <a:t>V*</a:t>
            </a:r>
            <a:r>
              <a:rPr lang="en-US" altLang="zh-CN"/>
              <a:t>⊆V</a:t>
            </a:r>
            <a:endParaRPr lang="en-US" altLang="zh-CN"/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支配集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∀</a:t>
            </a:r>
            <a:r>
              <a:rPr lang="en-US" altLang="zh-CN" i="1"/>
              <a:t>u</a:t>
            </a:r>
            <a:r>
              <a:rPr lang="en-US" altLang="zh-CN"/>
              <a:t>(</a:t>
            </a:r>
            <a:r>
              <a:rPr lang="en-US" altLang="zh-CN" i="1"/>
              <a:t>u</a:t>
            </a:r>
            <a:r>
              <a:rPr lang="en-US" altLang="zh-CN"/>
              <a:t>∈</a:t>
            </a:r>
            <a:r>
              <a:rPr lang="en-US" altLang="zh-CN" i="1"/>
              <a:t>V</a:t>
            </a:r>
            <a:r>
              <a:rPr lang="en-US" altLang="zh-CN"/>
              <a:t>-</a:t>
            </a:r>
            <a:r>
              <a:rPr lang="en-US" altLang="zh-CN" i="1"/>
              <a:t>V</a:t>
            </a:r>
            <a:r>
              <a:rPr lang="en-US" altLang="zh-CN"/>
              <a:t>*→∃</a:t>
            </a:r>
            <a:r>
              <a:rPr lang="en-US" altLang="zh-CN" i="1"/>
              <a:t>v</a:t>
            </a:r>
            <a:r>
              <a:rPr lang="en-US" altLang="zh-CN"/>
              <a:t>(</a:t>
            </a:r>
            <a:r>
              <a:rPr lang="en-US" altLang="zh-CN" i="1"/>
              <a:t>v</a:t>
            </a:r>
            <a:r>
              <a:rPr lang="en-US" altLang="zh-CN"/>
              <a:t>∈</a:t>
            </a:r>
            <a:r>
              <a:rPr lang="en-US" altLang="zh-CN" i="1"/>
              <a:t>V</a:t>
            </a:r>
            <a:r>
              <a:rPr lang="en-US" altLang="zh-CN"/>
              <a:t>*∧(</a:t>
            </a:r>
            <a:r>
              <a:rPr lang="en-US" altLang="zh-CN" i="1"/>
              <a:t>u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/>
              <a:t>)∈</a:t>
            </a:r>
            <a:r>
              <a:rPr lang="en-US" altLang="zh-CN" i="1"/>
              <a:t>E</a:t>
            </a:r>
            <a:r>
              <a:rPr lang="en-US" altLang="zh-CN"/>
              <a:t>))</a:t>
            </a:r>
            <a:endParaRPr lang="en-US" altLang="zh-CN"/>
          </a:p>
          <a:p>
            <a:pPr eaLnBrk="1" hangingPunct="1">
              <a:buNone/>
            </a:pPr>
            <a:r>
              <a:rPr lang="en-US" altLang="zh-CN"/>
              <a:t>          </a:t>
            </a:r>
            <a:r>
              <a:rPr lang="zh-CN" altLang="en-US"/>
              <a:t>或     ∀</a:t>
            </a:r>
            <a:r>
              <a:rPr lang="en-US" altLang="zh-CN" i="1"/>
              <a:t>u</a:t>
            </a:r>
            <a:r>
              <a:rPr lang="en-US" altLang="zh-CN"/>
              <a:t>∈</a:t>
            </a:r>
            <a:r>
              <a:rPr lang="en-US" altLang="zh-CN" i="1"/>
              <a:t>V</a:t>
            </a:r>
            <a:r>
              <a:rPr lang="en-US" altLang="zh-CN"/>
              <a:t>-</a:t>
            </a:r>
            <a:r>
              <a:rPr lang="en-US" altLang="zh-CN" i="1"/>
              <a:t>V</a:t>
            </a:r>
            <a:r>
              <a:rPr lang="en-US" altLang="zh-CN"/>
              <a:t>*, ∃</a:t>
            </a:r>
            <a:r>
              <a:rPr lang="en-US" altLang="zh-CN" i="1"/>
              <a:t>v</a:t>
            </a:r>
            <a:r>
              <a:rPr lang="en-US" altLang="zh-CN"/>
              <a:t>∈</a:t>
            </a:r>
            <a:r>
              <a:rPr lang="en-US" altLang="zh-CN" i="1"/>
              <a:t>V</a:t>
            </a:r>
            <a:r>
              <a:rPr lang="en-US" altLang="zh-CN"/>
              <a:t>*, </a:t>
            </a:r>
            <a:r>
              <a:rPr lang="en-US" altLang="zh-CN" i="1"/>
              <a:t>uEv</a:t>
            </a:r>
            <a:endParaRPr lang="en-US" altLang="zh-CN" i="1"/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极小支配集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en-US" altLang="zh-CN" i="1"/>
              <a:t>V</a:t>
            </a:r>
            <a:r>
              <a:rPr lang="en-US" altLang="zh-CN"/>
              <a:t>*</a:t>
            </a:r>
            <a:r>
              <a:rPr lang="zh-CN" altLang="en-US"/>
              <a:t>是支配集</a:t>
            </a:r>
            <a:r>
              <a:rPr lang="en-US" altLang="zh-CN"/>
              <a:t>, </a:t>
            </a:r>
            <a:r>
              <a:rPr lang="zh-CN" altLang="en-US"/>
              <a:t>其真子集都不是</a:t>
            </a:r>
            <a:endParaRPr lang="zh-CN" altLang="en-US"/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最小支配集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|V*|</a:t>
            </a:r>
            <a:r>
              <a:rPr lang="zh-CN" altLang="en-US"/>
              <a:t>最小的支配集</a:t>
            </a:r>
            <a:endParaRPr lang="zh-CN" altLang="en-US"/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支配数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charset="2"/>
              </a:rPr>
              <a:t></a:t>
            </a:r>
            <a:r>
              <a:rPr lang="en-US" altLang="zh-CN" baseline="-25000"/>
              <a:t>0</a:t>
            </a:r>
            <a:r>
              <a:rPr lang="en-US" altLang="zh-CN"/>
              <a:t>(G)=|V*|, V*</a:t>
            </a:r>
            <a:r>
              <a:rPr lang="zh-CN" altLang="en-US"/>
              <a:t>是最小支配集</a:t>
            </a:r>
            <a:endParaRPr lang="zh-CN" altLang="en-US"/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0"/>
              <a:t>支配集</a:t>
            </a:r>
            <a:r>
              <a:rPr lang="en-US" altLang="zh-CN" b="0"/>
              <a:t>(</a:t>
            </a:r>
            <a:r>
              <a:rPr lang="zh-CN" altLang="en-US" b="0"/>
              <a:t>例</a:t>
            </a:r>
            <a:r>
              <a:rPr lang="en-US" altLang="zh-CN" b="0"/>
              <a:t>)</a:t>
            </a:r>
            <a:endParaRPr lang="en-US" altLang="zh-CN" b="0"/>
          </a:p>
        </p:txBody>
      </p:sp>
      <p:sp>
        <p:nvSpPr>
          <p:cNvPr id="13314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15113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/>
              <a:t>星形图</a:t>
            </a:r>
            <a:r>
              <a:rPr lang="en-US" altLang="zh-CN">
                <a:solidFill>
                  <a:schemeClr val="hlink"/>
                </a:solidFill>
              </a:rPr>
              <a:t>S</a:t>
            </a:r>
            <a:r>
              <a:rPr lang="en-US" altLang="zh-CN" i="1" baseline="-25000">
                <a:solidFill>
                  <a:schemeClr val="hlink"/>
                </a:solidFill>
              </a:rPr>
              <a:t>n</a:t>
            </a:r>
            <a:r>
              <a:rPr lang="en-US" altLang="zh-CN"/>
              <a:t>: {</a:t>
            </a:r>
            <a:r>
              <a:rPr lang="en-US" altLang="zh-CN" i="1"/>
              <a:t>v</a:t>
            </a:r>
            <a:r>
              <a:rPr lang="en-US" altLang="zh-CN" baseline="-25000"/>
              <a:t>0</a:t>
            </a:r>
            <a:r>
              <a:rPr lang="en-US" altLang="zh-CN"/>
              <a:t>},{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v</a:t>
            </a:r>
            <a:r>
              <a:rPr lang="en-US" altLang="zh-CN" baseline="-25000"/>
              <a:t>2</a:t>
            </a:r>
            <a:r>
              <a:rPr lang="en-US" altLang="zh-CN"/>
              <a:t>,…, </a:t>
            </a:r>
            <a:r>
              <a:rPr lang="en-US" altLang="zh-CN" i="1"/>
              <a:t>v</a:t>
            </a:r>
            <a:r>
              <a:rPr lang="en-US" altLang="zh-CN" i="1" baseline="-25000"/>
              <a:t>n</a:t>
            </a:r>
            <a:r>
              <a:rPr lang="en-US" altLang="zh-CN" baseline="-25000"/>
              <a:t>-1</a:t>
            </a:r>
            <a:r>
              <a:rPr lang="en-US" altLang="zh-CN"/>
              <a:t>}, </a:t>
            </a:r>
            <a:r>
              <a:rPr lang="en-US" altLang="zh-CN">
                <a:sym typeface="Symbol" panose="05050102010706020507" charset="2"/>
              </a:rPr>
              <a:t></a:t>
            </a:r>
            <a:r>
              <a:rPr lang="en-US" altLang="zh-CN" baseline="-25000"/>
              <a:t>0</a:t>
            </a:r>
            <a:r>
              <a:rPr lang="en-US" altLang="zh-CN"/>
              <a:t>(</a:t>
            </a:r>
            <a:r>
              <a:rPr lang="en-US" altLang="zh-CN" i="1"/>
              <a:t>S</a:t>
            </a:r>
            <a:r>
              <a:rPr lang="en-US" altLang="zh-CN" i="1" baseline="-25000"/>
              <a:t>n</a:t>
            </a:r>
            <a:r>
              <a:rPr lang="en-US" altLang="zh-CN"/>
              <a:t>)=1</a:t>
            </a:r>
            <a:endParaRPr lang="en-US" altLang="zh-CN"/>
          </a:p>
          <a:p>
            <a:pPr eaLnBrk="1" hangingPunct="1"/>
            <a:r>
              <a:rPr lang="zh-CN" altLang="en-US"/>
              <a:t>轮图</a:t>
            </a:r>
            <a:r>
              <a:rPr lang="en-US" altLang="zh-CN">
                <a:solidFill>
                  <a:schemeClr val="hlink"/>
                </a:solidFill>
              </a:rPr>
              <a:t>W</a:t>
            </a:r>
            <a:r>
              <a:rPr lang="en-US" altLang="zh-CN" i="1" baseline="-25000">
                <a:solidFill>
                  <a:schemeClr val="hlink"/>
                </a:solidFill>
              </a:rPr>
              <a:t>n</a:t>
            </a:r>
            <a:r>
              <a:rPr lang="en-US" altLang="zh-CN"/>
              <a:t>: {</a:t>
            </a:r>
            <a:r>
              <a:rPr lang="en-US" altLang="zh-CN" i="1"/>
              <a:t>v</a:t>
            </a:r>
            <a:r>
              <a:rPr lang="en-US" altLang="zh-CN" baseline="-25000"/>
              <a:t>0</a:t>
            </a:r>
            <a:r>
              <a:rPr lang="en-US" altLang="zh-CN"/>
              <a:t>},{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v</a:t>
            </a:r>
            <a:r>
              <a:rPr lang="en-US" altLang="zh-CN" baseline="-25000"/>
              <a:t>3</a:t>
            </a:r>
            <a:r>
              <a:rPr lang="en-US" altLang="zh-CN"/>
              <a:t>, </a:t>
            </a:r>
            <a:r>
              <a:rPr lang="en-US" altLang="zh-CN" i="1"/>
              <a:t>v</a:t>
            </a:r>
            <a:r>
              <a:rPr lang="en-US" altLang="zh-CN" baseline="-25000"/>
              <a:t>5</a:t>
            </a:r>
            <a:r>
              <a:rPr lang="en-US" altLang="zh-CN"/>
              <a:t> …,</a:t>
            </a:r>
            <a:r>
              <a:rPr lang="en-US" altLang="zh-CN" i="1"/>
              <a:t>v</a:t>
            </a:r>
            <a:r>
              <a:rPr lang="en-US" altLang="zh-CN" i="1" baseline="-25000"/>
              <a:t>n</a:t>
            </a:r>
            <a:r>
              <a:rPr lang="en-US" altLang="zh-CN" baseline="-25000"/>
              <a:t>-2</a:t>
            </a:r>
            <a:r>
              <a:rPr lang="en-US" altLang="zh-CN"/>
              <a:t>}, </a:t>
            </a:r>
            <a:r>
              <a:rPr lang="en-US" altLang="zh-CN">
                <a:sym typeface="Symbol" panose="05050102010706020507" charset="2"/>
              </a:rPr>
              <a:t></a:t>
            </a:r>
            <a:r>
              <a:rPr lang="en-US" altLang="zh-CN" baseline="-25000"/>
              <a:t>0</a:t>
            </a:r>
            <a:r>
              <a:rPr lang="en-US" altLang="zh-CN"/>
              <a:t>(W</a:t>
            </a:r>
            <a:r>
              <a:rPr lang="en-US" altLang="zh-CN" i="1" baseline="-25000"/>
              <a:t>n</a:t>
            </a:r>
            <a:r>
              <a:rPr lang="en-US" altLang="zh-CN"/>
              <a:t>)=1</a:t>
            </a:r>
            <a:endParaRPr lang="en-US" altLang="zh-CN"/>
          </a:p>
        </p:txBody>
      </p:sp>
      <p:grpSp>
        <p:nvGrpSpPr>
          <p:cNvPr id="13315" name="Group 24"/>
          <p:cNvGrpSpPr/>
          <p:nvPr/>
        </p:nvGrpSpPr>
        <p:grpSpPr>
          <a:xfrm>
            <a:off x="539750" y="2636838"/>
            <a:ext cx="2292350" cy="2112962"/>
            <a:chOff x="340" y="1661"/>
            <a:chExt cx="1444" cy="1331"/>
          </a:xfrm>
        </p:grpSpPr>
        <p:grpSp>
          <p:nvGrpSpPr>
            <p:cNvPr id="13316" name="Group 16"/>
            <p:cNvGrpSpPr/>
            <p:nvPr/>
          </p:nvGrpSpPr>
          <p:grpSpPr>
            <a:xfrm>
              <a:off x="430" y="1842"/>
              <a:ext cx="1317" cy="1135"/>
              <a:chOff x="430" y="1842"/>
              <a:chExt cx="1317" cy="1135"/>
            </a:xfrm>
          </p:grpSpPr>
          <p:sp>
            <p:nvSpPr>
              <p:cNvPr id="13317" name="Line 11"/>
              <p:cNvSpPr/>
              <p:nvPr/>
            </p:nvSpPr>
            <p:spPr>
              <a:xfrm flipV="1">
                <a:off x="793" y="2432"/>
                <a:ext cx="227" cy="4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18" name="Line 12"/>
              <p:cNvSpPr/>
              <p:nvPr/>
            </p:nvSpPr>
            <p:spPr>
              <a:xfrm>
                <a:off x="1066" y="2432"/>
                <a:ext cx="226" cy="4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19" name="Line 13"/>
              <p:cNvSpPr/>
              <p:nvPr/>
            </p:nvSpPr>
            <p:spPr>
              <a:xfrm>
                <a:off x="567" y="2341"/>
                <a:ext cx="408" cy="4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20" name="Line 14"/>
              <p:cNvSpPr/>
              <p:nvPr/>
            </p:nvSpPr>
            <p:spPr>
              <a:xfrm flipV="1">
                <a:off x="1111" y="2341"/>
                <a:ext cx="499" cy="4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21" name="Line 15"/>
              <p:cNvSpPr/>
              <p:nvPr/>
            </p:nvSpPr>
            <p:spPr>
              <a:xfrm>
                <a:off x="1048" y="1979"/>
                <a:ext cx="0" cy="36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22" name="Oval 5"/>
              <p:cNvSpPr/>
              <p:nvPr/>
            </p:nvSpPr>
            <p:spPr>
              <a:xfrm>
                <a:off x="975" y="2341"/>
                <a:ext cx="137" cy="137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23" name="Oval 6"/>
              <p:cNvSpPr/>
              <p:nvPr/>
            </p:nvSpPr>
            <p:spPr>
              <a:xfrm>
                <a:off x="703" y="2840"/>
                <a:ext cx="137" cy="137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24" name="Oval 7"/>
              <p:cNvSpPr/>
              <p:nvPr/>
            </p:nvSpPr>
            <p:spPr>
              <a:xfrm>
                <a:off x="1247" y="2840"/>
                <a:ext cx="137" cy="137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25" name="Oval 8"/>
              <p:cNvSpPr/>
              <p:nvPr/>
            </p:nvSpPr>
            <p:spPr>
              <a:xfrm>
                <a:off x="1610" y="2251"/>
                <a:ext cx="137" cy="137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26" name="Oval 9"/>
              <p:cNvSpPr/>
              <p:nvPr/>
            </p:nvSpPr>
            <p:spPr>
              <a:xfrm>
                <a:off x="430" y="2251"/>
                <a:ext cx="137" cy="137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27" name="Oval 10"/>
              <p:cNvSpPr/>
              <p:nvPr/>
            </p:nvSpPr>
            <p:spPr>
              <a:xfrm>
                <a:off x="975" y="1842"/>
                <a:ext cx="137" cy="137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328" name="Rectangle 17"/>
            <p:cNvSpPr/>
            <p:nvPr/>
          </p:nvSpPr>
          <p:spPr>
            <a:xfrm>
              <a:off x="1066" y="1661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3329" name="Rectangle 19"/>
            <p:cNvSpPr/>
            <p:nvPr/>
          </p:nvSpPr>
          <p:spPr>
            <a:xfrm>
              <a:off x="1519" y="193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3330" name="Rectangle 20"/>
            <p:cNvSpPr/>
            <p:nvPr/>
          </p:nvSpPr>
          <p:spPr>
            <a:xfrm>
              <a:off x="1338" y="264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3331" name="Rectangle 21"/>
            <p:cNvSpPr/>
            <p:nvPr/>
          </p:nvSpPr>
          <p:spPr>
            <a:xfrm>
              <a:off x="476" y="2704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3332" name="Rectangle 22"/>
            <p:cNvSpPr/>
            <p:nvPr/>
          </p:nvSpPr>
          <p:spPr>
            <a:xfrm>
              <a:off x="340" y="193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3333" name="Rectangle 23"/>
            <p:cNvSpPr/>
            <p:nvPr/>
          </p:nvSpPr>
          <p:spPr>
            <a:xfrm>
              <a:off x="1073" y="2326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0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334" name="Group 25"/>
          <p:cNvGrpSpPr/>
          <p:nvPr/>
        </p:nvGrpSpPr>
        <p:grpSpPr>
          <a:xfrm>
            <a:off x="3359150" y="2636838"/>
            <a:ext cx="2292350" cy="2112962"/>
            <a:chOff x="340" y="1661"/>
            <a:chExt cx="1444" cy="1331"/>
          </a:xfrm>
        </p:grpSpPr>
        <p:grpSp>
          <p:nvGrpSpPr>
            <p:cNvPr id="13335" name="Group 26"/>
            <p:cNvGrpSpPr/>
            <p:nvPr/>
          </p:nvGrpSpPr>
          <p:grpSpPr>
            <a:xfrm>
              <a:off x="430" y="1842"/>
              <a:ext cx="1317" cy="1135"/>
              <a:chOff x="430" y="1842"/>
              <a:chExt cx="1317" cy="1135"/>
            </a:xfrm>
          </p:grpSpPr>
          <p:sp>
            <p:nvSpPr>
              <p:cNvPr id="13336" name="Line 27"/>
              <p:cNvSpPr/>
              <p:nvPr/>
            </p:nvSpPr>
            <p:spPr>
              <a:xfrm flipV="1">
                <a:off x="793" y="2432"/>
                <a:ext cx="227" cy="4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37" name="Line 28"/>
              <p:cNvSpPr/>
              <p:nvPr/>
            </p:nvSpPr>
            <p:spPr>
              <a:xfrm>
                <a:off x="1066" y="2432"/>
                <a:ext cx="226" cy="4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38" name="Line 29"/>
              <p:cNvSpPr/>
              <p:nvPr/>
            </p:nvSpPr>
            <p:spPr>
              <a:xfrm>
                <a:off x="567" y="2341"/>
                <a:ext cx="408" cy="4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39" name="Line 30"/>
              <p:cNvSpPr/>
              <p:nvPr/>
            </p:nvSpPr>
            <p:spPr>
              <a:xfrm flipV="1">
                <a:off x="1111" y="2341"/>
                <a:ext cx="499" cy="4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40" name="Line 31"/>
              <p:cNvSpPr/>
              <p:nvPr/>
            </p:nvSpPr>
            <p:spPr>
              <a:xfrm>
                <a:off x="1048" y="1979"/>
                <a:ext cx="0" cy="36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41" name="Oval 32"/>
              <p:cNvSpPr/>
              <p:nvPr/>
            </p:nvSpPr>
            <p:spPr>
              <a:xfrm>
                <a:off x="975" y="2341"/>
                <a:ext cx="137" cy="137"/>
              </a:xfrm>
              <a:prstGeom prst="ellipse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42" name="Oval 33"/>
              <p:cNvSpPr/>
              <p:nvPr/>
            </p:nvSpPr>
            <p:spPr>
              <a:xfrm>
                <a:off x="703" y="2840"/>
                <a:ext cx="137" cy="137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43" name="Oval 34"/>
              <p:cNvSpPr/>
              <p:nvPr/>
            </p:nvSpPr>
            <p:spPr>
              <a:xfrm>
                <a:off x="1247" y="2840"/>
                <a:ext cx="137" cy="137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44" name="Oval 35"/>
              <p:cNvSpPr/>
              <p:nvPr/>
            </p:nvSpPr>
            <p:spPr>
              <a:xfrm>
                <a:off x="1610" y="2251"/>
                <a:ext cx="137" cy="137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45" name="Oval 36"/>
              <p:cNvSpPr/>
              <p:nvPr/>
            </p:nvSpPr>
            <p:spPr>
              <a:xfrm>
                <a:off x="430" y="2251"/>
                <a:ext cx="137" cy="137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46" name="Oval 37"/>
              <p:cNvSpPr/>
              <p:nvPr/>
            </p:nvSpPr>
            <p:spPr>
              <a:xfrm>
                <a:off x="975" y="1842"/>
                <a:ext cx="137" cy="137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347" name="Rectangle 38"/>
            <p:cNvSpPr/>
            <p:nvPr/>
          </p:nvSpPr>
          <p:spPr>
            <a:xfrm>
              <a:off x="1066" y="1661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3348" name="Rectangle 39"/>
            <p:cNvSpPr/>
            <p:nvPr/>
          </p:nvSpPr>
          <p:spPr>
            <a:xfrm>
              <a:off x="1519" y="193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3349" name="Rectangle 40"/>
            <p:cNvSpPr/>
            <p:nvPr/>
          </p:nvSpPr>
          <p:spPr>
            <a:xfrm>
              <a:off x="1338" y="264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3350" name="Rectangle 41"/>
            <p:cNvSpPr/>
            <p:nvPr/>
          </p:nvSpPr>
          <p:spPr>
            <a:xfrm>
              <a:off x="476" y="2704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3351" name="Rectangle 42"/>
            <p:cNvSpPr/>
            <p:nvPr/>
          </p:nvSpPr>
          <p:spPr>
            <a:xfrm>
              <a:off x="340" y="193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3352" name="Rectangle 43"/>
            <p:cNvSpPr/>
            <p:nvPr/>
          </p:nvSpPr>
          <p:spPr>
            <a:xfrm>
              <a:off x="1073" y="2326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0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353" name="Group 44"/>
          <p:cNvGrpSpPr/>
          <p:nvPr/>
        </p:nvGrpSpPr>
        <p:grpSpPr>
          <a:xfrm>
            <a:off x="6227763" y="2636838"/>
            <a:ext cx="2292350" cy="2112962"/>
            <a:chOff x="340" y="1661"/>
            <a:chExt cx="1444" cy="1331"/>
          </a:xfrm>
        </p:grpSpPr>
        <p:grpSp>
          <p:nvGrpSpPr>
            <p:cNvPr id="13354" name="Group 45"/>
            <p:cNvGrpSpPr/>
            <p:nvPr/>
          </p:nvGrpSpPr>
          <p:grpSpPr>
            <a:xfrm>
              <a:off x="430" y="1842"/>
              <a:ext cx="1317" cy="1135"/>
              <a:chOff x="430" y="1842"/>
              <a:chExt cx="1317" cy="1135"/>
            </a:xfrm>
          </p:grpSpPr>
          <p:sp>
            <p:nvSpPr>
              <p:cNvPr id="13355" name="Line 46"/>
              <p:cNvSpPr/>
              <p:nvPr/>
            </p:nvSpPr>
            <p:spPr>
              <a:xfrm flipV="1">
                <a:off x="793" y="2432"/>
                <a:ext cx="227" cy="4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56" name="Line 47"/>
              <p:cNvSpPr/>
              <p:nvPr/>
            </p:nvSpPr>
            <p:spPr>
              <a:xfrm>
                <a:off x="1066" y="2432"/>
                <a:ext cx="226" cy="4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57" name="Line 48"/>
              <p:cNvSpPr/>
              <p:nvPr/>
            </p:nvSpPr>
            <p:spPr>
              <a:xfrm>
                <a:off x="567" y="2341"/>
                <a:ext cx="408" cy="4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58" name="Line 49"/>
              <p:cNvSpPr/>
              <p:nvPr/>
            </p:nvSpPr>
            <p:spPr>
              <a:xfrm flipV="1">
                <a:off x="1111" y="2341"/>
                <a:ext cx="499" cy="4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59" name="Line 50"/>
              <p:cNvSpPr/>
              <p:nvPr/>
            </p:nvSpPr>
            <p:spPr>
              <a:xfrm>
                <a:off x="1048" y="1979"/>
                <a:ext cx="0" cy="36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60" name="Oval 51"/>
              <p:cNvSpPr/>
              <p:nvPr/>
            </p:nvSpPr>
            <p:spPr>
              <a:xfrm>
                <a:off x="975" y="2341"/>
                <a:ext cx="137" cy="137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61" name="Oval 52"/>
              <p:cNvSpPr/>
              <p:nvPr/>
            </p:nvSpPr>
            <p:spPr>
              <a:xfrm>
                <a:off x="703" y="2840"/>
                <a:ext cx="137" cy="137"/>
              </a:xfrm>
              <a:prstGeom prst="ellipse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62" name="Oval 53"/>
              <p:cNvSpPr/>
              <p:nvPr/>
            </p:nvSpPr>
            <p:spPr>
              <a:xfrm>
                <a:off x="1247" y="2840"/>
                <a:ext cx="137" cy="137"/>
              </a:xfrm>
              <a:prstGeom prst="ellipse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63" name="Oval 54"/>
              <p:cNvSpPr/>
              <p:nvPr/>
            </p:nvSpPr>
            <p:spPr>
              <a:xfrm>
                <a:off x="1610" y="2251"/>
                <a:ext cx="137" cy="137"/>
              </a:xfrm>
              <a:prstGeom prst="ellipse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64" name="Oval 55"/>
              <p:cNvSpPr/>
              <p:nvPr/>
            </p:nvSpPr>
            <p:spPr>
              <a:xfrm>
                <a:off x="430" y="2251"/>
                <a:ext cx="137" cy="137"/>
              </a:xfrm>
              <a:prstGeom prst="ellipse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65" name="Oval 56"/>
              <p:cNvSpPr/>
              <p:nvPr/>
            </p:nvSpPr>
            <p:spPr>
              <a:xfrm>
                <a:off x="975" y="1842"/>
                <a:ext cx="137" cy="137"/>
              </a:xfrm>
              <a:prstGeom prst="ellipse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366" name="Rectangle 57"/>
            <p:cNvSpPr/>
            <p:nvPr/>
          </p:nvSpPr>
          <p:spPr>
            <a:xfrm>
              <a:off x="1066" y="1661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3367" name="Rectangle 58"/>
            <p:cNvSpPr/>
            <p:nvPr/>
          </p:nvSpPr>
          <p:spPr>
            <a:xfrm>
              <a:off x="1519" y="193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3368" name="Rectangle 59"/>
            <p:cNvSpPr/>
            <p:nvPr/>
          </p:nvSpPr>
          <p:spPr>
            <a:xfrm>
              <a:off x="1338" y="264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3369" name="Rectangle 60"/>
            <p:cNvSpPr/>
            <p:nvPr/>
          </p:nvSpPr>
          <p:spPr>
            <a:xfrm>
              <a:off x="476" y="2704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3370" name="Rectangle 61"/>
            <p:cNvSpPr/>
            <p:nvPr/>
          </p:nvSpPr>
          <p:spPr>
            <a:xfrm>
              <a:off x="340" y="1933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3371" name="Rectangle 62"/>
            <p:cNvSpPr/>
            <p:nvPr/>
          </p:nvSpPr>
          <p:spPr>
            <a:xfrm>
              <a:off x="1073" y="2326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0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372" name="Group 87"/>
          <p:cNvGrpSpPr/>
          <p:nvPr/>
        </p:nvGrpSpPr>
        <p:grpSpPr>
          <a:xfrm>
            <a:off x="611188" y="4940300"/>
            <a:ext cx="2090737" cy="1801813"/>
            <a:chOff x="521" y="3170"/>
            <a:chExt cx="1317" cy="1135"/>
          </a:xfrm>
        </p:grpSpPr>
        <p:grpSp>
          <p:nvGrpSpPr>
            <p:cNvPr id="13373" name="Group 64"/>
            <p:cNvGrpSpPr/>
            <p:nvPr/>
          </p:nvGrpSpPr>
          <p:grpSpPr>
            <a:xfrm>
              <a:off x="521" y="3170"/>
              <a:ext cx="1317" cy="1135"/>
              <a:chOff x="430" y="1842"/>
              <a:chExt cx="1317" cy="1135"/>
            </a:xfrm>
          </p:grpSpPr>
          <p:sp>
            <p:nvSpPr>
              <p:cNvPr id="13374" name="Line 65"/>
              <p:cNvSpPr/>
              <p:nvPr/>
            </p:nvSpPr>
            <p:spPr>
              <a:xfrm flipV="1">
                <a:off x="793" y="2432"/>
                <a:ext cx="227" cy="4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75" name="Line 66"/>
              <p:cNvSpPr/>
              <p:nvPr/>
            </p:nvSpPr>
            <p:spPr>
              <a:xfrm>
                <a:off x="1066" y="2432"/>
                <a:ext cx="226" cy="4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76" name="Line 67"/>
              <p:cNvSpPr/>
              <p:nvPr/>
            </p:nvSpPr>
            <p:spPr>
              <a:xfrm>
                <a:off x="567" y="2341"/>
                <a:ext cx="408" cy="4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77" name="Line 68"/>
              <p:cNvSpPr/>
              <p:nvPr/>
            </p:nvSpPr>
            <p:spPr>
              <a:xfrm flipV="1">
                <a:off x="1111" y="2341"/>
                <a:ext cx="499" cy="4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78" name="Line 69"/>
              <p:cNvSpPr/>
              <p:nvPr/>
            </p:nvSpPr>
            <p:spPr>
              <a:xfrm>
                <a:off x="1048" y="1979"/>
                <a:ext cx="0" cy="36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79" name="Oval 70"/>
              <p:cNvSpPr/>
              <p:nvPr/>
            </p:nvSpPr>
            <p:spPr>
              <a:xfrm>
                <a:off x="975" y="2341"/>
                <a:ext cx="137" cy="137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80" name="Oval 71"/>
              <p:cNvSpPr/>
              <p:nvPr/>
            </p:nvSpPr>
            <p:spPr>
              <a:xfrm>
                <a:off x="703" y="2840"/>
                <a:ext cx="137" cy="137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81" name="Oval 72"/>
              <p:cNvSpPr/>
              <p:nvPr/>
            </p:nvSpPr>
            <p:spPr>
              <a:xfrm>
                <a:off x="1247" y="2840"/>
                <a:ext cx="137" cy="137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82" name="Oval 73"/>
              <p:cNvSpPr/>
              <p:nvPr/>
            </p:nvSpPr>
            <p:spPr>
              <a:xfrm>
                <a:off x="1610" y="2251"/>
                <a:ext cx="137" cy="137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83" name="Oval 74"/>
              <p:cNvSpPr/>
              <p:nvPr/>
            </p:nvSpPr>
            <p:spPr>
              <a:xfrm>
                <a:off x="430" y="2251"/>
                <a:ext cx="137" cy="137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84" name="Oval 75"/>
              <p:cNvSpPr/>
              <p:nvPr/>
            </p:nvSpPr>
            <p:spPr>
              <a:xfrm>
                <a:off x="975" y="1842"/>
                <a:ext cx="137" cy="137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385" name="Line 82"/>
            <p:cNvSpPr/>
            <p:nvPr/>
          </p:nvSpPr>
          <p:spPr>
            <a:xfrm flipV="1">
              <a:off x="612" y="3249"/>
              <a:ext cx="454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86" name="Line 83"/>
            <p:cNvSpPr/>
            <p:nvPr/>
          </p:nvSpPr>
          <p:spPr>
            <a:xfrm>
              <a:off x="1202" y="3249"/>
              <a:ext cx="544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87" name="Line 84"/>
            <p:cNvSpPr/>
            <p:nvPr/>
          </p:nvSpPr>
          <p:spPr>
            <a:xfrm>
              <a:off x="612" y="3702"/>
              <a:ext cx="227" cy="49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88" name="Line 85"/>
            <p:cNvSpPr/>
            <p:nvPr/>
          </p:nvSpPr>
          <p:spPr>
            <a:xfrm flipV="1">
              <a:off x="1429" y="3702"/>
              <a:ext cx="317" cy="49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89" name="Line 86"/>
            <p:cNvSpPr/>
            <p:nvPr/>
          </p:nvSpPr>
          <p:spPr>
            <a:xfrm>
              <a:off x="921" y="4247"/>
              <a:ext cx="40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3390" name="Group 88"/>
          <p:cNvGrpSpPr/>
          <p:nvPr/>
        </p:nvGrpSpPr>
        <p:grpSpPr>
          <a:xfrm>
            <a:off x="3419475" y="4940300"/>
            <a:ext cx="2090738" cy="1801813"/>
            <a:chOff x="521" y="3170"/>
            <a:chExt cx="1317" cy="1135"/>
          </a:xfrm>
        </p:grpSpPr>
        <p:grpSp>
          <p:nvGrpSpPr>
            <p:cNvPr id="13391" name="Group 89"/>
            <p:cNvGrpSpPr/>
            <p:nvPr/>
          </p:nvGrpSpPr>
          <p:grpSpPr>
            <a:xfrm>
              <a:off x="521" y="3170"/>
              <a:ext cx="1317" cy="1135"/>
              <a:chOff x="430" y="1842"/>
              <a:chExt cx="1317" cy="1135"/>
            </a:xfrm>
          </p:grpSpPr>
          <p:sp>
            <p:nvSpPr>
              <p:cNvPr id="13392" name="Line 90"/>
              <p:cNvSpPr/>
              <p:nvPr/>
            </p:nvSpPr>
            <p:spPr>
              <a:xfrm flipV="1">
                <a:off x="793" y="2432"/>
                <a:ext cx="227" cy="4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93" name="Line 91"/>
              <p:cNvSpPr/>
              <p:nvPr/>
            </p:nvSpPr>
            <p:spPr>
              <a:xfrm>
                <a:off x="1066" y="2432"/>
                <a:ext cx="226" cy="4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94" name="Line 92"/>
              <p:cNvSpPr/>
              <p:nvPr/>
            </p:nvSpPr>
            <p:spPr>
              <a:xfrm>
                <a:off x="567" y="2341"/>
                <a:ext cx="408" cy="4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95" name="Line 93"/>
              <p:cNvSpPr/>
              <p:nvPr/>
            </p:nvSpPr>
            <p:spPr>
              <a:xfrm flipV="1">
                <a:off x="1111" y="2341"/>
                <a:ext cx="499" cy="4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96" name="Line 94"/>
              <p:cNvSpPr/>
              <p:nvPr/>
            </p:nvSpPr>
            <p:spPr>
              <a:xfrm>
                <a:off x="1048" y="1979"/>
                <a:ext cx="0" cy="36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97" name="Oval 95"/>
              <p:cNvSpPr/>
              <p:nvPr/>
            </p:nvSpPr>
            <p:spPr>
              <a:xfrm>
                <a:off x="975" y="2341"/>
                <a:ext cx="137" cy="137"/>
              </a:xfrm>
              <a:prstGeom prst="ellipse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98" name="Oval 96"/>
              <p:cNvSpPr/>
              <p:nvPr/>
            </p:nvSpPr>
            <p:spPr>
              <a:xfrm>
                <a:off x="703" y="2840"/>
                <a:ext cx="137" cy="137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99" name="Oval 97"/>
              <p:cNvSpPr/>
              <p:nvPr/>
            </p:nvSpPr>
            <p:spPr>
              <a:xfrm>
                <a:off x="1247" y="2840"/>
                <a:ext cx="137" cy="137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00" name="Oval 98"/>
              <p:cNvSpPr/>
              <p:nvPr/>
            </p:nvSpPr>
            <p:spPr>
              <a:xfrm>
                <a:off x="1610" y="2251"/>
                <a:ext cx="137" cy="137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01" name="Oval 99"/>
              <p:cNvSpPr/>
              <p:nvPr/>
            </p:nvSpPr>
            <p:spPr>
              <a:xfrm>
                <a:off x="430" y="2251"/>
                <a:ext cx="137" cy="137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02" name="Oval 100"/>
              <p:cNvSpPr/>
              <p:nvPr/>
            </p:nvSpPr>
            <p:spPr>
              <a:xfrm>
                <a:off x="975" y="1842"/>
                <a:ext cx="137" cy="137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403" name="Line 101"/>
            <p:cNvSpPr/>
            <p:nvPr/>
          </p:nvSpPr>
          <p:spPr>
            <a:xfrm flipV="1">
              <a:off x="612" y="3249"/>
              <a:ext cx="454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04" name="Line 102"/>
            <p:cNvSpPr/>
            <p:nvPr/>
          </p:nvSpPr>
          <p:spPr>
            <a:xfrm>
              <a:off x="1202" y="3249"/>
              <a:ext cx="544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05" name="Line 103"/>
            <p:cNvSpPr/>
            <p:nvPr/>
          </p:nvSpPr>
          <p:spPr>
            <a:xfrm>
              <a:off x="612" y="3702"/>
              <a:ext cx="227" cy="49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06" name="Line 104"/>
            <p:cNvSpPr/>
            <p:nvPr/>
          </p:nvSpPr>
          <p:spPr>
            <a:xfrm flipV="1">
              <a:off x="1429" y="3702"/>
              <a:ext cx="317" cy="49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07" name="Line 105"/>
            <p:cNvSpPr/>
            <p:nvPr/>
          </p:nvSpPr>
          <p:spPr>
            <a:xfrm>
              <a:off x="921" y="4247"/>
              <a:ext cx="40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3408" name="Group 124"/>
          <p:cNvGrpSpPr/>
          <p:nvPr/>
        </p:nvGrpSpPr>
        <p:grpSpPr>
          <a:xfrm>
            <a:off x="6442075" y="4941888"/>
            <a:ext cx="2090738" cy="1801812"/>
            <a:chOff x="521" y="3170"/>
            <a:chExt cx="1317" cy="1135"/>
          </a:xfrm>
        </p:grpSpPr>
        <p:grpSp>
          <p:nvGrpSpPr>
            <p:cNvPr id="13409" name="Group 125"/>
            <p:cNvGrpSpPr/>
            <p:nvPr/>
          </p:nvGrpSpPr>
          <p:grpSpPr>
            <a:xfrm>
              <a:off x="521" y="3170"/>
              <a:ext cx="1317" cy="1135"/>
              <a:chOff x="430" y="1842"/>
              <a:chExt cx="1317" cy="1135"/>
            </a:xfrm>
          </p:grpSpPr>
          <p:sp>
            <p:nvSpPr>
              <p:cNvPr id="13410" name="Line 126"/>
              <p:cNvSpPr/>
              <p:nvPr/>
            </p:nvSpPr>
            <p:spPr>
              <a:xfrm flipV="1">
                <a:off x="793" y="2432"/>
                <a:ext cx="227" cy="4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411" name="Line 127"/>
              <p:cNvSpPr/>
              <p:nvPr/>
            </p:nvSpPr>
            <p:spPr>
              <a:xfrm>
                <a:off x="1066" y="2432"/>
                <a:ext cx="226" cy="40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412" name="Line 128"/>
              <p:cNvSpPr/>
              <p:nvPr/>
            </p:nvSpPr>
            <p:spPr>
              <a:xfrm>
                <a:off x="567" y="2341"/>
                <a:ext cx="408" cy="4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413" name="Line 129"/>
              <p:cNvSpPr/>
              <p:nvPr/>
            </p:nvSpPr>
            <p:spPr>
              <a:xfrm flipV="1">
                <a:off x="1111" y="2341"/>
                <a:ext cx="499" cy="4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414" name="Line 130"/>
              <p:cNvSpPr/>
              <p:nvPr/>
            </p:nvSpPr>
            <p:spPr>
              <a:xfrm>
                <a:off x="1048" y="1979"/>
                <a:ext cx="0" cy="36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415" name="Oval 131"/>
              <p:cNvSpPr/>
              <p:nvPr/>
            </p:nvSpPr>
            <p:spPr>
              <a:xfrm>
                <a:off x="975" y="2341"/>
                <a:ext cx="137" cy="137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16" name="Oval 132"/>
              <p:cNvSpPr/>
              <p:nvPr/>
            </p:nvSpPr>
            <p:spPr>
              <a:xfrm>
                <a:off x="703" y="2840"/>
                <a:ext cx="137" cy="13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17" name="Oval 133"/>
              <p:cNvSpPr/>
              <p:nvPr/>
            </p:nvSpPr>
            <p:spPr>
              <a:xfrm>
                <a:off x="1247" y="2840"/>
                <a:ext cx="137" cy="137"/>
              </a:xfrm>
              <a:prstGeom prst="ellipse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18" name="Oval 134"/>
              <p:cNvSpPr/>
              <p:nvPr/>
            </p:nvSpPr>
            <p:spPr>
              <a:xfrm>
                <a:off x="1610" y="2251"/>
                <a:ext cx="137" cy="137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19" name="Oval 135"/>
              <p:cNvSpPr/>
              <p:nvPr/>
            </p:nvSpPr>
            <p:spPr>
              <a:xfrm>
                <a:off x="430" y="2251"/>
                <a:ext cx="137" cy="137"/>
              </a:xfrm>
              <a:prstGeom prst="ellipse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20" name="Oval 136"/>
              <p:cNvSpPr/>
              <p:nvPr/>
            </p:nvSpPr>
            <p:spPr>
              <a:xfrm>
                <a:off x="975" y="1842"/>
                <a:ext cx="137" cy="137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421" name="Line 137"/>
            <p:cNvSpPr/>
            <p:nvPr/>
          </p:nvSpPr>
          <p:spPr>
            <a:xfrm flipV="1">
              <a:off x="612" y="3249"/>
              <a:ext cx="454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2" name="Line 138"/>
            <p:cNvSpPr/>
            <p:nvPr/>
          </p:nvSpPr>
          <p:spPr>
            <a:xfrm>
              <a:off x="1202" y="3249"/>
              <a:ext cx="544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3" name="Line 139"/>
            <p:cNvSpPr/>
            <p:nvPr/>
          </p:nvSpPr>
          <p:spPr>
            <a:xfrm>
              <a:off x="612" y="3702"/>
              <a:ext cx="227" cy="49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4" name="Line 140"/>
            <p:cNvSpPr/>
            <p:nvPr/>
          </p:nvSpPr>
          <p:spPr>
            <a:xfrm flipV="1">
              <a:off x="1429" y="3702"/>
              <a:ext cx="317" cy="49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5" name="Line 141"/>
            <p:cNvSpPr/>
            <p:nvPr/>
          </p:nvSpPr>
          <p:spPr>
            <a:xfrm>
              <a:off x="921" y="4247"/>
              <a:ext cx="40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举例</a:t>
            </a:r>
            <a:endParaRPr lang="zh-CN" altLang="en-US"/>
          </a:p>
        </p:txBody>
      </p:sp>
      <p:grpSp>
        <p:nvGrpSpPr>
          <p:cNvPr id="14338" name="组 39"/>
          <p:cNvGrpSpPr/>
          <p:nvPr/>
        </p:nvGrpSpPr>
        <p:grpSpPr>
          <a:xfrm>
            <a:off x="2012950" y="2319338"/>
            <a:ext cx="2559050" cy="3054350"/>
            <a:chOff x="874718" y="1311151"/>
            <a:chExt cx="2257122" cy="2693913"/>
          </a:xfrm>
        </p:grpSpPr>
        <p:sp>
          <p:nvSpPr>
            <p:cNvPr id="14339" name="椭圆 5"/>
            <p:cNvSpPr/>
            <p:nvPr/>
          </p:nvSpPr>
          <p:spPr>
            <a:xfrm>
              <a:off x="1132479" y="2102917"/>
              <a:ext cx="144016" cy="14401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4340" name="椭圆 6"/>
            <p:cNvSpPr/>
            <p:nvPr/>
          </p:nvSpPr>
          <p:spPr>
            <a:xfrm rot="8100000">
              <a:off x="1157797" y="3098787"/>
              <a:ext cx="144016" cy="14401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4341" name="椭圆 7"/>
            <p:cNvSpPr/>
            <p:nvPr/>
          </p:nvSpPr>
          <p:spPr>
            <a:xfrm>
              <a:off x="2699792" y="2132856"/>
              <a:ext cx="144016" cy="14401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4342" name="椭圆 8"/>
            <p:cNvSpPr/>
            <p:nvPr/>
          </p:nvSpPr>
          <p:spPr>
            <a:xfrm>
              <a:off x="2699792" y="3098787"/>
              <a:ext cx="144016" cy="14401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4343" name="椭圆 9"/>
            <p:cNvSpPr/>
            <p:nvPr/>
          </p:nvSpPr>
          <p:spPr>
            <a:xfrm>
              <a:off x="1904554" y="3573016"/>
              <a:ext cx="144016" cy="14401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4344" name="椭圆 10"/>
            <p:cNvSpPr/>
            <p:nvPr/>
          </p:nvSpPr>
          <p:spPr>
            <a:xfrm>
              <a:off x="1904554" y="1622713"/>
              <a:ext cx="144016" cy="14401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cxnSp>
          <p:nvCxnSpPr>
            <p:cNvPr id="14345" name="直线连接符 12"/>
            <p:cNvCxnSpPr>
              <a:stCxn id="14339" idx="4"/>
              <a:endCxn id="14340" idx="3"/>
            </p:cNvCxnSpPr>
            <p:nvPr/>
          </p:nvCxnSpPr>
          <p:spPr>
            <a:xfrm>
              <a:off x="1204487" y="2246933"/>
              <a:ext cx="25318" cy="85185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46" name="直线连接符 14"/>
            <p:cNvCxnSpPr>
              <a:stCxn id="14339" idx="7"/>
              <a:endCxn id="14344" idx="3"/>
            </p:cNvCxnSpPr>
            <p:nvPr/>
          </p:nvCxnSpPr>
          <p:spPr>
            <a:xfrm flipV="1">
              <a:off x="1255404" y="1745638"/>
              <a:ext cx="670241" cy="37837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47" name="直线连接符 16"/>
            <p:cNvCxnSpPr>
              <a:stCxn id="14344" idx="5"/>
              <a:endCxn id="14342" idx="1"/>
            </p:cNvCxnSpPr>
            <p:nvPr/>
          </p:nvCxnSpPr>
          <p:spPr>
            <a:xfrm>
              <a:off x="2027479" y="1745638"/>
              <a:ext cx="693404" cy="1374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48" name="直线连接符 18"/>
            <p:cNvCxnSpPr>
              <a:stCxn id="14341" idx="4"/>
              <a:endCxn id="14342" idx="0"/>
            </p:cNvCxnSpPr>
            <p:nvPr/>
          </p:nvCxnSpPr>
          <p:spPr>
            <a:xfrm>
              <a:off x="2771800" y="2276872"/>
              <a:ext cx="0" cy="82191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49" name="直线连接符 20"/>
            <p:cNvCxnSpPr>
              <a:stCxn id="14340" idx="0"/>
              <a:endCxn id="14343" idx="1"/>
            </p:cNvCxnSpPr>
            <p:nvPr/>
          </p:nvCxnSpPr>
          <p:spPr>
            <a:xfrm>
              <a:off x="1280722" y="3221712"/>
              <a:ext cx="644923" cy="37239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50" name="直线连接符 24"/>
            <p:cNvCxnSpPr>
              <a:stCxn id="14343" idx="7"/>
              <a:endCxn id="14342" idx="3"/>
            </p:cNvCxnSpPr>
            <p:nvPr/>
          </p:nvCxnSpPr>
          <p:spPr>
            <a:xfrm flipV="1">
              <a:off x="2027479" y="3221712"/>
              <a:ext cx="693404" cy="37239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51" name="直线连接符 26"/>
            <p:cNvCxnSpPr>
              <a:stCxn id="14344" idx="4"/>
              <a:endCxn id="14343" idx="0"/>
            </p:cNvCxnSpPr>
            <p:nvPr/>
          </p:nvCxnSpPr>
          <p:spPr>
            <a:xfrm>
              <a:off x="1976562" y="1766729"/>
              <a:ext cx="0" cy="180628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52" name="直线连接符 28"/>
            <p:cNvCxnSpPr>
              <a:stCxn id="14340" idx="1"/>
              <a:endCxn id="14341" idx="3"/>
            </p:cNvCxnSpPr>
            <p:nvPr/>
          </p:nvCxnSpPr>
          <p:spPr>
            <a:xfrm flipV="1">
              <a:off x="1301813" y="2255781"/>
              <a:ext cx="1419070" cy="9150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53" name="直线连接符 31"/>
            <p:cNvCxnSpPr>
              <a:stCxn id="14339" idx="6"/>
              <a:endCxn id="14341" idx="1"/>
            </p:cNvCxnSpPr>
            <p:nvPr/>
          </p:nvCxnSpPr>
          <p:spPr>
            <a:xfrm flipV="1">
              <a:off x="1276495" y="2153947"/>
              <a:ext cx="1444388" cy="2097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354" name="文本框 32"/>
            <p:cNvSpPr txBox="1"/>
            <p:nvPr/>
          </p:nvSpPr>
          <p:spPr>
            <a:xfrm>
              <a:off x="874718" y="1917421"/>
              <a:ext cx="312245" cy="3990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000" b="0" i="1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endParaRPr lang="zh-CN" altLang="en-US" sz="2000" b="0" i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4355" name="文本框 33"/>
            <p:cNvSpPr txBox="1"/>
            <p:nvPr/>
          </p:nvSpPr>
          <p:spPr>
            <a:xfrm>
              <a:off x="1640628" y="1311151"/>
              <a:ext cx="338848" cy="4620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b="0" i="1" dirty="0">
                  <a:latin typeface="Times New Roman" panose="02020603050405020304" charset="0"/>
                  <a:ea typeface="宋体" panose="02010600030101010101" pitchFamily="2" charset="-122"/>
                </a:rPr>
                <a:t>b</a:t>
              </a:r>
              <a:endParaRPr lang="zh-CN" altLang="en-US" sz="2400" b="0" i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4356" name="文本框 34"/>
            <p:cNvSpPr txBox="1"/>
            <p:nvPr/>
          </p:nvSpPr>
          <p:spPr>
            <a:xfrm>
              <a:off x="2819596" y="1988830"/>
              <a:ext cx="298242" cy="4004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000" b="0" i="1" dirty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endParaRPr lang="en-US" altLang="zh-CN" sz="2000" b="0" i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4357" name="文本框 35"/>
            <p:cNvSpPr txBox="1"/>
            <p:nvPr/>
          </p:nvSpPr>
          <p:spPr>
            <a:xfrm>
              <a:off x="2819596" y="2956342"/>
              <a:ext cx="312244" cy="4004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000" b="0" i="1" dirty="0">
                  <a:latin typeface="Times New Roman" panose="02020603050405020304" charset="0"/>
                  <a:ea typeface="宋体" panose="02010600030101010101" pitchFamily="2" charset="-122"/>
                </a:rPr>
                <a:t>d</a:t>
              </a:r>
              <a:endParaRPr lang="zh-CN" altLang="en-US" sz="2000" b="0" i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4358" name="文本框 36"/>
            <p:cNvSpPr txBox="1"/>
            <p:nvPr/>
          </p:nvSpPr>
          <p:spPr>
            <a:xfrm>
              <a:off x="1811452" y="3604617"/>
              <a:ext cx="298242" cy="4004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000" b="0" i="1" dirty="0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endParaRPr lang="zh-CN" altLang="en-US" sz="2000" b="0" i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4359" name="文本框 37"/>
            <p:cNvSpPr txBox="1"/>
            <p:nvPr/>
          </p:nvSpPr>
          <p:spPr>
            <a:xfrm>
              <a:off x="899922" y="2956342"/>
              <a:ext cx="254836" cy="4004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000" b="0" i="1" dirty="0">
                  <a:latin typeface="Times New Roman" panose="02020603050405020304" charset="0"/>
                  <a:ea typeface="宋体" panose="02010600030101010101" pitchFamily="2" charset="-122"/>
                </a:rPr>
                <a:t>f</a:t>
              </a:r>
              <a:endParaRPr lang="zh-CN" altLang="en-US" sz="2000" b="0" i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360" name="内容占位符 38"/>
          <p:cNvSpPr>
            <a:spLocks noGrp="1"/>
          </p:cNvSpPr>
          <p:nvPr>
            <p:ph idx="1"/>
          </p:nvPr>
        </p:nvSpPr>
        <p:spPr>
          <a:xfrm>
            <a:off x="179388" y="1317625"/>
            <a:ext cx="8496300" cy="904875"/>
          </a:xfrm>
        </p:spPr>
        <p:txBody>
          <a:bodyPr vert="horz" wrap="square" lIns="91440" tIns="45720" rIns="91440" bIns="45720" anchor="t" anchorCtr="0"/>
          <a:p>
            <a:r>
              <a:rPr lang="zh-CN" altLang="en-US"/>
              <a:t>求下图所示无向图的所有极小支配集和最小支配集及</a:t>
            </a:r>
            <a:r>
              <a:rPr lang="en-US" altLang="zh-CN">
                <a:sym typeface="Symbol" panose="05050102010706020507" charset="2"/>
              </a:rPr>
              <a:t></a:t>
            </a:r>
            <a:r>
              <a:rPr lang="en-US" altLang="zh-CN" baseline="-25000"/>
              <a:t>0</a:t>
            </a:r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5570220" y="2222500"/>
            <a:ext cx="1032510" cy="37846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altLang="zh-CN" sz="2400">
                <a:latin typeface="Tahoma" panose="020B0604030504040204" charset="0"/>
                <a:ea typeface="宋体" panose="02010600030101010101" pitchFamily="2" charset="-122"/>
              </a:rPr>
              <a:t>{a,b}</a:t>
            </a:r>
            <a:endParaRPr lang="en-US" altLang="zh-CN" sz="2400">
              <a:latin typeface="Tahoma" panose="020B060403050404020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400">
                <a:latin typeface="Tahoma" panose="020B0604030504040204" charset="0"/>
                <a:ea typeface="宋体" panose="02010600030101010101" pitchFamily="2" charset="-122"/>
              </a:rPr>
              <a:t>{a,e}</a:t>
            </a:r>
            <a:endParaRPr lang="en-US" altLang="zh-CN" sz="2400">
              <a:latin typeface="Tahoma" panose="020B060403050404020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400">
                <a:latin typeface="Tahoma" panose="020B0604030504040204" charset="0"/>
                <a:ea typeface="宋体" panose="02010600030101010101" pitchFamily="2" charset="-122"/>
              </a:rPr>
              <a:t>{a,d}</a:t>
            </a:r>
            <a:endParaRPr lang="en-US" altLang="zh-CN" sz="2400">
              <a:latin typeface="Tahoma" panose="020B060403050404020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400">
                <a:latin typeface="Tahoma" panose="020B0604030504040204" charset="0"/>
                <a:ea typeface="宋体" panose="02010600030101010101" pitchFamily="2" charset="-122"/>
              </a:rPr>
              <a:t>{b,c}</a:t>
            </a:r>
            <a:endParaRPr lang="en-US" altLang="zh-CN" sz="2400">
              <a:latin typeface="Tahoma" panose="020B060403050404020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400">
                <a:latin typeface="Tahoma" panose="020B0604030504040204" charset="0"/>
                <a:ea typeface="宋体" panose="02010600030101010101" pitchFamily="2" charset="-122"/>
              </a:rPr>
              <a:t>{b,f}</a:t>
            </a:r>
            <a:endParaRPr lang="en-US" altLang="zh-CN" sz="2400">
              <a:latin typeface="Tahoma" panose="020B060403050404020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400">
                <a:latin typeface="Tahoma" panose="020B0604030504040204" charset="0"/>
                <a:ea typeface="宋体" panose="02010600030101010101" pitchFamily="2" charset="-122"/>
              </a:rPr>
              <a:t>{c,d}</a:t>
            </a:r>
            <a:endParaRPr lang="en-US" altLang="zh-CN" sz="2400">
              <a:latin typeface="Tahoma" panose="020B060403050404020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400">
                <a:latin typeface="Tahoma" panose="020B0604030504040204" charset="0"/>
                <a:ea typeface="宋体" panose="02010600030101010101" pitchFamily="2" charset="-122"/>
              </a:rPr>
              <a:t>{c,e}</a:t>
            </a:r>
            <a:endParaRPr lang="en-US" altLang="zh-CN" sz="2400">
              <a:latin typeface="Tahoma" panose="020B060403050404020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400">
                <a:latin typeface="Tahoma" panose="020B0604030504040204" charset="0"/>
                <a:ea typeface="宋体" panose="02010600030101010101" pitchFamily="2" charset="-122"/>
              </a:rPr>
              <a:t>{d,f}</a:t>
            </a:r>
            <a:endParaRPr lang="en-US" altLang="zh-CN" sz="2400">
              <a:latin typeface="Tahoma" panose="020B060403050404020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400">
                <a:latin typeface="Tahoma" panose="020B0604030504040204" charset="0"/>
                <a:ea typeface="宋体" panose="02010600030101010101" pitchFamily="2" charset="-122"/>
              </a:rPr>
              <a:t>{e,f}</a:t>
            </a:r>
            <a:endParaRPr lang="en-US" altLang="zh-CN" sz="2400">
              <a:latin typeface="Tahoma" panose="020B060403050404020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400">
                <a:latin typeface="Tahoma" panose="020B0604030504040204" charset="0"/>
                <a:ea typeface="宋体" panose="02010600030101010101" pitchFamily="2" charset="-122"/>
                <a:sym typeface="Symbol" panose="05050102010706020507" charset="2"/>
              </a:rPr>
              <a:t></a:t>
            </a:r>
            <a:r>
              <a:rPr lang="en-US" altLang="zh-CN" sz="2400" baseline="-25000">
                <a:latin typeface="Tahoma" panose="020B0604030504040204" charset="0"/>
                <a:ea typeface="宋体" panose="02010600030101010101" pitchFamily="2" charset="-122"/>
              </a:rPr>
              <a:t>0</a:t>
            </a:r>
            <a:r>
              <a:rPr lang="en-US" altLang="zh-CN" sz="3200" baseline="-25000">
                <a:latin typeface="Tahoma" panose="020B0604030504040204" charset="0"/>
                <a:ea typeface="宋体" panose="02010600030101010101" pitchFamily="2" charset="-122"/>
              </a:rPr>
              <a:t>=2</a:t>
            </a:r>
            <a:endParaRPr lang="en-US" altLang="zh-CN" sz="3200" baseline="-25000"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定理</a:t>
            </a:r>
            <a:r>
              <a:rPr kumimoji="0" lang="en-US" altLang="zh-CN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13.1</a:t>
            </a:r>
            <a:endParaRPr kumimoji="0" lang="en-US" altLang="zh-CN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338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331152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13.1:</a:t>
            </a:r>
            <a:r>
              <a:rPr lang="en-US" altLang="zh-CN"/>
              <a:t> </a:t>
            </a:r>
            <a:r>
              <a:rPr lang="zh-CN" altLang="en-US"/>
              <a:t>无向图</a:t>
            </a:r>
            <a:r>
              <a:rPr lang="en-US" altLang="zh-CN"/>
              <a:t>G</a:t>
            </a:r>
            <a:r>
              <a:rPr lang="zh-CN" altLang="en-US"/>
              <a:t>无孤立点</a:t>
            </a:r>
            <a:r>
              <a:rPr lang="en-US" altLang="zh-CN"/>
              <a:t>,V</a:t>
            </a:r>
            <a:r>
              <a:rPr lang="en-US" altLang="zh-CN" baseline="-25000"/>
              <a:t>1</a:t>
            </a:r>
            <a:r>
              <a:rPr lang="en-US" altLang="zh-CN"/>
              <a:t>*</a:t>
            </a:r>
            <a:r>
              <a:rPr lang="zh-CN" altLang="en-US"/>
              <a:t>是极小支配集</a:t>
            </a:r>
            <a:r>
              <a:rPr lang="en-US" altLang="zh-CN"/>
              <a:t>,</a:t>
            </a:r>
            <a:r>
              <a:rPr lang="zh-CN" altLang="en-US"/>
              <a:t>则存在</a:t>
            </a:r>
            <a:r>
              <a:rPr lang="en-US" altLang="zh-CN"/>
              <a:t>V</a:t>
            </a:r>
            <a:r>
              <a:rPr lang="en-US" altLang="zh-CN" baseline="-25000"/>
              <a:t>2</a:t>
            </a:r>
            <a:r>
              <a:rPr lang="en-US" altLang="zh-CN"/>
              <a:t>*</a:t>
            </a:r>
            <a:r>
              <a:rPr lang="zh-CN" altLang="en-US"/>
              <a:t>也是极小支配集</a:t>
            </a:r>
            <a:r>
              <a:rPr lang="en-US" altLang="zh-CN"/>
              <a:t>,</a:t>
            </a:r>
            <a:r>
              <a:rPr lang="zh-CN" altLang="en-US"/>
              <a:t>且</a:t>
            </a:r>
            <a:r>
              <a:rPr lang="en-US" altLang="zh-CN"/>
              <a:t>V</a:t>
            </a:r>
            <a:r>
              <a:rPr lang="en-US" altLang="zh-CN" baseline="-25000"/>
              <a:t>1</a:t>
            </a:r>
            <a:r>
              <a:rPr lang="en-US" altLang="zh-CN"/>
              <a:t>*∩V</a:t>
            </a:r>
            <a:r>
              <a:rPr lang="en-US" altLang="zh-CN" baseline="-25000"/>
              <a:t>2</a:t>
            </a:r>
            <a:r>
              <a:rPr lang="en-US" altLang="zh-CN">
                <a:sym typeface="黑体" panose="02010609060101010101" charset="-122"/>
              </a:rPr>
              <a:t>*</a:t>
            </a:r>
            <a:r>
              <a:rPr lang="en-US" altLang="zh-CN"/>
              <a:t>=</a:t>
            </a:r>
            <a:r>
              <a:rPr lang="en-US" altLang="zh-CN">
                <a:sym typeface="Symbol" panose="05050102010706020507" charset="2"/>
              </a:rPr>
              <a:t></a:t>
            </a:r>
            <a:r>
              <a:rPr lang="en-US" altLang="zh-CN"/>
              <a:t>.</a:t>
            </a:r>
            <a:endParaRPr lang="en-US" altLang="zh-CN"/>
          </a:p>
          <a:p>
            <a:pPr eaLnBrk="1" hangingPunct="1">
              <a:buNone/>
            </a:pPr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V</a:t>
            </a:r>
            <a:r>
              <a:rPr lang="en-US" altLang="zh-CN" baseline="-25000"/>
              <a:t>1</a:t>
            </a:r>
            <a:r>
              <a:rPr lang="en-US" altLang="zh-CN"/>
              <a:t>*</a:t>
            </a:r>
            <a:r>
              <a:rPr lang="zh-CN" altLang="en-US"/>
              <a:t>是极小支配集</a:t>
            </a:r>
            <a:r>
              <a:rPr lang="en-US" altLang="zh-CN"/>
              <a:t>,</a:t>
            </a:r>
            <a:r>
              <a:rPr lang="zh-CN" altLang="en-US"/>
              <a:t>则</a:t>
            </a:r>
            <a:r>
              <a:rPr lang="en-US" altLang="zh-CN"/>
              <a:t>V-V</a:t>
            </a:r>
            <a:r>
              <a:rPr lang="en-US" altLang="zh-CN" baseline="-25000"/>
              <a:t>1</a:t>
            </a:r>
            <a:r>
              <a:rPr lang="en-US" altLang="zh-CN"/>
              <a:t>*</a:t>
            </a:r>
            <a:r>
              <a:rPr lang="zh-CN" altLang="en-US"/>
              <a:t>也是支配集</a:t>
            </a:r>
            <a:r>
              <a:rPr lang="en-US" altLang="zh-CN"/>
              <a:t>.</a:t>
            </a:r>
            <a:r>
              <a:rPr lang="en-US" altLang="zh-CN" sz="2400">
                <a:solidFill>
                  <a:srgbClr val="FF00FF"/>
                </a:solidFill>
              </a:rPr>
              <a:t> </a:t>
            </a:r>
            <a:r>
              <a:rPr lang="zh-CN" altLang="en-US">
                <a:solidFill>
                  <a:srgbClr val="FF00FF"/>
                </a:solidFill>
              </a:rPr>
              <a:t>否则</a:t>
            </a:r>
            <a:r>
              <a:rPr lang="en-US" altLang="zh-CN">
                <a:solidFill>
                  <a:srgbClr val="FF00FF"/>
                </a:solidFill>
              </a:rPr>
              <a:t>, ∃</a:t>
            </a:r>
            <a:r>
              <a:rPr lang="en-US" altLang="zh-CN" i="1">
                <a:solidFill>
                  <a:srgbClr val="FF00FF"/>
                </a:solidFill>
              </a:rPr>
              <a:t>u</a:t>
            </a:r>
            <a:r>
              <a:rPr lang="en-US" altLang="zh-CN">
                <a:solidFill>
                  <a:srgbClr val="FF00FF"/>
                </a:solidFill>
              </a:rPr>
              <a:t>∈</a:t>
            </a:r>
            <a:r>
              <a:rPr lang="en-US" altLang="zh-CN" i="1">
                <a:solidFill>
                  <a:srgbClr val="FF00FF"/>
                </a:solidFill>
              </a:rPr>
              <a:t>V</a:t>
            </a:r>
            <a:r>
              <a:rPr lang="en-US" altLang="zh-CN" baseline="-25000">
                <a:solidFill>
                  <a:srgbClr val="FF00FF"/>
                </a:solidFill>
              </a:rPr>
              <a:t>1</a:t>
            </a:r>
            <a:r>
              <a:rPr lang="en-US" altLang="zh-CN">
                <a:solidFill>
                  <a:srgbClr val="FF00FF"/>
                </a:solidFill>
              </a:rPr>
              <a:t>*, ∀</a:t>
            </a:r>
            <a:r>
              <a:rPr lang="en-US" altLang="zh-CN" i="1">
                <a:solidFill>
                  <a:srgbClr val="FF00FF"/>
                </a:solidFill>
              </a:rPr>
              <a:t>v</a:t>
            </a:r>
            <a:r>
              <a:rPr lang="en-US" altLang="zh-CN">
                <a:solidFill>
                  <a:srgbClr val="FF00FF"/>
                </a:solidFill>
              </a:rPr>
              <a:t>∈</a:t>
            </a:r>
            <a:r>
              <a:rPr lang="en-US" altLang="zh-CN" i="1">
                <a:solidFill>
                  <a:srgbClr val="FF00FF"/>
                </a:solidFill>
              </a:rPr>
              <a:t>V</a:t>
            </a:r>
            <a:r>
              <a:rPr lang="en-US" altLang="zh-CN">
                <a:solidFill>
                  <a:srgbClr val="FF00FF"/>
                </a:solidFill>
              </a:rPr>
              <a:t>-V</a:t>
            </a:r>
            <a:r>
              <a:rPr lang="en-US" altLang="zh-CN" baseline="-25000">
                <a:solidFill>
                  <a:srgbClr val="FF00FF"/>
                </a:solidFill>
              </a:rPr>
              <a:t>1</a:t>
            </a:r>
            <a:r>
              <a:rPr lang="en-US" altLang="zh-CN">
                <a:solidFill>
                  <a:srgbClr val="FF00FF"/>
                </a:solidFill>
              </a:rPr>
              <a:t>*,(</a:t>
            </a:r>
            <a:r>
              <a:rPr lang="en-US" altLang="zh-CN" i="1">
                <a:solidFill>
                  <a:srgbClr val="FF00FF"/>
                </a:solidFill>
              </a:rPr>
              <a:t>u</a:t>
            </a:r>
            <a:r>
              <a:rPr lang="en-US" altLang="zh-CN">
                <a:solidFill>
                  <a:srgbClr val="FF00FF"/>
                </a:solidFill>
              </a:rPr>
              <a:t>,</a:t>
            </a:r>
            <a:r>
              <a:rPr lang="en-US" altLang="zh-CN" i="1">
                <a:solidFill>
                  <a:srgbClr val="FF00FF"/>
                </a:solidFill>
              </a:rPr>
              <a:t>v</a:t>
            </a:r>
            <a:r>
              <a:rPr lang="en-US" altLang="zh-CN">
                <a:solidFill>
                  <a:srgbClr val="FF00FF"/>
                </a:solidFill>
              </a:rPr>
              <a:t>)∉</a:t>
            </a:r>
            <a:r>
              <a:rPr lang="en-US" altLang="zh-CN" i="1">
                <a:solidFill>
                  <a:srgbClr val="FF00FF"/>
                </a:solidFill>
              </a:rPr>
              <a:t>E</a:t>
            </a:r>
            <a:r>
              <a:rPr lang="en-US" altLang="zh-CN">
                <a:solidFill>
                  <a:srgbClr val="FF00FF"/>
                </a:solidFill>
              </a:rPr>
              <a:t>, V</a:t>
            </a:r>
            <a:r>
              <a:rPr lang="en-US" altLang="zh-CN" baseline="-25000">
                <a:solidFill>
                  <a:srgbClr val="FF00FF"/>
                </a:solidFill>
              </a:rPr>
              <a:t>1</a:t>
            </a:r>
            <a:r>
              <a:rPr lang="en-US" altLang="zh-CN">
                <a:solidFill>
                  <a:srgbClr val="FF00FF"/>
                </a:solidFill>
              </a:rPr>
              <a:t>*-{</a:t>
            </a:r>
            <a:r>
              <a:rPr lang="en-US" altLang="zh-CN" i="1">
                <a:solidFill>
                  <a:srgbClr val="FF00FF"/>
                </a:solidFill>
              </a:rPr>
              <a:t>u</a:t>
            </a:r>
            <a:r>
              <a:rPr lang="en-US" altLang="zh-CN">
                <a:solidFill>
                  <a:srgbClr val="FF00FF"/>
                </a:solidFill>
              </a:rPr>
              <a:t>}</a:t>
            </a:r>
            <a:r>
              <a:rPr lang="zh-CN" altLang="en-US">
                <a:solidFill>
                  <a:srgbClr val="FF00FF"/>
                </a:solidFill>
              </a:rPr>
              <a:t>还是支配集</a:t>
            </a:r>
            <a:r>
              <a:rPr lang="en-US" altLang="zh-CN">
                <a:solidFill>
                  <a:srgbClr val="FF00FF"/>
                </a:solidFill>
              </a:rPr>
              <a:t>,</a:t>
            </a:r>
            <a:r>
              <a:rPr lang="zh-CN" altLang="en-US">
                <a:solidFill>
                  <a:srgbClr val="FF00FF"/>
                </a:solidFill>
              </a:rPr>
              <a:t>矛盾</a:t>
            </a:r>
            <a:r>
              <a:rPr lang="en-US" altLang="zh-CN">
                <a:solidFill>
                  <a:srgbClr val="FF00FF"/>
                </a:solidFill>
              </a:rPr>
              <a:t>.</a:t>
            </a:r>
            <a:r>
              <a:rPr lang="zh-CN" altLang="en-US"/>
              <a:t>则</a:t>
            </a:r>
            <a:r>
              <a:rPr lang="en-US" altLang="zh-CN"/>
              <a:t>V-V</a:t>
            </a:r>
            <a:r>
              <a:rPr lang="en-US" altLang="zh-CN" baseline="-25000"/>
              <a:t>1</a:t>
            </a:r>
            <a:r>
              <a:rPr lang="en-US" altLang="zh-CN"/>
              <a:t>*</a:t>
            </a:r>
            <a:r>
              <a:rPr lang="zh-CN" altLang="en-US"/>
              <a:t>中有子集是极小支配集</a:t>
            </a:r>
            <a:r>
              <a:rPr lang="en-US" altLang="zh-CN"/>
              <a:t>,</a:t>
            </a:r>
            <a:r>
              <a:rPr lang="zh-CN" altLang="en-US"/>
              <a:t>设为</a:t>
            </a:r>
            <a:r>
              <a:rPr lang="en-US" altLang="zh-CN"/>
              <a:t>V</a:t>
            </a:r>
            <a:r>
              <a:rPr lang="en-US" altLang="zh-CN" baseline="-25000"/>
              <a:t>2</a:t>
            </a:r>
            <a:r>
              <a:rPr lang="en-US" altLang="zh-CN"/>
              <a:t>*. </a:t>
            </a:r>
            <a:r>
              <a:rPr lang="zh-CN" altLang="en-US"/>
              <a:t>则</a:t>
            </a:r>
            <a:r>
              <a:rPr lang="en-US" altLang="zh-CN"/>
              <a:t>V</a:t>
            </a:r>
            <a:r>
              <a:rPr lang="en-US" altLang="zh-CN" baseline="-25000"/>
              <a:t>1</a:t>
            </a:r>
            <a:r>
              <a:rPr lang="en-US" altLang="zh-CN"/>
              <a:t>*∩V</a:t>
            </a:r>
            <a:r>
              <a:rPr lang="en-US" altLang="zh-CN" baseline="-25000"/>
              <a:t>2</a:t>
            </a:r>
            <a:r>
              <a:rPr lang="en-US" altLang="zh-CN"/>
              <a:t>*=</a:t>
            </a:r>
            <a:r>
              <a:rPr lang="en-US" altLang="zh-CN">
                <a:sym typeface="Symbol" panose="05050102010706020507" charset="2"/>
              </a:rPr>
              <a:t> </a:t>
            </a:r>
            <a:r>
              <a:rPr lang="en-US" altLang="zh-CN"/>
              <a:t>. </a:t>
            </a:r>
            <a:endParaRPr lang="en-US" altLang="zh-CN"/>
          </a:p>
        </p:txBody>
      </p:sp>
      <p:grpSp>
        <p:nvGrpSpPr>
          <p:cNvPr id="16387" name="Group 33"/>
          <p:cNvGrpSpPr/>
          <p:nvPr/>
        </p:nvGrpSpPr>
        <p:grpSpPr>
          <a:xfrm>
            <a:off x="395288" y="5013325"/>
            <a:ext cx="2447925" cy="1368425"/>
            <a:chOff x="249" y="3158"/>
            <a:chExt cx="1542" cy="862"/>
          </a:xfrm>
        </p:grpSpPr>
        <p:sp>
          <p:nvSpPr>
            <p:cNvPr id="16388" name="Oval 4"/>
            <p:cNvSpPr/>
            <p:nvPr/>
          </p:nvSpPr>
          <p:spPr>
            <a:xfrm>
              <a:off x="249" y="3158"/>
              <a:ext cx="1542" cy="86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6389" name="Oval 5"/>
            <p:cNvSpPr/>
            <p:nvPr/>
          </p:nvSpPr>
          <p:spPr>
            <a:xfrm>
              <a:off x="385" y="3385"/>
              <a:ext cx="771" cy="544"/>
            </a:xfrm>
            <a:prstGeom prst="ellipse">
              <a:avLst/>
            </a:prstGeom>
            <a:noFill/>
            <a:ln w="9525" cap="flat" cmpd="sng">
              <a:solidFill>
                <a:srgbClr val="FF00FF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6390" name="Text Box 7"/>
            <p:cNvSpPr txBox="1"/>
            <p:nvPr/>
          </p:nvSpPr>
          <p:spPr>
            <a:xfrm>
              <a:off x="475" y="3414"/>
              <a:ext cx="41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r>
                <a:rPr lang="en-US" altLang="zh-CN" sz="2400">
                  <a:latin typeface="Times New Roman" panose="02020603050405020304" charset="0"/>
                  <a:ea typeface="宋体" panose="02010600030101010101" pitchFamily="2" charset="-122"/>
                </a:rPr>
                <a:t>*</a:t>
              </a:r>
              <a:endParaRPr lang="en-US" altLang="zh-CN" sz="24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6391" name="Text Box 11"/>
            <p:cNvSpPr txBox="1"/>
            <p:nvPr/>
          </p:nvSpPr>
          <p:spPr>
            <a:xfrm>
              <a:off x="1065" y="3294"/>
              <a:ext cx="61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charset="0"/>
                  <a:ea typeface="宋体" panose="02010600030101010101" pitchFamily="2" charset="-122"/>
                </a:rPr>
                <a:t>V-V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r>
                <a:rPr lang="en-US" altLang="zh-CN" sz="2400">
                  <a:latin typeface="Times New Roman" panose="02020603050405020304" charset="0"/>
                  <a:ea typeface="宋体" panose="02010600030101010101" pitchFamily="2" charset="-122"/>
                </a:rPr>
                <a:t>*</a:t>
              </a:r>
              <a:endParaRPr lang="en-US" altLang="zh-CN" sz="24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6392" name="Text Box 12"/>
            <p:cNvSpPr txBox="1"/>
            <p:nvPr/>
          </p:nvSpPr>
          <p:spPr>
            <a:xfrm>
              <a:off x="916" y="3490"/>
              <a:ext cx="22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solidFill>
                    <a:srgbClr val="FF00FF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u</a:t>
              </a:r>
              <a:endParaRPr lang="en-US" altLang="zh-CN" sz="2400" i="1">
                <a:solidFill>
                  <a:srgbClr val="FF00FF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6393" name="Oval 13"/>
            <p:cNvSpPr/>
            <p:nvPr/>
          </p:nvSpPr>
          <p:spPr>
            <a:xfrm>
              <a:off x="929" y="3748"/>
              <a:ext cx="91" cy="91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6394" name="Line 14"/>
            <p:cNvSpPr/>
            <p:nvPr/>
          </p:nvSpPr>
          <p:spPr>
            <a:xfrm flipH="1">
              <a:off x="611" y="3793"/>
              <a:ext cx="318" cy="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395" name="Line 15"/>
            <p:cNvSpPr/>
            <p:nvPr/>
          </p:nvSpPr>
          <p:spPr>
            <a:xfrm flipH="1" flipV="1">
              <a:off x="884" y="3475"/>
              <a:ext cx="90" cy="272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396" name="Line 16"/>
            <p:cNvSpPr/>
            <p:nvPr/>
          </p:nvSpPr>
          <p:spPr>
            <a:xfrm>
              <a:off x="1020" y="3793"/>
              <a:ext cx="544" cy="45"/>
            </a:xfrm>
            <a:prstGeom prst="line">
              <a:avLst/>
            </a:prstGeom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6397" name="Group 19"/>
            <p:cNvGrpSpPr/>
            <p:nvPr/>
          </p:nvGrpSpPr>
          <p:grpSpPr>
            <a:xfrm>
              <a:off x="1201" y="3702"/>
              <a:ext cx="227" cy="227"/>
              <a:chOff x="1519" y="3702"/>
              <a:chExt cx="272" cy="272"/>
            </a:xfrm>
          </p:grpSpPr>
          <p:sp>
            <p:nvSpPr>
              <p:cNvPr id="16398" name="Line 17"/>
              <p:cNvSpPr/>
              <p:nvPr/>
            </p:nvSpPr>
            <p:spPr>
              <a:xfrm flipH="1">
                <a:off x="1519" y="3748"/>
                <a:ext cx="272" cy="181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399" name="Line 18"/>
              <p:cNvSpPr/>
              <p:nvPr/>
            </p:nvSpPr>
            <p:spPr>
              <a:xfrm>
                <a:off x="1565" y="3702"/>
                <a:ext cx="181" cy="272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6400" name="Group 32"/>
          <p:cNvGrpSpPr/>
          <p:nvPr/>
        </p:nvGrpSpPr>
        <p:grpSpPr>
          <a:xfrm>
            <a:off x="3492500" y="5013325"/>
            <a:ext cx="2447925" cy="1368425"/>
            <a:chOff x="1928" y="3158"/>
            <a:chExt cx="1542" cy="862"/>
          </a:xfrm>
        </p:grpSpPr>
        <p:sp>
          <p:nvSpPr>
            <p:cNvPr id="16401" name="Oval 20"/>
            <p:cNvSpPr/>
            <p:nvPr/>
          </p:nvSpPr>
          <p:spPr>
            <a:xfrm>
              <a:off x="1928" y="3158"/>
              <a:ext cx="1542" cy="86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6402" name="Oval 21"/>
            <p:cNvSpPr/>
            <p:nvPr/>
          </p:nvSpPr>
          <p:spPr>
            <a:xfrm>
              <a:off x="2064" y="3385"/>
              <a:ext cx="771" cy="544"/>
            </a:xfrm>
            <a:prstGeom prst="ellipse">
              <a:avLst/>
            </a:prstGeom>
            <a:noFill/>
            <a:ln w="9525" cap="flat" cmpd="sng">
              <a:solidFill>
                <a:srgbClr val="FF00FF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6403" name="Text Box 22"/>
            <p:cNvSpPr txBox="1"/>
            <p:nvPr/>
          </p:nvSpPr>
          <p:spPr>
            <a:xfrm>
              <a:off x="2154" y="3414"/>
              <a:ext cx="58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r>
                <a:rPr lang="en-US" altLang="zh-CN" sz="2400">
                  <a:latin typeface="Times New Roman" panose="02020603050405020304" charset="0"/>
                  <a:ea typeface="宋体" panose="02010600030101010101" pitchFamily="2" charset="-122"/>
                </a:rPr>
                <a:t>*-</a:t>
              </a: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u</a:t>
              </a:r>
              <a:endParaRPr lang="en-US" altLang="zh-CN" sz="2400" i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6404" name="Text Box 23"/>
            <p:cNvSpPr txBox="1"/>
            <p:nvPr/>
          </p:nvSpPr>
          <p:spPr>
            <a:xfrm>
              <a:off x="2744" y="3294"/>
              <a:ext cx="61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charset="0"/>
                  <a:ea typeface="宋体" panose="02010600030101010101" pitchFamily="2" charset="-122"/>
                </a:rPr>
                <a:t>V-V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r>
                <a:rPr lang="en-US" altLang="zh-CN" sz="2400">
                  <a:latin typeface="Times New Roman" panose="02020603050405020304" charset="0"/>
                  <a:ea typeface="宋体" panose="02010600030101010101" pitchFamily="2" charset="-122"/>
                </a:rPr>
                <a:t>*</a:t>
              </a:r>
              <a:endParaRPr lang="en-US" altLang="zh-CN" sz="24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6405" name="Text Box 24"/>
            <p:cNvSpPr txBox="1"/>
            <p:nvPr/>
          </p:nvSpPr>
          <p:spPr>
            <a:xfrm>
              <a:off x="2971" y="3475"/>
              <a:ext cx="22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solidFill>
                    <a:srgbClr val="FF00FF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u</a:t>
              </a:r>
              <a:endParaRPr lang="en-US" altLang="zh-CN" sz="2400" i="1">
                <a:solidFill>
                  <a:srgbClr val="FF00FF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6406" name="Oval 25"/>
            <p:cNvSpPr/>
            <p:nvPr/>
          </p:nvSpPr>
          <p:spPr>
            <a:xfrm>
              <a:off x="2926" y="3733"/>
              <a:ext cx="91" cy="91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6407" name="Line 26"/>
            <p:cNvSpPr/>
            <p:nvPr/>
          </p:nvSpPr>
          <p:spPr>
            <a:xfrm flipH="1">
              <a:off x="2608" y="3778"/>
              <a:ext cx="318" cy="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08" name="Line 27"/>
            <p:cNvSpPr/>
            <p:nvPr/>
          </p:nvSpPr>
          <p:spPr>
            <a:xfrm flipH="1" flipV="1">
              <a:off x="2686" y="3521"/>
              <a:ext cx="285" cy="211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charRg st="52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点独立集</a:t>
            </a:r>
            <a:r>
              <a:rPr kumimoji="0" lang="en-US" altLang="zh-CN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(independent set)</a:t>
            </a:r>
            <a:endParaRPr kumimoji="0" lang="en-US" altLang="zh-CN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741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/>
              <a:t>无向图</a:t>
            </a:r>
            <a:r>
              <a:rPr lang="en-US" altLang="zh-CN"/>
              <a:t>G=&lt;V,E&gt;, </a:t>
            </a:r>
            <a:r>
              <a:rPr lang="en-US" altLang="zh-CN">
                <a:solidFill>
                  <a:schemeClr val="hlink"/>
                </a:solidFill>
              </a:rPr>
              <a:t>V*</a:t>
            </a:r>
            <a:r>
              <a:rPr lang="en-US" altLang="zh-CN"/>
              <a:t>⊆V</a:t>
            </a:r>
            <a:endParaRPr lang="en-US" altLang="zh-CN"/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独立集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∀</a:t>
            </a:r>
            <a:r>
              <a:rPr lang="en-US" altLang="zh-CN" i="1"/>
              <a:t>u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/>
              <a:t>∈V*, (</a:t>
            </a:r>
            <a:r>
              <a:rPr lang="en-US" altLang="zh-CN" i="1"/>
              <a:t>u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/>
              <a:t>)∉E</a:t>
            </a:r>
            <a:endParaRPr lang="en-US" altLang="zh-CN"/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极大独立集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V*</a:t>
            </a:r>
            <a:r>
              <a:rPr lang="zh-CN" altLang="en-US"/>
              <a:t>是独立集</a:t>
            </a:r>
            <a:r>
              <a:rPr lang="en-US" altLang="zh-CN"/>
              <a:t>, </a:t>
            </a:r>
            <a:r>
              <a:rPr lang="zh-CN" altLang="en-US"/>
              <a:t>其真母集都不是</a:t>
            </a:r>
            <a:endParaRPr lang="zh-CN" altLang="en-US"/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最大独立集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|V*|</a:t>
            </a:r>
            <a:r>
              <a:rPr lang="zh-CN" altLang="en-US"/>
              <a:t>最大的独立集</a:t>
            </a:r>
            <a:endParaRPr lang="zh-CN" altLang="en-US"/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独立数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charset="2"/>
              </a:rPr>
              <a:t></a:t>
            </a:r>
            <a:r>
              <a:rPr lang="en-US" altLang="zh-CN" baseline="-25000"/>
              <a:t>0</a:t>
            </a:r>
            <a:r>
              <a:rPr lang="en-US" altLang="zh-CN"/>
              <a:t>(G)=|V*|, V*</a:t>
            </a:r>
            <a:r>
              <a:rPr lang="zh-CN" altLang="en-US"/>
              <a:t>是最大独立集</a:t>
            </a:r>
            <a:endParaRPr lang="zh-CN" altLang="en-US"/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0"/>
              <a:t>点独立集</a:t>
            </a:r>
            <a:r>
              <a:rPr lang="en-US" altLang="zh-CN" b="0"/>
              <a:t>(</a:t>
            </a:r>
            <a:r>
              <a:rPr lang="zh-CN" altLang="en-US" b="0"/>
              <a:t>例</a:t>
            </a:r>
            <a:r>
              <a:rPr lang="en-US" altLang="zh-CN" b="0"/>
              <a:t>)</a:t>
            </a:r>
            <a:endParaRPr lang="en-US" altLang="zh-CN" b="0"/>
          </a:p>
        </p:txBody>
      </p:sp>
      <p:sp>
        <p:nvSpPr>
          <p:cNvPr id="19458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1125538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buNone/>
            </a:pPr>
            <a:r>
              <a:rPr lang="en-US" altLang="zh-CN"/>
              <a:t>W</a:t>
            </a:r>
            <a:r>
              <a:rPr lang="en-US" altLang="zh-CN" baseline="-25000"/>
              <a:t>7</a:t>
            </a:r>
            <a:r>
              <a:rPr lang="zh-CN" altLang="en-US"/>
              <a:t>的极大独立集有：</a:t>
            </a:r>
            <a:r>
              <a:rPr lang="en-US" altLang="zh-CN"/>
              <a:t>{</a:t>
            </a:r>
            <a:r>
              <a:rPr lang="en-US" altLang="zh-CN" i="1"/>
              <a:t>v</a:t>
            </a:r>
            <a:r>
              <a:rPr lang="en-US" altLang="zh-CN" baseline="-25000"/>
              <a:t>0</a:t>
            </a:r>
            <a:r>
              <a:rPr lang="en-US" altLang="zh-CN"/>
              <a:t>}, {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 baseline="-25000"/>
              <a:t>4</a:t>
            </a:r>
            <a:r>
              <a:rPr lang="en-US" altLang="zh-CN"/>
              <a:t>}, {</a:t>
            </a:r>
            <a:r>
              <a:rPr lang="en-US" altLang="zh-CN" i="1"/>
              <a:t>v</a:t>
            </a:r>
            <a:r>
              <a:rPr lang="en-US" altLang="zh-CN" baseline="-25000"/>
              <a:t>2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 baseline="-25000"/>
              <a:t>5</a:t>
            </a:r>
            <a:r>
              <a:rPr lang="en-US" altLang="zh-CN"/>
              <a:t>},{</a:t>
            </a:r>
            <a:r>
              <a:rPr lang="en-US" altLang="zh-CN" i="1"/>
              <a:t>v</a:t>
            </a:r>
            <a:r>
              <a:rPr lang="en-US" altLang="zh-CN" baseline="-25000"/>
              <a:t>3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 baseline="-25000"/>
              <a:t>6</a:t>
            </a:r>
            <a:r>
              <a:rPr lang="en-US" altLang="zh-CN"/>
              <a:t>}, {</a:t>
            </a:r>
            <a:r>
              <a:rPr lang="en-US" altLang="zh-CN" i="1"/>
              <a:t>v</a:t>
            </a:r>
            <a:r>
              <a:rPr lang="en-US" altLang="zh-CN" baseline="-25000"/>
              <a:t>2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 baseline="-25000"/>
              <a:t>4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 baseline="-25000"/>
              <a:t>6</a:t>
            </a:r>
            <a:r>
              <a:rPr lang="en-US" altLang="zh-CN"/>
              <a:t>}, {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 baseline="-25000"/>
              <a:t>3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 baseline="-25000"/>
              <a:t>5</a:t>
            </a:r>
            <a:r>
              <a:rPr lang="en-US" altLang="zh-CN"/>
              <a:t>},</a:t>
            </a:r>
            <a:r>
              <a:rPr lang="zh-CN" altLang="en-US"/>
              <a:t> </a:t>
            </a:r>
            <a:r>
              <a:rPr lang="en-US" altLang="zh-CN">
                <a:sym typeface="Symbol" panose="05050102010706020507" charset="2"/>
              </a:rPr>
              <a:t></a:t>
            </a:r>
            <a:r>
              <a:rPr lang="en-US" altLang="zh-CN" baseline="-25000"/>
              <a:t>0</a:t>
            </a:r>
            <a:r>
              <a:rPr lang="en-US" altLang="zh-CN"/>
              <a:t>(W</a:t>
            </a:r>
            <a:r>
              <a:rPr lang="en-US" altLang="zh-CN" baseline="-25000"/>
              <a:t>7</a:t>
            </a:r>
            <a:r>
              <a:rPr lang="en-US" altLang="zh-CN"/>
              <a:t>)=3</a:t>
            </a:r>
            <a:endParaRPr lang="en-US" altLang="zh-CN"/>
          </a:p>
        </p:txBody>
      </p:sp>
      <p:grpSp>
        <p:nvGrpSpPr>
          <p:cNvPr id="19459" name="组 1"/>
          <p:cNvGrpSpPr/>
          <p:nvPr/>
        </p:nvGrpSpPr>
        <p:grpSpPr>
          <a:xfrm>
            <a:off x="107950" y="2954338"/>
            <a:ext cx="2689225" cy="2352675"/>
            <a:chOff x="358776" y="2395539"/>
            <a:chExt cx="2689224" cy="2352553"/>
          </a:xfrm>
        </p:grpSpPr>
        <p:grpSp>
          <p:nvGrpSpPr>
            <p:cNvPr id="19460" name="Group 30"/>
            <p:cNvGrpSpPr/>
            <p:nvPr/>
          </p:nvGrpSpPr>
          <p:grpSpPr>
            <a:xfrm>
              <a:off x="611188" y="2395539"/>
              <a:ext cx="2436812" cy="2043113"/>
              <a:chOff x="385" y="1509"/>
              <a:chExt cx="1535" cy="1287"/>
            </a:xfrm>
          </p:grpSpPr>
          <p:grpSp>
            <p:nvGrpSpPr>
              <p:cNvPr id="19461" name="Group 25"/>
              <p:cNvGrpSpPr/>
              <p:nvPr/>
            </p:nvGrpSpPr>
            <p:grpSpPr>
              <a:xfrm>
                <a:off x="385" y="1661"/>
                <a:ext cx="1315" cy="1135"/>
                <a:chOff x="476" y="1933"/>
                <a:chExt cx="1315" cy="1135"/>
              </a:xfrm>
            </p:grpSpPr>
            <p:sp>
              <p:nvSpPr>
                <p:cNvPr id="19462" name="Line 6"/>
                <p:cNvSpPr/>
                <p:nvPr/>
              </p:nvSpPr>
              <p:spPr>
                <a:xfrm flipV="1">
                  <a:off x="839" y="2523"/>
                  <a:ext cx="227" cy="40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463" name="Line 7"/>
                <p:cNvSpPr/>
                <p:nvPr/>
              </p:nvSpPr>
              <p:spPr>
                <a:xfrm>
                  <a:off x="1112" y="2523"/>
                  <a:ext cx="317" cy="453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464" name="Line 9"/>
                <p:cNvSpPr/>
                <p:nvPr/>
              </p:nvSpPr>
              <p:spPr>
                <a:xfrm flipV="1">
                  <a:off x="612" y="2478"/>
                  <a:ext cx="1179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465" name="Line 10"/>
                <p:cNvSpPr/>
                <p:nvPr/>
              </p:nvSpPr>
              <p:spPr>
                <a:xfrm>
                  <a:off x="884" y="2069"/>
                  <a:ext cx="210" cy="363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466" name="Oval 11"/>
                <p:cNvSpPr/>
                <p:nvPr/>
              </p:nvSpPr>
              <p:spPr>
                <a:xfrm>
                  <a:off x="1021" y="2432"/>
                  <a:ext cx="137" cy="137"/>
                </a:xfrm>
                <a:prstGeom prst="ellipse">
                  <a:avLst/>
                </a:prstGeom>
                <a:solidFill>
                  <a:srgbClr val="FF00FF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467" name="Oval 12"/>
                <p:cNvSpPr/>
                <p:nvPr/>
              </p:nvSpPr>
              <p:spPr>
                <a:xfrm>
                  <a:off x="749" y="2931"/>
                  <a:ext cx="137" cy="13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/>
                    </a:gs>
                    <a:gs pos="100000">
                      <a:srgbClr val="5F5F5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468" name="Oval 13"/>
                <p:cNvSpPr/>
                <p:nvPr/>
              </p:nvSpPr>
              <p:spPr>
                <a:xfrm>
                  <a:off x="1382" y="2931"/>
                  <a:ext cx="137" cy="13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/>
                    </a:gs>
                    <a:gs pos="100000">
                      <a:srgbClr val="5F5F5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469" name="Oval 14"/>
                <p:cNvSpPr/>
                <p:nvPr/>
              </p:nvSpPr>
              <p:spPr>
                <a:xfrm>
                  <a:off x="1638" y="2395"/>
                  <a:ext cx="137" cy="13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/>
                    </a:gs>
                    <a:gs pos="100000">
                      <a:srgbClr val="5F5F5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470" name="Oval 15"/>
                <p:cNvSpPr/>
                <p:nvPr/>
              </p:nvSpPr>
              <p:spPr>
                <a:xfrm>
                  <a:off x="476" y="2431"/>
                  <a:ext cx="137" cy="13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/>
                    </a:gs>
                    <a:gs pos="100000">
                      <a:srgbClr val="5F5F5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471" name="Oval 16"/>
                <p:cNvSpPr/>
                <p:nvPr/>
              </p:nvSpPr>
              <p:spPr>
                <a:xfrm>
                  <a:off x="793" y="1933"/>
                  <a:ext cx="137" cy="13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/>
                    </a:gs>
                    <a:gs pos="100000">
                      <a:srgbClr val="5F5F5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472" name="Line 17"/>
                <p:cNvSpPr/>
                <p:nvPr/>
              </p:nvSpPr>
              <p:spPr>
                <a:xfrm flipV="1">
                  <a:off x="567" y="2069"/>
                  <a:ext cx="272" cy="363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473" name="Line 18"/>
                <p:cNvSpPr/>
                <p:nvPr/>
              </p:nvSpPr>
              <p:spPr>
                <a:xfrm>
                  <a:off x="1474" y="2024"/>
                  <a:ext cx="227" cy="40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474" name="Line 19"/>
                <p:cNvSpPr/>
                <p:nvPr/>
              </p:nvSpPr>
              <p:spPr>
                <a:xfrm>
                  <a:off x="567" y="2568"/>
                  <a:ext cx="227" cy="3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475" name="Line 20"/>
                <p:cNvSpPr/>
                <p:nvPr/>
              </p:nvSpPr>
              <p:spPr>
                <a:xfrm flipV="1">
                  <a:off x="1474" y="2523"/>
                  <a:ext cx="227" cy="453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476" name="Line 21"/>
                <p:cNvSpPr/>
                <p:nvPr/>
              </p:nvSpPr>
              <p:spPr>
                <a:xfrm>
                  <a:off x="876" y="3010"/>
                  <a:ext cx="507" cy="1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477" name="Oval 22"/>
                <p:cNvSpPr/>
                <p:nvPr/>
              </p:nvSpPr>
              <p:spPr>
                <a:xfrm>
                  <a:off x="1382" y="1933"/>
                  <a:ext cx="137" cy="13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/>
                    </a:gs>
                    <a:gs pos="100000">
                      <a:srgbClr val="5F5F5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478" name="Line 23"/>
                <p:cNvSpPr/>
                <p:nvPr/>
              </p:nvSpPr>
              <p:spPr>
                <a:xfrm flipH="1">
                  <a:off x="1111" y="2069"/>
                  <a:ext cx="318" cy="363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479" name="Line 24"/>
                <p:cNvSpPr/>
                <p:nvPr/>
              </p:nvSpPr>
              <p:spPr>
                <a:xfrm>
                  <a:off x="930" y="2024"/>
                  <a:ext cx="453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9480" name="Text Box 27"/>
              <p:cNvSpPr txBox="1"/>
              <p:nvPr/>
            </p:nvSpPr>
            <p:spPr>
              <a:xfrm>
                <a:off x="1383" y="1509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1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481" name="Text Box 28"/>
              <p:cNvSpPr txBox="1"/>
              <p:nvPr/>
            </p:nvSpPr>
            <p:spPr>
              <a:xfrm>
                <a:off x="1020" y="2115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0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482" name="Text Box 29"/>
              <p:cNvSpPr txBox="1"/>
              <p:nvPr/>
            </p:nvSpPr>
            <p:spPr>
              <a:xfrm>
                <a:off x="1655" y="2024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2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9483" name="Text Box 27"/>
            <p:cNvSpPr txBox="1"/>
            <p:nvPr/>
          </p:nvSpPr>
          <p:spPr>
            <a:xfrm>
              <a:off x="2123728" y="4267944"/>
              <a:ext cx="420687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484" name="Text Box 27"/>
            <p:cNvSpPr txBox="1"/>
            <p:nvPr/>
          </p:nvSpPr>
          <p:spPr>
            <a:xfrm>
              <a:off x="889444" y="4290892"/>
              <a:ext cx="420687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485" name="Text Box 27"/>
            <p:cNvSpPr txBox="1"/>
            <p:nvPr/>
          </p:nvSpPr>
          <p:spPr>
            <a:xfrm>
              <a:off x="358776" y="3468688"/>
              <a:ext cx="420687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486" name="Text Box 27"/>
            <p:cNvSpPr txBox="1"/>
            <p:nvPr/>
          </p:nvSpPr>
          <p:spPr>
            <a:xfrm>
              <a:off x="738254" y="2413051"/>
              <a:ext cx="420687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6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87" name="组 2"/>
          <p:cNvGrpSpPr/>
          <p:nvPr/>
        </p:nvGrpSpPr>
        <p:grpSpPr>
          <a:xfrm>
            <a:off x="2843213" y="2954338"/>
            <a:ext cx="2665412" cy="2419350"/>
            <a:chOff x="2915816" y="2395537"/>
            <a:chExt cx="2664247" cy="2419351"/>
          </a:xfrm>
        </p:grpSpPr>
        <p:grpSp>
          <p:nvGrpSpPr>
            <p:cNvPr id="19488" name="组合 76"/>
            <p:cNvGrpSpPr/>
            <p:nvPr/>
          </p:nvGrpSpPr>
          <p:grpSpPr>
            <a:xfrm>
              <a:off x="3143250" y="2395537"/>
              <a:ext cx="2436813" cy="2419351"/>
              <a:chOff x="3143240" y="2395537"/>
              <a:chExt cx="2436812" cy="2419357"/>
            </a:xfrm>
          </p:grpSpPr>
          <p:grpSp>
            <p:nvGrpSpPr>
              <p:cNvPr id="19489" name="Group 31"/>
              <p:cNvGrpSpPr/>
              <p:nvPr/>
            </p:nvGrpSpPr>
            <p:grpSpPr>
              <a:xfrm>
                <a:off x="3143240" y="2395537"/>
                <a:ext cx="2436812" cy="2041525"/>
                <a:chOff x="385" y="1510"/>
                <a:chExt cx="1535" cy="1286"/>
              </a:xfrm>
            </p:grpSpPr>
            <p:grpSp>
              <p:nvGrpSpPr>
                <p:cNvPr id="19490" name="Group 32"/>
                <p:cNvGrpSpPr/>
                <p:nvPr/>
              </p:nvGrpSpPr>
              <p:grpSpPr>
                <a:xfrm>
                  <a:off x="385" y="1661"/>
                  <a:ext cx="1315" cy="1135"/>
                  <a:chOff x="476" y="1933"/>
                  <a:chExt cx="1315" cy="1135"/>
                </a:xfrm>
              </p:grpSpPr>
              <p:sp>
                <p:nvSpPr>
                  <p:cNvPr id="19491" name="Line 33"/>
                  <p:cNvSpPr/>
                  <p:nvPr/>
                </p:nvSpPr>
                <p:spPr>
                  <a:xfrm flipV="1">
                    <a:off x="839" y="2523"/>
                    <a:ext cx="227" cy="40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492" name="Line 34"/>
                  <p:cNvSpPr/>
                  <p:nvPr/>
                </p:nvSpPr>
                <p:spPr>
                  <a:xfrm>
                    <a:off x="1112" y="2523"/>
                    <a:ext cx="317" cy="45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493" name="Line 35"/>
                  <p:cNvSpPr/>
                  <p:nvPr/>
                </p:nvSpPr>
                <p:spPr>
                  <a:xfrm flipV="1">
                    <a:off x="612" y="2478"/>
                    <a:ext cx="1179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494" name="Line 36"/>
                  <p:cNvSpPr/>
                  <p:nvPr/>
                </p:nvSpPr>
                <p:spPr>
                  <a:xfrm>
                    <a:off x="884" y="2069"/>
                    <a:ext cx="210" cy="36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495" name="Oval 37"/>
                  <p:cNvSpPr/>
                  <p:nvPr/>
                </p:nvSpPr>
                <p:spPr>
                  <a:xfrm>
                    <a:off x="1021" y="2432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496" name="Oval 38"/>
                  <p:cNvSpPr/>
                  <p:nvPr/>
                </p:nvSpPr>
                <p:spPr>
                  <a:xfrm>
                    <a:off x="749" y="2931"/>
                    <a:ext cx="137" cy="137"/>
                  </a:xfrm>
                  <a:prstGeom prst="ellipse">
                    <a:avLst/>
                  </a:prstGeom>
                  <a:solidFill>
                    <a:srgbClr val="FF00FF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497" name="Oval 39"/>
                  <p:cNvSpPr/>
                  <p:nvPr/>
                </p:nvSpPr>
                <p:spPr>
                  <a:xfrm>
                    <a:off x="1382" y="2931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498" name="Oval 40"/>
                  <p:cNvSpPr/>
                  <p:nvPr/>
                </p:nvSpPr>
                <p:spPr>
                  <a:xfrm>
                    <a:off x="1638" y="2395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499" name="Oval 41"/>
                  <p:cNvSpPr/>
                  <p:nvPr/>
                </p:nvSpPr>
                <p:spPr>
                  <a:xfrm>
                    <a:off x="476" y="2431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500" name="Oval 42"/>
                  <p:cNvSpPr/>
                  <p:nvPr/>
                </p:nvSpPr>
                <p:spPr>
                  <a:xfrm>
                    <a:off x="793" y="1933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501" name="Line 43"/>
                  <p:cNvSpPr/>
                  <p:nvPr/>
                </p:nvSpPr>
                <p:spPr>
                  <a:xfrm flipV="1">
                    <a:off x="567" y="2069"/>
                    <a:ext cx="272" cy="36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502" name="Line 44"/>
                  <p:cNvSpPr/>
                  <p:nvPr/>
                </p:nvSpPr>
                <p:spPr>
                  <a:xfrm>
                    <a:off x="1474" y="2024"/>
                    <a:ext cx="227" cy="40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503" name="Line 45"/>
                  <p:cNvSpPr/>
                  <p:nvPr/>
                </p:nvSpPr>
                <p:spPr>
                  <a:xfrm>
                    <a:off x="567" y="2568"/>
                    <a:ext cx="227" cy="39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504" name="Line 46"/>
                  <p:cNvSpPr/>
                  <p:nvPr/>
                </p:nvSpPr>
                <p:spPr>
                  <a:xfrm flipV="1">
                    <a:off x="1474" y="2523"/>
                    <a:ext cx="227" cy="45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505" name="Line 47"/>
                  <p:cNvSpPr/>
                  <p:nvPr/>
                </p:nvSpPr>
                <p:spPr>
                  <a:xfrm>
                    <a:off x="876" y="3010"/>
                    <a:ext cx="507" cy="12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506" name="Oval 48"/>
                  <p:cNvSpPr/>
                  <p:nvPr/>
                </p:nvSpPr>
                <p:spPr>
                  <a:xfrm>
                    <a:off x="1382" y="1933"/>
                    <a:ext cx="137" cy="137"/>
                  </a:xfrm>
                  <a:prstGeom prst="ellipse">
                    <a:avLst/>
                  </a:prstGeom>
                  <a:solidFill>
                    <a:srgbClr val="FF00FF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507" name="Line 49"/>
                  <p:cNvSpPr/>
                  <p:nvPr/>
                </p:nvSpPr>
                <p:spPr>
                  <a:xfrm flipH="1">
                    <a:off x="1111" y="2069"/>
                    <a:ext cx="318" cy="36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508" name="Line 50"/>
                  <p:cNvSpPr/>
                  <p:nvPr/>
                </p:nvSpPr>
                <p:spPr>
                  <a:xfrm>
                    <a:off x="930" y="2024"/>
                    <a:ext cx="453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19509" name="Text Box 51"/>
                <p:cNvSpPr txBox="1"/>
                <p:nvPr/>
              </p:nvSpPr>
              <p:spPr>
                <a:xfrm>
                  <a:off x="1383" y="1510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1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10" name="Text Box 52"/>
                <p:cNvSpPr txBox="1"/>
                <p:nvPr/>
              </p:nvSpPr>
              <p:spPr>
                <a:xfrm>
                  <a:off x="1020" y="2115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0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11" name="Text Box 53"/>
                <p:cNvSpPr txBox="1"/>
                <p:nvPr/>
              </p:nvSpPr>
              <p:spPr>
                <a:xfrm>
                  <a:off x="1655" y="2024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2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9512" name="Text Box 51"/>
              <p:cNvSpPr txBox="1"/>
              <p:nvPr/>
            </p:nvSpPr>
            <p:spPr>
              <a:xfrm>
                <a:off x="3428992" y="4357694"/>
                <a:ext cx="420687" cy="4572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4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9513" name="Text Box 27"/>
            <p:cNvSpPr txBox="1"/>
            <p:nvPr/>
          </p:nvSpPr>
          <p:spPr>
            <a:xfrm>
              <a:off x="4680768" y="4275781"/>
              <a:ext cx="420687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514" name="Text Box 27"/>
            <p:cNvSpPr txBox="1"/>
            <p:nvPr/>
          </p:nvSpPr>
          <p:spPr>
            <a:xfrm>
              <a:off x="2915816" y="3476525"/>
              <a:ext cx="420687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515" name="Text Box 27"/>
            <p:cNvSpPr txBox="1"/>
            <p:nvPr/>
          </p:nvSpPr>
          <p:spPr>
            <a:xfrm>
              <a:off x="3295294" y="2420888"/>
              <a:ext cx="420687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6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516" name="组 3"/>
          <p:cNvGrpSpPr/>
          <p:nvPr/>
        </p:nvGrpSpPr>
        <p:grpSpPr>
          <a:xfrm>
            <a:off x="5580063" y="2908300"/>
            <a:ext cx="2663825" cy="2465388"/>
            <a:chOff x="5580112" y="2349508"/>
            <a:chExt cx="2663776" cy="2465379"/>
          </a:xfrm>
        </p:grpSpPr>
        <p:grpSp>
          <p:nvGrpSpPr>
            <p:cNvPr id="19517" name="组合 75"/>
            <p:cNvGrpSpPr/>
            <p:nvPr/>
          </p:nvGrpSpPr>
          <p:grpSpPr>
            <a:xfrm>
              <a:off x="5807075" y="2349508"/>
              <a:ext cx="2436813" cy="2465379"/>
              <a:chOff x="5807075" y="2349500"/>
              <a:chExt cx="2436813" cy="2465394"/>
            </a:xfrm>
          </p:grpSpPr>
          <p:grpSp>
            <p:nvGrpSpPr>
              <p:cNvPr id="19518" name="Group 54"/>
              <p:cNvGrpSpPr/>
              <p:nvPr/>
            </p:nvGrpSpPr>
            <p:grpSpPr>
              <a:xfrm>
                <a:off x="5807075" y="2349500"/>
                <a:ext cx="2436813" cy="2141538"/>
                <a:chOff x="385" y="1447"/>
                <a:chExt cx="1535" cy="1349"/>
              </a:xfrm>
            </p:grpSpPr>
            <p:grpSp>
              <p:nvGrpSpPr>
                <p:cNvPr id="19519" name="Group 55"/>
                <p:cNvGrpSpPr/>
                <p:nvPr/>
              </p:nvGrpSpPr>
              <p:grpSpPr>
                <a:xfrm>
                  <a:off x="385" y="1661"/>
                  <a:ext cx="1315" cy="1135"/>
                  <a:chOff x="476" y="1933"/>
                  <a:chExt cx="1315" cy="1135"/>
                </a:xfrm>
              </p:grpSpPr>
              <p:sp>
                <p:nvSpPr>
                  <p:cNvPr id="19520" name="Line 56"/>
                  <p:cNvSpPr/>
                  <p:nvPr/>
                </p:nvSpPr>
                <p:spPr>
                  <a:xfrm flipV="1">
                    <a:off x="839" y="2523"/>
                    <a:ext cx="227" cy="40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521" name="Line 57"/>
                  <p:cNvSpPr/>
                  <p:nvPr/>
                </p:nvSpPr>
                <p:spPr>
                  <a:xfrm>
                    <a:off x="1112" y="2523"/>
                    <a:ext cx="317" cy="45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522" name="Line 58"/>
                  <p:cNvSpPr/>
                  <p:nvPr/>
                </p:nvSpPr>
                <p:spPr>
                  <a:xfrm flipV="1">
                    <a:off x="612" y="2478"/>
                    <a:ext cx="1179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523" name="Line 59"/>
                  <p:cNvSpPr/>
                  <p:nvPr/>
                </p:nvSpPr>
                <p:spPr>
                  <a:xfrm>
                    <a:off x="884" y="2069"/>
                    <a:ext cx="210" cy="36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524" name="Oval 60"/>
                  <p:cNvSpPr/>
                  <p:nvPr/>
                </p:nvSpPr>
                <p:spPr>
                  <a:xfrm>
                    <a:off x="1021" y="2432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525" name="Oval 61"/>
                  <p:cNvSpPr/>
                  <p:nvPr/>
                </p:nvSpPr>
                <p:spPr>
                  <a:xfrm>
                    <a:off x="749" y="2931"/>
                    <a:ext cx="137" cy="137"/>
                  </a:xfrm>
                  <a:prstGeom prst="ellipse">
                    <a:avLst/>
                  </a:prstGeom>
                  <a:solidFill>
                    <a:srgbClr val="FF00FF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526" name="Oval 62"/>
                  <p:cNvSpPr/>
                  <p:nvPr/>
                </p:nvSpPr>
                <p:spPr>
                  <a:xfrm>
                    <a:off x="1382" y="2931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527" name="Oval 63"/>
                  <p:cNvSpPr/>
                  <p:nvPr/>
                </p:nvSpPr>
                <p:spPr>
                  <a:xfrm>
                    <a:off x="1638" y="2395"/>
                    <a:ext cx="137" cy="137"/>
                  </a:xfrm>
                  <a:prstGeom prst="ellipse">
                    <a:avLst/>
                  </a:prstGeom>
                  <a:solidFill>
                    <a:srgbClr val="FF00FF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528" name="Oval 64"/>
                  <p:cNvSpPr/>
                  <p:nvPr/>
                </p:nvSpPr>
                <p:spPr>
                  <a:xfrm>
                    <a:off x="476" y="2431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529" name="Oval 65"/>
                  <p:cNvSpPr/>
                  <p:nvPr/>
                </p:nvSpPr>
                <p:spPr>
                  <a:xfrm>
                    <a:off x="793" y="1933"/>
                    <a:ext cx="137" cy="137"/>
                  </a:xfrm>
                  <a:prstGeom prst="ellipse">
                    <a:avLst/>
                  </a:prstGeom>
                  <a:solidFill>
                    <a:srgbClr val="FF00FF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530" name="Line 66"/>
                  <p:cNvSpPr/>
                  <p:nvPr/>
                </p:nvSpPr>
                <p:spPr>
                  <a:xfrm flipV="1">
                    <a:off x="567" y="2069"/>
                    <a:ext cx="272" cy="36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531" name="Line 67"/>
                  <p:cNvSpPr/>
                  <p:nvPr/>
                </p:nvSpPr>
                <p:spPr>
                  <a:xfrm>
                    <a:off x="1474" y="2024"/>
                    <a:ext cx="227" cy="40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532" name="Line 68"/>
                  <p:cNvSpPr/>
                  <p:nvPr/>
                </p:nvSpPr>
                <p:spPr>
                  <a:xfrm>
                    <a:off x="567" y="2568"/>
                    <a:ext cx="227" cy="39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533" name="Line 69"/>
                  <p:cNvSpPr/>
                  <p:nvPr/>
                </p:nvSpPr>
                <p:spPr>
                  <a:xfrm flipV="1">
                    <a:off x="1474" y="2523"/>
                    <a:ext cx="227" cy="45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534" name="Line 70"/>
                  <p:cNvSpPr/>
                  <p:nvPr/>
                </p:nvSpPr>
                <p:spPr>
                  <a:xfrm>
                    <a:off x="876" y="3010"/>
                    <a:ext cx="507" cy="12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535" name="Oval 71"/>
                  <p:cNvSpPr/>
                  <p:nvPr/>
                </p:nvSpPr>
                <p:spPr>
                  <a:xfrm>
                    <a:off x="1382" y="1933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536" name="Line 72"/>
                  <p:cNvSpPr/>
                  <p:nvPr/>
                </p:nvSpPr>
                <p:spPr>
                  <a:xfrm flipH="1">
                    <a:off x="1111" y="2069"/>
                    <a:ext cx="318" cy="36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537" name="Line 73"/>
                  <p:cNvSpPr/>
                  <p:nvPr/>
                </p:nvSpPr>
                <p:spPr>
                  <a:xfrm>
                    <a:off x="930" y="2024"/>
                    <a:ext cx="453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19538" name="Text Box 74"/>
                <p:cNvSpPr txBox="1"/>
                <p:nvPr/>
              </p:nvSpPr>
              <p:spPr>
                <a:xfrm>
                  <a:off x="1383" y="1447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1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39" name="Text Box 75"/>
                <p:cNvSpPr txBox="1"/>
                <p:nvPr/>
              </p:nvSpPr>
              <p:spPr>
                <a:xfrm>
                  <a:off x="1020" y="2115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0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540" name="Text Box 76"/>
                <p:cNvSpPr txBox="1"/>
                <p:nvPr/>
              </p:nvSpPr>
              <p:spPr>
                <a:xfrm>
                  <a:off x="1655" y="2024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2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9541" name="Text Box 51"/>
              <p:cNvSpPr txBox="1"/>
              <p:nvPr/>
            </p:nvSpPr>
            <p:spPr>
              <a:xfrm>
                <a:off x="6143636" y="4357694"/>
                <a:ext cx="420687" cy="4572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4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542" name="Text Box 51"/>
              <p:cNvSpPr txBox="1"/>
              <p:nvPr/>
            </p:nvSpPr>
            <p:spPr>
              <a:xfrm>
                <a:off x="5940152" y="2467740"/>
                <a:ext cx="420687" cy="4572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6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9543" name="Text Box 27"/>
            <p:cNvSpPr txBox="1"/>
            <p:nvPr/>
          </p:nvSpPr>
          <p:spPr>
            <a:xfrm>
              <a:off x="7391673" y="4267944"/>
              <a:ext cx="420687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544" name="Text Box 27"/>
            <p:cNvSpPr txBox="1"/>
            <p:nvPr/>
          </p:nvSpPr>
          <p:spPr>
            <a:xfrm>
              <a:off x="5580112" y="3468688"/>
              <a:ext cx="420687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举例</a:t>
            </a:r>
            <a:endParaRPr lang="zh-CN" altLang="en-US"/>
          </a:p>
        </p:txBody>
      </p:sp>
      <p:grpSp>
        <p:nvGrpSpPr>
          <p:cNvPr id="20482" name="组 39"/>
          <p:cNvGrpSpPr/>
          <p:nvPr/>
        </p:nvGrpSpPr>
        <p:grpSpPr>
          <a:xfrm>
            <a:off x="2012950" y="2319338"/>
            <a:ext cx="2559050" cy="3054350"/>
            <a:chOff x="874718" y="1311151"/>
            <a:chExt cx="2257122" cy="2693913"/>
          </a:xfrm>
        </p:grpSpPr>
        <p:sp>
          <p:nvSpPr>
            <p:cNvPr id="20483" name="椭圆 5"/>
            <p:cNvSpPr/>
            <p:nvPr/>
          </p:nvSpPr>
          <p:spPr>
            <a:xfrm>
              <a:off x="1132479" y="2102917"/>
              <a:ext cx="144016" cy="14401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0484" name="椭圆 6"/>
            <p:cNvSpPr/>
            <p:nvPr/>
          </p:nvSpPr>
          <p:spPr>
            <a:xfrm rot="8100000">
              <a:off x="1157797" y="3098787"/>
              <a:ext cx="144016" cy="14401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0485" name="椭圆 7"/>
            <p:cNvSpPr/>
            <p:nvPr/>
          </p:nvSpPr>
          <p:spPr>
            <a:xfrm>
              <a:off x="2699792" y="2132856"/>
              <a:ext cx="144016" cy="14401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0486" name="椭圆 8"/>
            <p:cNvSpPr/>
            <p:nvPr/>
          </p:nvSpPr>
          <p:spPr>
            <a:xfrm>
              <a:off x="2699792" y="3098787"/>
              <a:ext cx="144016" cy="14401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0487" name="椭圆 9"/>
            <p:cNvSpPr/>
            <p:nvPr/>
          </p:nvSpPr>
          <p:spPr>
            <a:xfrm>
              <a:off x="1904554" y="3573016"/>
              <a:ext cx="144016" cy="14401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0488" name="椭圆 10"/>
            <p:cNvSpPr/>
            <p:nvPr/>
          </p:nvSpPr>
          <p:spPr>
            <a:xfrm>
              <a:off x="1904554" y="1622713"/>
              <a:ext cx="144016" cy="14401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cxnSp>
          <p:nvCxnSpPr>
            <p:cNvPr id="20489" name="直线连接符 12"/>
            <p:cNvCxnSpPr>
              <a:stCxn id="20483" idx="4"/>
              <a:endCxn id="20484" idx="3"/>
            </p:cNvCxnSpPr>
            <p:nvPr/>
          </p:nvCxnSpPr>
          <p:spPr>
            <a:xfrm>
              <a:off x="1204487" y="2246933"/>
              <a:ext cx="25318" cy="85185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90" name="直线连接符 14"/>
            <p:cNvCxnSpPr>
              <a:stCxn id="20483" idx="7"/>
              <a:endCxn id="20488" idx="3"/>
            </p:cNvCxnSpPr>
            <p:nvPr/>
          </p:nvCxnSpPr>
          <p:spPr>
            <a:xfrm flipV="1">
              <a:off x="1255404" y="1745638"/>
              <a:ext cx="670241" cy="37837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91" name="直线连接符 16"/>
            <p:cNvCxnSpPr>
              <a:stCxn id="20488" idx="5"/>
              <a:endCxn id="20486" idx="1"/>
            </p:cNvCxnSpPr>
            <p:nvPr/>
          </p:nvCxnSpPr>
          <p:spPr>
            <a:xfrm>
              <a:off x="2027479" y="1745638"/>
              <a:ext cx="693404" cy="1374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92" name="直线连接符 18"/>
            <p:cNvCxnSpPr>
              <a:stCxn id="20485" idx="4"/>
              <a:endCxn id="20486" idx="0"/>
            </p:cNvCxnSpPr>
            <p:nvPr/>
          </p:nvCxnSpPr>
          <p:spPr>
            <a:xfrm>
              <a:off x="2771800" y="2276872"/>
              <a:ext cx="0" cy="82191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93" name="直线连接符 20"/>
            <p:cNvCxnSpPr>
              <a:stCxn id="20484" idx="0"/>
              <a:endCxn id="20487" idx="1"/>
            </p:cNvCxnSpPr>
            <p:nvPr/>
          </p:nvCxnSpPr>
          <p:spPr>
            <a:xfrm>
              <a:off x="1280722" y="3221712"/>
              <a:ext cx="644923" cy="37239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94" name="直线连接符 24"/>
            <p:cNvCxnSpPr>
              <a:stCxn id="20487" idx="7"/>
              <a:endCxn id="20486" idx="3"/>
            </p:cNvCxnSpPr>
            <p:nvPr/>
          </p:nvCxnSpPr>
          <p:spPr>
            <a:xfrm flipV="1">
              <a:off x="2027479" y="3221712"/>
              <a:ext cx="693404" cy="37239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95" name="直线连接符 26"/>
            <p:cNvCxnSpPr>
              <a:stCxn id="20488" idx="4"/>
              <a:endCxn id="20487" idx="0"/>
            </p:cNvCxnSpPr>
            <p:nvPr/>
          </p:nvCxnSpPr>
          <p:spPr>
            <a:xfrm>
              <a:off x="1976562" y="1766729"/>
              <a:ext cx="0" cy="180628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96" name="直线连接符 28"/>
            <p:cNvCxnSpPr>
              <a:stCxn id="20484" idx="1"/>
              <a:endCxn id="20485" idx="3"/>
            </p:cNvCxnSpPr>
            <p:nvPr/>
          </p:nvCxnSpPr>
          <p:spPr>
            <a:xfrm flipV="1">
              <a:off x="1301813" y="2255781"/>
              <a:ext cx="1419070" cy="9150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97" name="直线连接符 31"/>
            <p:cNvCxnSpPr>
              <a:stCxn id="20483" idx="6"/>
              <a:endCxn id="20485" idx="1"/>
            </p:cNvCxnSpPr>
            <p:nvPr/>
          </p:nvCxnSpPr>
          <p:spPr>
            <a:xfrm flipV="1">
              <a:off x="1276495" y="2153947"/>
              <a:ext cx="1444388" cy="2097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498" name="文本框 32"/>
            <p:cNvSpPr txBox="1"/>
            <p:nvPr/>
          </p:nvSpPr>
          <p:spPr>
            <a:xfrm>
              <a:off x="874718" y="1917421"/>
              <a:ext cx="312245" cy="3990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000" b="0" i="1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endParaRPr lang="zh-CN" altLang="en-US" sz="2000" b="0" i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0499" name="文本框 33"/>
            <p:cNvSpPr txBox="1"/>
            <p:nvPr/>
          </p:nvSpPr>
          <p:spPr>
            <a:xfrm>
              <a:off x="1640628" y="1311151"/>
              <a:ext cx="338848" cy="4620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b="0" i="1" dirty="0">
                  <a:latin typeface="Times New Roman" panose="02020603050405020304" charset="0"/>
                  <a:ea typeface="宋体" panose="02010600030101010101" pitchFamily="2" charset="-122"/>
                </a:rPr>
                <a:t>b</a:t>
              </a:r>
              <a:endParaRPr lang="zh-CN" altLang="en-US" sz="2400" b="0" i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0500" name="文本框 34"/>
            <p:cNvSpPr txBox="1"/>
            <p:nvPr/>
          </p:nvSpPr>
          <p:spPr>
            <a:xfrm>
              <a:off x="2819596" y="1988830"/>
              <a:ext cx="298242" cy="4004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000" b="0" i="1" dirty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endParaRPr lang="en-US" altLang="zh-CN" sz="2000" b="0" i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0501" name="文本框 35"/>
            <p:cNvSpPr txBox="1"/>
            <p:nvPr/>
          </p:nvSpPr>
          <p:spPr>
            <a:xfrm>
              <a:off x="2819596" y="2956342"/>
              <a:ext cx="312244" cy="4004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000" b="0" i="1" dirty="0">
                  <a:latin typeface="Times New Roman" panose="02020603050405020304" charset="0"/>
                  <a:ea typeface="宋体" panose="02010600030101010101" pitchFamily="2" charset="-122"/>
                </a:rPr>
                <a:t>d</a:t>
              </a:r>
              <a:endParaRPr lang="zh-CN" altLang="en-US" sz="2000" b="0" i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0502" name="文本框 36"/>
            <p:cNvSpPr txBox="1"/>
            <p:nvPr/>
          </p:nvSpPr>
          <p:spPr>
            <a:xfrm>
              <a:off x="1811452" y="3604617"/>
              <a:ext cx="298242" cy="4004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000" b="0" i="1" dirty="0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endParaRPr lang="zh-CN" altLang="en-US" sz="2000" b="0" i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0503" name="文本框 37"/>
            <p:cNvSpPr txBox="1"/>
            <p:nvPr/>
          </p:nvSpPr>
          <p:spPr>
            <a:xfrm>
              <a:off x="899922" y="2956342"/>
              <a:ext cx="254836" cy="4004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000" b="0" i="1" dirty="0">
                  <a:latin typeface="Times New Roman" panose="02020603050405020304" charset="0"/>
                  <a:ea typeface="宋体" panose="02010600030101010101" pitchFamily="2" charset="-122"/>
                </a:rPr>
                <a:t>f</a:t>
              </a:r>
              <a:endParaRPr lang="zh-CN" altLang="en-US" sz="2000" b="0" i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504" name="内容占位符 38"/>
          <p:cNvSpPr>
            <a:spLocks noGrp="1"/>
          </p:cNvSpPr>
          <p:nvPr>
            <p:ph idx="1"/>
          </p:nvPr>
        </p:nvSpPr>
        <p:spPr>
          <a:xfrm>
            <a:off x="179388" y="1317625"/>
            <a:ext cx="8496300" cy="904875"/>
          </a:xfrm>
        </p:spPr>
        <p:txBody>
          <a:bodyPr vert="horz" wrap="square" lIns="91440" tIns="45720" rIns="91440" bIns="45720" anchor="t" anchorCtr="0"/>
          <a:p>
            <a:r>
              <a:rPr lang="zh-CN" altLang="en-US"/>
              <a:t>求下图所示无向图的所有极大独立集和最大独立集及</a:t>
            </a:r>
            <a:r>
              <a:rPr lang="en-US" altLang="zh-CN">
                <a:sym typeface="Symbol" panose="05050102010706020507" charset="2"/>
              </a:rPr>
              <a:t></a:t>
            </a:r>
            <a:r>
              <a:rPr lang="en-US" altLang="zh-CN" baseline="-25000"/>
              <a:t>0</a:t>
            </a:r>
            <a:endParaRPr lang="zh-CN" altLang="en-US"/>
          </a:p>
        </p:txBody>
      </p:sp>
      <p:sp>
        <p:nvSpPr>
          <p:cNvPr id="20505" name="文本框 1"/>
          <p:cNvSpPr txBox="1"/>
          <p:nvPr/>
        </p:nvSpPr>
        <p:spPr>
          <a:xfrm>
            <a:off x="5775325" y="2857500"/>
            <a:ext cx="889000" cy="22590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altLang="zh-CN" sz="2000">
                <a:latin typeface="Tahoma" panose="020B0604030504040204" charset="0"/>
                <a:ea typeface="宋体" panose="02010600030101010101" pitchFamily="2" charset="-122"/>
              </a:rPr>
              <a:t>{a,d}</a:t>
            </a:r>
            <a:endParaRPr lang="en-US" altLang="zh-CN" sz="2000">
              <a:latin typeface="Tahoma" panose="020B060403050404020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000">
                <a:latin typeface="Tahoma" panose="020B0604030504040204" charset="0"/>
                <a:ea typeface="宋体" panose="02010600030101010101" pitchFamily="2" charset="-122"/>
              </a:rPr>
              <a:t>{a,e}</a:t>
            </a:r>
            <a:endParaRPr lang="en-US" altLang="zh-CN" sz="2000">
              <a:latin typeface="Tahoma" panose="020B060403050404020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000">
                <a:latin typeface="Tahoma" panose="020B0604030504040204" charset="0"/>
                <a:ea typeface="宋体" panose="02010600030101010101" pitchFamily="2" charset="-122"/>
              </a:rPr>
              <a:t>{b,c}</a:t>
            </a:r>
            <a:endParaRPr lang="en-US" altLang="zh-CN" sz="2000">
              <a:latin typeface="Tahoma" panose="020B060403050404020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000">
                <a:latin typeface="Tahoma" panose="020B0604030504040204" charset="0"/>
                <a:ea typeface="宋体" panose="02010600030101010101" pitchFamily="2" charset="-122"/>
              </a:rPr>
              <a:t>{b,f}</a:t>
            </a:r>
            <a:endParaRPr lang="en-US" altLang="zh-CN" sz="2000">
              <a:latin typeface="Tahoma" panose="020B060403050404020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000">
                <a:latin typeface="Tahoma" panose="020B0604030504040204" charset="0"/>
                <a:ea typeface="宋体" panose="02010600030101010101" pitchFamily="2" charset="-122"/>
              </a:rPr>
              <a:t>{c,e}</a:t>
            </a:r>
            <a:endParaRPr lang="en-US" altLang="zh-CN" sz="2000">
              <a:latin typeface="Tahoma" panose="020B060403050404020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000">
                <a:latin typeface="Tahoma" panose="020B0604030504040204" charset="0"/>
                <a:ea typeface="宋体" panose="02010600030101010101" pitchFamily="2" charset="-122"/>
              </a:rPr>
              <a:t>{d,f}</a:t>
            </a:r>
            <a:endParaRPr lang="en-US" altLang="zh-CN" sz="2000">
              <a:latin typeface="Tahoma" panose="020B060403050404020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000">
                <a:latin typeface="Tahoma" panose="020B0604030504040204" charset="0"/>
                <a:ea typeface="宋体" panose="02010600030101010101" pitchFamily="2" charset="-122"/>
                <a:sym typeface="Symbol" panose="05050102010706020507" charset="2"/>
              </a:rPr>
              <a:t></a:t>
            </a:r>
            <a:r>
              <a:rPr lang="en-US" altLang="zh-CN" sz="2000" baseline="-25000">
                <a:latin typeface="Tahoma" panose="020B0604030504040204" charset="0"/>
                <a:ea typeface="宋体" panose="02010600030101010101" pitchFamily="2" charset="-122"/>
              </a:rPr>
              <a:t>0</a:t>
            </a:r>
            <a:r>
              <a:rPr lang="en-US" altLang="zh-CN" sz="3200" baseline="-25000">
                <a:latin typeface="Tahoma" panose="020B0604030504040204" charset="0"/>
                <a:ea typeface="宋体" panose="02010600030101010101" pitchFamily="2" charset="-122"/>
              </a:rPr>
              <a:t>=2</a:t>
            </a:r>
            <a:endParaRPr lang="en-US" altLang="zh-CN" sz="3200" baseline="-25000"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定理</a:t>
            </a:r>
            <a:r>
              <a:rPr kumimoji="0" lang="en-US" altLang="zh-CN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13.2</a:t>
            </a:r>
            <a:endParaRPr kumimoji="0" lang="en-US" altLang="zh-CN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48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13.2:</a:t>
            </a:r>
            <a:r>
              <a:rPr lang="en-US" altLang="zh-CN"/>
              <a:t> </a:t>
            </a:r>
            <a:r>
              <a:rPr lang="zh-CN" altLang="en-US"/>
              <a:t>无向图</a:t>
            </a:r>
            <a:r>
              <a:rPr lang="en-US" altLang="zh-CN"/>
              <a:t>G,V*</a:t>
            </a:r>
            <a:r>
              <a:rPr lang="zh-CN" altLang="en-US"/>
              <a:t>是</a:t>
            </a:r>
            <a:r>
              <a:rPr lang="zh-CN" altLang="en-US">
                <a:solidFill>
                  <a:srgbClr val="FF0000"/>
                </a:solidFill>
              </a:rPr>
              <a:t>极大独立集</a:t>
            </a:r>
            <a:r>
              <a:rPr lang="en-US" altLang="zh-CN"/>
              <a:t>,</a:t>
            </a:r>
            <a:r>
              <a:rPr lang="zh-CN" altLang="en-US"/>
              <a:t>则</a:t>
            </a:r>
            <a:r>
              <a:rPr lang="en-US" altLang="zh-CN"/>
              <a:t>V*</a:t>
            </a:r>
            <a:r>
              <a:rPr lang="zh-CN" altLang="en-US"/>
              <a:t>也是</a:t>
            </a:r>
            <a:r>
              <a:rPr lang="zh-CN" altLang="en-US">
                <a:solidFill>
                  <a:srgbClr val="FF0000"/>
                </a:solidFill>
              </a:rPr>
              <a:t>极小支配集</a:t>
            </a:r>
            <a:r>
              <a:rPr lang="en-US" altLang="zh-CN"/>
              <a:t>.</a:t>
            </a:r>
            <a:endParaRPr lang="en-US" altLang="zh-CN"/>
          </a:p>
          <a:p>
            <a:pPr eaLnBrk="1" hangingPunct="1">
              <a:buNone/>
            </a:pPr>
            <a:r>
              <a:rPr lang="en-US" altLang="zh-CN"/>
              <a:t>【</a:t>
            </a:r>
            <a:r>
              <a:rPr lang="zh-CN" altLang="en-US">
                <a:solidFill>
                  <a:srgbClr val="FF00FF"/>
                </a:solidFill>
              </a:rPr>
              <a:t>思路</a:t>
            </a:r>
            <a:r>
              <a:rPr lang="en-US" altLang="zh-CN"/>
              <a:t>】</a:t>
            </a:r>
            <a:r>
              <a:rPr lang="zh-CN" altLang="en-US"/>
              <a:t>先证</a:t>
            </a:r>
            <a:r>
              <a:rPr lang="en-US" altLang="zh-CN"/>
              <a:t>V*</a:t>
            </a:r>
            <a:r>
              <a:rPr lang="zh-CN" altLang="en-US"/>
              <a:t>是支配集；再证</a:t>
            </a:r>
            <a:r>
              <a:rPr lang="en-US" altLang="zh-CN"/>
              <a:t>V*</a:t>
            </a:r>
            <a:r>
              <a:rPr lang="zh-CN" altLang="en-US"/>
              <a:t>是极小支配集</a:t>
            </a:r>
            <a:r>
              <a:rPr lang="en-US" altLang="zh-CN"/>
              <a:t>.</a:t>
            </a:r>
            <a:endParaRPr lang="en-US" altLang="zh-CN"/>
          </a:p>
          <a:p>
            <a:pPr eaLnBrk="1" hangingPunct="1">
              <a:buNone/>
            </a:pPr>
            <a:r>
              <a:rPr lang="zh-CN" altLang="en-US">
                <a:solidFill>
                  <a:srgbClr val="FF0000"/>
                </a:solidFill>
              </a:rPr>
              <a:t>证明</a:t>
            </a:r>
            <a:r>
              <a:rPr lang="en-US" altLang="zh-CN"/>
              <a:t>: </a:t>
            </a:r>
            <a:r>
              <a:rPr lang="zh-CN" altLang="en-US"/>
              <a:t>证</a:t>
            </a:r>
            <a:r>
              <a:rPr lang="en-US" altLang="zh-CN"/>
              <a:t>V*</a:t>
            </a:r>
            <a:r>
              <a:rPr lang="zh-CN" altLang="en-US"/>
              <a:t>是支配集</a:t>
            </a:r>
            <a:r>
              <a:rPr lang="en-US" altLang="zh-CN"/>
              <a:t>.</a:t>
            </a:r>
            <a:r>
              <a:rPr lang="zh-CN" altLang="en-US">
                <a:solidFill>
                  <a:srgbClr val="FF00FF"/>
                </a:solidFill>
              </a:rPr>
              <a:t>（反证）</a:t>
            </a:r>
            <a:endParaRPr lang="en-US" altLang="zh-CN">
              <a:solidFill>
                <a:srgbClr val="FF00FF"/>
              </a:solidFill>
            </a:endParaRPr>
          </a:p>
          <a:p>
            <a:pPr eaLnBrk="1" hangingPunct="1">
              <a:buNone/>
            </a:pPr>
            <a:r>
              <a:rPr lang="en-US" altLang="zh-CN"/>
              <a:t> </a:t>
            </a:r>
            <a:r>
              <a:rPr lang="zh-CN" altLang="en-US">
                <a:solidFill>
                  <a:schemeClr val="tx2"/>
                </a:solidFill>
              </a:rPr>
              <a:t>设</a:t>
            </a:r>
            <a:r>
              <a:rPr lang="en-US" altLang="zh-CN">
                <a:solidFill>
                  <a:schemeClr val="tx2"/>
                </a:solidFill>
              </a:rPr>
              <a:t>V*</a:t>
            </a:r>
            <a:r>
              <a:rPr lang="zh-CN" altLang="en-US">
                <a:solidFill>
                  <a:schemeClr val="tx2"/>
                </a:solidFill>
              </a:rPr>
              <a:t>不是支配集</a:t>
            </a:r>
            <a:r>
              <a:rPr lang="en-US" altLang="zh-CN">
                <a:solidFill>
                  <a:schemeClr val="tx2"/>
                </a:solidFill>
              </a:rPr>
              <a:t>, </a:t>
            </a:r>
            <a:r>
              <a:rPr lang="zh-CN" altLang="en-US">
                <a:solidFill>
                  <a:schemeClr val="tx2"/>
                </a:solidFill>
              </a:rPr>
              <a:t>则∃</a:t>
            </a:r>
            <a:r>
              <a:rPr lang="en-US" altLang="zh-CN" i="1">
                <a:solidFill>
                  <a:schemeClr val="tx2"/>
                </a:solidFill>
              </a:rPr>
              <a:t>u</a:t>
            </a:r>
            <a:r>
              <a:rPr lang="en-US" altLang="zh-CN">
                <a:solidFill>
                  <a:schemeClr val="tx2"/>
                </a:solidFill>
              </a:rPr>
              <a:t>∈V-V*, ∀</a:t>
            </a:r>
            <a:r>
              <a:rPr lang="en-US" altLang="zh-CN" i="1">
                <a:solidFill>
                  <a:schemeClr val="tx2"/>
                </a:solidFill>
              </a:rPr>
              <a:t>v</a:t>
            </a:r>
            <a:r>
              <a:rPr lang="en-US" altLang="zh-CN">
                <a:solidFill>
                  <a:schemeClr val="tx2"/>
                </a:solidFill>
              </a:rPr>
              <a:t>∈V*,(</a:t>
            </a:r>
            <a:r>
              <a:rPr lang="en-US" altLang="zh-CN" i="1">
                <a:solidFill>
                  <a:schemeClr val="tx2"/>
                </a:solidFill>
              </a:rPr>
              <a:t>u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en-US" altLang="zh-CN" i="1">
                <a:solidFill>
                  <a:schemeClr val="tx2"/>
                </a:solidFill>
              </a:rPr>
              <a:t>v</a:t>
            </a:r>
            <a:r>
              <a:rPr lang="en-US" altLang="zh-CN">
                <a:solidFill>
                  <a:schemeClr val="tx2"/>
                </a:solidFill>
              </a:rPr>
              <a:t>)∉E, </a:t>
            </a:r>
            <a:r>
              <a:rPr lang="zh-CN" altLang="en-US">
                <a:solidFill>
                  <a:schemeClr val="tx2"/>
                </a:solidFill>
              </a:rPr>
              <a:t>即</a:t>
            </a:r>
            <a:r>
              <a:rPr lang="en-US" altLang="zh-CN">
                <a:solidFill>
                  <a:schemeClr val="tx2"/>
                </a:solidFill>
              </a:rPr>
              <a:t>V*∪{</a:t>
            </a:r>
            <a:r>
              <a:rPr lang="en-US" altLang="zh-CN" i="1">
                <a:solidFill>
                  <a:schemeClr val="tx2"/>
                </a:solidFill>
              </a:rPr>
              <a:t>u</a:t>
            </a:r>
            <a:r>
              <a:rPr lang="en-US" altLang="zh-CN">
                <a:solidFill>
                  <a:schemeClr val="tx2"/>
                </a:solidFill>
              </a:rPr>
              <a:t>}</a:t>
            </a:r>
            <a:r>
              <a:rPr lang="zh-CN" altLang="en-US">
                <a:solidFill>
                  <a:schemeClr val="tx2"/>
                </a:solidFill>
              </a:rPr>
              <a:t>是独立集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zh-CN" altLang="en-US">
                <a:solidFill>
                  <a:schemeClr val="tx2"/>
                </a:solidFill>
              </a:rPr>
              <a:t>与</a:t>
            </a:r>
            <a:r>
              <a:rPr lang="en-US" altLang="zh-CN">
                <a:solidFill>
                  <a:schemeClr val="tx2"/>
                </a:solidFill>
              </a:rPr>
              <a:t>V* </a:t>
            </a:r>
            <a:r>
              <a:rPr lang="zh-CN" altLang="en-US">
                <a:solidFill>
                  <a:schemeClr val="tx2"/>
                </a:solidFill>
              </a:rPr>
              <a:t>是极大独立集矛盾</a:t>
            </a:r>
            <a:r>
              <a:rPr lang="en-US" altLang="zh-CN">
                <a:solidFill>
                  <a:schemeClr val="tx2"/>
                </a:solidFill>
              </a:rPr>
              <a:t>.</a:t>
            </a:r>
            <a:endParaRPr lang="en-US" altLang="zh-CN">
              <a:solidFill>
                <a:schemeClr val="tx2"/>
              </a:solidFill>
            </a:endParaRPr>
          </a:p>
          <a:p>
            <a:pPr eaLnBrk="1" hangingPunct="1">
              <a:buNone/>
            </a:pPr>
            <a:r>
              <a:rPr lang="zh-CN" altLang="en-US"/>
              <a:t>再证</a:t>
            </a:r>
            <a:r>
              <a:rPr lang="en-US" altLang="zh-CN"/>
              <a:t>V*</a:t>
            </a:r>
            <a:r>
              <a:rPr lang="zh-CN" altLang="en-US"/>
              <a:t>是极小支配集</a:t>
            </a:r>
            <a:r>
              <a:rPr lang="en-US" altLang="zh-CN"/>
              <a:t>.</a:t>
            </a:r>
            <a:endParaRPr lang="en-US" altLang="zh-CN"/>
          </a:p>
          <a:p>
            <a:pPr eaLnBrk="1" hangingPunct="1">
              <a:buNone/>
            </a:pPr>
            <a:r>
              <a:rPr lang="en-US" altLang="zh-CN">
                <a:solidFill>
                  <a:srgbClr val="FF00FF"/>
                </a:solidFill>
              </a:rPr>
              <a:t>(</a:t>
            </a:r>
            <a:r>
              <a:rPr lang="zh-CN" altLang="en-US">
                <a:solidFill>
                  <a:srgbClr val="FF00FF"/>
                </a:solidFill>
              </a:rPr>
              <a:t>反证</a:t>
            </a:r>
            <a:r>
              <a:rPr lang="en-US" altLang="zh-CN">
                <a:solidFill>
                  <a:srgbClr val="FF00FF"/>
                </a:solidFill>
              </a:rPr>
              <a:t>) </a:t>
            </a:r>
            <a:r>
              <a:rPr lang="zh-CN" altLang="en-US">
                <a:solidFill>
                  <a:schemeClr val="tx2"/>
                </a:solidFill>
              </a:rPr>
              <a:t>否则</a:t>
            </a:r>
            <a:r>
              <a:rPr lang="en-US" altLang="zh-CN">
                <a:solidFill>
                  <a:schemeClr val="tx2"/>
                </a:solidFill>
              </a:rPr>
              <a:t>, ∃</a:t>
            </a:r>
            <a:r>
              <a:rPr lang="en-US" altLang="zh-CN" i="1">
                <a:solidFill>
                  <a:schemeClr val="tx2"/>
                </a:solidFill>
              </a:rPr>
              <a:t>u</a:t>
            </a:r>
            <a:r>
              <a:rPr lang="en-US" altLang="zh-CN">
                <a:solidFill>
                  <a:schemeClr val="tx2"/>
                </a:solidFill>
              </a:rPr>
              <a:t>∈</a:t>
            </a:r>
            <a:r>
              <a:rPr lang="en-US" altLang="zh-CN" i="1">
                <a:solidFill>
                  <a:schemeClr val="tx2"/>
                </a:solidFill>
              </a:rPr>
              <a:t>V</a:t>
            </a:r>
            <a:r>
              <a:rPr lang="en-US" altLang="zh-CN">
                <a:solidFill>
                  <a:schemeClr val="tx2"/>
                </a:solidFill>
              </a:rPr>
              <a:t>*, </a:t>
            </a:r>
            <a:r>
              <a:rPr lang="en-US" altLang="zh-CN" i="1">
                <a:solidFill>
                  <a:schemeClr val="tx2"/>
                </a:solidFill>
              </a:rPr>
              <a:t>V</a:t>
            </a:r>
            <a:r>
              <a:rPr lang="en-US" altLang="zh-CN">
                <a:solidFill>
                  <a:schemeClr val="tx2"/>
                </a:solidFill>
              </a:rPr>
              <a:t>*-{</a:t>
            </a:r>
            <a:r>
              <a:rPr lang="en-US" altLang="zh-CN" i="1">
                <a:solidFill>
                  <a:schemeClr val="tx2"/>
                </a:solidFill>
              </a:rPr>
              <a:t>u</a:t>
            </a:r>
            <a:r>
              <a:rPr lang="en-US" altLang="zh-CN">
                <a:solidFill>
                  <a:schemeClr val="tx2"/>
                </a:solidFill>
              </a:rPr>
              <a:t>}</a:t>
            </a:r>
            <a:r>
              <a:rPr lang="zh-CN" altLang="en-US">
                <a:solidFill>
                  <a:schemeClr val="tx2"/>
                </a:solidFill>
              </a:rPr>
              <a:t>是支配集</a:t>
            </a:r>
            <a:r>
              <a:rPr lang="en-US" altLang="zh-CN">
                <a:solidFill>
                  <a:schemeClr val="tx2"/>
                </a:solidFill>
              </a:rPr>
              <a:t>, </a:t>
            </a:r>
            <a:r>
              <a:rPr lang="zh-CN" altLang="en-US">
                <a:solidFill>
                  <a:schemeClr val="tx2"/>
                </a:solidFill>
              </a:rPr>
              <a:t>则∃</a:t>
            </a:r>
            <a:r>
              <a:rPr lang="en-US" altLang="zh-CN" i="1">
                <a:solidFill>
                  <a:schemeClr val="tx2"/>
                </a:solidFill>
              </a:rPr>
              <a:t>v</a:t>
            </a:r>
            <a:r>
              <a:rPr lang="en-US" altLang="zh-CN">
                <a:solidFill>
                  <a:schemeClr val="tx2"/>
                </a:solidFill>
              </a:rPr>
              <a:t>∈</a:t>
            </a:r>
            <a:r>
              <a:rPr lang="en-US" altLang="zh-CN" i="1">
                <a:solidFill>
                  <a:schemeClr val="tx2"/>
                </a:solidFill>
              </a:rPr>
              <a:t>V</a:t>
            </a:r>
            <a:r>
              <a:rPr lang="en-US" altLang="zh-CN">
                <a:solidFill>
                  <a:schemeClr val="tx2"/>
                </a:solidFill>
              </a:rPr>
              <a:t>*-{</a:t>
            </a:r>
            <a:r>
              <a:rPr lang="en-US" altLang="zh-CN" i="1">
                <a:solidFill>
                  <a:schemeClr val="tx2"/>
                </a:solidFill>
              </a:rPr>
              <a:t>u</a:t>
            </a:r>
            <a:r>
              <a:rPr lang="en-US" altLang="zh-CN">
                <a:solidFill>
                  <a:schemeClr val="tx2"/>
                </a:solidFill>
              </a:rPr>
              <a:t>}, (</a:t>
            </a:r>
            <a:r>
              <a:rPr lang="en-US" altLang="zh-CN" i="1">
                <a:solidFill>
                  <a:schemeClr val="tx2"/>
                </a:solidFill>
              </a:rPr>
              <a:t>u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en-US" altLang="zh-CN" i="1">
                <a:solidFill>
                  <a:schemeClr val="tx2"/>
                </a:solidFill>
              </a:rPr>
              <a:t>v</a:t>
            </a:r>
            <a:r>
              <a:rPr lang="en-US" altLang="zh-CN">
                <a:solidFill>
                  <a:schemeClr val="tx2"/>
                </a:solidFill>
              </a:rPr>
              <a:t>)∈E, </a:t>
            </a:r>
            <a:r>
              <a:rPr lang="zh-CN" altLang="en-US">
                <a:solidFill>
                  <a:schemeClr val="tx2"/>
                </a:solidFill>
              </a:rPr>
              <a:t>与</a:t>
            </a:r>
            <a:r>
              <a:rPr lang="en-US" altLang="zh-CN">
                <a:solidFill>
                  <a:schemeClr val="tx2"/>
                </a:solidFill>
              </a:rPr>
              <a:t>V*</a:t>
            </a:r>
            <a:r>
              <a:rPr lang="zh-CN" altLang="en-US">
                <a:solidFill>
                  <a:schemeClr val="tx2"/>
                </a:solidFill>
              </a:rPr>
              <a:t>是独立集相矛盾</a:t>
            </a:r>
            <a:r>
              <a:rPr lang="en-US" altLang="zh-CN">
                <a:solidFill>
                  <a:schemeClr val="tx2"/>
                </a:solidFill>
              </a:rPr>
              <a:t>. </a:t>
            </a:r>
            <a:endParaRPr lang="en-US" altLang="zh-CN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charRg st="38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charRg st="63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charRg st="80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charRg st="142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charRg st="154" end="2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/>
              <a:t>定理</a:t>
            </a:r>
            <a:r>
              <a:rPr lang="en-US" altLang="zh-CN"/>
              <a:t>13.2(</a:t>
            </a:r>
            <a:r>
              <a:rPr lang="zh-CN" altLang="en-US"/>
              <a:t>讨论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23554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2592388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定理</a:t>
            </a:r>
            <a:r>
              <a:rPr lang="en-US" altLang="zh-CN">
                <a:solidFill>
                  <a:srgbClr val="FF0000"/>
                </a:solidFill>
              </a:rPr>
              <a:t>13.2: </a:t>
            </a:r>
            <a:r>
              <a:rPr lang="zh-CN" altLang="en-US">
                <a:solidFill>
                  <a:srgbClr val="FF0000"/>
                </a:solidFill>
              </a:rPr>
              <a:t>极大独立集是极小支配集</a:t>
            </a:r>
            <a:endParaRPr lang="zh-CN" altLang="en-US">
              <a:solidFill>
                <a:srgbClr val="FF0000"/>
              </a:solidFill>
            </a:endParaRPr>
          </a:p>
          <a:p>
            <a:pPr eaLnBrk="1" hangingPunct="1">
              <a:buNone/>
            </a:pPr>
            <a:r>
              <a:rPr lang="zh-CN" altLang="en-US">
                <a:solidFill>
                  <a:srgbClr val="FF0000"/>
                </a:solidFill>
              </a:rPr>
              <a:t>    但逆命题不成立</a:t>
            </a:r>
            <a:endParaRPr lang="zh-CN" altLang="en-US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/>
              <a:t>反例</a:t>
            </a:r>
            <a:r>
              <a:rPr lang="en-US" altLang="zh-CN"/>
              <a:t>: {</a:t>
            </a:r>
            <a:r>
              <a:rPr lang="en-US" altLang="zh-CN" i="1"/>
              <a:t>v</a:t>
            </a:r>
            <a:r>
              <a:rPr lang="en-US" altLang="zh-CN" baseline="-25000"/>
              <a:t>2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 baseline="-25000"/>
              <a:t>3</a:t>
            </a:r>
            <a:r>
              <a:rPr lang="en-US" altLang="zh-CN"/>
              <a:t>}</a:t>
            </a:r>
            <a:r>
              <a:rPr lang="zh-CN" altLang="en-US"/>
              <a:t>是极小支配集</a:t>
            </a:r>
            <a:r>
              <a:rPr lang="en-US" altLang="zh-CN"/>
              <a:t>,</a:t>
            </a:r>
            <a:r>
              <a:rPr lang="zh-CN" altLang="en-US"/>
              <a:t>但不是独立集</a:t>
            </a:r>
            <a:r>
              <a:rPr lang="en-US" altLang="zh-CN"/>
              <a:t>,</a:t>
            </a:r>
            <a:endParaRPr lang="en-US" altLang="zh-CN"/>
          </a:p>
          <a:p>
            <a:pPr eaLnBrk="1" hangingPunct="1">
              <a:buNone/>
            </a:pPr>
            <a:r>
              <a:rPr lang="en-US" altLang="zh-CN"/>
              <a:t>    </a:t>
            </a:r>
            <a:r>
              <a:rPr lang="zh-CN" altLang="en-US"/>
              <a:t>更不是极大独立集</a:t>
            </a:r>
            <a:endParaRPr lang="zh-CN" altLang="en-US"/>
          </a:p>
        </p:txBody>
      </p:sp>
      <p:grpSp>
        <p:nvGrpSpPr>
          <p:cNvPr id="23555" name="Group 13"/>
          <p:cNvGrpSpPr/>
          <p:nvPr/>
        </p:nvGrpSpPr>
        <p:grpSpPr>
          <a:xfrm>
            <a:off x="2195513" y="3890963"/>
            <a:ext cx="2725737" cy="690562"/>
            <a:chOff x="1254" y="2886"/>
            <a:chExt cx="1717" cy="435"/>
          </a:xfrm>
        </p:grpSpPr>
        <p:sp>
          <p:nvSpPr>
            <p:cNvPr id="23556" name="Line 4"/>
            <p:cNvSpPr/>
            <p:nvPr/>
          </p:nvSpPr>
          <p:spPr>
            <a:xfrm>
              <a:off x="1429" y="3249"/>
              <a:ext cx="145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57" name="Oval 5"/>
            <p:cNvSpPr/>
            <p:nvPr/>
          </p:nvSpPr>
          <p:spPr>
            <a:xfrm>
              <a:off x="1338" y="317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3558" name="Oval 6"/>
            <p:cNvSpPr/>
            <p:nvPr/>
          </p:nvSpPr>
          <p:spPr>
            <a:xfrm>
              <a:off x="1791" y="3176"/>
              <a:ext cx="136" cy="136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3559" name="Oval 7"/>
            <p:cNvSpPr/>
            <p:nvPr/>
          </p:nvSpPr>
          <p:spPr>
            <a:xfrm>
              <a:off x="2245" y="3167"/>
              <a:ext cx="136" cy="136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3560" name="Oval 8"/>
            <p:cNvSpPr/>
            <p:nvPr/>
          </p:nvSpPr>
          <p:spPr>
            <a:xfrm>
              <a:off x="2789" y="3185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3561" name="Text Box 9"/>
            <p:cNvSpPr txBox="1"/>
            <p:nvPr/>
          </p:nvSpPr>
          <p:spPr>
            <a:xfrm>
              <a:off x="1254" y="2886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3562" name="Text Box 10"/>
            <p:cNvSpPr txBox="1"/>
            <p:nvPr/>
          </p:nvSpPr>
          <p:spPr>
            <a:xfrm>
              <a:off x="1708" y="2886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3563" name="Text Box 11"/>
            <p:cNvSpPr txBox="1"/>
            <p:nvPr/>
          </p:nvSpPr>
          <p:spPr>
            <a:xfrm>
              <a:off x="2161" y="2886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3564" name="Text Box 12"/>
            <p:cNvSpPr txBox="1"/>
            <p:nvPr/>
          </p:nvSpPr>
          <p:spPr>
            <a:xfrm>
              <a:off x="2706" y="2886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点覆盖</a:t>
            </a:r>
            <a:r>
              <a:rPr kumimoji="0" lang="en-US" altLang="zh-CN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(vertex cover)</a:t>
            </a:r>
            <a:endParaRPr kumimoji="0" lang="en-US" altLang="zh-CN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457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/>
              <a:t>无向图</a:t>
            </a:r>
            <a:r>
              <a:rPr lang="en-US" altLang="zh-CN"/>
              <a:t>G=&lt;V,E&gt;, </a:t>
            </a:r>
            <a:r>
              <a:rPr lang="en-US" altLang="zh-CN">
                <a:solidFill>
                  <a:schemeClr val="hlink"/>
                </a:solidFill>
              </a:rPr>
              <a:t>V*</a:t>
            </a:r>
            <a:r>
              <a:rPr lang="en-US" altLang="zh-CN"/>
              <a:t>⊆V</a:t>
            </a:r>
            <a:endParaRPr lang="en-US" altLang="zh-CN"/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点覆盖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  ∀</a:t>
            </a:r>
            <a:r>
              <a:rPr lang="en-US" altLang="zh-CN" i="1"/>
              <a:t>e</a:t>
            </a:r>
            <a:r>
              <a:rPr lang="en-US" altLang="zh-CN"/>
              <a:t>(</a:t>
            </a:r>
            <a:r>
              <a:rPr lang="en-US" altLang="zh-CN" i="1"/>
              <a:t>e</a:t>
            </a:r>
            <a:r>
              <a:rPr lang="en-US" altLang="zh-CN"/>
              <a:t>∈E→∃</a:t>
            </a:r>
            <a:r>
              <a:rPr lang="en-US" altLang="zh-CN" i="1"/>
              <a:t>v</a:t>
            </a:r>
            <a:r>
              <a:rPr lang="en-US" altLang="zh-CN"/>
              <a:t>(</a:t>
            </a:r>
            <a:r>
              <a:rPr lang="en-US" altLang="zh-CN" i="1"/>
              <a:t>v</a:t>
            </a:r>
            <a:r>
              <a:rPr lang="en-US" altLang="zh-CN"/>
              <a:t>∈</a:t>
            </a:r>
            <a:r>
              <a:rPr lang="en-US" altLang="zh-CN" i="1"/>
              <a:t>V</a:t>
            </a:r>
            <a:r>
              <a:rPr lang="en-US" altLang="zh-CN"/>
              <a:t>*∧</a:t>
            </a:r>
            <a:r>
              <a:rPr lang="en-US" altLang="zh-CN" i="1"/>
              <a:t>v</a:t>
            </a:r>
            <a:r>
              <a:rPr lang="zh-CN" altLang="en-US"/>
              <a:t>关联</a:t>
            </a:r>
            <a:r>
              <a:rPr lang="en-US" altLang="zh-CN" i="1"/>
              <a:t>e</a:t>
            </a:r>
            <a:r>
              <a:rPr lang="en-US" altLang="zh-CN"/>
              <a:t>))</a:t>
            </a:r>
            <a:endParaRPr lang="en-US" altLang="zh-CN"/>
          </a:p>
          <a:p>
            <a:pPr eaLnBrk="1" hangingPunct="1">
              <a:buNone/>
            </a:pPr>
            <a:r>
              <a:rPr lang="en-US" altLang="zh-CN"/>
              <a:t>        </a:t>
            </a:r>
            <a:r>
              <a:rPr lang="zh-CN" altLang="en-US"/>
              <a:t>或        ∀</a:t>
            </a:r>
            <a:r>
              <a:rPr lang="en-US" altLang="zh-CN" i="1"/>
              <a:t>e</a:t>
            </a:r>
            <a:r>
              <a:rPr lang="en-US" altLang="zh-CN"/>
              <a:t>∈E, ∃</a:t>
            </a:r>
            <a:r>
              <a:rPr lang="en-US" altLang="zh-CN" i="1"/>
              <a:t>v</a:t>
            </a:r>
            <a:r>
              <a:rPr lang="en-US" altLang="zh-CN"/>
              <a:t>∈V*, </a:t>
            </a:r>
            <a:r>
              <a:rPr lang="en-US" altLang="zh-CN" i="1"/>
              <a:t>v</a:t>
            </a:r>
            <a:r>
              <a:rPr lang="zh-CN" altLang="en-US"/>
              <a:t>关联</a:t>
            </a:r>
            <a:r>
              <a:rPr lang="en-US" altLang="zh-CN" i="1"/>
              <a:t>e</a:t>
            </a:r>
            <a:endParaRPr lang="en-US" altLang="zh-CN" i="1"/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极小点覆盖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V*</a:t>
            </a:r>
            <a:r>
              <a:rPr lang="zh-CN" altLang="en-US"/>
              <a:t>是点覆盖</a:t>
            </a:r>
            <a:r>
              <a:rPr lang="en-US" altLang="zh-CN"/>
              <a:t>, </a:t>
            </a:r>
            <a:r>
              <a:rPr lang="zh-CN" altLang="en-US"/>
              <a:t>其真子集都不是</a:t>
            </a:r>
            <a:endParaRPr lang="zh-CN" altLang="en-US"/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最小点覆盖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|V*|</a:t>
            </a:r>
            <a:r>
              <a:rPr lang="zh-CN" altLang="en-US"/>
              <a:t>最小的点覆盖</a:t>
            </a:r>
            <a:endParaRPr lang="zh-CN" altLang="en-US"/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点覆盖数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charset="2"/>
              </a:rPr>
              <a:t></a:t>
            </a:r>
            <a:r>
              <a:rPr lang="en-US" altLang="zh-CN" baseline="-25000"/>
              <a:t>0</a:t>
            </a:r>
            <a:r>
              <a:rPr lang="en-US" altLang="zh-CN"/>
              <a:t>(G)=|V*|, V*</a:t>
            </a:r>
            <a:r>
              <a:rPr lang="zh-CN" altLang="en-US"/>
              <a:t>是最小点覆盖</a:t>
            </a:r>
            <a:endParaRPr lang="zh-CN" altLang="en-US"/>
          </a:p>
        </p:txBody>
      </p: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0"/>
              <a:t>点覆盖</a:t>
            </a:r>
            <a:r>
              <a:rPr lang="en-US" altLang="zh-CN" b="0"/>
              <a:t>(</a:t>
            </a:r>
            <a:r>
              <a:rPr lang="zh-CN" altLang="en-US" b="0"/>
              <a:t>例</a:t>
            </a:r>
            <a:r>
              <a:rPr lang="en-US" altLang="zh-CN" b="0"/>
              <a:t>)</a:t>
            </a:r>
            <a:endParaRPr lang="en-US" altLang="zh-CN" b="0"/>
          </a:p>
        </p:txBody>
      </p:sp>
      <p:sp>
        <p:nvSpPr>
          <p:cNvPr id="26626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1223963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buNone/>
            </a:pPr>
            <a:r>
              <a:rPr lang="en-US" altLang="zh-CN"/>
              <a:t> W</a:t>
            </a:r>
            <a:r>
              <a:rPr lang="en-US" altLang="zh-CN" baseline="-25000"/>
              <a:t>7</a:t>
            </a:r>
            <a:r>
              <a:rPr lang="zh-CN" altLang="en-US"/>
              <a:t>的极小点覆盖集是：</a:t>
            </a:r>
            <a:r>
              <a:rPr lang="en-US" altLang="zh-CN"/>
              <a:t>{</a:t>
            </a:r>
            <a:r>
              <a:rPr lang="en-US" altLang="zh-CN" i="1"/>
              <a:t>v</a:t>
            </a:r>
            <a:r>
              <a:rPr lang="en-US" altLang="zh-CN" baseline="-25000"/>
              <a:t>0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 baseline="-25000"/>
              <a:t>3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 baseline="-25000"/>
              <a:t>5</a:t>
            </a:r>
            <a:r>
              <a:rPr lang="en-US" altLang="zh-CN"/>
              <a:t>}, {</a:t>
            </a:r>
            <a:r>
              <a:rPr lang="en-US" altLang="zh-CN" i="1"/>
              <a:t>v</a:t>
            </a:r>
            <a:r>
              <a:rPr lang="en-US" altLang="zh-CN" baseline="-25000"/>
              <a:t>0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 baseline="-25000"/>
              <a:t>2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 baseline="-25000"/>
              <a:t>4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 baseline="-25000"/>
              <a:t>6</a:t>
            </a:r>
            <a:r>
              <a:rPr lang="en-US" altLang="zh-CN"/>
              <a:t>}, {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v</a:t>
            </a:r>
            <a:r>
              <a:rPr lang="en-US" altLang="zh-CN" baseline="-25000"/>
              <a:t>2</a:t>
            </a:r>
            <a:r>
              <a:rPr lang="en-US" altLang="zh-CN"/>
              <a:t>, </a:t>
            </a:r>
            <a:r>
              <a:rPr lang="en-US" altLang="zh-CN" i="1"/>
              <a:t>v</a:t>
            </a:r>
            <a:r>
              <a:rPr lang="en-US" altLang="zh-CN" baseline="-25000"/>
              <a:t>3</a:t>
            </a:r>
            <a:r>
              <a:rPr lang="en-US" altLang="zh-CN"/>
              <a:t>, </a:t>
            </a:r>
            <a:r>
              <a:rPr lang="en-US" altLang="zh-CN" i="1"/>
              <a:t>v</a:t>
            </a:r>
            <a:r>
              <a:rPr lang="en-US" altLang="zh-CN" baseline="-25000"/>
              <a:t>4</a:t>
            </a:r>
            <a:r>
              <a:rPr lang="en-US" altLang="zh-CN"/>
              <a:t>, </a:t>
            </a:r>
            <a:r>
              <a:rPr lang="en-US" altLang="zh-CN" i="1"/>
              <a:t>v</a:t>
            </a:r>
            <a:r>
              <a:rPr lang="en-US" altLang="zh-CN" baseline="-25000"/>
              <a:t>5</a:t>
            </a:r>
            <a:r>
              <a:rPr lang="en-US" altLang="zh-CN"/>
              <a:t>, </a:t>
            </a:r>
            <a:r>
              <a:rPr lang="en-US" altLang="zh-CN" i="1"/>
              <a:t>v</a:t>
            </a:r>
            <a:r>
              <a:rPr lang="en-US" altLang="zh-CN" baseline="-25000"/>
              <a:t>6</a:t>
            </a:r>
            <a:r>
              <a:rPr lang="en-US" altLang="zh-CN"/>
              <a:t>}, </a:t>
            </a:r>
            <a:r>
              <a:rPr lang="en-US" altLang="zh-CN">
                <a:sym typeface="Symbol" panose="05050102010706020507" charset="2"/>
              </a:rPr>
              <a:t></a:t>
            </a:r>
            <a:r>
              <a:rPr lang="en-US" altLang="zh-CN" baseline="-25000"/>
              <a:t>0</a:t>
            </a:r>
            <a:r>
              <a:rPr lang="en-US" altLang="zh-CN"/>
              <a:t>=4</a:t>
            </a:r>
            <a:endParaRPr lang="en-US" altLang="zh-CN"/>
          </a:p>
        </p:txBody>
      </p:sp>
      <p:grpSp>
        <p:nvGrpSpPr>
          <p:cNvPr id="26627" name="组 1"/>
          <p:cNvGrpSpPr/>
          <p:nvPr/>
        </p:nvGrpSpPr>
        <p:grpSpPr>
          <a:xfrm>
            <a:off x="479425" y="2827338"/>
            <a:ext cx="2784475" cy="2257425"/>
            <a:chOff x="479426" y="2827758"/>
            <a:chExt cx="2784475" cy="2257425"/>
          </a:xfrm>
        </p:grpSpPr>
        <p:grpSp>
          <p:nvGrpSpPr>
            <p:cNvPr id="26628" name="Group 30"/>
            <p:cNvGrpSpPr/>
            <p:nvPr/>
          </p:nvGrpSpPr>
          <p:grpSpPr>
            <a:xfrm>
              <a:off x="479426" y="2827758"/>
              <a:ext cx="2784475" cy="2257425"/>
              <a:chOff x="756" y="1347"/>
              <a:chExt cx="1754" cy="1422"/>
            </a:xfrm>
          </p:grpSpPr>
          <p:grpSp>
            <p:nvGrpSpPr>
              <p:cNvPr id="26629" name="Group 4"/>
              <p:cNvGrpSpPr/>
              <p:nvPr/>
            </p:nvGrpSpPr>
            <p:grpSpPr>
              <a:xfrm>
                <a:off x="975" y="1347"/>
                <a:ext cx="1535" cy="1300"/>
                <a:chOff x="385" y="1496"/>
                <a:chExt cx="1535" cy="1300"/>
              </a:xfrm>
            </p:grpSpPr>
            <p:grpSp>
              <p:nvGrpSpPr>
                <p:cNvPr id="26630" name="Group 5"/>
                <p:cNvGrpSpPr/>
                <p:nvPr/>
              </p:nvGrpSpPr>
              <p:grpSpPr>
                <a:xfrm>
                  <a:off x="385" y="1661"/>
                  <a:ext cx="1315" cy="1135"/>
                  <a:chOff x="476" y="1933"/>
                  <a:chExt cx="1315" cy="1135"/>
                </a:xfrm>
              </p:grpSpPr>
              <p:sp>
                <p:nvSpPr>
                  <p:cNvPr id="26631" name="Line 6"/>
                  <p:cNvSpPr/>
                  <p:nvPr/>
                </p:nvSpPr>
                <p:spPr>
                  <a:xfrm flipV="1">
                    <a:off x="839" y="2523"/>
                    <a:ext cx="227" cy="40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6632" name="Line 7"/>
                  <p:cNvSpPr/>
                  <p:nvPr/>
                </p:nvSpPr>
                <p:spPr>
                  <a:xfrm>
                    <a:off x="1112" y="2523"/>
                    <a:ext cx="317" cy="45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6633" name="Line 8"/>
                  <p:cNvSpPr/>
                  <p:nvPr/>
                </p:nvSpPr>
                <p:spPr>
                  <a:xfrm flipV="1">
                    <a:off x="612" y="2478"/>
                    <a:ext cx="1179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6634" name="Line 9"/>
                  <p:cNvSpPr/>
                  <p:nvPr/>
                </p:nvSpPr>
                <p:spPr>
                  <a:xfrm>
                    <a:off x="884" y="2069"/>
                    <a:ext cx="210" cy="36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6635" name="Oval 10"/>
                  <p:cNvSpPr/>
                  <p:nvPr/>
                </p:nvSpPr>
                <p:spPr>
                  <a:xfrm>
                    <a:off x="1021" y="2432"/>
                    <a:ext cx="137" cy="137"/>
                  </a:xfrm>
                  <a:prstGeom prst="ellipse">
                    <a:avLst/>
                  </a:prstGeom>
                  <a:solidFill>
                    <a:srgbClr val="FF00FF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6636" name="Oval 11"/>
                  <p:cNvSpPr/>
                  <p:nvPr/>
                </p:nvSpPr>
                <p:spPr>
                  <a:xfrm>
                    <a:off x="749" y="2931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6637" name="Oval 12"/>
                  <p:cNvSpPr/>
                  <p:nvPr/>
                </p:nvSpPr>
                <p:spPr>
                  <a:xfrm>
                    <a:off x="1382" y="2931"/>
                    <a:ext cx="137" cy="137"/>
                  </a:xfrm>
                  <a:prstGeom prst="ellipse">
                    <a:avLst/>
                  </a:prstGeom>
                  <a:solidFill>
                    <a:srgbClr val="FF00FF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6638" name="Oval 13"/>
                  <p:cNvSpPr/>
                  <p:nvPr/>
                </p:nvSpPr>
                <p:spPr>
                  <a:xfrm>
                    <a:off x="1638" y="2395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6639" name="Oval 14"/>
                  <p:cNvSpPr/>
                  <p:nvPr/>
                </p:nvSpPr>
                <p:spPr>
                  <a:xfrm>
                    <a:off x="476" y="2431"/>
                    <a:ext cx="137" cy="137"/>
                  </a:xfrm>
                  <a:prstGeom prst="ellipse">
                    <a:avLst/>
                  </a:prstGeom>
                  <a:solidFill>
                    <a:srgbClr val="FF00FF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6640" name="Oval 15"/>
                  <p:cNvSpPr/>
                  <p:nvPr/>
                </p:nvSpPr>
                <p:spPr>
                  <a:xfrm>
                    <a:off x="793" y="1933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6641" name="Line 16"/>
                  <p:cNvSpPr/>
                  <p:nvPr/>
                </p:nvSpPr>
                <p:spPr>
                  <a:xfrm flipV="1">
                    <a:off x="567" y="2069"/>
                    <a:ext cx="272" cy="36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6642" name="Line 17"/>
                  <p:cNvSpPr/>
                  <p:nvPr/>
                </p:nvSpPr>
                <p:spPr>
                  <a:xfrm>
                    <a:off x="1474" y="2024"/>
                    <a:ext cx="227" cy="40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6643" name="Line 18"/>
                  <p:cNvSpPr/>
                  <p:nvPr/>
                </p:nvSpPr>
                <p:spPr>
                  <a:xfrm>
                    <a:off x="567" y="2568"/>
                    <a:ext cx="227" cy="39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6644" name="Line 19"/>
                  <p:cNvSpPr/>
                  <p:nvPr/>
                </p:nvSpPr>
                <p:spPr>
                  <a:xfrm flipV="1">
                    <a:off x="1474" y="2523"/>
                    <a:ext cx="227" cy="45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6645" name="Line 20"/>
                  <p:cNvSpPr/>
                  <p:nvPr/>
                </p:nvSpPr>
                <p:spPr>
                  <a:xfrm>
                    <a:off x="876" y="3010"/>
                    <a:ext cx="507" cy="12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6646" name="Oval 21"/>
                  <p:cNvSpPr/>
                  <p:nvPr/>
                </p:nvSpPr>
                <p:spPr>
                  <a:xfrm>
                    <a:off x="1382" y="1933"/>
                    <a:ext cx="137" cy="137"/>
                  </a:xfrm>
                  <a:prstGeom prst="ellipse">
                    <a:avLst/>
                  </a:prstGeom>
                  <a:solidFill>
                    <a:srgbClr val="FF00FF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6647" name="Line 22"/>
                  <p:cNvSpPr/>
                  <p:nvPr/>
                </p:nvSpPr>
                <p:spPr>
                  <a:xfrm flipH="1">
                    <a:off x="1111" y="2069"/>
                    <a:ext cx="318" cy="36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6648" name="Line 23"/>
                  <p:cNvSpPr/>
                  <p:nvPr/>
                </p:nvSpPr>
                <p:spPr>
                  <a:xfrm>
                    <a:off x="930" y="2024"/>
                    <a:ext cx="453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6649" name="Text Box 24"/>
                <p:cNvSpPr txBox="1"/>
                <p:nvPr/>
              </p:nvSpPr>
              <p:spPr>
                <a:xfrm>
                  <a:off x="1383" y="1496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1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650" name="Text Box 25"/>
                <p:cNvSpPr txBox="1"/>
                <p:nvPr/>
              </p:nvSpPr>
              <p:spPr>
                <a:xfrm>
                  <a:off x="1020" y="2115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0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651" name="Text Box 26"/>
                <p:cNvSpPr txBox="1"/>
                <p:nvPr/>
              </p:nvSpPr>
              <p:spPr>
                <a:xfrm>
                  <a:off x="1655" y="2024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2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6652" name="Rectangle 27"/>
              <p:cNvSpPr/>
              <p:nvPr/>
            </p:nvSpPr>
            <p:spPr>
              <a:xfrm>
                <a:off x="2018" y="2481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3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653" name="Rectangle 28"/>
              <p:cNvSpPr/>
              <p:nvPr/>
            </p:nvSpPr>
            <p:spPr>
              <a:xfrm>
                <a:off x="756" y="1888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5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6654" name="Text Box 24"/>
            <p:cNvSpPr txBox="1"/>
            <p:nvPr/>
          </p:nvSpPr>
          <p:spPr>
            <a:xfrm>
              <a:off x="899592" y="2852936"/>
              <a:ext cx="420687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6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6655" name="Text Box 24"/>
            <p:cNvSpPr txBox="1"/>
            <p:nvPr/>
          </p:nvSpPr>
          <p:spPr>
            <a:xfrm>
              <a:off x="899592" y="4509120"/>
              <a:ext cx="420687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6656" name="组 2"/>
          <p:cNvGrpSpPr/>
          <p:nvPr/>
        </p:nvGrpSpPr>
        <p:grpSpPr>
          <a:xfrm>
            <a:off x="4140200" y="2781300"/>
            <a:ext cx="2797175" cy="2328863"/>
            <a:chOff x="4139952" y="2781721"/>
            <a:chExt cx="2797423" cy="2328615"/>
          </a:xfrm>
        </p:grpSpPr>
        <p:grpSp>
          <p:nvGrpSpPr>
            <p:cNvPr id="26657" name="Group 31"/>
            <p:cNvGrpSpPr/>
            <p:nvPr/>
          </p:nvGrpSpPr>
          <p:grpSpPr>
            <a:xfrm>
              <a:off x="4500563" y="2781721"/>
              <a:ext cx="2436812" cy="2141538"/>
              <a:chOff x="385" y="1447"/>
              <a:chExt cx="1535" cy="1349"/>
            </a:xfrm>
          </p:grpSpPr>
          <p:grpSp>
            <p:nvGrpSpPr>
              <p:cNvPr id="26658" name="Group 32"/>
              <p:cNvGrpSpPr/>
              <p:nvPr/>
            </p:nvGrpSpPr>
            <p:grpSpPr>
              <a:xfrm>
                <a:off x="385" y="1661"/>
                <a:ext cx="1315" cy="1135"/>
                <a:chOff x="476" y="1933"/>
                <a:chExt cx="1315" cy="1135"/>
              </a:xfrm>
            </p:grpSpPr>
            <p:sp>
              <p:nvSpPr>
                <p:cNvPr id="26659" name="Line 33"/>
                <p:cNvSpPr/>
                <p:nvPr/>
              </p:nvSpPr>
              <p:spPr>
                <a:xfrm flipV="1">
                  <a:off x="839" y="2523"/>
                  <a:ext cx="227" cy="40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60" name="Line 34"/>
                <p:cNvSpPr/>
                <p:nvPr/>
              </p:nvSpPr>
              <p:spPr>
                <a:xfrm>
                  <a:off x="1112" y="2523"/>
                  <a:ext cx="317" cy="453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61" name="Line 35"/>
                <p:cNvSpPr/>
                <p:nvPr/>
              </p:nvSpPr>
              <p:spPr>
                <a:xfrm flipV="1">
                  <a:off x="612" y="2478"/>
                  <a:ext cx="1179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62" name="Line 36"/>
                <p:cNvSpPr/>
                <p:nvPr/>
              </p:nvSpPr>
              <p:spPr>
                <a:xfrm>
                  <a:off x="884" y="2069"/>
                  <a:ext cx="210" cy="363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63" name="Oval 37"/>
                <p:cNvSpPr/>
                <p:nvPr/>
              </p:nvSpPr>
              <p:spPr>
                <a:xfrm>
                  <a:off x="1021" y="2432"/>
                  <a:ext cx="137" cy="13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/>
                    </a:gs>
                    <a:gs pos="100000">
                      <a:srgbClr val="5F5F5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664" name="Oval 38"/>
                <p:cNvSpPr/>
                <p:nvPr/>
              </p:nvSpPr>
              <p:spPr>
                <a:xfrm>
                  <a:off x="749" y="2931"/>
                  <a:ext cx="137" cy="137"/>
                </a:xfrm>
                <a:prstGeom prst="ellipse">
                  <a:avLst/>
                </a:prstGeom>
                <a:solidFill>
                  <a:srgbClr val="FF00FF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665" name="Oval 39"/>
                <p:cNvSpPr/>
                <p:nvPr/>
              </p:nvSpPr>
              <p:spPr>
                <a:xfrm>
                  <a:off x="1382" y="2931"/>
                  <a:ext cx="137" cy="137"/>
                </a:xfrm>
                <a:prstGeom prst="ellipse">
                  <a:avLst/>
                </a:prstGeom>
                <a:solidFill>
                  <a:srgbClr val="FF00FF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666" name="Oval 40"/>
                <p:cNvSpPr/>
                <p:nvPr/>
              </p:nvSpPr>
              <p:spPr>
                <a:xfrm>
                  <a:off x="1638" y="2395"/>
                  <a:ext cx="137" cy="137"/>
                </a:xfrm>
                <a:prstGeom prst="ellipse">
                  <a:avLst/>
                </a:prstGeom>
                <a:solidFill>
                  <a:srgbClr val="FF00FF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667" name="Oval 41"/>
                <p:cNvSpPr/>
                <p:nvPr/>
              </p:nvSpPr>
              <p:spPr>
                <a:xfrm>
                  <a:off x="476" y="2431"/>
                  <a:ext cx="137" cy="137"/>
                </a:xfrm>
                <a:prstGeom prst="ellipse">
                  <a:avLst/>
                </a:prstGeom>
                <a:solidFill>
                  <a:srgbClr val="FF00FF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668" name="Oval 42"/>
                <p:cNvSpPr/>
                <p:nvPr/>
              </p:nvSpPr>
              <p:spPr>
                <a:xfrm>
                  <a:off x="793" y="1933"/>
                  <a:ext cx="137" cy="137"/>
                </a:xfrm>
                <a:prstGeom prst="ellipse">
                  <a:avLst/>
                </a:prstGeom>
                <a:solidFill>
                  <a:srgbClr val="FF00FF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669" name="Line 43"/>
                <p:cNvSpPr/>
                <p:nvPr/>
              </p:nvSpPr>
              <p:spPr>
                <a:xfrm flipV="1">
                  <a:off x="567" y="2069"/>
                  <a:ext cx="272" cy="363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70" name="Line 44"/>
                <p:cNvSpPr/>
                <p:nvPr/>
              </p:nvSpPr>
              <p:spPr>
                <a:xfrm>
                  <a:off x="1474" y="2024"/>
                  <a:ext cx="227" cy="40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71" name="Line 45"/>
                <p:cNvSpPr/>
                <p:nvPr/>
              </p:nvSpPr>
              <p:spPr>
                <a:xfrm>
                  <a:off x="567" y="2568"/>
                  <a:ext cx="227" cy="3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72" name="Line 46"/>
                <p:cNvSpPr/>
                <p:nvPr/>
              </p:nvSpPr>
              <p:spPr>
                <a:xfrm flipV="1">
                  <a:off x="1474" y="2523"/>
                  <a:ext cx="227" cy="453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73" name="Line 47"/>
                <p:cNvSpPr/>
                <p:nvPr/>
              </p:nvSpPr>
              <p:spPr>
                <a:xfrm>
                  <a:off x="876" y="3010"/>
                  <a:ext cx="507" cy="1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74" name="Oval 48"/>
                <p:cNvSpPr/>
                <p:nvPr/>
              </p:nvSpPr>
              <p:spPr>
                <a:xfrm>
                  <a:off x="1382" y="1933"/>
                  <a:ext cx="137" cy="137"/>
                </a:xfrm>
                <a:prstGeom prst="ellipse">
                  <a:avLst/>
                </a:prstGeom>
                <a:solidFill>
                  <a:srgbClr val="FF00FF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buSzTx/>
                  </a:pPr>
                  <a:endParaRPr lang="zh-CN" altLang="en-US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675" name="Line 49"/>
                <p:cNvSpPr/>
                <p:nvPr/>
              </p:nvSpPr>
              <p:spPr>
                <a:xfrm flipH="1">
                  <a:off x="1111" y="2069"/>
                  <a:ext cx="318" cy="363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76" name="Line 50"/>
                <p:cNvSpPr/>
                <p:nvPr/>
              </p:nvSpPr>
              <p:spPr>
                <a:xfrm>
                  <a:off x="930" y="2024"/>
                  <a:ext cx="453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6677" name="Text Box 51"/>
              <p:cNvSpPr txBox="1"/>
              <p:nvPr/>
            </p:nvSpPr>
            <p:spPr>
              <a:xfrm>
                <a:off x="1383" y="1447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1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678" name="Text Box 52"/>
              <p:cNvSpPr txBox="1"/>
              <p:nvPr/>
            </p:nvSpPr>
            <p:spPr>
              <a:xfrm>
                <a:off x="1020" y="2115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0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679" name="Text Box 53"/>
              <p:cNvSpPr txBox="1"/>
              <p:nvPr/>
            </p:nvSpPr>
            <p:spPr>
              <a:xfrm>
                <a:off x="1655" y="2024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2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6680" name="Text Box 24"/>
            <p:cNvSpPr txBox="1"/>
            <p:nvPr/>
          </p:nvSpPr>
          <p:spPr>
            <a:xfrm>
              <a:off x="4583361" y="2899792"/>
              <a:ext cx="420687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6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6681" name="Text Box 24"/>
            <p:cNvSpPr txBox="1"/>
            <p:nvPr/>
          </p:nvSpPr>
          <p:spPr>
            <a:xfrm>
              <a:off x="4583361" y="4555976"/>
              <a:ext cx="420687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6682" name="Text Box 24"/>
            <p:cNvSpPr txBox="1"/>
            <p:nvPr/>
          </p:nvSpPr>
          <p:spPr>
            <a:xfrm>
              <a:off x="4139952" y="3789040"/>
              <a:ext cx="420687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6683" name="Text Box 24"/>
            <p:cNvSpPr txBox="1"/>
            <p:nvPr/>
          </p:nvSpPr>
          <p:spPr>
            <a:xfrm>
              <a:off x="6095529" y="4653136"/>
              <a:ext cx="420687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0"/>
              <a:t>点覆盖与支配集</a:t>
            </a:r>
            <a:endParaRPr lang="en-US" altLang="zh-CN" b="0"/>
          </a:p>
        </p:txBody>
      </p:sp>
      <p:sp>
        <p:nvSpPr>
          <p:cNvPr id="25602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316865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rgbClr val="FF0000"/>
                </a:solidFill>
              </a:rPr>
              <a:t> (</a:t>
            </a:r>
            <a:r>
              <a:rPr lang="zh-CN" altLang="en-US">
                <a:solidFill>
                  <a:srgbClr val="FF0000"/>
                </a:solidFill>
              </a:rPr>
              <a:t>无孤立顶点</a:t>
            </a:r>
            <a:r>
              <a:rPr lang="en-US" altLang="zh-CN">
                <a:solidFill>
                  <a:srgbClr val="FF0000"/>
                </a:solidFill>
              </a:rPr>
              <a:t>)</a:t>
            </a:r>
            <a:r>
              <a:rPr lang="zh-CN" altLang="en-US">
                <a:solidFill>
                  <a:srgbClr val="FF0000"/>
                </a:solidFill>
              </a:rPr>
              <a:t>点覆盖是支配集</a:t>
            </a:r>
            <a:r>
              <a:rPr lang="en-US" altLang="zh-CN"/>
              <a:t>.</a:t>
            </a:r>
            <a:endParaRPr lang="zh-CN" altLang="en-US"/>
          </a:p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rgbClr val="FF0000"/>
                </a:solidFill>
              </a:rPr>
              <a:t>支配集不一定是点覆盖</a:t>
            </a:r>
            <a:r>
              <a:rPr lang="en-US" altLang="zh-CN"/>
              <a:t>.  </a:t>
            </a:r>
            <a:r>
              <a:rPr lang="zh-CN" altLang="en-US">
                <a:solidFill>
                  <a:srgbClr val="FF00FF"/>
                </a:solidFill>
              </a:rPr>
              <a:t>反例</a:t>
            </a:r>
            <a:r>
              <a:rPr lang="en-US" altLang="zh-CN">
                <a:solidFill>
                  <a:srgbClr val="FF00FF"/>
                </a:solidFill>
              </a:rPr>
              <a:t>:</a:t>
            </a:r>
            <a:r>
              <a:rPr lang="en-US" altLang="zh-CN"/>
              <a:t> {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 baseline="-25000"/>
              <a:t>4</a:t>
            </a:r>
            <a:r>
              <a:rPr lang="en-US" altLang="zh-CN"/>
              <a:t>}</a:t>
            </a:r>
            <a:r>
              <a:rPr lang="zh-CN" altLang="en-US"/>
              <a:t>是支配集</a:t>
            </a:r>
            <a:r>
              <a:rPr lang="en-US" altLang="zh-CN"/>
              <a:t>,</a:t>
            </a:r>
            <a:r>
              <a:rPr lang="zh-CN" altLang="en-US"/>
              <a:t>不是点覆盖</a:t>
            </a:r>
            <a:endParaRPr lang="zh-CN" altLang="en-US"/>
          </a:p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rgbClr val="FF0000"/>
                </a:solidFill>
              </a:rPr>
              <a:t>极小点覆盖不一定是极小支配集</a:t>
            </a:r>
            <a:r>
              <a:rPr lang="en-US" altLang="zh-CN"/>
              <a:t>.   </a:t>
            </a:r>
            <a:r>
              <a:rPr lang="zh-CN" altLang="en-US">
                <a:solidFill>
                  <a:srgbClr val="FF00FF"/>
                </a:solidFill>
              </a:rPr>
              <a:t>反例</a:t>
            </a:r>
            <a:r>
              <a:rPr lang="en-US" altLang="zh-CN">
                <a:solidFill>
                  <a:srgbClr val="FF00FF"/>
                </a:solidFill>
              </a:rPr>
              <a:t>:</a:t>
            </a:r>
            <a:r>
              <a:rPr lang="en-US" altLang="zh-CN"/>
              <a:t>{</a:t>
            </a:r>
            <a:r>
              <a:rPr lang="en-US" altLang="zh-CN" i="1"/>
              <a:t>v</a:t>
            </a:r>
            <a:r>
              <a:rPr lang="en-US" altLang="zh-CN" baseline="-25000"/>
              <a:t>0</a:t>
            </a:r>
            <a:r>
              <a:rPr lang="en-US" altLang="zh-CN"/>
              <a:t>, 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v</a:t>
            </a:r>
            <a:r>
              <a:rPr lang="en-US" altLang="zh-CN" baseline="-25000"/>
              <a:t>3</a:t>
            </a:r>
            <a:r>
              <a:rPr lang="en-US" altLang="zh-CN"/>
              <a:t>, </a:t>
            </a:r>
            <a:r>
              <a:rPr lang="en-US" altLang="zh-CN" i="1"/>
              <a:t>v</a:t>
            </a:r>
            <a:r>
              <a:rPr lang="en-US" altLang="zh-CN" baseline="-25000"/>
              <a:t>5</a:t>
            </a:r>
            <a:r>
              <a:rPr lang="en-US" altLang="zh-CN"/>
              <a:t>}</a:t>
            </a:r>
            <a:r>
              <a:rPr lang="zh-CN" altLang="en-US"/>
              <a:t>是极小点覆盖</a:t>
            </a:r>
            <a:r>
              <a:rPr lang="en-US" altLang="zh-CN"/>
              <a:t>, {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v</a:t>
            </a:r>
            <a:r>
              <a:rPr lang="en-US" altLang="zh-CN" baseline="-25000"/>
              <a:t>3</a:t>
            </a:r>
            <a:r>
              <a:rPr lang="en-US" altLang="zh-CN"/>
              <a:t>, </a:t>
            </a:r>
            <a:r>
              <a:rPr lang="en-US" altLang="zh-CN" i="1"/>
              <a:t>v</a:t>
            </a:r>
            <a:r>
              <a:rPr lang="en-US" altLang="zh-CN" baseline="-25000"/>
              <a:t>5</a:t>
            </a:r>
            <a:r>
              <a:rPr lang="en-US" altLang="zh-CN"/>
              <a:t>}</a:t>
            </a:r>
            <a:r>
              <a:rPr lang="zh-CN" altLang="en-US"/>
              <a:t>是极小支配集</a:t>
            </a:r>
            <a:endParaRPr lang="zh-CN" altLang="en-US"/>
          </a:p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endParaRPr lang="zh-CN" altLang="en-US"/>
          </a:p>
        </p:txBody>
      </p:sp>
      <p:grpSp>
        <p:nvGrpSpPr>
          <p:cNvPr id="27651" name="Group 1"/>
          <p:cNvGrpSpPr/>
          <p:nvPr/>
        </p:nvGrpSpPr>
        <p:grpSpPr>
          <a:xfrm>
            <a:off x="611188" y="4221163"/>
            <a:ext cx="2868612" cy="2335212"/>
            <a:chOff x="611188" y="4221163"/>
            <a:chExt cx="2868612" cy="2335212"/>
          </a:xfrm>
        </p:grpSpPr>
        <p:grpSp>
          <p:nvGrpSpPr>
            <p:cNvPr id="27652" name="Group 4"/>
            <p:cNvGrpSpPr/>
            <p:nvPr/>
          </p:nvGrpSpPr>
          <p:grpSpPr>
            <a:xfrm>
              <a:off x="611188" y="4221163"/>
              <a:ext cx="2868612" cy="2335212"/>
              <a:chOff x="703" y="1298"/>
              <a:chExt cx="1807" cy="1471"/>
            </a:xfrm>
          </p:grpSpPr>
          <p:grpSp>
            <p:nvGrpSpPr>
              <p:cNvPr id="27653" name="Group 5"/>
              <p:cNvGrpSpPr/>
              <p:nvPr/>
            </p:nvGrpSpPr>
            <p:grpSpPr>
              <a:xfrm>
                <a:off x="975" y="1298"/>
                <a:ext cx="1535" cy="1349"/>
                <a:chOff x="385" y="1447"/>
                <a:chExt cx="1535" cy="1349"/>
              </a:xfrm>
            </p:grpSpPr>
            <p:grpSp>
              <p:nvGrpSpPr>
                <p:cNvPr id="27654" name="Group 6"/>
                <p:cNvGrpSpPr/>
                <p:nvPr/>
              </p:nvGrpSpPr>
              <p:grpSpPr>
                <a:xfrm>
                  <a:off x="385" y="1661"/>
                  <a:ext cx="1315" cy="1135"/>
                  <a:chOff x="476" y="1933"/>
                  <a:chExt cx="1315" cy="1135"/>
                </a:xfrm>
              </p:grpSpPr>
              <p:sp>
                <p:nvSpPr>
                  <p:cNvPr id="27655" name="Line 7"/>
                  <p:cNvSpPr/>
                  <p:nvPr/>
                </p:nvSpPr>
                <p:spPr>
                  <a:xfrm flipV="1">
                    <a:off x="839" y="2523"/>
                    <a:ext cx="227" cy="40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656" name="Line 8"/>
                  <p:cNvSpPr/>
                  <p:nvPr/>
                </p:nvSpPr>
                <p:spPr>
                  <a:xfrm>
                    <a:off x="1112" y="2523"/>
                    <a:ext cx="317" cy="45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657" name="Line 9"/>
                  <p:cNvSpPr/>
                  <p:nvPr/>
                </p:nvSpPr>
                <p:spPr>
                  <a:xfrm flipV="1">
                    <a:off x="612" y="2478"/>
                    <a:ext cx="1179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658" name="Line 10"/>
                  <p:cNvSpPr/>
                  <p:nvPr/>
                </p:nvSpPr>
                <p:spPr>
                  <a:xfrm>
                    <a:off x="884" y="2069"/>
                    <a:ext cx="210" cy="36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659" name="Oval 11"/>
                  <p:cNvSpPr/>
                  <p:nvPr/>
                </p:nvSpPr>
                <p:spPr>
                  <a:xfrm>
                    <a:off x="1021" y="2432"/>
                    <a:ext cx="137" cy="137"/>
                  </a:xfrm>
                  <a:prstGeom prst="ellipse">
                    <a:avLst/>
                  </a:prstGeom>
                  <a:solidFill>
                    <a:srgbClr val="FF00FF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7660" name="Oval 12"/>
                  <p:cNvSpPr/>
                  <p:nvPr/>
                </p:nvSpPr>
                <p:spPr>
                  <a:xfrm>
                    <a:off x="749" y="2931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7661" name="Oval 13"/>
                  <p:cNvSpPr/>
                  <p:nvPr/>
                </p:nvSpPr>
                <p:spPr>
                  <a:xfrm>
                    <a:off x="1382" y="2931"/>
                    <a:ext cx="137" cy="137"/>
                  </a:xfrm>
                  <a:prstGeom prst="ellipse">
                    <a:avLst/>
                  </a:prstGeom>
                  <a:solidFill>
                    <a:srgbClr val="FF00FF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7662" name="Oval 14"/>
                  <p:cNvSpPr/>
                  <p:nvPr/>
                </p:nvSpPr>
                <p:spPr>
                  <a:xfrm>
                    <a:off x="1638" y="2395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7663" name="Oval 15"/>
                  <p:cNvSpPr/>
                  <p:nvPr/>
                </p:nvSpPr>
                <p:spPr>
                  <a:xfrm>
                    <a:off x="476" y="2431"/>
                    <a:ext cx="137" cy="137"/>
                  </a:xfrm>
                  <a:prstGeom prst="ellipse">
                    <a:avLst/>
                  </a:prstGeom>
                  <a:solidFill>
                    <a:srgbClr val="FF00FF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7664" name="Oval 16"/>
                  <p:cNvSpPr/>
                  <p:nvPr/>
                </p:nvSpPr>
                <p:spPr>
                  <a:xfrm>
                    <a:off x="793" y="1933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7665" name="Line 17"/>
                  <p:cNvSpPr/>
                  <p:nvPr/>
                </p:nvSpPr>
                <p:spPr>
                  <a:xfrm flipV="1">
                    <a:off x="567" y="2069"/>
                    <a:ext cx="272" cy="36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666" name="Line 18"/>
                  <p:cNvSpPr/>
                  <p:nvPr/>
                </p:nvSpPr>
                <p:spPr>
                  <a:xfrm>
                    <a:off x="1474" y="2024"/>
                    <a:ext cx="227" cy="40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667" name="Line 19"/>
                  <p:cNvSpPr/>
                  <p:nvPr/>
                </p:nvSpPr>
                <p:spPr>
                  <a:xfrm>
                    <a:off x="567" y="2568"/>
                    <a:ext cx="227" cy="39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668" name="Line 20"/>
                  <p:cNvSpPr/>
                  <p:nvPr/>
                </p:nvSpPr>
                <p:spPr>
                  <a:xfrm flipV="1">
                    <a:off x="1474" y="2523"/>
                    <a:ext cx="227" cy="45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669" name="Line 21"/>
                  <p:cNvSpPr/>
                  <p:nvPr/>
                </p:nvSpPr>
                <p:spPr>
                  <a:xfrm>
                    <a:off x="876" y="3010"/>
                    <a:ext cx="507" cy="12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670" name="Oval 22"/>
                  <p:cNvSpPr/>
                  <p:nvPr/>
                </p:nvSpPr>
                <p:spPr>
                  <a:xfrm>
                    <a:off x="1382" y="1933"/>
                    <a:ext cx="137" cy="137"/>
                  </a:xfrm>
                  <a:prstGeom prst="ellipse">
                    <a:avLst/>
                  </a:prstGeom>
                  <a:solidFill>
                    <a:srgbClr val="FF00FF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7671" name="Line 23"/>
                  <p:cNvSpPr/>
                  <p:nvPr/>
                </p:nvSpPr>
                <p:spPr>
                  <a:xfrm flipH="1">
                    <a:off x="1111" y="2069"/>
                    <a:ext cx="318" cy="36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672" name="Line 24"/>
                  <p:cNvSpPr/>
                  <p:nvPr/>
                </p:nvSpPr>
                <p:spPr>
                  <a:xfrm>
                    <a:off x="930" y="2024"/>
                    <a:ext cx="453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7673" name="Text Box 25"/>
                <p:cNvSpPr txBox="1"/>
                <p:nvPr/>
              </p:nvSpPr>
              <p:spPr>
                <a:xfrm>
                  <a:off x="1383" y="1447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1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674" name="Text Box 26"/>
                <p:cNvSpPr txBox="1"/>
                <p:nvPr/>
              </p:nvSpPr>
              <p:spPr>
                <a:xfrm>
                  <a:off x="1020" y="2115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0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675" name="Text Box 27"/>
                <p:cNvSpPr txBox="1"/>
                <p:nvPr/>
              </p:nvSpPr>
              <p:spPr>
                <a:xfrm>
                  <a:off x="1655" y="2024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2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7676" name="Rectangle 28"/>
              <p:cNvSpPr/>
              <p:nvPr/>
            </p:nvSpPr>
            <p:spPr>
              <a:xfrm>
                <a:off x="2018" y="2481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3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677" name="Rectangle 29"/>
              <p:cNvSpPr/>
              <p:nvPr/>
            </p:nvSpPr>
            <p:spPr>
              <a:xfrm>
                <a:off x="703" y="1888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5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7678" name="Rectangle 29"/>
            <p:cNvSpPr/>
            <p:nvPr/>
          </p:nvSpPr>
          <p:spPr>
            <a:xfrm>
              <a:off x="1043608" y="5924128"/>
              <a:ext cx="461267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7679" name="Rectangle 29"/>
            <p:cNvSpPr/>
            <p:nvPr/>
          </p:nvSpPr>
          <p:spPr>
            <a:xfrm>
              <a:off x="1115616" y="4293096"/>
              <a:ext cx="461267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6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7680" name="Group 2"/>
          <p:cNvGrpSpPr/>
          <p:nvPr/>
        </p:nvGrpSpPr>
        <p:grpSpPr>
          <a:xfrm>
            <a:off x="4572000" y="4149725"/>
            <a:ext cx="2868613" cy="2335213"/>
            <a:chOff x="4572000" y="4149725"/>
            <a:chExt cx="2868613" cy="2335213"/>
          </a:xfrm>
        </p:grpSpPr>
        <p:grpSp>
          <p:nvGrpSpPr>
            <p:cNvPr id="27681" name="Group 30"/>
            <p:cNvGrpSpPr/>
            <p:nvPr/>
          </p:nvGrpSpPr>
          <p:grpSpPr>
            <a:xfrm>
              <a:off x="4572000" y="4149725"/>
              <a:ext cx="2868613" cy="2335213"/>
              <a:chOff x="703" y="1298"/>
              <a:chExt cx="1807" cy="1471"/>
            </a:xfrm>
          </p:grpSpPr>
          <p:grpSp>
            <p:nvGrpSpPr>
              <p:cNvPr id="27682" name="Group 31"/>
              <p:cNvGrpSpPr/>
              <p:nvPr/>
            </p:nvGrpSpPr>
            <p:grpSpPr>
              <a:xfrm>
                <a:off x="975" y="1298"/>
                <a:ext cx="1535" cy="1349"/>
                <a:chOff x="385" y="1447"/>
                <a:chExt cx="1535" cy="1349"/>
              </a:xfrm>
            </p:grpSpPr>
            <p:grpSp>
              <p:nvGrpSpPr>
                <p:cNvPr id="27683" name="Group 32"/>
                <p:cNvGrpSpPr/>
                <p:nvPr/>
              </p:nvGrpSpPr>
              <p:grpSpPr>
                <a:xfrm>
                  <a:off x="385" y="1661"/>
                  <a:ext cx="1315" cy="1135"/>
                  <a:chOff x="476" y="1933"/>
                  <a:chExt cx="1315" cy="1135"/>
                </a:xfrm>
              </p:grpSpPr>
              <p:sp>
                <p:nvSpPr>
                  <p:cNvPr id="27684" name="Line 33"/>
                  <p:cNvSpPr/>
                  <p:nvPr/>
                </p:nvSpPr>
                <p:spPr>
                  <a:xfrm flipV="1">
                    <a:off x="839" y="2523"/>
                    <a:ext cx="227" cy="40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685" name="Line 34"/>
                  <p:cNvSpPr/>
                  <p:nvPr/>
                </p:nvSpPr>
                <p:spPr>
                  <a:xfrm>
                    <a:off x="1112" y="2523"/>
                    <a:ext cx="317" cy="45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686" name="Line 35"/>
                  <p:cNvSpPr/>
                  <p:nvPr/>
                </p:nvSpPr>
                <p:spPr>
                  <a:xfrm flipV="1">
                    <a:off x="612" y="2478"/>
                    <a:ext cx="1179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687" name="Line 36"/>
                  <p:cNvSpPr/>
                  <p:nvPr/>
                </p:nvSpPr>
                <p:spPr>
                  <a:xfrm>
                    <a:off x="884" y="2069"/>
                    <a:ext cx="210" cy="36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688" name="Oval 37"/>
                  <p:cNvSpPr/>
                  <p:nvPr/>
                </p:nvSpPr>
                <p:spPr>
                  <a:xfrm>
                    <a:off x="1021" y="2432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7689" name="Oval 38"/>
                  <p:cNvSpPr/>
                  <p:nvPr/>
                </p:nvSpPr>
                <p:spPr>
                  <a:xfrm>
                    <a:off x="749" y="2931"/>
                    <a:ext cx="137" cy="137"/>
                  </a:xfrm>
                  <a:prstGeom prst="ellipse">
                    <a:avLst/>
                  </a:prstGeom>
                  <a:solidFill>
                    <a:srgbClr val="FF00FF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7690" name="Oval 39"/>
                  <p:cNvSpPr/>
                  <p:nvPr/>
                </p:nvSpPr>
                <p:spPr>
                  <a:xfrm>
                    <a:off x="1382" y="2931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7691" name="Oval 40"/>
                  <p:cNvSpPr/>
                  <p:nvPr/>
                </p:nvSpPr>
                <p:spPr>
                  <a:xfrm>
                    <a:off x="1638" y="2395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7692" name="Oval 41"/>
                  <p:cNvSpPr/>
                  <p:nvPr/>
                </p:nvSpPr>
                <p:spPr>
                  <a:xfrm>
                    <a:off x="476" y="2431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7693" name="Oval 42"/>
                  <p:cNvSpPr/>
                  <p:nvPr/>
                </p:nvSpPr>
                <p:spPr>
                  <a:xfrm>
                    <a:off x="793" y="1933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7694" name="Line 43"/>
                  <p:cNvSpPr/>
                  <p:nvPr/>
                </p:nvSpPr>
                <p:spPr>
                  <a:xfrm flipV="1">
                    <a:off x="567" y="2069"/>
                    <a:ext cx="272" cy="36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695" name="Line 44"/>
                  <p:cNvSpPr/>
                  <p:nvPr/>
                </p:nvSpPr>
                <p:spPr>
                  <a:xfrm>
                    <a:off x="1474" y="2024"/>
                    <a:ext cx="227" cy="40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696" name="Line 45"/>
                  <p:cNvSpPr/>
                  <p:nvPr/>
                </p:nvSpPr>
                <p:spPr>
                  <a:xfrm>
                    <a:off x="567" y="2568"/>
                    <a:ext cx="227" cy="39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697" name="Line 46"/>
                  <p:cNvSpPr/>
                  <p:nvPr/>
                </p:nvSpPr>
                <p:spPr>
                  <a:xfrm flipV="1">
                    <a:off x="1474" y="2523"/>
                    <a:ext cx="227" cy="45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698" name="Line 47"/>
                  <p:cNvSpPr/>
                  <p:nvPr/>
                </p:nvSpPr>
                <p:spPr>
                  <a:xfrm>
                    <a:off x="876" y="3010"/>
                    <a:ext cx="507" cy="12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699" name="Oval 48"/>
                  <p:cNvSpPr/>
                  <p:nvPr/>
                </p:nvSpPr>
                <p:spPr>
                  <a:xfrm>
                    <a:off x="1382" y="1933"/>
                    <a:ext cx="137" cy="137"/>
                  </a:xfrm>
                  <a:prstGeom prst="ellipse">
                    <a:avLst/>
                  </a:prstGeom>
                  <a:solidFill>
                    <a:srgbClr val="FF00FF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7700" name="Line 49"/>
                  <p:cNvSpPr/>
                  <p:nvPr/>
                </p:nvSpPr>
                <p:spPr>
                  <a:xfrm flipH="1">
                    <a:off x="1111" y="2069"/>
                    <a:ext cx="318" cy="36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701" name="Line 50"/>
                  <p:cNvSpPr/>
                  <p:nvPr/>
                </p:nvSpPr>
                <p:spPr>
                  <a:xfrm>
                    <a:off x="930" y="2024"/>
                    <a:ext cx="453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7702" name="Text Box 51"/>
                <p:cNvSpPr txBox="1"/>
                <p:nvPr/>
              </p:nvSpPr>
              <p:spPr>
                <a:xfrm>
                  <a:off x="1383" y="1447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1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03" name="Text Box 52"/>
                <p:cNvSpPr txBox="1"/>
                <p:nvPr/>
              </p:nvSpPr>
              <p:spPr>
                <a:xfrm>
                  <a:off x="1020" y="2115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0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704" name="Text Box 53"/>
                <p:cNvSpPr txBox="1"/>
                <p:nvPr/>
              </p:nvSpPr>
              <p:spPr>
                <a:xfrm>
                  <a:off x="1655" y="2024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2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7705" name="Rectangle 54"/>
              <p:cNvSpPr/>
              <p:nvPr/>
            </p:nvSpPr>
            <p:spPr>
              <a:xfrm>
                <a:off x="2018" y="2481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3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706" name="Rectangle 55"/>
              <p:cNvSpPr/>
              <p:nvPr/>
            </p:nvSpPr>
            <p:spPr>
              <a:xfrm>
                <a:off x="703" y="1888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5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7707" name="Rectangle 29"/>
            <p:cNvSpPr/>
            <p:nvPr/>
          </p:nvSpPr>
          <p:spPr>
            <a:xfrm>
              <a:off x="5004048" y="5847655"/>
              <a:ext cx="461267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7708" name="Rectangle 29"/>
            <p:cNvSpPr/>
            <p:nvPr/>
          </p:nvSpPr>
          <p:spPr>
            <a:xfrm>
              <a:off x="5076056" y="4216623"/>
              <a:ext cx="461267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6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定理</a:t>
            </a:r>
            <a:r>
              <a:rPr kumimoji="0" lang="en-US" altLang="zh-CN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13.3</a:t>
            </a: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（点覆盖与独立集）</a:t>
            </a:r>
            <a:endParaRPr kumimoji="0" lang="en-US" altLang="zh-CN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969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13.3:</a:t>
            </a:r>
            <a:r>
              <a:rPr lang="en-US" altLang="zh-CN"/>
              <a:t> </a:t>
            </a:r>
            <a:r>
              <a:rPr lang="zh-CN" altLang="en-US"/>
              <a:t>无向图</a:t>
            </a:r>
            <a:r>
              <a:rPr lang="en-US" altLang="zh-CN"/>
              <a:t>G, V*⊂V,</a:t>
            </a:r>
            <a:endParaRPr lang="en-US" altLang="zh-CN"/>
          </a:p>
          <a:p>
            <a:pPr eaLnBrk="1" hangingPunct="1">
              <a:buNone/>
            </a:pPr>
            <a:r>
              <a:rPr lang="en-US" altLang="zh-CN"/>
              <a:t>                   V*</a:t>
            </a:r>
            <a:r>
              <a:rPr lang="zh-CN" altLang="en-US"/>
              <a:t>是点覆盖⇔ </a:t>
            </a:r>
            <a:r>
              <a:rPr lang="en-US" altLang="zh-CN">
                <a:solidFill>
                  <a:srgbClr val="FF00FF"/>
                </a:solidFill>
              </a:rPr>
              <a:t>V-V*</a:t>
            </a:r>
            <a:r>
              <a:rPr lang="zh-CN" altLang="en-US"/>
              <a:t>是独立集</a:t>
            </a:r>
            <a:r>
              <a:rPr lang="en-US" altLang="zh-CN"/>
              <a:t>.</a:t>
            </a:r>
            <a:endParaRPr lang="en-US" altLang="zh-CN"/>
          </a:p>
          <a:p>
            <a:pPr eaLnBrk="1" hangingPunct="1">
              <a:buNone/>
            </a:pPr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(</a:t>
            </a:r>
            <a:r>
              <a:rPr lang="en-US" altLang="zh-CN">
                <a:solidFill>
                  <a:srgbClr val="FF00FF"/>
                </a:solidFill>
              </a:rPr>
              <a:t>⇒</a:t>
            </a:r>
            <a:r>
              <a:rPr lang="en-US" altLang="zh-CN"/>
              <a:t>) (</a:t>
            </a:r>
            <a:r>
              <a:rPr lang="zh-CN" altLang="en-US">
                <a:solidFill>
                  <a:srgbClr val="FF00FF"/>
                </a:solidFill>
              </a:rPr>
              <a:t>反证</a:t>
            </a:r>
            <a:r>
              <a:rPr lang="en-US" altLang="zh-CN"/>
              <a:t>) </a:t>
            </a:r>
            <a:r>
              <a:rPr lang="zh-CN" altLang="en-US"/>
              <a:t>假设</a:t>
            </a:r>
            <a:r>
              <a:rPr lang="en-US" altLang="zh-CN"/>
              <a:t>V-V*</a:t>
            </a:r>
            <a:r>
              <a:rPr lang="zh-CN" altLang="en-US"/>
              <a:t>不是独立集</a:t>
            </a:r>
            <a:r>
              <a:rPr lang="en-US" altLang="zh-CN"/>
              <a:t>,</a:t>
            </a:r>
            <a:r>
              <a:rPr lang="zh-CN" altLang="en-US"/>
              <a:t>则</a:t>
            </a:r>
            <a:endParaRPr lang="en-US" altLang="zh-CN"/>
          </a:p>
          <a:p>
            <a:pPr eaLnBrk="1" hangingPunct="1">
              <a:buNone/>
            </a:pPr>
            <a:r>
              <a:rPr lang="en-US" altLang="zh-CN"/>
              <a:t>∃</a:t>
            </a:r>
            <a:r>
              <a:rPr lang="en-US" altLang="zh-CN" i="1"/>
              <a:t>u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/>
              <a:t>∈V-V*,</a:t>
            </a:r>
            <a:r>
              <a:rPr lang="zh-CN" altLang="en-US"/>
              <a:t> </a:t>
            </a:r>
            <a:r>
              <a:rPr lang="en-US" altLang="zh-CN"/>
              <a:t>(</a:t>
            </a:r>
            <a:r>
              <a:rPr lang="en-US" altLang="zh-CN" i="1"/>
              <a:t>u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/>
              <a:t>)∈E, </a:t>
            </a:r>
            <a:r>
              <a:rPr lang="zh-CN" altLang="en-US"/>
              <a:t>显然</a:t>
            </a:r>
            <a:r>
              <a:rPr lang="en-US" altLang="zh-CN"/>
              <a:t>V*</a:t>
            </a:r>
            <a:r>
              <a:rPr lang="zh-CN" altLang="en-US"/>
              <a:t>不是点覆盖</a:t>
            </a:r>
            <a:r>
              <a:rPr lang="en-US" altLang="zh-CN"/>
              <a:t>,</a:t>
            </a:r>
            <a:r>
              <a:rPr lang="zh-CN" altLang="en-US"/>
              <a:t>矛盾</a:t>
            </a:r>
            <a:r>
              <a:rPr lang="en-US" altLang="zh-CN"/>
              <a:t>.</a:t>
            </a:r>
            <a:endParaRPr lang="en-US" altLang="zh-CN"/>
          </a:p>
          <a:p>
            <a:pPr eaLnBrk="1" hangingPunct="1">
              <a:buNone/>
            </a:pPr>
            <a:r>
              <a:rPr lang="en-US" altLang="zh-CN"/>
              <a:t> (</a:t>
            </a:r>
            <a:r>
              <a:rPr lang="en-US" altLang="zh-CN">
                <a:solidFill>
                  <a:srgbClr val="FF00FF"/>
                </a:solidFill>
                <a:sym typeface="Symbol" panose="05050102010706020507" charset="2"/>
              </a:rPr>
              <a:t></a:t>
            </a:r>
            <a:r>
              <a:rPr lang="en-US" altLang="zh-CN"/>
              <a:t>) </a:t>
            </a:r>
            <a:r>
              <a:rPr lang="zh-CN" altLang="en-US"/>
              <a:t>已知</a:t>
            </a:r>
            <a:r>
              <a:rPr lang="en-US" altLang="zh-CN"/>
              <a:t>V-V*</a:t>
            </a:r>
            <a:r>
              <a:rPr lang="zh-CN" altLang="en-US"/>
              <a:t>是独立集</a:t>
            </a:r>
            <a:r>
              <a:rPr lang="en-US" altLang="zh-CN"/>
              <a:t>, </a:t>
            </a:r>
            <a:r>
              <a:rPr lang="zh-CN" altLang="en-US"/>
              <a:t>所以</a:t>
            </a:r>
            <a:r>
              <a:rPr lang="en-US" altLang="zh-CN"/>
              <a:t>∀(</a:t>
            </a:r>
            <a:r>
              <a:rPr lang="en-US" altLang="zh-CN" i="1"/>
              <a:t>u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/>
              <a:t>)∈</a:t>
            </a:r>
            <a:r>
              <a:rPr lang="en-US" altLang="zh-CN" i="1"/>
              <a:t>E</a:t>
            </a:r>
            <a:r>
              <a:rPr lang="en-US" altLang="zh-CN"/>
              <a:t>, </a:t>
            </a:r>
            <a:endParaRPr lang="en-US" altLang="zh-CN"/>
          </a:p>
          <a:p>
            <a:pPr eaLnBrk="1" hangingPunct="1">
              <a:buNone/>
            </a:pPr>
            <a:r>
              <a:rPr lang="en-US" altLang="zh-CN" i="1"/>
              <a:t>u</a:t>
            </a:r>
            <a:r>
              <a:rPr lang="en-US" altLang="zh-CN"/>
              <a:t>∉V-V*</a:t>
            </a:r>
            <a:r>
              <a:rPr lang="en-US" altLang="zh-CN">
                <a:sym typeface="Symbol" panose="05050102010706020507" charset="2"/>
              </a:rPr>
              <a:t> </a:t>
            </a:r>
            <a:r>
              <a:rPr lang="zh-CN" altLang="zh-CN"/>
              <a:t> </a:t>
            </a:r>
            <a:r>
              <a:rPr lang="en-US" altLang="zh-CN" i="1"/>
              <a:t>v</a:t>
            </a:r>
            <a:r>
              <a:rPr lang="en-US" altLang="zh-CN"/>
              <a:t>∉V-V*,</a:t>
            </a:r>
            <a:r>
              <a:rPr lang="zh-CN" altLang="en-US"/>
              <a:t> 即</a:t>
            </a:r>
            <a:r>
              <a:rPr lang="en-US" altLang="zh-CN" i="1"/>
              <a:t>u</a:t>
            </a:r>
            <a:r>
              <a:rPr lang="en-US" altLang="zh-CN"/>
              <a:t>∈V* </a:t>
            </a:r>
            <a:r>
              <a:rPr lang="en-US" altLang="zh-CN">
                <a:sym typeface="Symbol" panose="05050102010706020507" charset="2"/>
              </a:rPr>
              <a:t></a:t>
            </a:r>
            <a:r>
              <a:rPr lang="en-US" altLang="zh-CN"/>
              <a:t> </a:t>
            </a:r>
            <a:r>
              <a:rPr lang="en-US" altLang="zh-CN" i="1"/>
              <a:t>v</a:t>
            </a:r>
            <a:r>
              <a:rPr lang="en-US" altLang="zh-CN"/>
              <a:t>∈V*, V*</a:t>
            </a:r>
            <a:r>
              <a:rPr lang="zh-CN" altLang="en-US"/>
              <a:t>是点覆盖</a:t>
            </a:r>
            <a:r>
              <a:rPr lang="en-US" altLang="zh-CN"/>
              <a:t>. </a:t>
            </a:r>
            <a:endParaRPr lang="en-US" altLang="zh-CN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charRg st="61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charRg st="88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charRg st="122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charRg st="152" end="1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0"/>
              <a:t>定理</a:t>
            </a:r>
            <a:r>
              <a:rPr lang="en-US" altLang="zh-CN" b="0"/>
              <a:t>13.3</a:t>
            </a:r>
            <a:r>
              <a:rPr lang="zh-CN" altLang="en-US" b="0"/>
              <a:t>的推论</a:t>
            </a:r>
            <a:endParaRPr lang="zh-CN" altLang="en-US" b="0"/>
          </a:p>
        </p:txBody>
      </p:sp>
      <p:sp>
        <p:nvSpPr>
          <p:cNvPr id="28674" name="Rectangle 3"/>
          <p:cNvSpPr>
            <a:spLocks noGrp="1"/>
          </p:cNvSpPr>
          <p:nvPr>
            <p:ph idx="1"/>
          </p:nvPr>
        </p:nvSpPr>
        <p:spPr>
          <a:xfrm>
            <a:off x="323850" y="1484313"/>
            <a:ext cx="8496300" cy="4176712"/>
          </a:xfrm>
        </p:spPr>
        <p:txBody>
          <a:bodyPr vert="horz" wrap="square" lIns="91440" tIns="45720" rIns="91440" bIns="45720" anchor="t" anchorCtr="0"/>
          <a:p>
            <a:pPr marL="0" eaLnBrk="1" hangingPunct="1">
              <a:lnSpc>
                <a:spcPct val="120000"/>
              </a:lnSpc>
              <a:spcBef>
                <a:spcPts val="415"/>
              </a:spcBef>
            </a:pPr>
            <a:r>
              <a:rPr lang="zh-CN" altLang="en-US">
                <a:solidFill>
                  <a:schemeClr val="hlink"/>
                </a:solidFill>
              </a:rPr>
              <a:t>推论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zh-CN" altLang="en-US"/>
              <a:t>无向图</a:t>
            </a:r>
            <a:r>
              <a:rPr lang="en-US" altLang="zh-CN"/>
              <a:t>G, V*</a:t>
            </a:r>
            <a:r>
              <a:rPr lang="zh-CN" altLang="en-US"/>
              <a:t>是</a:t>
            </a:r>
            <a:r>
              <a:rPr lang="zh-CN" altLang="en-US">
                <a:solidFill>
                  <a:srgbClr val="FF00FF"/>
                </a:solidFill>
              </a:rPr>
              <a:t>极</a:t>
            </a:r>
            <a:r>
              <a:rPr lang="en-US" altLang="zh-CN">
                <a:solidFill>
                  <a:srgbClr val="FF00FF"/>
                </a:solidFill>
              </a:rPr>
              <a:t>(</a:t>
            </a:r>
            <a:r>
              <a:rPr lang="zh-CN" altLang="en-US">
                <a:solidFill>
                  <a:srgbClr val="FF00FF"/>
                </a:solidFill>
              </a:rPr>
              <a:t>最</a:t>
            </a:r>
            <a:r>
              <a:rPr lang="en-US" altLang="zh-CN">
                <a:solidFill>
                  <a:srgbClr val="FF00FF"/>
                </a:solidFill>
              </a:rPr>
              <a:t>)</a:t>
            </a:r>
            <a:r>
              <a:rPr lang="zh-CN" altLang="en-US">
                <a:solidFill>
                  <a:srgbClr val="FF00FF"/>
                </a:solidFill>
              </a:rPr>
              <a:t>小点覆盖</a:t>
            </a:r>
            <a:r>
              <a:rPr lang="zh-CN" altLang="en-US"/>
              <a:t>⇔</a:t>
            </a:r>
            <a:r>
              <a:rPr lang="en-US" altLang="zh-CN"/>
              <a:t>V-V*</a:t>
            </a:r>
            <a:r>
              <a:rPr lang="zh-CN" altLang="en-US"/>
              <a:t>是</a:t>
            </a:r>
            <a:r>
              <a:rPr lang="zh-CN" altLang="en-US">
                <a:solidFill>
                  <a:srgbClr val="FF00FF"/>
                </a:solidFill>
              </a:rPr>
              <a:t>极</a:t>
            </a:r>
            <a:r>
              <a:rPr lang="en-US" altLang="zh-CN">
                <a:solidFill>
                  <a:srgbClr val="FF00FF"/>
                </a:solidFill>
              </a:rPr>
              <a:t>(</a:t>
            </a:r>
            <a:r>
              <a:rPr lang="zh-CN" altLang="en-US">
                <a:solidFill>
                  <a:srgbClr val="FF00FF"/>
                </a:solidFill>
              </a:rPr>
              <a:t>最</a:t>
            </a:r>
            <a:r>
              <a:rPr lang="en-US" altLang="zh-CN">
                <a:solidFill>
                  <a:srgbClr val="FF00FF"/>
                </a:solidFill>
              </a:rPr>
              <a:t>)</a:t>
            </a:r>
            <a:r>
              <a:rPr lang="zh-CN" altLang="en-US">
                <a:solidFill>
                  <a:srgbClr val="FF00FF"/>
                </a:solidFill>
              </a:rPr>
              <a:t>大独立集</a:t>
            </a:r>
            <a:r>
              <a:rPr lang="en-US" altLang="zh-CN"/>
              <a:t>. </a:t>
            </a:r>
            <a:r>
              <a:rPr lang="zh-CN" altLang="en-US"/>
              <a:t>且</a:t>
            </a:r>
            <a:r>
              <a:rPr lang="en-US" altLang="zh-CN">
                <a:sym typeface="Symbol" panose="05050102010706020507" charset="2"/>
              </a:rPr>
              <a:t></a:t>
            </a:r>
            <a:r>
              <a:rPr lang="en-US" altLang="zh-CN" baseline="-25000"/>
              <a:t>0</a:t>
            </a:r>
            <a:r>
              <a:rPr lang="en-US" altLang="zh-CN"/>
              <a:t>+</a:t>
            </a:r>
            <a:r>
              <a:rPr lang="en-US" altLang="zh-CN">
                <a:sym typeface="Symbol" panose="05050102010706020507" charset="2"/>
              </a:rPr>
              <a:t></a:t>
            </a:r>
            <a:r>
              <a:rPr lang="en-US" altLang="zh-CN" baseline="-25000"/>
              <a:t>0</a:t>
            </a:r>
            <a:r>
              <a:rPr lang="en-US" altLang="zh-CN"/>
              <a:t>=</a:t>
            </a:r>
            <a:r>
              <a:rPr lang="en-US" altLang="zh-CN" i="1"/>
              <a:t>n</a:t>
            </a:r>
            <a:r>
              <a:rPr lang="en-US" altLang="zh-CN"/>
              <a:t>.</a:t>
            </a:r>
            <a:endParaRPr lang="en-US" altLang="zh-CN"/>
          </a:p>
          <a:p>
            <a:pPr marL="0" eaLnBrk="1" hangingPunct="1">
              <a:lnSpc>
                <a:spcPct val="120000"/>
              </a:lnSpc>
              <a:spcBef>
                <a:spcPts val="415"/>
              </a:spcBef>
              <a:buNone/>
            </a:pPr>
            <a:r>
              <a:rPr lang="zh-CN" altLang="en-US"/>
              <a:t>证明：先证必要条件。</a:t>
            </a:r>
            <a:endParaRPr lang="en-US" altLang="zh-CN"/>
          </a:p>
          <a:p>
            <a:pPr marL="0" eaLnBrk="1" hangingPunct="1">
              <a:lnSpc>
                <a:spcPct val="120000"/>
              </a:lnSpc>
              <a:spcBef>
                <a:spcPts val="415"/>
              </a:spcBef>
              <a:buNone/>
            </a:pPr>
            <a:r>
              <a:rPr lang="zh-CN" altLang="en-US"/>
              <a:t>因为</a:t>
            </a:r>
            <a:r>
              <a:rPr lang="en-US" altLang="zh-CN"/>
              <a:t>V</a:t>
            </a:r>
            <a:r>
              <a:rPr lang="zh-CN" altLang="en-US"/>
              <a:t>*是最小点覆盖，则</a:t>
            </a:r>
            <a:r>
              <a:rPr lang="en-US" altLang="zh-CN"/>
              <a:t>V-V*</a:t>
            </a:r>
            <a:r>
              <a:rPr lang="zh-CN" altLang="en-US"/>
              <a:t>是独立集，假设</a:t>
            </a:r>
            <a:r>
              <a:rPr lang="en-US" altLang="zh-CN"/>
              <a:t>V-V</a:t>
            </a:r>
            <a:r>
              <a:rPr lang="zh-CN" altLang="en-US"/>
              <a:t>*不是最大独立集，即</a:t>
            </a:r>
            <a:r>
              <a:rPr lang="en-US" altLang="zh-CN"/>
              <a:t>∃</a:t>
            </a:r>
            <a:r>
              <a:rPr lang="en-US" altLang="zh-CN" i="1"/>
              <a:t>u</a:t>
            </a:r>
            <a:r>
              <a:rPr lang="en-US" altLang="zh-CN"/>
              <a:t>∈V*,</a:t>
            </a:r>
            <a:r>
              <a:rPr lang="en-US" altLang="zh-CN" i="1"/>
              <a:t>u</a:t>
            </a:r>
            <a:r>
              <a:rPr lang="zh-CN" altLang="en-US"/>
              <a:t>不与</a:t>
            </a:r>
            <a:r>
              <a:rPr lang="en-US" altLang="zh-CN"/>
              <a:t>V-V</a:t>
            </a:r>
            <a:r>
              <a:rPr lang="zh-CN" altLang="en-US"/>
              <a:t>*中任何点相邻，若</a:t>
            </a:r>
            <a:r>
              <a:rPr lang="en-US" altLang="zh-CN"/>
              <a:t>G</a:t>
            </a:r>
            <a:r>
              <a:rPr lang="zh-CN" altLang="en-US"/>
              <a:t>不是孤立点，所以</a:t>
            </a:r>
            <a:r>
              <a:rPr lang="en-US" altLang="zh-CN" i="1"/>
              <a:t>u</a:t>
            </a:r>
            <a:r>
              <a:rPr lang="zh-CN" altLang="en-US"/>
              <a:t>的邻域Γ</a:t>
            </a:r>
            <a:r>
              <a:rPr lang="en-US" altLang="zh-CN"/>
              <a:t>(</a:t>
            </a:r>
            <a:r>
              <a:rPr lang="en-US" altLang="zh-CN" i="1"/>
              <a:t>u</a:t>
            </a:r>
            <a:r>
              <a:rPr lang="en-US" altLang="zh-CN"/>
              <a:t>)</a:t>
            </a:r>
            <a:r>
              <a:rPr lang="en-US" altLang="ja-JP">
                <a:sym typeface="Symbol" panose="05050102010706020507" charset="2"/>
              </a:rPr>
              <a:t> </a:t>
            </a:r>
            <a:r>
              <a:rPr lang="en-US" altLang="zh-CN"/>
              <a:t>V*,</a:t>
            </a:r>
            <a:r>
              <a:rPr lang="zh-CN" altLang="en-US"/>
              <a:t>因此</a:t>
            </a:r>
            <a:r>
              <a:rPr lang="en-US" altLang="zh-CN"/>
              <a:t>V*-{</a:t>
            </a:r>
            <a:r>
              <a:rPr lang="en-US" altLang="zh-CN" i="1"/>
              <a:t>u</a:t>
            </a:r>
            <a:r>
              <a:rPr lang="en-US" altLang="zh-CN"/>
              <a:t>}</a:t>
            </a:r>
            <a:r>
              <a:rPr lang="zh-CN" altLang="en-US"/>
              <a:t>仍然是点覆盖集</a:t>
            </a:r>
            <a:r>
              <a:rPr lang="en-US" altLang="zh-CN"/>
              <a:t>,</a:t>
            </a:r>
            <a:r>
              <a:rPr lang="zh-CN" altLang="en-US"/>
              <a:t>矛盾；若</a:t>
            </a:r>
            <a:r>
              <a:rPr lang="en-US" altLang="zh-CN">
                <a:sym typeface="+mn-ea"/>
              </a:rPr>
              <a:t>G</a:t>
            </a:r>
            <a:r>
              <a:rPr lang="zh-CN" altLang="en-US">
                <a:sym typeface="+mn-ea"/>
              </a:rPr>
              <a:t>是孤立点，</a:t>
            </a:r>
            <a:r>
              <a:rPr lang="en-US" altLang="zh-CN">
                <a:sym typeface="+mn-ea"/>
              </a:rPr>
              <a:t>V*-{</a:t>
            </a:r>
            <a:r>
              <a:rPr lang="en-US" altLang="zh-CN" i="1">
                <a:sym typeface="+mn-ea"/>
              </a:rPr>
              <a:t>u</a:t>
            </a:r>
            <a:r>
              <a:rPr lang="en-US" altLang="zh-CN">
                <a:sym typeface="+mn-ea"/>
              </a:rPr>
              <a:t>}</a:t>
            </a:r>
            <a:r>
              <a:rPr lang="zh-CN" altLang="en-US">
                <a:sym typeface="+mn-ea"/>
              </a:rPr>
              <a:t>仍然是点覆盖集</a:t>
            </a:r>
            <a:r>
              <a:rPr lang="en-US" altLang="zh-CN">
                <a:sym typeface="+mn-ea"/>
              </a:rPr>
              <a:t>,</a:t>
            </a:r>
            <a:r>
              <a:rPr lang="zh-CN" altLang="en-US">
                <a:sym typeface="+mn-ea"/>
              </a:rPr>
              <a:t>矛盾</a:t>
            </a:r>
            <a:r>
              <a:rPr lang="zh-CN" altLang="en-US"/>
              <a:t>。</a:t>
            </a:r>
            <a:endParaRPr lang="en-US" altLang="zh-CN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51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62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endParaRPr lang="en-US" altLang="x-none"/>
          </a:p>
        </p:txBody>
      </p:sp>
      <p:sp>
        <p:nvSpPr>
          <p:cNvPr id="33794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/>
              <a:t>再证充分条件。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因为</a:t>
            </a:r>
            <a:r>
              <a:rPr lang="en-US" altLang="zh-CN"/>
              <a:t>V-V</a:t>
            </a:r>
            <a:r>
              <a:rPr lang="zh-CN" altLang="en-US"/>
              <a:t>*是最大独立集，则</a:t>
            </a:r>
            <a:r>
              <a:rPr lang="en-US" altLang="zh-CN"/>
              <a:t>V*</a:t>
            </a:r>
            <a:r>
              <a:rPr lang="zh-CN" altLang="en-US"/>
              <a:t>是覆盖集，假设</a:t>
            </a:r>
            <a:r>
              <a:rPr lang="en-US" altLang="zh-CN"/>
              <a:t>V</a:t>
            </a:r>
            <a:r>
              <a:rPr lang="zh-CN" altLang="en-US"/>
              <a:t>*不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是最小覆盖集，即</a:t>
            </a:r>
            <a:r>
              <a:rPr lang="en-US" altLang="zh-CN"/>
              <a:t>∃</a:t>
            </a:r>
            <a:r>
              <a:rPr lang="en-US" altLang="zh-CN" i="1"/>
              <a:t>u</a:t>
            </a:r>
            <a:r>
              <a:rPr lang="en-US" altLang="zh-CN"/>
              <a:t>∈V*,</a:t>
            </a:r>
            <a:r>
              <a:rPr lang="zh-CN" altLang="en-US"/>
              <a:t>使得</a:t>
            </a:r>
            <a:r>
              <a:rPr lang="en-US" altLang="zh-CN"/>
              <a:t>V*-{</a:t>
            </a:r>
            <a:r>
              <a:rPr lang="en-US" altLang="zh-CN" i="1"/>
              <a:t>u</a:t>
            </a:r>
            <a:r>
              <a:rPr lang="en-US" altLang="zh-CN"/>
              <a:t>}</a:t>
            </a:r>
            <a:r>
              <a:rPr lang="zh-CN" altLang="en-US"/>
              <a:t>仍然是点覆盖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集。那么</a:t>
            </a:r>
            <a:r>
              <a:rPr lang="en-US" altLang="zh-CN" i="1"/>
              <a:t>u</a:t>
            </a:r>
            <a:r>
              <a:rPr lang="zh-CN" altLang="en-US"/>
              <a:t>的邻域Γ</a:t>
            </a:r>
            <a:r>
              <a:rPr lang="en-US" altLang="zh-CN"/>
              <a:t>(</a:t>
            </a:r>
            <a:r>
              <a:rPr lang="en-US" altLang="zh-CN" i="1"/>
              <a:t>u</a:t>
            </a:r>
            <a:r>
              <a:rPr lang="en-US" altLang="zh-CN"/>
              <a:t>)</a:t>
            </a:r>
            <a:r>
              <a:rPr lang="en-US" altLang="ja-JP">
                <a:sym typeface="Symbol" panose="05050102010706020507" charset="2"/>
              </a:rPr>
              <a:t> </a:t>
            </a:r>
            <a:r>
              <a:rPr lang="en-US" altLang="zh-CN"/>
              <a:t>V*-{</a:t>
            </a:r>
            <a:r>
              <a:rPr lang="en-US" altLang="zh-CN" i="1"/>
              <a:t>u</a:t>
            </a:r>
            <a:r>
              <a:rPr lang="en-US" altLang="zh-CN"/>
              <a:t>},</a:t>
            </a:r>
            <a:r>
              <a:rPr lang="zh-CN" altLang="en-US"/>
              <a:t>也就是说</a:t>
            </a:r>
            <a:r>
              <a:rPr lang="en-US" altLang="zh-CN"/>
              <a:t>V*-{</a:t>
            </a:r>
            <a:r>
              <a:rPr lang="en-US" altLang="zh-CN" i="1"/>
              <a:t>u</a:t>
            </a:r>
            <a:r>
              <a:rPr lang="en-US" altLang="zh-CN"/>
              <a:t>}</a:t>
            </a:r>
            <a:r>
              <a:rPr lang="zh-CN" altLang="en-US"/>
              <a:t>能覆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盖与</a:t>
            </a:r>
            <a:r>
              <a:rPr lang="en-US" altLang="zh-CN" i="1"/>
              <a:t>u</a:t>
            </a:r>
            <a:r>
              <a:rPr lang="zh-CN" altLang="en-US"/>
              <a:t>关联的所有边，因此</a:t>
            </a:r>
            <a:r>
              <a:rPr lang="en-US" altLang="zh-CN" i="1"/>
              <a:t>u</a:t>
            </a:r>
            <a:r>
              <a:rPr lang="zh-CN" altLang="en-US"/>
              <a:t>与</a:t>
            </a:r>
            <a:r>
              <a:rPr lang="en-US" altLang="zh-CN"/>
              <a:t>V-V*</a:t>
            </a:r>
            <a:r>
              <a:rPr lang="zh-CN" altLang="en-US"/>
              <a:t>中的所有点不相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邻，即</a:t>
            </a:r>
            <a:r>
              <a:rPr lang="en-US" altLang="ja-JP">
                <a:sym typeface="Symbol" panose="05050102010706020507" charset="2"/>
              </a:rPr>
              <a:t></a:t>
            </a:r>
            <a:r>
              <a:rPr lang="en-US" altLang="ja-JP" i="1"/>
              <a:t>v</a:t>
            </a:r>
            <a:r>
              <a:rPr lang="en-US" altLang="ja-JP"/>
              <a:t>(</a:t>
            </a:r>
            <a:r>
              <a:rPr lang="en-US" altLang="ja-JP" i="1"/>
              <a:t>v</a:t>
            </a:r>
            <a:r>
              <a:rPr lang="en-US" altLang="ja-JP">
                <a:sym typeface="Symbol" panose="05050102010706020507" charset="2"/>
              </a:rPr>
              <a:t></a:t>
            </a:r>
            <a:r>
              <a:rPr lang="en-US" altLang="ja-JP"/>
              <a:t>V-</a:t>
            </a:r>
            <a:r>
              <a:rPr lang="en-US" altLang="zh-CN"/>
              <a:t>V</a:t>
            </a:r>
            <a:r>
              <a:rPr lang="en-US" altLang="ja-JP"/>
              <a:t>*</a:t>
            </a:r>
            <a:r>
              <a:rPr lang="en-US" altLang="ja-JP">
                <a:sym typeface="Symbol" panose="05050102010706020507" charset="2"/>
              </a:rPr>
              <a:t></a:t>
            </a:r>
            <a:r>
              <a:rPr lang="en-US" altLang="ja-JP"/>
              <a:t>(</a:t>
            </a:r>
            <a:r>
              <a:rPr lang="en-US" altLang="ja-JP" i="1"/>
              <a:t>u</a:t>
            </a:r>
            <a:r>
              <a:rPr lang="en-US" altLang="ja-JP"/>
              <a:t>,</a:t>
            </a:r>
            <a:r>
              <a:rPr lang="en-US" altLang="ja-JP" i="1"/>
              <a:t>v</a:t>
            </a:r>
            <a:r>
              <a:rPr lang="en-US" altLang="ja-JP"/>
              <a:t>)</a:t>
            </a:r>
            <a:r>
              <a:rPr lang="en-US" altLang="ja-JP">
                <a:sym typeface="Symbol" panose="05050102010706020507" charset="2"/>
              </a:rPr>
              <a:t></a:t>
            </a:r>
            <a:r>
              <a:rPr lang="en-US" altLang="ja-JP"/>
              <a:t>E)</a:t>
            </a:r>
            <a:r>
              <a:rPr lang="zh-CN" altLang="en-US"/>
              <a:t>，故而</a:t>
            </a:r>
            <a:r>
              <a:rPr lang="en-US" altLang="zh-CN"/>
              <a:t>(V-V*)</a:t>
            </a:r>
            <a:r>
              <a:rPr lang="en-US" altLang="ja-JP">
                <a:sym typeface="Symbol" panose="05050102010706020507" charset="2"/>
              </a:rPr>
              <a:t></a:t>
            </a:r>
            <a:r>
              <a:rPr lang="zh-CN" altLang="ja-JP"/>
              <a:t> </a:t>
            </a:r>
            <a:r>
              <a:rPr lang="en-US" altLang="zh-CN"/>
              <a:t>{</a:t>
            </a:r>
            <a:r>
              <a:rPr lang="en-US" altLang="zh-CN" i="1"/>
              <a:t>u</a:t>
            </a:r>
            <a:r>
              <a:rPr lang="en-US" altLang="zh-CN"/>
              <a:t>}</a:t>
            </a:r>
            <a:r>
              <a:rPr lang="zh-CN" altLang="en-US"/>
              <a:t>是独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立集，与</a:t>
            </a:r>
            <a:r>
              <a:rPr lang="en-US" altLang="zh-CN"/>
              <a:t>V-V*</a:t>
            </a:r>
            <a:r>
              <a:rPr lang="zh-CN" altLang="en-US"/>
              <a:t>是最大独立集矛盾。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定理</a:t>
            </a:r>
            <a:r>
              <a:rPr lang="en-US" altLang="zh-CN"/>
              <a:t>13.3</a:t>
            </a:r>
            <a:r>
              <a:rPr lang="zh-CN" altLang="en-US"/>
              <a:t>的图示证明</a:t>
            </a:r>
            <a:endParaRPr lang="en-US" altLang="zh-CN"/>
          </a:p>
        </p:txBody>
      </p:sp>
      <p:grpSp>
        <p:nvGrpSpPr>
          <p:cNvPr id="32770" name="Group 3"/>
          <p:cNvGrpSpPr/>
          <p:nvPr/>
        </p:nvGrpSpPr>
        <p:grpSpPr>
          <a:xfrm>
            <a:off x="468313" y="1700213"/>
            <a:ext cx="5759450" cy="1800225"/>
            <a:chOff x="0" y="-1"/>
            <a:chExt cx="2259886" cy="706121"/>
          </a:xfrm>
        </p:grpSpPr>
        <p:grpSp>
          <p:nvGrpSpPr>
            <p:cNvPr id="32771" name="Group 4"/>
            <p:cNvGrpSpPr/>
            <p:nvPr/>
          </p:nvGrpSpPr>
          <p:grpSpPr>
            <a:xfrm>
              <a:off x="0" y="-1"/>
              <a:ext cx="2259886" cy="706121"/>
              <a:chOff x="0" y="0"/>
              <a:chExt cx="2259886" cy="706301"/>
            </a:xfrm>
          </p:grpSpPr>
          <p:sp>
            <p:nvSpPr>
              <p:cNvPr id="32772" name="Freeform 9"/>
              <p:cNvSpPr/>
              <p:nvPr/>
            </p:nvSpPr>
            <p:spPr>
              <a:xfrm>
                <a:off x="0" y="30519"/>
                <a:ext cx="786667" cy="675782"/>
              </a:xfrm>
              <a:custGeom>
                <a:avLst/>
                <a:gdLst/>
                <a:ahLst/>
                <a:cxnLst>
                  <a:cxn ang="0">
                    <a:pos x="264598" y="37067"/>
                  </a:cxn>
                  <a:cxn ang="0">
                    <a:pos x="36026" y="324866"/>
                  </a:cxn>
                  <a:cxn ang="0">
                    <a:pos x="69889" y="638061"/>
                  </a:cxn>
                  <a:cxn ang="0">
                    <a:pos x="687883" y="629598"/>
                  </a:cxn>
                  <a:cxn ang="0">
                    <a:pos x="764075" y="274078"/>
                  </a:cxn>
                  <a:cxn ang="0">
                    <a:pos x="467774" y="28601"/>
                  </a:cxn>
                  <a:cxn ang="0">
                    <a:pos x="264598" y="37067"/>
                  </a:cxn>
                </a:cxnLst>
                <a:pathLst>
                  <a:path w="786690" h="675821">
                    <a:moveTo>
                      <a:pt x="264630" y="37075"/>
                    </a:moveTo>
                    <a:cubicBezTo>
                      <a:pt x="192663" y="86464"/>
                      <a:pt x="68485" y="224753"/>
                      <a:pt x="36030" y="324942"/>
                    </a:cubicBezTo>
                    <a:cubicBezTo>
                      <a:pt x="3575" y="425131"/>
                      <a:pt x="-38759" y="587409"/>
                      <a:pt x="69897" y="638209"/>
                    </a:cubicBezTo>
                    <a:cubicBezTo>
                      <a:pt x="178553" y="689009"/>
                      <a:pt x="572252" y="690420"/>
                      <a:pt x="687963" y="629742"/>
                    </a:cubicBezTo>
                    <a:cubicBezTo>
                      <a:pt x="803674" y="569064"/>
                      <a:pt x="800852" y="374331"/>
                      <a:pt x="764163" y="274142"/>
                    </a:cubicBezTo>
                    <a:cubicBezTo>
                      <a:pt x="727474" y="173953"/>
                      <a:pt x="553908" y="66709"/>
                      <a:pt x="467830" y="28609"/>
                    </a:cubicBezTo>
                    <a:cubicBezTo>
                      <a:pt x="381752" y="-9491"/>
                      <a:pt x="336597" y="-12314"/>
                      <a:pt x="264630" y="37075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23000" dir="5400000" rotWithShape="0">
                  <a:srgbClr val="000000">
                    <a:alpha val="34998"/>
                  </a:srgbClr>
                </a:outerShdw>
              </a:effectLst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2773" name="Freeform 10"/>
              <p:cNvSpPr/>
              <p:nvPr/>
            </p:nvSpPr>
            <p:spPr>
              <a:xfrm>
                <a:off x="917466" y="17440"/>
                <a:ext cx="1232009" cy="668308"/>
              </a:xfrm>
              <a:custGeom>
                <a:avLst/>
                <a:gdLst/>
                <a:ahLst/>
                <a:cxnLst>
                  <a:cxn ang="0">
                    <a:pos x="193580" y="0"/>
                  </a:cxn>
                  <a:cxn ang="0">
                    <a:pos x="794461" y="75848"/>
                  </a:cxn>
                  <a:cxn ang="0">
                    <a:pos x="1226081" y="379236"/>
                  </a:cxn>
                  <a:cxn ang="0">
                    <a:pos x="489789" y="665769"/>
                  </a:cxn>
                  <a:cxn ang="0">
                    <a:pos x="41244" y="421374"/>
                  </a:cxn>
                  <a:cxn ang="0">
                    <a:pos x="41244" y="151694"/>
                  </a:cxn>
                  <a:cxn ang="0">
                    <a:pos x="193580" y="0"/>
                  </a:cxn>
                </a:cxnLst>
                <a:pathLst>
                  <a:path w="1232138" h="669084">
                    <a:moveTo>
                      <a:pt x="193660" y="0"/>
                    </a:moveTo>
                    <a:cubicBezTo>
                      <a:pt x="319249" y="-12700"/>
                      <a:pt x="622638" y="12700"/>
                      <a:pt x="794793" y="76200"/>
                    </a:cubicBezTo>
                    <a:cubicBezTo>
                      <a:pt x="966948" y="139700"/>
                      <a:pt x="1277393" y="282222"/>
                      <a:pt x="1226593" y="381000"/>
                    </a:cubicBezTo>
                    <a:cubicBezTo>
                      <a:pt x="1175793" y="479778"/>
                      <a:pt x="687548" y="661811"/>
                      <a:pt x="489993" y="668867"/>
                    </a:cubicBezTo>
                    <a:cubicBezTo>
                      <a:pt x="292438" y="675923"/>
                      <a:pt x="116049" y="509412"/>
                      <a:pt x="41260" y="423334"/>
                    </a:cubicBezTo>
                    <a:cubicBezTo>
                      <a:pt x="-33529" y="337256"/>
                      <a:pt x="10216" y="224367"/>
                      <a:pt x="41260" y="152400"/>
                    </a:cubicBezTo>
                    <a:cubicBezTo>
                      <a:pt x="72304" y="80433"/>
                      <a:pt x="68071" y="12700"/>
                      <a:pt x="1936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23000" dir="5400000" rotWithShape="0">
                  <a:srgbClr val="000000">
                    <a:alpha val="34998"/>
                  </a:srgbClr>
                </a:outerShdw>
              </a:effectLst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" name="Text Box 3"/>
              <p:cNvSpPr txBox="1"/>
              <p:nvPr/>
            </p:nvSpPr>
            <p:spPr>
              <a:xfrm>
                <a:off x="252275" y="343185"/>
                <a:ext cx="457210" cy="3425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+mn-lt"/>
                    <a:ea typeface="ＭＳ 明朝"/>
                    <a:cs typeface="Times New Roman" panose="02020603050405020304"/>
                  </a:rPr>
                  <a:t>V-V*</a:t>
                </a:r>
                <a:endParaRPr kumimoji="0" 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ＭＳ 明朝"/>
                  <a:cs typeface="Times New Roman" panose="02020603050405020304"/>
                </a:endParaRPr>
              </a:p>
            </p:txBody>
          </p:sp>
          <p:sp>
            <p:nvSpPr>
              <p:cNvPr id="13" name="Text Box 4"/>
              <p:cNvSpPr txBox="1"/>
              <p:nvPr/>
            </p:nvSpPr>
            <p:spPr>
              <a:xfrm>
                <a:off x="1820118" y="226091"/>
                <a:ext cx="439768" cy="2285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+mn-lt"/>
                    <a:ea typeface="ＭＳ 明朝"/>
                    <a:cs typeface="Times New Roman" panose="02020603050405020304"/>
                  </a:rPr>
                  <a:t>V*</a:t>
                </a:r>
                <a:endParaRPr kumimoji="0" 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ＭＳ 明朝"/>
                  <a:cs typeface="Times New Roman" panose="02020603050405020304"/>
                </a:endParaRPr>
              </a:p>
            </p:txBody>
          </p:sp>
          <p:sp>
            <p:nvSpPr>
              <p:cNvPr id="14" name="Text Box 5"/>
              <p:cNvSpPr txBox="1"/>
              <p:nvPr/>
            </p:nvSpPr>
            <p:spPr>
              <a:xfrm>
                <a:off x="1052080" y="0"/>
                <a:ext cx="259750" cy="2285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3600" b="1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+mn-lt"/>
                    <a:ea typeface="ＭＳ 明朝"/>
                    <a:cs typeface="Times New Roman" panose="02020603050405020304"/>
                  </a:rPr>
                  <a:t>u</a:t>
                </a:r>
                <a:endParaRPr kumimoji="0" 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ＭＳ 明朝"/>
                  <a:cs typeface="Times New Roman" panose="02020603050405020304"/>
                </a:endParaRPr>
              </a:p>
            </p:txBody>
          </p:sp>
          <p:sp>
            <p:nvSpPr>
              <p:cNvPr id="32777" name="Oval 14"/>
              <p:cNvSpPr/>
              <p:nvPr/>
            </p:nvSpPr>
            <p:spPr>
              <a:xfrm>
                <a:off x="1280591" y="114603"/>
                <a:ext cx="114605" cy="113980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23000" dir="5400000" rotWithShape="0">
                  <a:srgbClr val="808080">
                    <a:alpha val="34998"/>
                  </a:srgbClr>
                </a:outerShdw>
              </a:effectLst>
            </p:spPr>
            <p:txBody>
              <a:bodyPr anchor="ctr" anchorCtr="0"/>
              <a:p>
                <a:pPr>
                  <a:buSzTx/>
                </a:pPr>
                <a:endParaRPr lang="en-US" altLang="x-none">
                  <a:solidFill>
                    <a:srgbClr val="FFFFFF"/>
                  </a:solidFill>
                  <a:latin typeface="Times New Roman" panose="02020603050405020304" charset="0"/>
                  <a:ea typeface="黑体" panose="02010609060101010101" charset="-122"/>
                </a:endParaRPr>
              </a:p>
            </p:txBody>
          </p:sp>
          <p:sp>
            <p:nvSpPr>
              <p:cNvPr id="32778" name="Oval 15"/>
              <p:cNvSpPr/>
              <p:nvPr/>
            </p:nvSpPr>
            <p:spPr>
              <a:xfrm>
                <a:off x="1101832" y="367476"/>
                <a:ext cx="113983" cy="114603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23000" dir="5400000" rotWithShape="0">
                  <a:srgbClr val="808080">
                    <a:alpha val="34998"/>
                  </a:srgbClr>
                </a:outerShdw>
              </a:effectLst>
            </p:spPr>
            <p:txBody>
              <a:bodyPr anchor="ctr" anchorCtr="0"/>
              <a:p>
                <a:pPr>
                  <a:buSzTx/>
                </a:pPr>
                <a:endParaRPr lang="en-US" altLang="x-none">
                  <a:solidFill>
                    <a:srgbClr val="FFFFFF"/>
                  </a:solidFill>
                  <a:latin typeface="Times New Roman" panose="02020603050405020304" charset="0"/>
                  <a:ea typeface="黑体" panose="02010609060101010101" charset="-122"/>
                </a:endParaRPr>
              </a:p>
            </p:txBody>
          </p:sp>
          <p:sp>
            <p:nvSpPr>
              <p:cNvPr id="32779" name="Oval 16"/>
              <p:cNvSpPr/>
              <p:nvPr/>
            </p:nvSpPr>
            <p:spPr>
              <a:xfrm>
                <a:off x="1428208" y="421663"/>
                <a:ext cx="113983" cy="113980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23000" dir="5400000" rotWithShape="0">
                  <a:srgbClr val="808080">
                    <a:alpha val="34998"/>
                  </a:srgbClr>
                </a:outerShdw>
              </a:effectLst>
            </p:spPr>
            <p:txBody>
              <a:bodyPr anchor="ctr" anchorCtr="0"/>
              <a:p>
                <a:pPr>
                  <a:buSzTx/>
                </a:pPr>
                <a:endParaRPr lang="en-US" altLang="x-none">
                  <a:solidFill>
                    <a:srgbClr val="FFFFFF"/>
                  </a:solidFill>
                  <a:latin typeface="Times New Roman" panose="02020603050405020304" charset="0"/>
                  <a:ea typeface="黑体" panose="02010609060101010101" charset="-122"/>
                </a:endParaRPr>
              </a:p>
            </p:txBody>
          </p:sp>
          <p:sp>
            <p:nvSpPr>
              <p:cNvPr id="32780" name="Oval 17"/>
              <p:cNvSpPr/>
              <p:nvPr/>
            </p:nvSpPr>
            <p:spPr>
              <a:xfrm>
                <a:off x="1588282" y="254119"/>
                <a:ext cx="113982" cy="113980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23000" dir="5400000" rotWithShape="0">
                  <a:srgbClr val="808080">
                    <a:alpha val="34998"/>
                  </a:srgbClr>
                </a:outerShdw>
              </a:effectLst>
            </p:spPr>
            <p:txBody>
              <a:bodyPr anchor="ctr" anchorCtr="0"/>
              <a:p>
                <a:pPr>
                  <a:buSzTx/>
                </a:pPr>
                <a:endParaRPr lang="en-US" altLang="x-none">
                  <a:solidFill>
                    <a:srgbClr val="FFFFFF"/>
                  </a:solidFill>
                  <a:latin typeface="Times New Roman" panose="02020603050405020304" charset="0"/>
                  <a:ea typeface="黑体" panose="02010609060101010101" charset="-122"/>
                </a:endParaRPr>
              </a:p>
            </p:txBody>
          </p:sp>
        </p:grpSp>
        <p:grpSp>
          <p:nvGrpSpPr>
            <p:cNvPr id="32781" name="Group 5"/>
            <p:cNvGrpSpPr/>
            <p:nvPr/>
          </p:nvGrpSpPr>
          <p:grpSpPr>
            <a:xfrm>
              <a:off x="1184275" y="193040"/>
              <a:ext cx="448945" cy="255270"/>
              <a:chOff x="0" y="0"/>
              <a:chExt cx="448945" cy="255270"/>
            </a:xfrm>
          </p:grpSpPr>
          <p:cxnSp>
            <p:nvCxnSpPr>
              <p:cNvPr id="32782" name="Straight Connector 6"/>
              <p:cNvCxnSpPr/>
              <p:nvPr/>
            </p:nvCxnSpPr>
            <p:spPr>
              <a:xfrm flipH="1">
                <a:off x="-226" y="8708"/>
                <a:ext cx="114605" cy="228524"/>
              </a:xfrm>
              <a:prstGeom prst="line">
                <a:avLst/>
              </a:prstGeom>
              <a:ln w="2540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32783" name="Straight Connector 7"/>
              <p:cNvCxnSpPr/>
              <p:nvPr/>
            </p:nvCxnSpPr>
            <p:spPr>
              <a:xfrm>
                <a:off x="220265" y="-10"/>
                <a:ext cx="228588" cy="114573"/>
              </a:xfrm>
              <a:prstGeom prst="line">
                <a:avLst/>
              </a:prstGeom>
              <a:ln w="2540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20000" dir="5400000" rotWithShape="0">
                  <a:srgbClr val="808080">
                    <a:alpha val="37999"/>
                  </a:srgbClr>
                </a:outerShdw>
              </a:effectLst>
            </p:spPr>
          </p:cxnSp>
          <p:cxnSp>
            <p:nvCxnSpPr>
              <p:cNvPr id="32784" name="Straight Connector 8"/>
              <p:cNvCxnSpPr/>
              <p:nvPr/>
            </p:nvCxnSpPr>
            <p:spPr>
              <a:xfrm>
                <a:off x="194105" y="26765"/>
                <a:ext cx="114605" cy="228524"/>
              </a:xfrm>
              <a:prstGeom prst="line">
                <a:avLst/>
              </a:prstGeom>
              <a:ln w="2540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20000" dir="5400000" rotWithShape="0">
                  <a:srgbClr val="808080">
                    <a:alpha val="37999"/>
                  </a:srgbClr>
                </a:outerShdw>
              </a:effectLst>
            </p:spPr>
          </p:cxnSp>
        </p:grpSp>
      </p:grpSp>
      <p:grpSp>
        <p:nvGrpSpPr>
          <p:cNvPr id="32785" name="Group 18"/>
          <p:cNvGrpSpPr/>
          <p:nvPr/>
        </p:nvGrpSpPr>
        <p:grpSpPr>
          <a:xfrm>
            <a:off x="900113" y="4292600"/>
            <a:ext cx="5616575" cy="1944688"/>
            <a:chOff x="0" y="0"/>
            <a:chExt cx="2160270" cy="747794"/>
          </a:xfrm>
        </p:grpSpPr>
        <p:sp>
          <p:nvSpPr>
            <p:cNvPr id="32786" name="Freeform 19"/>
            <p:cNvSpPr/>
            <p:nvPr/>
          </p:nvSpPr>
          <p:spPr>
            <a:xfrm>
              <a:off x="0" y="44563"/>
              <a:ext cx="786441" cy="675761"/>
            </a:xfrm>
            <a:custGeom>
              <a:avLst/>
              <a:gdLst/>
              <a:ahLst/>
              <a:cxnLst>
                <a:cxn ang="0">
                  <a:pos x="264294" y="37063"/>
                </a:cxn>
                <a:cxn ang="0">
                  <a:pos x="35986" y="324826"/>
                </a:cxn>
                <a:cxn ang="0">
                  <a:pos x="69809" y="637981"/>
                </a:cxn>
                <a:cxn ang="0">
                  <a:pos x="687091" y="629518"/>
                </a:cxn>
                <a:cxn ang="0">
                  <a:pos x="763195" y="274046"/>
                </a:cxn>
                <a:cxn ang="0">
                  <a:pos x="467238" y="28597"/>
                </a:cxn>
                <a:cxn ang="0">
                  <a:pos x="264294" y="37063"/>
                </a:cxn>
              </a:cxnLst>
              <a:pathLst>
                <a:path w="786690" h="675821">
                  <a:moveTo>
                    <a:pt x="264630" y="37075"/>
                  </a:moveTo>
                  <a:cubicBezTo>
                    <a:pt x="192663" y="86464"/>
                    <a:pt x="68485" y="224753"/>
                    <a:pt x="36030" y="324942"/>
                  </a:cubicBezTo>
                  <a:cubicBezTo>
                    <a:pt x="3575" y="425131"/>
                    <a:pt x="-38759" y="587409"/>
                    <a:pt x="69897" y="638209"/>
                  </a:cubicBezTo>
                  <a:cubicBezTo>
                    <a:pt x="178553" y="689009"/>
                    <a:pt x="572252" y="690420"/>
                    <a:pt x="687963" y="629742"/>
                  </a:cubicBezTo>
                  <a:cubicBezTo>
                    <a:pt x="803674" y="569064"/>
                    <a:pt x="800852" y="374331"/>
                    <a:pt x="764163" y="274142"/>
                  </a:cubicBezTo>
                  <a:cubicBezTo>
                    <a:pt x="727474" y="173953"/>
                    <a:pt x="553908" y="66709"/>
                    <a:pt x="467830" y="28609"/>
                  </a:cubicBezTo>
                  <a:cubicBezTo>
                    <a:pt x="381752" y="-9491"/>
                    <a:pt x="336597" y="-12314"/>
                    <a:pt x="264630" y="37075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23000" dir="5400000" rotWithShape="0">
                <a:srgbClr val="000000">
                  <a:alpha val="34998"/>
                </a:srgbClr>
              </a:outerShdw>
            </a:effectLst>
          </p:spPr>
          <p:txBody>
            <a:bodyPr/>
            <a:p>
              <a:endParaRPr lang="zh-CN" altLang="en-US"/>
            </a:p>
          </p:txBody>
        </p:sp>
        <p:sp>
          <p:nvSpPr>
            <p:cNvPr id="32787" name="Freeform 20"/>
            <p:cNvSpPr/>
            <p:nvPr/>
          </p:nvSpPr>
          <p:spPr>
            <a:xfrm>
              <a:off x="917718" y="31133"/>
              <a:ext cx="1231562" cy="668436"/>
            </a:xfrm>
            <a:custGeom>
              <a:avLst/>
              <a:gdLst/>
              <a:ahLst/>
              <a:cxnLst>
                <a:cxn ang="0">
                  <a:pos x="193299" y="0"/>
                </a:cxn>
                <a:cxn ang="0">
                  <a:pos x="793308" y="75904"/>
                </a:cxn>
                <a:cxn ang="0">
                  <a:pos x="1224301" y="379526"/>
                </a:cxn>
                <a:cxn ang="0">
                  <a:pos x="489077" y="666279"/>
                </a:cxn>
                <a:cxn ang="0">
                  <a:pos x="41184" y="421696"/>
                </a:cxn>
                <a:cxn ang="0">
                  <a:pos x="41184" y="151811"/>
                </a:cxn>
                <a:cxn ang="0">
                  <a:pos x="193299" y="0"/>
                </a:cxn>
              </a:cxnLst>
              <a:pathLst>
                <a:path w="1232138" h="669084">
                  <a:moveTo>
                    <a:pt x="193660" y="0"/>
                  </a:moveTo>
                  <a:cubicBezTo>
                    <a:pt x="319249" y="-12700"/>
                    <a:pt x="622638" y="12700"/>
                    <a:pt x="794793" y="76200"/>
                  </a:cubicBezTo>
                  <a:cubicBezTo>
                    <a:pt x="966948" y="139700"/>
                    <a:pt x="1277393" y="282222"/>
                    <a:pt x="1226593" y="381000"/>
                  </a:cubicBezTo>
                  <a:cubicBezTo>
                    <a:pt x="1175793" y="479778"/>
                    <a:pt x="687548" y="661811"/>
                    <a:pt x="489993" y="668867"/>
                  </a:cubicBezTo>
                  <a:cubicBezTo>
                    <a:pt x="292438" y="675923"/>
                    <a:pt x="116049" y="509412"/>
                    <a:pt x="41260" y="423334"/>
                  </a:cubicBezTo>
                  <a:cubicBezTo>
                    <a:pt x="-33529" y="337256"/>
                    <a:pt x="10216" y="224367"/>
                    <a:pt x="41260" y="152400"/>
                  </a:cubicBezTo>
                  <a:cubicBezTo>
                    <a:pt x="72304" y="80433"/>
                    <a:pt x="68071" y="12700"/>
                    <a:pt x="193660" y="0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23000" dir="5400000" rotWithShape="0">
                <a:srgbClr val="000000">
                  <a:alpha val="34998"/>
                </a:srgbClr>
              </a:outerShdw>
            </a:effectLst>
          </p:spPr>
          <p:txBody>
            <a:bodyPr/>
            <a:p>
              <a:endParaRPr lang="zh-CN" altLang="en-US"/>
            </a:p>
          </p:txBody>
        </p:sp>
        <p:sp>
          <p:nvSpPr>
            <p:cNvPr id="22" name="Text Box 20"/>
            <p:cNvSpPr txBox="1"/>
            <p:nvPr/>
          </p:nvSpPr>
          <p:spPr>
            <a:xfrm>
              <a:off x="55564" y="404725"/>
              <a:ext cx="775450" cy="34306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黑体" panose="02010609060101010101" charset="-122"/>
                </a:defRPr>
              </a:lvl1pPr>
              <a:lvl2pPr marL="742950" indent="-28575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charset="-122"/>
                </a:defRPr>
              </a:lvl2pPr>
              <a:lvl3pPr marL="11430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charset="-122"/>
                </a:defRPr>
              </a:lvl3pPr>
              <a:lvl4pPr marL="16002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charset="-122"/>
                </a:defRPr>
              </a:lvl4pPr>
              <a:lvl5pPr marL="2057400" indent="-228600" algn="l" rtl="0" eaLnBrk="0" fontAlgn="base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+mn-ea"/>
                  <a:cs typeface="黑体" panose="02010609060101010101" charset="-122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1" i="0" u="none" strike="noStrike" kern="1200" cap="none" spc="0" normalizeH="0" baseline="0" noProof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黑体" panose="02010609060101010101" charset="-122"/>
                </a:rPr>
                <a:t>V-V*</a:t>
              </a:r>
              <a:r>
                <a:rPr kumimoji="0" lang="en-US" altLang="zh-CN" sz="2800" b="1" i="0" u="none" strike="noStrike" kern="1200" cap="none" spc="0" normalizeH="0" baseline="0" noProof="1">
                  <a:solidFill>
                    <a:srgbClr val="000000"/>
                  </a:solidFill>
                  <a:latin typeface="+mn-lt"/>
                  <a:ea typeface="+mn-ea"/>
                  <a:cs typeface="黑体" panose="02010609060101010101" charset="-122"/>
                  <a:sym typeface="Symbol" panose="05050102010706020507" charset="2"/>
                </a:rPr>
                <a:t></a:t>
              </a:r>
              <a:r>
                <a:rPr kumimoji="0" lang="en-US" altLang="zh-CN" sz="2800" b="1" i="0" u="none" strike="noStrike" kern="1200" cap="none" spc="0" normalizeH="0" baseline="0" noProof="1">
                  <a:solidFill>
                    <a:srgbClr val="000000"/>
                  </a:solidFill>
                  <a:latin typeface="+mn-lt"/>
                  <a:ea typeface="+mn-ea"/>
                  <a:cs typeface="黑体" panose="02010609060101010101" charset="-122"/>
                </a:rPr>
                <a:t> {</a:t>
              </a:r>
              <a:r>
                <a:rPr kumimoji="0" lang="en-US" altLang="zh-CN" sz="2800" b="1" i="1" u="none" strike="noStrike" kern="1200" cap="none" spc="0" normalizeH="0" baseline="0" noProof="1">
                  <a:solidFill>
                    <a:srgbClr val="000000"/>
                  </a:solidFill>
                  <a:latin typeface="+mn-lt"/>
                  <a:ea typeface="+mn-ea"/>
                  <a:cs typeface="黑体" panose="02010609060101010101" charset="-122"/>
                </a:rPr>
                <a:t>u</a:t>
              </a:r>
              <a:r>
                <a:rPr kumimoji="0" lang="en-US" altLang="zh-CN" sz="2800" b="1" i="0" u="none" strike="noStrike" kern="1200" cap="none" spc="0" normalizeH="0" baseline="0" noProof="1">
                  <a:solidFill>
                    <a:srgbClr val="000000"/>
                  </a:solidFill>
                  <a:latin typeface="+mn-lt"/>
                  <a:ea typeface="+mn-ea"/>
                  <a:cs typeface="黑体" panose="02010609060101010101" charset="-122"/>
                </a:rPr>
                <a:t>}</a:t>
              </a:r>
              <a:endParaRPr kumimoji="0" lang="en-US" altLang="zh-CN" sz="2800" b="1" i="0" u="none" strike="noStrike" kern="1200" cap="none" spc="0" normalizeH="0" baseline="0" noProof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黑体" panose="02010609060101010101" charset="-122"/>
              </a:endParaRPr>
            </a:p>
          </p:txBody>
        </p:sp>
        <p:sp>
          <p:nvSpPr>
            <p:cNvPr id="23" name="Text Box 21"/>
            <p:cNvSpPr txBox="1"/>
            <p:nvPr/>
          </p:nvSpPr>
          <p:spPr>
            <a:xfrm>
              <a:off x="1588757" y="360162"/>
              <a:ext cx="571513" cy="228306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ＭＳ 明朝"/>
                  <a:cs typeface="Times New Roman" panose="02020603050405020304"/>
                </a:rPr>
                <a:t>V*-{</a:t>
              </a:r>
              <a:r>
                <a:rPr kumimoji="0" lang="en-US" sz="2800" b="1" i="1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ＭＳ 明朝"/>
                  <a:cs typeface="Times New Roman" panose="02020603050405020304"/>
                </a:rPr>
                <a:t>u</a:t>
              </a: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ＭＳ 明朝"/>
                  <a:cs typeface="Times New Roman" panose="02020603050405020304"/>
                </a:rPr>
                <a:t>}</a:t>
              </a:r>
              <a:endParaRPr kumimoji="0" 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ＭＳ 明朝"/>
                <a:cs typeface="Times New Roman" panose="02020603050405020304"/>
              </a:endParaRPr>
            </a:p>
          </p:txBody>
        </p:sp>
        <p:sp>
          <p:nvSpPr>
            <p:cNvPr id="24" name="Text Box 22"/>
            <p:cNvSpPr txBox="1"/>
            <p:nvPr/>
          </p:nvSpPr>
          <p:spPr>
            <a:xfrm>
              <a:off x="183177" y="128804"/>
              <a:ext cx="260112" cy="228306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800" b="1" i="1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ＭＳ 明朝"/>
                  <a:cs typeface="Times New Roman" panose="02020603050405020304"/>
                </a:rPr>
                <a:t>u</a:t>
              </a:r>
              <a:endParaRPr kumimoji="0" 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ＭＳ 明朝"/>
                <a:cs typeface="Times New Roman" panose="02020603050405020304"/>
              </a:endParaRPr>
            </a:p>
          </p:txBody>
        </p:sp>
        <p:sp>
          <p:nvSpPr>
            <p:cNvPr id="32791" name="Oval 24"/>
            <p:cNvSpPr/>
            <p:nvPr/>
          </p:nvSpPr>
          <p:spPr>
            <a:xfrm>
              <a:off x="343152" y="170314"/>
              <a:ext cx="114180" cy="113543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23000" dir="5400000" rotWithShape="0">
                <a:srgbClr val="808080">
                  <a:alpha val="34998"/>
                </a:srgbClr>
              </a:outerShdw>
            </a:effectLst>
          </p:spPr>
          <p:txBody>
            <a:bodyPr anchor="ctr" anchorCtr="0"/>
            <a:p>
              <a:pPr>
                <a:buSzTx/>
              </a:pPr>
              <a:endParaRPr lang="en-US" altLang="x-none">
                <a:solidFill>
                  <a:srgbClr val="FFFFFF"/>
                </a:solidFill>
                <a:latin typeface="Times New Roman" panose="02020603050405020304" charset="0"/>
                <a:ea typeface="黑体" panose="02010609060101010101" charset="-122"/>
              </a:endParaRPr>
            </a:p>
          </p:txBody>
        </p:sp>
        <p:sp>
          <p:nvSpPr>
            <p:cNvPr id="32792" name="Oval 25"/>
            <p:cNvSpPr/>
            <p:nvPr/>
          </p:nvSpPr>
          <p:spPr>
            <a:xfrm>
              <a:off x="1101506" y="381528"/>
              <a:ext cx="114791" cy="114153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23000" dir="5400000" rotWithShape="0">
                <a:srgbClr val="808080">
                  <a:alpha val="34998"/>
                </a:srgbClr>
              </a:outerShdw>
            </a:effectLst>
          </p:spPr>
          <p:txBody>
            <a:bodyPr anchor="ctr" anchorCtr="0"/>
            <a:p>
              <a:pPr>
                <a:buSzTx/>
              </a:pPr>
              <a:endParaRPr lang="en-US" altLang="x-none">
                <a:solidFill>
                  <a:srgbClr val="FFFFFF"/>
                </a:solidFill>
                <a:latin typeface="Times New Roman" panose="02020603050405020304" charset="0"/>
                <a:ea typeface="黑体" panose="02010609060101010101" charset="-122"/>
              </a:endParaRPr>
            </a:p>
          </p:txBody>
        </p:sp>
        <p:sp>
          <p:nvSpPr>
            <p:cNvPr id="32793" name="Oval 26"/>
            <p:cNvSpPr/>
            <p:nvPr/>
          </p:nvSpPr>
          <p:spPr>
            <a:xfrm>
              <a:off x="1428172" y="435857"/>
              <a:ext cx="114181" cy="114153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23000" dir="5400000" rotWithShape="0">
                <a:srgbClr val="808080">
                  <a:alpha val="34998"/>
                </a:srgbClr>
              </a:outerShdw>
            </a:effectLst>
          </p:spPr>
          <p:txBody>
            <a:bodyPr anchor="ctr" anchorCtr="0"/>
            <a:p>
              <a:pPr>
                <a:buSzTx/>
              </a:pPr>
              <a:endParaRPr lang="en-US" altLang="x-none">
                <a:solidFill>
                  <a:srgbClr val="FFFFFF"/>
                </a:solidFill>
                <a:latin typeface="Times New Roman" panose="02020603050405020304" charset="0"/>
                <a:ea typeface="黑体" panose="02010609060101010101" charset="-122"/>
              </a:endParaRPr>
            </a:p>
          </p:txBody>
        </p:sp>
        <p:sp>
          <p:nvSpPr>
            <p:cNvPr id="32794" name="Oval 27"/>
            <p:cNvSpPr/>
            <p:nvPr/>
          </p:nvSpPr>
          <p:spPr>
            <a:xfrm>
              <a:off x="1588146" y="267985"/>
              <a:ext cx="114181" cy="114153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23000" dir="5400000" rotWithShape="0">
                <a:srgbClr val="808080">
                  <a:alpha val="34998"/>
                </a:srgbClr>
              </a:outerShdw>
            </a:effectLst>
          </p:spPr>
          <p:txBody>
            <a:bodyPr anchor="ctr" anchorCtr="0"/>
            <a:p>
              <a:pPr>
                <a:buSzTx/>
              </a:pPr>
              <a:endParaRPr lang="en-US" altLang="x-none">
                <a:solidFill>
                  <a:srgbClr val="FFFFFF"/>
                </a:solidFill>
                <a:latin typeface="Times New Roman" panose="02020603050405020304" charset="0"/>
                <a:ea typeface="黑体" panose="02010609060101010101" charset="-122"/>
              </a:endParaRPr>
            </a:p>
          </p:txBody>
        </p:sp>
        <p:cxnSp>
          <p:nvCxnSpPr>
            <p:cNvPr id="32795" name="Straight Connector 28"/>
            <p:cNvCxnSpPr/>
            <p:nvPr/>
          </p:nvCxnSpPr>
          <p:spPr>
            <a:xfrm>
              <a:off x="457332" y="242957"/>
              <a:ext cx="727214" cy="202057"/>
            </a:xfrm>
            <a:prstGeom prst="line">
              <a:avLst/>
            </a:prstGeom>
            <a:ln w="254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sp>
          <p:nvSpPr>
            <p:cNvPr id="32796" name="Freeform 29"/>
            <p:cNvSpPr/>
            <p:nvPr/>
          </p:nvSpPr>
          <p:spPr>
            <a:xfrm>
              <a:off x="414591" y="125751"/>
              <a:ext cx="1066702" cy="316210"/>
            </a:xfrm>
            <a:custGeom>
              <a:avLst/>
              <a:gdLst/>
              <a:ahLst/>
              <a:cxnLst>
                <a:cxn ang="0">
                  <a:pos x="0" y="70667"/>
                </a:cxn>
                <a:cxn ang="0">
                  <a:pos x="414714" y="2846"/>
                </a:cxn>
                <a:cxn ang="0">
                  <a:pos x="863284" y="155442"/>
                </a:cxn>
                <a:cxn ang="0">
                  <a:pos x="1066408" y="316513"/>
                </a:cxn>
              </a:cxnLst>
              <a:pathLst>
                <a:path w="1066800" h="316109">
                  <a:moveTo>
                    <a:pt x="0" y="70575"/>
                  </a:moveTo>
                  <a:cubicBezTo>
                    <a:pt x="135466" y="29653"/>
                    <a:pt x="270933" y="-11269"/>
                    <a:pt x="414866" y="2842"/>
                  </a:cubicBezTo>
                  <a:cubicBezTo>
                    <a:pt x="558799" y="16953"/>
                    <a:pt x="754944" y="103031"/>
                    <a:pt x="863600" y="155242"/>
                  </a:cubicBezTo>
                  <a:cubicBezTo>
                    <a:pt x="972256" y="207453"/>
                    <a:pt x="1066800" y="316109"/>
                    <a:pt x="1066800" y="316109"/>
                  </a:cubicBezTo>
                </a:path>
              </a:pathLst>
            </a:cu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/>
            <a:p>
              <a:endParaRPr lang="zh-CN" altLang="en-US"/>
            </a:p>
          </p:txBody>
        </p:sp>
        <p:sp>
          <p:nvSpPr>
            <p:cNvPr id="32797" name="Freeform 30"/>
            <p:cNvSpPr/>
            <p:nvPr/>
          </p:nvSpPr>
          <p:spPr>
            <a:xfrm>
              <a:off x="406653" y="0"/>
              <a:ext cx="1227287" cy="289350"/>
            </a:xfrm>
            <a:custGeom>
              <a:avLst/>
              <a:gdLst/>
              <a:ahLst/>
              <a:cxnLst>
                <a:cxn ang="0">
                  <a:pos x="0" y="187836"/>
                </a:cxn>
                <a:cxn ang="0">
                  <a:pos x="287511" y="1429"/>
                </a:cxn>
                <a:cxn ang="0">
                  <a:pos x="837164" y="111580"/>
                </a:cxn>
                <a:cxn ang="0">
                  <a:pos x="1226147" y="289512"/>
                </a:cxn>
              </a:cxnLst>
              <a:pathLst>
                <a:path w="1227667" h="289296">
                  <a:moveTo>
                    <a:pt x="0" y="187696"/>
                  </a:moveTo>
                  <a:cubicBezTo>
                    <a:pt x="74083" y="100912"/>
                    <a:pt x="148167" y="14129"/>
                    <a:pt x="287867" y="1429"/>
                  </a:cubicBezTo>
                  <a:cubicBezTo>
                    <a:pt x="427567" y="-11271"/>
                    <a:pt x="681567" y="63518"/>
                    <a:pt x="838200" y="111496"/>
                  </a:cubicBezTo>
                  <a:cubicBezTo>
                    <a:pt x="994833" y="159474"/>
                    <a:pt x="1227667" y="289296"/>
                    <a:pt x="1227667" y="289296"/>
                  </a:cubicBezTo>
                </a:path>
              </a:pathLst>
            </a:cu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20000" dir="5400000" rotWithShape="0">
                <a:srgbClr val="000000">
                  <a:alpha val="37999"/>
                </a:srgbClr>
              </a:outerShdw>
            </a:effectLst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0"/>
              <a:t>定理</a:t>
            </a:r>
            <a:r>
              <a:rPr lang="en-US" altLang="zh-CN" b="0"/>
              <a:t>13.3</a:t>
            </a:r>
            <a:r>
              <a:rPr lang="zh-CN" altLang="en-US" b="0"/>
              <a:t>的推论</a:t>
            </a:r>
            <a:endParaRPr lang="zh-CN" altLang="en-US" b="0"/>
          </a:p>
        </p:txBody>
      </p:sp>
      <p:sp>
        <p:nvSpPr>
          <p:cNvPr id="34818" name="Rectangle 3"/>
          <p:cNvSpPr>
            <a:spLocks noGrp="1"/>
          </p:cNvSpPr>
          <p:nvPr>
            <p:ph idx="1"/>
          </p:nvPr>
        </p:nvSpPr>
        <p:spPr>
          <a:xfrm>
            <a:off x="323850" y="1484313"/>
            <a:ext cx="8496300" cy="2952750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lnSpc>
                <a:spcPct val="100000"/>
              </a:lnSpc>
              <a:buNone/>
            </a:pPr>
            <a:r>
              <a:rPr lang="zh-CN" altLang="en-US">
                <a:solidFill>
                  <a:schemeClr val="hlink"/>
                </a:solidFill>
              </a:rPr>
              <a:t>例 </a:t>
            </a:r>
            <a:r>
              <a:rPr lang="zh-CN" altLang="en-US"/>
              <a:t> </a:t>
            </a:r>
            <a:r>
              <a:rPr lang="zh-CN" altLang="en-US">
                <a:solidFill>
                  <a:schemeClr val="tx2"/>
                </a:solidFill>
              </a:rPr>
              <a:t>最大独立集有</a:t>
            </a:r>
            <a:r>
              <a:rPr lang="en-US" altLang="zh-CN">
                <a:solidFill>
                  <a:schemeClr val="tx2"/>
                </a:solidFill>
              </a:rPr>
              <a:t>{</a:t>
            </a:r>
            <a:r>
              <a:rPr lang="en-US" altLang="zh-CN" i="1">
                <a:solidFill>
                  <a:schemeClr val="tx2"/>
                </a:solidFill>
              </a:rPr>
              <a:t>v</a:t>
            </a:r>
            <a:r>
              <a:rPr lang="en-US" altLang="zh-CN" baseline="-25000">
                <a:solidFill>
                  <a:schemeClr val="tx2"/>
                </a:solidFill>
              </a:rPr>
              <a:t>1</a:t>
            </a:r>
            <a:r>
              <a:rPr lang="en-US" altLang="zh-CN">
                <a:solidFill>
                  <a:schemeClr val="tx2"/>
                </a:solidFill>
              </a:rPr>
              <a:t>, </a:t>
            </a:r>
            <a:r>
              <a:rPr lang="en-US" altLang="zh-CN" i="1">
                <a:solidFill>
                  <a:schemeClr val="tx2"/>
                </a:solidFill>
              </a:rPr>
              <a:t>v</a:t>
            </a:r>
            <a:r>
              <a:rPr lang="en-US" altLang="zh-CN" baseline="-25000">
                <a:solidFill>
                  <a:schemeClr val="tx2"/>
                </a:solidFill>
              </a:rPr>
              <a:t>3</a:t>
            </a:r>
            <a:r>
              <a:rPr lang="en-US" altLang="zh-CN">
                <a:solidFill>
                  <a:schemeClr val="tx2"/>
                </a:solidFill>
              </a:rPr>
              <a:t>, </a:t>
            </a:r>
            <a:r>
              <a:rPr lang="en-US" altLang="zh-CN" i="1">
                <a:solidFill>
                  <a:schemeClr val="tx2"/>
                </a:solidFill>
              </a:rPr>
              <a:t>v</a:t>
            </a:r>
            <a:r>
              <a:rPr lang="en-US" altLang="zh-CN" baseline="-25000">
                <a:solidFill>
                  <a:schemeClr val="tx2"/>
                </a:solidFill>
              </a:rPr>
              <a:t>5</a:t>
            </a:r>
            <a:r>
              <a:rPr lang="en-US" altLang="zh-CN">
                <a:solidFill>
                  <a:schemeClr val="tx2"/>
                </a:solidFill>
              </a:rPr>
              <a:t>}</a:t>
            </a:r>
            <a:r>
              <a:rPr lang="zh-CN" altLang="en-US">
                <a:solidFill>
                  <a:schemeClr val="tx2"/>
                </a:solidFill>
              </a:rPr>
              <a:t>和</a:t>
            </a:r>
            <a:r>
              <a:rPr lang="en-US" altLang="zh-CN">
                <a:solidFill>
                  <a:schemeClr val="tx2"/>
                </a:solidFill>
              </a:rPr>
              <a:t>{</a:t>
            </a:r>
            <a:r>
              <a:rPr lang="en-US" altLang="zh-CN" i="1">
                <a:solidFill>
                  <a:schemeClr val="tx2"/>
                </a:solidFill>
              </a:rPr>
              <a:t>v</a:t>
            </a:r>
            <a:r>
              <a:rPr lang="en-US" altLang="zh-CN" baseline="-25000">
                <a:solidFill>
                  <a:schemeClr val="tx2"/>
                </a:solidFill>
              </a:rPr>
              <a:t>2</a:t>
            </a:r>
            <a:r>
              <a:rPr lang="en-US" altLang="zh-CN">
                <a:solidFill>
                  <a:schemeClr val="tx2"/>
                </a:solidFill>
              </a:rPr>
              <a:t>, </a:t>
            </a:r>
            <a:r>
              <a:rPr lang="en-US" altLang="zh-CN" i="1">
                <a:solidFill>
                  <a:schemeClr val="tx2"/>
                </a:solidFill>
              </a:rPr>
              <a:t>v</a:t>
            </a:r>
            <a:r>
              <a:rPr lang="en-US" altLang="zh-CN" baseline="-25000">
                <a:solidFill>
                  <a:schemeClr val="tx2"/>
                </a:solidFill>
              </a:rPr>
              <a:t>4</a:t>
            </a:r>
            <a:r>
              <a:rPr lang="en-US" altLang="zh-CN">
                <a:solidFill>
                  <a:schemeClr val="tx2"/>
                </a:solidFill>
              </a:rPr>
              <a:t>, </a:t>
            </a:r>
            <a:r>
              <a:rPr lang="en-US" altLang="zh-CN" i="1">
                <a:solidFill>
                  <a:schemeClr val="tx2"/>
                </a:solidFill>
              </a:rPr>
              <a:t>v</a:t>
            </a:r>
            <a:r>
              <a:rPr lang="en-US" altLang="zh-CN" baseline="-25000">
                <a:solidFill>
                  <a:schemeClr val="tx2"/>
                </a:solidFill>
              </a:rPr>
              <a:t>6</a:t>
            </a:r>
            <a:r>
              <a:rPr lang="en-US" altLang="zh-CN">
                <a:solidFill>
                  <a:schemeClr val="tx2"/>
                </a:solidFill>
              </a:rPr>
              <a:t>}, </a:t>
            </a:r>
            <a:r>
              <a:rPr lang="en-US" altLang="zh-CN">
                <a:solidFill>
                  <a:schemeClr val="tx2"/>
                </a:solidFill>
                <a:sym typeface="Symbol" panose="05050102010706020507" charset="2"/>
              </a:rPr>
              <a:t></a:t>
            </a:r>
            <a:r>
              <a:rPr lang="en-US" altLang="zh-CN" baseline="-25000">
                <a:solidFill>
                  <a:schemeClr val="tx2"/>
                </a:solidFill>
              </a:rPr>
              <a:t>0</a:t>
            </a:r>
            <a:r>
              <a:rPr lang="en-US" altLang="zh-CN">
                <a:solidFill>
                  <a:schemeClr val="tx2"/>
                </a:solidFill>
              </a:rPr>
              <a:t>=3</a:t>
            </a:r>
            <a:endParaRPr lang="en-US" altLang="zh-CN">
              <a:solidFill>
                <a:schemeClr val="tx2"/>
              </a:solidFill>
            </a:endParaRPr>
          </a:p>
          <a:p>
            <a:pPr marL="0" indent="0" eaLnBrk="1" hangingPunct="1">
              <a:lnSpc>
                <a:spcPct val="100000"/>
              </a:lnSpc>
              <a:buNone/>
            </a:pPr>
            <a:r>
              <a:rPr lang="en-US" altLang="zh-CN">
                <a:solidFill>
                  <a:schemeClr val="tx2"/>
                </a:solidFill>
              </a:rPr>
              <a:t>  </a:t>
            </a:r>
            <a:r>
              <a:rPr lang="zh-CN" altLang="en-US">
                <a:solidFill>
                  <a:schemeClr val="tx2"/>
                </a:solidFill>
              </a:rPr>
              <a:t>从而最小点覆盖集有</a:t>
            </a:r>
            <a:r>
              <a:rPr lang="en-US" altLang="zh-CN">
                <a:solidFill>
                  <a:schemeClr val="tx2"/>
                </a:solidFill>
              </a:rPr>
              <a:t>{</a:t>
            </a:r>
            <a:r>
              <a:rPr lang="en-US" altLang="zh-CN" i="1">
                <a:solidFill>
                  <a:schemeClr val="tx2"/>
                </a:solidFill>
              </a:rPr>
              <a:t>v</a:t>
            </a:r>
            <a:r>
              <a:rPr lang="en-US" altLang="zh-CN" baseline="-25000">
                <a:solidFill>
                  <a:schemeClr val="tx2"/>
                </a:solidFill>
              </a:rPr>
              <a:t>0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en-US" altLang="zh-CN" baseline="-25000">
                <a:solidFill>
                  <a:schemeClr val="tx2"/>
                </a:solidFill>
              </a:rPr>
              <a:t> </a:t>
            </a:r>
            <a:r>
              <a:rPr lang="en-US" altLang="zh-CN" i="1">
                <a:solidFill>
                  <a:schemeClr val="tx2"/>
                </a:solidFill>
              </a:rPr>
              <a:t>v</a:t>
            </a:r>
            <a:r>
              <a:rPr lang="en-US" altLang="zh-CN" baseline="-25000">
                <a:solidFill>
                  <a:schemeClr val="tx2"/>
                </a:solidFill>
              </a:rPr>
              <a:t>2</a:t>
            </a:r>
            <a:r>
              <a:rPr lang="en-US" altLang="zh-CN">
                <a:solidFill>
                  <a:schemeClr val="tx2"/>
                </a:solidFill>
              </a:rPr>
              <a:t>, </a:t>
            </a:r>
            <a:r>
              <a:rPr lang="en-US" altLang="zh-CN" i="1">
                <a:solidFill>
                  <a:schemeClr val="tx2"/>
                </a:solidFill>
              </a:rPr>
              <a:t>v</a:t>
            </a:r>
            <a:r>
              <a:rPr lang="en-US" altLang="zh-CN" baseline="-25000">
                <a:solidFill>
                  <a:schemeClr val="tx2"/>
                </a:solidFill>
              </a:rPr>
              <a:t>4</a:t>
            </a:r>
            <a:r>
              <a:rPr lang="en-US" altLang="zh-CN">
                <a:solidFill>
                  <a:schemeClr val="tx2"/>
                </a:solidFill>
              </a:rPr>
              <a:t>, </a:t>
            </a:r>
            <a:r>
              <a:rPr lang="en-US" altLang="zh-CN" i="1">
                <a:solidFill>
                  <a:schemeClr val="tx2"/>
                </a:solidFill>
              </a:rPr>
              <a:t>v</a:t>
            </a:r>
            <a:r>
              <a:rPr lang="en-US" altLang="zh-CN" baseline="-25000">
                <a:solidFill>
                  <a:schemeClr val="tx2"/>
                </a:solidFill>
              </a:rPr>
              <a:t>6</a:t>
            </a:r>
            <a:r>
              <a:rPr lang="en-US" altLang="zh-CN">
                <a:solidFill>
                  <a:schemeClr val="tx2"/>
                </a:solidFill>
              </a:rPr>
              <a:t>}</a:t>
            </a:r>
            <a:r>
              <a:rPr lang="zh-CN" altLang="en-US">
                <a:solidFill>
                  <a:schemeClr val="tx2"/>
                </a:solidFill>
              </a:rPr>
              <a:t>和</a:t>
            </a:r>
            <a:r>
              <a:rPr lang="en-US" altLang="zh-CN">
                <a:solidFill>
                  <a:schemeClr val="tx2"/>
                </a:solidFill>
              </a:rPr>
              <a:t>{</a:t>
            </a:r>
            <a:r>
              <a:rPr lang="en-US" altLang="zh-CN" i="1">
                <a:solidFill>
                  <a:schemeClr val="tx2"/>
                </a:solidFill>
              </a:rPr>
              <a:t>v</a:t>
            </a:r>
            <a:r>
              <a:rPr lang="en-US" altLang="zh-CN" baseline="-25000">
                <a:solidFill>
                  <a:schemeClr val="tx2"/>
                </a:solidFill>
              </a:rPr>
              <a:t>0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en-US" altLang="zh-CN" baseline="-25000">
                <a:solidFill>
                  <a:schemeClr val="tx2"/>
                </a:solidFill>
              </a:rPr>
              <a:t> </a:t>
            </a:r>
            <a:r>
              <a:rPr lang="en-US" altLang="zh-CN" i="1">
                <a:solidFill>
                  <a:schemeClr val="tx2"/>
                </a:solidFill>
              </a:rPr>
              <a:t>v</a:t>
            </a:r>
            <a:r>
              <a:rPr lang="en-US" altLang="zh-CN" baseline="-25000">
                <a:solidFill>
                  <a:schemeClr val="tx2"/>
                </a:solidFill>
              </a:rPr>
              <a:t>1</a:t>
            </a:r>
            <a:r>
              <a:rPr lang="en-US" altLang="zh-CN">
                <a:solidFill>
                  <a:schemeClr val="tx2"/>
                </a:solidFill>
              </a:rPr>
              <a:t>, </a:t>
            </a:r>
            <a:r>
              <a:rPr lang="en-US" altLang="zh-CN" i="1">
                <a:solidFill>
                  <a:schemeClr val="tx2"/>
                </a:solidFill>
              </a:rPr>
              <a:t>v</a:t>
            </a:r>
            <a:r>
              <a:rPr lang="en-US" altLang="zh-CN" baseline="-25000">
                <a:solidFill>
                  <a:schemeClr val="tx2"/>
                </a:solidFill>
              </a:rPr>
              <a:t>3</a:t>
            </a:r>
            <a:r>
              <a:rPr lang="en-US" altLang="zh-CN">
                <a:solidFill>
                  <a:schemeClr val="tx2"/>
                </a:solidFill>
              </a:rPr>
              <a:t>, </a:t>
            </a:r>
            <a:r>
              <a:rPr lang="en-US" altLang="zh-CN" i="1">
                <a:solidFill>
                  <a:schemeClr val="tx2"/>
                </a:solidFill>
              </a:rPr>
              <a:t>v</a:t>
            </a:r>
            <a:r>
              <a:rPr lang="en-US" altLang="zh-CN" baseline="-25000">
                <a:solidFill>
                  <a:schemeClr val="tx2"/>
                </a:solidFill>
              </a:rPr>
              <a:t>5</a:t>
            </a:r>
            <a:r>
              <a:rPr lang="en-US" altLang="zh-CN">
                <a:solidFill>
                  <a:schemeClr val="tx2"/>
                </a:solidFill>
              </a:rPr>
              <a:t>}, </a:t>
            </a:r>
            <a:endParaRPr lang="en-US" altLang="zh-CN">
              <a:solidFill>
                <a:schemeClr val="tx2"/>
              </a:solidFill>
            </a:endParaRPr>
          </a:p>
          <a:p>
            <a:pPr marL="0" indent="0" eaLnBrk="1" hangingPunct="1">
              <a:lnSpc>
                <a:spcPct val="100000"/>
              </a:lnSpc>
              <a:buNone/>
            </a:pPr>
            <a:r>
              <a:rPr lang="en-US" altLang="zh-CN">
                <a:solidFill>
                  <a:schemeClr val="tx2"/>
                </a:solidFill>
                <a:sym typeface="Symbol" panose="05050102010706020507" charset="2"/>
              </a:rPr>
              <a:t>  </a:t>
            </a:r>
            <a:r>
              <a:rPr lang="en-US" altLang="zh-CN" baseline="-25000">
                <a:solidFill>
                  <a:schemeClr val="tx2"/>
                </a:solidFill>
              </a:rPr>
              <a:t>0</a:t>
            </a:r>
            <a:r>
              <a:rPr lang="en-US" altLang="zh-CN">
                <a:solidFill>
                  <a:schemeClr val="tx2"/>
                </a:solidFill>
              </a:rPr>
              <a:t>=4.</a:t>
            </a:r>
            <a:endParaRPr lang="en-US" altLang="zh-CN">
              <a:solidFill>
                <a:schemeClr val="tx2"/>
              </a:solidFill>
            </a:endParaRPr>
          </a:p>
        </p:txBody>
      </p:sp>
      <p:grpSp>
        <p:nvGrpSpPr>
          <p:cNvPr id="34819" name="Group 1"/>
          <p:cNvGrpSpPr/>
          <p:nvPr/>
        </p:nvGrpSpPr>
        <p:grpSpPr>
          <a:xfrm>
            <a:off x="684213" y="3398838"/>
            <a:ext cx="2868612" cy="2406650"/>
            <a:chOff x="683568" y="3140968"/>
            <a:chExt cx="2868612" cy="2407220"/>
          </a:xfrm>
        </p:grpSpPr>
        <p:grpSp>
          <p:nvGrpSpPr>
            <p:cNvPr id="34820" name="Group 4"/>
            <p:cNvGrpSpPr/>
            <p:nvPr/>
          </p:nvGrpSpPr>
          <p:grpSpPr>
            <a:xfrm>
              <a:off x="683568" y="3212976"/>
              <a:ext cx="2868612" cy="2335212"/>
              <a:chOff x="703" y="1298"/>
              <a:chExt cx="1807" cy="1471"/>
            </a:xfrm>
          </p:grpSpPr>
          <p:grpSp>
            <p:nvGrpSpPr>
              <p:cNvPr id="34821" name="Group 5"/>
              <p:cNvGrpSpPr/>
              <p:nvPr/>
            </p:nvGrpSpPr>
            <p:grpSpPr>
              <a:xfrm>
                <a:off x="975" y="1298"/>
                <a:ext cx="1535" cy="1349"/>
                <a:chOff x="385" y="1447"/>
                <a:chExt cx="1535" cy="1349"/>
              </a:xfrm>
            </p:grpSpPr>
            <p:grpSp>
              <p:nvGrpSpPr>
                <p:cNvPr id="34822" name="Group 6"/>
                <p:cNvGrpSpPr/>
                <p:nvPr/>
              </p:nvGrpSpPr>
              <p:grpSpPr>
                <a:xfrm>
                  <a:off x="385" y="1661"/>
                  <a:ext cx="1315" cy="1135"/>
                  <a:chOff x="476" y="1933"/>
                  <a:chExt cx="1315" cy="1135"/>
                </a:xfrm>
              </p:grpSpPr>
              <p:sp>
                <p:nvSpPr>
                  <p:cNvPr id="34823" name="Line 7"/>
                  <p:cNvSpPr/>
                  <p:nvPr/>
                </p:nvSpPr>
                <p:spPr>
                  <a:xfrm flipV="1">
                    <a:off x="839" y="2523"/>
                    <a:ext cx="227" cy="40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4824" name="Line 8"/>
                  <p:cNvSpPr/>
                  <p:nvPr/>
                </p:nvSpPr>
                <p:spPr>
                  <a:xfrm>
                    <a:off x="1112" y="2523"/>
                    <a:ext cx="317" cy="45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4825" name="Line 9"/>
                  <p:cNvSpPr/>
                  <p:nvPr/>
                </p:nvSpPr>
                <p:spPr>
                  <a:xfrm flipV="1">
                    <a:off x="612" y="2478"/>
                    <a:ext cx="1179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4826" name="Line 10"/>
                  <p:cNvSpPr/>
                  <p:nvPr/>
                </p:nvSpPr>
                <p:spPr>
                  <a:xfrm>
                    <a:off x="884" y="2069"/>
                    <a:ext cx="210" cy="36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4827" name="Oval 11"/>
                  <p:cNvSpPr/>
                  <p:nvPr/>
                </p:nvSpPr>
                <p:spPr>
                  <a:xfrm>
                    <a:off x="1021" y="2432"/>
                    <a:ext cx="137" cy="137"/>
                  </a:xfrm>
                  <a:prstGeom prst="ellipse">
                    <a:avLst/>
                  </a:prstGeom>
                  <a:solidFill>
                    <a:srgbClr val="FF00FF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4828" name="Oval 12"/>
                  <p:cNvSpPr/>
                  <p:nvPr/>
                </p:nvSpPr>
                <p:spPr>
                  <a:xfrm>
                    <a:off x="749" y="2931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4829" name="Oval 13"/>
                  <p:cNvSpPr/>
                  <p:nvPr/>
                </p:nvSpPr>
                <p:spPr>
                  <a:xfrm>
                    <a:off x="1382" y="2931"/>
                    <a:ext cx="137" cy="137"/>
                  </a:xfrm>
                  <a:prstGeom prst="ellipse">
                    <a:avLst/>
                  </a:prstGeom>
                  <a:solidFill>
                    <a:srgbClr val="FF00FF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4830" name="Oval 14"/>
                  <p:cNvSpPr/>
                  <p:nvPr/>
                </p:nvSpPr>
                <p:spPr>
                  <a:xfrm>
                    <a:off x="1638" y="2395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4831" name="Oval 15"/>
                  <p:cNvSpPr/>
                  <p:nvPr/>
                </p:nvSpPr>
                <p:spPr>
                  <a:xfrm>
                    <a:off x="476" y="2431"/>
                    <a:ext cx="137" cy="137"/>
                  </a:xfrm>
                  <a:prstGeom prst="ellipse">
                    <a:avLst/>
                  </a:prstGeom>
                  <a:solidFill>
                    <a:srgbClr val="FF00FF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4832" name="Oval 16"/>
                  <p:cNvSpPr/>
                  <p:nvPr/>
                </p:nvSpPr>
                <p:spPr>
                  <a:xfrm>
                    <a:off x="793" y="1933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4833" name="Line 17"/>
                  <p:cNvSpPr/>
                  <p:nvPr/>
                </p:nvSpPr>
                <p:spPr>
                  <a:xfrm flipV="1">
                    <a:off x="567" y="2069"/>
                    <a:ext cx="272" cy="36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4834" name="Line 18"/>
                  <p:cNvSpPr/>
                  <p:nvPr/>
                </p:nvSpPr>
                <p:spPr>
                  <a:xfrm>
                    <a:off x="1474" y="2024"/>
                    <a:ext cx="227" cy="40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4835" name="Line 19"/>
                  <p:cNvSpPr/>
                  <p:nvPr/>
                </p:nvSpPr>
                <p:spPr>
                  <a:xfrm>
                    <a:off x="567" y="2568"/>
                    <a:ext cx="227" cy="39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4836" name="Line 20"/>
                  <p:cNvSpPr/>
                  <p:nvPr/>
                </p:nvSpPr>
                <p:spPr>
                  <a:xfrm flipV="1">
                    <a:off x="1474" y="2523"/>
                    <a:ext cx="227" cy="45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4837" name="Line 21"/>
                  <p:cNvSpPr/>
                  <p:nvPr/>
                </p:nvSpPr>
                <p:spPr>
                  <a:xfrm>
                    <a:off x="876" y="3010"/>
                    <a:ext cx="507" cy="12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4838" name="Oval 22"/>
                  <p:cNvSpPr/>
                  <p:nvPr/>
                </p:nvSpPr>
                <p:spPr>
                  <a:xfrm>
                    <a:off x="1382" y="1933"/>
                    <a:ext cx="137" cy="137"/>
                  </a:xfrm>
                  <a:prstGeom prst="ellipse">
                    <a:avLst/>
                  </a:prstGeom>
                  <a:solidFill>
                    <a:srgbClr val="FF00FF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4839" name="Line 23"/>
                  <p:cNvSpPr/>
                  <p:nvPr/>
                </p:nvSpPr>
                <p:spPr>
                  <a:xfrm flipH="1">
                    <a:off x="1111" y="2069"/>
                    <a:ext cx="318" cy="36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4840" name="Line 24"/>
                  <p:cNvSpPr/>
                  <p:nvPr/>
                </p:nvSpPr>
                <p:spPr>
                  <a:xfrm>
                    <a:off x="930" y="2024"/>
                    <a:ext cx="453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4841" name="Text Box 25"/>
                <p:cNvSpPr txBox="1"/>
                <p:nvPr/>
              </p:nvSpPr>
              <p:spPr>
                <a:xfrm>
                  <a:off x="1383" y="1447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1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4842" name="Text Box 26"/>
                <p:cNvSpPr txBox="1"/>
                <p:nvPr/>
              </p:nvSpPr>
              <p:spPr>
                <a:xfrm>
                  <a:off x="1020" y="2115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0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4843" name="Text Box 27"/>
                <p:cNvSpPr txBox="1"/>
                <p:nvPr/>
              </p:nvSpPr>
              <p:spPr>
                <a:xfrm>
                  <a:off x="1655" y="2024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2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4844" name="Rectangle 28"/>
              <p:cNvSpPr/>
              <p:nvPr/>
            </p:nvSpPr>
            <p:spPr>
              <a:xfrm>
                <a:off x="2018" y="2481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3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45" name="Rectangle 29"/>
              <p:cNvSpPr/>
              <p:nvPr/>
            </p:nvSpPr>
            <p:spPr>
              <a:xfrm>
                <a:off x="703" y="1888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5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4846" name="Text Box 25"/>
            <p:cNvSpPr txBox="1"/>
            <p:nvPr/>
          </p:nvSpPr>
          <p:spPr>
            <a:xfrm>
              <a:off x="1259632" y="3140968"/>
              <a:ext cx="461267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6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4847" name="Text Box 25"/>
            <p:cNvSpPr txBox="1"/>
            <p:nvPr/>
          </p:nvSpPr>
          <p:spPr>
            <a:xfrm>
              <a:off x="1187624" y="5013176"/>
              <a:ext cx="461267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团</a:t>
            </a:r>
            <a:r>
              <a:rPr kumimoji="0" lang="en-US" altLang="zh-CN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(clique)</a:t>
            </a:r>
            <a:endParaRPr kumimoji="0" lang="en-US" altLang="zh-CN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686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/>
              <a:t>无向图</a:t>
            </a:r>
            <a:r>
              <a:rPr lang="en-US" altLang="zh-CN"/>
              <a:t>G=&lt;V,E&gt;, V*⊆V</a:t>
            </a:r>
            <a:endParaRPr lang="en-US" altLang="zh-CN"/>
          </a:p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团</a:t>
            </a:r>
            <a:r>
              <a:rPr lang="en-US" altLang="zh-CN">
                <a:solidFill>
                  <a:srgbClr val="FF0000"/>
                </a:solidFill>
              </a:rPr>
              <a:t>:</a:t>
            </a:r>
            <a:r>
              <a:rPr lang="en-US" altLang="zh-CN"/>
              <a:t> G[V*]</a:t>
            </a:r>
            <a:r>
              <a:rPr lang="zh-CN" altLang="en-US"/>
              <a:t>是完全子图</a:t>
            </a:r>
            <a:endParaRPr lang="zh-CN" altLang="en-US"/>
          </a:p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极大团</a:t>
            </a:r>
            <a:r>
              <a:rPr lang="en-US" altLang="zh-CN">
                <a:solidFill>
                  <a:srgbClr val="FF0000"/>
                </a:solidFill>
              </a:rPr>
              <a:t>:</a:t>
            </a:r>
            <a:r>
              <a:rPr lang="en-US" altLang="zh-CN"/>
              <a:t> V*</a:t>
            </a:r>
            <a:r>
              <a:rPr lang="zh-CN" altLang="en-US"/>
              <a:t>是团</a:t>
            </a:r>
            <a:r>
              <a:rPr lang="en-US" altLang="zh-CN"/>
              <a:t>, </a:t>
            </a:r>
            <a:r>
              <a:rPr lang="zh-CN" altLang="en-US"/>
              <a:t>其真母集都不是</a:t>
            </a:r>
            <a:endParaRPr lang="zh-CN" altLang="en-US"/>
          </a:p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最大团</a:t>
            </a:r>
            <a:r>
              <a:rPr lang="en-US" altLang="zh-CN">
                <a:solidFill>
                  <a:srgbClr val="FF0000"/>
                </a:solidFill>
              </a:rPr>
              <a:t>:</a:t>
            </a:r>
            <a:r>
              <a:rPr lang="en-US" altLang="zh-CN"/>
              <a:t> |V*|</a:t>
            </a:r>
            <a:r>
              <a:rPr lang="zh-CN" altLang="en-US"/>
              <a:t>最大的团</a:t>
            </a:r>
            <a:endParaRPr lang="zh-CN" altLang="en-US"/>
          </a:p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团数</a:t>
            </a:r>
            <a:r>
              <a:rPr lang="en-US" altLang="zh-CN">
                <a:solidFill>
                  <a:srgbClr val="FF0000"/>
                </a:solidFill>
              </a:rPr>
              <a:t>: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charset="2"/>
              </a:rPr>
              <a:t></a:t>
            </a:r>
            <a:r>
              <a:rPr lang="en-US" altLang="zh-CN" baseline="-25000"/>
              <a:t>0</a:t>
            </a:r>
            <a:r>
              <a:rPr lang="en-US" altLang="zh-CN"/>
              <a:t>(G)=|V*|, V*</a:t>
            </a:r>
            <a:r>
              <a:rPr lang="zh-CN" altLang="en-US"/>
              <a:t>是最大团</a:t>
            </a:r>
            <a:endParaRPr lang="zh-CN" altLang="en-US"/>
          </a:p>
        </p:txBody>
      </p:sp>
    </p:spTree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0"/>
              <a:t>团</a:t>
            </a:r>
            <a:r>
              <a:rPr lang="en-US" altLang="zh-CN" b="0"/>
              <a:t>(</a:t>
            </a:r>
            <a:r>
              <a:rPr lang="zh-CN" altLang="en-US" b="0"/>
              <a:t>例</a:t>
            </a:r>
            <a:r>
              <a:rPr lang="en-US" altLang="zh-CN" b="0"/>
              <a:t>)</a:t>
            </a:r>
            <a:endParaRPr lang="en-US" altLang="zh-CN" b="0"/>
          </a:p>
        </p:txBody>
      </p:sp>
      <p:sp>
        <p:nvSpPr>
          <p:cNvPr id="38914" name="Rectangle 3"/>
          <p:cNvSpPr>
            <a:spLocks noGrp="1"/>
          </p:cNvSpPr>
          <p:nvPr>
            <p:ph idx="1"/>
          </p:nvPr>
        </p:nvSpPr>
        <p:spPr>
          <a:xfrm>
            <a:off x="395288" y="5805488"/>
            <a:ext cx="8496300" cy="936625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buNone/>
            </a:pPr>
            <a:r>
              <a:rPr lang="en-US" altLang="zh-CN"/>
              <a:t> {</a:t>
            </a:r>
            <a:r>
              <a:rPr lang="en-US" altLang="zh-CN" i="1"/>
              <a:t>v</a:t>
            </a:r>
            <a:r>
              <a:rPr lang="en-US" altLang="zh-CN" baseline="-25000"/>
              <a:t>0</a:t>
            </a:r>
            <a:r>
              <a:rPr lang="en-US" altLang="zh-CN"/>
              <a:t>, 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v</a:t>
            </a:r>
            <a:r>
              <a:rPr lang="en-US" altLang="zh-CN" baseline="-25000"/>
              <a:t>2</a:t>
            </a:r>
            <a:r>
              <a:rPr lang="en-US" altLang="zh-CN"/>
              <a:t>}, {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v</a:t>
            </a:r>
            <a:r>
              <a:rPr lang="en-US" altLang="zh-CN" baseline="-25000"/>
              <a:t>2</a:t>
            </a:r>
            <a:r>
              <a:rPr lang="en-US" altLang="zh-CN"/>
              <a:t>}, {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}, </a:t>
            </a:r>
            <a:r>
              <a:rPr lang="en-US" altLang="zh-CN">
                <a:sym typeface="Symbol" panose="05050102010706020507" charset="2"/>
              </a:rPr>
              <a:t></a:t>
            </a:r>
            <a:r>
              <a:rPr lang="en-US" altLang="zh-CN" baseline="-25000"/>
              <a:t>0</a:t>
            </a:r>
            <a:r>
              <a:rPr lang="en-US" altLang="zh-CN"/>
              <a:t>=3</a:t>
            </a:r>
            <a:endParaRPr lang="en-US" altLang="zh-CN"/>
          </a:p>
        </p:txBody>
      </p:sp>
      <p:grpSp>
        <p:nvGrpSpPr>
          <p:cNvPr id="38915" name="Group 11"/>
          <p:cNvGrpSpPr/>
          <p:nvPr/>
        </p:nvGrpSpPr>
        <p:grpSpPr>
          <a:xfrm>
            <a:off x="755650" y="1557338"/>
            <a:ext cx="2016125" cy="935037"/>
            <a:chOff x="748" y="1616"/>
            <a:chExt cx="1270" cy="589"/>
          </a:xfrm>
        </p:grpSpPr>
        <p:sp>
          <p:nvSpPr>
            <p:cNvPr id="38916" name="Oval 4"/>
            <p:cNvSpPr/>
            <p:nvPr/>
          </p:nvSpPr>
          <p:spPr>
            <a:xfrm>
              <a:off x="748" y="161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8917" name="Line 5"/>
            <p:cNvSpPr/>
            <p:nvPr/>
          </p:nvSpPr>
          <p:spPr>
            <a:xfrm>
              <a:off x="884" y="1688"/>
              <a:ext cx="108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18" name="Oval 6"/>
            <p:cNvSpPr/>
            <p:nvPr/>
          </p:nvSpPr>
          <p:spPr>
            <a:xfrm>
              <a:off x="1338" y="1616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8919" name="Oval 7"/>
            <p:cNvSpPr/>
            <p:nvPr/>
          </p:nvSpPr>
          <p:spPr>
            <a:xfrm>
              <a:off x="1882" y="1616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8920" name="Oval 8"/>
            <p:cNvSpPr/>
            <p:nvPr/>
          </p:nvSpPr>
          <p:spPr>
            <a:xfrm>
              <a:off x="1020" y="2069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8921" name="Line 9"/>
            <p:cNvSpPr/>
            <p:nvPr/>
          </p:nvSpPr>
          <p:spPr>
            <a:xfrm>
              <a:off x="839" y="1752"/>
              <a:ext cx="227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22" name="Line 10"/>
            <p:cNvSpPr/>
            <p:nvPr/>
          </p:nvSpPr>
          <p:spPr>
            <a:xfrm flipV="1">
              <a:off x="1156" y="1752"/>
              <a:ext cx="227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8923" name="Group 19"/>
          <p:cNvGrpSpPr/>
          <p:nvPr/>
        </p:nvGrpSpPr>
        <p:grpSpPr>
          <a:xfrm>
            <a:off x="3492500" y="1557338"/>
            <a:ext cx="2016125" cy="935037"/>
            <a:chOff x="2290" y="1616"/>
            <a:chExt cx="1270" cy="589"/>
          </a:xfrm>
        </p:grpSpPr>
        <p:sp>
          <p:nvSpPr>
            <p:cNvPr id="38924" name="Oval 12"/>
            <p:cNvSpPr/>
            <p:nvPr/>
          </p:nvSpPr>
          <p:spPr>
            <a:xfrm>
              <a:off x="2290" y="1616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8925" name="Line 13"/>
            <p:cNvSpPr/>
            <p:nvPr/>
          </p:nvSpPr>
          <p:spPr>
            <a:xfrm>
              <a:off x="2426" y="1688"/>
              <a:ext cx="108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26" name="Oval 14"/>
            <p:cNvSpPr/>
            <p:nvPr/>
          </p:nvSpPr>
          <p:spPr>
            <a:xfrm>
              <a:off x="2880" y="161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8927" name="Oval 15"/>
            <p:cNvSpPr/>
            <p:nvPr/>
          </p:nvSpPr>
          <p:spPr>
            <a:xfrm>
              <a:off x="3424" y="161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8928" name="Oval 16"/>
            <p:cNvSpPr/>
            <p:nvPr/>
          </p:nvSpPr>
          <p:spPr>
            <a:xfrm>
              <a:off x="2562" y="2069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8929" name="Line 17"/>
            <p:cNvSpPr/>
            <p:nvPr/>
          </p:nvSpPr>
          <p:spPr>
            <a:xfrm>
              <a:off x="2381" y="1752"/>
              <a:ext cx="227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30" name="Line 18"/>
            <p:cNvSpPr/>
            <p:nvPr/>
          </p:nvSpPr>
          <p:spPr>
            <a:xfrm flipV="1">
              <a:off x="2698" y="1752"/>
              <a:ext cx="227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8931" name="Group 27"/>
          <p:cNvGrpSpPr/>
          <p:nvPr/>
        </p:nvGrpSpPr>
        <p:grpSpPr>
          <a:xfrm>
            <a:off x="6300788" y="1557338"/>
            <a:ext cx="2016125" cy="935037"/>
            <a:chOff x="3969" y="1616"/>
            <a:chExt cx="1270" cy="589"/>
          </a:xfrm>
        </p:grpSpPr>
        <p:sp>
          <p:nvSpPr>
            <p:cNvPr id="38932" name="Oval 20"/>
            <p:cNvSpPr/>
            <p:nvPr/>
          </p:nvSpPr>
          <p:spPr>
            <a:xfrm>
              <a:off x="3969" y="1616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8933" name="Line 21"/>
            <p:cNvSpPr/>
            <p:nvPr/>
          </p:nvSpPr>
          <p:spPr>
            <a:xfrm>
              <a:off x="4105" y="1688"/>
              <a:ext cx="108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34" name="Oval 22"/>
            <p:cNvSpPr/>
            <p:nvPr/>
          </p:nvSpPr>
          <p:spPr>
            <a:xfrm>
              <a:off x="4559" y="1616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8935" name="Oval 23"/>
            <p:cNvSpPr/>
            <p:nvPr/>
          </p:nvSpPr>
          <p:spPr>
            <a:xfrm>
              <a:off x="5103" y="161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8936" name="Oval 24"/>
            <p:cNvSpPr/>
            <p:nvPr/>
          </p:nvSpPr>
          <p:spPr>
            <a:xfrm>
              <a:off x="4241" y="2069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8937" name="Line 25"/>
            <p:cNvSpPr/>
            <p:nvPr/>
          </p:nvSpPr>
          <p:spPr>
            <a:xfrm>
              <a:off x="4060" y="1752"/>
              <a:ext cx="227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38" name="Line 26"/>
            <p:cNvSpPr/>
            <p:nvPr/>
          </p:nvSpPr>
          <p:spPr>
            <a:xfrm flipV="1">
              <a:off x="4377" y="1752"/>
              <a:ext cx="227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8939" name="组 1"/>
          <p:cNvGrpSpPr/>
          <p:nvPr/>
        </p:nvGrpSpPr>
        <p:grpSpPr>
          <a:xfrm>
            <a:off x="34925" y="3397250"/>
            <a:ext cx="2868613" cy="2263775"/>
            <a:chOff x="179388" y="4005064"/>
            <a:chExt cx="2868612" cy="2263974"/>
          </a:xfrm>
        </p:grpSpPr>
        <p:grpSp>
          <p:nvGrpSpPr>
            <p:cNvPr id="38940" name="Group 28"/>
            <p:cNvGrpSpPr/>
            <p:nvPr/>
          </p:nvGrpSpPr>
          <p:grpSpPr>
            <a:xfrm>
              <a:off x="179388" y="4051300"/>
              <a:ext cx="2868612" cy="2217738"/>
              <a:chOff x="703" y="1372"/>
              <a:chExt cx="1807" cy="1397"/>
            </a:xfrm>
          </p:grpSpPr>
          <p:grpSp>
            <p:nvGrpSpPr>
              <p:cNvPr id="38941" name="Group 29"/>
              <p:cNvGrpSpPr/>
              <p:nvPr/>
            </p:nvGrpSpPr>
            <p:grpSpPr>
              <a:xfrm>
                <a:off x="975" y="1372"/>
                <a:ext cx="1535" cy="1275"/>
                <a:chOff x="385" y="1521"/>
                <a:chExt cx="1535" cy="1275"/>
              </a:xfrm>
            </p:grpSpPr>
            <p:grpSp>
              <p:nvGrpSpPr>
                <p:cNvPr id="38942" name="Group 30"/>
                <p:cNvGrpSpPr/>
                <p:nvPr/>
              </p:nvGrpSpPr>
              <p:grpSpPr>
                <a:xfrm>
                  <a:off x="385" y="1661"/>
                  <a:ext cx="1315" cy="1135"/>
                  <a:chOff x="476" y="1933"/>
                  <a:chExt cx="1315" cy="1135"/>
                </a:xfrm>
              </p:grpSpPr>
              <p:sp>
                <p:nvSpPr>
                  <p:cNvPr id="38943" name="Line 31"/>
                  <p:cNvSpPr/>
                  <p:nvPr/>
                </p:nvSpPr>
                <p:spPr>
                  <a:xfrm flipV="1">
                    <a:off x="839" y="2523"/>
                    <a:ext cx="227" cy="40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8944" name="Line 32"/>
                  <p:cNvSpPr/>
                  <p:nvPr/>
                </p:nvSpPr>
                <p:spPr>
                  <a:xfrm>
                    <a:off x="1112" y="2523"/>
                    <a:ext cx="317" cy="45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8945" name="Line 33"/>
                  <p:cNvSpPr/>
                  <p:nvPr/>
                </p:nvSpPr>
                <p:spPr>
                  <a:xfrm flipV="1">
                    <a:off x="612" y="2478"/>
                    <a:ext cx="1179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8946" name="Line 34"/>
                  <p:cNvSpPr/>
                  <p:nvPr/>
                </p:nvSpPr>
                <p:spPr>
                  <a:xfrm>
                    <a:off x="884" y="2069"/>
                    <a:ext cx="210" cy="36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8947" name="Oval 35"/>
                  <p:cNvSpPr/>
                  <p:nvPr/>
                </p:nvSpPr>
                <p:spPr>
                  <a:xfrm>
                    <a:off x="1021" y="2432"/>
                    <a:ext cx="137" cy="137"/>
                  </a:xfrm>
                  <a:prstGeom prst="ellipse">
                    <a:avLst/>
                  </a:prstGeom>
                  <a:solidFill>
                    <a:srgbClr val="FF00FF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8948" name="Oval 36"/>
                  <p:cNvSpPr/>
                  <p:nvPr/>
                </p:nvSpPr>
                <p:spPr>
                  <a:xfrm>
                    <a:off x="749" y="2931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8949" name="Oval 37"/>
                  <p:cNvSpPr/>
                  <p:nvPr/>
                </p:nvSpPr>
                <p:spPr>
                  <a:xfrm>
                    <a:off x="1382" y="2931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8950" name="Oval 38"/>
                  <p:cNvSpPr/>
                  <p:nvPr/>
                </p:nvSpPr>
                <p:spPr>
                  <a:xfrm>
                    <a:off x="1638" y="2395"/>
                    <a:ext cx="137" cy="137"/>
                  </a:xfrm>
                  <a:prstGeom prst="ellipse">
                    <a:avLst/>
                  </a:prstGeom>
                  <a:solidFill>
                    <a:srgbClr val="FF00FF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8951" name="Oval 39"/>
                  <p:cNvSpPr/>
                  <p:nvPr/>
                </p:nvSpPr>
                <p:spPr>
                  <a:xfrm>
                    <a:off x="476" y="2431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8952" name="Oval 40"/>
                  <p:cNvSpPr/>
                  <p:nvPr/>
                </p:nvSpPr>
                <p:spPr>
                  <a:xfrm>
                    <a:off x="793" y="1933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8953" name="Line 41"/>
                  <p:cNvSpPr/>
                  <p:nvPr/>
                </p:nvSpPr>
                <p:spPr>
                  <a:xfrm flipV="1">
                    <a:off x="567" y="2069"/>
                    <a:ext cx="272" cy="36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8954" name="Line 42"/>
                  <p:cNvSpPr/>
                  <p:nvPr/>
                </p:nvSpPr>
                <p:spPr>
                  <a:xfrm>
                    <a:off x="1474" y="2024"/>
                    <a:ext cx="227" cy="40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8955" name="Line 43"/>
                  <p:cNvSpPr/>
                  <p:nvPr/>
                </p:nvSpPr>
                <p:spPr>
                  <a:xfrm>
                    <a:off x="567" y="2568"/>
                    <a:ext cx="227" cy="39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8956" name="Line 44"/>
                  <p:cNvSpPr/>
                  <p:nvPr/>
                </p:nvSpPr>
                <p:spPr>
                  <a:xfrm flipV="1">
                    <a:off x="1474" y="2523"/>
                    <a:ext cx="227" cy="45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8957" name="Line 45"/>
                  <p:cNvSpPr/>
                  <p:nvPr/>
                </p:nvSpPr>
                <p:spPr>
                  <a:xfrm>
                    <a:off x="876" y="3010"/>
                    <a:ext cx="507" cy="12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8958" name="Oval 46"/>
                  <p:cNvSpPr/>
                  <p:nvPr/>
                </p:nvSpPr>
                <p:spPr>
                  <a:xfrm>
                    <a:off x="1382" y="1933"/>
                    <a:ext cx="137" cy="137"/>
                  </a:xfrm>
                  <a:prstGeom prst="ellipse">
                    <a:avLst/>
                  </a:prstGeom>
                  <a:solidFill>
                    <a:srgbClr val="FF00FF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8959" name="Line 47"/>
                  <p:cNvSpPr/>
                  <p:nvPr/>
                </p:nvSpPr>
                <p:spPr>
                  <a:xfrm flipH="1">
                    <a:off x="1111" y="2069"/>
                    <a:ext cx="318" cy="36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8960" name="Line 48"/>
                  <p:cNvSpPr/>
                  <p:nvPr/>
                </p:nvSpPr>
                <p:spPr>
                  <a:xfrm>
                    <a:off x="930" y="2024"/>
                    <a:ext cx="453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8961" name="Text Box 49"/>
                <p:cNvSpPr txBox="1"/>
                <p:nvPr/>
              </p:nvSpPr>
              <p:spPr>
                <a:xfrm>
                  <a:off x="1383" y="1521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1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8962" name="Text Box 50"/>
                <p:cNvSpPr txBox="1"/>
                <p:nvPr/>
              </p:nvSpPr>
              <p:spPr>
                <a:xfrm>
                  <a:off x="1020" y="2115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0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8963" name="Text Box 51"/>
                <p:cNvSpPr txBox="1"/>
                <p:nvPr/>
              </p:nvSpPr>
              <p:spPr>
                <a:xfrm>
                  <a:off x="1655" y="2024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2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8964" name="Rectangle 52"/>
              <p:cNvSpPr/>
              <p:nvPr/>
            </p:nvSpPr>
            <p:spPr>
              <a:xfrm>
                <a:off x="2018" y="2481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3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65" name="Rectangle 53"/>
              <p:cNvSpPr/>
              <p:nvPr/>
            </p:nvSpPr>
            <p:spPr>
              <a:xfrm>
                <a:off x="703" y="1888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5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8966" name="Text Box 49"/>
            <p:cNvSpPr txBox="1"/>
            <p:nvPr/>
          </p:nvSpPr>
          <p:spPr>
            <a:xfrm>
              <a:off x="755576" y="4005064"/>
              <a:ext cx="420687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6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8967" name="Text Box 49"/>
            <p:cNvSpPr txBox="1"/>
            <p:nvPr/>
          </p:nvSpPr>
          <p:spPr>
            <a:xfrm>
              <a:off x="683568" y="5661248"/>
              <a:ext cx="420687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8968" name="组 2"/>
          <p:cNvGrpSpPr/>
          <p:nvPr/>
        </p:nvGrpSpPr>
        <p:grpSpPr>
          <a:xfrm>
            <a:off x="3070225" y="3443288"/>
            <a:ext cx="2797175" cy="2217737"/>
            <a:chOff x="2998787" y="4051300"/>
            <a:chExt cx="2797175" cy="2217738"/>
          </a:xfrm>
        </p:grpSpPr>
        <p:grpSp>
          <p:nvGrpSpPr>
            <p:cNvPr id="38969" name="Group 54"/>
            <p:cNvGrpSpPr/>
            <p:nvPr/>
          </p:nvGrpSpPr>
          <p:grpSpPr>
            <a:xfrm>
              <a:off x="2998787" y="4051300"/>
              <a:ext cx="2797175" cy="2217738"/>
              <a:chOff x="748" y="1372"/>
              <a:chExt cx="1762" cy="1397"/>
            </a:xfrm>
          </p:grpSpPr>
          <p:grpSp>
            <p:nvGrpSpPr>
              <p:cNvPr id="38970" name="Group 55"/>
              <p:cNvGrpSpPr/>
              <p:nvPr/>
            </p:nvGrpSpPr>
            <p:grpSpPr>
              <a:xfrm>
                <a:off x="975" y="1372"/>
                <a:ext cx="1535" cy="1275"/>
                <a:chOff x="385" y="1521"/>
                <a:chExt cx="1535" cy="1275"/>
              </a:xfrm>
            </p:grpSpPr>
            <p:grpSp>
              <p:nvGrpSpPr>
                <p:cNvPr id="38971" name="Group 56"/>
                <p:cNvGrpSpPr/>
                <p:nvPr/>
              </p:nvGrpSpPr>
              <p:grpSpPr>
                <a:xfrm>
                  <a:off x="385" y="1661"/>
                  <a:ext cx="1315" cy="1135"/>
                  <a:chOff x="476" y="1933"/>
                  <a:chExt cx="1315" cy="1135"/>
                </a:xfrm>
              </p:grpSpPr>
              <p:sp>
                <p:nvSpPr>
                  <p:cNvPr id="38972" name="Line 57"/>
                  <p:cNvSpPr/>
                  <p:nvPr/>
                </p:nvSpPr>
                <p:spPr>
                  <a:xfrm flipV="1">
                    <a:off x="839" y="2523"/>
                    <a:ext cx="227" cy="40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8973" name="Line 58"/>
                  <p:cNvSpPr/>
                  <p:nvPr/>
                </p:nvSpPr>
                <p:spPr>
                  <a:xfrm>
                    <a:off x="1112" y="2523"/>
                    <a:ext cx="317" cy="45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8974" name="Line 59"/>
                  <p:cNvSpPr/>
                  <p:nvPr/>
                </p:nvSpPr>
                <p:spPr>
                  <a:xfrm flipV="1">
                    <a:off x="612" y="2478"/>
                    <a:ext cx="1179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8975" name="Line 60"/>
                  <p:cNvSpPr/>
                  <p:nvPr/>
                </p:nvSpPr>
                <p:spPr>
                  <a:xfrm>
                    <a:off x="884" y="2069"/>
                    <a:ext cx="210" cy="36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8976" name="Oval 61"/>
                  <p:cNvSpPr/>
                  <p:nvPr/>
                </p:nvSpPr>
                <p:spPr>
                  <a:xfrm>
                    <a:off x="1021" y="2432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8977" name="Oval 62"/>
                  <p:cNvSpPr/>
                  <p:nvPr/>
                </p:nvSpPr>
                <p:spPr>
                  <a:xfrm>
                    <a:off x="749" y="2931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8978" name="Oval 63"/>
                  <p:cNvSpPr/>
                  <p:nvPr/>
                </p:nvSpPr>
                <p:spPr>
                  <a:xfrm>
                    <a:off x="1382" y="2931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8979" name="Oval 64"/>
                  <p:cNvSpPr/>
                  <p:nvPr/>
                </p:nvSpPr>
                <p:spPr>
                  <a:xfrm>
                    <a:off x="1638" y="2395"/>
                    <a:ext cx="137" cy="137"/>
                  </a:xfrm>
                  <a:prstGeom prst="ellipse">
                    <a:avLst/>
                  </a:prstGeom>
                  <a:solidFill>
                    <a:srgbClr val="FF00FF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8980" name="Oval 65"/>
                  <p:cNvSpPr/>
                  <p:nvPr/>
                </p:nvSpPr>
                <p:spPr>
                  <a:xfrm>
                    <a:off x="476" y="2431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8981" name="Oval 66"/>
                  <p:cNvSpPr/>
                  <p:nvPr/>
                </p:nvSpPr>
                <p:spPr>
                  <a:xfrm>
                    <a:off x="793" y="1933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8982" name="Line 67"/>
                  <p:cNvSpPr/>
                  <p:nvPr/>
                </p:nvSpPr>
                <p:spPr>
                  <a:xfrm flipV="1">
                    <a:off x="567" y="2069"/>
                    <a:ext cx="272" cy="36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8983" name="Line 68"/>
                  <p:cNvSpPr/>
                  <p:nvPr/>
                </p:nvSpPr>
                <p:spPr>
                  <a:xfrm>
                    <a:off x="1474" y="2024"/>
                    <a:ext cx="227" cy="40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8984" name="Line 69"/>
                  <p:cNvSpPr/>
                  <p:nvPr/>
                </p:nvSpPr>
                <p:spPr>
                  <a:xfrm>
                    <a:off x="567" y="2568"/>
                    <a:ext cx="227" cy="39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8985" name="Line 70"/>
                  <p:cNvSpPr/>
                  <p:nvPr/>
                </p:nvSpPr>
                <p:spPr>
                  <a:xfrm flipV="1">
                    <a:off x="1474" y="2523"/>
                    <a:ext cx="227" cy="45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8986" name="Line 71"/>
                  <p:cNvSpPr/>
                  <p:nvPr/>
                </p:nvSpPr>
                <p:spPr>
                  <a:xfrm>
                    <a:off x="876" y="3010"/>
                    <a:ext cx="507" cy="12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8987" name="Oval 72"/>
                  <p:cNvSpPr/>
                  <p:nvPr/>
                </p:nvSpPr>
                <p:spPr>
                  <a:xfrm>
                    <a:off x="1382" y="1933"/>
                    <a:ext cx="137" cy="137"/>
                  </a:xfrm>
                  <a:prstGeom prst="ellipse">
                    <a:avLst/>
                  </a:prstGeom>
                  <a:solidFill>
                    <a:srgbClr val="FF00FF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8988" name="Line 73"/>
                  <p:cNvSpPr/>
                  <p:nvPr/>
                </p:nvSpPr>
                <p:spPr>
                  <a:xfrm flipH="1">
                    <a:off x="1111" y="2069"/>
                    <a:ext cx="318" cy="36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8989" name="Line 74"/>
                  <p:cNvSpPr/>
                  <p:nvPr/>
                </p:nvSpPr>
                <p:spPr>
                  <a:xfrm>
                    <a:off x="930" y="2024"/>
                    <a:ext cx="453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8990" name="Text Box 75"/>
                <p:cNvSpPr txBox="1"/>
                <p:nvPr/>
              </p:nvSpPr>
              <p:spPr>
                <a:xfrm>
                  <a:off x="1428" y="1521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1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8991" name="Text Box 76"/>
                <p:cNvSpPr txBox="1"/>
                <p:nvPr/>
              </p:nvSpPr>
              <p:spPr>
                <a:xfrm>
                  <a:off x="1020" y="2115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0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8992" name="Text Box 77"/>
                <p:cNvSpPr txBox="1"/>
                <p:nvPr/>
              </p:nvSpPr>
              <p:spPr>
                <a:xfrm>
                  <a:off x="1655" y="2024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2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8993" name="Rectangle 78"/>
              <p:cNvSpPr/>
              <p:nvPr/>
            </p:nvSpPr>
            <p:spPr>
              <a:xfrm>
                <a:off x="2018" y="2481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3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94" name="Rectangle 79"/>
              <p:cNvSpPr/>
              <p:nvPr/>
            </p:nvSpPr>
            <p:spPr>
              <a:xfrm>
                <a:off x="748" y="1888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5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8995" name="Text Box 49"/>
            <p:cNvSpPr txBox="1"/>
            <p:nvPr/>
          </p:nvSpPr>
          <p:spPr>
            <a:xfrm>
              <a:off x="3503241" y="4051920"/>
              <a:ext cx="420687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6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8996" name="Text Box 49"/>
            <p:cNvSpPr txBox="1"/>
            <p:nvPr/>
          </p:nvSpPr>
          <p:spPr>
            <a:xfrm>
              <a:off x="3419872" y="5636096"/>
              <a:ext cx="420687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8997" name="组 3"/>
          <p:cNvGrpSpPr/>
          <p:nvPr/>
        </p:nvGrpSpPr>
        <p:grpSpPr>
          <a:xfrm>
            <a:off x="6096000" y="3443288"/>
            <a:ext cx="2797175" cy="2217737"/>
            <a:chOff x="6096001" y="4051300"/>
            <a:chExt cx="2797175" cy="2217738"/>
          </a:xfrm>
        </p:grpSpPr>
        <p:grpSp>
          <p:nvGrpSpPr>
            <p:cNvPr id="38998" name="Group 80"/>
            <p:cNvGrpSpPr/>
            <p:nvPr/>
          </p:nvGrpSpPr>
          <p:grpSpPr>
            <a:xfrm>
              <a:off x="6096001" y="4051300"/>
              <a:ext cx="2797175" cy="2217738"/>
              <a:chOff x="748" y="1372"/>
              <a:chExt cx="1762" cy="1397"/>
            </a:xfrm>
          </p:grpSpPr>
          <p:grpSp>
            <p:nvGrpSpPr>
              <p:cNvPr id="38999" name="Group 81"/>
              <p:cNvGrpSpPr/>
              <p:nvPr/>
            </p:nvGrpSpPr>
            <p:grpSpPr>
              <a:xfrm>
                <a:off x="975" y="1372"/>
                <a:ext cx="1535" cy="1275"/>
                <a:chOff x="385" y="1521"/>
                <a:chExt cx="1535" cy="1275"/>
              </a:xfrm>
            </p:grpSpPr>
            <p:grpSp>
              <p:nvGrpSpPr>
                <p:cNvPr id="39000" name="Group 82"/>
                <p:cNvGrpSpPr/>
                <p:nvPr/>
              </p:nvGrpSpPr>
              <p:grpSpPr>
                <a:xfrm>
                  <a:off x="385" y="1661"/>
                  <a:ext cx="1315" cy="1135"/>
                  <a:chOff x="476" y="1933"/>
                  <a:chExt cx="1315" cy="1135"/>
                </a:xfrm>
              </p:grpSpPr>
              <p:sp>
                <p:nvSpPr>
                  <p:cNvPr id="39001" name="Line 83"/>
                  <p:cNvSpPr/>
                  <p:nvPr/>
                </p:nvSpPr>
                <p:spPr>
                  <a:xfrm flipV="1">
                    <a:off x="839" y="2523"/>
                    <a:ext cx="227" cy="40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9002" name="Line 84"/>
                  <p:cNvSpPr/>
                  <p:nvPr/>
                </p:nvSpPr>
                <p:spPr>
                  <a:xfrm>
                    <a:off x="1112" y="2523"/>
                    <a:ext cx="317" cy="45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9003" name="Line 85"/>
                  <p:cNvSpPr/>
                  <p:nvPr/>
                </p:nvSpPr>
                <p:spPr>
                  <a:xfrm flipV="1">
                    <a:off x="612" y="2478"/>
                    <a:ext cx="1179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9004" name="Line 86"/>
                  <p:cNvSpPr/>
                  <p:nvPr/>
                </p:nvSpPr>
                <p:spPr>
                  <a:xfrm>
                    <a:off x="884" y="2069"/>
                    <a:ext cx="210" cy="36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9005" name="Oval 87"/>
                  <p:cNvSpPr/>
                  <p:nvPr/>
                </p:nvSpPr>
                <p:spPr>
                  <a:xfrm>
                    <a:off x="1021" y="2432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9006" name="Oval 88"/>
                  <p:cNvSpPr/>
                  <p:nvPr/>
                </p:nvSpPr>
                <p:spPr>
                  <a:xfrm>
                    <a:off x="749" y="2931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9007" name="Oval 89"/>
                  <p:cNvSpPr/>
                  <p:nvPr/>
                </p:nvSpPr>
                <p:spPr>
                  <a:xfrm>
                    <a:off x="1382" y="2931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9008" name="Oval 90"/>
                  <p:cNvSpPr/>
                  <p:nvPr/>
                </p:nvSpPr>
                <p:spPr>
                  <a:xfrm>
                    <a:off x="1638" y="2395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9009" name="Oval 91"/>
                  <p:cNvSpPr/>
                  <p:nvPr/>
                </p:nvSpPr>
                <p:spPr>
                  <a:xfrm>
                    <a:off x="476" y="2431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9010" name="Oval 92"/>
                  <p:cNvSpPr/>
                  <p:nvPr/>
                </p:nvSpPr>
                <p:spPr>
                  <a:xfrm>
                    <a:off x="793" y="1933"/>
                    <a:ext cx="137" cy="137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chemeClr val="bg1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9011" name="Line 93"/>
                  <p:cNvSpPr/>
                  <p:nvPr/>
                </p:nvSpPr>
                <p:spPr>
                  <a:xfrm flipV="1">
                    <a:off x="567" y="2069"/>
                    <a:ext cx="272" cy="36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9012" name="Line 94"/>
                  <p:cNvSpPr/>
                  <p:nvPr/>
                </p:nvSpPr>
                <p:spPr>
                  <a:xfrm>
                    <a:off x="1474" y="2024"/>
                    <a:ext cx="227" cy="40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9013" name="Line 95"/>
                  <p:cNvSpPr/>
                  <p:nvPr/>
                </p:nvSpPr>
                <p:spPr>
                  <a:xfrm>
                    <a:off x="567" y="2568"/>
                    <a:ext cx="227" cy="396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9014" name="Line 96"/>
                  <p:cNvSpPr/>
                  <p:nvPr/>
                </p:nvSpPr>
                <p:spPr>
                  <a:xfrm flipV="1">
                    <a:off x="1474" y="2523"/>
                    <a:ext cx="227" cy="45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9015" name="Line 97"/>
                  <p:cNvSpPr/>
                  <p:nvPr/>
                </p:nvSpPr>
                <p:spPr>
                  <a:xfrm>
                    <a:off x="876" y="3010"/>
                    <a:ext cx="507" cy="12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9016" name="Oval 98"/>
                  <p:cNvSpPr/>
                  <p:nvPr/>
                </p:nvSpPr>
                <p:spPr>
                  <a:xfrm>
                    <a:off x="1382" y="1933"/>
                    <a:ext cx="137" cy="137"/>
                  </a:xfrm>
                  <a:prstGeom prst="ellipse">
                    <a:avLst/>
                  </a:prstGeom>
                  <a:solidFill>
                    <a:srgbClr val="FF00FF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>
                      <a:buSzTx/>
                    </a:pPr>
                    <a:endParaRPr lang="zh-CN" altLang="en-US">
                      <a:latin typeface="Tahoma" panose="020B06040305040402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9017" name="Line 99"/>
                  <p:cNvSpPr/>
                  <p:nvPr/>
                </p:nvSpPr>
                <p:spPr>
                  <a:xfrm flipH="1">
                    <a:off x="1111" y="2069"/>
                    <a:ext cx="318" cy="363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9018" name="Line 100"/>
                  <p:cNvSpPr/>
                  <p:nvPr/>
                </p:nvSpPr>
                <p:spPr>
                  <a:xfrm>
                    <a:off x="930" y="2024"/>
                    <a:ext cx="453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9019" name="Text Box 101"/>
                <p:cNvSpPr txBox="1"/>
                <p:nvPr/>
              </p:nvSpPr>
              <p:spPr>
                <a:xfrm>
                  <a:off x="1428" y="1521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1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9020" name="Text Box 102"/>
                <p:cNvSpPr txBox="1"/>
                <p:nvPr/>
              </p:nvSpPr>
              <p:spPr>
                <a:xfrm>
                  <a:off x="1020" y="2115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0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9021" name="Text Box 103"/>
                <p:cNvSpPr txBox="1"/>
                <p:nvPr/>
              </p:nvSpPr>
              <p:spPr>
                <a:xfrm>
                  <a:off x="1655" y="2024"/>
                  <a:ext cx="26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>
                    <a:buSzTx/>
                  </a:pPr>
                  <a:r>
                    <a:rPr lang="en-US" altLang="zh-CN" sz="2400" i="1">
                      <a:latin typeface="Times New Roman" panose="02020603050405020304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400" baseline="-25000">
                      <a:latin typeface="Times New Roman" panose="02020603050405020304" charset="0"/>
                      <a:ea typeface="宋体" panose="02010600030101010101" pitchFamily="2" charset="-122"/>
                    </a:rPr>
                    <a:t>2</a:t>
                  </a:r>
                  <a:endPara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9022" name="Rectangle 104"/>
              <p:cNvSpPr/>
              <p:nvPr/>
            </p:nvSpPr>
            <p:spPr>
              <a:xfrm>
                <a:off x="2018" y="2481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3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023" name="Rectangle 105"/>
              <p:cNvSpPr/>
              <p:nvPr/>
            </p:nvSpPr>
            <p:spPr>
              <a:xfrm>
                <a:off x="748" y="1888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baseline="-25000">
                    <a:latin typeface="Times New Roman" panose="02020603050405020304" charset="0"/>
                    <a:ea typeface="宋体" panose="02010600030101010101" pitchFamily="2" charset="-122"/>
                  </a:rPr>
                  <a:t>5</a:t>
                </a:r>
                <a:endPara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9024" name="Text Box 49"/>
            <p:cNvSpPr txBox="1"/>
            <p:nvPr/>
          </p:nvSpPr>
          <p:spPr>
            <a:xfrm>
              <a:off x="6588224" y="4149080"/>
              <a:ext cx="420687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6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9025" name="Text Box 49"/>
            <p:cNvSpPr txBox="1"/>
            <p:nvPr/>
          </p:nvSpPr>
          <p:spPr>
            <a:xfrm>
              <a:off x="6516216" y="5636096"/>
              <a:ext cx="420687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5" name="Rectangle 3"/>
          <p:cNvSpPr txBox="1">
            <a:spLocks noChangeArrowheads="1"/>
          </p:cNvSpPr>
          <p:nvPr/>
        </p:nvSpPr>
        <p:spPr bwMode="auto">
          <a:xfrm>
            <a:off x="919163" y="2636838"/>
            <a:ext cx="1349375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黑体" panose="02010609060101010101" charset="-122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黑体" panose="02010609060101010101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黑体" panose="02010609060101010101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  <a:cs typeface="黑体" panose="02010609060101010101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  <a:cs typeface="黑体" panose="02010609060101010101" charset="-122"/>
              </a:defRPr>
            </a:lvl5pPr>
            <a:lvl6pPr marL="25146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  <a:sym typeface="Symbol" panose="05050102010706020507" charset="2"/>
              </a:rPr>
              <a:t></a:t>
            </a:r>
            <a:r>
              <a:rPr kumimoji="0" lang="en-US" altLang="zh-CN" sz="28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0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=3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定理</a:t>
            </a:r>
            <a:r>
              <a:rPr kumimoji="0" lang="en-US" altLang="zh-CN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13.4</a:t>
            </a:r>
            <a:endParaRPr kumimoji="0" lang="en-US" altLang="zh-CN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939" name="Line 4"/>
          <p:cNvSpPr/>
          <p:nvPr/>
        </p:nvSpPr>
        <p:spPr>
          <a:xfrm>
            <a:off x="7496175" y="2708275"/>
            <a:ext cx="2159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9940" name="Line 5"/>
          <p:cNvSpPr/>
          <p:nvPr/>
        </p:nvSpPr>
        <p:spPr>
          <a:xfrm>
            <a:off x="4643438" y="2133600"/>
            <a:ext cx="2159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9941" name="Line 7"/>
          <p:cNvSpPr/>
          <p:nvPr/>
        </p:nvSpPr>
        <p:spPr>
          <a:xfrm>
            <a:off x="4572000" y="3213100"/>
            <a:ext cx="215900" cy="0"/>
          </a:xfrm>
          <a:prstGeom prst="line">
            <a:avLst/>
          </a:prstGeom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9942" name="Line 9"/>
          <p:cNvSpPr/>
          <p:nvPr/>
        </p:nvSpPr>
        <p:spPr>
          <a:xfrm>
            <a:off x="4571683" y="5012373"/>
            <a:ext cx="215900" cy="0"/>
          </a:xfrm>
          <a:prstGeom prst="line">
            <a:avLst/>
          </a:prstGeom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9943" name="Line 10"/>
          <p:cNvSpPr/>
          <p:nvPr/>
        </p:nvSpPr>
        <p:spPr>
          <a:xfrm>
            <a:off x="5003483" y="3788093"/>
            <a:ext cx="2159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323850" y="1412875"/>
            <a:ext cx="8496300" cy="518477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定理</a:t>
            </a:r>
            <a:r>
              <a:rPr lang="en-US" altLang="zh-CN">
                <a:solidFill>
                  <a:srgbClr val="FF0000"/>
                </a:solidFill>
              </a:rPr>
              <a:t>13.4:</a:t>
            </a:r>
            <a:r>
              <a:rPr lang="en-US" altLang="zh-CN"/>
              <a:t> </a:t>
            </a:r>
            <a:r>
              <a:rPr lang="zh-CN" altLang="en-US"/>
              <a:t>无向图</a:t>
            </a:r>
            <a:r>
              <a:rPr lang="en-US" altLang="zh-CN"/>
              <a:t>G,</a:t>
            </a:r>
            <a:endParaRPr lang="en-US" altLang="zh-CN"/>
          </a:p>
          <a:p>
            <a:pPr eaLnBrk="1" hangingPunct="1">
              <a:buNone/>
            </a:pPr>
            <a:r>
              <a:rPr lang="en-US" altLang="zh-CN"/>
              <a:t>             V*</a:t>
            </a:r>
            <a:r>
              <a:rPr lang="zh-CN" altLang="en-US"/>
              <a:t>是</a:t>
            </a:r>
            <a:r>
              <a:rPr lang="en-US" altLang="zh-CN">
                <a:solidFill>
                  <a:srgbClr val="FF0000"/>
                </a:solidFill>
              </a:rPr>
              <a:t>G</a:t>
            </a:r>
            <a:r>
              <a:rPr lang="zh-CN" altLang="en-US"/>
              <a:t>的团⇔ </a:t>
            </a:r>
            <a:r>
              <a:rPr lang="en-US" altLang="zh-CN"/>
              <a:t>V*</a:t>
            </a:r>
            <a:r>
              <a:rPr lang="zh-CN" altLang="en-US"/>
              <a:t>是</a:t>
            </a:r>
            <a:r>
              <a:rPr lang="en-US" altLang="zh-CN">
                <a:solidFill>
                  <a:srgbClr val="FF0000"/>
                </a:solidFill>
              </a:rPr>
              <a:t>G</a:t>
            </a:r>
            <a:r>
              <a:rPr lang="zh-CN" altLang="en-US"/>
              <a:t>的独立集</a:t>
            </a:r>
            <a:r>
              <a:rPr lang="en-US" altLang="zh-CN"/>
              <a:t>. </a:t>
            </a:r>
            <a:endParaRPr lang="en-US" altLang="zh-CN"/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推论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zh-CN" altLang="en-US"/>
              <a:t>无向图</a:t>
            </a:r>
            <a:r>
              <a:rPr lang="en-US" altLang="zh-CN"/>
              <a:t>G, </a:t>
            </a:r>
            <a:r>
              <a:rPr lang="en-US" altLang="zh-CN">
                <a:solidFill>
                  <a:srgbClr val="FF00FF"/>
                </a:solidFill>
              </a:rPr>
              <a:t>V*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的极</a:t>
            </a:r>
            <a:r>
              <a:rPr lang="en-US" altLang="zh-CN"/>
              <a:t>(</a:t>
            </a:r>
            <a:r>
              <a:rPr lang="zh-CN" altLang="en-US"/>
              <a:t>最</a:t>
            </a:r>
            <a:r>
              <a:rPr lang="en-US" altLang="zh-CN"/>
              <a:t>)</a:t>
            </a:r>
            <a:r>
              <a:rPr lang="zh-CN" altLang="en-US"/>
              <a:t>大团⇔</a:t>
            </a:r>
            <a:r>
              <a:rPr lang="en-US" altLang="zh-CN">
                <a:solidFill>
                  <a:srgbClr val="FF00FF"/>
                </a:solidFill>
              </a:rPr>
              <a:t>V*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的极</a:t>
            </a:r>
            <a:r>
              <a:rPr lang="en-US" altLang="zh-CN"/>
              <a:t>(</a:t>
            </a:r>
            <a:r>
              <a:rPr lang="zh-CN" altLang="en-US"/>
              <a:t>最</a:t>
            </a:r>
            <a:r>
              <a:rPr lang="en-US" altLang="zh-CN"/>
              <a:t>)</a:t>
            </a:r>
            <a:r>
              <a:rPr lang="zh-CN" altLang="en-US"/>
              <a:t>大独立集</a:t>
            </a:r>
            <a:r>
              <a:rPr lang="en-US" altLang="zh-CN"/>
              <a:t>. </a:t>
            </a:r>
            <a:r>
              <a:rPr lang="en-US" altLang="zh-CN">
                <a:solidFill>
                  <a:srgbClr val="FF0000"/>
                </a:solidFill>
                <a:sym typeface="Symbol" panose="05050102010706020507" charset="2"/>
              </a:rPr>
              <a:t></a:t>
            </a:r>
            <a:r>
              <a:rPr lang="en-US" altLang="zh-CN" baseline="-25000">
                <a:solidFill>
                  <a:srgbClr val="FF0000"/>
                </a:solidFill>
              </a:rPr>
              <a:t>0</a:t>
            </a:r>
            <a:r>
              <a:rPr lang="en-US" altLang="zh-CN">
                <a:solidFill>
                  <a:srgbClr val="FF0000"/>
                </a:solidFill>
              </a:rPr>
              <a:t>(G)=</a:t>
            </a:r>
            <a:r>
              <a:rPr lang="en-US" altLang="zh-CN">
                <a:solidFill>
                  <a:srgbClr val="FF0000"/>
                </a:solidFill>
                <a:sym typeface="Symbol" panose="05050102010706020507" charset="2"/>
              </a:rPr>
              <a:t></a:t>
            </a:r>
            <a:r>
              <a:rPr lang="en-US" altLang="zh-CN" baseline="-25000">
                <a:solidFill>
                  <a:srgbClr val="FF0000"/>
                </a:solidFill>
              </a:rPr>
              <a:t>0</a:t>
            </a:r>
            <a:r>
              <a:rPr lang="en-US" altLang="zh-CN">
                <a:solidFill>
                  <a:srgbClr val="FF0000"/>
                </a:solidFill>
              </a:rPr>
              <a:t> (G). </a:t>
            </a:r>
            <a:endParaRPr lang="en-US" altLang="zh-CN"/>
          </a:p>
          <a:p>
            <a:pPr eaLnBrk="1" hangingPunct="1"/>
            <a:r>
              <a:rPr lang="zh-CN" altLang="en-US"/>
              <a:t>研究图</a:t>
            </a:r>
            <a:r>
              <a:rPr lang="en-US" altLang="zh-CN"/>
              <a:t>G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FF"/>
                </a:solidFill>
              </a:rPr>
              <a:t>团</a:t>
            </a:r>
            <a:r>
              <a:rPr lang="zh-CN" altLang="en-US"/>
              <a:t>可转化为研究</a:t>
            </a:r>
            <a:r>
              <a:rPr lang="en-US" altLang="zh-CN"/>
              <a:t>G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FF"/>
                </a:solidFill>
              </a:rPr>
              <a:t>独立集</a:t>
            </a:r>
            <a:r>
              <a:rPr lang="zh-CN" altLang="en-US"/>
              <a:t>，反之依然</a:t>
            </a:r>
            <a:r>
              <a:rPr lang="en-US" altLang="zh-CN"/>
              <a:t>.</a:t>
            </a:r>
            <a:endParaRPr lang="en-US" altLang="zh-CN"/>
          </a:p>
          <a:p>
            <a:pPr eaLnBrk="1" hangingPunct="1"/>
            <a:endParaRPr lang="zh-CN" altLang="en-US"/>
          </a:p>
          <a:p>
            <a:pPr eaLnBrk="1" hangingPunct="1"/>
            <a:r>
              <a:rPr lang="zh-CN" altLang="en-US"/>
              <a:t>总</a:t>
            </a:r>
            <a:r>
              <a:rPr lang="zh-CN" altLang="en-US">
                <a:sym typeface="+mn-ea"/>
              </a:rPr>
              <a:t>结</a:t>
            </a:r>
            <a:r>
              <a:rPr lang="en-US" altLang="zh-CN">
                <a:sym typeface="+mn-ea"/>
              </a:rPr>
              <a:t>: </a:t>
            </a:r>
            <a:r>
              <a:rPr lang="en-US" altLang="zh-CN">
                <a:solidFill>
                  <a:srgbClr val="FF0000"/>
                </a:solidFill>
                <a:sym typeface="Symbol" panose="05050102010706020507" charset="2"/>
              </a:rPr>
              <a:t></a:t>
            </a:r>
            <a:r>
              <a:rPr lang="en-US" altLang="zh-CN" baseline="-25000">
                <a:solidFill>
                  <a:srgbClr val="FF0000"/>
                </a:solidFill>
                <a:sym typeface="+mn-ea"/>
              </a:rPr>
              <a:t>0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+</a:t>
            </a:r>
            <a:r>
              <a:rPr lang="en-US" altLang="zh-CN">
                <a:solidFill>
                  <a:srgbClr val="FF0000"/>
                </a:solidFill>
                <a:sym typeface="Symbol" panose="05050102010706020507" charset="2"/>
              </a:rPr>
              <a:t></a:t>
            </a:r>
            <a:r>
              <a:rPr lang="en-US" altLang="zh-CN" baseline="-25000">
                <a:solidFill>
                  <a:srgbClr val="FF0000"/>
                </a:solidFill>
                <a:sym typeface="+mn-ea"/>
              </a:rPr>
              <a:t>0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=</a:t>
            </a:r>
            <a:r>
              <a:rPr lang="en-US" altLang="zh-CN" i="1">
                <a:solidFill>
                  <a:srgbClr val="FF0000"/>
                </a:solidFill>
                <a:sym typeface="+mn-ea"/>
              </a:rPr>
              <a:t>n</a:t>
            </a:r>
            <a:r>
              <a:rPr lang="en-US" altLang="zh-CN">
                <a:sym typeface="+mn-ea"/>
              </a:rPr>
              <a:t>. </a:t>
            </a:r>
            <a:r>
              <a:rPr lang="en-US" altLang="zh-CN">
                <a:solidFill>
                  <a:srgbClr val="FF00FF"/>
                </a:solidFill>
                <a:sym typeface="Symbol" panose="05050102010706020507" charset="2"/>
              </a:rPr>
              <a:t></a:t>
            </a:r>
            <a:r>
              <a:rPr lang="en-US" altLang="zh-CN" baseline="-25000">
                <a:solidFill>
                  <a:srgbClr val="FF00FF"/>
                </a:solidFill>
                <a:sym typeface="+mn-ea"/>
              </a:rPr>
              <a:t>0</a:t>
            </a:r>
            <a:r>
              <a:rPr lang="en-US" altLang="zh-CN">
                <a:solidFill>
                  <a:srgbClr val="FF00FF"/>
                </a:solidFill>
                <a:sym typeface="+mn-ea"/>
              </a:rPr>
              <a:t>(G)=</a:t>
            </a:r>
            <a:r>
              <a:rPr lang="en-US" altLang="zh-CN">
                <a:solidFill>
                  <a:srgbClr val="FF00FF"/>
                </a:solidFill>
                <a:sym typeface="Symbol" panose="05050102010706020507" charset="2"/>
              </a:rPr>
              <a:t></a:t>
            </a:r>
            <a:r>
              <a:rPr lang="en-US" altLang="zh-CN" baseline="-25000">
                <a:solidFill>
                  <a:srgbClr val="FF00FF"/>
                </a:solidFill>
                <a:sym typeface="+mn-ea"/>
              </a:rPr>
              <a:t>0</a:t>
            </a:r>
            <a:r>
              <a:rPr lang="en-US" altLang="zh-CN">
                <a:solidFill>
                  <a:srgbClr val="FF00FF"/>
                </a:solidFill>
                <a:sym typeface="+mn-ea"/>
              </a:rPr>
              <a:t>(G).</a:t>
            </a:r>
            <a:endParaRPr lang="en-US" altLang="zh-CN">
              <a:solidFill>
                <a:srgbClr val="FF00FF"/>
              </a:solidFill>
            </a:endParaRPr>
          </a:p>
          <a:p>
            <a:pPr eaLnBrk="1" hangingPunct="1">
              <a:buNone/>
            </a:pPr>
            <a:r>
              <a:rPr lang="en-US" altLang="zh-CN">
                <a:sym typeface="+mn-ea"/>
              </a:rPr>
              <a:t>   </a:t>
            </a:r>
            <a:r>
              <a:rPr lang="zh-CN" altLang="en-US">
                <a:sym typeface="+mn-ea"/>
              </a:rPr>
              <a:t>所以</a:t>
            </a:r>
            <a:r>
              <a:rPr lang="zh-CN" altLang="en-US">
                <a:solidFill>
                  <a:srgbClr val="FF00FF"/>
                </a:solidFill>
                <a:sym typeface="Symbol" panose="05050102010706020507" charset="2"/>
              </a:rPr>
              <a:t></a:t>
            </a:r>
            <a:r>
              <a:rPr lang="en-US" altLang="zh-CN" baseline="-25000">
                <a:solidFill>
                  <a:srgbClr val="FF00FF"/>
                </a:solidFill>
                <a:sym typeface="+mn-ea"/>
              </a:rPr>
              <a:t>0</a:t>
            </a:r>
            <a:r>
              <a:rPr lang="en-US" altLang="zh-CN">
                <a:sym typeface="+mn-ea"/>
              </a:rPr>
              <a:t>, </a:t>
            </a:r>
            <a:r>
              <a:rPr lang="en-US" altLang="zh-CN">
                <a:solidFill>
                  <a:srgbClr val="FF00FF"/>
                </a:solidFill>
                <a:sym typeface="Symbol" panose="05050102010706020507" charset="2"/>
              </a:rPr>
              <a:t></a:t>
            </a:r>
            <a:r>
              <a:rPr lang="en-US" altLang="zh-CN" baseline="-25000">
                <a:solidFill>
                  <a:srgbClr val="FF00FF"/>
                </a:solidFill>
                <a:sym typeface="+mn-ea"/>
              </a:rPr>
              <a:t>0</a:t>
            </a:r>
            <a:r>
              <a:rPr lang="en-US" altLang="zh-CN">
                <a:sym typeface="+mn-ea"/>
              </a:rPr>
              <a:t>, </a:t>
            </a:r>
            <a:r>
              <a:rPr lang="en-US" altLang="zh-CN">
                <a:solidFill>
                  <a:srgbClr val="FF00FF"/>
                </a:solidFill>
                <a:sym typeface="Symbol" panose="05050102010706020507" charset="2"/>
              </a:rPr>
              <a:t></a:t>
            </a:r>
            <a:r>
              <a:rPr lang="en-US" altLang="zh-CN" baseline="-25000">
                <a:solidFill>
                  <a:srgbClr val="FF00FF"/>
                </a:solidFill>
                <a:sym typeface="+mn-ea"/>
              </a:rPr>
              <a:t>0</a:t>
            </a:r>
            <a:r>
              <a:rPr lang="zh-CN" altLang="en-US">
                <a:sym typeface="+mn-ea"/>
              </a:rPr>
              <a:t>三者互相确定</a:t>
            </a:r>
            <a:r>
              <a:rPr lang="en-US" altLang="zh-CN">
                <a:sym typeface="+mn-ea"/>
              </a:rPr>
              <a:t>, </a:t>
            </a:r>
            <a:r>
              <a:rPr lang="zh-CN" altLang="en-US">
                <a:sym typeface="+mn-ea"/>
              </a:rPr>
              <a:t>但都是难解的</a:t>
            </a:r>
            <a:r>
              <a:rPr lang="en-US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目前都没有多项式时间算法</a:t>
            </a:r>
            <a:r>
              <a:rPr lang="en-US" altLang="zh-CN">
                <a:sym typeface="+mn-ea"/>
              </a:rPr>
              <a:t>)</a:t>
            </a:r>
            <a:endParaRPr lang="en-US" altLang="zh-CN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46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174" end="1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13.1</a:t>
            </a:r>
            <a:endParaRPr kumimoji="0" lang="en-US" altLang="zh-CN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198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13.1:</a:t>
            </a:r>
            <a:r>
              <a:rPr lang="en-US" altLang="zh-CN"/>
              <a:t> </a:t>
            </a:r>
            <a:r>
              <a:rPr lang="zh-CN" altLang="en-US"/>
              <a:t>求全体极小支配集</a:t>
            </a:r>
            <a:r>
              <a:rPr lang="en-US" altLang="zh-CN"/>
              <a:t>,</a:t>
            </a:r>
            <a:r>
              <a:rPr lang="zh-CN" altLang="en-US"/>
              <a:t>极大独立集</a:t>
            </a:r>
            <a:r>
              <a:rPr lang="en-US" altLang="zh-CN"/>
              <a:t>,</a:t>
            </a:r>
            <a:r>
              <a:rPr lang="zh-CN" altLang="en-US"/>
              <a:t>极小点覆盖</a:t>
            </a:r>
            <a:endParaRPr lang="zh-CN" altLang="en-US"/>
          </a:p>
          <a:p>
            <a:pPr eaLnBrk="1" hangingPunct="1">
              <a:buNone/>
            </a:pPr>
            <a:r>
              <a:rPr lang="zh-CN" altLang="en-US">
                <a:solidFill>
                  <a:schemeClr val="hlink"/>
                </a:solidFill>
              </a:rPr>
              <a:t>解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en-US" altLang="zh-CN">
                <a:solidFill>
                  <a:schemeClr val="tx2"/>
                </a:solidFill>
              </a:rPr>
              <a:t>(1)</a:t>
            </a:r>
            <a:r>
              <a:rPr lang="zh-CN" altLang="en-US">
                <a:solidFill>
                  <a:schemeClr val="tx2"/>
                </a:solidFill>
              </a:rPr>
              <a:t>极小支配集</a:t>
            </a:r>
            <a:r>
              <a:rPr lang="en-US" altLang="zh-CN">
                <a:solidFill>
                  <a:schemeClr val="tx2"/>
                </a:solidFill>
              </a:rPr>
              <a:t>.</a:t>
            </a:r>
            <a:endParaRPr lang="en-US" altLang="zh-CN">
              <a:solidFill>
                <a:schemeClr val="tx2"/>
              </a:solidFill>
            </a:endParaRPr>
          </a:p>
          <a:p>
            <a:pPr eaLnBrk="1" hangingPunct="1">
              <a:buNone/>
            </a:pPr>
            <a:r>
              <a:rPr lang="en-US" altLang="zh-CN">
                <a:solidFill>
                  <a:schemeClr val="tx2"/>
                </a:solidFill>
              </a:rPr>
              <a:t>{</a:t>
            </a:r>
            <a:r>
              <a:rPr lang="en-US" altLang="zh-CN" i="1">
                <a:solidFill>
                  <a:schemeClr val="tx2"/>
                </a:solidFill>
              </a:rPr>
              <a:t>a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en-US" altLang="zh-CN" i="1">
                <a:solidFill>
                  <a:schemeClr val="tx2"/>
                </a:solidFill>
              </a:rPr>
              <a:t>c</a:t>
            </a:r>
            <a:r>
              <a:rPr lang="en-US" altLang="zh-CN">
                <a:solidFill>
                  <a:schemeClr val="tx2"/>
                </a:solidFill>
              </a:rPr>
              <a:t>}, {</a:t>
            </a:r>
            <a:r>
              <a:rPr lang="en-US" altLang="zh-CN" i="1">
                <a:solidFill>
                  <a:schemeClr val="tx2"/>
                </a:solidFill>
              </a:rPr>
              <a:t>a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en-US" altLang="zh-CN" i="1">
                <a:solidFill>
                  <a:schemeClr val="tx2"/>
                </a:solidFill>
              </a:rPr>
              <a:t>d</a:t>
            </a:r>
            <a:r>
              <a:rPr lang="en-US" altLang="zh-CN">
                <a:solidFill>
                  <a:schemeClr val="tx2"/>
                </a:solidFill>
              </a:rPr>
              <a:t>}, {</a:t>
            </a:r>
            <a:r>
              <a:rPr lang="en-US" altLang="zh-CN" i="1">
                <a:solidFill>
                  <a:schemeClr val="tx2"/>
                </a:solidFill>
              </a:rPr>
              <a:t>b</a:t>
            </a:r>
            <a:r>
              <a:rPr lang="en-US" altLang="zh-CN">
                <a:solidFill>
                  <a:schemeClr val="tx2"/>
                </a:solidFill>
              </a:rPr>
              <a:t>}</a:t>
            </a:r>
            <a:r>
              <a:rPr lang="zh-CN" altLang="en-US">
                <a:solidFill>
                  <a:schemeClr val="tx2"/>
                </a:solidFill>
              </a:rPr>
              <a:t>是全体极小支配集</a:t>
            </a:r>
            <a:r>
              <a:rPr lang="en-US" altLang="zh-CN">
                <a:solidFill>
                  <a:schemeClr val="tx2"/>
                </a:solidFill>
              </a:rPr>
              <a:t>. </a:t>
            </a:r>
            <a:r>
              <a:rPr lang="en-US" altLang="zh-CN">
                <a:solidFill>
                  <a:schemeClr val="tx2"/>
                </a:solidFill>
                <a:sym typeface="Symbol" panose="05050102010706020507" charset="2"/>
              </a:rPr>
              <a:t></a:t>
            </a:r>
            <a:r>
              <a:rPr lang="en-US" altLang="zh-CN" baseline="-25000">
                <a:solidFill>
                  <a:schemeClr val="tx2"/>
                </a:solidFill>
              </a:rPr>
              <a:t>0</a:t>
            </a:r>
            <a:r>
              <a:rPr lang="en-US" altLang="zh-CN">
                <a:solidFill>
                  <a:schemeClr val="tx2"/>
                </a:solidFill>
              </a:rPr>
              <a:t>=1</a:t>
            </a:r>
            <a:endParaRPr lang="en-US" altLang="zh-CN">
              <a:solidFill>
                <a:schemeClr val="tx2"/>
              </a:solidFill>
            </a:endParaRPr>
          </a:p>
        </p:txBody>
      </p:sp>
      <p:grpSp>
        <p:nvGrpSpPr>
          <p:cNvPr id="41987" name="Group 16"/>
          <p:cNvGrpSpPr/>
          <p:nvPr/>
        </p:nvGrpSpPr>
        <p:grpSpPr>
          <a:xfrm>
            <a:off x="6248400" y="2111375"/>
            <a:ext cx="2136775" cy="1846263"/>
            <a:chOff x="3936" y="1330"/>
            <a:chExt cx="1346" cy="1163"/>
          </a:xfrm>
        </p:grpSpPr>
        <p:sp>
          <p:nvSpPr>
            <p:cNvPr id="41988" name="Oval 4"/>
            <p:cNvSpPr/>
            <p:nvPr/>
          </p:nvSpPr>
          <p:spPr>
            <a:xfrm>
              <a:off x="4480" y="146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1989" name="Oval 5"/>
            <p:cNvSpPr/>
            <p:nvPr/>
          </p:nvSpPr>
          <p:spPr>
            <a:xfrm>
              <a:off x="4117" y="1875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1990" name="Oval 6"/>
            <p:cNvSpPr/>
            <p:nvPr/>
          </p:nvSpPr>
          <p:spPr>
            <a:xfrm>
              <a:off x="4934" y="1875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1991" name="Oval 7"/>
            <p:cNvSpPr/>
            <p:nvPr/>
          </p:nvSpPr>
          <p:spPr>
            <a:xfrm>
              <a:off x="4525" y="2283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1992" name="Line 8"/>
            <p:cNvSpPr/>
            <p:nvPr/>
          </p:nvSpPr>
          <p:spPr>
            <a:xfrm flipV="1">
              <a:off x="4208" y="1557"/>
              <a:ext cx="317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993" name="Line 9"/>
            <p:cNvSpPr/>
            <p:nvPr/>
          </p:nvSpPr>
          <p:spPr>
            <a:xfrm>
              <a:off x="4616" y="1557"/>
              <a:ext cx="363" cy="31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994" name="Line 10"/>
            <p:cNvSpPr/>
            <p:nvPr/>
          </p:nvSpPr>
          <p:spPr>
            <a:xfrm>
              <a:off x="4253" y="1965"/>
              <a:ext cx="6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995" name="Line 11"/>
            <p:cNvSpPr/>
            <p:nvPr/>
          </p:nvSpPr>
          <p:spPr>
            <a:xfrm flipV="1">
              <a:off x="4616" y="2011"/>
              <a:ext cx="363" cy="31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996" name="Text Box 12"/>
            <p:cNvSpPr txBox="1"/>
            <p:nvPr/>
          </p:nvSpPr>
          <p:spPr>
            <a:xfrm>
              <a:off x="4649" y="2205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b="0" i="1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endParaRPr lang="en-US" altLang="zh-CN" sz="2400" b="0" i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1997" name="Text Box 13"/>
            <p:cNvSpPr txBox="1"/>
            <p:nvPr/>
          </p:nvSpPr>
          <p:spPr>
            <a:xfrm>
              <a:off x="5070" y="178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b="0" i="1">
                  <a:latin typeface="Times New Roman" panose="02020603050405020304" charset="0"/>
                  <a:ea typeface="宋体" panose="02010600030101010101" pitchFamily="2" charset="-122"/>
                </a:rPr>
                <a:t>b</a:t>
              </a:r>
              <a:endParaRPr lang="en-US" altLang="zh-CN" sz="2400" b="0" i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1998" name="Text Box 14"/>
            <p:cNvSpPr txBox="1"/>
            <p:nvPr/>
          </p:nvSpPr>
          <p:spPr>
            <a:xfrm>
              <a:off x="4616" y="1330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b="0" i="1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endParaRPr lang="en-US" altLang="zh-CN" sz="2400" b="0" i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1999" name="Text Box 15"/>
            <p:cNvSpPr txBox="1"/>
            <p:nvPr/>
          </p:nvSpPr>
          <p:spPr>
            <a:xfrm>
              <a:off x="3936" y="178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b="0" i="1">
                  <a:latin typeface="Times New Roman" panose="02020603050405020304" charset="0"/>
                  <a:ea typeface="宋体" panose="02010600030101010101" pitchFamily="2" charset="-122"/>
                </a:rPr>
                <a:t>d</a:t>
              </a:r>
              <a:endParaRPr lang="en-US" altLang="zh-CN" sz="2400" b="0" i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0"/>
              <a:t>例</a:t>
            </a:r>
            <a:r>
              <a:rPr lang="en-US" altLang="zh-CN" b="0"/>
              <a:t>13.1(</a:t>
            </a:r>
            <a:r>
              <a:rPr lang="zh-CN" altLang="en-US" b="0"/>
              <a:t>续</a:t>
            </a:r>
            <a:r>
              <a:rPr lang="en-US" altLang="zh-CN" b="0"/>
              <a:t>)</a:t>
            </a:r>
            <a:endParaRPr lang="en-US" altLang="zh-CN" b="0"/>
          </a:p>
        </p:txBody>
      </p:sp>
      <p:sp>
        <p:nvSpPr>
          <p:cNvPr id="4403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13.1:</a:t>
            </a:r>
            <a:r>
              <a:rPr lang="en-US" altLang="zh-CN"/>
              <a:t> </a:t>
            </a:r>
            <a:r>
              <a:rPr lang="zh-CN" altLang="en-US"/>
              <a:t>求全体极小支配集</a:t>
            </a:r>
            <a:r>
              <a:rPr lang="en-US" altLang="zh-CN"/>
              <a:t>,</a:t>
            </a:r>
            <a:r>
              <a:rPr lang="zh-CN" altLang="en-US"/>
              <a:t>极大独立集</a:t>
            </a:r>
            <a:r>
              <a:rPr lang="en-US" altLang="zh-CN"/>
              <a:t>,</a:t>
            </a:r>
            <a:r>
              <a:rPr lang="zh-CN" altLang="en-US"/>
              <a:t>极小点覆盖</a:t>
            </a:r>
            <a:endParaRPr lang="zh-CN" altLang="en-US"/>
          </a:p>
          <a:p>
            <a:pPr eaLnBrk="1" hangingPunct="1">
              <a:buNone/>
            </a:pPr>
            <a:r>
              <a:rPr lang="zh-CN" altLang="en-US">
                <a:solidFill>
                  <a:schemeClr val="hlink"/>
                </a:solidFill>
              </a:rPr>
              <a:t>解</a:t>
            </a:r>
            <a:r>
              <a:rPr lang="en-US" altLang="zh-CN"/>
              <a:t>:</a:t>
            </a:r>
            <a:r>
              <a:rPr lang="en-US" altLang="zh-CN">
                <a:solidFill>
                  <a:schemeClr val="tx2"/>
                </a:solidFill>
              </a:rPr>
              <a:t>(2)</a:t>
            </a:r>
            <a:r>
              <a:rPr lang="zh-CN" altLang="en-US">
                <a:solidFill>
                  <a:schemeClr val="tx2"/>
                </a:solidFill>
              </a:rPr>
              <a:t>极大独立集</a:t>
            </a:r>
            <a:r>
              <a:rPr lang="en-US" altLang="zh-CN">
                <a:solidFill>
                  <a:schemeClr val="tx2"/>
                </a:solidFill>
              </a:rPr>
              <a:t>.</a:t>
            </a:r>
            <a:endParaRPr lang="en-US" altLang="zh-CN">
              <a:solidFill>
                <a:schemeClr val="tx2"/>
              </a:solidFill>
            </a:endParaRPr>
          </a:p>
          <a:p>
            <a:pPr eaLnBrk="1" hangingPunct="1">
              <a:buNone/>
            </a:pPr>
            <a:r>
              <a:rPr lang="en-US" altLang="zh-CN" b="0"/>
              <a:t>    </a:t>
            </a:r>
            <a:r>
              <a:rPr lang="en-US" altLang="zh-CN">
                <a:solidFill>
                  <a:schemeClr val="tx2"/>
                </a:solidFill>
              </a:rPr>
              <a:t>G</a:t>
            </a:r>
            <a:r>
              <a:rPr lang="zh-CN" altLang="en-US">
                <a:solidFill>
                  <a:schemeClr val="tx2"/>
                </a:solidFill>
              </a:rPr>
              <a:t>无孤立点</a:t>
            </a:r>
            <a:r>
              <a:rPr lang="en-US" altLang="zh-CN">
                <a:solidFill>
                  <a:schemeClr val="tx2"/>
                </a:solidFill>
              </a:rPr>
              <a:t>, V*</a:t>
            </a:r>
            <a:r>
              <a:rPr lang="zh-CN" altLang="en-US">
                <a:solidFill>
                  <a:schemeClr val="tx2"/>
                </a:solidFill>
              </a:rPr>
              <a:t>是极小点覆盖⇔</a:t>
            </a:r>
            <a:endParaRPr lang="zh-CN" altLang="en-US">
              <a:solidFill>
                <a:schemeClr val="tx2"/>
              </a:solidFill>
            </a:endParaRPr>
          </a:p>
          <a:p>
            <a:pPr eaLnBrk="1" hangingPunct="1">
              <a:buNone/>
            </a:pPr>
            <a:r>
              <a:rPr lang="zh-CN" altLang="en-US">
                <a:solidFill>
                  <a:schemeClr val="tx2"/>
                </a:solidFill>
              </a:rPr>
              <a:t>    </a:t>
            </a:r>
            <a:r>
              <a:rPr lang="en-US" altLang="zh-CN">
                <a:solidFill>
                  <a:schemeClr val="tx2"/>
                </a:solidFill>
              </a:rPr>
              <a:t>V-V*</a:t>
            </a:r>
            <a:r>
              <a:rPr lang="zh-CN" altLang="en-US">
                <a:solidFill>
                  <a:schemeClr val="tx2"/>
                </a:solidFill>
              </a:rPr>
              <a:t>是极大独立集</a:t>
            </a:r>
            <a:r>
              <a:rPr lang="en-US" altLang="zh-CN">
                <a:solidFill>
                  <a:schemeClr val="tx2"/>
                </a:solidFill>
              </a:rPr>
              <a:t>.</a:t>
            </a:r>
            <a:endParaRPr lang="en-US" altLang="zh-CN">
              <a:solidFill>
                <a:schemeClr val="tx2"/>
              </a:solidFill>
            </a:endParaRPr>
          </a:p>
          <a:p>
            <a:pPr eaLnBrk="1" hangingPunct="1">
              <a:buNone/>
            </a:pPr>
            <a:r>
              <a:rPr lang="en-US" altLang="zh-CN">
                <a:solidFill>
                  <a:schemeClr val="tx2"/>
                </a:solidFill>
              </a:rPr>
              <a:t>   {</a:t>
            </a:r>
            <a:r>
              <a:rPr lang="en-US" altLang="zh-CN" i="1">
                <a:solidFill>
                  <a:schemeClr val="tx2"/>
                </a:solidFill>
              </a:rPr>
              <a:t>b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en-US" altLang="zh-CN" i="1">
                <a:solidFill>
                  <a:schemeClr val="tx2"/>
                </a:solidFill>
              </a:rPr>
              <a:t>c</a:t>
            </a:r>
            <a:r>
              <a:rPr lang="en-US" altLang="zh-CN">
                <a:solidFill>
                  <a:schemeClr val="tx2"/>
                </a:solidFill>
              </a:rPr>
              <a:t>},{</a:t>
            </a:r>
            <a:r>
              <a:rPr lang="en-US" altLang="zh-CN" i="1">
                <a:solidFill>
                  <a:schemeClr val="tx2"/>
                </a:solidFill>
              </a:rPr>
              <a:t>b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en-US" altLang="zh-CN" i="1">
                <a:solidFill>
                  <a:schemeClr val="tx2"/>
                </a:solidFill>
              </a:rPr>
              <a:t>d</a:t>
            </a:r>
            <a:r>
              <a:rPr lang="en-US" altLang="zh-CN">
                <a:solidFill>
                  <a:schemeClr val="tx2"/>
                </a:solidFill>
              </a:rPr>
              <a:t>},{</a:t>
            </a:r>
            <a:r>
              <a:rPr lang="en-US" altLang="zh-CN" i="1">
                <a:solidFill>
                  <a:schemeClr val="tx2"/>
                </a:solidFill>
              </a:rPr>
              <a:t>a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en-US" altLang="zh-CN" i="1">
                <a:solidFill>
                  <a:schemeClr val="tx2"/>
                </a:solidFill>
              </a:rPr>
              <a:t>c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en-US" altLang="zh-CN" i="1">
                <a:solidFill>
                  <a:schemeClr val="tx2"/>
                </a:solidFill>
              </a:rPr>
              <a:t>d</a:t>
            </a:r>
            <a:r>
              <a:rPr lang="en-US" altLang="zh-CN">
                <a:solidFill>
                  <a:schemeClr val="tx2"/>
                </a:solidFill>
              </a:rPr>
              <a:t>}</a:t>
            </a:r>
            <a:r>
              <a:rPr lang="zh-CN" altLang="en-US">
                <a:solidFill>
                  <a:schemeClr val="tx2"/>
                </a:solidFill>
              </a:rPr>
              <a:t>是全体极小点覆盖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endParaRPr lang="en-US" altLang="zh-CN">
              <a:solidFill>
                <a:schemeClr val="tx2"/>
              </a:solidFill>
            </a:endParaRPr>
          </a:p>
          <a:p>
            <a:pPr eaLnBrk="1" hangingPunct="1">
              <a:buNone/>
            </a:pPr>
            <a:r>
              <a:rPr lang="en-US" altLang="zh-CN">
                <a:solidFill>
                  <a:schemeClr val="tx2"/>
                </a:solidFill>
              </a:rPr>
              <a:t>   {</a:t>
            </a:r>
            <a:r>
              <a:rPr lang="en-US" altLang="zh-CN" i="1">
                <a:solidFill>
                  <a:schemeClr val="tx2"/>
                </a:solidFill>
              </a:rPr>
              <a:t>a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en-US" altLang="zh-CN" i="1">
                <a:solidFill>
                  <a:schemeClr val="tx2"/>
                </a:solidFill>
              </a:rPr>
              <a:t>d</a:t>
            </a:r>
            <a:r>
              <a:rPr lang="en-US" altLang="zh-CN">
                <a:solidFill>
                  <a:schemeClr val="tx2"/>
                </a:solidFill>
              </a:rPr>
              <a:t>},{</a:t>
            </a:r>
            <a:r>
              <a:rPr lang="en-US" altLang="zh-CN" i="1">
                <a:solidFill>
                  <a:schemeClr val="tx2"/>
                </a:solidFill>
              </a:rPr>
              <a:t>a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en-US" altLang="zh-CN" i="1">
                <a:solidFill>
                  <a:schemeClr val="tx2"/>
                </a:solidFill>
              </a:rPr>
              <a:t>c</a:t>
            </a:r>
            <a:r>
              <a:rPr lang="en-US" altLang="zh-CN">
                <a:solidFill>
                  <a:schemeClr val="tx2"/>
                </a:solidFill>
              </a:rPr>
              <a:t>},{</a:t>
            </a:r>
            <a:r>
              <a:rPr lang="en-US" altLang="zh-CN" i="1">
                <a:solidFill>
                  <a:schemeClr val="tx2"/>
                </a:solidFill>
              </a:rPr>
              <a:t>b</a:t>
            </a:r>
            <a:r>
              <a:rPr lang="en-US" altLang="zh-CN">
                <a:solidFill>
                  <a:schemeClr val="tx2"/>
                </a:solidFill>
              </a:rPr>
              <a:t>}</a:t>
            </a:r>
            <a:r>
              <a:rPr lang="zh-CN" altLang="en-US">
                <a:solidFill>
                  <a:schemeClr val="tx2"/>
                </a:solidFill>
              </a:rPr>
              <a:t>是全体极大独立集</a:t>
            </a:r>
            <a:r>
              <a:rPr lang="en-US" altLang="zh-CN">
                <a:solidFill>
                  <a:schemeClr val="tx2"/>
                </a:solidFill>
              </a:rPr>
              <a:t>. </a:t>
            </a:r>
            <a:r>
              <a:rPr lang="en-US" altLang="zh-CN">
                <a:solidFill>
                  <a:schemeClr val="tx2"/>
                </a:solidFill>
                <a:sym typeface="Symbol" panose="05050102010706020507" charset="2"/>
              </a:rPr>
              <a:t></a:t>
            </a:r>
            <a:r>
              <a:rPr lang="en-US" altLang="zh-CN" baseline="-25000">
                <a:solidFill>
                  <a:schemeClr val="tx2"/>
                </a:solidFill>
              </a:rPr>
              <a:t>0</a:t>
            </a:r>
            <a:r>
              <a:rPr lang="en-US" altLang="zh-CN">
                <a:solidFill>
                  <a:schemeClr val="tx2"/>
                </a:solidFill>
              </a:rPr>
              <a:t>=2.</a:t>
            </a:r>
            <a:r>
              <a:rPr lang="en-US" altLang="zh-CN"/>
              <a:t> </a:t>
            </a:r>
            <a:endParaRPr lang="en-US" altLang="zh-CN">
              <a:solidFill>
                <a:srgbClr val="FF0000"/>
              </a:solidFill>
            </a:endParaRPr>
          </a:p>
        </p:txBody>
      </p:sp>
      <p:grpSp>
        <p:nvGrpSpPr>
          <p:cNvPr id="44035" name="Group 4"/>
          <p:cNvGrpSpPr/>
          <p:nvPr/>
        </p:nvGrpSpPr>
        <p:grpSpPr>
          <a:xfrm>
            <a:off x="6248400" y="2111375"/>
            <a:ext cx="2136775" cy="1846263"/>
            <a:chOff x="3936" y="1330"/>
            <a:chExt cx="1346" cy="1163"/>
          </a:xfrm>
        </p:grpSpPr>
        <p:sp>
          <p:nvSpPr>
            <p:cNvPr id="44036" name="Oval 5"/>
            <p:cNvSpPr/>
            <p:nvPr/>
          </p:nvSpPr>
          <p:spPr>
            <a:xfrm>
              <a:off x="4480" y="146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4037" name="Oval 6"/>
            <p:cNvSpPr/>
            <p:nvPr/>
          </p:nvSpPr>
          <p:spPr>
            <a:xfrm>
              <a:off x="4117" y="1875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4038" name="Oval 7"/>
            <p:cNvSpPr/>
            <p:nvPr/>
          </p:nvSpPr>
          <p:spPr>
            <a:xfrm>
              <a:off x="4934" y="1875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4039" name="Oval 8"/>
            <p:cNvSpPr/>
            <p:nvPr/>
          </p:nvSpPr>
          <p:spPr>
            <a:xfrm>
              <a:off x="4525" y="2283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4040" name="Line 9"/>
            <p:cNvSpPr/>
            <p:nvPr/>
          </p:nvSpPr>
          <p:spPr>
            <a:xfrm flipV="1">
              <a:off x="4208" y="1557"/>
              <a:ext cx="317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41" name="Line 10"/>
            <p:cNvSpPr/>
            <p:nvPr/>
          </p:nvSpPr>
          <p:spPr>
            <a:xfrm>
              <a:off x="4616" y="1557"/>
              <a:ext cx="363" cy="31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42" name="Line 11"/>
            <p:cNvSpPr/>
            <p:nvPr/>
          </p:nvSpPr>
          <p:spPr>
            <a:xfrm>
              <a:off x="4253" y="1965"/>
              <a:ext cx="6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43" name="Line 12"/>
            <p:cNvSpPr/>
            <p:nvPr/>
          </p:nvSpPr>
          <p:spPr>
            <a:xfrm flipV="1">
              <a:off x="4616" y="2011"/>
              <a:ext cx="363" cy="31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44" name="Text Box 13"/>
            <p:cNvSpPr txBox="1"/>
            <p:nvPr/>
          </p:nvSpPr>
          <p:spPr>
            <a:xfrm>
              <a:off x="4649" y="2205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b="0" i="1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endParaRPr lang="en-US" altLang="zh-CN" sz="2400" b="0" i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4045" name="Text Box 14"/>
            <p:cNvSpPr txBox="1"/>
            <p:nvPr/>
          </p:nvSpPr>
          <p:spPr>
            <a:xfrm>
              <a:off x="5070" y="178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b="0" i="1">
                  <a:latin typeface="Times New Roman" panose="02020603050405020304" charset="0"/>
                  <a:ea typeface="宋体" panose="02010600030101010101" pitchFamily="2" charset="-122"/>
                </a:rPr>
                <a:t>b</a:t>
              </a:r>
              <a:endParaRPr lang="en-US" altLang="zh-CN" sz="2400" b="0" i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4046" name="Text Box 15"/>
            <p:cNvSpPr txBox="1"/>
            <p:nvPr/>
          </p:nvSpPr>
          <p:spPr>
            <a:xfrm>
              <a:off x="4616" y="1330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b="0" i="1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endParaRPr lang="en-US" altLang="zh-CN" sz="2400" b="0" i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4047" name="Text Box 16"/>
            <p:cNvSpPr txBox="1"/>
            <p:nvPr/>
          </p:nvSpPr>
          <p:spPr>
            <a:xfrm>
              <a:off x="3936" y="178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b="0" i="1">
                  <a:latin typeface="Times New Roman" panose="02020603050405020304" charset="0"/>
                  <a:ea typeface="宋体" panose="02010600030101010101" pitchFamily="2" charset="-122"/>
                </a:rPr>
                <a:t>d</a:t>
              </a:r>
              <a:endParaRPr lang="en-US" altLang="zh-CN" sz="2400" b="0" i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0"/>
              <a:t>例</a:t>
            </a:r>
            <a:r>
              <a:rPr lang="en-US" altLang="zh-CN" b="0"/>
              <a:t>13.1(</a:t>
            </a:r>
            <a:r>
              <a:rPr lang="zh-CN" altLang="en-US" b="0"/>
              <a:t>续</a:t>
            </a:r>
            <a:r>
              <a:rPr lang="en-US" altLang="zh-CN" b="0"/>
              <a:t>)</a:t>
            </a:r>
            <a:endParaRPr lang="en-US" altLang="zh-CN" b="0"/>
          </a:p>
        </p:txBody>
      </p:sp>
      <p:sp>
        <p:nvSpPr>
          <p:cNvPr id="4505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13.1:</a:t>
            </a:r>
            <a:r>
              <a:rPr lang="en-US" altLang="zh-CN"/>
              <a:t> </a:t>
            </a:r>
            <a:r>
              <a:rPr lang="zh-CN" altLang="en-US"/>
              <a:t>求全体极小支配集</a:t>
            </a:r>
            <a:r>
              <a:rPr lang="en-US" altLang="zh-CN"/>
              <a:t>,</a:t>
            </a:r>
            <a:r>
              <a:rPr lang="zh-CN" altLang="en-US"/>
              <a:t>极大独立集</a:t>
            </a:r>
            <a:r>
              <a:rPr lang="en-US" altLang="zh-CN"/>
              <a:t>,</a:t>
            </a:r>
            <a:r>
              <a:rPr lang="zh-CN" altLang="en-US"/>
              <a:t>极小点覆盖</a:t>
            </a:r>
            <a:endParaRPr lang="zh-CN" altLang="en-US"/>
          </a:p>
          <a:p>
            <a:pPr eaLnBrk="1" hangingPunct="1">
              <a:buNone/>
            </a:pPr>
            <a:r>
              <a:rPr lang="zh-CN" altLang="en-US">
                <a:solidFill>
                  <a:schemeClr val="hlink"/>
                </a:solidFill>
              </a:rPr>
              <a:t>解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</a:t>
            </a:r>
            <a:r>
              <a:rPr lang="en-US" altLang="zh-CN">
                <a:solidFill>
                  <a:schemeClr val="tx2"/>
                </a:solidFill>
              </a:rPr>
              <a:t>(3)</a:t>
            </a:r>
            <a:r>
              <a:rPr lang="zh-CN" altLang="en-US">
                <a:solidFill>
                  <a:schemeClr val="tx2"/>
                </a:solidFill>
              </a:rPr>
              <a:t>极小点覆盖</a:t>
            </a:r>
            <a:r>
              <a:rPr lang="en-US" altLang="zh-CN">
                <a:solidFill>
                  <a:schemeClr val="tx2"/>
                </a:solidFill>
              </a:rPr>
              <a:t>.</a:t>
            </a:r>
            <a:endParaRPr lang="en-US" altLang="zh-CN">
              <a:solidFill>
                <a:schemeClr val="tx2"/>
              </a:solidFill>
            </a:endParaRPr>
          </a:p>
          <a:p>
            <a:pPr eaLnBrk="1" hangingPunct="1">
              <a:buNone/>
            </a:pPr>
            <a:r>
              <a:rPr lang="en-US" altLang="zh-CN">
                <a:solidFill>
                  <a:schemeClr val="tx2"/>
                </a:solidFill>
              </a:rPr>
              <a:t>{</a:t>
            </a:r>
            <a:r>
              <a:rPr lang="en-US" altLang="zh-CN" i="1">
                <a:solidFill>
                  <a:schemeClr val="tx2"/>
                </a:solidFill>
              </a:rPr>
              <a:t>b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en-US" altLang="zh-CN" i="1">
                <a:solidFill>
                  <a:schemeClr val="tx2"/>
                </a:solidFill>
              </a:rPr>
              <a:t>c</a:t>
            </a:r>
            <a:r>
              <a:rPr lang="en-US" altLang="zh-CN">
                <a:solidFill>
                  <a:schemeClr val="tx2"/>
                </a:solidFill>
              </a:rPr>
              <a:t>}, {</a:t>
            </a:r>
            <a:r>
              <a:rPr lang="en-US" altLang="zh-CN" i="1">
                <a:solidFill>
                  <a:schemeClr val="tx2"/>
                </a:solidFill>
              </a:rPr>
              <a:t>b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en-US" altLang="zh-CN" i="1">
                <a:solidFill>
                  <a:schemeClr val="tx2"/>
                </a:solidFill>
              </a:rPr>
              <a:t>d</a:t>
            </a:r>
            <a:r>
              <a:rPr lang="en-US" altLang="zh-CN">
                <a:solidFill>
                  <a:schemeClr val="tx2"/>
                </a:solidFill>
              </a:rPr>
              <a:t>}, {</a:t>
            </a:r>
            <a:r>
              <a:rPr lang="en-US" altLang="zh-CN" i="1">
                <a:solidFill>
                  <a:schemeClr val="tx2"/>
                </a:solidFill>
              </a:rPr>
              <a:t>a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en-US" altLang="zh-CN" i="1">
                <a:solidFill>
                  <a:schemeClr val="tx2"/>
                </a:solidFill>
              </a:rPr>
              <a:t>c</a:t>
            </a:r>
            <a:r>
              <a:rPr lang="en-US" altLang="zh-CN">
                <a:solidFill>
                  <a:schemeClr val="tx2"/>
                </a:solidFill>
              </a:rPr>
              <a:t>,</a:t>
            </a:r>
            <a:r>
              <a:rPr lang="en-US" altLang="zh-CN" i="1">
                <a:solidFill>
                  <a:schemeClr val="tx2"/>
                </a:solidFill>
              </a:rPr>
              <a:t>d</a:t>
            </a:r>
            <a:r>
              <a:rPr lang="en-US" altLang="zh-CN">
                <a:solidFill>
                  <a:schemeClr val="tx2"/>
                </a:solidFill>
              </a:rPr>
              <a:t>}</a:t>
            </a:r>
            <a:r>
              <a:rPr lang="zh-CN" altLang="en-US">
                <a:solidFill>
                  <a:schemeClr val="tx2"/>
                </a:solidFill>
              </a:rPr>
              <a:t>是全体极小点覆盖</a:t>
            </a:r>
            <a:r>
              <a:rPr lang="en-US" altLang="zh-CN">
                <a:solidFill>
                  <a:schemeClr val="tx2"/>
                </a:solidFill>
              </a:rPr>
              <a:t>. </a:t>
            </a:r>
            <a:r>
              <a:rPr lang="en-US" altLang="zh-CN">
                <a:solidFill>
                  <a:schemeClr val="tx2"/>
                </a:solidFill>
                <a:sym typeface="Symbol" panose="05050102010706020507" charset="2"/>
              </a:rPr>
              <a:t></a:t>
            </a:r>
            <a:r>
              <a:rPr lang="en-US" altLang="zh-CN" baseline="-25000">
                <a:solidFill>
                  <a:schemeClr val="tx2"/>
                </a:solidFill>
              </a:rPr>
              <a:t>0</a:t>
            </a:r>
            <a:r>
              <a:rPr lang="en-US" altLang="zh-CN">
                <a:solidFill>
                  <a:schemeClr val="tx2"/>
                </a:solidFill>
              </a:rPr>
              <a:t>=2.</a:t>
            </a:r>
            <a:endParaRPr lang="en-US" altLang="zh-CN">
              <a:solidFill>
                <a:schemeClr val="tx2"/>
              </a:solidFill>
            </a:endParaRPr>
          </a:p>
        </p:txBody>
      </p:sp>
      <p:grpSp>
        <p:nvGrpSpPr>
          <p:cNvPr id="45059" name="Group 4"/>
          <p:cNvGrpSpPr/>
          <p:nvPr/>
        </p:nvGrpSpPr>
        <p:grpSpPr>
          <a:xfrm>
            <a:off x="6660515" y="2230755"/>
            <a:ext cx="2136775" cy="1846263"/>
            <a:chOff x="3936" y="1330"/>
            <a:chExt cx="1346" cy="1163"/>
          </a:xfrm>
        </p:grpSpPr>
        <p:sp>
          <p:nvSpPr>
            <p:cNvPr id="45060" name="Oval 5"/>
            <p:cNvSpPr/>
            <p:nvPr/>
          </p:nvSpPr>
          <p:spPr>
            <a:xfrm>
              <a:off x="4480" y="146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5061" name="Oval 6"/>
            <p:cNvSpPr/>
            <p:nvPr/>
          </p:nvSpPr>
          <p:spPr>
            <a:xfrm>
              <a:off x="4117" y="1875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5062" name="Oval 7"/>
            <p:cNvSpPr/>
            <p:nvPr/>
          </p:nvSpPr>
          <p:spPr>
            <a:xfrm>
              <a:off x="4934" y="1875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5063" name="Oval 8"/>
            <p:cNvSpPr/>
            <p:nvPr/>
          </p:nvSpPr>
          <p:spPr>
            <a:xfrm>
              <a:off x="4525" y="2283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5064" name="Line 9"/>
            <p:cNvSpPr/>
            <p:nvPr/>
          </p:nvSpPr>
          <p:spPr>
            <a:xfrm flipV="1">
              <a:off x="4208" y="1557"/>
              <a:ext cx="317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65" name="Line 10"/>
            <p:cNvSpPr/>
            <p:nvPr/>
          </p:nvSpPr>
          <p:spPr>
            <a:xfrm>
              <a:off x="4616" y="1557"/>
              <a:ext cx="363" cy="31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66" name="Line 11"/>
            <p:cNvSpPr/>
            <p:nvPr/>
          </p:nvSpPr>
          <p:spPr>
            <a:xfrm>
              <a:off x="4253" y="1965"/>
              <a:ext cx="6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67" name="Line 12"/>
            <p:cNvSpPr/>
            <p:nvPr/>
          </p:nvSpPr>
          <p:spPr>
            <a:xfrm flipV="1">
              <a:off x="4616" y="2011"/>
              <a:ext cx="363" cy="31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68" name="Text Box 13"/>
            <p:cNvSpPr txBox="1"/>
            <p:nvPr/>
          </p:nvSpPr>
          <p:spPr>
            <a:xfrm>
              <a:off x="4649" y="2205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b="0" i="1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endParaRPr lang="en-US" altLang="zh-CN" sz="2400" b="0" i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5069" name="Text Box 14"/>
            <p:cNvSpPr txBox="1"/>
            <p:nvPr/>
          </p:nvSpPr>
          <p:spPr>
            <a:xfrm>
              <a:off x="5070" y="178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b="0" i="1">
                  <a:latin typeface="Times New Roman" panose="02020603050405020304" charset="0"/>
                  <a:ea typeface="宋体" panose="02010600030101010101" pitchFamily="2" charset="-122"/>
                </a:rPr>
                <a:t>b</a:t>
              </a:r>
              <a:endParaRPr lang="en-US" altLang="zh-CN" sz="2400" b="0" i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5070" name="Text Box 15"/>
            <p:cNvSpPr txBox="1"/>
            <p:nvPr/>
          </p:nvSpPr>
          <p:spPr>
            <a:xfrm>
              <a:off x="4616" y="1330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b="0" i="1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endParaRPr lang="en-US" altLang="zh-CN" sz="2400" b="0" i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5071" name="Text Box 16"/>
            <p:cNvSpPr txBox="1"/>
            <p:nvPr/>
          </p:nvSpPr>
          <p:spPr>
            <a:xfrm>
              <a:off x="3936" y="178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b="0" i="1">
                  <a:latin typeface="Times New Roman" panose="02020603050405020304" charset="0"/>
                  <a:ea typeface="宋体" panose="02010600030101010101" pitchFamily="2" charset="-122"/>
                </a:rPr>
                <a:t>d</a:t>
              </a:r>
              <a:endParaRPr lang="en-US" altLang="zh-CN" sz="2400" b="0" i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PP_MARK_KEY" val="d67ed190-cc52-411c-b7f4-02461c7e7163"/>
  <p:tag name="COMMONDATA" val="eyJoZGlkIjoiY2FjYjUwYzFhN2VkM2YwN2YyYmE3ZGUyNDQzZTVlNzEifQ=="/>
  <p:tag name="commondata" val="eyJoZGlkIjoiY2JiMjJjNjEwZGVmNWM5ZTE4YjkzYzY1NDY4YzMyMmMifQ==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0</TotalTime>
  <Words>3090</Words>
  <Application>WPS 演示</Application>
  <PresentationFormat>全屏显示(4:3)</PresentationFormat>
  <Paragraphs>458</Paragraphs>
  <Slides>26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9" baseType="lpstr">
      <vt:lpstr>Arial</vt:lpstr>
      <vt:lpstr>宋体</vt:lpstr>
      <vt:lpstr>Wingdings</vt:lpstr>
      <vt:lpstr>Tahoma</vt:lpstr>
      <vt:lpstr>黑体</vt:lpstr>
      <vt:lpstr>Symbol</vt:lpstr>
      <vt:lpstr>Times New Roman</vt:lpstr>
      <vt:lpstr>微软雅黑</vt:lpstr>
      <vt:lpstr>Arial Unicode MS</vt:lpstr>
      <vt:lpstr>ＭＳ 明朝</vt:lpstr>
      <vt:lpstr>Segoe Print</vt:lpstr>
      <vt:lpstr>Times New Roman</vt:lpstr>
      <vt:lpstr>Blends</vt:lpstr>
      <vt:lpstr>第十三章 支配集、覆盖集、独立集与匹配</vt:lpstr>
      <vt:lpstr>主要内容</vt:lpstr>
      <vt:lpstr>13.1 支配集、独立集、点覆盖集</vt:lpstr>
      <vt:lpstr>支配集(dominating set)</vt:lpstr>
      <vt:lpstr>支配集(例)</vt:lpstr>
      <vt:lpstr>举例</vt:lpstr>
      <vt:lpstr>定理13.1</vt:lpstr>
      <vt:lpstr>点独立集(independent set)</vt:lpstr>
      <vt:lpstr>点独立集(例)</vt:lpstr>
      <vt:lpstr>举例</vt:lpstr>
      <vt:lpstr>定理13.2</vt:lpstr>
      <vt:lpstr>定理13.2(讨论)</vt:lpstr>
      <vt:lpstr>点覆盖(vertex cover)</vt:lpstr>
      <vt:lpstr>点覆盖(例)</vt:lpstr>
      <vt:lpstr>点覆盖与支配集</vt:lpstr>
      <vt:lpstr>定理13.3（点覆盖与独立集）</vt:lpstr>
      <vt:lpstr>定理13.3的推论</vt:lpstr>
      <vt:lpstr>PowerPoint 演示文稿</vt:lpstr>
      <vt:lpstr>定理13.3的图示证明</vt:lpstr>
      <vt:lpstr>定理13.3的推论</vt:lpstr>
      <vt:lpstr>团(clique)</vt:lpstr>
      <vt:lpstr>团(例)</vt:lpstr>
      <vt:lpstr>定理13.4</vt:lpstr>
      <vt:lpstr>例13.1</vt:lpstr>
      <vt:lpstr>例13.1(续)</vt:lpstr>
      <vt:lpstr>例13.1(续)</vt:lpstr>
    </vt:vector>
  </TitlesOfParts>
  <Company>ouc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sheng</dc:creator>
  <cp:lastModifiedBy>WPS_1709687041</cp:lastModifiedBy>
  <cp:revision>876</cp:revision>
  <cp:lastPrinted>2018-05-31T03:34:00Z</cp:lastPrinted>
  <dcterms:created xsi:type="dcterms:W3CDTF">2008-01-04T07:39:00Z</dcterms:created>
  <dcterms:modified xsi:type="dcterms:W3CDTF">2025-12-29T23:06:41Z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A1E6876D651840C1A8948FC09273C370</vt:lpwstr>
  </property>
</Properties>
</file>